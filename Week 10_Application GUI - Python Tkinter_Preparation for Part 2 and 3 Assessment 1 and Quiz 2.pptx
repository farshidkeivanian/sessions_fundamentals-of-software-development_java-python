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7"/>
  </p:notesMasterIdLst>
  <p:sldIdLst>
    <p:sldId id="2522" r:id="rId3"/>
    <p:sldId id="2443" r:id="rId4"/>
    <p:sldId id="2633" r:id="rId5"/>
    <p:sldId id="2467" r:id="rId6"/>
    <p:sldId id="3238" r:id="rId7"/>
    <p:sldId id="3177" r:id="rId8"/>
    <p:sldId id="3130" r:id="rId9"/>
    <p:sldId id="3131" r:id="rId10"/>
    <p:sldId id="3132" r:id="rId11"/>
    <p:sldId id="3133" r:id="rId12"/>
    <p:sldId id="3134" r:id="rId13"/>
    <p:sldId id="3135" r:id="rId14"/>
    <p:sldId id="3136" r:id="rId15"/>
    <p:sldId id="3137" r:id="rId16"/>
    <p:sldId id="3138" r:id="rId17"/>
    <p:sldId id="3129" r:id="rId18"/>
    <p:sldId id="3239" r:id="rId19"/>
    <p:sldId id="3240" r:id="rId20"/>
    <p:sldId id="3241" r:id="rId21"/>
    <p:sldId id="3242" r:id="rId22"/>
    <p:sldId id="3243" r:id="rId23"/>
    <p:sldId id="3244" r:id="rId24"/>
    <p:sldId id="3142" r:id="rId25"/>
    <p:sldId id="3143" r:id="rId26"/>
    <p:sldId id="3144" r:id="rId27"/>
    <p:sldId id="3145" r:id="rId28"/>
    <p:sldId id="3146" r:id="rId29"/>
    <p:sldId id="3147" r:id="rId30"/>
    <p:sldId id="3148" r:id="rId31"/>
    <p:sldId id="3149" r:id="rId32"/>
    <p:sldId id="3150" r:id="rId33"/>
    <p:sldId id="3151" r:id="rId34"/>
    <p:sldId id="3152" r:id="rId35"/>
    <p:sldId id="3153" r:id="rId36"/>
    <p:sldId id="3154" r:id="rId37"/>
    <p:sldId id="3155" r:id="rId38"/>
    <p:sldId id="3156" r:id="rId39"/>
    <p:sldId id="3157" r:id="rId40"/>
    <p:sldId id="3158" r:id="rId41"/>
    <p:sldId id="3159" r:id="rId42"/>
    <p:sldId id="3160" r:id="rId43"/>
    <p:sldId id="3161" r:id="rId44"/>
    <p:sldId id="3162" r:id="rId45"/>
    <p:sldId id="3163" r:id="rId46"/>
    <p:sldId id="3164" r:id="rId47"/>
    <p:sldId id="3165" r:id="rId48"/>
    <p:sldId id="2634" r:id="rId49"/>
    <p:sldId id="3186" r:id="rId50"/>
    <p:sldId id="3179" r:id="rId51"/>
    <p:sldId id="3183" r:id="rId52"/>
    <p:sldId id="3184" r:id="rId53"/>
    <p:sldId id="3180" r:id="rId54"/>
    <p:sldId id="3185" r:id="rId55"/>
    <p:sldId id="3181" r:id="rId56"/>
    <p:sldId id="3182" r:id="rId57"/>
    <p:sldId id="3187" r:id="rId58"/>
    <p:sldId id="3189" r:id="rId59"/>
    <p:sldId id="3190" r:id="rId60"/>
    <p:sldId id="3191" r:id="rId61"/>
    <p:sldId id="3192" r:id="rId62"/>
    <p:sldId id="3193" r:id="rId63"/>
    <p:sldId id="3194" r:id="rId64"/>
    <p:sldId id="3195" r:id="rId65"/>
    <p:sldId id="3196" r:id="rId66"/>
    <p:sldId id="3197" r:id="rId67"/>
    <p:sldId id="3198" r:id="rId68"/>
    <p:sldId id="3188" r:id="rId69"/>
    <p:sldId id="3199" r:id="rId70"/>
    <p:sldId id="3201" r:id="rId71"/>
    <p:sldId id="3202" r:id="rId72"/>
    <p:sldId id="3203" r:id="rId73"/>
    <p:sldId id="3204" r:id="rId74"/>
    <p:sldId id="3205" r:id="rId75"/>
    <p:sldId id="3206" r:id="rId76"/>
    <p:sldId id="3207" r:id="rId77"/>
    <p:sldId id="3208" r:id="rId78"/>
    <p:sldId id="3209" r:id="rId79"/>
    <p:sldId id="3210" r:id="rId80"/>
    <p:sldId id="3211" r:id="rId81"/>
    <p:sldId id="3216" r:id="rId82"/>
    <p:sldId id="3217" r:id="rId83"/>
    <p:sldId id="3218" r:id="rId84"/>
    <p:sldId id="3220" r:id="rId85"/>
    <p:sldId id="3221" r:id="rId86"/>
    <p:sldId id="3222" r:id="rId87"/>
    <p:sldId id="3214" r:id="rId88"/>
    <p:sldId id="3223" r:id="rId89"/>
    <p:sldId id="3224" r:id="rId90"/>
    <p:sldId id="3225" r:id="rId91"/>
    <p:sldId id="3227" r:id="rId92"/>
    <p:sldId id="3228" r:id="rId93"/>
    <p:sldId id="3226" r:id="rId94"/>
    <p:sldId id="3229" r:id="rId95"/>
    <p:sldId id="3230" r:id="rId96"/>
    <p:sldId id="3231" r:id="rId97"/>
    <p:sldId id="3232" r:id="rId98"/>
    <p:sldId id="3233" r:id="rId99"/>
    <p:sldId id="3234" r:id="rId100"/>
    <p:sldId id="3235" r:id="rId101"/>
    <p:sldId id="3236" r:id="rId102"/>
    <p:sldId id="3237" r:id="rId103"/>
    <p:sldId id="3047" r:id="rId104"/>
    <p:sldId id="3166" r:id="rId105"/>
    <p:sldId id="3167" r:id="rId106"/>
    <p:sldId id="3168" r:id="rId107"/>
    <p:sldId id="3169" r:id="rId108"/>
    <p:sldId id="3170" r:id="rId109"/>
    <p:sldId id="3171" r:id="rId110"/>
    <p:sldId id="3172" r:id="rId111"/>
    <p:sldId id="3173" r:id="rId112"/>
    <p:sldId id="3174" r:id="rId113"/>
    <p:sldId id="3175" r:id="rId114"/>
    <p:sldId id="3176" r:id="rId115"/>
    <p:sldId id="749" r:id="rId1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954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presProps" Target="presProp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viewProps" Target="viewProps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ableStyles" Target="tableStyles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7/10/2026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485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Your Teaching Team: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Yining Hu | Subject Coordinator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Yining is a Lecturer in Software Engineering. She works with many SMEs to develop software and AI solutions through student and research projects at UTS.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 yining.hu@uts.edu.au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Xiaojie (Zoe) Lin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 Xiaojie.Lin@uts.edu.au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 Farshid Keivanian 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specialising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 in software engineering, data science, AI, and cybersecurity.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Farshid.Keivanian@uts.edu.au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 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Pov | Tutor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i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Yong is a full-stack software engineer with experience in React, JavaScript, TypeScript, Java, Python, SQL, and AI-assisted learning platforms.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ir"/>
                <a:ea typeface="+mn-ea"/>
                <a:cs typeface="+mn-cs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/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10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0128F9-B18A-0AC2-A696-92165ABAB1BE}"/>
              </a:ext>
            </a:extLst>
          </p:cNvPr>
          <p:cNvSpPr txBox="1"/>
          <p:nvPr/>
        </p:nvSpPr>
        <p:spPr>
          <a:xfrm>
            <a:off x="0" y="856356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Preparation and Guideline for Assessment 1 – Part 2 and 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Introduction to GUI Programming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Creating Your First </a:t>
            </a:r>
            <a:r>
              <a:rPr lang="en-US" sz="2400" dirty="0" err="1">
                <a:latin typeface="Calibir"/>
              </a:rPr>
              <a:t>Tkinter</a:t>
            </a:r>
            <a:r>
              <a:rPr lang="en-US" sz="2400" dirty="0">
                <a:latin typeface="Calibir"/>
              </a:rPr>
              <a:t> Window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1 – Your First App Window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2 – Experiment with Window Behavior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Widgets: The Building Blocks of GUI Apps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Example 2: Widgets in Action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Hands-On Activity 3: Add More Widgets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Geometry Managers (How Widgets Are Placed)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04EA-FB7A-D127-CCDF-B9BEEBFB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F430B-8B9D-1226-4732-9A6FDE749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10 Outline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124778-2AF8-E390-E201-2619552CC713}"/>
              </a:ext>
            </a:extLst>
          </p:cNvPr>
          <p:cNvSpPr txBox="1"/>
          <p:nvPr/>
        </p:nvSpPr>
        <p:spPr>
          <a:xfrm>
            <a:off x="0" y="811751"/>
            <a:ext cx="12192000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Login Window Case Study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Popup Windows &amp; Messages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Connecting GUI with Backend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Error Handling in GUI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Logging User Actions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Sample Java GUI Comparison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Testing Your GUI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Research &amp; Discussion Questions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Problem-Solving with GUI (Python Version)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Problem-Solving with GUI (Java Version)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1"/>
            </a:pPr>
            <a:r>
              <a:rPr lang="en-US" sz="2400" dirty="0">
                <a:latin typeface="Calibir"/>
              </a:rPr>
              <a:t>MQs designed in Week 10 (Python </a:t>
            </a:r>
            <a:r>
              <a:rPr lang="en-US" sz="2400" dirty="0" err="1">
                <a:latin typeface="Calibir"/>
              </a:rPr>
              <a:t>Tkinter</a:t>
            </a:r>
            <a:r>
              <a:rPr lang="en-US" sz="2400" dirty="0">
                <a:latin typeface="Calibi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11131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17EA-43B0-A126-6794-57BC88979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E576B-E3DE-E878-5536-FB0594A0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7A17EC-FFBF-A419-DCC3-1C4B73BD332C}"/>
              </a:ext>
            </a:extLst>
          </p:cNvPr>
          <p:cNvSpPr txBox="1"/>
          <p:nvPr/>
        </p:nvSpPr>
        <p:spPr>
          <a:xfrm>
            <a:off x="0" y="1072057"/>
            <a:ext cx="1197128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PART 2: SOFTWARE DEVELOPMENT (CLI + GUI)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Purpose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Build your working University Application system —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 Command-Line App (</a:t>
            </a:r>
            <a:r>
              <a:rPr lang="en-US" sz="2800" dirty="0" err="1">
                <a:latin typeface="Calibir"/>
              </a:rPr>
              <a:t>CLIUniApp</a:t>
            </a:r>
            <a:r>
              <a:rPr lang="en-US" sz="2800" dirty="0">
                <a:latin typeface="Calibir"/>
              </a:rPr>
              <a:t>) and, if possible, a Graphical App (</a:t>
            </a:r>
            <a:r>
              <a:rPr lang="en-US" sz="2800" dirty="0" err="1">
                <a:latin typeface="Calibir"/>
              </a:rPr>
              <a:t>GUIUniApp</a:t>
            </a:r>
            <a:r>
              <a:rPr lang="en-US" sz="2800" dirty="0">
                <a:latin typeface="Calibir"/>
              </a:rPr>
              <a:t>) — based on your group’s design and analysis from Part 1.</a:t>
            </a:r>
          </a:p>
        </p:txBody>
      </p:sp>
    </p:spTree>
    <p:extLst>
      <p:ext uri="{BB962C8B-B14F-4D97-AF65-F5344CB8AC3E}">
        <p14:creationId xmlns:p14="http://schemas.microsoft.com/office/powerpoint/2010/main" val="233781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E0FB2-29DA-F88A-E84E-56CFB4295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B2351-19F3-13F4-7BB8-7A00EB47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32FF2-5DB6-C476-11BE-E9CE00C226D4}"/>
              </a:ext>
            </a:extLst>
          </p:cNvPr>
          <p:cNvSpPr txBox="1"/>
          <p:nvPr/>
        </p:nvSpPr>
        <p:spPr>
          <a:xfrm>
            <a:off x="0" y="1072057"/>
            <a:ext cx="11971282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to Do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Plan Early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Revisit your Part 1 diagrams, use-cases, and class design.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your code matches your UML and requirements.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one programming language – either Java or Python.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Divide the work among group members (e.g. Model / Controller / View or Sections A–E).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Create a simple to-do list for each member before you start coding.</a:t>
            </a:r>
          </a:p>
        </p:txBody>
      </p:sp>
    </p:spTree>
    <p:extLst>
      <p:ext uri="{BB962C8B-B14F-4D97-AF65-F5344CB8AC3E}">
        <p14:creationId xmlns:p14="http://schemas.microsoft.com/office/powerpoint/2010/main" val="335149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ACF47-44FF-4C83-C3FB-B037A1D5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2475-EE1B-9967-2D44-059C62B0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286A70-26F3-9BA4-32B3-AF291ECA9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62926"/>
              </p:ext>
            </p:extLst>
          </p:nvPr>
        </p:nvGraphicFramePr>
        <p:xfrm>
          <a:off x="78059" y="2401094"/>
          <a:ext cx="11976409" cy="422084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802591054"/>
                    </a:ext>
                  </a:extLst>
                </a:gridCol>
                <a:gridCol w="6534614">
                  <a:extLst>
                    <a:ext uri="{9D8B030D-6E8A-4147-A177-3AD203B41FA5}">
                      <a16:colId xmlns:a16="http://schemas.microsoft.com/office/drawing/2014/main" val="3728693907"/>
                    </a:ext>
                  </a:extLst>
                </a:gridCol>
                <a:gridCol w="2241395">
                  <a:extLst>
                    <a:ext uri="{9D8B030D-6E8A-4147-A177-3AD203B41FA5}">
                      <a16:colId xmlns:a16="http://schemas.microsoft.com/office/drawing/2014/main" val="1102240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Menu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What it Does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Who Uses It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593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 dirty="0">
                          <a:latin typeface="Calibir"/>
                        </a:rPr>
                        <a:t>University System</a:t>
                      </a:r>
                      <a:endParaRPr lang="en-US" sz="22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Lets users switch between </a:t>
                      </a:r>
                      <a:r>
                        <a:rPr lang="en-US" sz="2200" b="0" dirty="0">
                          <a:latin typeface="Calibir"/>
                        </a:rPr>
                        <a:t>Student</a:t>
                      </a:r>
                      <a:r>
                        <a:rPr lang="en-US" sz="2200" dirty="0">
                          <a:latin typeface="Calibir"/>
                        </a:rPr>
                        <a:t> and </a:t>
                      </a:r>
                      <a:r>
                        <a:rPr lang="en-US" sz="2200" b="0" dirty="0">
                          <a:latin typeface="Calibir"/>
                        </a:rPr>
                        <a:t>Admin</a:t>
                      </a:r>
                      <a:r>
                        <a:rPr lang="en-US" sz="2200" dirty="0">
                          <a:latin typeface="Calibir"/>
                        </a:rPr>
                        <a:t>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Everyone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0138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Student System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Register / Login (with Regex validation for email and password)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219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Subject Enrolment System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Enrol, Remove, View Subjects, Change Password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Logged-in Students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238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b="1">
                          <a:latin typeface="Calibir"/>
                        </a:rPr>
                        <a:t>Admin System</a:t>
                      </a:r>
                      <a:endParaRPr lang="en-US" sz="22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>
                          <a:latin typeface="Calibir"/>
                        </a:rPr>
                        <a:t>Show all students, Group or Sort them, Remove or Clear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200" dirty="0">
                          <a:latin typeface="Calibir"/>
                        </a:rPr>
                        <a:t>Admin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47275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5214E405-878E-1313-BC63-57FEE40B9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9829"/>
            <a:ext cx="6460808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2. Follow the Functional Requirements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program must have four main menus:</a:t>
            </a:r>
          </a:p>
        </p:txBody>
      </p:sp>
    </p:spTree>
    <p:extLst>
      <p:ext uri="{BB962C8B-B14F-4D97-AF65-F5344CB8AC3E}">
        <p14:creationId xmlns:p14="http://schemas.microsoft.com/office/powerpoint/2010/main" val="300202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389DF-A3F8-8054-E329-AEB5A4CC9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1BD69-E9DF-D75C-654B-5F4F8D52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3464DE-96C4-CB9D-B9DD-48721AEF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0" y="998768"/>
            <a:ext cx="10423816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Extra Tips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Always test each menu before moving to the next one.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Include a short README file explaining how to run the program.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your CLI and GUI versions work consistently.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your code clean and commented.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Submit one .zip file per group (CLI + GUI + README).</a:t>
            </a:r>
          </a:p>
        </p:txBody>
      </p:sp>
    </p:spTree>
    <p:extLst>
      <p:ext uri="{BB962C8B-B14F-4D97-AF65-F5344CB8AC3E}">
        <p14:creationId xmlns:p14="http://schemas.microsoft.com/office/powerpoint/2010/main" val="2743955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63495-2F77-9C45-5927-EAFAE8E19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747BF1-79E5-1F00-FD39-5632FD1264A6}"/>
              </a:ext>
            </a:extLst>
          </p:cNvPr>
          <p:cNvSpPr txBox="1"/>
          <p:nvPr/>
        </p:nvSpPr>
        <p:spPr>
          <a:xfrm>
            <a:off x="0" y="-138579"/>
            <a:ext cx="12192000" cy="713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3. Handle File Operations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Your program must save and load data from a file called </a:t>
            </a:r>
            <a:r>
              <a:rPr lang="en-US" sz="2800" dirty="0" err="1">
                <a:latin typeface="Calibir"/>
              </a:rPr>
              <a:t>students.data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All CRUD operations (Create, Read, Update, Delete) must connect to this file.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can store data using object serialization, or in JSON or CSV format — follow your design from Part 1.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Make sure these actions work correctly: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Read → Load existing students from the file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Write → Save new or updated student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Clear → Remove all records safely</a:t>
            </a:r>
          </a:p>
          <a:p>
            <a:pPr>
              <a:lnSpc>
                <a:spcPct val="150000"/>
              </a:lnSpc>
              <a:buNone/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Always test reading and writing multiple times to ensure your file updates correctly.</a:t>
            </a:r>
          </a:p>
        </p:txBody>
      </p:sp>
    </p:spTree>
    <p:extLst>
      <p:ext uri="{BB962C8B-B14F-4D97-AF65-F5344CB8AC3E}">
        <p14:creationId xmlns:p14="http://schemas.microsoft.com/office/powerpoint/2010/main" val="3285372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ED88-279C-7AC4-63C4-77E970B2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89FC24-2B33-4EBC-5C71-72FE68C50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408816"/>
              </p:ext>
            </p:extLst>
          </p:nvPr>
        </p:nvGraphicFramePr>
        <p:xfrm>
          <a:off x="74342" y="794074"/>
          <a:ext cx="12043317" cy="455637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620644">
                  <a:extLst>
                    <a:ext uri="{9D8B030D-6E8A-4147-A177-3AD203B41FA5}">
                      <a16:colId xmlns:a16="http://schemas.microsoft.com/office/drawing/2014/main" val="2612256855"/>
                    </a:ext>
                  </a:extLst>
                </a:gridCol>
                <a:gridCol w="5843239">
                  <a:extLst>
                    <a:ext uri="{9D8B030D-6E8A-4147-A177-3AD203B41FA5}">
                      <a16:colId xmlns:a16="http://schemas.microsoft.com/office/drawing/2014/main" val="3756177906"/>
                    </a:ext>
                  </a:extLst>
                </a:gridCol>
                <a:gridCol w="4579434">
                  <a:extLst>
                    <a:ext uri="{9D8B030D-6E8A-4147-A177-3AD203B41FA5}">
                      <a16:colId xmlns:a16="http://schemas.microsoft.com/office/drawing/2014/main" val="38768483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Field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Validation Rule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Example❌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90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Email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Must follow this pattern:</a:t>
                      </a:r>
                      <a:br>
                        <a:rPr lang="en-US" sz="2800" dirty="0">
                          <a:latin typeface="Calibir"/>
                        </a:rPr>
                      </a:br>
                      <a:r>
                        <a:rPr lang="en-US" sz="2800" dirty="0">
                          <a:latin typeface="Calibir"/>
                        </a:rPr>
                        <a:t>firstname.lastname@university.com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john.smith@university.com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 </a:t>
                      </a:r>
                      <a:r>
                        <a:rPr lang="en-US" sz="2800" dirty="0">
                          <a:latin typeface="Calibir"/>
                        </a:rPr>
                        <a:t>  john123@gmail.com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311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Password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Must start with an </a:t>
                      </a:r>
                      <a:r>
                        <a:rPr lang="en-US" sz="2800" b="0" dirty="0">
                          <a:latin typeface="Calibir"/>
                        </a:rPr>
                        <a:t>uppercase letter, include at least 5 letters, and at least 3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150000"/>
                        </a:lnSpc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Helloworld123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 </a:t>
                      </a:r>
                      <a:r>
                        <a:rPr lang="en-US" sz="2800" dirty="0">
                          <a:latin typeface="Calibir"/>
                        </a:rPr>
                        <a:t> helloworld123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17432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160A33C-8B83-1A43-71A7-6C9F52A47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427937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4. Follow the Regex Rules: Use Regular Expressions (Regex) to validate inputs.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0D268-9A88-070D-88BF-42C83E2595AB}"/>
              </a:ext>
            </a:extLst>
          </p:cNvPr>
          <p:cNvSpPr txBox="1"/>
          <p:nvPr/>
        </p:nvSpPr>
        <p:spPr>
          <a:xfrm>
            <a:off x="74342" y="5472676"/>
            <a:ext cx="1211765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Regex helps prevent invalid registrations (e.g., wrong email or weak password).</a:t>
            </a:r>
          </a:p>
        </p:txBody>
      </p:sp>
    </p:spTree>
    <p:extLst>
      <p:ext uri="{BB962C8B-B14F-4D97-AF65-F5344CB8AC3E}">
        <p14:creationId xmlns:p14="http://schemas.microsoft.com/office/powerpoint/2010/main" val="743343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373E6-2722-2197-B42D-D64AA17CB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353A2E3-656D-A5D0-B6BD-E0136585B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079461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Calibir"/>
              </a:rPr>
              <a:t>5. Generate Random Values: Automatically generate IDs and marks when needed.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12895A-2C3E-C55B-7F03-E3F33EBB4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42162"/>
              </p:ext>
            </p:extLst>
          </p:nvPr>
        </p:nvGraphicFramePr>
        <p:xfrm>
          <a:off x="268974" y="876865"/>
          <a:ext cx="11541512" cy="396684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962614">
                  <a:extLst>
                    <a:ext uri="{9D8B030D-6E8A-4147-A177-3AD203B41FA5}">
                      <a16:colId xmlns:a16="http://schemas.microsoft.com/office/drawing/2014/main" val="811769440"/>
                    </a:ext>
                  </a:extLst>
                </a:gridCol>
                <a:gridCol w="6556917">
                  <a:extLst>
                    <a:ext uri="{9D8B030D-6E8A-4147-A177-3AD203B41FA5}">
                      <a16:colId xmlns:a16="http://schemas.microsoft.com/office/drawing/2014/main" val="377336889"/>
                    </a:ext>
                  </a:extLst>
                </a:gridCol>
                <a:gridCol w="3021981">
                  <a:extLst>
                    <a:ext uri="{9D8B030D-6E8A-4147-A177-3AD203B41FA5}">
                      <a16:colId xmlns:a16="http://schemas.microsoft.com/office/drawing/2014/main" val="222131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Item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Rule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Example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999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Student 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6-digit random number (000001 – 999999)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003215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2351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Subject ID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3-digit random number (001 – 999)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084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356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Marks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Random value between 25 and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65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Grade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Based on mark range → HD, D, C, P, 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e.g., HD for 85, P for 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9175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543AD7F-37C4-4227-29F4-6B751542A51C}"/>
              </a:ext>
            </a:extLst>
          </p:cNvPr>
          <p:cNvSpPr txBox="1"/>
          <p:nvPr/>
        </p:nvSpPr>
        <p:spPr>
          <a:xfrm>
            <a:off x="268974" y="5288637"/>
            <a:ext cx="1154151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Use Python’s random or Java’s Random/</a:t>
            </a:r>
            <a:r>
              <a:rPr lang="en-US" sz="2800" dirty="0" err="1">
                <a:latin typeface="Calibir"/>
              </a:rPr>
              <a:t>Math.random</a:t>
            </a:r>
            <a:r>
              <a:rPr lang="en-US" sz="2800" dirty="0">
                <a:latin typeface="Calibir"/>
              </a:rPr>
              <a:t>() to generate these values.</a:t>
            </a:r>
          </a:p>
        </p:txBody>
      </p:sp>
    </p:spTree>
    <p:extLst>
      <p:ext uri="{BB962C8B-B14F-4D97-AF65-F5344CB8AC3E}">
        <p14:creationId xmlns:p14="http://schemas.microsoft.com/office/powerpoint/2010/main" val="1387326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1A50-010F-24ED-591A-E993CC6FF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D537BF0-B1F5-69FA-ADC8-B68E812DC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11292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6. Error &amp; Exception Handling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app must handle errors smoothly — never crash!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86B5FE4-39A2-A49F-5636-1148882CD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12640"/>
              </p:ext>
            </p:extLst>
          </p:nvPr>
        </p:nvGraphicFramePr>
        <p:xfrm>
          <a:off x="838200" y="1206889"/>
          <a:ext cx="10515600" cy="458165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785946">
                  <a:extLst>
                    <a:ext uri="{9D8B030D-6E8A-4147-A177-3AD203B41FA5}">
                      <a16:colId xmlns:a16="http://schemas.microsoft.com/office/drawing/2014/main" val="3529231877"/>
                    </a:ext>
                  </a:extLst>
                </a:gridCol>
                <a:gridCol w="7729654">
                  <a:extLst>
                    <a:ext uri="{9D8B030D-6E8A-4147-A177-3AD203B41FA5}">
                      <a16:colId xmlns:a16="http://schemas.microsoft.com/office/drawing/2014/main" val="3178808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to Check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How to Handle It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908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Invalid input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Show a clear message instead of crashing (e.g., “Please enter a number between 1–4.”)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12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Too many subjects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Stop enrolment when a student reaches </a:t>
                      </a:r>
                      <a:r>
                        <a:rPr lang="en-US" sz="2800" b="0" dirty="0">
                          <a:latin typeface="Calibir"/>
                        </a:rPr>
                        <a:t>4 subjects.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775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Duplicate registration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Check the file before adding a new student to prevent duplicates.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30963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3253A52-A535-4A28-6E23-3B0C2670C47C}"/>
              </a:ext>
            </a:extLst>
          </p:cNvPr>
          <p:cNvSpPr txBox="1"/>
          <p:nvPr/>
        </p:nvSpPr>
        <p:spPr>
          <a:xfrm>
            <a:off x="63190" y="5788541"/>
            <a:ext cx="120656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Use try-except in Python or try-catch in Java to manage user input safely.</a:t>
            </a:r>
          </a:p>
        </p:txBody>
      </p:sp>
    </p:spTree>
    <p:extLst>
      <p:ext uri="{BB962C8B-B14F-4D97-AF65-F5344CB8AC3E}">
        <p14:creationId xmlns:p14="http://schemas.microsoft.com/office/powerpoint/2010/main" val="406093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8CFC-F7EE-C1C5-96A4-6702B1A2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E3E71F2E-1D55-AA0A-4368-C0AFAE964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3374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7. </a:t>
            </a:r>
            <a:r>
              <a:rPr lang="en-US" sz="2800" b="1" dirty="0" err="1">
                <a:latin typeface="Calibir"/>
              </a:rPr>
              <a:t>GUIUniApp</a:t>
            </a:r>
            <a:r>
              <a:rPr lang="en-US" sz="2800" b="1" dirty="0">
                <a:latin typeface="Calibir"/>
              </a:rPr>
              <a:t> (Optional but Rewarding)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your group completes the Graphical User Interface (GUI) version, you can earn the full 7 marks.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4FD779-8FF8-81E5-4AE2-B2B71BFDC5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547508"/>
              </p:ext>
            </p:extLst>
          </p:nvPr>
        </p:nvGraphicFramePr>
        <p:xfrm>
          <a:off x="68766" y="1971133"/>
          <a:ext cx="12054468" cy="46069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323064">
                  <a:extLst>
                    <a:ext uri="{9D8B030D-6E8A-4147-A177-3AD203B41FA5}">
                      <a16:colId xmlns:a16="http://schemas.microsoft.com/office/drawing/2014/main" val="2857603796"/>
                    </a:ext>
                  </a:extLst>
                </a:gridCol>
                <a:gridCol w="8731404">
                  <a:extLst>
                    <a:ext uri="{9D8B030D-6E8A-4147-A177-3AD203B41FA5}">
                      <a16:colId xmlns:a16="http://schemas.microsoft.com/office/drawing/2014/main" val="849236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GUI Window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It Should Do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922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Login Window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Allow only registered students to log in. Show an error message for invalid users.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848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Enrolment Window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Let logged-in students add up to 4 subjects.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5980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Subject Window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Display subjects, marks, and grades clearly.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975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Error/Alert Windows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Pop-up windows to handle login or enrolment errors gracefully.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17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989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8592-9BBE-611C-C36B-E2024E7F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DC8E9C2-9E47-EF4F-1D0A-7F8C147F1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7. </a:t>
            </a:r>
            <a:r>
              <a:rPr lang="en-US" sz="2800" b="1" dirty="0" err="1">
                <a:latin typeface="Calibir"/>
              </a:rPr>
              <a:t>GUIUniApp</a:t>
            </a:r>
            <a:r>
              <a:rPr lang="en-US" sz="2800" b="1" dirty="0">
                <a:latin typeface="Calibir"/>
              </a:rPr>
              <a:t> (Optional but Rewarding)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776740-7E0B-05D9-4F0E-C38FD7055DDF}"/>
              </a:ext>
            </a:extLst>
          </p:cNvPr>
          <p:cNvSpPr txBox="1"/>
          <p:nvPr/>
        </p:nvSpPr>
        <p:spPr>
          <a:xfrm>
            <a:off x="0" y="1795346"/>
            <a:ext cx="1206562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i="1" dirty="0">
                <a:latin typeface="Calibir"/>
              </a:rPr>
              <a:t>Hint: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Python, use Tkinter or </a:t>
            </a:r>
            <a:r>
              <a:rPr lang="en-US" sz="2800" dirty="0" err="1">
                <a:latin typeface="Calibir"/>
              </a:rPr>
              <a:t>PyQt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 Java, use JavaFX or Swing.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GUI simple but functional — matching your CLI features.</a:t>
            </a:r>
          </a:p>
        </p:txBody>
      </p:sp>
    </p:spTree>
    <p:extLst>
      <p:ext uri="{BB962C8B-B14F-4D97-AF65-F5344CB8AC3E}">
        <p14:creationId xmlns:p14="http://schemas.microsoft.com/office/powerpoint/2010/main" val="1940956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179CE1-B403-E630-7CD1-18A3D7B42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6FC58-23F3-D08E-4B94-F03EE7C5B4F3}"/>
              </a:ext>
            </a:extLst>
          </p:cNvPr>
          <p:cNvSpPr txBox="1"/>
          <p:nvPr/>
        </p:nvSpPr>
        <p:spPr>
          <a:xfrm>
            <a:off x="0" y="121548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WHAT TO SUBMIT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File Name Format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Name your submission like this: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group&lt;group-number&gt;-Cmp1&lt;lab-number&gt;.zip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Example:</a:t>
            </a:r>
            <a:r>
              <a:rPr lang="en-US" sz="2800" dirty="0">
                <a:latin typeface="Calibir"/>
              </a:rPr>
              <a:t> group3-Cmp1L05.zip</a:t>
            </a:r>
          </a:p>
        </p:txBody>
      </p:sp>
    </p:spTree>
    <p:extLst>
      <p:ext uri="{BB962C8B-B14F-4D97-AF65-F5344CB8AC3E}">
        <p14:creationId xmlns:p14="http://schemas.microsoft.com/office/powerpoint/2010/main" val="2671067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88BE-106B-9BAF-8840-5844017D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EFE743-2A19-D546-05D6-DADD5C70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F62A40-A3EC-B99D-C3FB-87FE9D539B4C}"/>
              </a:ext>
            </a:extLst>
          </p:cNvPr>
          <p:cNvSpPr txBox="1"/>
          <p:nvPr/>
        </p:nvSpPr>
        <p:spPr>
          <a:xfrm>
            <a:off x="0" y="992458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Dear Farshid, 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Good evening, thanks for your time for listening to our presentation. I just want to ask is there a report we need to submit or our Zip File will be all the things we need to submit? Thanks again for this semester, we really appreciate it! 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Kind regards,</a:t>
            </a:r>
          </a:p>
        </p:txBody>
      </p:sp>
    </p:spTree>
    <p:extLst>
      <p:ext uri="{BB962C8B-B14F-4D97-AF65-F5344CB8AC3E}">
        <p14:creationId xmlns:p14="http://schemas.microsoft.com/office/powerpoint/2010/main" val="3872706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3ABE-1F28-25FD-7C80-43ED7F4C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26259F8-C20E-E4DA-1C5F-B355FA34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42C0D-70A6-075C-F768-DD2C6624DF58}"/>
              </a:ext>
            </a:extLst>
          </p:cNvPr>
          <p:cNvSpPr txBox="1"/>
          <p:nvPr/>
        </p:nvSpPr>
        <p:spPr>
          <a:xfrm>
            <a:off x="0" y="992458"/>
            <a:ext cx="12192000" cy="584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Student,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Thank you for your presentation and kind message.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 submission, please refer to Week 10 – Preparation for Part 2 and 3 on Canvas.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to Submit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submission should be a .zip file named as follows: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group&lt;group-number&gt;-Cmp1&lt;lab-number&gt;.zip</a:t>
            </a:r>
            <a:br>
              <a:rPr lang="en-US" sz="2800" dirty="0">
                <a:highlight>
                  <a:srgbClr val="FFFF00"/>
                </a:highlight>
                <a:latin typeface="Calibir"/>
              </a:rPr>
            </a:br>
            <a:r>
              <a:rPr lang="en-US" sz="2800" dirty="0">
                <a:highlight>
                  <a:srgbClr val="FFFF00"/>
                </a:highlight>
                <a:latin typeface="Calibir"/>
              </a:rPr>
              <a:t>Example: group3-Cmp1L05.zip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Only one submission per group is required — please upload it to Canvas before the deadline.</a:t>
            </a:r>
          </a:p>
        </p:txBody>
      </p:sp>
    </p:spTree>
    <p:extLst>
      <p:ext uri="{BB962C8B-B14F-4D97-AF65-F5344CB8AC3E}">
        <p14:creationId xmlns:p14="http://schemas.microsoft.com/office/powerpoint/2010/main" val="36564474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086B-2311-935D-08DC-36755428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AAF10B6-CFDE-8B44-0A5E-561AD9EF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F16AF-885E-2FFA-4A8B-E8174798810A}"/>
              </a:ext>
            </a:extLst>
          </p:cNvPr>
          <p:cNvSpPr txBox="1"/>
          <p:nvPr/>
        </p:nvSpPr>
        <p:spPr>
          <a:xfrm>
            <a:off x="0" y="992458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.zip File Contents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Make sure your .zip file includes: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65443-95B4-B2C5-8D48-9AC0795A5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83" t="37590" r="25994" b="30603"/>
          <a:stretch>
            <a:fillRect/>
          </a:stretch>
        </p:blipFill>
        <p:spPr>
          <a:xfrm>
            <a:off x="220717" y="2546352"/>
            <a:ext cx="8707120" cy="4075674"/>
          </a:xfrm>
          <a:prstGeom prst="rect">
            <a:avLst/>
          </a:prstGeom>
          <a:ln w="228600" cap="sq" cmpd="thickThin">
            <a:solidFill>
              <a:srgbClr val="FF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43189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045D8-D582-B58F-41DD-B3F6BFA6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6ADB98D-1E64-BF08-8380-B75ABF66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0A47A-1557-712B-54BB-A4A51AACF352}"/>
              </a:ext>
            </a:extLst>
          </p:cNvPr>
          <p:cNvSpPr txBox="1"/>
          <p:nvPr/>
        </p:nvSpPr>
        <p:spPr>
          <a:xfrm>
            <a:off x="0" y="992458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Also include:</a:t>
            </a:r>
            <a:endParaRPr lang="en-US" sz="2800" dirty="0">
              <a:latin typeface="Calibir"/>
            </a:endParaRP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Project overview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System requirements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Installation and setup instructions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Configuration details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to run, test, and use the software</a:t>
            </a:r>
          </a:p>
        </p:txBody>
      </p:sp>
    </p:spTree>
    <p:extLst>
      <p:ext uri="{BB962C8B-B14F-4D97-AF65-F5344CB8AC3E}">
        <p14:creationId xmlns:p14="http://schemas.microsoft.com/office/powerpoint/2010/main" val="3547996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4385-D6EA-7825-DAA1-1F0A889E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FCD6B7-C8E9-59AE-4AB6-24F5EC3A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C7C5AD-55C1-65F4-DE71-5E9CDB6D18AA}"/>
              </a:ext>
            </a:extLst>
          </p:cNvPr>
          <p:cNvSpPr txBox="1"/>
          <p:nvPr/>
        </p:nvSpPr>
        <p:spPr>
          <a:xfrm>
            <a:off x="0" y="992458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Do not include:</a:t>
            </a:r>
            <a:endParaRPr lang="en-US" sz="2800" dirty="0">
              <a:latin typeface="Calibir"/>
            </a:endParaRP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Automatically generated build, cache, or log files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Local environment or IDE-specific settings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Large dependency folders (e.g., </a:t>
            </a:r>
            <a:r>
              <a:rPr lang="en-US" sz="2800" dirty="0" err="1">
                <a:latin typeface="Calibir"/>
              </a:rPr>
              <a:t>node_modules</a:t>
            </a:r>
            <a:r>
              <a:rPr lang="en-US" sz="2800" dirty="0">
                <a:latin typeface="Calibir"/>
              </a:rPr>
              <a:t>/)</a:t>
            </a:r>
          </a:p>
        </p:txBody>
      </p:sp>
    </p:spTree>
    <p:extLst>
      <p:ext uri="{BB962C8B-B14F-4D97-AF65-F5344CB8AC3E}">
        <p14:creationId xmlns:p14="http://schemas.microsoft.com/office/powerpoint/2010/main" val="6622113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0D30-5AA6-FEB9-1F2E-3B319DA9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105F66F-A93E-1976-CAF1-22A7D6CE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516087-859F-C325-5EEE-04230F84F377}"/>
              </a:ext>
            </a:extLst>
          </p:cNvPr>
          <p:cNvSpPr txBox="1"/>
          <p:nvPr/>
        </p:nvSpPr>
        <p:spPr>
          <a:xfrm>
            <a:off x="0" y="992458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Part 2 Deadline: Sunday, Week 13 (9 Nov) – 11:59 PM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Only one submission per group (upload to Canvas)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double-check your .zip file before uploading to ensure it opens and runs correctly.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Kind regards,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3695227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2EDB8-178D-ACAD-5EA8-55D805E7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DAAFE0-BA36-5CD9-7627-1927A41D7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961102"/>
              </p:ext>
            </p:extLst>
          </p:nvPr>
        </p:nvGraphicFramePr>
        <p:xfrm>
          <a:off x="0" y="523220"/>
          <a:ext cx="12241161" cy="45785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763729">
                  <a:extLst>
                    <a:ext uri="{9D8B030D-6E8A-4147-A177-3AD203B41FA5}">
                      <a16:colId xmlns:a16="http://schemas.microsoft.com/office/drawing/2014/main" val="1233180678"/>
                    </a:ext>
                  </a:extLst>
                </a:gridCol>
                <a:gridCol w="7477432">
                  <a:extLst>
                    <a:ext uri="{9D8B030D-6E8A-4147-A177-3AD203B41FA5}">
                      <a16:colId xmlns:a16="http://schemas.microsoft.com/office/drawing/2014/main" val="965748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Common Mistake</a:t>
                      </a:r>
                      <a:endParaRPr lang="en-US" sz="280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31536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  <a:r>
                        <a:rPr lang="en-US" sz="2800" dirty="0">
                          <a:latin typeface="Calibir"/>
                        </a:rPr>
                        <a:t> </a:t>
                      </a:r>
                      <a:r>
                        <a:rPr lang="en-US" sz="2800" b="1" dirty="0">
                          <a:latin typeface="Calibir"/>
                        </a:rPr>
                        <a:t>AI-generated code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Risk of 0 marks — detected by similarity tools and AI-pattern checks.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611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  <a:r>
                        <a:rPr lang="en-US" sz="2800" dirty="0">
                          <a:latin typeface="Calibir"/>
                        </a:rPr>
                        <a:t> </a:t>
                      </a:r>
                      <a:r>
                        <a:rPr lang="en-US" sz="2800" b="1" dirty="0">
                          <a:latin typeface="Calibir"/>
                        </a:rPr>
                        <a:t>Non-functional code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Incomplete or broken features earn only minimal marks.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2407806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  <a:r>
                        <a:rPr lang="en-US" sz="2800" dirty="0">
                          <a:latin typeface="Calibir"/>
                        </a:rPr>
                        <a:t> </a:t>
                      </a:r>
                      <a:r>
                        <a:rPr lang="en-US" sz="2800" b="1" dirty="0">
                          <a:latin typeface="Calibir"/>
                        </a:rPr>
                        <a:t>Unclear contribution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Missing Contribution.txt can lead to mark deductions.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0913667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722338E-CFD2-C825-343A-8EB8485D3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46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WHAT TO AVOID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797428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0CCE-719A-0D33-2FBB-F9F026A8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B8905F-1F5A-1314-E4D9-E83D043FD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973062"/>
              </p:ext>
            </p:extLst>
          </p:nvPr>
        </p:nvGraphicFramePr>
        <p:xfrm>
          <a:off x="0" y="523220"/>
          <a:ext cx="12241161" cy="391393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763729">
                  <a:extLst>
                    <a:ext uri="{9D8B030D-6E8A-4147-A177-3AD203B41FA5}">
                      <a16:colId xmlns:a16="http://schemas.microsoft.com/office/drawing/2014/main" val="1233180678"/>
                    </a:ext>
                  </a:extLst>
                </a:gridCol>
                <a:gridCol w="7477432">
                  <a:extLst>
                    <a:ext uri="{9D8B030D-6E8A-4147-A177-3AD203B41FA5}">
                      <a16:colId xmlns:a16="http://schemas.microsoft.com/office/drawing/2014/main" val="965748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Common Mistake</a:t>
                      </a:r>
                      <a:endParaRPr lang="en-US" sz="280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2315367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  <a:r>
                        <a:rPr lang="en-US" sz="2800" dirty="0">
                          <a:latin typeface="Calibir"/>
                        </a:rPr>
                        <a:t> </a:t>
                      </a:r>
                      <a:r>
                        <a:rPr lang="en-US" sz="2800" b="1" dirty="0">
                          <a:latin typeface="Calibir"/>
                        </a:rPr>
                        <a:t>Late submission (without approval)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Must follow </a:t>
                      </a:r>
                      <a:r>
                        <a:rPr lang="en-US" sz="2800" b="0" dirty="0">
                          <a:latin typeface="Calibir"/>
                        </a:rPr>
                        <a:t>the UTS late policy.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16611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  <a:r>
                        <a:rPr lang="en-US" sz="2800" dirty="0">
                          <a:latin typeface="Calibir"/>
                        </a:rPr>
                        <a:t> </a:t>
                      </a:r>
                      <a:r>
                        <a:rPr lang="en-US" sz="2800" b="1" dirty="0">
                          <a:latin typeface="Calibir"/>
                        </a:rPr>
                        <a:t>Inconsistent input/output formatting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90653" marR="90653" marT="45326" marB="4532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Your program’s output </a:t>
                      </a:r>
                      <a:r>
                        <a:rPr lang="en-US" sz="2800" b="0" dirty="0">
                          <a:latin typeface="Calibir"/>
                        </a:rPr>
                        <a:t>must exactly match the sample I/O — spacing, capitalization, indentation all matter.</a:t>
                      </a:r>
                    </a:p>
                  </a:txBody>
                  <a:tcPr marL="90653" marR="90653" marT="45326" marB="45326" anchor="ctr"/>
                </a:tc>
                <a:extLst>
                  <a:ext uri="{0D108BD9-81ED-4DB2-BD59-A6C34878D82A}">
                    <a16:rowId xmlns:a16="http://schemas.microsoft.com/office/drawing/2014/main" val="3424078066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21F0C4F-CC44-4939-4686-0836A73F9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646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WHAT TO AVOID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8390706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C9002-E4A2-0D65-3F6F-D99781EE7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A09E30A-A2C6-ED17-C074-69D287507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586"/>
            <a:ext cx="12192000" cy="648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HINTS &amp; BEST PRACTICES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each menu separately before combining them.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controllers (e.g., </a:t>
            </a:r>
            <a:r>
              <a:rPr lang="en-US" sz="2800" dirty="0" err="1">
                <a:latin typeface="Calibir"/>
              </a:rPr>
              <a:t>StudentController</a:t>
            </a:r>
            <a:r>
              <a:rPr lang="en-US" sz="2800" dirty="0">
                <a:latin typeface="Calibir"/>
              </a:rPr>
              <a:t>, </a:t>
            </a:r>
            <a:r>
              <a:rPr lang="en-US" sz="2800" dirty="0" err="1">
                <a:latin typeface="Calibir"/>
              </a:rPr>
              <a:t>AdminController</a:t>
            </a:r>
            <a:r>
              <a:rPr lang="en-US" sz="2800" dirty="0">
                <a:latin typeface="Calibir"/>
              </a:rPr>
              <a:t>) for clean architecture and separation of logic.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Write helper methods for repeated actions like validation, file reading, or ID generation.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the sample I/O open while testing — your output should look identical.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 GUI: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Python: use tkinter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Java: use JavaFX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B0612-6067-87FD-837A-EF6BE29FC91D}"/>
              </a:ext>
            </a:extLst>
          </p:cNvPr>
          <p:cNvSpPr txBox="1"/>
          <p:nvPr/>
        </p:nvSpPr>
        <p:spPr>
          <a:xfrm>
            <a:off x="4070554" y="5161746"/>
            <a:ext cx="8131277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Final check:</a:t>
            </a:r>
            <a:r>
              <a:rPr lang="en-US" sz="2800" dirty="0">
                <a:latin typeface="Calibir"/>
              </a:rPr>
              <a:t> run your project on another computer before submitting — to ensure it works everywhere.</a:t>
            </a:r>
          </a:p>
        </p:txBody>
      </p:sp>
    </p:spTree>
    <p:extLst>
      <p:ext uri="{BB962C8B-B14F-4D97-AF65-F5344CB8AC3E}">
        <p14:creationId xmlns:p14="http://schemas.microsoft.com/office/powerpoint/2010/main" val="3113591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8C2FF-78A0-8A27-DD91-725809EA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E052B-0643-CE02-BB54-F55636BA8251}"/>
              </a:ext>
            </a:extLst>
          </p:cNvPr>
          <p:cNvSpPr txBox="1"/>
          <p:nvPr/>
        </p:nvSpPr>
        <p:spPr>
          <a:xfrm>
            <a:off x="0" y="884903"/>
            <a:ext cx="12192000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PART 3: SHOWCASE PRESENTATION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When &amp; Format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Held in Week 12 or Week 13 during your lab session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Each group: 15 minutes presentation + 3 minutes Q&amp;A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In-person attendance is mandatory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i="1" dirty="0">
                <a:latin typeface="Calibir"/>
              </a:rPr>
              <a:t>Absence = 0 marks (no exceptions unless approved with evidence)</a:t>
            </a:r>
            <a:endParaRPr lang="en-US" sz="2800" dirty="0">
              <a:latin typeface="Calibir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6DEA1AA-B0BE-4D7C-760F-03BCA51B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</p:spTree>
    <p:extLst>
      <p:ext uri="{BB962C8B-B14F-4D97-AF65-F5344CB8AC3E}">
        <p14:creationId xmlns:p14="http://schemas.microsoft.com/office/powerpoint/2010/main" val="173335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89D0D-2D2F-8DA3-508D-88275A4F6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D17AC6-B4F1-07E9-D350-691B72D1BCC3}"/>
              </a:ext>
            </a:extLst>
          </p:cNvPr>
          <p:cNvSpPr txBox="1"/>
          <p:nvPr/>
        </p:nvSpPr>
        <p:spPr>
          <a:xfrm>
            <a:off x="0" y="830917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to DO in Your Showcase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Each group member must: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Run the working application</a:t>
            </a:r>
            <a:r>
              <a:rPr lang="en-US" sz="2800" dirty="0">
                <a:latin typeface="Calibir"/>
              </a:rPr>
              <a:t> (CLI or GUI) live.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Show your contribution</a:t>
            </a:r>
            <a:r>
              <a:rPr lang="en-US" sz="2800" dirty="0">
                <a:latin typeface="Calibir"/>
              </a:rPr>
              <a:t> – walk through the part of code </a:t>
            </a:r>
            <a:r>
              <a:rPr lang="en-US" sz="2800" i="1" dirty="0">
                <a:latin typeface="Calibir"/>
              </a:rPr>
              <a:t>you wrote</a:t>
            </a:r>
            <a:r>
              <a:rPr lang="en-US" sz="2800" dirty="0">
                <a:latin typeface="Calibir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Speak clearly</a:t>
            </a:r>
            <a:r>
              <a:rPr lang="en-US" sz="2800" dirty="0">
                <a:latin typeface="Calibir"/>
              </a:rPr>
              <a:t> – explain what your part does and how it connects to the rest of the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Answer tutor questions</a:t>
            </a:r>
            <a:r>
              <a:rPr lang="en-US" sz="2800" dirty="0">
                <a:latin typeface="Calibir"/>
              </a:rPr>
              <a:t> confidently (about design, logic, or testing).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as a group once or twice before the showcase — time your parts!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B7CC51-9D94-F72E-EC49-BF64E2E9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</p:spTree>
    <p:extLst>
      <p:ext uri="{BB962C8B-B14F-4D97-AF65-F5344CB8AC3E}">
        <p14:creationId xmlns:p14="http://schemas.microsoft.com/office/powerpoint/2010/main" val="861891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01F16-4628-8B1C-116E-BA34DB9D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C34E325-2462-5073-20DF-E9EC05F1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ED596A-1B72-7627-22CE-816E1A1F5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565903"/>
              </p:ext>
            </p:extLst>
          </p:nvPr>
        </p:nvGraphicFramePr>
        <p:xfrm>
          <a:off x="56535" y="1769344"/>
          <a:ext cx="12078929" cy="433191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745271">
                  <a:extLst>
                    <a:ext uri="{9D8B030D-6E8A-4147-A177-3AD203B41FA5}">
                      <a16:colId xmlns:a16="http://schemas.microsoft.com/office/drawing/2014/main" val="1717820404"/>
                    </a:ext>
                  </a:extLst>
                </a:gridCol>
                <a:gridCol w="1564148">
                  <a:extLst>
                    <a:ext uri="{9D8B030D-6E8A-4147-A177-3AD203B41FA5}">
                      <a16:colId xmlns:a16="http://schemas.microsoft.com/office/drawing/2014/main" val="79917282"/>
                    </a:ext>
                  </a:extLst>
                </a:gridCol>
                <a:gridCol w="6769510">
                  <a:extLst>
                    <a:ext uri="{9D8B030D-6E8A-4147-A177-3AD203B41FA5}">
                      <a16:colId xmlns:a16="http://schemas.microsoft.com/office/drawing/2014/main" val="1340832203"/>
                    </a:ext>
                  </a:extLst>
                </a:gridCol>
              </a:tblGrid>
              <a:tr h="552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Criteria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Marks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Description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0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Working software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The program runs correctly and performs all core functions.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526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Clear and engaging speech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Presentation is clear, confident, and easy to follow.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341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Code walkthrough (own part)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Each member explains their code contribution accurately.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9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Answers to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Responds confidently and shows understanding of the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81523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E6622F46-E768-FC63-49DA-43FF03701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1434"/>
            <a:ext cx="38180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Marking (Total: 5 marks)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9383362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59CFC-D1AC-DE4B-89E3-20F4FA5C3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5027809-7168-8DC1-CEA1-D47339260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62E18E0-F427-B5FF-637E-F718989A0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83" y="830917"/>
            <a:ext cx="11608434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PRESENTATION TIPS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Rehearse your screen flow and main talking points before the presentation.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your speech within 2–3 minutes per member to stay on time.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Prepare for live questions — be ready to explain: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classes or methods you implemented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file operations work (read/write/clear)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regex validation was applied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challenges you faced and how you solved them</a:t>
            </a:r>
          </a:p>
        </p:txBody>
      </p:sp>
    </p:spTree>
    <p:extLst>
      <p:ext uri="{BB962C8B-B14F-4D97-AF65-F5344CB8AC3E}">
        <p14:creationId xmlns:p14="http://schemas.microsoft.com/office/powerpoint/2010/main" val="2590716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69DA-747E-7BCB-7B0F-D948BDEA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4D116D-B39B-74DD-AC47-8EF935C8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9B96F3E-36C4-32D6-4977-172415420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" y="1800413"/>
            <a:ext cx="11900217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Show live results such as enrolment, grouping, or partitioning in action.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Have a backup plan — record a short demo video or take screenshots in case of technical issues.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Calibir"/>
              </a:rPr>
              <a:t>Tip: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switching between group members smoothly — each should introduce their part confidently.</a:t>
            </a:r>
          </a:p>
        </p:txBody>
      </p:sp>
    </p:spTree>
    <p:extLst>
      <p:ext uri="{BB962C8B-B14F-4D97-AF65-F5344CB8AC3E}">
        <p14:creationId xmlns:p14="http://schemas.microsoft.com/office/powerpoint/2010/main" val="1103893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F2875-6671-B4A7-A0D2-3BDA94EA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6CA865D-8010-0358-CD2C-F4E16CCD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60A66A-B124-4844-17C6-4C4EB9FCB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76254"/>
              </p:ext>
            </p:extLst>
          </p:nvPr>
        </p:nvGraphicFramePr>
        <p:xfrm>
          <a:off x="1610058" y="1535723"/>
          <a:ext cx="8971884" cy="44482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is the difference between the CLI and GUI app?</a:t>
                      </a: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The </a:t>
                      </a:r>
                      <a:r>
                        <a:rPr lang="en-US" sz="2800" b="0" dirty="0" err="1">
                          <a:latin typeface="Calibir"/>
                        </a:rPr>
                        <a:t>CLIUniApp</a:t>
                      </a:r>
                      <a:r>
                        <a:rPr lang="en-US" sz="2800" b="0" dirty="0">
                          <a:latin typeface="Calibir"/>
                        </a:rPr>
                        <a:t> uses text-based menus, while the </a:t>
                      </a:r>
                      <a:r>
                        <a:rPr lang="en-US" sz="2800" b="0" dirty="0" err="1">
                          <a:latin typeface="Calibir"/>
                        </a:rPr>
                        <a:t>GUIUniApp</a:t>
                      </a:r>
                      <a:r>
                        <a:rPr lang="en-US" sz="2800" b="0" dirty="0">
                          <a:latin typeface="Calibir"/>
                        </a:rPr>
                        <a:t> has graphical windows for login and enrolment. Both use the same </a:t>
                      </a:r>
                      <a:r>
                        <a:rPr lang="en-US" sz="2800" b="0" dirty="0" err="1">
                          <a:latin typeface="Calibir"/>
                        </a:rPr>
                        <a:t>students.data</a:t>
                      </a:r>
                      <a:r>
                        <a:rPr lang="en-US" sz="2800" b="0" dirty="0">
                          <a:latin typeface="Calibir"/>
                        </a:rPr>
                        <a:t> file.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ADB958EE-934B-293B-9CDA-57BEC6275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539831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1F39-8BC0-97B8-AECA-9D712FBCC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7E92DE-C039-68A4-3648-678566E1E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0F753A-2880-1658-7F5F-650EBCC9A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82581"/>
              </p:ext>
            </p:extLst>
          </p:nvPr>
        </p:nvGraphicFramePr>
        <p:xfrm>
          <a:off x="1610058" y="1535723"/>
          <a:ext cx="8971884" cy="316809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How does your system store data?</a:t>
                      </a: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It serializes Student objects into </a:t>
                      </a:r>
                      <a:r>
                        <a:rPr lang="en-US" sz="2800" b="0" dirty="0" err="1">
                          <a:latin typeface="Calibir"/>
                        </a:rPr>
                        <a:t>students.data</a:t>
                      </a:r>
                      <a:r>
                        <a:rPr lang="en-US" sz="2800" b="0" dirty="0">
                          <a:latin typeface="Calibir"/>
                        </a:rPr>
                        <a:t>, so all data is saved and reloaded across sessions.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D0BA645B-0C0F-0740-FEDF-E305886C0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91770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9C0A5-2B35-BF1E-F870-2B6845A1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B944CF0-2C41-B49A-AF12-BB674ECFC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5D94BF-1ED8-0902-F338-EB362586C9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52666"/>
              </p:ext>
            </p:extLst>
          </p:nvPr>
        </p:nvGraphicFramePr>
        <p:xfrm>
          <a:off x="1610058" y="1535723"/>
          <a:ext cx="8971884" cy="380817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How did you validate emails and passwords?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Using Regex: the email must end with @university.com, and the password must start with an uppercase letter, have ≥5 letters and ≥3 digits.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9E8E7F2-0DD9-07B0-340C-0AC71EEF6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0303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1475-493D-2062-0C79-B03F7EB9D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9E625FA-B251-A2A1-118A-8015E3FFE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0AB313-8E32-8EAF-800A-662BAEFE1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176484"/>
              </p:ext>
            </p:extLst>
          </p:nvPr>
        </p:nvGraphicFramePr>
        <p:xfrm>
          <a:off x="1610058" y="1535723"/>
          <a:ext cx="8971884" cy="316809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53806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How do you prevent duplicate registrations?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Before saving to the file, the system checks if the email already exists. If it does, it blocks registration.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0934323-A549-B22B-9797-C6DF76F19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709327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6DED-0DF1-06FC-3AFF-AE8D471AC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71D200-AE29-8B6D-442E-FC7B37E67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B386EC-C20F-6ABF-CAB9-B237AE320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487339"/>
              </p:ext>
            </p:extLst>
          </p:nvPr>
        </p:nvGraphicFramePr>
        <p:xfrm>
          <a:off x="1610058" y="1535723"/>
          <a:ext cx="8971884" cy="380817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How does the admin partition or group students?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It loops through all students, then categorizes them based on marks (e.g., ≥50 = Pass) and groups by grade (HD, D, C, P, F).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B17FAF95-4606-D0BD-1832-3ED0A1EA0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605649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CF2D-9A42-F8D2-1AE9-C631E4244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D8CC815-0731-B74F-2D63-3863BF0E3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A8360D-5880-9B6D-2997-D3EF4898B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182311"/>
              </p:ext>
            </p:extLst>
          </p:nvPr>
        </p:nvGraphicFramePr>
        <p:xfrm>
          <a:off x="1610058" y="1535723"/>
          <a:ext cx="8971884" cy="256144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happens if a student </a:t>
                      </a:r>
                      <a:r>
                        <a:rPr lang="en-US" sz="2800" b="1" dirty="0" err="1">
                          <a:latin typeface="Calibir"/>
                        </a:rPr>
                        <a:t>enrols</a:t>
                      </a:r>
                      <a:r>
                        <a:rPr lang="en-US" sz="2800" b="1" dirty="0">
                          <a:latin typeface="Calibir"/>
                        </a:rPr>
                        <a:t> in more than 4 subjects?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The program prevents it and shows: “Students are allowed to </a:t>
                      </a:r>
                      <a:r>
                        <a:rPr lang="en-US" sz="2800" dirty="0" err="1">
                          <a:latin typeface="Calibir"/>
                        </a:rPr>
                        <a:t>enrol</a:t>
                      </a:r>
                      <a:r>
                        <a:rPr lang="en-US" sz="2800" dirty="0">
                          <a:latin typeface="Calibir"/>
                        </a:rPr>
                        <a:t> in 4 subjects only.”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AC7CDA42-6995-53B8-6E7C-A16290DAC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01598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1A309-4425-93FB-9011-1603E2CE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4032093-0DAE-BBF6-0F28-D40EFA72A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131B13-CC20-ABA3-5D41-B4EC01500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552727"/>
              </p:ext>
            </p:extLst>
          </p:nvPr>
        </p:nvGraphicFramePr>
        <p:xfrm>
          <a:off x="1610058" y="1535723"/>
          <a:ext cx="8971884" cy="316809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did you personally contribute?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(Example) I implemented the </a:t>
                      </a:r>
                      <a:r>
                        <a:rPr lang="en-US" sz="2800" dirty="0" err="1">
                          <a:latin typeface="Calibir"/>
                        </a:rPr>
                        <a:t>StudentController</a:t>
                      </a:r>
                      <a:r>
                        <a:rPr lang="en-US" sz="2800" dirty="0">
                          <a:latin typeface="Calibir"/>
                        </a:rPr>
                        <a:t> and Subject class, including enrolment logic and file handling.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412818AF-413B-BDAC-29FF-76A57BDB6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396304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6E437-7EA5-0A8D-177F-2F47EC626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9C7B34E-A70C-74BD-3057-AF40A2BF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630496-6572-AAF4-E609-78F5063664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77258"/>
              </p:ext>
            </p:extLst>
          </p:nvPr>
        </p:nvGraphicFramePr>
        <p:xfrm>
          <a:off x="1610058" y="1524911"/>
          <a:ext cx="8971884" cy="380817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485942">
                  <a:extLst>
                    <a:ext uri="{9D8B030D-6E8A-4147-A177-3AD203B41FA5}">
                      <a16:colId xmlns:a16="http://schemas.microsoft.com/office/drawing/2014/main" val="337041563"/>
                    </a:ext>
                  </a:extLst>
                </a:gridCol>
                <a:gridCol w="4485942">
                  <a:extLst>
                    <a:ext uri="{9D8B030D-6E8A-4147-A177-3AD203B41FA5}">
                      <a16:colId xmlns:a16="http://schemas.microsoft.com/office/drawing/2014/main" val="200248073"/>
                    </a:ext>
                  </a:extLst>
                </a:gridCol>
              </a:tblGrid>
              <a:tr h="9702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Question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Suggested Answer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641452691"/>
                  </a:ext>
                </a:extLst>
              </a:tr>
              <a:tr h="193751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improvements could be added later?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marL="50015" marR="50015" marT="25008" marB="2500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Expanding GUI for admin functions, integrating a database (e.g., SQLite), or adding cloud-based data storage.</a:t>
                      </a:r>
                    </a:p>
                  </a:txBody>
                  <a:tcPr marL="50015" marR="50015" marT="25008" marB="25008" anchor="ctr"/>
                </a:tc>
                <a:extLst>
                  <a:ext uri="{0D108BD9-81ED-4DB2-BD59-A6C34878D82A}">
                    <a16:rowId xmlns:a16="http://schemas.microsoft.com/office/drawing/2014/main" val="2130812246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DD5C261-6320-FC7B-A96A-0C54604E3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4019"/>
            <a:ext cx="66449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COMMON QUESTIONS &amp; MODEL ANSWERS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68514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800A6-97E7-1C3B-289D-E4483DCE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AA5748-78DB-9C31-BA51-E3C4BA12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38B1D-562E-812B-28E6-23C6B9926F20}"/>
              </a:ext>
            </a:extLst>
          </p:cNvPr>
          <p:cNvSpPr txBox="1"/>
          <p:nvPr/>
        </p:nvSpPr>
        <p:spPr>
          <a:xfrm>
            <a:off x="0" y="1125455"/>
            <a:ext cx="12192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Hi Professor,</a:t>
            </a:r>
            <a:br>
              <a:rPr lang="en-US" sz="2600" dirty="0">
                <a:latin typeface="Calibir"/>
              </a:rPr>
            </a:b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I hope you're doing well. We’ve reviewed the Part 1 requirements and understand that Part 2 involves implementing a student enrolment system, including both CLI and GUI components.</a:t>
            </a:r>
            <a:br>
              <a:rPr lang="en-US" sz="2600" dirty="0">
                <a:latin typeface="Calibir"/>
              </a:rPr>
            </a:b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Our group would like to start planning for Part 2 of Assessment 1, and we were wondering if you could please let us know the specific requirements for Part 2?</a:t>
            </a:r>
            <a:br>
              <a:rPr lang="en-US" sz="2600" dirty="0">
                <a:latin typeface="Calibir"/>
              </a:rPr>
            </a:br>
            <a:r>
              <a:rPr lang="en-US" sz="2600" b="0" i="0" dirty="0" err="1">
                <a:solidFill>
                  <a:srgbClr val="252B2B"/>
                </a:solidFill>
                <a:effectLst/>
                <a:latin typeface="Calibir"/>
              </a:rPr>
              <a:t>Ｗe’d</a:t>
            </a: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 like to clarify the tasks early so we can arrange our meeting and start preparing.</a:t>
            </a:r>
            <a:br>
              <a:rPr lang="en-US" sz="2600" dirty="0">
                <a:latin typeface="Calibir"/>
              </a:rPr>
            </a:b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Thank you very much for your time and support!</a:t>
            </a:r>
            <a:br>
              <a:rPr lang="en-US" sz="2600" dirty="0">
                <a:latin typeface="Calibir"/>
              </a:rPr>
            </a:br>
            <a:r>
              <a:rPr lang="en-US" sz="2600" b="0" i="0" dirty="0">
                <a:solidFill>
                  <a:srgbClr val="252B2B"/>
                </a:solidFill>
                <a:effectLst/>
                <a:latin typeface="Calibir"/>
              </a:rPr>
              <a:t>Best regards,</a:t>
            </a:r>
            <a:endParaRPr lang="en-US" sz="26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72466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2C8DE-E6C8-D55D-48D3-B2B15DB5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31D7C76-56EA-0429-CCCD-6317E822F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30D02-B737-18F9-2580-0C3B7242CAB2}"/>
              </a:ext>
            </a:extLst>
          </p:cNvPr>
          <p:cNvSpPr txBox="1"/>
          <p:nvPr/>
        </p:nvSpPr>
        <p:spPr>
          <a:xfrm>
            <a:off x="0" y="520771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Student,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Thank you for your message. Yes — Part 2 focuses on implementing the software system based on your Part 1 analysis. It includes both the CLI (</a:t>
            </a:r>
            <a:r>
              <a:rPr lang="en-US" sz="2800" dirty="0" err="1">
                <a:latin typeface="Calibir"/>
              </a:rPr>
              <a:t>CLIUniApp</a:t>
            </a:r>
            <a:r>
              <a:rPr lang="en-US" sz="2800" dirty="0">
                <a:latin typeface="Calibir"/>
              </a:rPr>
              <a:t>) and an optional GUI challenge (</a:t>
            </a:r>
            <a:r>
              <a:rPr lang="en-US" sz="2800" dirty="0" err="1">
                <a:latin typeface="Calibir"/>
              </a:rPr>
              <a:t>GUIUniApp</a:t>
            </a:r>
            <a:r>
              <a:rPr lang="en-US" sz="2800" dirty="0">
                <a:latin typeface="Calibir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You’ll implement all the system menus (University, Student, Admin, and Enrolment) exactly as described in the provided specification and sample I/O.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 recommend your group review the marking scheme early and assign each section (A–E) among members for balanced contribution.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Best regards,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Farshid</a:t>
            </a:r>
          </a:p>
        </p:txBody>
      </p:sp>
    </p:spTree>
    <p:extLst>
      <p:ext uri="{BB962C8B-B14F-4D97-AF65-F5344CB8AC3E}">
        <p14:creationId xmlns:p14="http://schemas.microsoft.com/office/powerpoint/2010/main" val="11814540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1001-F79D-D003-4167-AB48BB95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06C9BD3-AEBC-41B4-D857-9D1686D82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785CD4-A7A3-58C4-A720-34D23CDE4FB7}"/>
              </a:ext>
            </a:extLst>
          </p:cNvPr>
          <p:cNvSpPr txBox="1"/>
          <p:nvPr/>
        </p:nvSpPr>
        <p:spPr>
          <a:xfrm>
            <a:off x="0" y="520771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Professor Farshid Keivanian,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 hope you're doing well!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I’m currently reviewing the tasks for your course and planning my schedule. I just wanted to confirm whether all the required tasks and assessments — such as presentations, reports, or final submissions — will be completed before the official course deadline.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If there are any updates, extensions, or additional requirements I should be aware of, I’d really appreciate it if you could let me know.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Thank you very much for your time and support!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Best regards,</a:t>
            </a:r>
          </a:p>
        </p:txBody>
      </p:sp>
    </p:spTree>
    <p:extLst>
      <p:ext uri="{BB962C8B-B14F-4D97-AF65-F5344CB8AC3E}">
        <p14:creationId xmlns:p14="http://schemas.microsoft.com/office/powerpoint/2010/main" val="37297908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C6D03-7FC8-D10E-475B-E1EB9062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CA1078-E8B7-233E-CEA1-A9DF2FBA5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E6EFE-3142-A000-3D40-BB1BFF95D851}"/>
              </a:ext>
            </a:extLst>
          </p:cNvPr>
          <p:cNvSpPr txBox="1"/>
          <p:nvPr/>
        </p:nvSpPr>
        <p:spPr>
          <a:xfrm>
            <a:off x="0" y="756745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Ziyang,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All required tasks and assessments — including the report, code submission (Part 2), and Showcase (Part 3) — will be completed before the official end of the semester.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Part 2 is due Sunday, Week 13 (9 Nov), and the Showcase (Part 3) occurs in Week 12–13 during your usual class time. There are no additional submissions beyond these.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Best regards,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Farshid</a:t>
            </a:r>
          </a:p>
        </p:txBody>
      </p:sp>
    </p:spTree>
    <p:extLst>
      <p:ext uri="{BB962C8B-B14F-4D97-AF65-F5344CB8AC3E}">
        <p14:creationId xmlns:p14="http://schemas.microsoft.com/office/powerpoint/2010/main" val="24442460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529FD-4736-99A9-CD1A-6D702D7D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0E62A2-D674-6A6B-9D22-F1A95AB4B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82B1D-A2AF-EFEB-0F6F-A3DA1563CE44}"/>
              </a:ext>
            </a:extLst>
          </p:cNvPr>
          <p:cNvSpPr txBox="1"/>
          <p:nvPr/>
        </p:nvSpPr>
        <p:spPr>
          <a:xfrm>
            <a:off x="0" y="859984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>
                <a:latin typeface="Calibir"/>
              </a:rPr>
              <a:t>Dear Farshid,</a:t>
            </a:r>
          </a:p>
          <a:p>
            <a:pPr fontAlgn="base"/>
            <a:r>
              <a:rPr lang="en-US" sz="2800" dirty="0">
                <a:latin typeface="Calibir"/>
              </a:rPr>
              <a:t>I hope you are doing well.</a:t>
            </a:r>
          </a:p>
          <a:p>
            <a:pPr fontAlgn="base"/>
            <a:r>
              <a:rPr lang="en-US" sz="2800" dirty="0">
                <a:latin typeface="Calibir"/>
              </a:rPr>
              <a:t>I am writing regarding the </a:t>
            </a:r>
            <a:r>
              <a:rPr lang="en-US" sz="2800" i="1" dirty="0">
                <a:latin typeface="Calibir"/>
              </a:rPr>
              <a:t>Project Showcase</a:t>
            </a:r>
            <a:r>
              <a:rPr lang="en-US" sz="2800" dirty="0">
                <a:latin typeface="Calibir"/>
              </a:rPr>
              <a:t> for 32555 Fundamentals of Software Development. Our group is Group #9 – Friday 12:00 PM, CMP1 06. I have two questions that I would like to clarify:</a:t>
            </a:r>
          </a:p>
          <a:p>
            <a:pPr marL="722313" indent="-514350">
              <a:buFont typeface="+mj-lt"/>
              <a:buAutoNum type="arabicPeriod"/>
            </a:pPr>
            <a:r>
              <a:rPr lang="en-US" sz="2800" dirty="0">
                <a:latin typeface="Calibir"/>
              </a:rPr>
              <a:t>Could you please confirm whether our group’s showcase will be scheduled in Week 12 or Week 13, and whether it will be conducted online or in person?</a:t>
            </a:r>
          </a:p>
          <a:p>
            <a:pPr marL="722313" indent="-514350">
              <a:buFont typeface="+mj-lt"/>
              <a:buAutoNum type="arabicPeriod"/>
            </a:pPr>
            <a:r>
              <a:rPr lang="en-US" sz="2800" dirty="0">
                <a:latin typeface="Calibir"/>
              </a:rPr>
              <a:t>If the showcase is in person, would it be possible to arrange for our group to present in Week 12? I have an international flight booked on 26 October, which may overlap with the Week 13 schedule.</a:t>
            </a:r>
          </a:p>
          <a:p>
            <a:pPr fontAlgn="base"/>
            <a:r>
              <a:rPr lang="en-US" sz="2800" dirty="0">
                <a:latin typeface="Calibir"/>
              </a:rPr>
              <a:t>Thank you very much for your time and understanding. Please let me know if you need any additional details from me.</a:t>
            </a:r>
          </a:p>
          <a:p>
            <a:pPr fontAlgn="base"/>
            <a:r>
              <a:rPr lang="en-US" sz="2800" dirty="0">
                <a:latin typeface="Calibir"/>
              </a:rPr>
              <a:t>Kind regards,</a:t>
            </a:r>
          </a:p>
        </p:txBody>
      </p:sp>
    </p:spTree>
    <p:extLst>
      <p:ext uri="{BB962C8B-B14F-4D97-AF65-F5344CB8AC3E}">
        <p14:creationId xmlns:p14="http://schemas.microsoft.com/office/powerpoint/2010/main" val="4286955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5FF58-EC20-7B06-E070-24B16D13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19213C0-780A-4237-35B5-2CDA4AC42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647937-4470-B41B-8FD1-AB7B0CDB4FD8}"/>
              </a:ext>
            </a:extLst>
          </p:cNvPr>
          <p:cNvSpPr txBox="1"/>
          <p:nvPr/>
        </p:nvSpPr>
        <p:spPr>
          <a:xfrm>
            <a:off x="0" y="830917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Dear Ziyang,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Thank you for informing me. The Showcase will be conducted during Week 12 and Week 13 in your usual lab time.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Since you have an international flight, I’ll schedule your group’s presentation in Week 12. Please ensure your group is ready to present the full working project and your individual parts.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Best regards,</a:t>
            </a:r>
          </a:p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Farshid</a:t>
            </a:r>
          </a:p>
        </p:txBody>
      </p:sp>
    </p:spTree>
    <p:extLst>
      <p:ext uri="{BB962C8B-B14F-4D97-AF65-F5344CB8AC3E}">
        <p14:creationId xmlns:p14="http://schemas.microsoft.com/office/powerpoint/2010/main" val="16608671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62978-79B8-3CD7-FCC7-2FB1705AA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88FDB6C-6EB8-3112-D288-164F4BB19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0185B-BB15-2BDD-D532-D9BF1AD383E2}"/>
              </a:ext>
            </a:extLst>
          </p:cNvPr>
          <p:cNvSpPr txBox="1"/>
          <p:nvPr/>
        </p:nvSpPr>
        <p:spPr>
          <a:xfrm>
            <a:off x="0" y="756745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ir"/>
              </a:rPr>
              <a:t>Hi Sir Farshid Keivanian,</a:t>
            </a:r>
          </a:p>
          <a:p>
            <a:r>
              <a:rPr lang="en-US" sz="2800" dirty="0">
                <a:latin typeface="Calibir"/>
              </a:rPr>
              <a:t> </a:t>
            </a:r>
          </a:p>
          <a:p>
            <a:r>
              <a:rPr lang="en-US" sz="2800" dirty="0">
                <a:latin typeface="Calibir"/>
              </a:rPr>
              <a:t>When our group was reading the specifications for Assessment Part 2 and 3, we noticed that the GUI task is counted in the marking scheme to complete 50 points even though it’s stated as a challenge task and not mandatory.</a:t>
            </a:r>
          </a:p>
          <a:p>
            <a:r>
              <a:rPr lang="en-US" sz="2800" dirty="0">
                <a:latin typeface="Calibir"/>
              </a:rPr>
              <a:t> </a:t>
            </a:r>
          </a:p>
          <a:p>
            <a:r>
              <a:rPr lang="en-US" sz="2800" dirty="0">
                <a:latin typeface="Calibir"/>
              </a:rPr>
              <a:t>To get full marks for the project, do we: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Deliver parts A through D of the marking scheme 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Deliver parts A through D, while </a:t>
            </a:r>
            <a:r>
              <a:rPr lang="en-US" sz="2800" i="1" dirty="0">
                <a:latin typeface="Calibir"/>
              </a:rPr>
              <a:t>also</a:t>
            </a:r>
            <a:r>
              <a:rPr lang="en-US" sz="2800" dirty="0">
                <a:latin typeface="Calibir"/>
              </a:rPr>
              <a:t> including E</a:t>
            </a:r>
          </a:p>
          <a:p>
            <a:r>
              <a:rPr lang="en-US" sz="2800" dirty="0">
                <a:latin typeface="Calibir"/>
              </a:rPr>
              <a:t> </a:t>
            </a:r>
          </a:p>
          <a:p>
            <a:r>
              <a:rPr lang="en-US" sz="2800" dirty="0">
                <a:latin typeface="Calibir"/>
              </a:rPr>
              <a:t>Your advice is greatly appreciated!</a:t>
            </a:r>
          </a:p>
          <a:p>
            <a:r>
              <a:rPr lang="en-US" sz="2800" dirty="0">
                <a:latin typeface="Calibir"/>
              </a:rPr>
              <a:t> </a:t>
            </a:r>
          </a:p>
          <a:p>
            <a:r>
              <a:rPr lang="en-US" sz="2800" dirty="0">
                <a:latin typeface="Calibir"/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3962977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9C40-90A8-5CA7-F903-237616B6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A0B1E80-EEAA-BE9D-9265-B7CEAA80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Preparation and Guideline for Assessment 1 – Part 2 and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3FF62-4368-0797-C38F-79A1063C57EC}"/>
              </a:ext>
            </a:extLst>
          </p:cNvPr>
          <p:cNvSpPr txBox="1"/>
          <p:nvPr/>
        </p:nvSpPr>
        <p:spPr>
          <a:xfrm>
            <a:off x="0" y="756745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Dear Leiko,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Great question. The GUI component is a challenge task — not mandatory but required if your group aims for full marks (50/50) in Part 2.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Delivering parts A–D (CLI only) can still earn strong marks, but the GUI (part E) provides the final 7 marks and demonstrates advanced skills.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 recommend attempting it if your group has time to integrate it smoothly.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Best regards,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Farshid</a:t>
            </a:r>
          </a:p>
        </p:txBody>
      </p:sp>
    </p:spTree>
    <p:extLst>
      <p:ext uri="{BB962C8B-B14F-4D97-AF65-F5344CB8AC3E}">
        <p14:creationId xmlns:p14="http://schemas.microsoft.com/office/powerpoint/2010/main" val="32170251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A47C-18A7-9AFC-9593-71D435A2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14393FF-7E97-739B-8D63-AFA306C50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Introduction to GUI Programming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C1861-89F7-56B0-C2D5-1F6FF0FDD4E6}"/>
              </a:ext>
            </a:extLst>
          </p:cNvPr>
          <p:cNvSpPr txBox="1"/>
          <p:nvPr/>
        </p:nvSpPr>
        <p:spPr>
          <a:xfrm>
            <a:off x="0" y="1072057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GUI (Graphical User Interface) means using buttons, windows, and menus instead of typing commands.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It’s like using the ANZ Bank app instead of writing commands in a black console window.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Tkinter is Python’s built-in tool for making GUIs.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You don’t need to install it — it comes with Python.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Works smoothly on VS Code, both Windows and macOS.</a:t>
            </a:r>
          </a:p>
        </p:txBody>
      </p:sp>
    </p:spTree>
    <p:extLst>
      <p:ext uri="{BB962C8B-B14F-4D97-AF65-F5344CB8AC3E}">
        <p14:creationId xmlns:p14="http://schemas.microsoft.com/office/powerpoint/2010/main" val="3203151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75789-9AB0-A80B-06D8-0A05A96C2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9748902F-6891-A108-6F41-9D7EDE77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11482"/>
            <a:ext cx="12192000" cy="251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Tk() → Opens your app’s workspace, like clearing a desk before you start working.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title() → Gives your window a name (appears at the top).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geometry() → Sets the window size (width × height).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7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mainloop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() → Keeps the window open and running until you click the button.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F81364-33A5-07D2-CA77-CBCA134D5B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1" t="8835" r="21657" b="50000"/>
          <a:stretch>
            <a:fillRect/>
          </a:stretch>
        </p:blipFill>
        <p:spPr>
          <a:xfrm>
            <a:off x="-1" y="756744"/>
            <a:ext cx="9639759" cy="327611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0E88E5A-0F2E-CF0D-6534-03312D686E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56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Creating Your First Tkinter Window</a:t>
            </a:r>
          </a:p>
        </p:txBody>
      </p:sp>
    </p:spTree>
    <p:extLst>
      <p:ext uri="{BB962C8B-B14F-4D97-AF65-F5344CB8AC3E}">
        <p14:creationId xmlns:p14="http://schemas.microsoft.com/office/powerpoint/2010/main" val="40789266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C32F-EC28-3A26-5CD6-FDC01FB0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8DE5-4A21-AC79-A540-F0902551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1 – Your First App Window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3F8B3-ED58-2099-116F-8777B4B418F0}"/>
              </a:ext>
            </a:extLst>
          </p:cNvPr>
          <p:cNvSpPr txBox="1"/>
          <p:nvPr/>
        </p:nvSpPr>
        <p:spPr>
          <a:xfrm>
            <a:off x="0" y="1021613"/>
            <a:ext cx="12192000" cy="4546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Goal: Get comfortable running the Tkinter window.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Steps: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Use the example 1 (sample code).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Change the window title to your name (e.g., "Farshid’s App").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Change the size from "300x200" to something else, like "400x300".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Run the code and watch your own custom window appear!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Challenge: Can you make it a square window (same width and height)?</a:t>
            </a:r>
          </a:p>
        </p:txBody>
      </p:sp>
      <p:pic>
        <p:nvPicPr>
          <p:cNvPr id="5" name="Timer">
            <a:hlinkClick r:id="" action="ppaction://media"/>
            <a:extLst>
              <a:ext uri="{FF2B5EF4-FFF2-40B4-BE49-F238E27FC236}">
                <a16:creationId xmlns:a16="http://schemas.microsoft.com/office/drawing/2014/main" id="{C0E4F9B9-7FA1-1252-63FD-7C596BDF46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498" r="40896" b="40562"/>
          <a:stretch>
            <a:fillRect/>
          </a:stretch>
        </p:blipFill>
        <p:spPr>
          <a:xfrm>
            <a:off x="4961263" y="5833431"/>
            <a:ext cx="2269474" cy="102456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61975347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C32F-EC28-3A26-5CD6-FDC01FB0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8DE5-4A21-AC79-A540-F0902551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1 – Your First App Window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67288C-B1AC-45DF-A46C-4D98AC9991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48" t="14407" r="8017" b="16475"/>
          <a:stretch>
            <a:fillRect/>
          </a:stretch>
        </p:blipFill>
        <p:spPr>
          <a:xfrm>
            <a:off x="-1" y="756745"/>
            <a:ext cx="12191999" cy="5674502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CD1DAC51-4D68-B9C1-9C89-9F29AB504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98938"/>
            <a:ext cx="8523890" cy="3359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tk.Tk() → opens a new blank window.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title("Farshid’s App") → sets your window name at the top.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geometry("400x300") → makes the window 400 pixels wide and 300 pixels tall.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mainloop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() → tells Python to keep it running until you close it manually.</a:t>
            </a:r>
          </a:p>
        </p:txBody>
      </p:sp>
    </p:spTree>
    <p:extLst>
      <p:ext uri="{BB962C8B-B14F-4D97-AF65-F5344CB8AC3E}">
        <p14:creationId xmlns:p14="http://schemas.microsoft.com/office/powerpoint/2010/main" val="21261624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F6C44-910E-E3AE-0A47-1C0A4FF3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F612-0E86-0DF6-7476-95EDBEB68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1 – Your First App Window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A2005-69FA-9456-E33C-35543BDFAE85}"/>
              </a:ext>
            </a:extLst>
          </p:cNvPr>
          <p:cNvSpPr txBox="1"/>
          <p:nvPr/>
        </p:nvSpPr>
        <p:spPr>
          <a:xfrm>
            <a:off x="0" y="756746"/>
            <a:ext cx="12192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root.geometry("300x300")   # same width and height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creates a square window — try resizing and notice the shape!</a:t>
            </a:r>
          </a:p>
        </p:txBody>
      </p:sp>
    </p:spTree>
    <p:extLst>
      <p:ext uri="{BB962C8B-B14F-4D97-AF65-F5344CB8AC3E}">
        <p14:creationId xmlns:p14="http://schemas.microsoft.com/office/powerpoint/2010/main" val="3424916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C32F-EC28-3A26-5CD6-FDC01FB0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8DE5-4A21-AC79-A540-F0902551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– Experiment with Window Behavior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3F8B3-ED58-2099-116F-8777B4B418F0}"/>
              </a:ext>
            </a:extLst>
          </p:cNvPr>
          <p:cNvSpPr txBox="1"/>
          <p:nvPr/>
        </p:nvSpPr>
        <p:spPr>
          <a:xfrm>
            <a:off x="0" y="1021613"/>
            <a:ext cx="9848573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Goal:</a:t>
            </a:r>
            <a:r>
              <a:rPr lang="en-US" sz="2800" dirty="0">
                <a:latin typeface="Calibir"/>
              </a:rPr>
              <a:t> Understand what each line really does.</a:t>
            </a:r>
            <a:br>
              <a:rPr lang="en-US" sz="2800" dirty="0">
                <a:latin typeface="Calibir"/>
              </a:rPr>
            </a:br>
            <a:r>
              <a:rPr lang="en-US" sz="2800" b="1" dirty="0">
                <a:latin typeface="Calibir"/>
              </a:rPr>
              <a:t>Steps:</a:t>
            </a:r>
            <a:endParaRPr lang="en-US" sz="2800" dirty="0">
              <a:latin typeface="Calibir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See what changes — for example:</a:t>
            </a:r>
          </a:p>
          <a:p>
            <a:pPr marL="971550" lvl="1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happens if you remove geometry()?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if you remove </a:t>
            </a:r>
            <a:r>
              <a:rPr lang="en-US" sz="2800" dirty="0" err="1">
                <a:latin typeface="Calibir"/>
              </a:rPr>
              <a:t>mainloop</a:t>
            </a:r>
            <a:r>
              <a:rPr lang="en-US" sz="2800" dirty="0">
                <a:latin typeface="Calibir"/>
              </a:rPr>
              <a:t>()?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Write one sentence: “I learned that …” after each test.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Hint:</a:t>
            </a:r>
            <a:r>
              <a:rPr lang="en-US" sz="2800" dirty="0">
                <a:latin typeface="Calibir"/>
              </a:rPr>
              <a:t> You’ll discover which parts are essential for the window to appear and stay open!</a:t>
            </a:r>
          </a:p>
        </p:txBody>
      </p:sp>
      <p:pic>
        <p:nvPicPr>
          <p:cNvPr id="5" name="Timer">
            <a:hlinkClick r:id="" action="ppaction://media"/>
            <a:extLst>
              <a:ext uri="{FF2B5EF4-FFF2-40B4-BE49-F238E27FC236}">
                <a16:creationId xmlns:a16="http://schemas.microsoft.com/office/drawing/2014/main" id="{C0E4F9B9-7FA1-1252-63FD-7C596BDF46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87" t="44498" r="40896" b="40562"/>
          <a:stretch>
            <a:fillRect/>
          </a:stretch>
        </p:blipFill>
        <p:spPr>
          <a:xfrm>
            <a:off x="9848573" y="756745"/>
            <a:ext cx="2269474" cy="1024569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8895394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C32F-EC28-3A26-5CD6-FDC01FB0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8DE5-4A21-AC79-A540-F0902551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2 – Experiment with Window Behavior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72559-D848-C27F-E7A1-ADEEBEEC6663}"/>
              </a:ext>
            </a:extLst>
          </p:cNvPr>
          <p:cNvSpPr txBox="1"/>
          <p:nvPr/>
        </p:nvSpPr>
        <p:spPr>
          <a:xfrm>
            <a:off x="110359" y="1154082"/>
            <a:ext cx="119712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we remove geometry(), the window still opens — but the size changes automatically (it shrinks).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If we remove </a:t>
            </a:r>
            <a:r>
              <a:rPr lang="en-US" sz="2800" dirty="0" err="1">
                <a:latin typeface="Calibir"/>
              </a:rPr>
              <a:t>mainloop</a:t>
            </a:r>
            <a:r>
              <a:rPr lang="en-US" sz="2800" dirty="0">
                <a:latin typeface="Calibir"/>
              </a:rPr>
              <a:t>(), the window opens and disappears instantly — our app closes right away!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Lesson Learned: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geometry() controls how big it looks.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mainloop</a:t>
            </a:r>
            <a:r>
              <a:rPr lang="en-US" sz="2800" dirty="0">
                <a:latin typeface="Calibir"/>
              </a:rPr>
              <a:t>() keeps it alive and visible.</a:t>
            </a:r>
          </a:p>
        </p:txBody>
      </p:sp>
    </p:spTree>
    <p:extLst>
      <p:ext uri="{BB962C8B-B14F-4D97-AF65-F5344CB8AC3E}">
        <p14:creationId xmlns:p14="http://schemas.microsoft.com/office/powerpoint/2010/main" val="3619470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BC32F-EC28-3A26-5CD6-FDC01FB0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98DE5-4A21-AC79-A540-F09025512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Widgets: The Building Blocks of GUI Apps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B07C13-958D-6041-DEC0-45AABBC707D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432941"/>
          <a:ext cx="10515600" cy="399211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284474">
                  <a:extLst>
                    <a:ext uri="{9D8B030D-6E8A-4147-A177-3AD203B41FA5}">
                      <a16:colId xmlns:a16="http://schemas.microsoft.com/office/drawing/2014/main" val="3373248578"/>
                    </a:ext>
                  </a:extLst>
                </a:gridCol>
                <a:gridCol w="3725926">
                  <a:extLst>
                    <a:ext uri="{9D8B030D-6E8A-4147-A177-3AD203B41FA5}">
                      <a16:colId xmlns:a16="http://schemas.microsoft.com/office/drawing/2014/main" val="3393286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83475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Widget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What it Does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Example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Label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Shows text on screen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“Email:”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005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Entry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Lets user type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user types email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263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Button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Performs an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“Login” click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844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Frame / LabelFrame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Groups items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Login box area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50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Toplevel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Opens a new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Success popup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930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382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5D482-980F-DEA9-3CCD-E40B0106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BC769-0410-0AB9-1E8A-D4EF6085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Widgets: The Building Blocks of GUI Apps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3748C-2D6B-FF8A-99FC-2C6E5A9088B9}"/>
              </a:ext>
            </a:extLst>
          </p:cNvPr>
          <p:cNvSpPr txBox="1"/>
          <p:nvPr/>
        </p:nvSpPr>
        <p:spPr>
          <a:xfrm>
            <a:off x="262759" y="914400"/>
            <a:ext cx="11624441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Real-World 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your app window as a desk.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Widgets are the furniture you place on it: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Label = name tag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Entry = notepad for typing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Button = doorbell that triggers something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Frame = a tray keeping things organized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Toplevel</a:t>
            </a:r>
            <a:r>
              <a:rPr lang="en-US" sz="2800" dirty="0">
                <a:latin typeface="Calibir"/>
              </a:rPr>
              <a:t> = a new mini-desk popping up for extra work!</a:t>
            </a:r>
          </a:p>
        </p:txBody>
      </p:sp>
    </p:spTree>
    <p:extLst>
      <p:ext uri="{BB962C8B-B14F-4D97-AF65-F5344CB8AC3E}">
        <p14:creationId xmlns:p14="http://schemas.microsoft.com/office/powerpoint/2010/main" val="30730530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2835-356B-039A-9E7E-6CBCE86B5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C1B1-1D91-BC6F-9135-A90F45EC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A47A4-3814-21E9-B877-5734C678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84BFA7-AFDF-D495-1999-5FA68F1D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F85123A-BA5D-2A58-0A35-DC61B56A96FB}"/>
              </a:ext>
            </a:extLst>
          </p:cNvPr>
          <p:cNvSpPr txBox="1"/>
          <p:nvPr/>
        </p:nvSpPr>
        <p:spPr>
          <a:xfrm>
            <a:off x="6975986" y="1660128"/>
            <a:ext cx="5216013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imports Tkinter, Python’s built-in tool for making windows, buttons, and text boxes.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We use the short name tk so we can write less later (e.g., tk.Label instead of </a:t>
            </a:r>
            <a:r>
              <a:rPr lang="en-US" sz="2800" dirty="0" err="1">
                <a:latin typeface="Calibir"/>
              </a:rPr>
              <a:t>tkinter.Label</a:t>
            </a:r>
            <a:r>
              <a:rPr lang="en-US" sz="2800" dirty="0">
                <a:latin typeface="Calibir"/>
              </a:rPr>
              <a:t>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9AF0B03-D365-AD08-5B11-B7DFB38309EC}"/>
              </a:ext>
            </a:extLst>
          </p:cNvPr>
          <p:cNvSpPr/>
          <p:nvPr/>
        </p:nvSpPr>
        <p:spPr>
          <a:xfrm>
            <a:off x="0" y="1607573"/>
            <a:ext cx="3952568" cy="4424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10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65A3-81AB-F5D7-079C-60A932023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F3A1-DA41-F2FC-5752-4BF5D6D9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D79A0-B30F-3A89-CABB-2727B7277C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4A6FC2-1BD5-E956-1F7B-A9603C0B1D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53D4AC-2148-37E3-822B-5DCC8B4847C2}"/>
              </a:ext>
            </a:extLst>
          </p:cNvPr>
          <p:cNvSpPr txBox="1"/>
          <p:nvPr/>
        </p:nvSpPr>
        <p:spPr>
          <a:xfrm>
            <a:off x="6975986" y="1660128"/>
            <a:ext cx="5216013" cy="39070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creates the main window — like opening your app’s workspace or desktop.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Everything you make (labels, buttons, boxes) will sit inside this window.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C479F9A-3B9E-39F1-F015-544C6B612D03}"/>
              </a:ext>
            </a:extLst>
          </p:cNvPr>
          <p:cNvSpPr/>
          <p:nvPr/>
        </p:nvSpPr>
        <p:spPr>
          <a:xfrm>
            <a:off x="0" y="2225142"/>
            <a:ext cx="3952568" cy="4424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09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B0653-3A21-0487-9FBF-7CAED841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7E41-23E5-BD88-A5B2-9FC45494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15E91-5A4A-D97F-EF8F-0845EF031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818D4-FFE4-5D2C-AC3C-5A49493872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5E1553-E881-00F0-722E-9CBCC4FA01D7}"/>
              </a:ext>
            </a:extLst>
          </p:cNvPr>
          <p:cNvSpPr txBox="1"/>
          <p:nvPr/>
        </p:nvSpPr>
        <p:spPr>
          <a:xfrm>
            <a:off x="6975986" y="1660128"/>
            <a:ext cx="5216013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Sets the window name that appears at the top (the title bar).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 can write anything you like, e.g., "My First GUI".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DEE984-7D61-384F-7840-779755CF9556}"/>
              </a:ext>
            </a:extLst>
          </p:cNvPr>
          <p:cNvSpPr/>
          <p:nvPr/>
        </p:nvSpPr>
        <p:spPr>
          <a:xfrm>
            <a:off x="0" y="2615551"/>
            <a:ext cx="4645742" cy="4668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950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0696-1412-A73C-EF2B-A8FD54A9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490C7-231D-D7D2-299D-93CDF3B54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DDEFE2-34E1-FC99-A7FB-10FC9A31BD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7F442-B3D3-36A9-49A7-2D208298A1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F7A7ADC-946D-E653-8065-0F3357B34472}"/>
              </a:ext>
            </a:extLst>
          </p:cNvPr>
          <p:cNvSpPr txBox="1"/>
          <p:nvPr/>
        </p:nvSpPr>
        <p:spPr>
          <a:xfrm>
            <a:off x="6975986" y="1660128"/>
            <a:ext cx="5216013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Makes a label (a piece of text) inside the main window (root).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It will display the text “Email:” on the screen.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D954B8-C6A4-C340-A200-D755449818CD}"/>
              </a:ext>
            </a:extLst>
          </p:cNvPr>
          <p:cNvSpPr/>
          <p:nvPr/>
        </p:nvSpPr>
        <p:spPr>
          <a:xfrm>
            <a:off x="0" y="2993923"/>
            <a:ext cx="6769510" cy="70792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918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3CF2-72F2-8DD3-E830-85B1C98E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1E5F-38FB-3205-03D7-E93A2FB4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921E8-5B90-0FD8-07A7-3E13AB1771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A7A521-C8C8-AF2C-FBB1-725158241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65BB10-3238-401F-B98B-C847C8EBAA88}"/>
              </a:ext>
            </a:extLst>
          </p:cNvPr>
          <p:cNvSpPr txBox="1"/>
          <p:nvPr/>
        </p:nvSpPr>
        <p:spPr>
          <a:xfrm>
            <a:off x="6975986" y="1660128"/>
            <a:ext cx="5216013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Displays the label in the window.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Without pack(), the label exists but doesn’t show up yet.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pack() as “place it nicely” on the window.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183CCB-76E3-7081-5210-537949A38A3D}"/>
              </a:ext>
            </a:extLst>
          </p:cNvPr>
          <p:cNvSpPr/>
          <p:nvPr/>
        </p:nvSpPr>
        <p:spPr>
          <a:xfrm>
            <a:off x="-1" y="3657602"/>
            <a:ext cx="6769510" cy="466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965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9584-540C-A4AB-97E8-9A72886D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9D69-CA2E-86C6-44DD-BF229DCF5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DBF6F1-1F7C-4FEC-5618-F1B0AC9DDF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E7241-F847-9B4A-1589-A98BDAFF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D41392-E577-56B0-53DC-CA3BA7489A3A}"/>
              </a:ext>
            </a:extLst>
          </p:cNvPr>
          <p:cNvSpPr txBox="1"/>
          <p:nvPr/>
        </p:nvSpPr>
        <p:spPr>
          <a:xfrm>
            <a:off x="6975986" y="1660128"/>
            <a:ext cx="5216013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an input box where the user can type something (like an email).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Entry means a single-line text box.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8EA0D4-CEBB-3724-B09D-FDF038203356}"/>
              </a:ext>
            </a:extLst>
          </p:cNvPr>
          <p:cNvSpPr/>
          <p:nvPr/>
        </p:nvSpPr>
        <p:spPr>
          <a:xfrm>
            <a:off x="0" y="4250420"/>
            <a:ext cx="6769510" cy="4660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7627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307E-F83C-FF71-893B-DBBDA7AE9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2420-C551-88B3-89C2-3B9C0BD97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0A4381-1F93-13EB-F610-77B15AF8FA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FD613-4F52-2E0A-46A1-0F454103E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8CDB86-74B4-D90C-CB51-58E2DD9CD772}"/>
              </a:ext>
            </a:extLst>
          </p:cNvPr>
          <p:cNvSpPr txBox="1"/>
          <p:nvPr/>
        </p:nvSpPr>
        <p:spPr>
          <a:xfrm>
            <a:off x="6975986" y="1660128"/>
            <a:ext cx="5216013" cy="132177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Shows the input box under the label.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792DCE-26A1-C76D-62E9-26DF7AAAE869}"/>
              </a:ext>
            </a:extLst>
          </p:cNvPr>
          <p:cNvSpPr/>
          <p:nvPr/>
        </p:nvSpPr>
        <p:spPr>
          <a:xfrm>
            <a:off x="0" y="4687612"/>
            <a:ext cx="6769510" cy="3415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510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FD4B-75E2-143A-FFC0-C98BE7E0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2A2D5-428A-37D7-BCC3-00B7D04A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C180B5-A8B2-0CB6-5F35-0B120E480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5D8DE2-3F1F-C40A-7E30-EE707DD495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B2B1FA-A34E-4BD8-2B56-8A0C078EBC6D}"/>
              </a:ext>
            </a:extLst>
          </p:cNvPr>
          <p:cNvSpPr txBox="1"/>
          <p:nvPr/>
        </p:nvSpPr>
        <p:spPr>
          <a:xfrm>
            <a:off x="6975986" y="1660128"/>
            <a:ext cx="5216013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 button with the word “Login” on it.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(You can later make it do something when clicked.)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198EBBA-58EB-7F18-A932-002535BC36E7}"/>
              </a:ext>
            </a:extLst>
          </p:cNvPr>
          <p:cNvSpPr/>
          <p:nvPr/>
        </p:nvSpPr>
        <p:spPr>
          <a:xfrm>
            <a:off x="0" y="5336541"/>
            <a:ext cx="6769510" cy="3415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384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9EF5D-D800-6F56-D6E8-74BEA7646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76E7-37FE-BAD4-1210-0C5995382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049FFA-8F73-F732-280B-08468230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13D433-E0BF-EEC7-E9D9-2B223604AC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9505D3-E8F7-B5B0-BE53-73A9EF329CED}"/>
              </a:ext>
            </a:extLst>
          </p:cNvPr>
          <p:cNvSpPr txBox="1"/>
          <p:nvPr/>
        </p:nvSpPr>
        <p:spPr>
          <a:xfrm>
            <a:off x="6975986" y="1660128"/>
            <a:ext cx="5216013" cy="132177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Places the button under the input box.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EE2659-04B2-57C9-3129-47F734550D0C}"/>
              </a:ext>
            </a:extLst>
          </p:cNvPr>
          <p:cNvSpPr/>
          <p:nvPr/>
        </p:nvSpPr>
        <p:spPr>
          <a:xfrm>
            <a:off x="0" y="5675753"/>
            <a:ext cx="6769510" cy="3415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779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C734-76AC-02CF-7A5F-EA03A8EC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60D4-87FD-8574-9C2E-F7E5AE9E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F0C26F-3B59-D0D0-0E91-99F84A5CAC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6FE2B0-58B1-350E-8FF8-099765B30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5D7E3F-27B8-E29F-5522-77906561A36E}"/>
              </a:ext>
            </a:extLst>
          </p:cNvPr>
          <p:cNvSpPr txBox="1"/>
          <p:nvPr/>
        </p:nvSpPr>
        <p:spPr>
          <a:xfrm>
            <a:off x="6975986" y="1660128"/>
            <a:ext cx="5216013" cy="32607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Starts the main event loop — it keeps your window open and active until you close it.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Without this line, your app would open and close instantly.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D2B89C-70FC-F368-3BFF-CB93BCD3E16A}"/>
              </a:ext>
            </a:extLst>
          </p:cNvPr>
          <p:cNvSpPr/>
          <p:nvPr/>
        </p:nvSpPr>
        <p:spPr>
          <a:xfrm>
            <a:off x="0" y="6348756"/>
            <a:ext cx="6769510" cy="3415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7078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9156-A41D-C467-D1B2-3AB625003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1CE5-5B2A-7548-D61A-10D9351CE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Example 2: Widgets in 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07BBA-0735-5202-F739-4E4560EA05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827"/>
          <a:stretch>
            <a:fillRect/>
          </a:stretch>
        </p:blipFill>
        <p:spPr>
          <a:xfrm>
            <a:off x="0" y="756745"/>
            <a:ext cx="12192000" cy="9033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89BC60-7D11-702C-4E93-72701C5B5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79" t="21075" r="8427" b="16989"/>
          <a:stretch>
            <a:fillRect/>
          </a:stretch>
        </p:blipFill>
        <p:spPr>
          <a:xfrm>
            <a:off x="0" y="1660128"/>
            <a:ext cx="12192000" cy="50449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CE9666-DAE4-B2CE-A6F9-00E03E55C4BF}"/>
              </a:ext>
            </a:extLst>
          </p:cNvPr>
          <p:cNvSpPr txBox="1"/>
          <p:nvPr/>
        </p:nvSpPr>
        <p:spPr>
          <a:xfrm>
            <a:off x="6975986" y="1660128"/>
            <a:ext cx="5216013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short:</a:t>
            </a:r>
            <a:endParaRPr lang="en-US" sz="2800" dirty="0">
              <a:latin typeface="Calibir"/>
            </a:endParaRP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Tk() → makes the window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Label, Entry, Button → add things to it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pack() → show them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mainloop</a:t>
            </a:r>
            <a:r>
              <a:rPr lang="en-US" sz="2800" dirty="0">
                <a:latin typeface="Calibir"/>
              </a:rPr>
              <a:t>() → keep it open</a:t>
            </a:r>
          </a:p>
        </p:txBody>
      </p:sp>
    </p:spTree>
    <p:extLst>
      <p:ext uri="{BB962C8B-B14F-4D97-AF65-F5344CB8AC3E}">
        <p14:creationId xmlns:p14="http://schemas.microsoft.com/office/powerpoint/2010/main" val="28626505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564A-BDCA-4F19-0C24-78E6ECB8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892C-3916-35E6-6A3E-7687CF03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15599-2788-7A82-90F1-2DD0FAF225B8}"/>
              </a:ext>
            </a:extLst>
          </p:cNvPr>
          <p:cNvSpPr txBox="1"/>
          <p:nvPr/>
        </p:nvSpPr>
        <p:spPr>
          <a:xfrm>
            <a:off x="0" y="756745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Goal: Build a small login screen using Tkinter widgets.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Steps: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Copy the code above.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Add another label and entry for Password.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Change the button text to “Submit”.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Run your program and test typing in both boxes.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Challenge: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Can you add a LabelFrame called “Login Panel” to group both labels and entries inside?</a:t>
            </a:r>
          </a:p>
        </p:txBody>
      </p:sp>
      <p:pic>
        <p:nvPicPr>
          <p:cNvPr id="6" name="Timer">
            <a:hlinkClick r:id="" action="ppaction://media"/>
            <a:extLst>
              <a:ext uri="{FF2B5EF4-FFF2-40B4-BE49-F238E27FC236}">
                <a16:creationId xmlns:a16="http://schemas.microsoft.com/office/drawing/2014/main" id="{B20857DF-D5AC-ED4F-5267-1CF17535663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409" t="44731" r="40960" b="40215"/>
          <a:stretch>
            <a:fillRect/>
          </a:stretch>
        </p:blipFill>
        <p:spPr>
          <a:xfrm>
            <a:off x="9920748" y="0"/>
            <a:ext cx="2271252" cy="103238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724833859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5564A-BDCA-4F19-0C24-78E6ECB8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892C-3916-35E6-6A3E-7687CF03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A921F-9C07-8E45-EFB7-CB9953D2806F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0BCFF1-FA09-1B2E-2FCA-787C88D745C5}"/>
              </a:ext>
            </a:extLst>
          </p:cNvPr>
          <p:cNvSpPr txBox="1"/>
          <p:nvPr/>
        </p:nvSpPr>
        <p:spPr>
          <a:xfrm>
            <a:off x="9158748" y="1297857"/>
            <a:ext cx="3033251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Brings in Tkinter, the library for creating GUI (Graphical User Interface) apps.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0DA3FB-3E1B-6362-380D-80400685C62E}"/>
              </a:ext>
            </a:extLst>
          </p:cNvPr>
          <p:cNvSpPr/>
          <p:nvPr/>
        </p:nvSpPr>
        <p:spPr>
          <a:xfrm>
            <a:off x="0" y="756745"/>
            <a:ext cx="3731342" cy="3641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134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CA43F-4454-296B-E8B9-DE8794BD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624E-0D17-C68B-723D-41C9A267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793F0E-CC27-A86B-0711-96CDB2B551B3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4AE16-7077-6AC7-098A-12F44E55AB83}"/>
              </a:ext>
            </a:extLst>
          </p:cNvPr>
          <p:cNvSpPr txBox="1"/>
          <p:nvPr/>
        </p:nvSpPr>
        <p:spPr>
          <a:xfrm>
            <a:off x="9158748" y="1297857"/>
            <a:ext cx="3033251" cy="32607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Creates the main window for your app and gives it a title that appears at the top bar.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35E52B-C1D5-C797-FCF6-3001739F4891}"/>
              </a:ext>
            </a:extLst>
          </p:cNvPr>
          <p:cNvSpPr/>
          <p:nvPr/>
        </p:nvSpPr>
        <p:spPr>
          <a:xfrm>
            <a:off x="0" y="1086294"/>
            <a:ext cx="3731342" cy="5507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0714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4197-6D01-2CDC-B349-3C15F696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F410A-F719-AB79-7A68-3F538AAC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59E69B-001D-5561-D790-2657CCAA9A95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D00A6-626C-7563-4D6A-87DD6C3D7FFE}"/>
              </a:ext>
            </a:extLst>
          </p:cNvPr>
          <p:cNvSpPr txBox="1"/>
          <p:nvPr/>
        </p:nvSpPr>
        <p:spPr>
          <a:xfrm>
            <a:off x="9158749" y="505970"/>
            <a:ext cx="3033251" cy="61338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A LabelFrame is like a box that groups related items together (here, all login items).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text="Login Panel" → the name of the frame shown on top.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padx and pady → add space inside and around the frame (so things don’t look squished).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EA103C-242E-BC7D-E582-0C9C614D1408}"/>
              </a:ext>
            </a:extLst>
          </p:cNvPr>
          <p:cNvSpPr/>
          <p:nvPr/>
        </p:nvSpPr>
        <p:spPr>
          <a:xfrm>
            <a:off x="-1" y="1622323"/>
            <a:ext cx="9158747" cy="8401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839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FB8C-BD21-C3E1-FA1C-30B78578B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32C-D02E-73AB-91F7-86F3DC16F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1F3B76-DC9A-07C9-1EDB-E72EFCB5FE48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1217CF-ED03-9E60-64A1-88BE353CE134}"/>
              </a:ext>
            </a:extLst>
          </p:cNvPr>
          <p:cNvSpPr txBox="1"/>
          <p:nvPr/>
        </p:nvSpPr>
        <p:spPr>
          <a:xfrm>
            <a:off x="9158749" y="505970"/>
            <a:ext cx="3033251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Adds a Label inside the frame to show the word “Email:”.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E51D98C-3EEB-BC05-E03E-29CEC2787561}"/>
              </a:ext>
            </a:extLst>
          </p:cNvPr>
          <p:cNvSpPr/>
          <p:nvPr/>
        </p:nvSpPr>
        <p:spPr>
          <a:xfrm>
            <a:off x="0" y="2430154"/>
            <a:ext cx="9158747" cy="8401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0856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19DEC-20DD-AB50-4930-058E8E5B6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3C8B7-4F7B-C12B-1D76-B10BA4D5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26835-ADEB-BDCA-3280-0273C6733A6B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0D1066-DBF4-BE3A-653B-2A52DD66ADA6}"/>
              </a:ext>
            </a:extLst>
          </p:cNvPr>
          <p:cNvSpPr txBox="1"/>
          <p:nvPr/>
        </p:nvSpPr>
        <p:spPr>
          <a:xfrm>
            <a:off x="9158749" y="505970"/>
            <a:ext cx="3033251" cy="196810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Adds a text box where users can type their email.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3523C4-99EB-48F8-A082-5922BFCC1F1F}"/>
              </a:ext>
            </a:extLst>
          </p:cNvPr>
          <p:cNvSpPr/>
          <p:nvPr/>
        </p:nvSpPr>
        <p:spPr>
          <a:xfrm>
            <a:off x="0" y="3256472"/>
            <a:ext cx="9158747" cy="6076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142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12C0A-3E24-CB50-E909-B43DFD01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63AE6-355E-A9D1-34F6-35BAE3EC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D551B-419A-CFCB-FCBB-7419770688AE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BB33F5-9E2E-D979-6EE6-45EFC9674D34}"/>
              </a:ext>
            </a:extLst>
          </p:cNvPr>
          <p:cNvSpPr txBox="1"/>
          <p:nvPr/>
        </p:nvSpPr>
        <p:spPr>
          <a:xfrm>
            <a:off x="9158749" y="505970"/>
            <a:ext cx="3033251" cy="196810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Another Label, this time for “Password:”.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C6075D-4B99-2DB0-2439-ED7927E86801}"/>
              </a:ext>
            </a:extLst>
          </p:cNvPr>
          <p:cNvSpPr/>
          <p:nvPr/>
        </p:nvSpPr>
        <p:spPr>
          <a:xfrm>
            <a:off x="0" y="3823959"/>
            <a:ext cx="9158747" cy="86602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9546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2E88-A3F2-B568-B93E-E2B49E4D8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D3813-0B18-94F1-1FE7-409E1991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DBB99-ACAE-A7C6-1FB3-0BDE33F9716D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AFD7EF-BDD9-DAB3-106C-ABF42BC53000}"/>
              </a:ext>
            </a:extLst>
          </p:cNvPr>
          <p:cNvSpPr txBox="1"/>
          <p:nvPr/>
        </p:nvSpPr>
        <p:spPr>
          <a:xfrm>
            <a:off x="9158749" y="505970"/>
            <a:ext cx="3033251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Adds a password box where what you type is hidden (shown as *).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6F763B-1090-BE3C-D559-6467C391B1BD}"/>
              </a:ext>
            </a:extLst>
          </p:cNvPr>
          <p:cNvSpPr/>
          <p:nvPr/>
        </p:nvSpPr>
        <p:spPr>
          <a:xfrm>
            <a:off x="2" y="4620374"/>
            <a:ext cx="9158747" cy="6153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680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7910-8469-80F8-A978-B06716EBB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2348-A658-6FE2-0FE0-2DC79AA8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233691-E536-F3E4-52F7-1B411C8D20BF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2D9C3-3578-605C-971D-46BEE320614C}"/>
              </a:ext>
            </a:extLst>
          </p:cNvPr>
          <p:cNvSpPr txBox="1"/>
          <p:nvPr/>
        </p:nvSpPr>
        <p:spPr>
          <a:xfrm>
            <a:off x="9158749" y="505970"/>
            <a:ext cx="3033251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 button with the label “Submit”.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(We can later make it show a message or check the login when clicked.)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7EA0324-916B-272C-EC7B-35577044492A}"/>
              </a:ext>
            </a:extLst>
          </p:cNvPr>
          <p:cNvSpPr/>
          <p:nvPr/>
        </p:nvSpPr>
        <p:spPr>
          <a:xfrm>
            <a:off x="0" y="5191432"/>
            <a:ext cx="9158747" cy="9098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901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CFF3D-05D7-6061-36FE-3DEC47659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667A-65FD-EC3D-051C-F938F807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ED2F9-F4F4-77DD-7F02-06C0A12770B2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2FB3A-C846-640C-0165-06CBF36FE448}"/>
              </a:ext>
            </a:extLst>
          </p:cNvPr>
          <p:cNvSpPr txBox="1"/>
          <p:nvPr/>
        </p:nvSpPr>
        <p:spPr>
          <a:xfrm>
            <a:off x="9158747" y="766902"/>
            <a:ext cx="3033251" cy="261443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Starts the main loop, keeping the app open until you close it manually.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899EC8-F764-2F3F-EFFF-364C7A0FA0CB}"/>
              </a:ext>
            </a:extLst>
          </p:cNvPr>
          <p:cNvSpPr/>
          <p:nvPr/>
        </p:nvSpPr>
        <p:spPr>
          <a:xfrm flipV="1">
            <a:off x="0" y="5996254"/>
            <a:ext cx="9158747" cy="3932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197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3009-5327-FA18-C248-EF75D8C7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1C7E-2200-CC16-2322-04F6C4B6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Hands-On Activity 3: Add More Widgets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20575-C503-AE8F-9359-94F4B665648D}"/>
              </a:ext>
            </a:extLst>
          </p:cNvPr>
          <p:cNvSpPr txBox="1"/>
          <p:nvPr/>
        </p:nvSpPr>
        <p:spPr>
          <a:xfrm>
            <a:off x="0" y="756745"/>
            <a:ext cx="12192000" cy="563231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main window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Example"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window title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LabelFrame to group login items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 Panel"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Email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"Email:"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entry_email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Password label and entry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"Password:"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lbl_password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Entry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"*"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hides text with '*'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entry_password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Submit button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login_frame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btn_submit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                       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keep the window open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F7E68-F499-9526-3EAB-813F7748FF81}"/>
              </a:ext>
            </a:extLst>
          </p:cNvPr>
          <p:cNvSpPr txBox="1"/>
          <p:nvPr/>
        </p:nvSpPr>
        <p:spPr>
          <a:xfrm>
            <a:off x="9158747" y="-99675"/>
            <a:ext cx="3033251" cy="695767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In Short: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LabelFrame → a box to group widgets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Label → shows text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Entry → input field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Button → clickable action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Calibir"/>
              </a:rPr>
              <a:t>mainloop</a:t>
            </a:r>
            <a:r>
              <a:rPr lang="en-US" sz="2500" dirty="0">
                <a:latin typeface="Calibir"/>
              </a:rPr>
              <a:t>() → keeps app running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F418BC-E12F-F1B0-62E3-DC66D719F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9" t="3656" r="85121" b="71255"/>
          <a:stretch>
            <a:fillRect/>
          </a:stretch>
        </p:blipFill>
        <p:spPr>
          <a:xfrm>
            <a:off x="4601493" y="1696063"/>
            <a:ext cx="4557252" cy="5161936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374695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F672-1D33-70BA-DC7C-29C1C2272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A3C6B-F7D9-C431-6E2E-64760CBB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Geometry Managers (How Widgets Are Placed)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53394-9FF2-B03A-053A-F21F4D8C4C06}"/>
              </a:ext>
            </a:extLst>
          </p:cNvPr>
          <p:cNvSpPr txBox="1"/>
          <p:nvPr/>
        </p:nvSpPr>
        <p:spPr>
          <a:xfrm>
            <a:off x="0" y="830917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There are 3 main ways to position things in your Tkinter window: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pack() → stacks widgets vertically or horizontally (like blocks on top of each other)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grid() → arranges widgets in a table with rows and columns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place() → puts widgets at an exact spot using x/y coordinates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Tip: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Use grid() when making forms — like a Login page with “Email” and “Password” side by side in neat rows.</a:t>
            </a:r>
          </a:p>
        </p:txBody>
      </p:sp>
    </p:spTree>
    <p:extLst>
      <p:ext uri="{BB962C8B-B14F-4D97-AF65-F5344CB8AC3E}">
        <p14:creationId xmlns:p14="http://schemas.microsoft.com/office/powerpoint/2010/main" val="339969616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BC05D-5466-831B-03FB-C4CD97ED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4AE9-5C74-43DF-1083-2CDABD673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90B3E-EB56-3EED-1BAD-A97F33E6B0EC}"/>
              </a:ext>
            </a:extLst>
          </p:cNvPr>
          <p:cNvSpPr txBox="1"/>
          <p:nvPr/>
        </p:nvSpPr>
        <p:spPr>
          <a:xfrm>
            <a:off x="0" y="510600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Tkinter apps react when something happens — this is called an event (like clicking a button). We can make our own function that runs when an event happens — and connect it to a widget.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CB729A-1534-138B-DBFD-BC04CB4CAD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2475112"/>
            <a:ext cx="12191999" cy="3073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6C0BF8-AD5D-CC93-0853-139270B35AB6}"/>
              </a:ext>
            </a:extLst>
          </p:cNvPr>
          <p:cNvSpPr txBox="1"/>
          <p:nvPr/>
        </p:nvSpPr>
        <p:spPr>
          <a:xfrm>
            <a:off x="0" y="5539818"/>
            <a:ext cx="12192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Brings in Tkinter — Python’s tool for making GUI apps (windows, buttons, text boxes).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988D24-BE04-8EEB-483B-633E9A489C0F}"/>
              </a:ext>
            </a:extLst>
          </p:cNvPr>
          <p:cNvSpPr/>
          <p:nvPr/>
        </p:nvSpPr>
        <p:spPr>
          <a:xfrm>
            <a:off x="0" y="2475112"/>
            <a:ext cx="3790335" cy="40082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813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EEB1-8F55-AB43-B13C-9F377A0C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CFC7-31F0-1F95-0D74-DE0C3455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ADF8B8-2A30-CE7A-EF3F-2B96C864004D}"/>
              </a:ext>
            </a:extLst>
          </p:cNvPr>
          <p:cNvSpPr txBox="1"/>
          <p:nvPr/>
        </p:nvSpPr>
        <p:spPr>
          <a:xfrm>
            <a:off x="0" y="510600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Tkinter apps react when something happens — this is called an event (like clicking a button). We can make our own function that runs when an event happens — and connect it to a widget.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F75A70-883B-6104-5462-377C02DD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2475112"/>
            <a:ext cx="12191999" cy="3073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2962C2-7E38-0BB5-BB4F-1D2CE067E65C}"/>
              </a:ext>
            </a:extLst>
          </p:cNvPr>
          <p:cNvSpPr txBox="1"/>
          <p:nvPr/>
        </p:nvSpPr>
        <p:spPr>
          <a:xfrm>
            <a:off x="0" y="5539818"/>
            <a:ext cx="12192000" cy="132177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Creates the main app window — like opening your </a:t>
            </a:r>
            <a:r>
              <a:rPr lang="en-US" sz="2800" b="1" dirty="0">
                <a:latin typeface="Calibir"/>
              </a:rPr>
              <a:t>workspace</a:t>
            </a:r>
            <a:r>
              <a:rPr lang="en-US" sz="2800" dirty="0">
                <a:latin typeface="Calibir"/>
              </a:rPr>
              <a:t> where everything will appear.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68F6F3-0D1A-C992-5C62-AB38ACE60331}"/>
              </a:ext>
            </a:extLst>
          </p:cNvPr>
          <p:cNvSpPr/>
          <p:nvPr/>
        </p:nvSpPr>
        <p:spPr>
          <a:xfrm>
            <a:off x="0" y="2985711"/>
            <a:ext cx="7993626" cy="4432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2429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A5EF-1C9F-1C59-3529-BF1F50FA7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1815-6E11-879B-D82B-6B2CCE3F6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33B57-0A69-2B94-800F-176E807EAD01}"/>
              </a:ext>
            </a:extLst>
          </p:cNvPr>
          <p:cNvSpPr txBox="1"/>
          <p:nvPr/>
        </p:nvSpPr>
        <p:spPr>
          <a:xfrm>
            <a:off x="0" y="510600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Tkinter apps react when something happens — this is called an event (like clicking a button). We can make our own function that runs when an event happens — and connect it to a widget.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9081FE-FD81-C49A-57FD-9DB531E645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2475112"/>
            <a:ext cx="12191999" cy="3073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0BDE9F-0116-5039-799B-B3E05DF21275}"/>
              </a:ext>
            </a:extLst>
          </p:cNvPr>
          <p:cNvSpPr txBox="1"/>
          <p:nvPr/>
        </p:nvSpPr>
        <p:spPr>
          <a:xfrm>
            <a:off x="0" y="5539818"/>
            <a:ext cx="12192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Makes a function that runs when the user clicks the button. Here, it just prints a message on the console — later, we can make it show a popup.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B2733D-E5DD-0780-4D6E-9B34617C9BC2}"/>
              </a:ext>
            </a:extLst>
          </p:cNvPr>
          <p:cNvSpPr/>
          <p:nvPr/>
        </p:nvSpPr>
        <p:spPr>
          <a:xfrm>
            <a:off x="-1" y="3399504"/>
            <a:ext cx="10161639" cy="95388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522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9BBF6-2AFE-38E6-C064-01230A6C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282591-849F-9439-5E39-5803E1A47E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756745"/>
            <a:ext cx="12191999" cy="3073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29C10F-8C3D-39E0-1DC7-B2E7859E0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B5D6F-F1A8-0779-3F63-6E5CDF67BF2E}"/>
              </a:ext>
            </a:extLst>
          </p:cNvPr>
          <p:cNvSpPr txBox="1"/>
          <p:nvPr/>
        </p:nvSpPr>
        <p:spPr>
          <a:xfrm>
            <a:off x="0" y="3830576"/>
            <a:ext cx="12192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Creates a button inside the window (root).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text="Login" → label on the button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command=login_action → tells Tkinter to run the function when the button is clicked.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9EADA9-4B1C-0D95-19C4-8B5168B23CB8}"/>
              </a:ext>
            </a:extLst>
          </p:cNvPr>
          <p:cNvSpPr/>
          <p:nvPr/>
        </p:nvSpPr>
        <p:spPr>
          <a:xfrm>
            <a:off x="0" y="2664522"/>
            <a:ext cx="10161639" cy="3248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2937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F7B8-5EBF-95D7-EB0E-4992C156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FBD92C-6C0A-BEFA-4D9D-1E45AC23D6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756745"/>
            <a:ext cx="12191999" cy="3073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153198-5A13-2826-2649-AEFFA8931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918DC-62A0-54E0-C8B4-04A3D6CAA068}"/>
              </a:ext>
            </a:extLst>
          </p:cNvPr>
          <p:cNvSpPr txBox="1"/>
          <p:nvPr/>
        </p:nvSpPr>
        <p:spPr>
          <a:xfrm>
            <a:off x="0" y="3830576"/>
            <a:ext cx="12192000" cy="675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Displays</a:t>
            </a:r>
            <a:r>
              <a:rPr lang="en-US" sz="2800" dirty="0">
                <a:latin typeface="Calibir"/>
              </a:rPr>
              <a:t> the button on the screen (places it neatly in the window).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051856-F9D7-F83A-325A-CC3298F76973}"/>
              </a:ext>
            </a:extLst>
          </p:cNvPr>
          <p:cNvSpPr/>
          <p:nvPr/>
        </p:nvSpPr>
        <p:spPr>
          <a:xfrm>
            <a:off x="0" y="2968251"/>
            <a:ext cx="10161639" cy="3248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2434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FBB1-2406-C5EC-92FB-23C266671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33220-F39C-B557-3CFE-93648C5E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756745"/>
            <a:ext cx="12191999" cy="3073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48630-4F13-04BE-3195-2A2D433A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9D0CD-F54D-2941-97D8-0E5F31114BB0}"/>
              </a:ext>
            </a:extLst>
          </p:cNvPr>
          <p:cNvSpPr txBox="1"/>
          <p:nvPr/>
        </p:nvSpPr>
        <p:spPr>
          <a:xfrm>
            <a:off x="0" y="3830576"/>
            <a:ext cx="12192000" cy="132177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Keeps the window open and running until you close it — this is the app’s heartbeat.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DEAF60-9EA6-3B6F-CF64-2B24414065DC}"/>
              </a:ext>
            </a:extLst>
          </p:cNvPr>
          <p:cNvSpPr/>
          <p:nvPr/>
        </p:nvSpPr>
        <p:spPr>
          <a:xfrm>
            <a:off x="0" y="3535255"/>
            <a:ext cx="10161639" cy="3248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573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122F-CFC9-0540-4C06-C9C2EE331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A1F4C6-7C22-26DC-E601-C4DD44DB26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53" t="43294" r="8853" b="19373"/>
          <a:stretch>
            <a:fillRect/>
          </a:stretch>
        </p:blipFill>
        <p:spPr>
          <a:xfrm>
            <a:off x="1" y="756745"/>
            <a:ext cx="12191999" cy="3073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D595DA-9F47-BC8B-F0BE-4E9BEA27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Event Handling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4428D6-B00F-4527-2F04-2D0FB0AC3F92}"/>
              </a:ext>
            </a:extLst>
          </p:cNvPr>
          <p:cNvSpPr txBox="1"/>
          <p:nvPr/>
        </p:nvSpPr>
        <p:spPr>
          <a:xfrm>
            <a:off x="0" y="3830576"/>
            <a:ext cx="12192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Short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Event:</a:t>
            </a:r>
            <a:r>
              <a:rPr lang="en-US" sz="2800" dirty="0">
                <a:latin typeface="Calibir"/>
              </a:rPr>
              <a:t> something that happens (like a button click).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Function:</a:t>
            </a:r>
            <a:r>
              <a:rPr lang="en-US" sz="2800" dirty="0">
                <a:latin typeface="Calibir"/>
              </a:rPr>
              <a:t> tells the program what to do when that event happens.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command=...</a:t>
            </a:r>
            <a:r>
              <a:rPr lang="en-US" sz="2800" dirty="0">
                <a:latin typeface="Calibir"/>
              </a:rPr>
              <a:t> → connects the event to the function.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C1114-9F55-FAA2-6BA8-06EB5913C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50" t="18544" r="80604" b="74279"/>
          <a:stretch>
            <a:fillRect/>
          </a:stretch>
        </p:blipFill>
        <p:spPr>
          <a:xfrm>
            <a:off x="8480323" y="0"/>
            <a:ext cx="3711677" cy="181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906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9BF2D-C684-1F9D-C15E-24825029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EB93C-A5EE-7165-2101-58B2C20A1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Login Window Case Study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7BFC5-F3DE-8599-11F0-5D6739CB2CCD}"/>
              </a:ext>
            </a:extLst>
          </p:cNvPr>
          <p:cNvSpPr txBox="1"/>
          <p:nvPr/>
        </p:nvSpPr>
        <p:spPr>
          <a:xfrm>
            <a:off x="0" y="746574"/>
            <a:ext cx="12192000" cy="580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 err="1">
                <a:latin typeface="Calibir"/>
              </a:rPr>
              <a:t>GUIBankApp</a:t>
            </a:r>
            <a:r>
              <a:rPr lang="en-US" sz="2500" b="1" dirty="0">
                <a:latin typeface="Calibir"/>
              </a:rPr>
              <a:t> (Login Module)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Title: “Sign In”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Labels: Email, Password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Buttons: Login, Cancel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Password field: use show='*' to hide what’s typed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If correct: show a “Welcome!” popup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If wrong: show an error popup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Analogy:</a:t>
            </a:r>
            <a:br>
              <a:rPr lang="en-US" sz="2500" dirty="0">
                <a:latin typeface="Calibir"/>
              </a:rPr>
            </a:br>
            <a:r>
              <a:rPr lang="en-US" sz="2500" dirty="0">
                <a:latin typeface="Calibir"/>
              </a:rPr>
              <a:t>Just like logging into UTS Canvas — you type your email and password, and the system checks them in a database before letting you in.</a:t>
            </a:r>
          </a:p>
        </p:txBody>
      </p:sp>
    </p:spTree>
    <p:extLst>
      <p:ext uri="{BB962C8B-B14F-4D97-AF65-F5344CB8AC3E}">
        <p14:creationId xmlns:p14="http://schemas.microsoft.com/office/powerpoint/2010/main" val="19599176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3F2A3-93C3-BEB6-ED9A-A8B65E48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B6A3-88C1-E5F2-275F-450BD1C4B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Popup Windows &amp; Messages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8D5ED-8050-B1DE-BC20-CBF7886D86E5}"/>
              </a:ext>
            </a:extLst>
          </p:cNvPr>
          <p:cNvSpPr txBox="1"/>
          <p:nvPr/>
        </p:nvSpPr>
        <p:spPr>
          <a:xfrm>
            <a:off x="0" y="746574"/>
            <a:ext cx="1219200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Tkinter can show pop-up messages using </a:t>
            </a:r>
            <a:r>
              <a:rPr lang="en-US" sz="2800" dirty="0" err="1">
                <a:latin typeface="Calibir"/>
              </a:rPr>
              <a:t>messagebox</a:t>
            </a:r>
            <a:r>
              <a:rPr lang="en-US" sz="2800" dirty="0">
                <a:latin typeface="Calibir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2F917-5339-42B0-DC1F-3B369AC97B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68" t="23441" r="28871" b="46237"/>
          <a:stretch>
            <a:fillRect/>
          </a:stretch>
        </p:blipFill>
        <p:spPr>
          <a:xfrm>
            <a:off x="0" y="1503318"/>
            <a:ext cx="11761233" cy="32014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720A13-00DD-2E18-C10E-8A70486A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153" t="42151" r="43024" b="40860"/>
          <a:stretch>
            <a:fillRect/>
          </a:stretch>
        </p:blipFill>
        <p:spPr>
          <a:xfrm>
            <a:off x="8465575" y="51619"/>
            <a:ext cx="3726426" cy="27772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CA48A5-B7A1-5599-7F00-F0F4F772E334}"/>
              </a:ext>
            </a:extLst>
          </p:cNvPr>
          <p:cNvSpPr txBox="1"/>
          <p:nvPr/>
        </p:nvSpPr>
        <p:spPr>
          <a:xfrm>
            <a:off x="-1" y="4247157"/>
            <a:ext cx="11975692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showinfo</a:t>
            </a:r>
            <a:r>
              <a:rPr lang="en-US" sz="2800" dirty="0">
                <a:latin typeface="Calibir"/>
              </a:rPr>
              <a:t>() → shows a friendly message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showerror</a:t>
            </a:r>
            <a:r>
              <a:rPr lang="en-US" sz="2800" dirty="0">
                <a:latin typeface="Calibir"/>
              </a:rPr>
              <a:t>() → shows a red error message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Analogy: Pop-ups are like notifications on your phone — they appear, tell you something, then disappear.</a:t>
            </a:r>
          </a:p>
        </p:txBody>
      </p:sp>
    </p:spTree>
    <p:extLst>
      <p:ext uri="{BB962C8B-B14F-4D97-AF65-F5344CB8AC3E}">
        <p14:creationId xmlns:p14="http://schemas.microsoft.com/office/powerpoint/2010/main" val="16221669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16B51-3A60-EB51-1A4E-1CCB4378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76B7-1B1C-6D21-18B6-0A86349D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Connecting GUI with Backend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F835B6-2341-40C6-D3CC-9830C4B144E9}"/>
              </a:ext>
            </a:extLst>
          </p:cNvPr>
          <p:cNvSpPr txBox="1"/>
          <p:nvPr/>
        </p:nvSpPr>
        <p:spPr>
          <a:xfrm>
            <a:off x="0" y="910673"/>
            <a:ext cx="379771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our Bank App, different files have different jobs: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14C865-CC4D-41C3-DA27-795E8BEF3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25981"/>
              </p:ext>
            </p:extLst>
          </p:nvPr>
        </p:nvGraphicFramePr>
        <p:xfrm>
          <a:off x="3797710" y="910673"/>
          <a:ext cx="8394290" cy="332676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96381">
                  <a:extLst>
                    <a:ext uri="{9D8B030D-6E8A-4147-A177-3AD203B41FA5}">
                      <a16:colId xmlns:a16="http://schemas.microsoft.com/office/drawing/2014/main" val="3672206561"/>
                    </a:ext>
                  </a:extLst>
                </a:gridCol>
                <a:gridCol w="5397909">
                  <a:extLst>
                    <a:ext uri="{9D8B030D-6E8A-4147-A177-3AD203B41FA5}">
                      <a16:colId xmlns:a16="http://schemas.microsoft.com/office/drawing/2014/main" val="2080915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File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>
                          <a:latin typeface="Calibir"/>
                        </a:rPr>
                        <a:t>Purpose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508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model.py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Stores user data and passwords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877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controller.py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Records user activity in log.txt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776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frame_view.py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Builds the login screen (GUI frame)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713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main_view.py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Loads and runs the app window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6174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9AA3D5B-8030-46EE-60D4-1F3A5834A550}"/>
              </a:ext>
            </a:extLst>
          </p:cNvPr>
          <p:cNvSpPr txBox="1"/>
          <p:nvPr/>
        </p:nvSpPr>
        <p:spPr>
          <a:xfrm>
            <a:off x="0" y="3726095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Think of your app like a bank: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Frontend (GUI) = the teller desk you interact with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Backend (Code &amp; Database) = the server room that checks and stores your info</a:t>
            </a:r>
          </a:p>
        </p:txBody>
      </p:sp>
    </p:spTree>
    <p:extLst>
      <p:ext uri="{BB962C8B-B14F-4D97-AF65-F5344CB8AC3E}">
        <p14:creationId xmlns:p14="http://schemas.microsoft.com/office/powerpoint/2010/main" val="22310373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E4399-5753-8F0E-29B2-067D2D30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CE2F-9C62-F2F2-B10B-1819501E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Error Handling in GUI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C32B2-CEF3-3A3F-0BD5-5EE17E1789AC}"/>
              </a:ext>
            </a:extLst>
          </p:cNvPr>
          <p:cNvSpPr txBox="1"/>
          <p:nvPr/>
        </p:nvSpPr>
        <p:spPr>
          <a:xfrm>
            <a:off x="0" y="910673"/>
            <a:ext cx="1219200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try–except to stop your program from crashing if something goes wrong.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FA554-F3EE-417C-7B00-84E124C36234}"/>
              </a:ext>
            </a:extLst>
          </p:cNvPr>
          <p:cNvSpPr txBox="1"/>
          <p:nvPr/>
        </p:nvSpPr>
        <p:spPr>
          <a:xfrm>
            <a:off x="0" y="4537219"/>
            <a:ext cx="12192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def </a:t>
            </a:r>
            <a:r>
              <a:rPr lang="en-US" sz="2800" dirty="0" err="1">
                <a:latin typeface="Calibir"/>
              </a:rPr>
              <a:t>validate_login</a:t>
            </a:r>
            <a:r>
              <a:rPr lang="en-US" sz="2800" dirty="0">
                <a:latin typeface="Calibir"/>
              </a:rPr>
              <a:t>(): → creates a fake login function.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raise </a:t>
            </a:r>
            <a:r>
              <a:rPr lang="en-US" sz="2800" dirty="0" err="1">
                <a:latin typeface="Calibir"/>
              </a:rPr>
              <a:t>FileNotFoundError</a:t>
            </a:r>
            <a:r>
              <a:rPr lang="en-US" sz="2800" dirty="0">
                <a:latin typeface="Calibir"/>
              </a:rPr>
              <a:t> → tells Python to pretend an error happened (for testing).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0A58D-553C-DD5D-D6B8-752AAC5C6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2" t="21763" r="22845" b="43908"/>
          <a:stretch>
            <a:fillRect/>
          </a:stretch>
        </p:blipFill>
        <p:spPr>
          <a:xfrm>
            <a:off x="-1" y="1582524"/>
            <a:ext cx="10457793" cy="290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34253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AC5AC-8FB6-0877-AACD-2E0E5B532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3A38-90C6-1940-598B-7F940B72B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Error Handling in GUI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CD49B-3744-5485-09D2-FA10546F48B7}"/>
              </a:ext>
            </a:extLst>
          </p:cNvPr>
          <p:cNvSpPr txBox="1"/>
          <p:nvPr/>
        </p:nvSpPr>
        <p:spPr>
          <a:xfrm>
            <a:off x="0" y="4537219"/>
            <a:ext cx="12192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try: → “Try to do this.”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except </a:t>
            </a:r>
            <a:r>
              <a:rPr lang="en-US" sz="2800" dirty="0" err="1">
                <a:latin typeface="Calibir"/>
              </a:rPr>
              <a:t>FileNotFoundError</a:t>
            </a:r>
            <a:r>
              <a:rPr lang="en-US" sz="2800" dirty="0">
                <a:latin typeface="Calibir"/>
              </a:rPr>
              <a:t>: → “If that kind of error happens, show a red error box.”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5AF55-556D-2D2F-EC28-331750EFFE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2" t="21763" r="22845" b="43908"/>
          <a:stretch>
            <a:fillRect/>
          </a:stretch>
        </p:blipFill>
        <p:spPr>
          <a:xfrm>
            <a:off x="-1" y="1582524"/>
            <a:ext cx="10457793" cy="290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1800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6AF03-7AF8-7AA6-3FFB-1B27DE854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6BFC-FA0A-47D4-29D5-E544BE63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Error Handling in GUI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C8AB20-2BE5-6DD8-9556-78ACA15A6074}"/>
              </a:ext>
            </a:extLst>
          </p:cNvPr>
          <p:cNvSpPr txBox="1"/>
          <p:nvPr/>
        </p:nvSpPr>
        <p:spPr>
          <a:xfrm>
            <a:off x="0" y="4537219"/>
            <a:ext cx="12192000" cy="131818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Now it will open a pop-up that says: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“Missing customer file”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60FEDF-87DC-DC50-9AFA-8186ABDE16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72" t="21763" r="22845" b="43908"/>
          <a:stretch>
            <a:fillRect/>
          </a:stretch>
        </p:blipFill>
        <p:spPr>
          <a:xfrm>
            <a:off x="-1" y="1582524"/>
            <a:ext cx="10457793" cy="29063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E9613E-73CE-B134-5AF1-F078A60779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5432" t="44597" r="41120" b="37932"/>
          <a:stretch>
            <a:fillRect/>
          </a:stretch>
        </p:blipFill>
        <p:spPr>
          <a:xfrm>
            <a:off x="6719759" y="1582524"/>
            <a:ext cx="5472241" cy="399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98044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697F5-C04C-195F-D8F8-7E08DEC6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C25C-62A6-D6FA-2AFA-DDB8B44E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Error Handling in GUI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DA7FC-9689-65A9-9354-739BDD11579E}"/>
              </a:ext>
            </a:extLst>
          </p:cNvPr>
          <p:cNvSpPr txBox="1"/>
          <p:nvPr/>
        </p:nvSpPr>
        <p:spPr>
          <a:xfrm>
            <a:off x="0" y="180041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In Simple Terms: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“Try to do this. If it fails, show an error instead of crashing.”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Analogy:</a:t>
            </a:r>
            <a:r>
              <a:rPr lang="en-US" sz="2800" dirty="0">
                <a:latin typeface="Calibir"/>
              </a:rPr>
              <a:t> Like an ATM that says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“Card not recognized”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instead of freezing or turning off.</a:t>
            </a:r>
          </a:p>
        </p:txBody>
      </p:sp>
    </p:spTree>
    <p:extLst>
      <p:ext uri="{BB962C8B-B14F-4D97-AF65-F5344CB8AC3E}">
        <p14:creationId xmlns:p14="http://schemas.microsoft.com/office/powerpoint/2010/main" val="285675292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50B38-00FB-9345-1E21-AA0901F0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F941-0FE1-F257-D079-2E1928C6D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Logging User Actions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2EF5C-A9CD-0B3E-8EBA-3D3CC345FE29}"/>
              </a:ext>
            </a:extLst>
          </p:cNvPr>
          <p:cNvSpPr txBox="1"/>
          <p:nvPr/>
        </p:nvSpPr>
        <p:spPr>
          <a:xfrm>
            <a:off x="0" y="1800413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After each successful login, the app saves it to a file: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controller.save</a:t>
            </a:r>
            <a:r>
              <a:rPr lang="en-US" sz="2800" dirty="0">
                <a:latin typeface="Calibir"/>
              </a:rPr>
              <a:t>("log.txt")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Why:</a:t>
            </a:r>
            <a:r>
              <a:rPr lang="en-US" sz="2800" dirty="0">
                <a:latin typeface="Calibir"/>
              </a:rPr>
              <a:t> To keep a record of who logged in and when — for security and tracking.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Just like an ATM machine log, it records each transaction for safety.</a:t>
            </a:r>
          </a:p>
        </p:txBody>
      </p:sp>
    </p:spTree>
    <p:extLst>
      <p:ext uri="{BB962C8B-B14F-4D97-AF65-F5344CB8AC3E}">
        <p14:creationId xmlns:p14="http://schemas.microsoft.com/office/powerpoint/2010/main" val="24859604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3749-DEE4-1E6D-D5AC-2CB0604D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EB5A-862A-1173-F277-3AEA5AFD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Sample Java GUI Comparison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BC1017-8891-8CE2-DD5A-590C91F29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01125"/>
              </p:ext>
            </p:extLst>
          </p:nvPr>
        </p:nvGraphicFramePr>
        <p:xfrm>
          <a:off x="838200" y="1230258"/>
          <a:ext cx="10515600" cy="332676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436978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83036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5261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Aspect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Python (</a:t>
                      </a:r>
                      <a:r>
                        <a:rPr lang="en-US" sz="2800" b="1" dirty="0" err="1">
                          <a:latin typeface="Calibir"/>
                        </a:rPr>
                        <a:t>Tkinter</a:t>
                      </a:r>
                      <a:r>
                        <a:rPr lang="en-US" sz="2800" b="1" dirty="0">
                          <a:latin typeface="Calibir"/>
                        </a:rPr>
                        <a:t>)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Java (Swing)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51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Create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Tk()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JFrame()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157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Button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command=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addActionListener()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8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Popup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messagebox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JOptionPane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463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Layout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grid()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BorderLayout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63491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218243D-EC47-2F54-5207-974FD824ACA2}"/>
              </a:ext>
            </a:extLst>
          </p:cNvPr>
          <p:cNvSpPr txBox="1"/>
          <p:nvPr/>
        </p:nvSpPr>
        <p:spPr>
          <a:xfrm>
            <a:off x="128752" y="4893488"/>
            <a:ext cx="11401096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Note: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Different languages, same logic — just different words!</a:t>
            </a:r>
          </a:p>
        </p:txBody>
      </p:sp>
    </p:spTree>
    <p:extLst>
      <p:ext uri="{BB962C8B-B14F-4D97-AF65-F5344CB8AC3E}">
        <p14:creationId xmlns:p14="http://schemas.microsoft.com/office/powerpoint/2010/main" val="38030729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690E8-59C0-3BE1-F62E-764DE3C94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CB6E4-A071-096E-6AF6-988107CC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Testing Your GUI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D4734-4A12-8517-D862-3D47C0E10AC9}"/>
              </a:ext>
            </a:extLst>
          </p:cNvPr>
          <p:cNvSpPr txBox="1"/>
          <p:nvPr/>
        </p:nvSpPr>
        <p:spPr>
          <a:xfrm>
            <a:off x="395452" y="990561"/>
            <a:ext cx="1140109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Before submission, test your app carefully: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Try typing in the email and password boxes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Test both correct and wrong logins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Check if the log file is created correctly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Run it on different computers (Windows, macOS, etc.)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Analogy: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Just like testing a MyGov online form — make sure every input works, errors show properly, and nothing breaks!</a:t>
            </a:r>
          </a:p>
        </p:txBody>
      </p:sp>
    </p:spTree>
    <p:extLst>
      <p:ext uri="{BB962C8B-B14F-4D97-AF65-F5344CB8AC3E}">
        <p14:creationId xmlns:p14="http://schemas.microsoft.com/office/powerpoint/2010/main" val="304883732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8BF4-E592-A928-4782-74702B89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4997-5E2F-3919-3AAA-BB48E4D3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Research &amp; Discussion Questions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1F3B7-36EC-AA7C-0120-DBDB8C7B54F4}"/>
              </a:ext>
            </a:extLst>
          </p:cNvPr>
          <p:cNvSpPr txBox="1"/>
          <p:nvPr/>
        </p:nvSpPr>
        <p:spPr>
          <a:xfrm>
            <a:off x="395452" y="990561"/>
            <a:ext cx="11401096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Why is GUI important in modern apps?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➡ Because users prefer visual interaction over command lines.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2"/>
            </a:pPr>
            <a:r>
              <a:rPr lang="en-US" altLang="en-US" sz="2800" dirty="0">
                <a:latin typeface="Calibir"/>
              </a:rPr>
              <a:t>Should login data be stored in plain text files?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➡ No, use encryption or databases for security (Australian Privacy Act).</a:t>
            </a:r>
          </a:p>
        </p:txBody>
      </p:sp>
    </p:spTree>
    <p:extLst>
      <p:ext uri="{BB962C8B-B14F-4D97-AF65-F5344CB8AC3E}">
        <p14:creationId xmlns:p14="http://schemas.microsoft.com/office/powerpoint/2010/main" val="1253260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0D5D-73E8-FFD3-A231-819C8D06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BE2-15CA-3762-59E7-CE9EC037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Problem-Solving with GUI (Python Version)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8DA824-7D93-417F-A239-F4FDD3CA6DA5}"/>
              </a:ext>
            </a:extLst>
          </p:cNvPr>
          <p:cNvSpPr txBox="1"/>
          <p:nvPr/>
        </p:nvSpPr>
        <p:spPr>
          <a:xfrm>
            <a:off x="395452" y="990561"/>
            <a:ext cx="11401096" cy="557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Task: Build a Simple Login System (Python </a:t>
            </a:r>
            <a:r>
              <a:rPr lang="en-US" sz="2400" b="1" dirty="0" err="1">
                <a:latin typeface="Calibir"/>
              </a:rPr>
              <a:t>Tkinter</a:t>
            </a:r>
            <a:r>
              <a:rPr lang="en-US" sz="2400" b="1" dirty="0">
                <a:latin typeface="Calibir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Goal:</a:t>
            </a:r>
            <a:br>
              <a:rPr lang="en-US" sz="2400" dirty="0">
                <a:latin typeface="Calibir"/>
              </a:rPr>
            </a:br>
            <a:r>
              <a:rPr lang="en-US" sz="2400" dirty="0">
                <a:latin typeface="Calibir"/>
              </a:rPr>
              <a:t>Make a mini login window that checks if the user enters the correct email and password.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Steps: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Create two input boxes — one for email and one for password.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Add a Login button.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alibir"/>
              </a:rPr>
              <a:t>When the button is clicked: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If the email = tom.s@test.com and password = tom222, show a Welcome message.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Otherwise, show an Error message.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Hint: Use </a:t>
            </a:r>
            <a:r>
              <a:rPr lang="en-US" sz="2400" dirty="0" err="1">
                <a:latin typeface="Calibir"/>
              </a:rPr>
              <a:t>messagebox.showinfo</a:t>
            </a:r>
            <a:r>
              <a:rPr lang="en-US" sz="2400" dirty="0">
                <a:latin typeface="Calibir"/>
              </a:rPr>
              <a:t>() and </a:t>
            </a:r>
            <a:r>
              <a:rPr lang="en-US" sz="2400" dirty="0" err="1">
                <a:latin typeface="Calibir"/>
              </a:rPr>
              <a:t>messagebox.showerror</a:t>
            </a:r>
            <a:r>
              <a:rPr lang="en-US" sz="2400" dirty="0">
                <a:latin typeface="Calibir"/>
              </a:rPr>
              <a:t>() for pop-ups.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9E104E54-4FD1-C37F-0944-ABD8038188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615" t="45691" r="40907" b="40000"/>
          <a:stretch>
            <a:fillRect/>
          </a:stretch>
        </p:blipFill>
        <p:spPr>
          <a:xfrm>
            <a:off x="9939452" y="9254"/>
            <a:ext cx="2252548" cy="98130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56388485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0D5D-73E8-FFD3-A231-819C8D06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8BE2-15CA-3762-59E7-CE9EC037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Problem-Solving with GUI (Python Version)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0C5611-F405-3192-FE1B-AEC2B8831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3" t="9463" r="8306" b="22365"/>
          <a:stretch>
            <a:fillRect/>
          </a:stretch>
        </p:blipFill>
        <p:spPr>
          <a:xfrm>
            <a:off x="0" y="943896"/>
            <a:ext cx="12192000" cy="5577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27A3E9-6D78-3838-46B6-4C641A4E0DCB}"/>
              </a:ext>
            </a:extLst>
          </p:cNvPr>
          <p:cNvSpPr txBox="1"/>
          <p:nvPr/>
        </p:nvSpPr>
        <p:spPr>
          <a:xfrm>
            <a:off x="7447935" y="2212257"/>
            <a:ext cx="4753897" cy="33733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Entry() → lets the user type email and password.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show="*" → hides the password text.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Calibir"/>
              </a:rPr>
              <a:t>check_login</a:t>
            </a:r>
            <a:r>
              <a:rPr lang="en-US" dirty="0">
                <a:latin typeface="Calibir"/>
              </a:rPr>
              <a:t>() → runs when the button is clicked.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If login info is correct → shows “Welcome Tom!”.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ir"/>
              </a:rPr>
              <a:t>Otherwise → shows “Invalid credentials”.</a:t>
            </a:r>
          </a:p>
        </p:txBody>
      </p:sp>
    </p:spTree>
    <p:extLst>
      <p:ext uri="{BB962C8B-B14F-4D97-AF65-F5344CB8AC3E}">
        <p14:creationId xmlns:p14="http://schemas.microsoft.com/office/powerpoint/2010/main" val="8527535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5A591-B513-A23E-F0A0-E6FB3038D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6168-5FE1-7990-AE78-6EED75B37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Problem-Solving with GUI (Python Version)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A92BE9-DC3C-6198-8E00-A1652D48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63" t="9463" r="8306" b="22365"/>
          <a:stretch>
            <a:fillRect/>
          </a:stretch>
        </p:blipFill>
        <p:spPr>
          <a:xfrm>
            <a:off x="0" y="943896"/>
            <a:ext cx="12192000" cy="55770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F80AA0-112D-8E17-DDB9-27D4CAACA9BE}"/>
              </a:ext>
            </a:extLst>
          </p:cNvPr>
          <p:cNvSpPr txBox="1"/>
          <p:nvPr/>
        </p:nvSpPr>
        <p:spPr>
          <a:xfrm>
            <a:off x="7447935" y="2212257"/>
            <a:ext cx="4753897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Analogy: Just like logging into Canvas or MyGov, the system checks your email and password before letting you in.</a:t>
            </a:r>
          </a:p>
        </p:txBody>
      </p:sp>
    </p:spTree>
    <p:extLst>
      <p:ext uri="{BB962C8B-B14F-4D97-AF65-F5344CB8AC3E}">
        <p14:creationId xmlns:p14="http://schemas.microsoft.com/office/powerpoint/2010/main" val="69652869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44BC-253A-E862-8835-8004154B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A2D1-4498-A6DC-85E5-98ECF8797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dirty="0">
                <a:latin typeface="Calibir"/>
              </a:rPr>
              <a:t>Problem-Solving with GUI (Java Version)</a:t>
            </a:r>
            <a:endParaRPr lang="en-US" sz="4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C71822-15A5-2444-6BBE-ACC4D8D69CB4}"/>
              </a:ext>
            </a:extLst>
          </p:cNvPr>
          <p:cNvSpPr txBox="1"/>
          <p:nvPr/>
        </p:nvSpPr>
        <p:spPr>
          <a:xfrm>
            <a:off x="395452" y="990561"/>
            <a:ext cx="11401096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Task: Build the Same Login App in Java Swing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Goal:</a:t>
            </a:r>
            <a:br>
              <a:rPr lang="en-US" sz="2600" dirty="0">
                <a:latin typeface="Calibir"/>
              </a:rPr>
            </a:br>
            <a:r>
              <a:rPr lang="en-US" sz="2600" dirty="0">
                <a:latin typeface="Calibir"/>
              </a:rPr>
              <a:t>Create a simple Java GUI that checks a user’s email and password, similar to the Python one.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Steps: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Use </a:t>
            </a:r>
            <a:r>
              <a:rPr lang="en-US" sz="2600" dirty="0" err="1">
                <a:latin typeface="Calibir"/>
              </a:rPr>
              <a:t>JFrame</a:t>
            </a:r>
            <a:r>
              <a:rPr lang="en-US" sz="2600" dirty="0">
                <a:latin typeface="Calibir"/>
              </a:rPr>
              <a:t> for the window.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Add a </a:t>
            </a:r>
            <a:r>
              <a:rPr lang="en-US" sz="2600" dirty="0" err="1">
                <a:latin typeface="Calibir"/>
              </a:rPr>
              <a:t>JTextField</a:t>
            </a:r>
            <a:r>
              <a:rPr lang="en-US" sz="2600" dirty="0">
                <a:latin typeface="Calibir"/>
              </a:rPr>
              <a:t> for email and </a:t>
            </a:r>
            <a:r>
              <a:rPr lang="en-US" sz="2600" dirty="0" err="1">
                <a:latin typeface="Calibir"/>
              </a:rPr>
              <a:t>JPasswordField</a:t>
            </a:r>
            <a:r>
              <a:rPr lang="en-US" sz="2600" dirty="0">
                <a:latin typeface="Calibir"/>
              </a:rPr>
              <a:t> for password.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Add a Login button.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Calibir"/>
              </a:rPr>
              <a:t>When clicked, show a pop-up saying either “Welcome Tom!” or “Invalid”.</a:t>
            </a:r>
          </a:p>
        </p:txBody>
      </p:sp>
      <p:pic>
        <p:nvPicPr>
          <p:cNvPr id="3" name="Timer">
            <a:hlinkClick r:id="" action="ppaction://media"/>
            <a:extLst>
              <a:ext uri="{FF2B5EF4-FFF2-40B4-BE49-F238E27FC236}">
                <a16:creationId xmlns:a16="http://schemas.microsoft.com/office/drawing/2014/main" id="{D6AA8C37-2C37-3FA9-5839-588119C57C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40615" t="45691" r="40907" b="40000"/>
          <a:stretch>
            <a:fillRect/>
          </a:stretch>
        </p:blipFill>
        <p:spPr>
          <a:xfrm>
            <a:off x="9939452" y="9254"/>
            <a:ext cx="2252548" cy="98130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14949322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44BC-253A-E862-8835-8004154B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55F008D-2B61-4670-DA88-D7BD0F587F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1" t="7742" r="9515" b="23871"/>
          <a:stretch>
            <a:fillRect/>
          </a:stretch>
        </p:blipFill>
        <p:spPr>
          <a:xfrm>
            <a:off x="0" y="20595"/>
            <a:ext cx="12192000" cy="5651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CA0970-2A42-70D1-822C-4F1F813B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80" t="18494" r="71573" b="64516"/>
          <a:stretch>
            <a:fillRect/>
          </a:stretch>
        </p:blipFill>
        <p:spPr>
          <a:xfrm>
            <a:off x="7492180" y="44730"/>
            <a:ext cx="4670323" cy="28164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D90808-A2CE-CB72-62D8-CA4D89379CC6}"/>
              </a:ext>
            </a:extLst>
          </p:cNvPr>
          <p:cNvSpPr txBox="1"/>
          <p:nvPr/>
        </p:nvSpPr>
        <p:spPr>
          <a:xfrm>
            <a:off x="6887496" y="3244645"/>
            <a:ext cx="5304503" cy="359470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JFrame</a:t>
            </a:r>
            <a:r>
              <a:rPr lang="en-US" sz="2200" dirty="0">
                <a:latin typeface="Calibir"/>
              </a:rPr>
              <a:t> → window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JTextField</a:t>
            </a:r>
            <a:r>
              <a:rPr lang="en-US" sz="2200" dirty="0">
                <a:latin typeface="Calibir"/>
              </a:rPr>
              <a:t> → email box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JPasswordField</a:t>
            </a:r>
            <a:r>
              <a:rPr lang="en-US" sz="2200" dirty="0">
                <a:latin typeface="Calibir"/>
              </a:rPr>
              <a:t> → password box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JButton</a:t>
            </a:r>
            <a:r>
              <a:rPr lang="en-US" sz="2200" dirty="0">
                <a:latin typeface="Calibir"/>
              </a:rPr>
              <a:t> → clickable button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ir"/>
              </a:rPr>
              <a:t>JOptionPane</a:t>
            </a:r>
            <a:r>
              <a:rPr lang="en-US" sz="2200" dirty="0">
                <a:latin typeface="Calibir"/>
              </a:rPr>
              <a:t> → pop-up message</a:t>
            </a:r>
          </a:p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Calibir"/>
              </a:rPr>
              <a:t>Analogy: Like the Python version, but using Java’s Swing tools instead of </a:t>
            </a:r>
            <a:r>
              <a:rPr lang="en-US" sz="2200" dirty="0" err="1">
                <a:latin typeface="Calibir"/>
              </a:rPr>
              <a:t>Tkinter</a:t>
            </a:r>
            <a:r>
              <a:rPr lang="en-US" sz="22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895776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4865-1DFA-130B-3250-240B311EA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2275F-5821-1C3C-37CB-AF4F09992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210C4-0BDB-F1E7-1DE6-ABDBD283B752}"/>
              </a:ext>
            </a:extLst>
          </p:cNvPr>
          <p:cNvSpPr txBox="1"/>
          <p:nvPr/>
        </p:nvSpPr>
        <p:spPr>
          <a:xfrm>
            <a:off x="346587" y="1371966"/>
            <a:ext cx="1143737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Tkinter widget is used for selecting one option from multiple choices?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A) Label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Checkbutton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Radiobutton</a:t>
            </a:r>
            <a:endParaRPr lang="en-US" sz="2800" dirty="0">
              <a:latin typeface="Calibir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Listbox</a:t>
            </a:r>
            <a:endParaRPr lang="en-US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A5BAE-078C-0774-31AC-F85A0ECEAC0E}"/>
              </a:ext>
            </a:extLst>
          </p:cNvPr>
          <p:cNvSpPr txBox="1"/>
          <p:nvPr/>
        </p:nvSpPr>
        <p:spPr>
          <a:xfrm>
            <a:off x="213852" y="4893488"/>
            <a:ext cx="11304638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 C - 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Radiobutton</a:t>
            </a:r>
            <a:r>
              <a:rPr lang="en-US" sz="2800" dirty="0">
                <a:latin typeface="Calibir"/>
              </a:rPr>
              <a:t> allows users to choose a single option among several; </a:t>
            </a:r>
            <a:r>
              <a:rPr lang="en-US" sz="2800" dirty="0" err="1">
                <a:latin typeface="Calibir"/>
              </a:rPr>
              <a:t>Checkbutton</a:t>
            </a:r>
            <a:r>
              <a:rPr lang="en-US" sz="2800" dirty="0">
                <a:latin typeface="Calibir"/>
              </a:rPr>
              <a:t> allows multiple selections.</a:t>
            </a:r>
          </a:p>
        </p:txBody>
      </p:sp>
    </p:spTree>
    <p:extLst>
      <p:ext uri="{BB962C8B-B14F-4D97-AF65-F5344CB8AC3E}">
        <p14:creationId xmlns:p14="http://schemas.microsoft.com/office/powerpoint/2010/main" val="213659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1FEC-5B63-EF30-57F2-7A747416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B947-85AA-01D9-19CE-2D887478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C0B0A9-692A-D3C5-CD15-78697D101C39}"/>
              </a:ext>
            </a:extLst>
          </p:cNvPr>
          <p:cNvSpPr txBox="1"/>
          <p:nvPr/>
        </p:nvSpPr>
        <p:spPr>
          <a:xfrm>
            <a:off x="346587" y="1371966"/>
            <a:ext cx="1143737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Tkinter, which function is used to start the GUI event loop?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mainloop</a:t>
            </a:r>
            <a:r>
              <a:rPr lang="en-US" sz="2800" dirty="0">
                <a:latin typeface="Calibir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B) run()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C) exec()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D) loop()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A32E8-CFC1-5E96-97AE-8CEA0BAF5232}"/>
              </a:ext>
            </a:extLst>
          </p:cNvPr>
          <p:cNvSpPr txBox="1"/>
          <p:nvPr/>
        </p:nvSpPr>
        <p:spPr>
          <a:xfrm>
            <a:off x="213852" y="4893488"/>
            <a:ext cx="11304638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 A - 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root.mainloop</a:t>
            </a:r>
            <a:r>
              <a:rPr lang="en-US" sz="2800" dirty="0">
                <a:latin typeface="Calibir"/>
              </a:rPr>
              <a:t>() keeps the window responsive, processing user actions until closed.</a:t>
            </a:r>
          </a:p>
        </p:txBody>
      </p:sp>
    </p:spTree>
    <p:extLst>
      <p:ext uri="{BB962C8B-B14F-4D97-AF65-F5344CB8AC3E}">
        <p14:creationId xmlns:p14="http://schemas.microsoft.com/office/powerpoint/2010/main" val="427285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5A0CF-286C-F6A5-1E7C-E3CB7E8EB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D1A1-9959-FBB7-F02C-B458B5AE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075A3-5A7E-6339-DAAF-B6046119ABC7}"/>
              </a:ext>
            </a:extLst>
          </p:cNvPr>
          <p:cNvSpPr txBox="1"/>
          <p:nvPr/>
        </p:nvSpPr>
        <p:spPr>
          <a:xfrm>
            <a:off x="346587" y="1371966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Tkinter widget is used to accept multi-line text input?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Entry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Text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Label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Listbox</a:t>
            </a:r>
            <a:endParaRPr lang="en-US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6AA75-9809-75D5-5FBD-70B6F7C4D3FF}"/>
              </a:ext>
            </a:extLst>
          </p:cNvPr>
          <p:cNvSpPr txBox="1"/>
          <p:nvPr/>
        </p:nvSpPr>
        <p:spPr>
          <a:xfrm>
            <a:off x="213852" y="4893488"/>
            <a:ext cx="11304638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</a:t>
            </a:r>
            <a:r>
              <a:rPr lang="en-US" sz="2800" b="1" dirty="0">
                <a:latin typeface="Calibir"/>
              </a:rPr>
              <a:t>:</a:t>
            </a:r>
            <a:r>
              <a:rPr lang="en-US" sz="2800" dirty="0">
                <a:latin typeface="Calibir"/>
              </a:rPr>
              <a:t> Text supports multi-line input; Entry is for single-line text.</a:t>
            </a:r>
          </a:p>
        </p:txBody>
      </p:sp>
    </p:spTree>
    <p:extLst>
      <p:ext uri="{BB962C8B-B14F-4D97-AF65-F5344CB8AC3E}">
        <p14:creationId xmlns:p14="http://schemas.microsoft.com/office/powerpoint/2010/main" val="2190518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20AD-BA8A-B5C9-E649-5FF26C22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D1E6-D333-0834-0162-025E7C8E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9C751-5F8E-07EA-A94F-5F0CE98FEC67}"/>
              </a:ext>
            </a:extLst>
          </p:cNvPr>
          <p:cNvSpPr txBox="1"/>
          <p:nvPr/>
        </p:nvSpPr>
        <p:spPr>
          <a:xfrm>
            <a:off x="346587" y="1371966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the command parameter in a Button widget define?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The button’s label text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The variable name of the 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The function to be called when the button is clicked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The background color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6D0D0-C200-3EC6-8898-CF975330AD1F}"/>
              </a:ext>
            </a:extLst>
          </p:cNvPr>
          <p:cNvSpPr txBox="1"/>
          <p:nvPr/>
        </p:nvSpPr>
        <p:spPr>
          <a:xfrm>
            <a:off x="213852" y="4893488"/>
            <a:ext cx="1130463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 - Reason: command binds a callback function that executes when the user clicks the button.</a:t>
            </a:r>
          </a:p>
        </p:txBody>
      </p:sp>
    </p:spTree>
    <p:extLst>
      <p:ext uri="{BB962C8B-B14F-4D97-AF65-F5344CB8AC3E}">
        <p14:creationId xmlns:p14="http://schemas.microsoft.com/office/powerpoint/2010/main" val="295687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F580-782C-F0AF-62DB-BA662D67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F77B-43FC-BDFA-9F4B-CABC9DC5D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D44FF-FF6F-0C4F-0126-912454F27D8B}"/>
              </a:ext>
            </a:extLst>
          </p:cNvPr>
          <p:cNvSpPr txBox="1"/>
          <p:nvPr/>
        </p:nvSpPr>
        <p:spPr>
          <a:xfrm>
            <a:off x="377313" y="1150740"/>
            <a:ext cx="11437374" cy="3907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layout manager automatically places widgets side-by-side (left to right)?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grid()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pack() with side=LEFT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place()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align()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76881-8503-94DA-8D42-F82C4A36F13F}"/>
              </a:ext>
            </a:extLst>
          </p:cNvPr>
          <p:cNvSpPr txBox="1"/>
          <p:nvPr/>
        </p:nvSpPr>
        <p:spPr>
          <a:xfrm>
            <a:off x="228601" y="5057835"/>
            <a:ext cx="11304638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Reason: Using pack(side=LEFT) arranges widgets horizontally.</a:t>
            </a:r>
          </a:p>
        </p:txBody>
      </p:sp>
    </p:spTree>
    <p:extLst>
      <p:ext uri="{BB962C8B-B14F-4D97-AF65-F5344CB8AC3E}">
        <p14:creationId xmlns:p14="http://schemas.microsoft.com/office/powerpoint/2010/main" val="192714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72B18-9BA8-683F-B634-65552B08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9863-1689-FD0F-1317-9ED59AD3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(Python Tkinter)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FA5D2F-165F-F781-7B79-B578F56248FC}"/>
              </a:ext>
            </a:extLst>
          </p:cNvPr>
          <p:cNvSpPr txBox="1"/>
          <p:nvPr/>
        </p:nvSpPr>
        <p:spPr>
          <a:xfrm>
            <a:off x="377313" y="1150740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is the purpose of the </a:t>
            </a:r>
            <a:r>
              <a:rPr lang="en-US" sz="2800" dirty="0" err="1">
                <a:latin typeface="Calibir"/>
              </a:rPr>
              <a:t>Toplevel</a:t>
            </a:r>
            <a:r>
              <a:rPr lang="en-US" sz="2800" dirty="0">
                <a:latin typeface="Calibir"/>
              </a:rPr>
              <a:t>() widget?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To replace the root window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To create a secondary pop-up window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To terminate the </a:t>
            </a:r>
            <a:r>
              <a:rPr lang="en-US" sz="2800" dirty="0" err="1">
                <a:latin typeface="Calibir"/>
              </a:rPr>
              <a:t>mainloop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To display a text label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02D4C-AF36-814E-E99E-EA883FFE6511}"/>
              </a:ext>
            </a:extLst>
          </p:cNvPr>
          <p:cNvSpPr txBox="1"/>
          <p:nvPr/>
        </p:nvSpPr>
        <p:spPr>
          <a:xfrm>
            <a:off x="228601" y="5057835"/>
            <a:ext cx="1130463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Reason: </a:t>
            </a:r>
            <a:r>
              <a:rPr lang="en-US" sz="2800" dirty="0" err="1">
                <a:latin typeface="Calibir"/>
              </a:rPr>
              <a:t>Toplevel</a:t>
            </a:r>
            <a:r>
              <a:rPr lang="en-US" sz="2800" dirty="0">
                <a:latin typeface="Calibir"/>
              </a:rPr>
              <a:t> opens a separate independent window (e.g., report or help dialog).</a:t>
            </a:r>
          </a:p>
        </p:txBody>
      </p:sp>
    </p:spTree>
    <p:extLst>
      <p:ext uri="{BB962C8B-B14F-4D97-AF65-F5344CB8AC3E}">
        <p14:creationId xmlns:p14="http://schemas.microsoft.com/office/powerpoint/2010/main" val="119704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5BF4-6E03-FD5D-0E72-A2E280153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7A78-A3ED-D004-0864-A45E1974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8705DD-15F1-B315-9EAD-0BFE5065D054}"/>
              </a:ext>
            </a:extLst>
          </p:cNvPr>
          <p:cNvSpPr txBox="1"/>
          <p:nvPr/>
        </p:nvSpPr>
        <p:spPr>
          <a:xfrm>
            <a:off x="377313" y="1150740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JavaFX control is used for single-line text input?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Label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TextField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TextArea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PasswordField</a:t>
            </a:r>
            <a:endParaRPr lang="en-US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16FFC-B848-67C3-6C76-914C3D07150B}"/>
              </a:ext>
            </a:extLst>
          </p:cNvPr>
          <p:cNvSpPr txBox="1"/>
          <p:nvPr/>
        </p:nvSpPr>
        <p:spPr>
          <a:xfrm>
            <a:off x="228601" y="5057835"/>
            <a:ext cx="11304638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Reason: </a:t>
            </a:r>
            <a:r>
              <a:rPr lang="en-US" sz="2800" dirty="0" err="1">
                <a:latin typeface="Calibir"/>
              </a:rPr>
              <a:t>TextField</a:t>
            </a:r>
            <a:r>
              <a:rPr lang="en-US" sz="2800" dirty="0">
                <a:latin typeface="Calibir"/>
              </a:rPr>
              <a:t> accepts single-line input; </a:t>
            </a:r>
            <a:r>
              <a:rPr lang="en-US" sz="2800" dirty="0" err="1">
                <a:latin typeface="Calibir"/>
              </a:rPr>
              <a:t>TextArea</a:t>
            </a:r>
            <a:r>
              <a:rPr lang="en-US" sz="2800" dirty="0">
                <a:latin typeface="Calibir"/>
              </a:rPr>
              <a:t> allows multi-line.</a:t>
            </a:r>
          </a:p>
        </p:txBody>
      </p:sp>
    </p:spTree>
    <p:extLst>
      <p:ext uri="{BB962C8B-B14F-4D97-AF65-F5344CB8AC3E}">
        <p14:creationId xmlns:p14="http://schemas.microsoft.com/office/powerpoint/2010/main" val="4127373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E551-918E-AF7D-917A-CAE9551E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B192B-A263-28E2-3C0F-0AAF96943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5BE5B-4AC1-D82B-D6B1-22ECC21B7F8D}"/>
              </a:ext>
            </a:extLst>
          </p:cNvPr>
          <p:cNvSpPr txBox="1"/>
          <p:nvPr/>
        </p:nvSpPr>
        <p:spPr>
          <a:xfrm>
            <a:off x="377313" y="1150740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container arranges its child nodes vertically?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HBox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VBox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BorderPane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</a:t>
            </a:r>
            <a:r>
              <a:rPr lang="en-US" sz="2800" dirty="0" err="1">
                <a:latin typeface="Calibir"/>
              </a:rPr>
              <a:t>GridPane</a:t>
            </a:r>
            <a:endParaRPr lang="en-US" sz="2800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424909-D51F-92EB-8F40-9A36F43C8CA1}"/>
              </a:ext>
            </a:extLst>
          </p:cNvPr>
          <p:cNvSpPr txBox="1"/>
          <p:nvPr/>
        </p:nvSpPr>
        <p:spPr>
          <a:xfrm>
            <a:off x="228601" y="5057835"/>
            <a:ext cx="11304638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</a:t>
            </a:r>
            <a:r>
              <a:rPr lang="en-US" sz="2800" b="1" dirty="0">
                <a:latin typeface="Calibir"/>
              </a:rPr>
              <a:t>Reason:</a:t>
            </a:r>
            <a:r>
              <a:rPr lang="en-US" sz="2800" dirty="0">
                <a:latin typeface="Calibir"/>
              </a:rPr>
              <a:t> </a:t>
            </a:r>
            <a:r>
              <a:rPr lang="en-US" sz="2800" dirty="0" err="1">
                <a:latin typeface="Calibir"/>
              </a:rPr>
              <a:t>VBox</a:t>
            </a:r>
            <a:r>
              <a:rPr lang="en-US" sz="2800" dirty="0">
                <a:latin typeface="Calibir"/>
              </a:rPr>
              <a:t> stacks nodes one below another.</a:t>
            </a:r>
          </a:p>
        </p:txBody>
      </p:sp>
    </p:spTree>
    <p:extLst>
      <p:ext uri="{BB962C8B-B14F-4D97-AF65-F5344CB8AC3E}">
        <p14:creationId xmlns:p14="http://schemas.microsoft.com/office/powerpoint/2010/main" val="218106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F16A-EADF-A2C0-7FA7-4C6ED3E55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6FE6A-83AE-EB01-528D-98F8A122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BF0D3-44D1-D1D8-3E34-41EF29720187}"/>
              </a:ext>
            </a:extLst>
          </p:cNvPr>
          <p:cNvSpPr txBox="1"/>
          <p:nvPr/>
        </p:nvSpPr>
        <p:spPr>
          <a:xfrm>
            <a:off x="377313" y="1150740"/>
            <a:ext cx="11437374" cy="326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method launches a JavaFX application?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start()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init</a:t>
            </a:r>
            <a:r>
              <a:rPr lang="en-US" sz="2800" dirty="0">
                <a:latin typeface="Calibir"/>
              </a:rPr>
              <a:t>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launch()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run()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F935FE-80C7-0DFB-DFF7-9DA70F7B32CB}"/>
              </a:ext>
            </a:extLst>
          </p:cNvPr>
          <p:cNvSpPr txBox="1"/>
          <p:nvPr/>
        </p:nvSpPr>
        <p:spPr>
          <a:xfrm>
            <a:off x="228601" y="5057835"/>
            <a:ext cx="1130463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C - Reason: </a:t>
            </a:r>
            <a:r>
              <a:rPr lang="en-US" sz="2800" dirty="0" err="1">
                <a:latin typeface="Calibir"/>
              </a:rPr>
              <a:t>Application.launch</a:t>
            </a:r>
            <a:r>
              <a:rPr lang="en-US" sz="2800" dirty="0">
                <a:latin typeface="Calibir"/>
              </a:rPr>
              <a:t>(</a:t>
            </a:r>
            <a:r>
              <a:rPr lang="en-US" sz="2800" dirty="0" err="1">
                <a:latin typeface="Calibir"/>
              </a:rPr>
              <a:t>args</a:t>
            </a:r>
            <a:r>
              <a:rPr lang="en-US" sz="2800" dirty="0">
                <a:latin typeface="Calibir"/>
              </a:rPr>
              <a:t>) starts the JavaFX runtime and opens the first stage.</a:t>
            </a:r>
          </a:p>
        </p:txBody>
      </p:sp>
    </p:spTree>
    <p:extLst>
      <p:ext uri="{BB962C8B-B14F-4D97-AF65-F5344CB8AC3E}">
        <p14:creationId xmlns:p14="http://schemas.microsoft.com/office/powerpoint/2010/main" val="336708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6C411-400A-D27D-471F-ED1B4088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EB8E2-82BE-66DA-BEC8-20ED2F0C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7F9524-B6E0-FEBF-C33D-610DCDDD6D12}"/>
              </a:ext>
            </a:extLst>
          </p:cNvPr>
          <p:cNvSpPr txBox="1"/>
          <p:nvPr/>
        </p:nvSpPr>
        <p:spPr>
          <a:xfrm>
            <a:off x="377313" y="1150740"/>
            <a:ext cx="1143737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JavaFX control allows users to select one option from a list of choices?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</a:t>
            </a:r>
            <a:r>
              <a:rPr lang="en-US" sz="2800" dirty="0" err="1">
                <a:latin typeface="Calibir"/>
              </a:rPr>
              <a:t>RadioButton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</a:t>
            </a:r>
            <a:r>
              <a:rPr lang="en-US" sz="2800" dirty="0" err="1">
                <a:latin typeface="Calibir"/>
              </a:rPr>
              <a:t>CheckBox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</a:t>
            </a:r>
            <a:r>
              <a:rPr lang="en-US" sz="2800" dirty="0" err="1">
                <a:latin typeface="Calibir"/>
              </a:rPr>
              <a:t>ListView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Label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60708-2D7E-57AE-02C7-ED151473C1E2}"/>
              </a:ext>
            </a:extLst>
          </p:cNvPr>
          <p:cNvSpPr txBox="1"/>
          <p:nvPr/>
        </p:nvSpPr>
        <p:spPr>
          <a:xfrm>
            <a:off x="228601" y="5057835"/>
            <a:ext cx="1130463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 - Reason: </a:t>
            </a:r>
            <a:r>
              <a:rPr lang="en-US" sz="2800" dirty="0" err="1">
                <a:latin typeface="Calibir"/>
              </a:rPr>
              <a:t>RadioButton</a:t>
            </a:r>
            <a:r>
              <a:rPr lang="en-US" sz="2800" dirty="0">
                <a:latin typeface="Calibir"/>
              </a:rPr>
              <a:t> (often grouped in </a:t>
            </a:r>
            <a:r>
              <a:rPr lang="en-US" sz="2800" dirty="0" err="1">
                <a:latin typeface="Calibir"/>
              </a:rPr>
              <a:t>ToggleGroup</a:t>
            </a:r>
            <a:r>
              <a:rPr lang="en-US" sz="2800" dirty="0">
                <a:latin typeface="Calibir"/>
              </a:rPr>
              <a:t>) provides mutually exclusive selection.</a:t>
            </a:r>
          </a:p>
        </p:txBody>
      </p:sp>
    </p:spTree>
    <p:extLst>
      <p:ext uri="{BB962C8B-B14F-4D97-AF65-F5344CB8AC3E}">
        <p14:creationId xmlns:p14="http://schemas.microsoft.com/office/powerpoint/2010/main" val="196582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CDE44-3325-121D-DB81-5C2C6D1A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69D8-6D93-53CB-F369-7D5AA1EF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B8FF1-73CE-DBB0-46CB-B998190E8011}"/>
              </a:ext>
            </a:extLst>
          </p:cNvPr>
          <p:cNvSpPr txBox="1"/>
          <p:nvPr/>
        </p:nvSpPr>
        <p:spPr>
          <a:xfrm>
            <a:off x="377313" y="1150740"/>
            <a:ext cx="11437374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an MVC JavaFX app, which component handles </a:t>
            </a:r>
            <a:r>
              <a:rPr lang="en-US" sz="2800" dirty="0" err="1">
                <a:latin typeface="Calibir"/>
              </a:rPr>
              <a:t>ActionEvent</a:t>
            </a:r>
            <a:r>
              <a:rPr lang="en-US" sz="2800" dirty="0">
                <a:latin typeface="Calibir"/>
              </a:rPr>
              <a:t> from a button?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FXML file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Controller class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Stage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Scene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B2C3AE-C590-F22D-4814-8E2CC1F850D1}"/>
              </a:ext>
            </a:extLst>
          </p:cNvPr>
          <p:cNvSpPr txBox="1"/>
          <p:nvPr/>
        </p:nvSpPr>
        <p:spPr>
          <a:xfrm>
            <a:off x="228601" y="5057835"/>
            <a:ext cx="11304638" cy="132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B - Reason: The controller defines event-handling methods linked via </a:t>
            </a:r>
            <a:r>
              <a:rPr lang="en-US" sz="2800" dirty="0" err="1">
                <a:latin typeface="Calibir"/>
              </a:rPr>
              <a:t>onAction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954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7D24B-C695-8F7C-4755-6BA0C1BC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6DBB-C5E6-5367-A18C-C95D27C7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MQs designed in Week 10 (JavaFX GUI)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0E3A4-F03E-7F4F-BC5E-7CF9CF1970E0}"/>
              </a:ext>
            </a:extLst>
          </p:cNvPr>
          <p:cNvSpPr txBox="1"/>
          <p:nvPr/>
        </p:nvSpPr>
        <p:spPr>
          <a:xfrm>
            <a:off x="377313" y="1150740"/>
            <a:ext cx="11437374" cy="3261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FXML tag correctly defines a button label in the UI XML?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A) &lt;Button </a:t>
            </a:r>
            <a:r>
              <a:rPr lang="en-US" sz="2800" dirty="0" err="1">
                <a:latin typeface="Calibir"/>
              </a:rPr>
              <a:t>fx:id</a:t>
            </a:r>
            <a:r>
              <a:rPr lang="en-US" sz="2800" dirty="0">
                <a:latin typeface="Calibir"/>
              </a:rPr>
              <a:t>="btn" text="Login"/&gt;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B) &lt;Button id="btn" name="Login"/&gt;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C) &lt;Button </a:t>
            </a:r>
            <a:r>
              <a:rPr lang="en-US" sz="2800" dirty="0" err="1">
                <a:latin typeface="Calibir"/>
              </a:rPr>
              <a:t>fx:id</a:t>
            </a:r>
            <a:r>
              <a:rPr lang="en-US" sz="2800" dirty="0">
                <a:latin typeface="Calibir"/>
              </a:rPr>
              <a:t>="btn"&gt;Login&lt;/Button&gt;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D) &lt;Button label="Login"/&gt;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C961F-D9AC-BD16-30D5-3677B2BFDA63}"/>
              </a:ext>
            </a:extLst>
          </p:cNvPr>
          <p:cNvSpPr txBox="1"/>
          <p:nvPr/>
        </p:nvSpPr>
        <p:spPr>
          <a:xfrm>
            <a:off x="228601" y="5057835"/>
            <a:ext cx="11304638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r>
              <a:rPr lang="en-US" sz="2800" dirty="0">
                <a:latin typeface="Calibir"/>
              </a:rPr>
              <a:t> A - Reason: </a:t>
            </a:r>
            <a:r>
              <a:rPr lang="en-US" sz="2800" dirty="0" err="1">
                <a:latin typeface="Calibir"/>
              </a:rPr>
              <a:t>fx:id</a:t>
            </a:r>
            <a:r>
              <a:rPr lang="en-US" sz="2800" dirty="0">
                <a:latin typeface="Calibir"/>
              </a:rPr>
              <a:t> links the button to the controller variable, and text defines the label text.</a:t>
            </a:r>
          </a:p>
        </p:txBody>
      </p:sp>
    </p:spTree>
    <p:extLst>
      <p:ext uri="{BB962C8B-B14F-4D97-AF65-F5344CB8AC3E}">
        <p14:creationId xmlns:p14="http://schemas.microsoft.com/office/powerpoint/2010/main" val="299367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3798</TotalTime>
  <Words>8722</Words>
  <Application>Microsoft Office PowerPoint</Application>
  <PresentationFormat>Widescreen</PresentationFormat>
  <Paragraphs>876</Paragraphs>
  <Slides>114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114</vt:i4>
      </vt:variant>
    </vt:vector>
  </HeadingPairs>
  <TitlesOfParts>
    <vt:vector size="124" baseType="lpstr">
      <vt:lpstr>Aptos</vt:lpstr>
      <vt:lpstr>Aptos Display</vt:lpstr>
      <vt:lpstr>Arial</vt:lpstr>
      <vt:lpstr>Calibir</vt:lpstr>
      <vt:lpstr>Calibri</vt:lpstr>
      <vt:lpstr>Calibri Light</vt:lpstr>
      <vt:lpstr>Consolas</vt:lpstr>
      <vt:lpstr>Wingdings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Week 10 Outline</vt:lpstr>
      <vt:lpstr>Week 10 Outline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PowerPoint Presentation</vt:lpstr>
      <vt:lpstr>PowerPoint Presentation</vt:lpstr>
      <vt:lpstr>PowerPoint Presentation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Preparation and Guideline for Assessment 1 – Part 2 and 3</vt:lpstr>
      <vt:lpstr>Introduction to GUI Programming</vt:lpstr>
      <vt:lpstr>PowerPoint Presentation</vt:lpstr>
      <vt:lpstr>Hands-On Activity 1 – Your First App Window</vt:lpstr>
      <vt:lpstr>Hands-On Activity 1 – Your First App Window</vt:lpstr>
      <vt:lpstr>Hands-On Activity 1 – Your First App Window</vt:lpstr>
      <vt:lpstr>Hands-On Activity 2 – Experiment with Window Behavior</vt:lpstr>
      <vt:lpstr>Hands-On Activity 2 – Experiment with Window Behavior</vt:lpstr>
      <vt:lpstr>Widgets: The Building Blocks of GUI Apps</vt:lpstr>
      <vt:lpstr>Widgets: The Building Blocks of GUI Apps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Example 2: Widgets in Action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Hands-On Activity 3: Add More Widgets</vt:lpstr>
      <vt:lpstr>Geometry Managers (How Widgets Are Placed)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Event Handling</vt:lpstr>
      <vt:lpstr>Login Window Case Study</vt:lpstr>
      <vt:lpstr>Popup Windows &amp; Messages</vt:lpstr>
      <vt:lpstr>Connecting GUI with Backend</vt:lpstr>
      <vt:lpstr>Error Handling in GUI</vt:lpstr>
      <vt:lpstr>Error Handling in GUI</vt:lpstr>
      <vt:lpstr>Error Handling in GUI</vt:lpstr>
      <vt:lpstr>Error Handling in GUI</vt:lpstr>
      <vt:lpstr>Logging User Actions</vt:lpstr>
      <vt:lpstr>Sample Java GUI Comparison</vt:lpstr>
      <vt:lpstr>Testing Your GUI</vt:lpstr>
      <vt:lpstr>Research &amp; Discussion Questions</vt:lpstr>
      <vt:lpstr>Problem-Solving with GUI (Python Version)</vt:lpstr>
      <vt:lpstr>Problem-Solving with GUI (Python Version)</vt:lpstr>
      <vt:lpstr>Problem-Solving with GUI (Python Version)</vt:lpstr>
      <vt:lpstr>Problem-Solving with GUI (Java Version)</vt:lpstr>
      <vt:lpstr>PowerPoint Presentation</vt:lpstr>
      <vt:lpstr>MQs designed in Week 10 (Python Tkinter)</vt:lpstr>
      <vt:lpstr>MQs designed in Week 10 (Python Tkinter)</vt:lpstr>
      <vt:lpstr>MQs designed in Week 10 (Python Tkinter)</vt:lpstr>
      <vt:lpstr>MQs designed in Week 10 (Python Tkinter)</vt:lpstr>
      <vt:lpstr>MQs designed in Week 10 (Python Tkinter)</vt:lpstr>
      <vt:lpstr>MQs designed in Week 10 (Python Tkinter)</vt:lpstr>
      <vt:lpstr>MQs designed in Week 10 (JavaFX GUI)</vt:lpstr>
      <vt:lpstr>MQs designed in Week 10 (JavaFX GUI)</vt:lpstr>
      <vt:lpstr>MQs designed in Week 10 (JavaFX GUI)</vt:lpstr>
      <vt:lpstr>MQs designed in Week 10 (JavaFX GUI)</vt:lpstr>
      <vt:lpstr>MQs designed in Week 10 (JavaFX GUI)</vt:lpstr>
      <vt:lpstr>MQs designed in Week 10 (JavaFX GUI)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1192</cp:revision>
  <dcterms:created xsi:type="dcterms:W3CDTF">2025-07-28T16:39:25Z</dcterms:created>
  <dcterms:modified xsi:type="dcterms:W3CDTF">2026-10-06T21:57:02Z</dcterms:modified>
</cp:coreProperties>
</file>