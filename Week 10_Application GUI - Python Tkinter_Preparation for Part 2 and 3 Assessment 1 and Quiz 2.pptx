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6"/>
  </p:notesMasterIdLst>
  <p:sldIdLst>
    <p:sldId id="256" r:id="rId3"/>
    <p:sldId id="2467" r:id="rId4"/>
    <p:sldId id="2634" r:id="rId5"/>
    <p:sldId id="3130" r:id="rId6"/>
    <p:sldId id="3131" r:id="rId7"/>
    <p:sldId id="3132" r:id="rId8"/>
    <p:sldId id="3133" r:id="rId9"/>
    <p:sldId id="3134" r:id="rId10"/>
    <p:sldId id="3135" r:id="rId11"/>
    <p:sldId id="3136" r:id="rId12"/>
    <p:sldId id="3137" r:id="rId13"/>
    <p:sldId id="3138" r:id="rId14"/>
    <p:sldId id="3129" r:id="rId15"/>
    <p:sldId id="3139" r:id="rId16"/>
    <p:sldId id="3140" r:id="rId17"/>
    <p:sldId id="3141" r:id="rId18"/>
    <p:sldId id="3142" r:id="rId19"/>
    <p:sldId id="3143" r:id="rId20"/>
    <p:sldId id="3144" r:id="rId21"/>
    <p:sldId id="3145" r:id="rId22"/>
    <p:sldId id="3146" r:id="rId23"/>
    <p:sldId id="3147" r:id="rId24"/>
    <p:sldId id="3148" r:id="rId25"/>
    <p:sldId id="3149" r:id="rId26"/>
    <p:sldId id="3150" r:id="rId27"/>
    <p:sldId id="3151" r:id="rId28"/>
    <p:sldId id="3152" r:id="rId29"/>
    <p:sldId id="3153" r:id="rId30"/>
    <p:sldId id="3154" r:id="rId31"/>
    <p:sldId id="3155" r:id="rId32"/>
    <p:sldId id="3156" r:id="rId33"/>
    <p:sldId id="3157" r:id="rId34"/>
    <p:sldId id="3158" r:id="rId35"/>
    <p:sldId id="3159" r:id="rId36"/>
    <p:sldId id="3160" r:id="rId37"/>
    <p:sldId id="3161" r:id="rId38"/>
    <p:sldId id="3162" r:id="rId39"/>
    <p:sldId id="3163" r:id="rId40"/>
    <p:sldId id="3164" r:id="rId41"/>
    <p:sldId id="3165" r:id="rId42"/>
    <p:sldId id="3047" r:id="rId43"/>
    <p:sldId id="3166" r:id="rId44"/>
    <p:sldId id="3167" r:id="rId45"/>
    <p:sldId id="3168" r:id="rId46"/>
    <p:sldId id="3169" r:id="rId47"/>
    <p:sldId id="3170" r:id="rId48"/>
    <p:sldId id="3171" r:id="rId49"/>
    <p:sldId id="3172" r:id="rId50"/>
    <p:sldId id="3173" r:id="rId51"/>
    <p:sldId id="3174" r:id="rId52"/>
    <p:sldId id="3175" r:id="rId53"/>
    <p:sldId id="3176" r:id="rId54"/>
    <p:sldId id="749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023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presProps" Target="pres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6/10/2025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10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10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128F9-B18A-0AC2-A696-92165ABAB1BE}"/>
              </a:ext>
            </a:extLst>
          </p:cNvPr>
          <p:cNvSpPr txBox="1"/>
          <p:nvPr/>
        </p:nvSpPr>
        <p:spPr>
          <a:xfrm>
            <a:off x="0" y="856356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Preparation and Guideline for Assessment 1 – Part 2 and 3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MQs designed in Week 10 (Python </a:t>
            </a: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>
                <a:latin typeface="Calibir"/>
              </a:rPr>
              <a:t>MQs designed in Week 10 (JavaFX GUI)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A47C-18A7-9AFC-9593-71D435A2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482E7-E32D-573D-8C2B-4E48BC067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9A395-3E0E-FE9C-949A-E4964EFA0B3B}"/>
              </a:ext>
            </a:extLst>
          </p:cNvPr>
          <p:cNvSpPr txBox="1"/>
          <p:nvPr/>
        </p:nvSpPr>
        <p:spPr>
          <a:xfrm>
            <a:off x="0" y="1072057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2: SOFTWARE DEVELOPMENT (CLI + GUI)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Build your working University Application system —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 Command-Line App (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) and, if possible, a Graphical App (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) — based on your group’s design and analysis from Part 1.</a:t>
            </a:r>
          </a:p>
        </p:txBody>
      </p:sp>
    </p:spTree>
    <p:extLst>
      <p:ext uri="{BB962C8B-B14F-4D97-AF65-F5344CB8AC3E}">
        <p14:creationId xmlns:p14="http://schemas.microsoft.com/office/powerpoint/2010/main" val="2746331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0FB2-29DA-F88A-E84E-56CFB4295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B2351-19F3-13F4-7BB8-7A00EB470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32FF2-5DB6-C476-11BE-E9CE00C226D4}"/>
              </a:ext>
            </a:extLst>
          </p:cNvPr>
          <p:cNvSpPr txBox="1"/>
          <p:nvPr/>
        </p:nvSpPr>
        <p:spPr>
          <a:xfrm>
            <a:off x="0" y="1072057"/>
            <a:ext cx="11971282" cy="519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Do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Plan Early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Revisit your Part 1 diagrams, use-cases, and class design.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your code matches your UML and requirements.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one programming language – either Java or Python.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Divide the work among group members (e.g. Model / Controller / View or Sections A–E).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Create a simple to-do list for each member before you start coding.</a:t>
            </a:r>
          </a:p>
        </p:txBody>
      </p:sp>
    </p:spTree>
    <p:extLst>
      <p:ext uri="{BB962C8B-B14F-4D97-AF65-F5344CB8AC3E}">
        <p14:creationId xmlns:p14="http://schemas.microsoft.com/office/powerpoint/2010/main" val="3351490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ACF47-44FF-4C83-C3FB-B037A1D5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A2475-EE1B-9967-2D44-059C62B0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286A70-26F3-9BA4-32B3-AF291ECA9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926"/>
              </p:ext>
            </p:extLst>
          </p:nvPr>
        </p:nvGraphicFramePr>
        <p:xfrm>
          <a:off x="78059" y="2401094"/>
          <a:ext cx="11976409" cy="422084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802591054"/>
                    </a:ext>
                  </a:extLst>
                </a:gridCol>
                <a:gridCol w="6534614">
                  <a:extLst>
                    <a:ext uri="{9D8B030D-6E8A-4147-A177-3AD203B41FA5}">
                      <a16:colId xmlns:a16="http://schemas.microsoft.com/office/drawing/2014/main" val="3728693907"/>
                    </a:ext>
                  </a:extLst>
                </a:gridCol>
                <a:gridCol w="2241395">
                  <a:extLst>
                    <a:ext uri="{9D8B030D-6E8A-4147-A177-3AD203B41FA5}">
                      <a16:colId xmlns:a16="http://schemas.microsoft.com/office/drawing/2014/main" val="11022409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Menu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What it Does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Who Uses It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8593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 dirty="0">
                          <a:latin typeface="Calibir"/>
                        </a:rPr>
                        <a:t>University System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Lets users switch between </a:t>
                      </a:r>
                      <a:r>
                        <a:rPr lang="en-US" sz="2200" b="0" dirty="0">
                          <a:latin typeface="Calibir"/>
                        </a:rPr>
                        <a:t>Student</a:t>
                      </a:r>
                      <a:r>
                        <a:rPr lang="en-US" sz="2200" dirty="0">
                          <a:latin typeface="Calibir"/>
                        </a:rPr>
                        <a:t> and </a:t>
                      </a:r>
                      <a:r>
                        <a:rPr lang="en-US" sz="2200" b="0" dirty="0">
                          <a:latin typeface="Calibir"/>
                        </a:rPr>
                        <a:t>Admin</a:t>
                      </a:r>
                      <a:r>
                        <a:rPr lang="en-US" sz="2200" dirty="0">
                          <a:latin typeface="Calibir"/>
                        </a:rPr>
                        <a:t> systems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Everyone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0138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Student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Register / Login (with Regex validation for email and password)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Students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219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Subject Enrolment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Enrol, Remove, View Subjects, Change Password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Logged-in Students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0238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Admin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Show all students, Group or Sort them, Remove or Clear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Admin Only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4727505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5214E405-878E-1313-BC63-57FEE40B9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19829"/>
            <a:ext cx="6460808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2. Follow the Functional Requirements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program must have four main menus:</a:t>
            </a:r>
          </a:p>
        </p:txBody>
      </p:sp>
    </p:spTree>
    <p:extLst>
      <p:ext uri="{BB962C8B-B14F-4D97-AF65-F5344CB8AC3E}">
        <p14:creationId xmlns:p14="http://schemas.microsoft.com/office/powerpoint/2010/main" val="3002023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389DF-A3F8-8054-E329-AEB5A4CC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1BD69-E9DF-D75C-654B-5F4F8D52D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3464DE-96C4-CB9D-B9DD-48721AEF7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210" y="998768"/>
            <a:ext cx="10423816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Extra Tips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Always test each menu before moving to the next one.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Include a short README file explaining how to run the program.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your CLI and GUI versions work consistently.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your code clean and commented.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Submit one .zip file per group (CLI + GUI + README).</a:t>
            </a:r>
          </a:p>
        </p:txBody>
      </p:sp>
    </p:spTree>
    <p:extLst>
      <p:ext uri="{BB962C8B-B14F-4D97-AF65-F5344CB8AC3E}">
        <p14:creationId xmlns:p14="http://schemas.microsoft.com/office/powerpoint/2010/main" val="2743955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63495-2F77-9C45-5927-EAFAE8E1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747BF1-79E5-1F00-FD39-5632FD1264A6}"/>
              </a:ext>
            </a:extLst>
          </p:cNvPr>
          <p:cNvSpPr txBox="1"/>
          <p:nvPr/>
        </p:nvSpPr>
        <p:spPr>
          <a:xfrm>
            <a:off x="0" y="-138579"/>
            <a:ext cx="12192000" cy="7135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3. Handle File Operations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Your program must save and load data from a file called 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All CRUD operations (Create, Read, Update, Delete) must connect to this file.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can store data using object serialization, or in JSON or CSV format — follow your design from Part 1.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these actions work correctly: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Read → Load existing students from the file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 → Save new or updated student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Clear → Remove all records safely</a:t>
            </a:r>
          </a:p>
          <a:p>
            <a:pPr>
              <a:lnSpc>
                <a:spcPct val="150000"/>
              </a:lnSpc>
              <a:buNone/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Always test reading and writing multiple times to ensure your file updates correctly.</a:t>
            </a:r>
          </a:p>
        </p:txBody>
      </p:sp>
    </p:spTree>
    <p:extLst>
      <p:ext uri="{BB962C8B-B14F-4D97-AF65-F5344CB8AC3E}">
        <p14:creationId xmlns:p14="http://schemas.microsoft.com/office/powerpoint/2010/main" val="3285372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8ED88-279C-7AC4-63C4-77E970B26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89FC24-2B33-4EBC-5C71-72FE68C50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408816"/>
              </p:ext>
            </p:extLst>
          </p:nvPr>
        </p:nvGraphicFramePr>
        <p:xfrm>
          <a:off x="74342" y="794074"/>
          <a:ext cx="12043317" cy="4556379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620644">
                  <a:extLst>
                    <a:ext uri="{9D8B030D-6E8A-4147-A177-3AD203B41FA5}">
                      <a16:colId xmlns:a16="http://schemas.microsoft.com/office/drawing/2014/main" val="2612256855"/>
                    </a:ext>
                  </a:extLst>
                </a:gridCol>
                <a:gridCol w="5843239">
                  <a:extLst>
                    <a:ext uri="{9D8B030D-6E8A-4147-A177-3AD203B41FA5}">
                      <a16:colId xmlns:a16="http://schemas.microsoft.com/office/drawing/2014/main" val="3756177906"/>
                    </a:ext>
                  </a:extLst>
                </a:gridCol>
                <a:gridCol w="4579434">
                  <a:extLst>
                    <a:ext uri="{9D8B030D-6E8A-4147-A177-3AD203B41FA5}">
                      <a16:colId xmlns:a16="http://schemas.microsoft.com/office/drawing/2014/main" val="38768483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Field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Validation Rule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Example❌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902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Email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follow this pattern:</a:t>
                      </a:r>
                      <a:br>
                        <a:rPr lang="en-US" sz="2800" dirty="0">
                          <a:latin typeface="Calibir"/>
                        </a:rPr>
                      </a:br>
                      <a:r>
                        <a:rPr lang="en-US" sz="2800" dirty="0">
                          <a:latin typeface="Calibir"/>
                        </a:rPr>
                        <a:t>firstname.lastname@university.com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john.smith@university.com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 </a:t>
                      </a:r>
                      <a:r>
                        <a:rPr lang="en-US" sz="2800" dirty="0">
                          <a:latin typeface="Calibir"/>
                        </a:rPr>
                        <a:t>  john123@gmail.com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311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Password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start with an </a:t>
                      </a:r>
                      <a:r>
                        <a:rPr lang="en-US" sz="2800" b="0" dirty="0">
                          <a:latin typeface="Calibir"/>
                        </a:rPr>
                        <a:t>uppercase letter, include at least 5 letters, and at least 3 digits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Helloworld123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 </a:t>
                      </a:r>
                      <a:r>
                        <a:rPr lang="en-US" sz="2800" dirty="0">
                          <a:latin typeface="Calibir"/>
                        </a:rPr>
                        <a:t> helloworld123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174323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9160A33C-8B83-1A43-71A7-6C9F52A478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427937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4. Follow the Regex Rules: Use Regular Expressions (Regex) to validate inputs.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0D268-9A88-070D-88BF-42C83E2595AB}"/>
              </a:ext>
            </a:extLst>
          </p:cNvPr>
          <p:cNvSpPr txBox="1"/>
          <p:nvPr/>
        </p:nvSpPr>
        <p:spPr>
          <a:xfrm>
            <a:off x="74342" y="5472676"/>
            <a:ext cx="1211765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Regex helps prevent invalid registrations (e.g., wrong email or weak password).</a:t>
            </a:r>
          </a:p>
        </p:txBody>
      </p:sp>
    </p:spTree>
    <p:extLst>
      <p:ext uri="{BB962C8B-B14F-4D97-AF65-F5344CB8AC3E}">
        <p14:creationId xmlns:p14="http://schemas.microsoft.com/office/powerpoint/2010/main" val="743343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373E6-2722-2197-B42D-D64AA17CB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53A2E3-656D-A5D0-B6BD-E0136585B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079461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5. Generate Random Values: Automatically generate IDs and marks when needed.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12895A-2C3E-C55B-7F03-E3F33EBB41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242162"/>
              </p:ext>
            </p:extLst>
          </p:nvPr>
        </p:nvGraphicFramePr>
        <p:xfrm>
          <a:off x="268974" y="876865"/>
          <a:ext cx="11541512" cy="396684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962614">
                  <a:extLst>
                    <a:ext uri="{9D8B030D-6E8A-4147-A177-3AD203B41FA5}">
                      <a16:colId xmlns:a16="http://schemas.microsoft.com/office/drawing/2014/main" val="811769440"/>
                    </a:ext>
                  </a:extLst>
                </a:gridCol>
                <a:gridCol w="6556917">
                  <a:extLst>
                    <a:ext uri="{9D8B030D-6E8A-4147-A177-3AD203B41FA5}">
                      <a16:colId xmlns:a16="http://schemas.microsoft.com/office/drawing/2014/main" val="377336889"/>
                    </a:ext>
                  </a:extLst>
                </a:gridCol>
                <a:gridCol w="3021981">
                  <a:extLst>
                    <a:ext uri="{9D8B030D-6E8A-4147-A177-3AD203B41FA5}">
                      <a16:colId xmlns:a16="http://schemas.microsoft.com/office/drawing/2014/main" val="2221315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Item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Rule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Example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8999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Student 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6-digit random number (000001 – 999999)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003215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2351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Subject ID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3-digit random number (001 – 999)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084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356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Marks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Random value between 25 and 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5659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Grade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Based on mark range → HD, D, C, P, 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e.g., HD for 85, P for 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791755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543AD7F-37C4-4227-29F4-6B751542A51C}"/>
              </a:ext>
            </a:extLst>
          </p:cNvPr>
          <p:cNvSpPr txBox="1"/>
          <p:nvPr/>
        </p:nvSpPr>
        <p:spPr>
          <a:xfrm>
            <a:off x="268974" y="5288637"/>
            <a:ext cx="115415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Use Python’s random or Java’s Random/</a:t>
            </a:r>
            <a:r>
              <a:rPr lang="en-US" sz="2800" dirty="0" err="1">
                <a:latin typeface="Calibir"/>
              </a:rPr>
              <a:t>Math.random</a:t>
            </a:r>
            <a:r>
              <a:rPr lang="en-US" sz="2800" dirty="0">
                <a:latin typeface="Calibir"/>
              </a:rPr>
              <a:t>() to generate these values.</a:t>
            </a:r>
          </a:p>
        </p:txBody>
      </p:sp>
    </p:spTree>
    <p:extLst>
      <p:ext uri="{BB962C8B-B14F-4D97-AF65-F5344CB8AC3E}">
        <p14:creationId xmlns:p14="http://schemas.microsoft.com/office/powerpoint/2010/main" val="1387326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A1A50-010F-24ED-591A-E993CC6FF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D537BF0-B1F5-69FA-ADC8-B68E812DC8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11292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6. Error &amp; Exception Handling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app must handle errors smoothly — never crash!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86B5FE4-39A2-A49F-5636-1148882CD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12640"/>
              </p:ext>
            </p:extLst>
          </p:nvPr>
        </p:nvGraphicFramePr>
        <p:xfrm>
          <a:off x="838200" y="1206889"/>
          <a:ext cx="10515600" cy="458165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785946">
                  <a:extLst>
                    <a:ext uri="{9D8B030D-6E8A-4147-A177-3AD203B41FA5}">
                      <a16:colId xmlns:a16="http://schemas.microsoft.com/office/drawing/2014/main" val="3529231877"/>
                    </a:ext>
                  </a:extLst>
                </a:gridCol>
                <a:gridCol w="7729654">
                  <a:extLst>
                    <a:ext uri="{9D8B030D-6E8A-4147-A177-3AD203B41FA5}">
                      <a16:colId xmlns:a16="http://schemas.microsoft.com/office/drawing/2014/main" val="31788080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to Check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to Handle It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908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Invalid input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Show a clear message instead of crashing (e.g., “Please enter a number between 1–4.”)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3121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Too many subjects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Stop enrolment when a student reaches </a:t>
                      </a:r>
                      <a:r>
                        <a:rPr lang="en-US" sz="2800" b="0" dirty="0">
                          <a:latin typeface="Calibir"/>
                        </a:rPr>
                        <a:t>4 subjects.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2775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Duplicate registration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Check the file before adding a new student to prevent duplicates.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30963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3253A52-A535-4A28-6E23-3B0C2670C47C}"/>
              </a:ext>
            </a:extLst>
          </p:cNvPr>
          <p:cNvSpPr txBox="1"/>
          <p:nvPr/>
        </p:nvSpPr>
        <p:spPr>
          <a:xfrm>
            <a:off x="63190" y="5788541"/>
            <a:ext cx="1206562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Use try-except in Python or try-catch in Java to manage user input safely.</a:t>
            </a:r>
          </a:p>
        </p:txBody>
      </p:sp>
    </p:spTree>
    <p:extLst>
      <p:ext uri="{BB962C8B-B14F-4D97-AF65-F5344CB8AC3E}">
        <p14:creationId xmlns:p14="http://schemas.microsoft.com/office/powerpoint/2010/main" val="406093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88CFC-F7EE-C1C5-96A4-6702B1A2B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3E71F2E-1D55-AA0A-4368-C0AFAE964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33374"/>
            <a:ext cx="12192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7.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(Optional but Rewarding)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your group completes the Graphical User Interface (GUI) version, you can earn the full 7 marks.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4FD779-8FF8-81E5-4AE2-B2B71BFDC5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547508"/>
              </p:ext>
            </p:extLst>
          </p:nvPr>
        </p:nvGraphicFramePr>
        <p:xfrm>
          <a:off x="68766" y="1971133"/>
          <a:ext cx="12054468" cy="460692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323064">
                  <a:extLst>
                    <a:ext uri="{9D8B030D-6E8A-4147-A177-3AD203B41FA5}">
                      <a16:colId xmlns:a16="http://schemas.microsoft.com/office/drawing/2014/main" val="2857603796"/>
                    </a:ext>
                  </a:extLst>
                </a:gridCol>
                <a:gridCol w="8731404">
                  <a:extLst>
                    <a:ext uri="{9D8B030D-6E8A-4147-A177-3AD203B41FA5}">
                      <a16:colId xmlns:a16="http://schemas.microsoft.com/office/drawing/2014/main" val="8492364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GUI Window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It Should Do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7922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Login Window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Allow only registered students to log in. Show an error message for invalid users.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4848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Enrolment Window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Let logged-in students add up to 4 subjects.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5980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Subject Window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Display subjects, marks, and grades clearly.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97509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Error/Alert Windows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Pop-up windows to handle login or enrolment errors gracefully.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1170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4989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18592-9BBE-611C-C36B-E2024E7FF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DC8E9C2-9E47-EF4F-1D0A-7F8C147F1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7.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(Optional but Rewarding)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76740-7E0B-05D9-4F0E-C38FD7055DDF}"/>
              </a:ext>
            </a:extLst>
          </p:cNvPr>
          <p:cNvSpPr txBox="1"/>
          <p:nvPr/>
        </p:nvSpPr>
        <p:spPr>
          <a:xfrm>
            <a:off x="0" y="1795346"/>
            <a:ext cx="1206562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i="1" dirty="0">
                <a:latin typeface="Calibir"/>
              </a:rPr>
              <a:t>Hint: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Python, use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or </a:t>
            </a:r>
            <a:r>
              <a:rPr lang="en-US" sz="2800" dirty="0" err="1">
                <a:latin typeface="Calibir"/>
              </a:rPr>
              <a:t>PyQt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Java, use JavaFX or Swing.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GUI simple but functional — matching your CLI features.</a:t>
            </a:r>
          </a:p>
        </p:txBody>
      </p:sp>
    </p:spTree>
    <p:extLst>
      <p:ext uri="{BB962C8B-B14F-4D97-AF65-F5344CB8AC3E}">
        <p14:creationId xmlns:p14="http://schemas.microsoft.com/office/powerpoint/2010/main" val="1940956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179CE1-B403-E630-7CD1-18A3D7B42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6FC58-23F3-D08E-4B94-F03EE7C5B4F3}"/>
              </a:ext>
            </a:extLst>
          </p:cNvPr>
          <p:cNvSpPr txBox="1"/>
          <p:nvPr/>
        </p:nvSpPr>
        <p:spPr>
          <a:xfrm>
            <a:off x="0" y="1215483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WHAT TO SUBMIT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File Name Format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Name your submission like this: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group&lt;group-number&gt;-Cmp1&lt;lab-number&gt;.zip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Example:</a:t>
            </a:r>
            <a:r>
              <a:rPr lang="en-US" sz="2800" dirty="0">
                <a:latin typeface="Calibir"/>
              </a:rPr>
              <a:t> group3-Cmp1L05.zip</a:t>
            </a:r>
          </a:p>
        </p:txBody>
      </p:sp>
    </p:spTree>
    <p:extLst>
      <p:ext uri="{BB962C8B-B14F-4D97-AF65-F5344CB8AC3E}">
        <p14:creationId xmlns:p14="http://schemas.microsoft.com/office/powerpoint/2010/main" val="2671067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52EF0-3210-E300-FB26-67DC6162B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FF59E5-5C1D-DA4C-00B2-7728E0E8C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21ADA-C333-19AE-A099-36595765B287}"/>
              </a:ext>
            </a:extLst>
          </p:cNvPr>
          <p:cNvSpPr txBox="1"/>
          <p:nvPr/>
        </p:nvSpPr>
        <p:spPr>
          <a:xfrm>
            <a:off x="0" y="992458"/>
            <a:ext cx="12192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Your .zip file must include: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42360-F58F-7885-6935-F6F235F92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2" y="1749227"/>
            <a:ext cx="8798312" cy="4965661"/>
          </a:xfrm>
          <a:prstGeom prst="rect">
            <a:avLst/>
          </a:prstGeom>
          <a:ln w="190500" cap="sq">
            <a:solidFill>
              <a:srgbClr val="FF0000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  <p:extLst>
      <p:ext uri="{BB962C8B-B14F-4D97-AF65-F5344CB8AC3E}">
        <p14:creationId xmlns:p14="http://schemas.microsoft.com/office/powerpoint/2010/main" val="1124518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42168-157C-F2C7-2B6A-7969E958E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236A91-808D-9EED-A9D9-6EEA4D69B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2791FE-40D8-6E45-BF26-C8A50B6B0D87}"/>
              </a:ext>
            </a:extLst>
          </p:cNvPr>
          <p:cNvSpPr txBox="1"/>
          <p:nvPr/>
        </p:nvSpPr>
        <p:spPr>
          <a:xfrm>
            <a:off x="0" y="992458"/>
            <a:ext cx="12192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Include a README file that briefly explains: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Programming language and version used (e.g., </a:t>
            </a:r>
            <a:r>
              <a:rPr lang="en-US" sz="2800" i="1" dirty="0">
                <a:latin typeface="Calibir"/>
              </a:rPr>
              <a:t>Python 3.12</a:t>
            </a:r>
            <a:r>
              <a:rPr lang="en-US" sz="2800" dirty="0">
                <a:latin typeface="Calibir"/>
              </a:rPr>
              <a:t>, </a:t>
            </a:r>
            <a:r>
              <a:rPr lang="en-US" sz="2800" i="1" dirty="0">
                <a:latin typeface="Calibir"/>
              </a:rPr>
              <a:t>Java 17</a:t>
            </a:r>
            <a:r>
              <a:rPr lang="en-US" sz="2800" dirty="0">
                <a:latin typeface="Calibir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Any library or framework dependencies (e.g., </a:t>
            </a:r>
            <a:r>
              <a:rPr lang="en-US" sz="2800" i="1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, </a:t>
            </a:r>
            <a:r>
              <a:rPr lang="en-US" sz="2800" i="1" dirty="0">
                <a:latin typeface="Calibir"/>
              </a:rPr>
              <a:t>JavaFX</a:t>
            </a:r>
            <a:r>
              <a:rPr lang="en-US" sz="2800" dirty="0">
                <a:latin typeface="Calibir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to run the app (CLI and GUI)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Group member names and roles/responsibilities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The README helps markers understand and test your project easily.</a:t>
            </a:r>
          </a:p>
        </p:txBody>
      </p:sp>
    </p:spTree>
    <p:extLst>
      <p:ext uri="{BB962C8B-B14F-4D97-AF65-F5344CB8AC3E}">
        <p14:creationId xmlns:p14="http://schemas.microsoft.com/office/powerpoint/2010/main" val="1316932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A15DF-3ACF-B6DD-72B6-061DA60B8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B9B2A80-61EA-A3AC-E6BD-CF1E914D221E}"/>
              </a:ext>
            </a:extLst>
          </p:cNvPr>
          <p:cNvSpPr txBox="1"/>
          <p:nvPr/>
        </p:nvSpPr>
        <p:spPr>
          <a:xfrm>
            <a:off x="0" y="992458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Submission Rules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Only one submission per group (upload to Canvas)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Deadline: Sunday, Week 13 (9 Nov, 11:59 PM)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Double-check your .zip file before uploading — it should open and run correctly.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68DC981-55FD-33D2-F90F-AB97CF692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1174440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2EDB8-178D-ACAD-5EA8-55D805E7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DAAFE0-BA36-5CD9-7627-1927A41D78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961102"/>
              </p:ext>
            </p:extLst>
          </p:nvPr>
        </p:nvGraphicFramePr>
        <p:xfrm>
          <a:off x="0" y="523220"/>
          <a:ext cx="12241161" cy="45785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763729">
                  <a:extLst>
                    <a:ext uri="{9D8B030D-6E8A-4147-A177-3AD203B41FA5}">
                      <a16:colId xmlns:a16="http://schemas.microsoft.com/office/drawing/2014/main" val="1233180678"/>
                    </a:ext>
                  </a:extLst>
                </a:gridCol>
                <a:gridCol w="7477432">
                  <a:extLst>
                    <a:ext uri="{9D8B030D-6E8A-4147-A177-3AD203B41FA5}">
                      <a16:colId xmlns:a16="http://schemas.microsoft.com/office/drawing/2014/main" val="9657481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Common Mistake</a:t>
                      </a:r>
                      <a:endParaRPr lang="en-US" sz="280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31536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AI-generated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Risk of 0 marks — detected by similarity tools and AI-pattern checks.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6611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Non-functional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Incomplete or broken features earn only minimal marks.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24078066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Unclear contribution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Missing Contribution.txt can lead to mark deductions.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091366719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6722338E-CFD2-C825-343A-8EB8485D3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646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97428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90CCE-719A-0D33-2FBB-F9F026A83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B8905F-1F5A-1314-E4D9-E83D043FDE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973062"/>
              </p:ext>
            </p:extLst>
          </p:nvPr>
        </p:nvGraphicFramePr>
        <p:xfrm>
          <a:off x="0" y="523220"/>
          <a:ext cx="12241161" cy="391393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763729">
                  <a:extLst>
                    <a:ext uri="{9D8B030D-6E8A-4147-A177-3AD203B41FA5}">
                      <a16:colId xmlns:a16="http://schemas.microsoft.com/office/drawing/2014/main" val="1233180678"/>
                    </a:ext>
                  </a:extLst>
                </a:gridCol>
                <a:gridCol w="7477432">
                  <a:extLst>
                    <a:ext uri="{9D8B030D-6E8A-4147-A177-3AD203B41FA5}">
                      <a16:colId xmlns:a16="http://schemas.microsoft.com/office/drawing/2014/main" val="9657481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Common Mistake</a:t>
                      </a:r>
                      <a:endParaRPr lang="en-US" sz="280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31536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Late submission (without approval)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follow </a:t>
                      </a:r>
                      <a:r>
                        <a:rPr lang="en-US" sz="2800" b="0" dirty="0">
                          <a:latin typeface="Calibir"/>
                        </a:rPr>
                        <a:t>the UTS late policy.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6611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Inconsistent input/output formatting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Your program’s output </a:t>
                      </a:r>
                      <a:r>
                        <a:rPr lang="en-US" sz="2800" b="0" dirty="0">
                          <a:latin typeface="Calibir"/>
                        </a:rPr>
                        <a:t>must exactly match the sample I/O — spacing, capitalization, indentation all matter.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2407806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F21F0C4F-CC44-4939-4686-0836A73F9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646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839070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C9002-E4A2-0D65-3F6F-D99781EE7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A09E30A-A2C6-ED17-C074-69D287507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4586"/>
            <a:ext cx="12192000" cy="6488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HINTS &amp; BEST PRACTICES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each menu separately before combining them.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controllers (e.g., </a:t>
            </a:r>
            <a:r>
              <a:rPr lang="en-US" sz="2800" dirty="0" err="1">
                <a:latin typeface="Calibir"/>
              </a:rPr>
              <a:t>StudentController</a:t>
            </a:r>
            <a:r>
              <a:rPr lang="en-US" sz="2800" dirty="0">
                <a:latin typeface="Calibir"/>
              </a:rPr>
              <a:t>, </a:t>
            </a:r>
            <a:r>
              <a:rPr lang="en-US" sz="2800" dirty="0" err="1">
                <a:latin typeface="Calibir"/>
              </a:rPr>
              <a:t>AdminController</a:t>
            </a:r>
            <a:r>
              <a:rPr lang="en-US" sz="2800" dirty="0">
                <a:latin typeface="Calibir"/>
              </a:rPr>
              <a:t>) for clean architecture and separation of logic.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 helper methods for repeated actions like validation, file reading, or ID generation.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the sample I/O open while testing — your output should look identical.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 GUI: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Python: use </a:t>
            </a:r>
            <a:r>
              <a:rPr lang="en-US" sz="2800" dirty="0" err="1">
                <a:latin typeface="Calibir"/>
              </a:rPr>
              <a:t>tkinter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Java: use JavaFX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EB0612-6067-87FD-837A-EF6BE29FC91D}"/>
              </a:ext>
            </a:extLst>
          </p:cNvPr>
          <p:cNvSpPr txBox="1"/>
          <p:nvPr/>
        </p:nvSpPr>
        <p:spPr>
          <a:xfrm>
            <a:off x="4070554" y="5161746"/>
            <a:ext cx="8131277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Final check:</a:t>
            </a:r>
            <a:r>
              <a:rPr lang="en-US" sz="2800" dirty="0">
                <a:latin typeface="Calibir"/>
              </a:rPr>
              <a:t> run your project on another computer before submitting — to ensure it works everywhere.</a:t>
            </a:r>
          </a:p>
        </p:txBody>
      </p:sp>
    </p:spTree>
    <p:extLst>
      <p:ext uri="{BB962C8B-B14F-4D97-AF65-F5344CB8AC3E}">
        <p14:creationId xmlns:p14="http://schemas.microsoft.com/office/powerpoint/2010/main" val="3113591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8C2FF-78A0-8A27-DD91-725809EAE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0E052B-0643-CE02-BB54-F55636BA8251}"/>
              </a:ext>
            </a:extLst>
          </p:cNvPr>
          <p:cNvSpPr txBox="1"/>
          <p:nvPr/>
        </p:nvSpPr>
        <p:spPr>
          <a:xfrm>
            <a:off x="0" y="884903"/>
            <a:ext cx="12192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PART 3: SHOWCASE PRESENTATION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When &amp; Format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Held in Week 12 or Week 13 during your lab session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group: 15 minutes presentation + 3 minutes Q&amp;A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In-person attendance is mandatory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Calibir"/>
              </a:rPr>
              <a:t>Absence = 0 marks (no exceptions unless approved with evidence)</a:t>
            </a:r>
            <a:endParaRPr lang="en-US" sz="2800" dirty="0">
              <a:latin typeface="Calibir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DEA1AA-B0BE-4D7C-760F-03BCA51B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173335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89D0D-2D2F-8DA3-508D-88275A4F6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8D17AC6-B4F1-07E9-D350-691B72D1BCC3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DO in Your Showcase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group member must: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Run the working application</a:t>
            </a:r>
            <a:r>
              <a:rPr lang="en-US" sz="2800" dirty="0">
                <a:latin typeface="Calibir"/>
              </a:rPr>
              <a:t> (CLI or GUI) live.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Show your contribution</a:t>
            </a:r>
            <a:r>
              <a:rPr lang="en-US" sz="2800" dirty="0">
                <a:latin typeface="Calibir"/>
              </a:rPr>
              <a:t> – walk through the part of code </a:t>
            </a:r>
            <a:r>
              <a:rPr lang="en-US" sz="2800" i="1" dirty="0">
                <a:latin typeface="Calibir"/>
              </a:rPr>
              <a:t>you wrote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Speak clearly</a:t>
            </a:r>
            <a:r>
              <a:rPr lang="en-US" sz="2800" dirty="0">
                <a:latin typeface="Calibir"/>
              </a:rPr>
              <a:t> – explain what your part does and how it connects to the rest of the system.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Answer tutor questions</a:t>
            </a:r>
            <a:r>
              <a:rPr lang="en-US" sz="2800" dirty="0">
                <a:latin typeface="Calibir"/>
              </a:rPr>
              <a:t> confidently (about design, logic, or testing).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as a group once or twice before the showcase — time your parts!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B7CC51-9D94-F72E-EC49-BF64E2E9F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861891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01F16-4628-8B1C-116E-BA34DB9D5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C34E325-2462-5073-20DF-E9EC05F11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ED596A-1B72-7627-22CE-816E1A1F5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565903"/>
              </p:ext>
            </p:extLst>
          </p:nvPr>
        </p:nvGraphicFramePr>
        <p:xfrm>
          <a:off x="56535" y="1769344"/>
          <a:ext cx="12078929" cy="4331911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745271">
                  <a:extLst>
                    <a:ext uri="{9D8B030D-6E8A-4147-A177-3AD203B41FA5}">
                      <a16:colId xmlns:a16="http://schemas.microsoft.com/office/drawing/2014/main" val="1717820404"/>
                    </a:ext>
                  </a:extLst>
                </a:gridCol>
                <a:gridCol w="1564148">
                  <a:extLst>
                    <a:ext uri="{9D8B030D-6E8A-4147-A177-3AD203B41FA5}">
                      <a16:colId xmlns:a16="http://schemas.microsoft.com/office/drawing/2014/main" val="79917282"/>
                    </a:ext>
                  </a:extLst>
                </a:gridCol>
                <a:gridCol w="6769510">
                  <a:extLst>
                    <a:ext uri="{9D8B030D-6E8A-4147-A177-3AD203B41FA5}">
                      <a16:colId xmlns:a16="http://schemas.microsoft.com/office/drawing/2014/main" val="1340832203"/>
                    </a:ext>
                  </a:extLst>
                </a:gridCol>
              </a:tblGrid>
              <a:tr h="552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Criteria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Marks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Description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055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Working software demo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The program runs correctly and performs all core functions.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2526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Clear and engaging speech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Presentation is clear, confident, and easy to follow.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034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Code walkthrough (own part)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Each member explains their code contribution accurately.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49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Answers to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Responds confidently and shows understanding of the project.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815232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E6622F46-E768-FC63-49DA-43FF03701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01434"/>
            <a:ext cx="381803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Marking (Total: 5 marks)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9383362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59CFC-D1AC-DE4B-89E3-20F4FA5C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5027809-7168-8DC1-CEA1-D4733926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62E18E0-F427-B5FF-637E-F718989A0E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783" y="830917"/>
            <a:ext cx="11608434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PRESENTATION TIPS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Rehearse your screen flow and main talking points before the presentation.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your speech within 2–3 minutes per member to stay on time.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Prepare for live questions — be ready to explain: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classes or methods you implemented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file operations work (read/write/clear)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regex validation was applied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challenges you faced and how you solved them</a:t>
            </a:r>
          </a:p>
        </p:txBody>
      </p:sp>
    </p:spTree>
    <p:extLst>
      <p:ext uri="{BB962C8B-B14F-4D97-AF65-F5344CB8AC3E}">
        <p14:creationId xmlns:p14="http://schemas.microsoft.com/office/powerpoint/2010/main" val="25907164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369DA-747E-7BCB-7B0F-D948BDEA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B4D116D-B39B-74DD-AC47-8EF935C8C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9B96F3E-36C4-32D6-4977-172415420C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891" y="1800413"/>
            <a:ext cx="11900217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Show live results such as enrolment, grouping, or partitioning in action.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Have a backup plan — record a short demo video or take screenshots in case of technical issues.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Tip: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switching between group members smoothly — each should introduce their part confidently.</a:t>
            </a:r>
          </a:p>
        </p:txBody>
      </p:sp>
    </p:spTree>
    <p:extLst>
      <p:ext uri="{BB962C8B-B14F-4D97-AF65-F5344CB8AC3E}">
        <p14:creationId xmlns:p14="http://schemas.microsoft.com/office/powerpoint/2010/main" val="11038937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F2875-6671-B4A7-A0D2-3BDA94EA2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6CA865D-8010-0358-CD2C-F4E16CCD7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260A66A-B124-4844-17C6-4C4EB9FCB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476254"/>
              </p:ext>
            </p:extLst>
          </p:nvPr>
        </p:nvGraphicFramePr>
        <p:xfrm>
          <a:off x="1610058" y="1535723"/>
          <a:ext cx="8971884" cy="444825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is the difference between the CLI and GUI app?</a:t>
                      </a: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The </a:t>
                      </a:r>
                      <a:r>
                        <a:rPr lang="en-US" sz="2800" b="0" dirty="0" err="1">
                          <a:latin typeface="Calibir"/>
                        </a:rPr>
                        <a:t>CLIUniApp</a:t>
                      </a:r>
                      <a:r>
                        <a:rPr lang="en-US" sz="2800" b="0" dirty="0">
                          <a:latin typeface="Calibir"/>
                        </a:rPr>
                        <a:t> uses text-based menus, while the </a:t>
                      </a:r>
                      <a:r>
                        <a:rPr lang="en-US" sz="2800" b="0" dirty="0" err="1">
                          <a:latin typeface="Calibir"/>
                        </a:rPr>
                        <a:t>GUIUniApp</a:t>
                      </a:r>
                      <a:r>
                        <a:rPr lang="en-US" sz="2800" b="0" dirty="0">
                          <a:latin typeface="Calibir"/>
                        </a:rPr>
                        <a:t> has graphical windows for login and enrolment. Both use the same </a:t>
                      </a:r>
                      <a:r>
                        <a:rPr lang="en-US" sz="2800" b="0" dirty="0" err="1">
                          <a:latin typeface="Calibir"/>
                        </a:rPr>
                        <a:t>students.data</a:t>
                      </a:r>
                      <a:r>
                        <a:rPr lang="en-US" sz="2800" b="0" dirty="0">
                          <a:latin typeface="Calibir"/>
                        </a:rPr>
                        <a:t> file.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B958EE-934B-293B-9CDA-57BEC62758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39831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21F39-8BC0-97B8-AECA-9D712FBCC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7E92DE-C039-68A4-3648-678566E1E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A0F753A-2880-1658-7F5F-650EBCC9A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882581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does your system store data?</a:t>
                      </a: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It serializes Student objects into </a:t>
                      </a:r>
                      <a:r>
                        <a:rPr lang="en-US" sz="2800" b="0" dirty="0" err="1">
                          <a:latin typeface="Calibir"/>
                        </a:rPr>
                        <a:t>students.data</a:t>
                      </a:r>
                      <a:r>
                        <a:rPr lang="en-US" sz="2800" b="0" dirty="0">
                          <a:latin typeface="Calibir"/>
                        </a:rPr>
                        <a:t>, so all data is saved and reloaded across sessions.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0BA645B-0C0F-0740-FEDF-E305886C0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17703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9C0A5-2B35-BF1E-F870-2B6845A14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B944CF0-2C41-B49A-AF12-BB674ECFC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45D94BF-1ED8-0902-F338-EB362586C9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952666"/>
              </p:ext>
            </p:extLst>
          </p:nvPr>
        </p:nvGraphicFramePr>
        <p:xfrm>
          <a:off x="1610058" y="1535723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did you validate emails and passwords?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Using Regex: the email must end with @university.com, and the password must start with an uppercase letter, have ≥5 letters and ≥3 digits.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9E8E7F2-0DD9-07B0-340C-0AC71EEF6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0303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01475-493D-2062-0C79-B03F7EB9D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E625FA-B251-A2A1-118A-8015E3FFE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50AB313-8E32-8EAF-800A-662BAEFE1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176484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53806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 you prevent duplicate registrations?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Before saving to the file, the system checks if the email already exists. If it does, it blocks registration.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0934323-A549-B22B-9797-C6DF76F19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709327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16DED-0DF1-06FC-3AFF-AE8D471AC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271D200-AE29-8B6D-442E-FC7B37E67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B386EC-C20F-6ABF-CAB9-B237AE320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487339"/>
              </p:ext>
            </p:extLst>
          </p:nvPr>
        </p:nvGraphicFramePr>
        <p:xfrm>
          <a:off x="1610058" y="1535723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does the admin partition or group students?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It loops through all students, then categorizes them based on marks (e.g., ≥50 = Pass) and groups by grade (HD, D, C, P, F).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B17FAF95-4606-D0BD-1832-3ED0A1EA0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6056497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CF2D-9A42-F8D2-1AE9-C631E4244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D8CC815-0731-B74F-2D63-3863BF0E3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1A8360D-5880-9B6D-2997-D3EF4898B6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182311"/>
              </p:ext>
            </p:extLst>
          </p:nvPr>
        </p:nvGraphicFramePr>
        <p:xfrm>
          <a:off x="1610058" y="1535723"/>
          <a:ext cx="8971884" cy="2561444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happens if a student </a:t>
                      </a:r>
                      <a:r>
                        <a:rPr lang="en-US" sz="2800" b="1" dirty="0" err="1">
                          <a:latin typeface="Calibir"/>
                        </a:rPr>
                        <a:t>enrols</a:t>
                      </a:r>
                      <a:r>
                        <a:rPr lang="en-US" sz="2800" b="1" dirty="0">
                          <a:latin typeface="Calibir"/>
                        </a:rPr>
                        <a:t> in more than 4 subjects?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The program prevents it and shows: “Students are allowed to </a:t>
                      </a:r>
                      <a:r>
                        <a:rPr lang="en-US" sz="2800" dirty="0" err="1">
                          <a:latin typeface="Calibir"/>
                        </a:rPr>
                        <a:t>enrol</a:t>
                      </a:r>
                      <a:r>
                        <a:rPr lang="en-US" sz="2800" dirty="0">
                          <a:latin typeface="Calibir"/>
                        </a:rPr>
                        <a:t> in 4 subjects only.”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C7CDA42-6995-53B8-6E7C-A16290DAC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015989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A309-4425-93FB-9011-1603E2CEC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32093-0DAE-BBF6-0F28-D40EFA72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131B13-CC20-ABA3-5D41-B4EC01500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52727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did you personally contribute?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(Example) I implemented the </a:t>
                      </a:r>
                      <a:r>
                        <a:rPr lang="en-US" sz="2800" dirty="0" err="1">
                          <a:latin typeface="Calibir"/>
                        </a:rPr>
                        <a:t>StudentController</a:t>
                      </a:r>
                      <a:r>
                        <a:rPr lang="en-US" sz="2800" dirty="0">
                          <a:latin typeface="Calibir"/>
                        </a:rPr>
                        <a:t> and Subject class, including enrolment logic and file handling.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412818AF-413B-BDAC-29FF-76A57BDB6E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396304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6E437-7EA5-0A8D-177F-2F47EC626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9C7B34E-A70C-74BD-3057-AF40A2BF2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9630496-6572-AAF4-E609-78F5063664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277258"/>
              </p:ext>
            </p:extLst>
          </p:nvPr>
        </p:nvGraphicFramePr>
        <p:xfrm>
          <a:off x="1610058" y="1524911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improvements could be added later?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Expanding GUI for admin functions, integrating a database (e.g., SQLite), or adding cloud-based data storage.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1DD5C261-6320-FC7B-A96A-0C54604E3F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685149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00A6-97E7-1C3B-289D-E4483DCE7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EAA5748-78DB-9C31-BA51-E3C4BA122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38B1D-562E-812B-28E6-23C6B9926F20}"/>
              </a:ext>
            </a:extLst>
          </p:cNvPr>
          <p:cNvSpPr txBox="1"/>
          <p:nvPr/>
        </p:nvSpPr>
        <p:spPr>
          <a:xfrm>
            <a:off x="0" y="1125455"/>
            <a:ext cx="12192000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Hi Professor,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I hope you're doing well. We’ve reviewed the Part 1 requirements and understand that Part 2 involves implementing a student enrolment system, including both CLI and GUI components.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Our group would like to start planning for Part 2 of Assessment 1, and we were wondering if you could please let us know the specific requirements for Part 2?</a:t>
            </a:r>
            <a:br>
              <a:rPr lang="en-US" sz="2600" dirty="0">
                <a:latin typeface="Calibir"/>
              </a:rPr>
            </a:br>
            <a:r>
              <a:rPr lang="en-US" sz="2600" b="0" i="0" dirty="0" err="1">
                <a:solidFill>
                  <a:srgbClr val="252B2B"/>
                </a:solidFill>
                <a:effectLst/>
                <a:latin typeface="Calibir"/>
              </a:rPr>
              <a:t>Ｗe’d</a:t>
            </a: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 like to clarify the tasks early so we can arrange our meeting and start preparing.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Thank you very much for your time and support!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Best regards,</a:t>
            </a:r>
            <a:endParaRPr lang="en-US" sz="26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724665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2C8DE-E6C8-D55D-48D3-B2B15DB50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31D7C76-56EA-0429-CCCD-6317E822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730D02-B737-18F9-2580-0C3B7242CAB2}"/>
              </a:ext>
            </a:extLst>
          </p:cNvPr>
          <p:cNvSpPr txBox="1"/>
          <p:nvPr/>
        </p:nvSpPr>
        <p:spPr>
          <a:xfrm>
            <a:off x="0" y="520771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Student,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your message. Yes — Part 2 focuses on implementing the software system based on your Part 1 analysis. It includes both the CLI (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) and an optional GUI challenge (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You’ll implement all the system menus (University, Student, Admin, and Enrolment) exactly as described in the provided specification and sample I/O.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recommend your group review the marking scheme early and assign each section (A–E) among members for balanced contribution.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11814540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41001-F79D-D003-4167-AB48BB95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06C9BD3-AEBC-41B4-D857-9D1686D8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85CD4-A7A3-58C4-A720-34D23CDE4FB7}"/>
              </a:ext>
            </a:extLst>
          </p:cNvPr>
          <p:cNvSpPr txBox="1"/>
          <p:nvPr/>
        </p:nvSpPr>
        <p:spPr>
          <a:xfrm>
            <a:off x="0" y="520771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Professor Farshid Keivanian,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 hope you're doing well!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I’m currently reviewing the tasks for your course and planning my schedule. I just wanted to confirm whether all the required tasks and assessments — such as presentations, reports, or final submissions — will be completed before the official course deadline.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If there are any updates, extensions, or additional requirements I should be aware of, I’d really appreciate it if you could let me know.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Thank you very much for your time and support!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Best regards,</a:t>
            </a:r>
          </a:p>
        </p:txBody>
      </p:sp>
    </p:spTree>
    <p:extLst>
      <p:ext uri="{BB962C8B-B14F-4D97-AF65-F5344CB8AC3E}">
        <p14:creationId xmlns:p14="http://schemas.microsoft.com/office/powerpoint/2010/main" val="37297908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C6D03-7FC8-D10E-475B-E1EB9062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BCA1078-E8B7-233E-CEA1-A9DF2FBA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E6EFE-3142-A000-3D40-BB1BFF95D851}"/>
              </a:ext>
            </a:extLst>
          </p:cNvPr>
          <p:cNvSpPr txBox="1"/>
          <p:nvPr/>
        </p:nvSpPr>
        <p:spPr>
          <a:xfrm>
            <a:off x="0" y="756745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Ziyang,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All required tasks and assessments — including the report, code submission (Part 2), and Showcase (Part 3) — will be completed before the official end of the semester.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2 is due Sunday, Week 13 (9 Nov), and the Showcase (Part 3) occurs in Week 12–13 during your usual class time. There are no additional submissions beyond these.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24442460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529FD-4736-99A9-CD1A-6D702D7D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0E62A2-D674-6A6B-9D22-F1A95AB4B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82B1D-A2AF-EFEB-0F6F-A3DA1563CE44}"/>
              </a:ext>
            </a:extLst>
          </p:cNvPr>
          <p:cNvSpPr txBox="1"/>
          <p:nvPr/>
        </p:nvSpPr>
        <p:spPr>
          <a:xfrm>
            <a:off x="0" y="859984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800" dirty="0">
                <a:latin typeface="Calibir"/>
              </a:rPr>
              <a:t>Dear Farshid,</a:t>
            </a:r>
          </a:p>
          <a:p>
            <a:pPr fontAlgn="base"/>
            <a:r>
              <a:rPr lang="en-US" sz="2800" dirty="0">
                <a:latin typeface="Calibir"/>
              </a:rPr>
              <a:t>I hope you are doing well.</a:t>
            </a:r>
          </a:p>
          <a:p>
            <a:pPr fontAlgn="base"/>
            <a:r>
              <a:rPr lang="en-US" sz="2800" dirty="0">
                <a:latin typeface="Calibir"/>
              </a:rPr>
              <a:t>I am writing regarding the </a:t>
            </a:r>
            <a:r>
              <a:rPr lang="en-US" sz="2800" i="1" dirty="0">
                <a:latin typeface="Calibir"/>
              </a:rPr>
              <a:t>Project Showcase</a:t>
            </a:r>
            <a:r>
              <a:rPr lang="en-US" sz="2800" dirty="0">
                <a:latin typeface="Calibir"/>
              </a:rPr>
              <a:t> for 32555 Fundamentals of Software Development. Our group is Group #9 – Friday 12:00 PM, CMP1 06. I have two questions that I would like to clarify:</a:t>
            </a:r>
          </a:p>
          <a:p>
            <a:pPr marL="722313" indent="-514350">
              <a:buFont typeface="+mj-lt"/>
              <a:buAutoNum type="arabicPeriod"/>
            </a:pPr>
            <a:r>
              <a:rPr lang="en-US" sz="2800" dirty="0">
                <a:latin typeface="Calibir"/>
              </a:rPr>
              <a:t>Could you please confirm whether our group’s showcase will be scheduled in Week 12 or Week 13, and whether it will be conducted online or in person?</a:t>
            </a:r>
          </a:p>
          <a:p>
            <a:pPr marL="722313" indent="-514350"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the showcase is in person, would it be possible to arrange for our group to present in Week 12? I have an international flight booked on 26 October, which may overlap with the Week 13 schedule.</a:t>
            </a:r>
          </a:p>
          <a:p>
            <a:pPr fontAlgn="base"/>
            <a:r>
              <a:rPr lang="en-US" sz="2800" dirty="0">
                <a:latin typeface="Calibir"/>
              </a:rPr>
              <a:t>Thank you very much for your time and understanding. Please let me know if you need any additional details from me.</a:t>
            </a:r>
          </a:p>
          <a:p>
            <a:pPr fontAlgn="base"/>
            <a:r>
              <a:rPr lang="en-US" sz="2800" dirty="0">
                <a:latin typeface="Calibir"/>
              </a:rPr>
              <a:t>Kind regards,</a:t>
            </a:r>
          </a:p>
        </p:txBody>
      </p:sp>
    </p:spTree>
    <p:extLst>
      <p:ext uri="{BB962C8B-B14F-4D97-AF65-F5344CB8AC3E}">
        <p14:creationId xmlns:p14="http://schemas.microsoft.com/office/powerpoint/2010/main" val="42869551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5FF58-EC20-7B06-E070-24B16D13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19213C0-780A-4237-35B5-2CDA4AC42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7937-4470-B41B-8FD1-AB7B0CDB4FD8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Dear Ziyang,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informing me. The Showcase will be conducted during Week 12 and Week 13 in your usual lab time.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Since you have an international flight, I’ll schedule your group’s presentation in Week 12. Please ensure your group is ready to present the full working project and your individual parts.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16608671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62978-79B8-3CD7-FCC7-2FB1705AA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88FDB6C-6EB8-3112-D288-164F4BB19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30185B-BB15-2BDD-D532-D9BF1AD383E2}"/>
              </a:ext>
            </a:extLst>
          </p:cNvPr>
          <p:cNvSpPr txBox="1"/>
          <p:nvPr/>
        </p:nvSpPr>
        <p:spPr>
          <a:xfrm>
            <a:off x="0" y="756745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Hi Sir Farshid Keivanian,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When our group was reading the specifications for Assessment Part 2 and 3, we noticed that the GUI task is counted in the marking scheme to complete 50 points even though it’s stated as a challenge task and not mandatory.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To get full marks for the project, do we: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parts A through D of the marking scheme OR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parts A through D, while </a:t>
            </a:r>
            <a:r>
              <a:rPr lang="en-US" sz="2800" i="1" dirty="0">
                <a:latin typeface="Calibir"/>
              </a:rPr>
              <a:t>also</a:t>
            </a:r>
            <a:r>
              <a:rPr lang="en-US" sz="2800" dirty="0">
                <a:latin typeface="Calibir"/>
              </a:rPr>
              <a:t> including E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Your advice is greatly appreciated!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Best</a:t>
            </a:r>
          </a:p>
        </p:txBody>
      </p:sp>
    </p:spTree>
    <p:extLst>
      <p:ext uri="{BB962C8B-B14F-4D97-AF65-F5344CB8AC3E}">
        <p14:creationId xmlns:p14="http://schemas.microsoft.com/office/powerpoint/2010/main" val="23962977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9C40-90A8-5CA7-F903-237616B67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A0B1E80-EEAA-BE9D-9265-B7CEAA80C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13FF62-4368-0797-C38F-79A1063C57EC}"/>
              </a:ext>
            </a:extLst>
          </p:cNvPr>
          <p:cNvSpPr txBox="1"/>
          <p:nvPr/>
        </p:nvSpPr>
        <p:spPr>
          <a:xfrm>
            <a:off x="0" y="756745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Leiko,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Great question. The GUI component is a challenge task — not mandatory but required if your group aims for full marks (50/50) in Part 2.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Delivering parts A–D (CLI only) can still earn strong marks, but the GUI (part E) provides the final 7 marks and demonstrates advanced skills.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recommend attempting it if your group has time to integrate it smoothly.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32170251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74865-1DFA-130B-3250-240B311EA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2275F-5821-1C3C-37CB-AF4F09992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Tkinter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10C4-0BDB-F1E7-1DE6-ABDBD283B752}"/>
              </a:ext>
            </a:extLst>
          </p:cNvPr>
          <p:cNvSpPr txBox="1"/>
          <p:nvPr/>
        </p:nvSpPr>
        <p:spPr>
          <a:xfrm>
            <a:off x="346587" y="1371966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widget is used for selecting one option from multiple choices?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A) Label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Checkbutton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Radiobutton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A5BAE-078C-0774-31AC-F85A0ECEAC0E}"/>
              </a:ext>
            </a:extLst>
          </p:cNvPr>
          <p:cNvSpPr txBox="1"/>
          <p:nvPr/>
        </p:nvSpPr>
        <p:spPr>
          <a:xfrm>
            <a:off x="213852" y="4893488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 C - 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 allows users to choose a single option among several; </a:t>
            </a:r>
            <a:r>
              <a:rPr lang="en-US" sz="2800" dirty="0" err="1">
                <a:latin typeface="Calibir"/>
              </a:rPr>
              <a:t>Checkbutton</a:t>
            </a:r>
            <a:r>
              <a:rPr lang="en-US" sz="2800" dirty="0">
                <a:latin typeface="Calibir"/>
              </a:rPr>
              <a:t> allows multiple selections.</a:t>
            </a:r>
          </a:p>
        </p:txBody>
      </p:sp>
    </p:spTree>
    <p:extLst>
      <p:ext uri="{BB962C8B-B14F-4D97-AF65-F5344CB8AC3E}">
        <p14:creationId xmlns:p14="http://schemas.microsoft.com/office/powerpoint/2010/main" val="213659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1FEC-5B63-EF30-57F2-7A747416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B947-85AA-01D9-19CE-2D887478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Tkinter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0B0A9-692A-D3C5-CD15-78697D101C39}"/>
              </a:ext>
            </a:extLst>
          </p:cNvPr>
          <p:cNvSpPr txBox="1"/>
          <p:nvPr/>
        </p:nvSpPr>
        <p:spPr>
          <a:xfrm>
            <a:off x="346587" y="1371966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, which function is used to start the GUI event loop?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B) run()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C) exec()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D) loop()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3A32E8-CFC1-5E96-97AE-8CEA0BAF5232}"/>
              </a:ext>
            </a:extLst>
          </p:cNvPr>
          <p:cNvSpPr txBox="1"/>
          <p:nvPr/>
        </p:nvSpPr>
        <p:spPr>
          <a:xfrm>
            <a:off x="213852" y="4893488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 A - 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root.mainloop</a:t>
            </a:r>
            <a:r>
              <a:rPr lang="en-US" sz="2800" dirty="0">
                <a:latin typeface="Calibir"/>
              </a:rPr>
              <a:t>() keeps the window responsive, processing user actions until closed.</a:t>
            </a:r>
          </a:p>
        </p:txBody>
      </p:sp>
    </p:spTree>
    <p:extLst>
      <p:ext uri="{BB962C8B-B14F-4D97-AF65-F5344CB8AC3E}">
        <p14:creationId xmlns:p14="http://schemas.microsoft.com/office/powerpoint/2010/main" val="427285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A0CF-286C-F6A5-1E7C-E3CB7E8EB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ED1A1-9959-FBB7-F02C-B458B5AE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Tkinter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075A3-5A7E-6339-DAAF-B6046119ABC7}"/>
              </a:ext>
            </a:extLst>
          </p:cNvPr>
          <p:cNvSpPr txBox="1"/>
          <p:nvPr/>
        </p:nvSpPr>
        <p:spPr>
          <a:xfrm>
            <a:off x="346587" y="1371966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</a:t>
            </a: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widget is used to accept multi-line text input?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Entry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76AA75-9809-75D5-5FBD-70B6F7C4D3FF}"/>
              </a:ext>
            </a:extLst>
          </p:cNvPr>
          <p:cNvSpPr txBox="1"/>
          <p:nvPr/>
        </p:nvSpPr>
        <p:spPr>
          <a:xfrm>
            <a:off x="213852" y="4893488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</a:t>
            </a:r>
            <a:r>
              <a:rPr lang="en-US" sz="2800" b="1" dirty="0">
                <a:latin typeface="Calibir"/>
              </a:rPr>
              <a:t>:</a:t>
            </a:r>
            <a:r>
              <a:rPr lang="en-US" sz="2800" dirty="0">
                <a:latin typeface="Calibir"/>
              </a:rPr>
              <a:t> Text supports multi-line input; Entry is for single-line text.</a:t>
            </a:r>
          </a:p>
        </p:txBody>
      </p:sp>
    </p:spTree>
    <p:extLst>
      <p:ext uri="{BB962C8B-B14F-4D97-AF65-F5344CB8AC3E}">
        <p14:creationId xmlns:p14="http://schemas.microsoft.com/office/powerpoint/2010/main" val="2190518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620AD-BA8A-B5C9-E649-5FF26C224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D1E6-D333-0834-0162-025E7C8E0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Tkinter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99C751-5F8E-07EA-A94F-5F0CE98FEC67}"/>
              </a:ext>
            </a:extLst>
          </p:cNvPr>
          <p:cNvSpPr txBox="1"/>
          <p:nvPr/>
        </p:nvSpPr>
        <p:spPr>
          <a:xfrm>
            <a:off x="346587" y="1371966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the command parameter in a Button widget define?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The button’s label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The variable name of the 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The function to be called when the button is clicked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The background color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6D0D0-C200-3EC6-8898-CF975330AD1F}"/>
              </a:ext>
            </a:extLst>
          </p:cNvPr>
          <p:cNvSpPr txBox="1"/>
          <p:nvPr/>
        </p:nvSpPr>
        <p:spPr>
          <a:xfrm>
            <a:off x="213852" y="4893488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 - Reason: command binds a callback function that executes when the user clicks the button.</a:t>
            </a:r>
          </a:p>
        </p:txBody>
      </p:sp>
    </p:spTree>
    <p:extLst>
      <p:ext uri="{BB962C8B-B14F-4D97-AF65-F5344CB8AC3E}">
        <p14:creationId xmlns:p14="http://schemas.microsoft.com/office/powerpoint/2010/main" val="295687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4F580-782C-F0AF-62DB-BA662D67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6F77B-43FC-BDFA-9F4B-CABC9DC5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Tkinter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FD44FF-FF6F-0C4F-0126-912454F27D8B}"/>
              </a:ext>
            </a:extLst>
          </p:cNvPr>
          <p:cNvSpPr txBox="1"/>
          <p:nvPr/>
        </p:nvSpPr>
        <p:spPr>
          <a:xfrm>
            <a:off x="377313" y="1150740"/>
            <a:ext cx="11437374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layout manager automatically places widgets side-by-side (left to right)?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grid()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pack() with side=LEFT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place()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align()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76881-8503-94DA-8D42-F82C4A36F13F}"/>
              </a:ext>
            </a:extLst>
          </p:cNvPr>
          <p:cNvSpPr txBox="1"/>
          <p:nvPr/>
        </p:nvSpPr>
        <p:spPr>
          <a:xfrm>
            <a:off x="228601" y="5057835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Using pack(side=LEFT) arranges widgets horizontally.</a:t>
            </a:r>
          </a:p>
        </p:txBody>
      </p:sp>
    </p:spTree>
    <p:extLst>
      <p:ext uri="{BB962C8B-B14F-4D97-AF65-F5344CB8AC3E}">
        <p14:creationId xmlns:p14="http://schemas.microsoft.com/office/powerpoint/2010/main" val="192714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2B18-9BA8-683F-B634-65552B08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29863-1689-FD0F-1317-9ED59AD32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</a:t>
            </a:r>
            <a:r>
              <a:rPr lang="en-US" sz="4000" kern="100" dirty="0" err="1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Tkinter</a:t>
            </a: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FA5D2F-165F-F781-7B79-B578F56248FC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is the purpose of the </a:t>
            </a: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() widget?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To replace the root window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To create a secondary pop-up window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To terminate the </a:t>
            </a:r>
            <a:r>
              <a:rPr lang="en-US" sz="2800" dirty="0" err="1">
                <a:latin typeface="Calibir"/>
              </a:rPr>
              <a:t>mainloop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To display a text label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302D4C-AF36-814E-E99E-EA883FFE6511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</a:t>
            </a: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 opens a separate independent window (e.g., report or help dialog).</a:t>
            </a:r>
          </a:p>
        </p:txBody>
      </p:sp>
    </p:spTree>
    <p:extLst>
      <p:ext uri="{BB962C8B-B14F-4D97-AF65-F5344CB8AC3E}">
        <p14:creationId xmlns:p14="http://schemas.microsoft.com/office/powerpoint/2010/main" val="119704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55BF4-6E03-FD5D-0E72-A2E28015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7A78-A3ED-D004-0864-A45E1974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705DD-15F1-B315-9EAD-0BFE5065D054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JavaFX control is used for single-line text input?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TextField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TextArea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PasswordField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116FFC-B848-67C3-6C76-914C3D07150B}"/>
              </a:ext>
            </a:extLst>
          </p:cNvPr>
          <p:cNvSpPr txBox="1"/>
          <p:nvPr/>
        </p:nvSpPr>
        <p:spPr>
          <a:xfrm>
            <a:off x="228601" y="5057835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</a:t>
            </a:r>
            <a:r>
              <a:rPr lang="en-US" sz="2800" dirty="0" err="1">
                <a:latin typeface="Calibir"/>
              </a:rPr>
              <a:t>TextField</a:t>
            </a:r>
            <a:r>
              <a:rPr lang="en-US" sz="2800" dirty="0">
                <a:latin typeface="Calibir"/>
              </a:rPr>
              <a:t> accepts single-line input; </a:t>
            </a:r>
            <a:r>
              <a:rPr lang="en-US" sz="2800" dirty="0" err="1">
                <a:latin typeface="Calibir"/>
              </a:rPr>
              <a:t>TextArea</a:t>
            </a:r>
            <a:r>
              <a:rPr lang="en-US" sz="2800" dirty="0">
                <a:latin typeface="Calibir"/>
              </a:rPr>
              <a:t> allows multi-line.</a:t>
            </a:r>
          </a:p>
        </p:txBody>
      </p:sp>
    </p:spTree>
    <p:extLst>
      <p:ext uri="{BB962C8B-B14F-4D97-AF65-F5344CB8AC3E}">
        <p14:creationId xmlns:p14="http://schemas.microsoft.com/office/powerpoint/2010/main" val="4127373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FE551-918E-AF7D-917A-CAE9551E1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B192B-A263-28E2-3C0F-0AAF96943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85BE5B-4AC1-D82B-D6B1-22ECC21B7F8D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container arranges its child nodes vertically?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HBox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VBox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BorderPane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GridPane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424909-D51F-92EB-8F40-9A36F43C8CA1}"/>
              </a:ext>
            </a:extLst>
          </p:cNvPr>
          <p:cNvSpPr txBox="1"/>
          <p:nvPr/>
        </p:nvSpPr>
        <p:spPr>
          <a:xfrm>
            <a:off x="228601" y="5057835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</a:t>
            </a: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VBox</a:t>
            </a:r>
            <a:r>
              <a:rPr lang="en-US" sz="2800" dirty="0">
                <a:latin typeface="Calibir"/>
              </a:rPr>
              <a:t> stacks nodes one below another.</a:t>
            </a:r>
          </a:p>
        </p:txBody>
      </p:sp>
    </p:spTree>
    <p:extLst>
      <p:ext uri="{BB962C8B-B14F-4D97-AF65-F5344CB8AC3E}">
        <p14:creationId xmlns:p14="http://schemas.microsoft.com/office/powerpoint/2010/main" val="21810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F16A-EADF-A2C0-7FA7-4C6ED3E55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FE6A-83AE-EB01-528D-98F8A122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8BF0D3-44D1-D1D8-3E34-41EF29720187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method launches a JavaFX application?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start()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init</a:t>
            </a:r>
            <a:r>
              <a:rPr lang="en-US" sz="2800" dirty="0">
                <a:latin typeface="Calibir"/>
              </a:rPr>
              <a:t>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launch()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run()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935FE-80C7-0DFB-DFF7-9DA70F7B32CB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 - Reason: </a:t>
            </a:r>
            <a:r>
              <a:rPr lang="en-US" sz="2800" dirty="0" err="1">
                <a:latin typeface="Calibir"/>
              </a:rPr>
              <a:t>Application.launch</a:t>
            </a:r>
            <a:r>
              <a:rPr lang="en-US" sz="2800" dirty="0">
                <a:latin typeface="Calibir"/>
              </a:rPr>
              <a:t>(</a:t>
            </a:r>
            <a:r>
              <a:rPr lang="en-US" sz="2800" dirty="0" err="1">
                <a:latin typeface="Calibir"/>
              </a:rPr>
              <a:t>args</a:t>
            </a:r>
            <a:r>
              <a:rPr lang="en-US" sz="2800" dirty="0">
                <a:latin typeface="Calibir"/>
              </a:rPr>
              <a:t>) starts the JavaFX runtime and opens the first stage.</a:t>
            </a:r>
          </a:p>
        </p:txBody>
      </p:sp>
    </p:spTree>
    <p:extLst>
      <p:ext uri="{BB962C8B-B14F-4D97-AF65-F5344CB8AC3E}">
        <p14:creationId xmlns:p14="http://schemas.microsoft.com/office/powerpoint/2010/main" val="336708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6C411-400A-D27D-471F-ED1B4088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EB8E2-82BE-66DA-BEC8-20ED2F0C7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7F9524-B6E0-FEBF-C33D-610DCDDD6D12}"/>
              </a:ext>
            </a:extLst>
          </p:cNvPr>
          <p:cNvSpPr txBox="1"/>
          <p:nvPr/>
        </p:nvSpPr>
        <p:spPr>
          <a:xfrm>
            <a:off x="377313" y="1150740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JavaFX control allows users to select one option from a list of choices?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RadioButton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ListView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Label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D60708-2D7E-57AE-02C7-ED151473C1E2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 - Reason: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 (often grouped in </a:t>
            </a:r>
            <a:r>
              <a:rPr lang="en-US" sz="2800" dirty="0" err="1">
                <a:latin typeface="Calibir"/>
              </a:rPr>
              <a:t>ToggleGroup</a:t>
            </a:r>
            <a:r>
              <a:rPr lang="en-US" sz="2800" dirty="0">
                <a:latin typeface="Calibir"/>
              </a:rPr>
              <a:t>) provides mutually exclusive selection.</a:t>
            </a:r>
          </a:p>
        </p:txBody>
      </p:sp>
    </p:spTree>
    <p:extLst>
      <p:ext uri="{BB962C8B-B14F-4D97-AF65-F5344CB8AC3E}">
        <p14:creationId xmlns:p14="http://schemas.microsoft.com/office/powerpoint/2010/main" val="1965826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CDE44-3325-121D-DB81-5C2C6D1A6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869D8-6D93-53CB-F369-7D5AA1EF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4B8FF1-73CE-DBB0-46CB-B998190E8011}"/>
              </a:ext>
            </a:extLst>
          </p:cNvPr>
          <p:cNvSpPr txBox="1"/>
          <p:nvPr/>
        </p:nvSpPr>
        <p:spPr>
          <a:xfrm>
            <a:off x="377313" y="1150740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an MVC JavaFX app, which component handles </a:t>
            </a:r>
            <a:r>
              <a:rPr lang="en-US" sz="2800" dirty="0" err="1">
                <a:latin typeface="Calibir"/>
              </a:rPr>
              <a:t>ActionEvent</a:t>
            </a:r>
            <a:r>
              <a:rPr lang="en-US" sz="2800" dirty="0">
                <a:latin typeface="Calibir"/>
              </a:rPr>
              <a:t> from a button?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FXML file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Controller class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Stage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Scene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2C3AE-C590-F22D-4814-8E2CC1F850D1}"/>
              </a:ext>
            </a:extLst>
          </p:cNvPr>
          <p:cNvSpPr txBox="1"/>
          <p:nvPr/>
        </p:nvSpPr>
        <p:spPr>
          <a:xfrm>
            <a:off x="228601" y="5057835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The controller defines event-handling methods linked via </a:t>
            </a:r>
            <a:r>
              <a:rPr lang="en-US" sz="2800" dirty="0" err="1">
                <a:latin typeface="Calibir"/>
              </a:rPr>
              <a:t>onAction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954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7D24B-C695-8F7C-4755-6BA0C1BC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A6DBB-C5E6-5367-A18C-C95D27C76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40E3A4-F03E-7F4F-BC5E-7CF9CF1970E0}"/>
              </a:ext>
            </a:extLst>
          </p:cNvPr>
          <p:cNvSpPr txBox="1"/>
          <p:nvPr/>
        </p:nvSpPr>
        <p:spPr>
          <a:xfrm>
            <a:off x="377313" y="1150740"/>
            <a:ext cx="11437374" cy="3261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FXML tag correctly defines a button label in the UI XML?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&lt;Button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="</a:t>
            </a:r>
            <a:r>
              <a:rPr lang="en-US" sz="2800" dirty="0" err="1">
                <a:latin typeface="Calibir"/>
              </a:rPr>
              <a:t>btn</a:t>
            </a:r>
            <a:r>
              <a:rPr lang="en-US" sz="2800" dirty="0">
                <a:latin typeface="Calibir"/>
              </a:rPr>
              <a:t>" text="Login"/&gt;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&lt;Button id="</a:t>
            </a:r>
            <a:r>
              <a:rPr lang="en-US" sz="2800" dirty="0" err="1">
                <a:latin typeface="Calibir"/>
              </a:rPr>
              <a:t>btn</a:t>
            </a:r>
            <a:r>
              <a:rPr lang="en-US" sz="2800" dirty="0">
                <a:latin typeface="Calibir"/>
              </a:rPr>
              <a:t>" name="Login"/&gt;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&lt;Button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="</a:t>
            </a:r>
            <a:r>
              <a:rPr lang="en-US" sz="2800" dirty="0" err="1">
                <a:latin typeface="Calibir"/>
              </a:rPr>
              <a:t>btn</a:t>
            </a:r>
            <a:r>
              <a:rPr lang="en-US" sz="2800" dirty="0">
                <a:latin typeface="Calibir"/>
              </a:rPr>
              <a:t>"&gt;Login&lt;/Button&gt;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&lt;Button label="Login"/&gt;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C961F-D9AC-BD16-30D5-3677B2BFDA63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 - Reason: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 links the button to the controller variable, and text defines the label text.</a:t>
            </a:r>
          </a:p>
        </p:txBody>
      </p:sp>
    </p:spTree>
    <p:extLst>
      <p:ext uri="{BB962C8B-B14F-4D97-AF65-F5344CB8AC3E}">
        <p14:creationId xmlns:p14="http://schemas.microsoft.com/office/powerpoint/2010/main" val="299367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3615</TotalTime>
  <Words>3641</Words>
  <Application>Microsoft Office PowerPoint</Application>
  <PresentationFormat>Widescreen</PresentationFormat>
  <Paragraphs>339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53</vt:i4>
      </vt:variant>
    </vt:vector>
  </HeadingPairs>
  <TitlesOfParts>
    <vt:vector size="62" baseType="lpstr">
      <vt:lpstr>Aptos</vt:lpstr>
      <vt:lpstr>Aptos Display</vt:lpstr>
      <vt:lpstr>Arial</vt:lpstr>
      <vt:lpstr>Calibir</vt:lpstr>
      <vt:lpstr>Calibri</vt:lpstr>
      <vt:lpstr>Calibri Light</vt:lpstr>
      <vt:lpstr>Wingdings</vt:lpstr>
      <vt:lpstr>Office Theme</vt:lpstr>
      <vt:lpstr>1_Office Theme</vt:lpstr>
      <vt:lpstr>Introduction to Software Engineering (ISE102) Tutorial Week 10</vt:lpstr>
      <vt:lpstr>Week 10 Outline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PowerPoint Presentation</vt:lpstr>
      <vt:lpstr>PowerPoint Presentation</vt:lpstr>
      <vt:lpstr>PowerPoint Presentation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1124</cp:revision>
  <dcterms:created xsi:type="dcterms:W3CDTF">2025-07-28T16:39:25Z</dcterms:created>
  <dcterms:modified xsi:type="dcterms:W3CDTF">2025-10-06T11:13:43Z</dcterms:modified>
</cp:coreProperties>
</file>