
<file path=[Content_Types].xml><?xml version="1.0" encoding="utf-8"?>
<Types xmlns="http://schemas.openxmlformats.org/package/2006/content-types">
  <Default Extension="jpeg" ContentType="image/jpeg"/>
  <Default Extension="jpg" ContentType="image/jp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102"/>
  </p:notesMasterIdLst>
  <p:sldIdLst>
    <p:sldId id="2522" r:id="rId4"/>
    <p:sldId id="2443" r:id="rId5"/>
    <p:sldId id="2633" r:id="rId6"/>
    <p:sldId id="2467" r:id="rId7"/>
    <p:sldId id="256" r:id="rId8"/>
    <p:sldId id="257" r:id="rId9"/>
    <p:sldId id="258" r:id="rId10"/>
    <p:sldId id="259" r:id="rId11"/>
    <p:sldId id="260" r:id="rId12"/>
    <p:sldId id="261" r:id="rId13"/>
    <p:sldId id="262" r:id="rId14"/>
    <p:sldId id="263" r:id="rId15"/>
    <p:sldId id="264" r:id="rId16"/>
    <p:sldId id="265" r:id="rId17"/>
    <p:sldId id="266" r:id="rId18"/>
    <p:sldId id="267" r:id="rId19"/>
    <p:sldId id="2634" r:id="rId20"/>
    <p:sldId id="3051" r:id="rId21"/>
    <p:sldId id="3052" r:id="rId22"/>
    <p:sldId id="3054" r:id="rId23"/>
    <p:sldId id="3055" r:id="rId24"/>
    <p:sldId id="3073" r:id="rId25"/>
    <p:sldId id="3074" r:id="rId26"/>
    <p:sldId id="3075" r:id="rId27"/>
    <p:sldId id="3076" r:id="rId28"/>
    <p:sldId id="3077" r:id="rId29"/>
    <p:sldId id="3078" r:id="rId30"/>
    <p:sldId id="3079" r:id="rId31"/>
    <p:sldId id="3056" r:id="rId32"/>
    <p:sldId id="3106" r:id="rId33"/>
    <p:sldId id="3057" r:id="rId34"/>
    <p:sldId id="3107" r:id="rId35"/>
    <p:sldId id="3058" r:id="rId36"/>
    <p:sldId id="3080" r:id="rId37"/>
    <p:sldId id="3081" r:id="rId38"/>
    <p:sldId id="3082" r:id="rId39"/>
    <p:sldId id="3083" r:id="rId40"/>
    <p:sldId id="3084" r:id="rId41"/>
    <p:sldId id="3085" r:id="rId42"/>
    <p:sldId id="3086" r:id="rId43"/>
    <p:sldId id="3087" r:id="rId44"/>
    <p:sldId id="3088" r:id="rId45"/>
    <p:sldId id="3089" r:id="rId46"/>
    <p:sldId id="3090" r:id="rId47"/>
    <p:sldId id="3091" r:id="rId48"/>
    <p:sldId id="3092" r:id="rId49"/>
    <p:sldId id="3093" r:id="rId50"/>
    <p:sldId id="3124" r:id="rId51"/>
    <p:sldId id="3125" r:id="rId52"/>
    <p:sldId id="3127" r:id="rId53"/>
    <p:sldId id="3094" r:id="rId54"/>
    <p:sldId id="3095" r:id="rId55"/>
    <p:sldId id="3096" r:id="rId56"/>
    <p:sldId id="3097" r:id="rId57"/>
    <p:sldId id="3098" r:id="rId58"/>
    <p:sldId id="3099" r:id="rId59"/>
    <p:sldId id="3100" r:id="rId60"/>
    <p:sldId id="3101" r:id="rId61"/>
    <p:sldId id="3059" r:id="rId62"/>
    <p:sldId id="3060" r:id="rId63"/>
    <p:sldId id="3061" r:id="rId64"/>
    <p:sldId id="3103" r:id="rId65"/>
    <p:sldId id="3104" r:id="rId66"/>
    <p:sldId id="3105" r:id="rId67"/>
    <p:sldId id="3062" r:id="rId68"/>
    <p:sldId id="3108" r:id="rId69"/>
    <p:sldId id="3063" r:id="rId70"/>
    <p:sldId id="3109" r:id="rId71"/>
    <p:sldId id="3064" r:id="rId72"/>
    <p:sldId id="3110" r:id="rId73"/>
    <p:sldId id="3066" r:id="rId74"/>
    <p:sldId id="3111" r:id="rId75"/>
    <p:sldId id="3067" r:id="rId76"/>
    <p:sldId id="3112" r:id="rId77"/>
    <p:sldId id="3068" r:id="rId78"/>
    <p:sldId id="3069" r:id="rId79"/>
    <p:sldId id="3113" r:id="rId80"/>
    <p:sldId id="3128" r:id="rId81"/>
    <p:sldId id="3114" r:id="rId82"/>
    <p:sldId id="3115" r:id="rId83"/>
    <p:sldId id="3116" r:id="rId84"/>
    <p:sldId id="3117" r:id="rId85"/>
    <p:sldId id="3070" r:id="rId86"/>
    <p:sldId id="3118" r:id="rId87"/>
    <p:sldId id="3119" r:id="rId88"/>
    <p:sldId id="3120" r:id="rId89"/>
    <p:sldId id="3121" r:id="rId90"/>
    <p:sldId id="3071" r:id="rId91"/>
    <p:sldId id="3072" r:id="rId92"/>
    <p:sldId id="3050" r:id="rId93"/>
    <p:sldId id="3048" r:id="rId94"/>
    <p:sldId id="3049" r:id="rId95"/>
    <p:sldId id="3047" r:id="rId96"/>
    <p:sldId id="3043" r:id="rId97"/>
    <p:sldId id="3044" r:id="rId98"/>
    <p:sldId id="3045" r:id="rId99"/>
    <p:sldId id="3046" r:id="rId100"/>
    <p:sldId id="749"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364" y="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notesMaster" Target="notesMasters/notesMaster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30/09/2026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30/09/2026</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30/09/2026</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664035" y="1009735"/>
            <a:ext cx="1447800" cy="1511300"/>
          </a:xfrm>
          <a:custGeom>
            <a:avLst/>
            <a:gdLst/>
            <a:ahLst/>
            <a:cxnLst/>
            <a:rect l="l" t="t" r="r" b="b"/>
            <a:pathLst>
              <a:path w="1085850" h="1133475">
                <a:moveTo>
                  <a:pt x="0" y="1133475"/>
                </a:moveTo>
                <a:lnTo>
                  <a:pt x="0" y="0"/>
                </a:lnTo>
                <a:lnTo>
                  <a:pt x="1085850" y="0"/>
                </a:lnTo>
              </a:path>
            </a:pathLst>
          </a:custGeom>
          <a:ln w="28575">
            <a:solidFill>
              <a:srgbClr val="EDEBE0"/>
            </a:solidFill>
          </a:ln>
        </p:spPr>
        <p:txBody>
          <a:bodyPr wrap="square" lIns="0" tIns="0" rIns="0" bIns="0" rtlCol="0"/>
          <a:lstStyle/>
          <a:p>
            <a:endParaRPr sz="2400"/>
          </a:p>
        </p:txBody>
      </p:sp>
      <p:sp>
        <p:nvSpPr>
          <p:cNvPr id="17" name="bg object 17"/>
          <p:cNvSpPr/>
          <p:nvPr/>
        </p:nvSpPr>
        <p:spPr>
          <a:xfrm>
            <a:off x="7093035" y="4362535"/>
            <a:ext cx="1447800" cy="1498600"/>
          </a:xfrm>
          <a:custGeom>
            <a:avLst/>
            <a:gdLst/>
            <a:ahLst/>
            <a:cxnLst/>
            <a:rect l="l" t="t" r="r" b="b"/>
            <a:pathLst>
              <a:path w="1085850" h="1123950">
                <a:moveTo>
                  <a:pt x="1085850" y="0"/>
                </a:moveTo>
                <a:lnTo>
                  <a:pt x="1085850" y="1123886"/>
                </a:lnTo>
                <a:lnTo>
                  <a:pt x="0" y="1123886"/>
                </a:lnTo>
              </a:path>
            </a:pathLst>
          </a:custGeom>
          <a:ln w="28575">
            <a:solidFill>
              <a:srgbClr val="EDEBE0"/>
            </a:solidFill>
          </a:ln>
        </p:spPr>
        <p:txBody>
          <a:bodyPr wrap="square" lIns="0" tIns="0" rIns="0" bIns="0" rtlCol="0"/>
          <a:lstStyle/>
          <a:p>
            <a:endParaRPr sz="2400"/>
          </a:p>
        </p:txBody>
      </p:sp>
      <p:sp>
        <p:nvSpPr>
          <p:cNvPr id="2" name="Holder 2"/>
          <p:cNvSpPr>
            <a:spLocks noGrp="1"/>
          </p:cNvSpPr>
          <p:nvPr>
            <p:ph type="ctrTitle"/>
          </p:nvPr>
        </p:nvSpPr>
        <p:spPr>
          <a:xfrm>
            <a:off x="4906093" y="2133685"/>
            <a:ext cx="2379811" cy="861774"/>
          </a:xfrm>
          <a:prstGeom prst="rect">
            <a:avLst/>
          </a:prstGeom>
        </p:spPr>
        <p:txBody>
          <a:bodyPr wrap="square" lIns="0" tIns="0" rIns="0" bIns="0">
            <a:spAutoFit/>
          </a:bodyPr>
          <a:lstStyle>
            <a:lvl1pPr>
              <a:defRPr sz="5600" b="0" i="0">
                <a:solidFill>
                  <a:schemeClr val="tx1"/>
                </a:solidFill>
                <a:latin typeface="Arial Narrow"/>
                <a:cs typeface="Arial Narrow"/>
              </a:defRPr>
            </a:lvl1pPr>
          </a:lstStyle>
          <a:p>
            <a:endParaRPr/>
          </a:p>
        </p:txBody>
      </p:sp>
      <p:sp>
        <p:nvSpPr>
          <p:cNvPr id="3" name="Holder 3"/>
          <p:cNvSpPr>
            <a:spLocks noGrp="1"/>
          </p:cNvSpPr>
          <p:nvPr>
            <p:ph type="subTitle" idx="4"/>
          </p:nvPr>
        </p:nvSpPr>
        <p:spPr>
          <a:xfrm>
            <a:off x="1828800" y="3840481"/>
            <a:ext cx="8534400" cy="369332"/>
          </a:xfrm>
          <a:prstGeom prst="rect">
            <a:avLst/>
          </a:prstGeom>
        </p:spPr>
        <p:txBody>
          <a:bodyPr wrap="square" lIns="0" tIns="0" rIns="0" bIns="0">
            <a:spAutoFit/>
          </a:bodyPr>
          <a:lstStyle>
            <a:lvl1pPr>
              <a:defRPr sz="2400" b="0" i="0">
                <a:solidFill>
                  <a:schemeClr val="tx1"/>
                </a:solidFill>
                <a:latin typeface="Arial Narrow"/>
                <a:cs typeface="Arial Narrow"/>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04158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04985" y="-197601"/>
            <a:ext cx="8319347" cy="861774"/>
          </a:xfrm>
        </p:spPr>
        <p:txBody>
          <a:bodyPr lIns="0" tIns="0" rIns="0" bIns="0"/>
          <a:lstStyle>
            <a:lvl1pPr>
              <a:defRPr sz="5600" b="0" i="0">
                <a:solidFill>
                  <a:schemeClr val="tx1"/>
                </a:solidFill>
                <a:latin typeface="Arial Narrow"/>
                <a:cs typeface="Arial Narrow"/>
              </a:defRPr>
            </a:lvl1pPr>
          </a:lstStyle>
          <a:p>
            <a:endParaRPr/>
          </a:p>
        </p:txBody>
      </p:sp>
      <p:sp>
        <p:nvSpPr>
          <p:cNvPr id="3" name="Holder 3"/>
          <p:cNvSpPr>
            <a:spLocks noGrp="1"/>
          </p:cNvSpPr>
          <p:nvPr>
            <p:ph type="body" idx="1"/>
          </p:nvPr>
        </p:nvSpPr>
        <p:spPr>
          <a:xfrm>
            <a:off x="511810" y="1192530"/>
            <a:ext cx="10137140" cy="369332"/>
          </a:xfrm>
        </p:spPr>
        <p:txBody>
          <a:bodyPr lIns="0" tIns="0" rIns="0" bIns="0"/>
          <a:lstStyle>
            <a:lvl1pPr>
              <a:defRPr sz="2400" b="0" i="0">
                <a:solidFill>
                  <a:schemeClr val="tx1"/>
                </a:solidFill>
                <a:latin typeface="Arial Narrow"/>
                <a:cs typeface="Arial Narrow"/>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073084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04985" y="-197601"/>
            <a:ext cx="8319347" cy="861774"/>
          </a:xfrm>
        </p:spPr>
        <p:txBody>
          <a:bodyPr lIns="0" tIns="0" rIns="0" bIns="0"/>
          <a:lstStyle>
            <a:lvl1pPr>
              <a:defRPr sz="5600" b="0" i="0">
                <a:solidFill>
                  <a:schemeClr val="tx1"/>
                </a:solidFill>
                <a:latin typeface="Arial Narrow"/>
                <a:cs typeface="Arial Narrow"/>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210742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128335" y="616035"/>
            <a:ext cx="1447800" cy="1498600"/>
          </a:xfrm>
          <a:custGeom>
            <a:avLst/>
            <a:gdLst/>
            <a:ahLst/>
            <a:cxnLst/>
            <a:rect l="l" t="t" r="r" b="b"/>
            <a:pathLst>
              <a:path w="1085850" h="1123950">
                <a:moveTo>
                  <a:pt x="1085850" y="1123950"/>
                </a:moveTo>
                <a:lnTo>
                  <a:pt x="1085850" y="0"/>
                </a:lnTo>
                <a:lnTo>
                  <a:pt x="0" y="0"/>
                </a:lnTo>
              </a:path>
            </a:pathLst>
          </a:custGeom>
          <a:ln w="28575">
            <a:solidFill>
              <a:srgbClr val="EDEBE0"/>
            </a:solidFill>
          </a:ln>
        </p:spPr>
        <p:txBody>
          <a:bodyPr wrap="square" lIns="0" tIns="0" rIns="0" bIns="0" rtlCol="0"/>
          <a:lstStyle/>
          <a:p>
            <a:endParaRPr sz="2400"/>
          </a:p>
        </p:txBody>
      </p:sp>
      <p:sp>
        <p:nvSpPr>
          <p:cNvPr id="17" name="bg object 17"/>
          <p:cNvSpPr/>
          <p:nvPr/>
        </p:nvSpPr>
        <p:spPr>
          <a:xfrm>
            <a:off x="628650" y="4756235"/>
            <a:ext cx="1448647" cy="1498600"/>
          </a:xfrm>
          <a:custGeom>
            <a:avLst/>
            <a:gdLst/>
            <a:ahLst/>
            <a:cxnLst/>
            <a:rect l="l" t="t" r="r" b="b"/>
            <a:pathLst>
              <a:path w="1086485" h="1123950">
                <a:moveTo>
                  <a:pt x="0" y="0"/>
                </a:moveTo>
                <a:lnTo>
                  <a:pt x="0" y="1123886"/>
                </a:lnTo>
                <a:lnTo>
                  <a:pt x="1085913" y="1123886"/>
                </a:lnTo>
              </a:path>
            </a:pathLst>
          </a:custGeom>
          <a:ln w="28575">
            <a:solidFill>
              <a:srgbClr val="EDEBE0"/>
            </a:solidFill>
          </a:ln>
        </p:spPr>
        <p:txBody>
          <a:bodyPr wrap="square" lIns="0" tIns="0" rIns="0" bIns="0" rtlCol="0"/>
          <a:lstStyle/>
          <a:p>
            <a:endParaRPr sz="2400"/>
          </a:p>
        </p:txBody>
      </p:sp>
      <p:sp>
        <p:nvSpPr>
          <p:cNvPr id="2" name="Holder 2"/>
          <p:cNvSpPr>
            <a:spLocks noGrp="1"/>
          </p:cNvSpPr>
          <p:nvPr>
            <p:ph type="title"/>
          </p:nvPr>
        </p:nvSpPr>
        <p:spPr>
          <a:xfrm>
            <a:off x="104985" y="-197601"/>
            <a:ext cx="8319347" cy="861774"/>
          </a:xfrm>
        </p:spPr>
        <p:txBody>
          <a:bodyPr lIns="0" tIns="0" rIns="0" bIns="0"/>
          <a:lstStyle>
            <a:lvl1pPr>
              <a:defRPr sz="5600" b="0" i="0">
                <a:solidFill>
                  <a:schemeClr val="tx1"/>
                </a:solidFill>
                <a:latin typeface="Arial Narrow"/>
                <a:cs typeface="Arial Narrow"/>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844445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57173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theme" Target="../theme/theme3.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30/09/2026</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30/09/2026</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4985" y="-197601"/>
            <a:ext cx="8319347" cy="646331"/>
          </a:xfrm>
          <a:prstGeom prst="rect">
            <a:avLst/>
          </a:prstGeom>
        </p:spPr>
        <p:txBody>
          <a:bodyPr wrap="square" lIns="0" tIns="0" rIns="0" bIns="0">
            <a:spAutoFit/>
          </a:bodyPr>
          <a:lstStyle>
            <a:lvl1pPr>
              <a:defRPr sz="4200" b="0" i="0">
                <a:solidFill>
                  <a:schemeClr val="tx1"/>
                </a:solidFill>
                <a:latin typeface="Arial Narrow"/>
                <a:cs typeface="Arial Narrow"/>
              </a:defRPr>
            </a:lvl1pPr>
          </a:lstStyle>
          <a:p>
            <a:endParaRPr/>
          </a:p>
        </p:txBody>
      </p:sp>
      <p:sp>
        <p:nvSpPr>
          <p:cNvPr id="3" name="Holder 3"/>
          <p:cNvSpPr>
            <a:spLocks noGrp="1"/>
          </p:cNvSpPr>
          <p:nvPr>
            <p:ph type="body" idx="1"/>
          </p:nvPr>
        </p:nvSpPr>
        <p:spPr>
          <a:xfrm>
            <a:off x="511810" y="1192530"/>
            <a:ext cx="10137140" cy="276999"/>
          </a:xfrm>
          <a:prstGeom prst="rect">
            <a:avLst/>
          </a:prstGeom>
        </p:spPr>
        <p:txBody>
          <a:bodyPr wrap="square" lIns="0" tIns="0" rIns="0" bIns="0">
            <a:spAutoFit/>
          </a:bodyPr>
          <a:lstStyle>
            <a:lvl1pPr>
              <a:defRPr sz="1800" b="0" i="0">
                <a:solidFill>
                  <a:schemeClr val="tx1"/>
                </a:solidFill>
                <a:latin typeface="Arial Narrow"/>
                <a:cs typeface="Arial Narrow"/>
              </a:defRPr>
            </a:lvl1pPr>
          </a:lstStyle>
          <a:p>
            <a:endParaRPr/>
          </a:p>
        </p:txBody>
      </p:sp>
      <p:sp>
        <p:nvSpPr>
          <p:cNvPr id="4" name="Holder 4"/>
          <p:cNvSpPr>
            <a:spLocks noGrp="1"/>
          </p:cNvSpPr>
          <p:nvPr>
            <p:ph type="ftr" sz="quarter" idx="5"/>
          </p:nvPr>
        </p:nvSpPr>
        <p:spPr>
          <a:xfrm>
            <a:off x="4145280" y="6377941"/>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1"/>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6" name="Holder 6"/>
          <p:cNvSpPr>
            <a:spLocks noGrp="1"/>
          </p:cNvSpPr>
          <p:nvPr>
            <p:ph type="sldNum" sz="quarter" idx="7"/>
          </p:nvPr>
        </p:nvSpPr>
        <p:spPr>
          <a:xfrm>
            <a:off x="8778240" y="6377941"/>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222931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bodyStyle>
    <p:other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https://blog.visual-paradigm.com/what-are-the-six-types-of-relationships-in-uml-class-diagrams/" TargetMode="Externa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26.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908454" y="1360481"/>
            <a:ext cx="4605340" cy="2387600"/>
          </a:xfrm>
        </p:spPr>
        <p:txBody>
          <a:bodyPr>
            <a:normAutofit/>
          </a:bodyPr>
          <a:lstStyle/>
          <a:p>
            <a:pPr algn="l"/>
            <a:r>
              <a:rPr lang="en-US" sz="3900" dirty="0">
                <a:solidFill>
                  <a:schemeClr val="bg1"/>
                </a:solidFill>
                <a:latin typeface="Calibir"/>
              </a:rPr>
              <a:t>32555 – Fundamentals of Software Development</a:t>
            </a:r>
            <a:endParaRPr lang="en-AU" sz="3900" dirty="0">
              <a:solidFill>
                <a:schemeClr val="bg1"/>
              </a:solidFill>
              <a:latin typeface="Calibir"/>
            </a:endParaRPr>
          </a:p>
        </p:txBody>
      </p:sp>
      <p:pic>
        <p:nvPicPr>
          <p:cNvPr id="3" name="Picture 2">
            <a:extLst>
              <a:ext uri="{FF2B5EF4-FFF2-40B4-BE49-F238E27FC236}">
                <a16:creationId xmlns:a16="http://schemas.microsoft.com/office/drawing/2014/main" id="{A98A4EEB-3C3C-78E4-5144-CBDE3AFA8CA8}"/>
              </a:ext>
            </a:extLst>
          </p:cNvPr>
          <p:cNvPicPr>
            <a:picLocks noChangeAspect="1"/>
          </p:cNvPicPr>
          <p:nvPr/>
        </p:nvPicPr>
        <p:blipFill>
          <a:blip r:embed="rId2">
            <a:alphaModFix/>
            <a:extLst>
              <a:ext uri="{28A0092B-C50C-407E-A947-70E740481C1C}">
                <a14:useLocalDpi xmlns:a14="http://schemas.microsoft.com/office/drawing/2010/main" val="0"/>
              </a:ext>
            </a:extLst>
          </a:blip>
          <a:srcRect l="3847" r="98" b="1"/>
          <a:stretch>
            <a:fillRect/>
          </a:stretch>
        </p:blipFill>
        <p:spPr>
          <a:xfrm>
            <a:off x="5800734" y="1057275"/>
            <a:ext cx="5917401" cy="4743450"/>
          </a:xfrm>
          <a:prstGeom prst="rect">
            <a:avLst/>
          </a:prstGeom>
        </p:spPr>
      </p:pic>
      <p:sp>
        <p:nvSpPr>
          <p:cNvPr id="22" name="Rectangle 21">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977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485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7A11-47AE-C133-8206-569A0BB07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E1848-8E74-13DF-C09C-3CC64A483572}"/>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sp>
        <p:nvSpPr>
          <p:cNvPr id="5" name="Rectangle 1">
            <a:extLst>
              <a:ext uri="{FF2B5EF4-FFF2-40B4-BE49-F238E27FC236}">
                <a16:creationId xmlns:a16="http://schemas.microsoft.com/office/drawing/2014/main" id="{F5185FC6-5CEA-DC1B-A1DF-D2D8A89484E9}"/>
              </a:ext>
            </a:extLst>
          </p:cNvPr>
          <p:cNvSpPr>
            <a:spLocks noChangeArrowheads="1"/>
          </p:cNvSpPr>
          <p:nvPr/>
        </p:nvSpPr>
        <p:spPr bwMode="auto">
          <a:xfrm>
            <a:off x="0" y="837669"/>
            <a:ext cx="12192000" cy="5963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alibir"/>
                <a:ea typeface="+mn-ea"/>
                <a:cs typeface="+mn-cs"/>
              </a:rPr>
              <a:t>Your Teaching Team:</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ir"/>
                <a:ea typeface="+mn-ea"/>
                <a:cs typeface="+mn-cs"/>
              </a:rPr>
              <a:t>Dr. Yining Hu | Subject Coordinator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Yining is a Lecturer in Software Engineering. She works with many SMEs to develop software and AI solutions through student and research projects at UTS.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yining.hu@uts.edu.au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Xiaojie (Zoe) Lin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Zoe is a full-stack software engineer with an interest in data analysis, specializing in JAVA, R, Python, JavaScript, PHP, Bash, and MATLAB; familiar with AWS.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Xiaojie.Lin@uts.edu.au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Farshid Keivanian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Dr. Farshid Keivanian is an experienced university lecturer and researcher with a PhD in Information Technology. He has over 15 years of teaching experience across Australian institutions, </a:t>
            </a:r>
            <a:r>
              <a:rPr kumimoji="0" lang="en-US" sz="1600" b="0" i="0" u="none" strike="noStrike" kern="1200" cap="none" spc="0" normalizeH="0" baseline="0" noProof="0" dirty="0" err="1">
                <a:ln>
                  <a:noFill/>
                </a:ln>
                <a:solidFill>
                  <a:prstClr val="black"/>
                </a:solidFill>
                <a:effectLst/>
                <a:uLnTx/>
                <a:uFillTx/>
                <a:latin typeface="Calibir"/>
                <a:ea typeface="+mn-ea"/>
                <a:cs typeface="+mn-cs"/>
              </a:rPr>
              <a:t>specialising</a:t>
            </a:r>
            <a:r>
              <a:rPr kumimoji="0" lang="en-US" sz="1600" b="0" i="0" u="none" strike="noStrike" kern="1200" cap="none" spc="0" normalizeH="0" baseline="0" noProof="0" dirty="0">
                <a:ln>
                  <a:noFill/>
                </a:ln>
                <a:solidFill>
                  <a:prstClr val="black"/>
                </a:solidFill>
                <a:effectLst/>
                <a:uLnTx/>
                <a:uFillTx/>
                <a:latin typeface="Calibir"/>
                <a:ea typeface="+mn-ea"/>
                <a:cs typeface="+mn-cs"/>
              </a:rPr>
              <a:t> in software engineering, data science, AI, and cybersecurity.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Farshid.Keivanian@uts.edu.au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Yong Pov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Yong is a full-stack software engineer with experience in React, JavaScript, TypeScript, Java, Python, SQL, and AI-assisted learning platforms.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Yong.Pov@uts.edu.au</a:t>
            </a:r>
          </a:p>
        </p:txBody>
      </p:sp>
    </p:spTree>
    <p:extLst>
      <p:ext uri="{BB962C8B-B14F-4D97-AF65-F5344CB8AC3E}">
        <p14:creationId xmlns:p14="http://schemas.microsoft.com/office/powerpoint/2010/main" val="794337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6DC6-424A-EAE3-87C1-E5765B094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E5FDA-B4C2-6DD5-17BE-680D628581FF}"/>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graphicFrame>
        <p:nvGraphicFramePr>
          <p:cNvPr id="3" name="Table 2">
            <a:extLst>
              <a:ext uri="{FF2B5EF4-FFF2-40B4-BE49-F238E27FC236}">
                <a16:creationId xmlns:a16="http://schemas.microsoft.com/office/drawing/2014/main" id="{EE98AB95-B27E-184F-3760-418B8D55B79F}"/>
              </a:ext>
            </a:extLst>
          </p:cNvPr>
          <p:cNvGraphicFramePr>
            <a:graphicFrameLocks noGrp="1"/>
          </p:cNvGraphicFramePr>
          <p:nvPr/>
        </p:nvGraphicFramePr>
        <p:xfrm>
          <a:off x="722671" y="1816610"/>
          <a:ext cx="9792928" cy="3681218"/>
        </p:xfrm>
        <a:graphic>
          <a:graphicData uri="http://schemas.openxmlformats.org/drawingml/2006/table">
            <a:tbl>
              <a:tblPr>
                <a:tableStyleId>{BC89EF96-8CEA-46FF-86C4-4CE0E7609802}</a:tableStyleId>
              </a:tblPr>
              <a:tblGrid>
                <a:gridCol w="1613329">
                  <a:extLst>
                    <a:ext uri="{9D8B030D-6E8A-4147-A177-3AD203B41FA5}">
                      <a16:colId xmlns:a16="http://schemas.microsoft.com/office/drawing/2014/main" val="79494275"/>
                    </a:ext>
                  </a:extLst>
                </a:gridCol>
                <a:gridCol w="2230244">
                  <a:extLst>
                    <a:ext uri="{9D8B030D-6E8A-4147-A177-3AD203B41FA5}">
                      <a16:colId xmlns:a16="http://schemas.microsoft.com/office/drawing/2014/main" val="2506284612"/>
                    </a:ext>
                  </a:extLst>
                </a:gridCol>
                <a:gridCol w="2864347">
                  <a:extLst>
                    <a:ext uri="{9D8B030D-6E8A-4147-A177-3AD203B41FA5}">
                      <a16:colId xmlns:a16="http://schemas.microsoft.com/office/drawing/2014/main" val="2357989121"/>
                    </a:ext>
                  </a:extLst>
                </a:gridCol>
                <a:gridCol w="3085008">
                  <a:extLst>
                    <a:ext uri="{9D8B030D-6E8A-4147-A177-3AD203B41FA5}">
                      <a16:colId xmlns:a16="http://schemas.microsoft.com/office/drawing/2014/main" val="192731506"/>
                    </a:ext>
                  </a:extLst>
                </a:gridCol>
              </a:tblGrid>
              <a:tr h="37063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Cmp1 #</a:t>
                      </a:r>
                      <a:endParaRPr lang="en-US" sz="2800" b="0" i="0" dirty="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Location</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Time</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Tutor</a:t>
                      </a:r>
                      <a:endParaRPr lang="en-US" sz="2800" b="0" i="0">
                        <a:solidFill>
                          <a:srgbClr val="252B2B"/>
                        </a:solidFill>
                        <a:effectLst/>
                        <a:latin typeface="Calibir"/>
                      </a:endParaRPr>
                    </a:p>
                  </a:txBody>
                  <a:tcPr anchor="ctr"/>
                </a:tc>
                <a:extLst>
                  <a:ext uri="{0D108BD9-81ED-4DB2-BD59-A6C34878D82A}">
                    <a16:rowId xmlns:a16="http://schemas.microsoft.com/office/drawing/2014/main" val="4280461216"/>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01</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16:00-18:00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Xiaojie (Zoe) Lin</a:t>
                      </a:r>
                      <a:endParaRPr lang="en-US" sz="2800" b="0" i="0">
                        <a:solidFill>
                          <a:srgbClr val="252B2B"/>
                        </a:solidFill>
                        <a:effectLst/>
                        <a:latin typeface="Calibir"/>
                      </a:endParaRPr>
                    </a:p>
                  </a:txBody>
                  <a:tcPr marL="14630" marR="14630" marT="14630" marB="14630" anchor="ctr"/>
                </a:tc>
                <a:extLst>
                  <a:ext uri="{0D108BD9-81ED-4DB2-BD59-A6C34878D82A}">
                    <a16:rowId xmlns:a16="http://schemas.microsoft.com/office/drawing/2014/main" val="3707997205"/>
                  </a:ext>
                </a:extLst>
              </a:tr>
              <a:tr h="38526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07</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10:00-12:00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2266278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08</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12:00-14:00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Yong Pov</a:t>
                      </a:r>
                      <a:endParaRPr lang="en-US" sz="2800" b="0" i="0" dirty="0">
                        <a:solidFill>
                          <a:srgbClr val="252B2B"/>
                        </a:solidFill>
                        <a:effectLst/>
                        <a:latin typeface="Calibir"/>
                      </a:endParaRPr>
                    </a:p>
                  </a:txBody>
                  <a:tcPr marL="14630" marR="14630" marT="14630" marB="14630" anchor="ctr"/>
                </a:tc>
                <a:extLst>
                  <a:ext uri="{0D108BD9-81ED-4DB2-BD59-A6C34878D82A}">
                    <a16:rowId xmlns:a16="http://schemas.microsoft.com/office/drawing/2014/main" val="13359214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09</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CB11.B1.103</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16:00-18:00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4247187035"/>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10</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12:00-14:00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1381140912"/>
                  </a:ext>
                </a:extLst>
              </a:tr>
            </a:tbl>
          </a:graphicData>
        </a:graphic>
      </p:graphicFrame>
    </p:spTree>
    <p:extLst>
      <p:ext uri="{BB962C8B-B14F-4D97-AF65-F5344CB8AC3E}">
        <p14:creationId xmlns:p14="http://schemas.microsoft.com/office/powerpoint/2010/main" val="1584682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9 Outline</a:t>
            </a:r>
            <a:endParaRPr lang="en-AU" sz="4000" b="1" dirty="0">
              <a:latin typeface="Calibir"/>
            </a:endParaRPr>
          </a:p>
        </p:txBody>
      </p:sp>
      <p:sp>
        <p:nvSpPr>
          <p:cNvPr id="4" name="TextBox 3">
            <a:extLst>
              <a:ext uri="{FF2B5EF4-FFF2-40B4-BE49-F238E27FC236}">
                <a16:creationId xmlns:a16="http://schemas.microsoft.com/office/drawing/2014/main" id="{2F0128F9-B18A-0AC2-A696-92165ABAB1BE}"/>
              </a:ext>
            </a:extLst>
          </p:cNvPr>
          <p:cNvSpPr txBox="1"/>
          <p:nvPr/>
        </p:nvSpPr>
        <p:spPr>
          <a:xfrm>
            <a:off x="0" y="856356"/>
            <a:ext cx="12192000" cy="5847755"/>
          </a:xfrm>
          <a:prstGeom prst="rect">
            <a:avLst/>
          </a:prstGeom>
          <a:noFill/>
        </p:spPr>
        <p:txBody>
          <a:bodyPr wrap="square">
            <a:spAutoFit/>
          </a:bodyPr>
          <a:lstStyle/>
          <a:p>
            <a:pPr marL="342900" indent="-342900">
              <a:buFont typeface="+mj-lt"/>
              <a:buAutoNum type="arabicPeriod"/>
            </a:pPr>
            <a:r>
              <a:rPr lang="en-US" sz="2200" dirty="0">
                <a:latin typeface="Calibir"/>
              </a:rPr>
              <a:t>Lab 9</a:t>
            </a:r>
          </a:p>
          <a:p>
            <a:pPr marL="342900" indent="-342900">
              <a:buFont typeface="+mj-lt"/>
              <a:buAutoNum type="arabicPeriod"/>
            </a:pPr>
            <a:r>
              <a:rPr lang="en-US" sz="2200" dirty="0">
                <a:latin typeface="Calibir"/>
              </a:rPr>
              <a:t>Exceptions</a:t>
            </a:r>
          </a:p>
          <a:p>
            <a:pPr marL="800100" lvl="1" indent="-342900" eaLnBrk="0" fontAlgn="base" hangingPunct="0">
              <a:spcBef>
                <a:spcPct val="0"/>
              </a:spcBef>
              <a:spcAft>
                <a:spcPct val="0"/>
              </a:spcAft>
              <a:buFont typeface="Arial" panose="020B0604020202020204" pitchFamily="34" charset="0"/>
              <a:buChar char="•"/>
            </a:pPr>
            <a:r>
              <a:rPr lang="en-US" altLang="en-US" sz="2200" dirty="0">
                <a:latin typeface="Calibir"/>
              </a:rPr>
              <a:t>Example 1 – Python Exception (try/except/finally).</a:t>
            </a:r>
          </a:p>
          <a:p>
            <a:pPr marL="800100" lvl="1" indent="-342900" eaLnBrk="0" fontAlgn="base" hangingPunct="0">
              <a:spcBef>
                <a:spcPct val="0"/>
              </a:spcBef>
              <a:spcAft>
                <a:spcPct val="0"/>
              </a:spcAft>
              <a:buFont typeface="Arial" panose="020B0604020202020204" pitchFamily="34" charset="0"/>
              <a:buChar char="•"/>
            </a:pPr>
            <a:r>
              <a:rPr lang="en-US" altLang="en-US" sz="2200" dirty="0">
                <a:latin typeface="Calibir"/>
              </a:rPr>
              <a:t>Activity 1 (Python – Division Safety)</a:t>
            </a:r>
          </a:p>
          <a:p>
            <a:pPr marL="800100" lvl="1" indent="-342900" eaLnBrk="0" fontAlgn="base" hangingPunct="0">
              <a:spcBef>
                <a:spcPct val="0"/>
              </a:spcBef>
              <a:spcAft>
                <a:spcPct val="0"/>
              </a:spcAft>
              <a:buFont typeface="Arial" panose="020B0604020202020204" pitchFamily="34" charset="0"/>
              <a:buChar char="•"/>
            </a:pPr>
            <a:r>
              <a:rPr lang="en-US" altLang="en-US" sz="2200" dirty="0">
                <a:latin typeface="Calibir"/>
              </a:rPr>
              <a:t>Activity 2 (Python – File Error)</a:t>
            </a:r>
          </a:p>
          <a:p>
            <a:pPr marL="342900" indent="-342900">
              <a:buFont typeface="+mj-lt"/>
              <a:buAutoNum type="arabicPeriod"/>
            </a:pPr>
            <a:r>
              <a:rPr lang="en-US" sz="2200" dirty="0">
                <a:latin typeface="Calibir"/>
              </a:rPr>
              <a:t>Errors vs Exceptions</a:t>
            </a:r>
          </a:p>
          <a:p>
            <a:pPr marL="800100" lvl="1" indent="-342900">
              <a:buFont typeface="Arial" panose="020B0604020202020204" pitchFamily="34" charset="0"/>
              <a:buChar char="•"/>
            </a:pPr>
            <a:r>
              <a:rPr lang="en-US" sz="2200" dirty="0">
                <a:latin typeface="Calibir"/>
              </a:rPr>
              <a:t>Java Example 2 – Exception Handling (divide by zero, number format)</a:t>
            </a:r>
          </a:p>
          <a:p>
            <a:pPr marL="800100" lvl="1" indent="-342900">
              <a:buFont typeface="Arial" panose="020B0604020202020204" pitchFamily="34" charset="0"/>
              <a:buChar char="•"/>
            </a:pPr>
            <a:r>
              <a:rPr lang="en-US" sz="2200" dirty="0">
                <a:latin typeface="Calibir"/>
              </a:rPr>
              <a:t>Activity 3 (Java – Read File)</a:t>
            </a:r>
          </a:p>
          <a:p>
            <a:pPr marL="800100" lvl="1" indent="-342900">
              <a:buFont typeface="Arial" panose="020B0604020202020204" pitchFamily="34" charset="0"/>
              <a:buChar char="•"/>
            </a:pPr>
            <a:r>
              <a:rPr lang="en-US" sz="2200" dirty="0">
                <a:latin typeface="Calibir"/>
              </a:rPr>
              <a:t>Activity 4 (Java – Custom Exception: InvalidMarkException)</a:t>
            </a:r>
          </a:p>
          <a:p>
            <a:pPr marL="342900" indent="-342900">
              <a:buFont typeface="+mj-lt"/>
              <a:buAutoNum type="arabicPeriod"/>
            </a:pPr>
            <a:r>
              <a:rPr lang="en-US" sz="2200" dirty="0">
                <a:latin typeface="Calibir"/>
              </a:rPr>
              <a:t>File Handling Basics (Python)</a:t>
            </a:r>
          </a:p>
          <a:p>
            <a:pPr marL="342900" indent="-342900">
              <a:buFont typeface="+mj-lt"/>
              <a:buAutoNum type="arabicPeriod"/>
            </a:pPr>
            <a:r>
              <a:rPr lang="en-US" sz="2200" dirty="0">
                <a:latin typeface="Calibir"/>
              </a:rPr>
              <a:t>File Handling Basics (Java)</a:t>
            </a:r>
          </a:p>
          <a:p>
            <a:pPr marL="342900" indent="-342900">
              <a:buFont typeface="+mj-lt"/>
              <a:buAutoNum type="arabicPeriod"/>
            </a:pPr>
            <a:r>
              <a:rPr lang="en-US" sz="2200" dirty="0">
                <a:latin typeface="Calibir"/>
              </a:rPr>
              <a:t>Files &amp; Directories</a:t>
            </a:r>
          </a:p>
          <a:p>
            <a:pPr marL="342900" indent="-342900">
              <a:buFont typeface="+mj-lt"/>
              <a:buAutoNum type="arabicPeriod"/>
            </a:pPr>
            <a:r>
              <a:rPr lang="en-US" sz="2200" dirty="0">
                <a:latin typeface="Calibir"/>
              </a:rPr>
              <a:t>Unit Testing</a:t>
            </a:r>
          </a:p>
          <a:p>
            <a:pPr marL="342900" indent="-342900">
              <a:buFont typeface="+mj-lt"/>
              <a:buAutoNum type="arabicPeriod"/>
            </a:pPr>
            <a:r>
              <a:rPr lang="en-US" sz="2200" dirty="0">
                <a:latin typeface="Calibir"/>
              </a:rPr>
              <a:t>Why Exceptions? Where Do We See Testing?</a:t>
            </a:r>
          </a:p>
          <a:p>
            <a:pPr marL="342900" indent="-342900">
              <a:buFont typeface="+mj-lt"/>
              <a:buAutoNum type="arabicPeriod"/>
            </a:pPr>
            <a:r>
              <a:rPr lang="en-US" sz="2200" dirty="0">
                <a:latin typeface="Calibir"/>
              </a:rPr>
              <a:t>Role-Playing Debate Questions</a:t>
            </a:r>
          </a:p>
          <a:p>
            <a:pPr marL="342900" indent="-342900">
              <a:buFont typeface="+mj-lt"/>
              <a:buAutoNum type="arabicPeriod"/>
            </a:pPr>
            <a:r>
              <a:rPr lang="en-US" sz="2200" dirty="0">
                <a:latin typeface="Calibir"/>
              </a:rPr>
              <a:t>Quiz 2 Preparation &amp; Guideline</a:t>
            </a:r>
          </a:p>
          <a:p>
            <a:pPr marL="342900" indent="-342900">
              <a:buFont typeface="+mj-lt"/>
              <a:buAutoNum type="arabicPeriod"/>
            </a:pPr>
            <a:r>
              <a:rPr lang="en-US" sz="2200" dirty="0">
                <a:latin typeface="Calibir"/>
              </a:rPr>
              <a:t>MQs designed in Week 9 (Files, Exceptions, Testing)</a:t>
            </a:r>
          </a:p>
        </p:txBody>
      </p:sp>
    </p:spTree>
    <p:extLst>
      <p:ext uri="{BB962C8B-B14F-4D97-AF65-F5344CB8AC3E}">
        <p14:creationId xmlns:p14="http://schemas.microsoft.com/office/powerpoint/2010/main" val="3000910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6541458" y="2844913"/>
            <a:ext cx="3173081" cy="1741502"/>
          </a:xfrm>
          <a:prstGeom prst="rect">
            <a:avLst/>
          </a:prstGeom>
        </p:spPr>
        <p:txBody>
          <a:bodyPr vert="horz" wrap="square" lIns="0" tIns="17780" rIns="0" bIns="0" rtlCol="0">
            <a:spAutoFit/>
          </a:bodyPr>
          <a:lstStyle/>
          <a:p>
            <a:pPr marL="27939" marR="6773" indent="190495">
              <a:spcBef>
                <a:spcPts val="140"/>
              </a:spcBef>
            </a:pPr>
            <a:r>
              <a:rPr spc="-347" dirty="0"/>
              <a:t>Files</a:t>
            </a:r>
            <a:r>
              <a:rPr spc="-133" dirty="0"/>
              <a:t> </a:t>
            </a:r>
            <a:r>
              <a:rPr spc="-527" dirty="0"/>
              <a:t>and </a:t>
            </a:r>
            <a:r>
              <a:rPr spc="-440" dirty="0"/>
              <a:t>Exceptions</a:t>
            </a:r>
          </a:p>
        </p:txBody>
      </p:sp>
      <p:sp>
        <p:nvSpPr>
          <p:cNvPr id="3" name="object 3"/>
          <p:cNvSpPr txBox="1"/>
          <p:nvPr/>
        </p:nvSpPr>
        <p:spPr>
          <a:xfrm>
            <a:off x="5685704" y="4268555"/>
            <a:ext cx="838200" cy="586550"/>
          </a:xfrm>
          <a:prstGeom prst="rect">
            <a:avLst/>
          </a:prstGeom>
        </p:spPr>
        <p:txBody>
          <a:bodyPr vert="horz" wrap="square" lIns="0" tIns="22013" rIns="0" bIns="0" rtlCol="0">
            <a:spAutoFit/>
          </a:bodyPr>
          <a:lstStyle/>
          <a:p>
            <a:pPr marL="16933" defTabSz="1219170">
              <a:spcBef>
                <a:spcPts val="173"/>
              </a:spcBef>
            </a:pPr>
            <a:r>
              <a:rPr sz="3667" kern="0" spc="-347" dirty="0">
                <a:solidFill>
                  <a:sysClr val="windowText" lastClr="000000"/>
                </a:solidFill>
                <a:latin typeface="Arial Narrow"/>
                <a:cs typeface="Arial Narrow"/>
              </a:rPr>
              <a:t>Lab</a:t>
            </a:r>
            <a:r>
              <a:rPr sz="3667" kern="0" spc="-20" dirty="0">
                <a:solidFill>
                  <a:sysClr val="windowText" lastClr="000000"/>
                </a:solidFill>
                <a:latin typeface="Arial Narrow"/>
                <a:cs typeface="Arial Narrow"/>
              </a:rPr>
              <a:t> </a:t>
            </a:r>
            <a:r>
              <a:rPr sz="3667" kern="0" spc="-67" dirty="0">
                <a:solidFill>
                  <a:sysClr val="windowText" lastClr="000000"/>
                </a:solidFill>
                <a:latin typeface="Arial Narrow"/>
                <a:cs typeface="Arial Narrow"/>
              </a:rPr>
              <a:t>9</a:t>
            </a:r>
            <a:endParaRPr sz="3667" kern="0">
              <a:solidFill>
                <a:sysClr val="windowText" lastClr="000000"/>
              </a:solidFill>
              <a:latin typeface="Arial Narrow"/>
              <a:cs typeface="Arial Narrow"/>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9981" y="-263468"/>
            <a:ext cx="11092463" cy="1197668"/>
          </a:xfrm>
          <a:prstGeom prst="rect">
            <a:avLst/>
          </a:prstGeom>
        </p:spPr>
        <p:txBody>
          <a:bodyPr vert="horz" wrap="square" lIns="0" tIns="332645" rIns="0" bIns="0" rtlCol="0">
            <a:spAutoFit/>
          </a:bodyPr>
          <a:lstStyle/>
          <a:p>
            <a:pPr marL="16933">
              <a:spcBef>
                <a:spcPts val="140"/>
              </a:spcBef>
            </a:pPr>
            <a:r>
              <a:rPr spc="-453" dirty="0"/>
              <a:t>Contents</a:t>
            </a:r>
          </a:p>
        </p:txBody>
      </p:sp>
      <p:sp>
        <p:nvSpPr>
          <p:cNvPr id="3" name="object 3"/>
          <p:cNvSpPr txBox="1"/>
          <p:nvPr/>
        </p:nvSpPr>
        <p:spPr>
          <a:xfrm>
            <a:off x="668867" y="1548552"/>
            <a:ext cx="9725864" cy="510396"/>
          </a:xfrm>
          <a:prstGeom prst="rect">
            <a:avLst/>
          </a:prstGeom>
        </p:spPr>
        <p:txBody>
          <a:bodyPr vert="horz" wrap="square" lIns="0" tIns="17780" rIns="0" bIns="0" rtlCol="0">
            <a:spAutoFit/>
          </a:bodyPr>
          <a:lstStyle/>
          <a:p>
            <a:pPr marL="16933" defTabSz="1219170">
              <a:spcBef>
                <a:spcPts val="140"/>
              </a:spcBef>
              <a:tabLst>
                <a:tab pos="4897844" algn="l"/>
              </a:tabLst>
            </a:pPr>
            <a:r>
              <a:rPr sz="3200" kern="0" spc="-320" dirty="0">
                <a:solidFill>
                  <a:sysClr val="windowText" lastClr="000000"/>
                </a:solidFill>
                <a:latin typeface="+mj-lt"/>
                <a:cs typeface="Arial Narrow"/>
              </a:rPr>
              <a:t>Lab</a:t>
            </a:r>
            <a:r>
              <a:rPr sz="3200" kern="0" spc="-93" dirty="0">
                <a:solidFill>
                  <a:sysClr val="windowText" lastClr="000000"/>
                </a:solidFill>
                <a:latin typeface="+mj-lt"/>
                <a:cs typeface="Arial Narrow"/>
              </a:rPr>
              <a:t> </a:t>
            </a:r>
            <a:r>
              <a:rPr sz="3200" kern="0" spc="-173" dirty="0">
                <a:solidFill>
                  <a:sysClr val="windowText" lastClr="000000"/>
                </a:solidFill>
                <a:latin typeface="+mj-lt"/>
                <a:cs typeface="Arial Narrow"/>
              </a:rPr>
              <a:t>9</a:t>
            </a:r>
            <a:r>
              <a:rPr sz="3200" kern="0" spc="-120" dirty="0">
                <a:solidFill>
                  <a:sysClr val="windowText" lastClr="000000"/>
                </a:solidFill>
                <a:latin typeface="+mj-lt"/>
                <a:cs typeface="Arial Narrow"/>
              </a:rPr>
              <a:t> </a:t>
            </a:r>
            <a:r>
              <a:rPr sz="3200" kern="0" spc="-13" dirty="0">
                <a:solidFill>
                  <a:sysClr val="windowText" lastClr="000000"/>
                </a:solidFill>
                <a:latin typeface="+mj-lt"/>
                <a:cs typeface="Arial Narrow"/>
              </a:rPr>
              <a:t>exercises</a:t>
            </a:r>
            <a:r>
              <a:rPr sz="3200" kern="0" dirty="0">
                <a:solidFill>
                  <a:sysClr val="windowText" lastClr="000000"/>
                </a:solidFill>
                <a:latin typeface="+mj-lt"/>
                <a:cs typeface="Arial Narrow"/>
              </a:rPr>
              <a:t>	</a:t>
            </a:r>
            <a:r>
              <a:rPr sz="3200" kern="0" spc="-220" dirty="0">
                <a:solidFill>
                  <a:srgbClr val="E36C09"/>
                </a:solidFill>
                <a:latin typeface="+mj-lt"/>
                <a:cs typeface="Arial Narrow"/>
              </a:rPr>
              <a:t>lab</a:t>
            </a:r>
            <a:r>
              <a:rPr sz="3200" kern="0" spc="-93" dirty="0">
                <a:solidFill>
                  <a:srgbClr val="E36C09"/>
                </a:solidFill>
                <a:latin typeface="+mj-lt"/>
                <a:cs typeface="Arial Narrow"/>
              </a:rPr>
              <a:t> </a:t>
            </a:r>
            <a:r>
              <a:rPr sz="3200" kern="0" spc="-160" dirty="0">
                <a:solidFill>
                  <a:srgbClr val="E36C09"/>
                </a:solidFill>
                <a:latin typeface="+mj-lt"/>
                <a:cs typeface="Arial Narrow"/>
              </a:rPr>
              <a:t>time:</a:t>
            </a:r>
            <a:r>
              <a:rPr sz="3200" kern="0" spc="-80" dirty="0">
                <a:solidFill>
                  <a:srgbClr val="E36C09"/>
                </a:solidFill>
                <a:latin typeface="+mj-lt"/>
                <a:cs typeface="Arial Narrow"/>
              </a:rPr>
              <a:t> </a:t>
            </a:r>
            <a:r>
              <a:rPr sz="3200" kern="0" spc="-173" dirty="0">
                <a:solidFill>
                  <a:srgbClr val="E36C09"/>
                </a:solidFill>
                <a:latin typeface="+mj-lt"/>
                <a:cs typeface="Arial Narrow"/>
              </a:rPr>
              <a:t>120</a:t>
            </a:r>
            <a:r>
              <a:rPr sz="3200" kern="0" spc="-13" dirty="0">
                <a:solidFill>
                  <a:srgbClr val="E36C09"/>
                </a:solidFill>
                <a:latin typeface="+mj-lt"/>
                <a:cs typeface="Arial Narrow"/>
              </a:rPr>
              <a:t> </a:t>
            </a:r>
            <a:r>
              <a:rPr sz="3200" kern="0" spc="-167" dirty="0">
                <a:solidFill>
                  <a:srgbClr val="E36C09"/>
                </a:solidFill>
                <a:latin typeface="+mj-lt"/>
                <a:cs typeface="Arial Narrow"/>
              </a:rPr>
              <a:t>minutes</a:t>
            </a:r>
            <a:endParaRPr sz="3200" kern="0" dirty="0">
              <a:solidFill>
                <a:sysClr val="windowText" lastClr="000000"/>
              </a:solidFill>
              <a:latin typeface="+mj-lt"/>
              <a:cs typeface="Arial Narrow"/>
            </a:endParaRPr>
          </a:p>
        </p:txBody>
      </p:sp>
      <p:sp>
        <p:nvSpPr>
          <p:cNvPr id="4" name="object 4"/>
          <p:cNvSpPr txBox="1"/>
          <p:nvPr/>
        </p:nvSpPr>
        <p:spPr>
          <a:xfrm>
            <a:off x="1625600" y="2514600"/>
            <a:ext cx="8940800" cy="3724952"/>
          </a:xfrm>
          <a:prstGeom prst="rect">
            <a:avLst/>
          </a:prstGeom>
          <a:ln w="19050">
            <a:solidFill>
              <a:srgbClr val="E36C09"/>
            </a:solidFill>
          </a:ln>
        </p:spPr>
        <p:txBody>
          <a:bodyPr vert="horz" wrap="square" lIns="0" tIns="308187" rIns="0" bIns="0" rtlCol="0">
            <a:spAutoFit/>
          </a:bodyPr>
          <a:lstStyle/>
          <a:p>
            <a:pPr marL="122764" defTabSz="1219170">
              <a:spcBef>
                <a:spcPts val="2427"/>
              </a:spcBef>
            </a:pPr>
            <a:r>
              <a:rPr sz="2400" kern="0" spc="-253" dirty="0">
                <a:solidFill>
                  <a:sysClr val="windowText" lastClr="000000"/>
                </a:solidFill>
                <a:latin typeface="+mj-lt"/>
                <a:cs typeface="Arial Narrow"/>
              </a:rPr>
              <a:t>Lab</a:t>
            </a:r>
            <a:r>
              <a:rPr sz="2400" kern="0" spc="-127" dirty="0">
                <a:solidFill>
                  <a:sysClr val="windowText" lastClr="000000"/>
                </a:solidFill>
                <a:latin typeface="+mj-lt"/>
                <a:cs typeface="Arial Narrow"/>
              </a:rPr>
              <a:t> </a:t>
            </a:r>
            <a:r>
              <a:rPr sz="2400" kern="0" spc="-133" dirty="0">
                <a:solidFill>
                  <a:sysClr val="windowText" lastClr="000000"/>
                </a:solidFill>
                <a:latin typeface="+mj-lt"/>
                <a:cs typeface="Arial Narrow"/>
              </a:rPr>
              <a:t>9</a:t>
            </a:r>
            <a:r>
              <a:rPr sz="2400" kern="0" spc="-13" dirty="0">
                <a:solidFill>
                  <a:sysClr val="windowText" lastClr="000000"/>
                </a:solidFill>
                <a:latin typeface="+mj-lt"/>
                <a:cs typeface="Arial Narrow"/>
              </a:rPr>
              <a:t> </a:t>
            </a:r>
            <a:r>
              <a:rPr sz="2400" kern="0" spc="-240" dirty="0">
                <a:solidFill>
                  <a:sysClr val="windowText" lastClr="000000"/>
                </a:solidFill>
                <a:latin typeface="+mj-lt"/>
                <a:cs typeface="Arial Narrow"/>
              </a:rPr>
              <a:t>has</a:t>
            </a:r>
            <a:r>
              <a:rPr sz="2400" kern="0" spc="-27" dirty="0">
                <a:solidFill>
                  <a:sysClr val="windowText" lastClr="000000"/>
                </a:solidFill>
                <a:latin typeface="+mj-lt"/>
                <a:cs typeface="Arial Narrow"/>
              </a:rPr>
              <a:t> </a:t>
            </a:r>
            <a:r>
              <a:rPr sz="2400" kern="0" spc="-140" dirty="0">
                <a:solidFill>
                  <a:sysClr val="windowText" lastClr="000000"/>
                </a:solidFill>
                <a:latin typeface="+mj-lt"/>
                <a:cs typeface="Arial Narrow"/>
              </a:rPr>
              <a:t>two</a:t>
            </a:r>
            <a:r>
              <a:rPr sz="2400" kern="0" spc="-20" dirty="0">
                <a:solidFill>
                  <a:sysClr val="windowText" lastClr="000000"/>
                </a:solidFill>
                <a:latin typeface="+mj-lt"/>
                <a:cs typeface="Arial Narrow"/>
              </a:rPr>
              <a:t> </a:t>
            </a:r>
            <a:r>
              <a:rPr sz="2400" kern="0" spc="-33" dirty="0">
                <a:solidFill>
                  <a:sysClr val="windowText" lastClr="000000"/>
                </a:solidFill>
                <a:latin typeface="+mj-lt"/>
                <a:cs typeface="Arial Narrow"/>
              </a:rPr>
              <a:t>objectives:</a:t>
            </a:r>
            <a:endParaRPr sz="2400" kern="0" dirty="0">
              <a:solidFill>
                <a:sysClr val="windowText" lastClr="000000"/>
              </a:solidFill>
              <a:latin typeface="+mj-lt"/>
              <a:cs typeface="Arial Narrow"/>
            </a:endParaRPr>
          </a:p>
          <a:p>
            <a:pPr defTabSz="1219170">
              <a:spcBef>
                <a:spcPts val="173"/>
              </a:spcBef>
            </a:pPr>
            <a:endParaRPr sz="2400" kern="0" dirty="0">
              <a:solidFill>
                <a:sysClr val="windowText" lastClr="000000"/>
              </a:solidFill>
              <a:latin typeface="+mj-lt"/>
              <a:cs typeface="Arial Narrow"/>
            </a:endParaRPr>
          </a:p>
          <a:p>
            <a:pPr marL="504601" indent="-381837" defTabSz="1219170">
              <a:buFont typeface="Arial"/>
              <a:buChar char="•"/>
              <a:tabLst>
                <a:tab pos="504601" algn="l"/>
              </a:tabLst>
            </a:pPr>
            <a:r>
              <a:rPr sz="2400" kern="0" spc="-133" dirty="0">
                <a:solidFill>
                  <a:sysClr val="windowText" lastClr="000000"/>
                </a:solidFill>
                <a:latin typeface="+mj-lt"/>
                <a:cs typeface="Arial Narrow"/>
              </a:rPr>
              <a:t>Primary:</a:t>
            </a:r>
            <a:r>
              <a:rPr sz="2400" kern="0" spc="-80" dirty="0">
                <a:solidFill>
                  <a:sysClr val="windowText" lastClr="000000"/>
                </a:solidFill>
                <a:latin typeface="+mj-lt"/>
                <a:cs typeface="Arial Narrow"/>
              </a:rPr>
              <a:t> </a:t>
            </a:r>
            <a:r>
              <a:rPr sz="2400" kern="0" spc="-152" dirty="0">
                <a:solidFill>
                  <a:sysClr val="windowText" lastClr="000000"/>
                </a:solidFill>
                <a:latin typeface="+mj-lt"/>
                <a:cs typeface="Arial Narrow"/>
              </a:rPr>
              <a:t>Implement</a:t>
            </a:r>
            <a:r>
              <a:rPr sz="2400" kern="0" spc="-87" dirty="0">
                <a:solidFill>
                  <a:sysClr val="windowText" lastClr="000000"/>
                </a:solidFill>
                <a:latin typeface="+mj-lt"/>
                <a:cs typeface="Arial Narrow"/>
              </a:rPr>
              <a:t> </a:t>
            </a:r>
            <a:r>
              <a:rPr sz="2400" kern="0" spc="-147" dirty="0">
                <a:solidFill>
                  <a:sysClr val="windowText" lastClr="000000"/>
                </a:solidFill>
                <a:latin typeface="+mj-lt"/>
                <a:cs typeface="Arial Narrow"/>
              </a:rPr>
              <a:t>the</a:t>
            </a:r>
            <a:r>
              <a:rPr sz="2400" kern="0" spc="-33" dirty="0">
                <a:solidFill>
                  <a:sysClr val="windowText" lastClr="000000"/>
                </a:solidFill>
                <a:latin typeface="+mj-lt"/>
                <a:cs typeface="Arial Narrow"/>
              </a:rPr>
              <a:t> </a:t>
            </a:r>
            <a:r>
              <a:rPr sz="2400" kern="0" spc="-227" dirty="0">
                <a:solidFill>
                  <a:sysClr val="windowText" lastClr="000000"/>
                </a:solidFill>
                <a:latin typeface="+mj-lt"/>
                <a:cs typeface="Arial Narrow"/>
              </a:rPr>
              <a:t>DeskBankApp</a:t>
            </a:r>
            <a:r>
              <a:rPr sz="2400" kern="0" spc="-33" dirty="0">
                <a:solidFill>
                  <a:sysClr val="windowText" lastClr="000000"/>
                </a:solidFill>
                <a:latin typeface="+mj-lt"/>
                <a:cs typeface="Arial Narrow"/>
              </a:rPr>
              <a:t> </a:t>
            </a:r>
            <a:r>
              <a:rPr sz="2400" kern="0" spc="-100" dirty="0">
                <a:solidFill>
                  <a:sysClr val="windowText" lastClr="000000"/>
                </a:solidFill>
                <a:latin typeface="+mj-lt"/>
                <a:cs typeface="Arial Narrow"/>
              </a:rPr>
              <a:t>[refer</a:t>
            </a:r>
            <a:r>
              <a:rPr sz="2400" kern="0" spc="-80" dirty="0">
                <a:solidFill>
                  <a:sysClr val="windowText" lastClr="000000"/>
                </a:solidFill>
                <a:latin typeface="+mj-lt"/>
                <a:cs typeface="Arial Narrow"/>
              </a:rPr>
              <a:t> </a:t>
            </a:r>
            <a:r>
              <a:rPr sz="2400" kern="0" spc="-140" dirty="0">
                <a:solidFill>
                  <a:sysClr val="windowText" lastClr="000000"/>
                </a:solidFill>
                <a:latin typeface="+mj-lt"/>
                <a:cs typeface="Arial Narrow"/>
              </a:rPr>
              <a:t>to</a:t>
            </a:r>
            <a:r>
              <a:rPr sz="2400" kern="0" spc="-27" dirty="0">
                <a:solidFill>
                  <a:sysClr val="windowText" lastClr="000000"/>
                </a:solidFill>
                <a:latin typeface="+mj-lt"/>
                <a:cs typeface="Arial Narrow"/>
              </a:rPr>
              <a:t> </a:t>
            </a:r>
            <a:r>
              <a:rPr sz="2400" kern="0" spc="-253" dirty="0">
                <a:solidFill>
                  <a:sysClr val="windowText" lastClr="000000"/>
                </a:solidFill>
                <a:latin typeface="+mj-lt"/>
                <a:cs typeface="Arial Narrow"/>
              </a:rPr>
              <a:t>Lab</a:t>
            </a:r>
            <a:r>
              <a:rPr sz="2400" kern="0" spc="-127" dirty="0">
                <a:solidFill>
                  <a:sysClr val="windowText" lastClr="000000"/>
                </a:solidFill>
                <a:latin typeface="+mj-lt"/>
                <a:cs typeface="Arial Narrow"/>
              </a:rPr>
              <a:t> </a:t>
            </a:r>
            <a:r>
              <a:rPr sz="2400" kern="0" spc="-133" dirty="0">
                <a:solidFill>
                  <a:sysClr val="windowText" lastClr="000000"/>
                </a:solidFill>
                <a:latin typeface="+mj-lt"/>
                <a:cs typeface="Arial Narrow"/>
              </a:rPr>
              <a:t>7</a:t>
            </a:r>
            <a:r>
              <a:rPr sz="2400" kern="0" spc="-13" dirty="0">
                <a:solidFill>
                  <a:sysClr val="windowText" lastClr="000000"/>
                </a:solidFill>
                <a:latin typeface="+mj-lt"/>
                <a:cs typeface="Arial Narrow"/>
              </a:rPr>
              <a:t> </a:t>
            </a:r>
            <a:r>
              <a:rPr sz="2400" kern="0" spc="-247" dirty="0">
                <a:solidFill>
                  <a:sysClr val="windowText" lastClr="000000"/>
                </a:solidFill>
                <a:latin typeface="+mj-lt"/>
                <a:cs typeface="Arial Narrow"/>
              </a:rPr>
              <a:t>and</a:t>
            </a:r>
            <a:r>
              <a:rPr sz="2400" kern="0" spc="-33" dirty="0">
                <a:solidFill>
                  <a:sysClr val="windowText" lastClr="000000"/>
                </a:solidFill>
                <a:latin typeface="+mj-lt"/>
                <a:cs typeface="Arial Narrow"/>
              </a:rPr>
              <a:t> 8]</a:t>
            </a:r>
            <a:endParaRPr sz="2400" kern="0" dirty="0">
              <a:solidFill>
                <a:sysClr val="windowText" lastClr="000000"/>
              </a:solidFill>
              <a:latin typeface="+mj-lt"/>
              <a:cs typeface="Arial Narrow"/>
            </a:endParaRPr>
          </a:p>
          <a:p>
            <a:pPr defTabSz="1219170">
              <a:spcBef>
                <a:spcPts val="73"/>
              </a:spcBef>
              <a:buFont typeface="Arial"/>
              <a:buChar char="•"/>
            </a:pPr>
            <a:endParaRPr sz="2400" kern="0" dirty="0">
              <a:solidFill>
                <a:sysClr val="windowText" lastClr="000000"/>
              </a:solidFill>
              <a:latin typeface="+mj-lt"/>
              <a:cs typeface="Arial Narrow"/>
            </a:endParaRPr>
          </a:p>
          <a:p>
            <a:pPr marL="504601" indent="-381837" defTabSz="1219170">
              <a:spcBef>
                <a:spcPts val="7"/>
              </a:spcBef>
              <a:buFont typeface="Arial"/>
              <a:buChar char="•"/>
              <a:tabLst>
                <a:tab pos="504601" algn="l"/>
              </a:tabLst>
            </a:pPr>
            <a:r>
              <a:rPr sz="2400" kern="0" spc="-220" dirty="0">
                <a:solidFill>
                  <a:sysClr val="windowText" lastClr="000000"/>
                </a:solidFill>
                <a:latin typeface="+mj-lt"/>
                <a:cs typeface="Arial Narrow"/>
              </a:rPr>
              <a:t>Secondary:</a:t>
            </a:r>
            <a:r>
              <a:rPr sz="2400" kern="0" spc="-40" dirty="0">
                <a:solidFill>
                  <a:sysClr val="windowText" lastClr="000000"/>
                </a:solidFill>
                <a:latin typeface="+mj-lt"/>
                <a:cs typeface="Arial Narrow"/>
              </a:rPr>
              <a:t> </a:t>
            </a:r>
            <a:r>
              <a:rPr sz="2400" kern="0" spc="-207" dirty="0">
                <a:solidFill>
                  <a:sysClr val="windowText" lastClr="000000"/>
                </a:solidFill>
                <a:latin typeface="+mj-lt"/>
                <a:cs typeface="Arial Narrow"/>
              </a:rPr>
              <a:t>Complete</a:t>
            </a:r>
            <a:r>
              <a:rPr sz="2400" kern="0" spc="-53" dirty="0">
                <a:solidFill>
                  <a:sysClr val="windowText" lastClr="000000"/>
                </a:solidFill>
                <a:latin typeface="+mj-lt"/>
                <a:cs typeface="Arial Narrow"/>
              </a:rPr>
              <a:t> </a:t>
            </a:r>
            <a:r>
              <a:rPr sz="2400" kern="0" spc="-147" dirty="0">
                <a:solidFill>
                  <a:sysClr val="windowText" lastClr="000000"/>
                </a:solidFill>
                <a:latin typeface="+mj-lt"/>
                <a:cs typeface="Arial Narrow"/>
              </a:rPr>
              <a:t>the</a:t>
            </a:r>
            <a:r>
              <a:rPr sz="2400" kern="0" spc="-53" dirty="0">
                <a:solidFill>
                  <a:sysClr val="windowText" lastClr="000000"/>
                </a:solidFill>
                <a:latin typeface="+mj-lt"/>
                <a:cs typeface="Arial Narrow"/>
              </a:rPr>
              <a:t> </a:t>
            </a:r>
            <a:r>
              <a:rPr sz="2400" kern="0" spc="-160" dirty="0">
                <a:solidFill>
                  <a:sysClr val="windowText" lastClr="000000"/>
                </a:solidFill>
                <a:latin typeface="+mj-lt"/>
                <a:cs typeface="Arial Narrow"/>
              </a:rPr>
              <a:t>practice</a:t>
            </a:r>
            <a:r>
              <a:rPr sz="2400" kern="0" spc="-60" dirty="0">
                <a:solidFill>
                  <a:sysClr val="windowText" lastClr="000000"/>
                </a:solidFill>
                <a:latin typeface="+mj-lt"/>
                <a:cs typeface="Arial Narrow"/>
              </a:rPr>
              <a:t> </a:t>
            </a:r>
            <a:r>
              <a:rPr sz="2400" kern="0" spc="-187" dirty="0">
                <a:solidFill>
                  <a:sysClr val="windowText" lastClr="000000"/>
                </a:solidFill>
                <a:latin typeface="+mj-lt"/>
                <a:cs typeface="Arial Narrow"/>
              </a:rPr>
              <a:t>exercises</a:t>
            </a:r>
            <a:r>
              <a:rPr sz="2400" kern="0" spc="-7" dirty="0">
                <a:solidFill>
                  <a:sysClr val="windowText" lastClr="000000"/>
                </a:solidFill>
                <a:latin typeface="+mj-lt"/>
                <a:cs typeface="Arial Narrow"/>
              </a:rPr>
              <a:t> </a:t>
            </a:r>
            <a:r>
              <a:rPr sz="2400" kern="0" spc="-147" dirty="0">
                <a:solidFill>
                  <a:sysClr val="windowText" lastClr="000000"/>
                </a:solidFill>
                <a:latin typeface="+mj-lt"/>
                <a:cs typeface="Arial Narrow"/>
              </a:rPr>
              <a:t>[1</a:t>
            </a:r>
            <a:r>
              <a:rPr sz="2400" kern="0" spc="13" dirty="0">
                <a:solidFill>
                  <a:sysClr val="windowText" lastClr="000000"/>
                </a:solidFill>
                <a:latin typeface="+mj-lt"/>
                <a:cs typeface="Arial Narrow"/>
              </a:rPr>
              <a:t> </a:t>
            </a:r>
            <a:r>
              <a:rPr sz="2400" kern="0" spc="-140" dirty="0">
                <a:solidFill>
                  <a:sysClr val="windowText" lastClr="000000"/>
                </a:solidFill>
                <a:latin typeface="+mj-lt"/>
                <a:cs typeface="Arial Narrow"/>
              </a:rPr>
              <a:t>to</a:t>
            </a:r>
            <a:r>
              <a:rPr sz="2400" kern="0" dirty="0">
                <a:solidFill>
                  <a:sysClr val="windowText" lastClr="000000"/>
                </a:solidFill>
                <a:latin typeface="+mj-lt"/>
                <a:cs typeface="Arial Narrow"/>
              </a:rPr>
              <a:t> </a:t>
            </a:r>
            <a:r>
              <a:rPr sz="2400" kern="0" spc="-33" dirty="0">
                <a:solidFill>
                  <a:sysClr val="windowText" lastClr="000000"/>
                </a:solidFill>
                <a:latin typeface="+mj-lt"/>
                <a:cs typeface="Arial Narrow"/>
              </a:rPr>
              <a:t>3]</a:t>
            </a:r>
            <a:endParaRPr sz="2400" kern="0" dirty="0">
              <a:solidFill>
                <a:sysClr val="windowText" lastClr="000000"/>
              </a:solidFill>
              <a:latin typeface="+mj-lt"/>
              <a:cs typeface="Arial Narrow"/>
            </a:endParaRPr>
          </a:p>
          <a:p>
            <a:pPr defTabSz="1219170">
              <a:spcBef>
                <a:spcPts val="173"/>
              </a:spcBef>
            </a:pPr>
            <a:endParaRPr sz="2400" kern="0" dirty="0">
              <a:solidFill>
                <a:sysClr val="windowText" lastClr="000000"/>
              </a:solidFill>
              <a:latin typeface="+mj-lt"/>
              <a:cs typeface="Arial Narrow"/>
            </a:endParaRPr>
          </a:p>
          <a:p>
            <a:pPr marL="122764" defTabSz="1219170"/>
            <a:r>
              <a:rPr sz="2400" kern="0" spc="-207" dirty="0">
                <a:solidFill>
                  <a:sysClr val="windowText" lastClr="000000"/>
                </a:solidFill>
                <a:latin typeface="+mj-lt"/>
                <a:cs typeface="Arial Narrow"/>
              </a:rPr>
              <a:t>Complete</a:t>
            </a:r>
            <a:r>
              <a:rPr sz="2400" kern="0" spc="-67" dirty="0">
                <a:solidFill>
                  <a:sysClr val="windowText" lastClr="000000"/>
                </a:solidFill>
                <a:latin typeface="+mj-lt"/>
                <a:cs typeface="Arial Narrow"/>
              </a:rPr>
              <a:t> </a:t>
            </a:r>
            <a:r>
              <a:rPr sz="2400" kern="0" spc="-152" dirty="0">
                <a:solidFill>
                  <a:sysClr val="windowText" lastClr="000000"/>
                </a:solidFill>
                <a:latin typeface="+mj-lt"/>
                <a:cs typeface="Arial Narrow"/>
              </a:rPr>
              <a:t>the</a:t>
            </a:r>
            <a:r>
              <a:rPr sz="2400" kern="0" spc="-67" dirty="0">
                <a:solidFill>
                  <a:sysClr val="windowText" lastClr="000000"/>
                </a:solidFill>
                <a:latin typeface="+mj-lt"/>
                <a:cs typeface="Arial Narrow"/>
              </a:rPr>
              <a:t> </a:t>
            </a:r>
            <a:r>
              <a:rPr sz="2400" kern="0" spc="-253" dirty="0">
                <a:solidFill>
                  <a:sysClr val="windowText" lastClr="000000"/>
                </a:solidFill>
                <a:latin typeface="+mj-lt"/>
                <a:cs typeface="Arial Narrow"/>
              </a:rPr>
              <a:t>Lab</a:t>
            </a:r>
            <a:r>
              <a:rPr sz="2400" kern="0" spc="-113" dirty="0">
                <a:solidFill>
                  <a:sysClr val="windowText" lastClr="000000"/>
                </a:solidFill>
                <a:latin typeface="+mj-lt"/>
                <a:cs typeface="Arial Narrow"/>
              </a:rPr>
              <a:t> </a:t>
            </a:r>
            <a:r>
              <a:rPr sz="2400" kern="0" spc="-133" dirty="0">
                <a:solidFill>
                  <a:sysClr val="windowText" lastClr="000000"/>
                </a:solidFill>
                <a:latin typeface="+mj-lt"/>
                <a:cs typeface="Arial Narrow"/>
              </a:rPr>
              <a:t>9</a:t>
            </a:r>
            <a:r>
              <a:rPr sz="2400" kern="0" dirty="0">
                <a:solidFill>
                  <a:sysClr val="windowText" lastClr="000000"/>
                </a:solidFill>
                <a:latin typeface="+mj-lt"/>
                <a:cs typeface="Arial Narrow"/>
              </a:rPr>
              <a:t> </a:t>
            </a:r>
            <a:r>
              <a:rPr sz="2400" kern="0" spc="-187" dirty="0">
                <a:solidFill>
                  <a:sysClr val="windowText" lastClr="000000"/>
                </a:solidFill>
                <a:latin typeface="+mj-lt"/>
                <a:cs typeface="Arial Narrow"/>
              </a:rPr>
              <a:t>exercises</a:t>
            </a:r>
            <a:r>
              <a:rPr sz="2400" kern="0" spc="-120" dirty="0">
                <a:solidFill>
                  <a:sysClr val="windowText" lastClr="000000"/>
                </a:solidFill>
                <a:latin typeface="+mj-lt"/>
                <a:cs typeface="Arial Narrow"/>
              </a:rPr>
              <a:t> using</a:t>
            </a:r>
            <a:r>
              <a:rPr sz="2400" kern="0" spc="-67" dirty="0">
                <a:solidFill>
                  <a:sysClr val="windowText" lastClr="000000"/>
                </a:solidFill>
                <a:latin typeface="+mj-lt"/>
                <a:cs typeface="Arial Narrow"/>
              </a:rPr>
              <a:t> </a:t>
            </a:r>
            <a:r>
              <a:rPr sz="2400" kern="0" spc="-120" dirty="0">
                <a:solidFill>
                  <a:sysClr val="windowText" lastClr="000000"/>
                </a:solidFill>
                <a:latin typeface="+mj-lt"/>
                <a:cs typeface="Arial Narrow"/>
              </a:rPr>
              <a:t>either</a:t>
            </a:r>
            <a:r>
              <a:rPr sz="2400" kern="0" spc="-67" dirty="0">
                <a:solidFill>
                  <a:sysClr val="windowText" lastClr="000000"/>
                </a:solidFill>
                <a:latin typeface="+mj-lt"/>
                <a:cs typeface="Arial Narrow"/>
              </a:rPr>
              <a:t> </a:t>
            </a:r>
            <a:r>
              <a:rPr sz="2400" kern="0" spc="-300" dirty="0">
                <a:solidFill>
                  <a:sysClr val="windowText" lastClr="000000"/>
                </a:solidFill>
                <a:latin typeface="+mj-lt"/>
                <a:cs typeface="Arial Narrow"/>
              </a:rPr>
              <a:t>Java</a:t>
            </a:r>
            <a:r>
              <a:rPr sz="2400" kern="0" spc="-33" dirty="0">
                <a:solidFill>
                  <a:sysClr val="windowText" lastClr="000000"/>
                </a:solidFill>
                <a:latin typeface="+mj-lt"/>
                <a:cs typeface="Arial Narrow"/>
              </a:rPr>
              <a:t> </a:t>
            </a:r>
            <a:r>
              <a:rPr sz="2400" kern="0" spc="-113" dirty="0">
                <a:solidFill>
                  <a:sysClr val="windowText" lastClr="000000"/>
                </a:solidFill>
                <a:latin typeface="+mj-lt"/>
                <a:cs typeface="Arial Narrow"/>
              </a:rPr>
              <a:t>or</a:t>
            </a:r>
            <a:r>
              <a:rPr sz="2400" kern="0" spc="-60" dirty="0">
                <a:solidFill>
                  <a:sysClr val="windowText" lastClr="000000"/>
                </a:solidFill>
                <a:latin typeface="+mj-lt"/>
                <a:cs typeface="Arial Narrow"/>
              </a:rPr>
              <a:t> </a:t>
            </a:r>
            <a:r>
              <a:rPr sz="2400" kern="0" spc="-13" dirty="0">
                <a:solidFill>
                  <a:sysClr val="windowText" lastClr="000000"/>
                </a:solidFill>
                <a:latin typeface="+mj-lt"/>
                <a:cs typeface="Arial Narrow"/>
              </a:rPr>
              <a:t>Python.</a:t>
            </a:r>
            <a:endParaRPr sz="2400" kern="0" dirty="0">
              <a:solidFill>
                <a:sysClr val="windowText" lastClr="000000"/>
              </a:solidFill>
              <a:latin typeface="+mj-lt"/>
              <a:cs typeface="Arial Narrow"/>
            </a:endParaRPr>
          </a:p>
          <a:p>
            <a:pPr defTabSz="1219170">
              <a:spcBef>
                <a:spcPts val="180"/>
              </a:spcBef>
            </a:pPr>
            <a:endParaRPr sz="2400" kern="0" dirty="0">
              <a:solidFill>
                <a:sysClr val="windowText" lastClr="000000"/>
              </a:solidFill>
              <a:latin typeface="+mj-lt"/>
              <a:cs typeface="Arial Narrow"/>
            </a:endParaRPr>
          </a:p>
          <a:p>
            <a:pPr marL="122764" defTabSz="1219170"/>
            <a:r>
              <a:rPr sz="2400" kern="0" spc="-233" dirty="0">
                <a:solidFill>
                  <a:sysClr val="windowText" lastClr="000000"/>
                </a:solidFill>
                <a:latin typeface="+mj-lt"/>
                <a:cs typeface="Arial Narrow"/>
              </a:rPr>
              <a:t>Recommended</a:t>
            </a:r>
            <a:r>
              <a:rPr sz="2400" kern="0" spc="-60" dirty="0">
                <a:solidFill>
                  <a:sysClr val="windowText" lastClr="000000"/>
                </a:solidFill>
                <a:latin typeface="+mj-lt"/>
                <a:cs typeface="Arial Narrow"/>
              </a:rPr>
              <a:t> </a:t>
            </a:r>
            <a:r>
              <a:rPr sz="2400" kern="0" spc="-267" dirty="0">
                <a:solidFill>
                  <a:sysClr val="windowText" lastClr="000000"/>
                </a:solidFill>
                <a:latin typeface="+mj-lt"/>
                <a:cs typeface="Arial Narrow"/>
              </a:rPr>
              <a:t>IDE</a:t>
            </a:r>
            <a:r>
              <a:rPr sz="2400" kern="0" spc="-73" dirty="0">
                <a:solidFill>
                  <a:sysClr val="windowText" lastClr="000000"/>
                </a:solidFill>
                <a:latin typeface="+mj-lt"/>
                <a:cs typeface="Arial Narrow"/>
              </a:rPr>
              <a:t> </a:t>
            </a:r>
            <a:r>
              <a:rPr sz="2400" kern="0" spc="-100" dirty="0">
                <a:solidFill>
                  <a:sysClr val="windowText" lastClr="000000"/>
                </a:solidFill>
                <a:latin typeface="+mj-lt"/>
                <a:cs typeface="Arial Narrow"/>
              </a:rPr>
              <a:t>for</a:t>
            </a:r>
            <a:r>
              <a:rPr sz="2400" kern="0" spc="-93" dirty="0">
                <a:solidFill>
                  <a:sysClr val="windowText" lastClr="000000"/>
                </a:solidFill>
                <a:latin typeface="+mj-lt"/>
                <a:cs typeface="Arial Narrow"/>
              </a:rPr>
              <a:t> </a:t>
            </a:r>
            <a:r>
              <a:rPr sz="2400" kern="0" spc="-300" dirty="0">
                <a:solidFill>
                  <a:sysClr val="windowText" lastClr="000000"/>
                </a:solidFill>
                <a:latin typeface="+mj-lt"/>
                <a:cs typeface="Arial Narrow"/>
              </a:rPr>
              <a:t>Java</a:t>
            </a:r>
            <a:r>
              <a:rPr sz="2400" kern="0" spc="-73" dirty="0">
                <a:solidFill>
                  <a:sysClr val="windowText" lastClr="000000"/>
                </a:solidFill>
                <a:latin typeface="+mj-lt"/>
                <a:cs typeface="Arial Narrow"/>
              </a:rPr>
              <a:t> </a:t>
            </a:r>
            <a:r>
              <a:rPr sz="2400" kern="0" spc="-247" dirty="0">
                <a:solidFill>
                  <a:sysClr val="windowText" lastClr="000000"/>
                </a:solidFill>
                <a:latin typeface="+mj-lt"/>
                <a:cs typeface="Arial Narrow"/>
              </a:rPr>
              <a:t>and</a:t>
            </a:r>
            <a:r>
              <a:rPr sz="2400" kern="0" spc="-60" dirty="0">
                <a:solidFill>
                  <a:sysClr val="windowText" lastClr="000000"/>
                </a:solidFill>
                <a:latin typeface="+mj-lt"/>
                <a:cs typeface="Arial Narrow"/>
              </a:rPr>
              <a:t> </a:t>
            </a:r>
            <a:r>
              <a:rPr sz="2400" kern="0" spc="-120" dirty="0">
                <a:solidFill>
                  <a:sysClr val="windowText" lastClr="000000"/>
                </a:solidFill>
                <a:latin typeface="+mj-lt"/>
                <a:cs typeface="Arial Narrow"/>
              </a:rPr>
              <a:t>Python:</a:t>
            </a:r>
            <a:r>
              <a:rPr sz="2400" kern="0" spc="213" dirty="0">
                <a:solidFill>
                  <a:sysClr val="windowText" lastClr="000000"/>
                </a:solidFill>
                <a:latin typeface="+mj-lt"/>
                <a:cs typeface="Arial Narrow"/>
              </a:rPr>
              <a:t> </a:t>
            </a:r>
            <a:r>
              <a:rPr sz="2400" kern="0" spc="-13" dirty="0">
                <a:solidFill>
                  <a:srgbClr val="00AFEF"/>
                </a:solidFill>
                <a:latin typeface="+mj-lt"/>
                <a:cs typeface="Arial Narrow"/>
              </a:rPr>
              <a:t>vscode</a:t>
            </a:r>
            <a:endParaRPr sz="2400" kern="0" dirty="0">
              <a:solidFill>
                <a:sysClr val="windowText" lastClr="000000"/>
              </a:solidFill>
              <a:latin typeface="+mj-lt"/>
              <a:cs typeface="Arial Narro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9981" y="-263467"/>
            <a:ext cx="11092463" cy="1675673"/>
          </a:xfrm>
          <a:prstGeom prst="rect">
            <a:avLst/>
          </a:prstGeom>
        </p:spPr>
        <p:txBody>
          <a:bodyPr vert="horz" wrap="square" lIns="0" tIns="313267" rIns="0" bIns="0" rtlCol="0">
            <a:spAutoFit/>
          </a:bodyPr>
          <a:lstStyle/>
          <a:p>
            <a:pPr marL="16933">
              <a:spcBef>
                <a:spcPts val="2467"/>
              </a:spcBef>
            </a:pPr>
            <a:r>
              <a:rPr spc="-567" dirty="0"/>
              <a:t>Lab</a:t>
            </a:r>
            <a:r>
              <a:rPr spc="-173" dirty="0"/>
              <a:t> </a:t>
            </a:r>
            <a:r>
              <a:rPr spc="-67" dirty="0"/>
              <a:t>9</a:t>
            </a:r>
          </a:p>
          <a:p>
            <a:pPr marL="595192">
              <a:spcBef>
                <a:spcPts val="1000"/>
              </a:spcBef>
            </a:pPr>
            <a:r>
              <a:rPr sz="2400" b="1" spc="-293" dirty="0"/>
              <a:t>Case</a:t>
            </a:r>
            <a:r>
              <a:rPr sz="2400" b="1" spc="-133" dirty="0"/>
              <a:t> </a:t>
            </a:r>
            <a:r>
              <a:rPr sz="2400" b="1" spc="-193" dirty="0"/>
              <a:t>Study</a:t>
            </a:r>
            <a:r>
              <a:rPr sz="2400" b="1" spc="-33" dirty="0"/>
              <a:t> </a:t>
            </a:r>
            <a:r>
              <a:rPr sz="2400" b="1" spc="127" dirty="0"/>
              <a:t>-</a:t>
            </a:r>
            <a:r>
              <a:rPr sz="2400" b="1" spc="-67" dirty="0"/>
              <a:t> </a:t>
            </a:r>
            <a:r>
              <a:rPr sz="2400" b="1" spc="-187" dirty="0"/>
              <a:t>continued:</a:t>
            </a:r>
            <a:r>
              <a:rPr sz="2400" b="1" spc="-113" dirty="0"/>
              <a:t> </a:t>
            </a:r>
            <a:r>
              <a:rPr sz="2400" spc="-207" dirty="0"/>
              <a:t>Revise</a:t>
            </a:r>
            <a:r>
              <a:rPr sz="2400" spc="-73" dirty="0"/>
              <a:t> </a:t>
            </a:r>
            <a:r>
              <a:rPr sz="2400" spc="-152" dirty="0"/>
              <a:t>the</a:t>
            </a:r>
            <a:r>
              <a:rPr sz="2400" spc="-67" dirty="0"/>
              <a:t> </a:t>
            </a:r>
            <a:r>
              <a:rPr sz="2400" spc="-227" dirty="0"/>
              <a:t>Bank</a:t>
            </a:r>
            <a:r>
              <a:rPr sz="2400" spc="-73" dirty="0"/>
              <a:t> </a:t>
            </a:r>
            <a:r>
              <a:rPr sz="2400" spc="-193" dirty="0"/>
              <a:t>class</a:t>
            </a:r>
            <a:r>
              <a:rPr sz="2400" spc="-133" dirty="0"/>
              <a:t> </a:t>
            </a:r>
            <a:r>
              <a:rPr sz="2400" spc="-93" dirty="0"/>
              <a:t>to</a:t>
            </a:r>
            <a:r>
              <a:rPr sz="2400" spc="-120" dirty="0"/>
              <a:t> </a:t>
            </a:r>
            <a:r>
              <a:rPr sz="2400" spc="-152" dirty="0"/>
              <a:t>include</a:t>
            </a:r>
            <a:r>
              <a:rPr sz="2400" spc="-67" dirty="0"/>
              <a:t> </a:t>
            </a:r>
            <a:r>
              <a:rPr sz="2400" spc="-47" dirty="0"/>
              <a:t>file</a:t>
            </a:r>
            <a:r>
              <a:rPr sz="2400" spc="-67" dirty="0"/>
              <a:t> </a:t>
            </a:r>
            <a:r>
              <a:rPr sz="2400" spc="-140" dirty="0"/>
              <a:t>handling</a:t>
            </a:r>
            <a:r>
              <a:rPr sz="2400" spc="-80" dirty="0"/>
              <a:t> </a:t>
            </a:r>
            <a:r>
              <a:rPr sz="2400" spc="-100" dirty="0"/>
              <a:t>capabilities</a:t>
            </a:r>
            <a:endParaRPr sz="2400"/>
          </a:p>
        </p:txBody>
      </p:sp>
      <p:grpSp>
        <p:nvGrpSpPr>
          <p:cNvPr id="3" name="object 3"/>
          <p:cNvGrpSpPr/>
          <p:nvPr/>
        </p:nvGrpSpPr>
        <p:grpSpPr>
          <a:xfrm>
            <a:off x="673101" y="1803401"/>
            <a:ext cx="10706100" cy="4279900"/>
            <a:chOff x="504825" y="1352550"/>
            <a:chExt cx="8029575" cy="3209925"/>
          </a:xfrm>
        </p:grpSpPr>
        <p:sp>
          <p:nvSpPr>
            <p:cNvPr id="4" name="object 4"/>
            <p:cNvSpPr/>
            <p:nvPr/>
          </p:nvSpPr>
          <p:spPr>
            <a:xfrm>
              <a:off x="509587" y="1357312"/>
              <a:ext cx="8020050" cy="3200400"/>
            </a:xfrm>
            <a:custGeom>
              <a:avLst/>
              <a:gdLst/>
              <a:ahLst/>
              <a:cxnLst/>
              <a:rect l="l" t="t" r="r" b="b"/>
              <a:pathLst>
                <a:path w="8020050" h="3200400">
                  <a:moveTo>
                    <a:pt x="8020050" y="0"/>
                  </a:moveTo>
                  <a:lnTo>
                    <a:pt x="0" y="0"/>
                  </a:lnTo>
                  <a:lnTo>
                    <a:pt x="0" y="3200400"/>
                  </a:lnTo>
                  <a:lnTo>
                    <a:pt x="8020050" y="3200400"/>
                  </a:lnTo>
                  <a:lnTo>
                    <a:pt x="8020050" y="0"/>
                  </a:lnTo>
                  <a:close/>
                </a:path>
              </a:pathLst>
            </a:custGeom>
            <a:solidFill>
              <a:srgbClr val="D9D9D9"/>
            </a:solidFill>
          </p:spPr>
          <p:txBody>
            <a:bodyPr wrap="square" lIns="0" tIns="0" rIns="0" bIns="0" rtlCol="0"/>
            <a:lstStyle/>
            <a:p>
              <a:pPr defTabSz="1219170"/>
              <a:endParaRPr sz="2400" kern="0">
                <a:solidFill>
                  <a:sysClr val="windowText" lastClr="000000"/>
                </a:solidFill>
              </a:endParaRPr>
            </a:p>
          </p:txBody>
        </p:sp>
        <p:sp>
          <p:nvSpPr>
            <p:cNvPr id="5" name="object 5"/>
            <p:cNvSpPr/>
            <p:nvPr/>
          </p:nvSpPr>
          <p:spPr>
            <a:xfrm>
              <a:off x="509587" y="1357312"/>
              <a:ext cx="8020050" cy="3200400"/>
            </a:xfrm>
            <a:custGeom>
              <a:avLst/>
              <a:gdLst/>
              <a:ahLst/>
              <a:cxnLst/>
              <a:rect l="l" t="t" r="r" b="b"/>
              <a:pathLst>
                <a:path w="8020050" h="3200400">
                  <a:moveTo>
                    <a:pt x="0" y="3200400"/>
                  </a:moveTo>
                  <a:lnTo>
                    <a:pt x="8020050" y="3200400"/>
                  </a:lnTo>
                  <a:lnTo>
                    <a:pt x="8020050" y="0"/>
                  </a:lnTo>
                  <a:lnTo>
                    <a:pt x="0" y="0"/>
                  </a:lnTo>
                  <a:lnTo>
                    <a:pt x="0" y="3200400"/>
                  </a:lnTo>
                  <a:close/>
                </a:path>
              </a:pathLst>
            </a:custGeom>
            <a:ln w="9525">
              <a:solidFill>
                <a:srgbClr val="000000"/>
              </a:solidFill>
            </a:ln>
          </p:spPr>
          <p:txBody>
            <a:bodyPr wrap="square" lIns="0" tIns="0" rIns="0" bIns="0" rtlCol="0"/>
            <a:lstStyle/>
            <a:p>
              <a:pPr defTabSz="1219170"/>
              <a:endParaRPr sz="2400" kern="0">
                <a:solidFill>
                  <a:sysClr val="windowText" lastClr="000000"/>
                </a:solidFill>
              </a:endParaRPr>
            </a:p>
          </p:txBody>
        </p:sp>
      </p:grpSp>
      <p:sp>
        <p:nvSpPr>
          <p:cNvPr id="6" name="object 6"/>
          <p:cNvSpPr txBox="1"/>
          <p:nvPr/>
        </p:nvSpPr>
        <p:spPr>
          <a:xfrm>
            <a:off x="779357" y="1851237"/>
            <a:ext cx="9993207" cy="4178174"/>
          </a:xfrm>
          <a:prstGeom prst="rect">
            <a:avLst/>
          </a:prstGeom>
        </p:spPr>
        <p:txBody>
          <a:bodyPr vert="horz" wrap="square" lIns="0" tIns="16933" rIns="0" bIns="0" rtlCol="0">
            <a:spAutoFit/>
          </a:bodyPr>
          <a:lstStyle/>
          <a:p>
            <a:pPr marL="16933" defTabSz="1219170">
              <a:spcBef>
                <a:spcPts val="133"/>
              </a:spcBef>
            </a:pPr>
            <a:r>
              <a:rPr sz="2200" kern="0" spc="-260" dirty="0">
                <a:solidFill>
                  <a:sysClr val="windowText" lastClr="000000"/>
                </a:solidFill>
                <a:latin typeface="+mj-lt"/>
                <a:cs typeface="Arial Narrow"/>
              </a:rPr>
              <a:t>The</a:t>
            </a:r>
            <a:r>
              <a:rPr sz="2200" kern="0" spc="-107" dirty="0">
                <a:solidFill>
                  <a:sysClr val="windowText" lastClr="000000"/>
                </a:solidFill>
                <a:latin typeface="+mj-lt"/>
                <a:cs typeface="Arial Narrow"/>
              </a:rPr>
              <a:t> </a:t>
            </a:r>
            <a:r>
              <a:rPr sz="2200" kern="0" spc="-233" dirty="0">
                <a:solidFill>
                  <a:sysClr val="windowText" lastClr="000000"/>
                </a:solidFill>
                <a:latin typeface="+mj-lt"/>
                <a:cs typeface="Arial Narrow"/>
              </a:rPr>
              <a:t>Bank</a:t>
            </a:r>
            <a:r>
              <a:rPr sz="2200" kern="0" spc="-93" dirty="0">
                <a:solidFill>
                  <a:sysClr val="windowText" lastClr="000000"/>
                </a:solidFill>
                <a:latin typeface="+mj-lt"/>
                <a:cs typeface="Arial Narrow"/>
              </a:rPr>
              <a:t> </a:t>
            </a:r>
            <a:r>
              <a:rPr sz="2200" kern="0" spc="-193" dirty="0">
                <a:solidFill>
                  <a:sysClr val="windowText" lastClr="000000"/>
                </a:solidFill>
                <a:latin typeface="+mj-lt"/>
                <a:cs typeface="Arial Narrow"/>
              </a:rPr>
              <a:t>class</a:t>
            </a:r>
            <a:r>
              <a:rPr sz="2200" kern="0" spc="-13" dirty="0">
                <a:solidFill>
                  <a:sysClr val="windowText" lastClr="000000"/>
                </a:solidFill>
                <a:latin typeface="+mj-lt"/>
                <a:cs typeface="Arial Narrow"/>
              </a:rPr>
              <a:t> </a:t>
            </a:r>
            <a:r>
              <a:rPr sz="2200" kern="0" spc="-247" dirty="0">
                <a:solidFill>
                  <a:sysClr val="windowText" lastClr="000000"/>
                </a:solidFill>
                <a:latin typeface="+mj-lt"/>
                <a:cs typeface="Arial Narrow"/>
              </a:rPr>
              <a:t>has</a:t>
            </a:r>
            <a:r>
              <a:rPr sz="2200" kern="0" spc="-7" dirty="0">
                <a:solidFill>
                  <a:sysClr val="windowText" lastClr="000000"/>
                </a:solidFill>
                <a:latin typeface="+mj-lt"/>
                <a:cs typeface="Arial Narrow"/>
              </a:rPr>
              <a:t> </a:t>
            </a:r>
            <a:r>
              <a:rPr sz="2200" kern="0" spc="-147" dirty="0">
                <a:solidFill>
                  <a:sysClr val="windowText" lastClr="000000"/>
                </a:solidFill>
                <a:latin typeface="+mj-lt"/>
                <a:cs typeface="Arial Narrow"/>
              </a:rPr>
              <a:t>the</a:t>
            </a:r>
            <a:r>
              <a:rPr sz="2200" kern="0" spc="-60" dirty="0">
                <a:solidFill>
                  <a:sysClr val="windowText" lastClr="000000"/>
                </a:solidFill>
                <a:latin typeface="+mj-lt"/>
                <a:cs typeface="Arial Narrow"/>
              </a:rPr>
              <a:t> </a:t>
            </a:r>
            <a:r>
              <a:rPr sz="2200" kern="0" spc="-107" dirty="0">
                <a:solidFill>
                  <a:sysClr val="windowText" lastClr="000000"/>
                </a:solidFill>
                <a:latin typeface="+mj-lt"/>
                <a:cs typeface="Arial Narrow"/>
              </a:rPr>
              <a:t>following</a:t>
            </a:r>
            <a:r>
              <a:rPr sz="2200" kern="0" spc="-73" dirty="0">
                <a:solidFill>
                  <a:sysClr val="windowText" lastClr="000000"/>
                </a:solidFill>
                <a:latin typeface="+mj-lt"/>
                <a:cs typeface="Arial Narrow"/>
              </a:rPr>
              <a:t> </a:t>
            </a:r>
            <a:r>
              <a:rPr sz="2200" kern="0" spc="-13" dirty="0">
                <a:solidFill>
                  <a:sysClr val="windowText" lastClr="000000"/>
                </a:solidFill>
                <a:latin typeface="+mj-lt"/>
                <a:cs typeface="Arial Narrow"/>
              </a:rPr>
              <a:t>properties:</a:t>
            </a:r>
            <a:endParaRPr sz="2200" kern="0" dirty="0">
              <a:solidFill>
                <a:sysClr val="windowText" lastClr="000000"/>
              </a:solidFill>
              <a:latin typeface="+mj-lt"/>
              <a:cs typeface="Arial Narrow"/>
            </a:endParaRPr>
          </a:p>
          <a:p>
            <a:pPr marL="397923" indent="-380990" defTabSz="1219170">
              <a:lnSpc>
                <a:spcPts val="2847"/>
              </a:lnSpc>
              <a:spcBef>
                <a:spcPts val="27"/>
              </a:spcBef>
              <a:buFont typeface="Arial"/>
              <a:buChar char="•"/>
              <a:tabLst>
                <a:tab pos="397923" algn="l"/>
              </a:tabLst>
            </a:pPr>
            <a:r>
              <a:rPr sz="2200" kern="0" spc="-207" dirty="0">
                <a:solidFill>
                  <a:sysClr val="windowText" lastClr="000000"/>
                </a:solidFill>
                <a:latin typeface="+mj-lt"/>
                <a:cs typeface="Arial Narrow"/>
              </a:rPr>
              <a:t>Revise</a:t>
            </a:r>
            <a:r>
              <a:rPr sz="2200" kern="0" spc="-80" dirty="0">
                <a:solidFill>
                  <a:sysClr val="windowText" lastClr="000000"/>
                </a:solidFill>
                <a:latin typeface="+mj-lt"/>
                <a:cs typeface="Arial Narrow"/>
              </a:rPr>
              <a:t> </a:t>
            </a:r>
            <a:r>
              <a:rPr sz="2200" kern="0" spc="-140" dirty="0">
                <a:solidFill>
                  <a:sysClr val="windowText" lastClr="000000"/>
                </a:solidFill>
                <a:latin typeface="+mj-lt"/>
                <a:cs typeface="Arial Narrow"/>
              </a:rPr>
              <a:t>the</a:t>
            </a:r>
            <a:r>
              <a:rPr sz="2200" kern="0" spc="-73" dirty="0">
                <a:solidFill>
                  <a:sysClr val="windowText" lastClr="000000"/>
                </a:solidFill>
                <a:latin typeface="+mj-lt"/>
                <a:cs typeface="Arial Narrow"/>
              </a:rPr>
              <a:t> </a:t>
            </a:r>
            <a:r>
              <a:rPr sz="2200" kern="0" spc="-367" dirty="0">
                <a:solidFill>
                  <a:sysClr val="windowText" lastClr="000000"/>
                </a:solidFill>
                <a:latin typeface="+mj-lt"/>
                <a:cs typeface="Arial Narrow"/>
              </a:rPr>
              <a:t>CRUD</a:t>
            </a:r>
            <a:r>
              <a:rPr sz="2200" kern="0" spc="-47" dirty="0">
                <a:solidFill>
                  <a:sysClr val="windowText" lastClr="000000"/>
                </a:solidFill>
                <a:latin typeface="+mj-lt"/>
                <a:cs typeface="Arial Narrow"/>
              </a:rPr>
              <a:t> </a:t>
            </a:r>
            <a:r>
              <a:rPr sz="2200" kern="0" spc="-160" dirty="0">
                <a:solidFill>
                  <a:sysClr val="windowText" lastClr="000000"/>
                </a:solidFill>
                <a:latin typeface="+mj-lt"/>
                <a:cs typeface="Arial Narrow"/>
              </a:rPr>
              <a:t>operations</a:t>
            </a:r>
            <a:r>
              <a:rPr sz="2200" kern="0" spc="-127" dirty="0">
                <a:solidFill>
                  <a:sysClr val="windowText" lastClr="000000"/>
                </a:solidFill>
                <a:latin typeface="+mj-lt"/>
                <a:cs typeface="Arial Narrow"/>
              </a:rPr>
              <a:t> </a:t>
            </a:r>
            <a:r>
              <a:rPr sz="2200" kern="0" spc="-53" dirty="0">
                <a:solidFill>
                  <a:sysClr val="windowText" lastClr="000000"/>
                </a:solidFill>
                <a:latin typeface="+mj-lt"/>
                <a:cs typeface="Arial Narrow"/>
              </a:rPr>
              <a:t>in</a:t>
            </a:r>
            <a:r>
              <a:rPr sz="2200" kern="0" spc="-60" dirty="0">
                <a:solidFill>
                  <a:sysClr val="windowText" lastClr="000000"/>
                </a:solidFill>
                <a:latin typeface="+mj-lt"/>
                <a:cs typeface="Arial Narrow"/>
              </a:rPr>
              <a:t> </a:t>
            </a:r>
            <a:r>
              <a:rPr sz="2200" kern="0" spc="-233" dirty="0">
                <a:solidFill>
                  <a:sysClr val="windowText" lastClr="000000"/>
                </a:solidFill>
                <a:latin typeface="+mj-lt"/>
                <a:cs typeface="Arial Narrow"/>
              </a:rPr>
              <a:t>Bank,</a:t>
            </a:r>
            <a:r>
              <a:rPr sz="2200" kern="0" spc="-93" dirty="0">
                <a:solidFill>
                  <a:sysClr val="windowText" lastClr="000000"/>
                </a:solidFill>
                <a:latin typeface="+mj-lt"/>
                <a:cs typeface="Arial Narrow"/>
              </a:rPr>
              <a:t> </a:t>
            </a:r>
            <a:r>
              <a:rPr sz="2200" kern="0" spc="-207" dirty="0">
                <a:solidFill>
                  <a:sysClr val="windowText" lastClr="000000"/>
                </a:solidFill>
                <a:latin typeface="+mj-lt"/>
                <a:cs typeface="Arial Narrow"/>
              </a:rPr>
              <a:t>so</a:t>
            </a:r>
            <a:r>
              <a:rPr sz="2200" kern="0" spc="-20" dirty="0">
                <a:solidFill>
                  <a:sysClr val="windowText" lastClr="000000"/>
                </a:solidFill>
                <a:latin typeface="+mj-lt"/>
                <a:cs typeface="Arial Narrow"/>
              </a:rPr>
              <a:t> </a:t>
            </a:r>
            <a:r>
              <a:rPr sz="2200" kern="0" spc="-120" dirty="0">
                <a:solidFill>
                  <a:sysClr val="windowText" lastClr="000000"/>
                </a:solidFill>
                <a:latin typeface="+mj-lt"/>
                <a:cs typeface="Arial Narrow"/>
              </a:rPr>
              <a:t>that</a:t>
            </a:r>
            <a:r>
              <a:rPr sz="2200" kern="0" spc="-73" dirty="0">
                <a:solidFill>
                  <a:sysClr val="windowText" lastClr="000000"/>
                </a:solidFill>
                <a:latin typeface="+mj-lt"/>
                <a:cs typeface="Arial Narrow"/>
              </a:rPr>
              <a:t> </a:t>
            </a:r>
            <a:r>
              <a:rPr sz="2200" kern="0" dirty="0">
                <a:solidFill>
                  <a:sysClr val="windowText" lastClr="000000"/>
                </a:solidFill>
                <a:latin typeface="+mj-lt"/>
                <a:cs typeface="Arial Narrow"/>
              </a:rPr>
              <a:t>it</a:t>
            </a:r>
            <a:r>
              <a:rPr sz="2200" kern="0" spc="-73" dirty="0">
                <a:solidFill>
                  <a:sysClr val="windowText" lastClr="000000"/>
                </a:solidFill>
                <a:latin typeface="+mj-lt"/>
                <a:cs typeface="Arial Narrow"/>
              </a:rPr>
              <a:t> </a:t>
            </a:r>
            <a:r>
              <a:rPr sz="2200" kern="0" spc="-27" dirty="0">
                <a:solidFill>
                  <a:sysClr val="windowText" lastClr="000000"/>
                </a:solidFill>
                <a:latin typeface="+mj-lt"/>
                <a:cs typeface="Arial Narrow"/>
              </a:rPr>
              <a:t>has:</a:t>
            </a:r>
            <a:endParaRPr sz="2200" kern="0" dirty="0">
              <a:solidFill>
                <a:sysClr val="windowText" lastClr="000000"/>
              </a:solidFill>
              <a:latin typeface="+mj-lt"/>
              <a:cs typeface="Arial Narrow"/>
            </a:endParaRPr>
          </a:p>
          <a:p>
            <a:pPr marL="784840" lvl="1" indent="-158323" defTabSz="1219170">
              <a:lnSpc>
                <a:spcPts val="2847"/>
              </a:lnSpc>
              <a:buFontTx/>
              <a:buChar char="-"/>
              <a:tabLst>
                <a:tab pos="784840" algn="l"/>
              </a:tabLst>
            </a:pPr>
            <a:r>
              <a:rPr sz="2200" kern="0" spc="-293" dirty="0">
                <a:solidFill>
                  <a:sysClr val="windowText" lastClr="000000"/>
                </a:solidFill>
                <a:latin typeface="+mj-lt"/>
                <a:cs typeface="Arial Narrow"/>
              </a:rPr>
              <a:t>a</a:t>
            </a:r>
            <a:r>
              <a:rPr sz="2200" kern="0" spc="-40" dirty="0">
                <a:solidFill>
                  <a:sysClr val="windowText" lastClr="000000"/>
                </a:solidFill>
                <a:latin typeface="+mj-lt"/>
                <a:cs typeface="Arial Narrow"/>
              </a:rPr>
              <a:t> </a:t>
            </a:r>
            <a:r>
              <a:rPr sz="2200" kern="0" spc="-187" dirty="0">
                <a:solidFill>
                  <a:sysClr val="windowText" lastClr="000000"/>
                </a:solidFill>
                <a:latin typeface="+mj-lt"/>
                <a:cs typeface="Arial Narrow"/>
              </a:rPr>
              <a:t>procedure</a:t>
            </a:r>
            <a:r>
              <a:rPr sz="2200" kern="0" spc="-73" dirty="0">
                <a:solidFill>
                  <a:sysClr val="windowText" lastClr="000000"/>
                </a:solidFill>
                <a:latin typeface="+mj-lt"/>
                <a:cs typeface="Arial Narrow"/>
              </a:rPr>
              <a:t> </a:t>
            </a:r>
            <a:r>
              <a:rPr sz="2200" kern="0" spc="-93" dirty="0">
                <a:solidFill>
                  <a:sysClr val="windowText" lastClr="000000"/>
                </a:solidFill>
                <a:latin typeface="+mj-lt"/>
                <a:cs typeface="Arial Narrow"/>
              </a:rPr>
              <a:t>to</a:t>
            </a:r>
            <a:r>
              <a:rPr sz="2200" kern="0" spc="-113" dirty="0">
                <a:solidFill>
                  <a:sysClr val="windowText" lastClr="000000"/>
                </a:solidFill>
                <a:latin typeface="+mj-lt"/>
                <a:cs typeface="Arial Narrow"/>
              </a:rPr>
              <a:t> </a:t>
            </a:r>
            <a:r>
              <a:rPr sz="2200" kern="0" spc="-213" dirty="0">
                <a:solidFill>
                  <a:sysClr val="windowText" lastClr="000000"/>
                </a:solidFill>
                <a:latin typeface="+mj-lt"/>
                <a:cs typeface="Arial Narrow"/>
              </a:rPr>
              <a:t>back</a:t>
            </a:r>
            <a:r>
              <a:rPr sz="2200" kern="0" spc="-67" dirty="0">
                <a:solidFill>
                  <a:sysClr val="windowText" lastClr="000000"/>
                </a:solidFill>
                <a:latin typeface="+mj-lt"/>
                <a:cs typeface="Arial Narrow"/>
              </a:rPr>
              <a:t> </a:t>
            </a:r>
            <a:r>
              <a:rPr sz="2200" kern="0" spc="-207" dirty="0">
                <a:solidFill>
                  <a:sysClr val="windowText" lastClr="000000"/>
                </a:solidFill>
                <a:latin typeface="+mj-lt"/>
                <a:cs typeface="Arial Narrow"/>
              </a:rPr>
              <a:t>up</a:t>
            </a:r>
            <a:r>
              <a:rPr sz="2200" kern="0" spc="-33" dirty="0">
                <a:solidFill>
                  <a:sysClr val="windowText" lastClr="000000"/>
                </a:solidFill>
                <a:latin typeface="+mj-lt"/>
                <a:cs typeface="Arial Narrow"/>
              </a:rPr>
              <a:t> </a:t>
            </a:r>
            <a:r>
              <a:rPr sz="2200" kern="0" spc="-147" dirty="0">
                <a:solidFill>
                  <a:sysClr val="windowText" lastClr="000000"/>
                </a:solidFill>
                <a:latin typeface="+mj-lt"/>
                <a:cs typeface="Arial Narrow"/>
              </a:rPr>
              <a:t>the</a:t>
            </a:r>
            <a:r>
              <a:rPr sz="2200" kern="0" spc="-60" dirty="0">
                <a:solidFill>
                  <a:sysClr val="windowText" lastClr="000000"/>
                </a:solidFill>
                <a:latin typeface="+mj-lt"/>
                <a:cs typeface="Arial Narrow"/>
              </a:rPr>
              <a:t> </a:t>
            </a:r>
            <a:r>
              <a:rPr sz="2200" kern="0" spc="-173" dirty="0">
                <a:solidFill>
                  <a:sysClr val="windowText" lastClr="000000"/>
                </a:solidFill>
                <a:latin typeface="+mj-lt"/>
                <a:cs typeface="Arial Narrow"/>
              </a:rPr>
              <a:t>customers</a:t>
            </a:r>
            <a:r>
              <a:rPr sz="2200" kern="0" spc="-13" dirty="0">
                <a:solidFill>
                  <a:sysClr val="windowText" lastClr="000000"/>
                </a:solidFill>
                <a:latin typeface="+mj-lt"/>
                <a:cs typeface="Arial Narrow"/>
              </a:rPr>
              <a:t> </a:t>
            </a:r>
            <a:r>
              <a:rPr sz="2200" kern="0" spc="-53" dirty="0">
                <a:solidFill>
                  <a:sysClr val="windowText" lastClr="000000"/>
                </a:solidFill>
                <a:latin typeface="+mj-lt"/>
                <a:cs typeface="Arial Narrow"/>
              </a:rPr>
              <a:t>list</a:t>
            </a:r>
            <a:r>
              <a:rPr sz="2200" kern="0" spc="-73" dirty="0">
                <a:solidFill>
                  <a:sysClr val="windowText" lastClr="000000"/>
                </a:solidFill>
                <a:latin typeface="+mj-lt"/>
                <a:cs typeface="Arial Narrow"/>
              </a:rPr>
              <a:t> </a:t>
            </a:r>
            <a:r>
              <a:rPr sz="2200" kern="0" spc="-140" dirty="0">
                <a:solidFill>
                  <a:sysClr val="windowText" lastClr="000000"/>
                </a:solidFill>
                <a:latin typeface="+mj-lt"/>
                <a:cs typeface="Arial Narrow"/>
              </a:rPr>
              <a:t>to</a:t>
            </a:r>
            <a:r>
              <a:rPr sz="2200" kern="0" spc="-13" dirty="0">
                <a:solidFill>
                  <a:sysClr val="windowText" lastClr="000000"/>
                </a:solidFill>
                <a:latin typeface="+mj-lt"/>
                <a:cs typeface="Arial Narrow"/>
              </a:rPr>
              <a:t> </a:t>
            </a:r>
            <a:r>
              <a:rPr sz="2200" kern="0" spc="-293" dirty="0">
                <a:solidFill>
                  <a:sysClr val="windowText" lastClr="000000"/>
                </a:solidFill>
                <a:latin typeface="+mj-lt"/>
                <a:cs typeface="Arial Narrow"/>
              </a:rPr>
              <a:t>a</a:t>
            </a:r>
            <a:r>
              <a:rPr sz="2200" kern="0" spc="-40" dirty="0">
                <a:solidFill>
                  <a:sysClr val="windowText" lastClr="000000"/>
                </a:solidFill>
                <a:latin typeface="+mj-lt"/>
                <a:cs typeface="Arial Narrow"/>
              </a:rPr>
              <a:t> </a:t>
            </a:r>
            <a:r>
              <a:rPr sz="2200" kern="0" spc="-73" dirty="0">
                <a:solidFill>
                  <a:sysClr val="windowText" lastClr="000000"/>
                </a:solidFill>
                <a:latin typeface="+mj-lt"/>
                <a:cs typeface="Arial Narrow"/>
              </a:rPr>
              <a:t>file</a:t>
            </a:r>
            <a:r>
              <a:rPr sz="2200" kern="0" spc="-67" dirty="0">
                <a:solidFill>
                  <a:sysClr val="windowText" lastClr="000000"/>
                </a:solidFill>
                <a:latin typeface="+mj-lt"/>
                <a:cs typeface="Arial Narrow"/>
              </a:rPr>
              <a:t> </a:t>
            </a:r>
            <a:r>
              <a:rPr sz="2200" kern="0" spc="-127" dirty="0">
                <a:solidFill>
                  <a:sysClr val="windowText" lastClr="000000"/>
                </a:solidFill>
                <a:latin typeface="+mj-lt"/>
                <a:cs typeface="Arial Narrow"/>
              </a:rPr>
              <a:t>“customers.data”</a:t>
            </a:r>
            <a:r>
              <a:rPr sz="2200" kern="0" spc="-47" dirty="0">
                <a:solidFill>
                  <a:sysClr val="windowText" lastClr="000000"/>
                </a:solidFill>
                <a:latin typeface="+mj-lt"/>
                <a:cs typeface="Arial Narrow"/>
              </a:rPr>
              <a:t> </a:t>
            </a:r>
            <a:r>
              <a:rPr sz="2200" kern="0" spc="-147" dirty="0">
                <a:solidFill>
                  <a:sysClr val="windowText" lastClr="000000"/>
                </a:solidFill>
                <a:latin typeface="+mj-lt"/>
                <a:cs typeface="Arial Narrow"/>
              </a:rPr>
              <a:t>(generic</a:t>
            </a:r>
            <a:r>
              <a:rPr sz="2200" kern="0" spc="-67" dirty="0">
                <a:solidFill>
                  <a:sysClr val="windowText" lastClr="000000"/>
                </a:solidFill>
                <a:latin typeface="+mj-lt"/>
                <a:cs typeface="Arial Narrow"/>
              </a:rPr>
              <a:t> </a:t>
            </a:r>
            <a:r>
              <a:rPr sz="2200" kern="0" spc="-167" dirty="0">
                <a:solidFill>
                  <a:sysClr val="windowText" lastClr="000000"/>
                </a:solidFill>
                <a:latin typeface="+mj-lt"/>
                <a:cs typeface="Arial Narrow"/>
              </a:rPr>
              <a:t>extension</a:t>
            </a:r>
            <a:r>
              <a:rPr sz="2200" kern="0" spc="-53" dirty="0">
                <a:solidFill>
                  <a:sysClr val="windowText" lastClr="000000"/>
                </a:solidFill>
                <a:latin typeface="+mj-lt"/>
                <a:cs typeface="Arial Narrow"/>
              </a:rPr>
              <a:t> </a:t>
            </a:r>
            <a:r>
              <a:rPr sz="2200" kern="0" spc="-133" dirty="0">
                <a:solidFill>
                  <a:sysClr val="windowText" lastClr="000000"/>
                </a:solidFill>
                <a:latin typeface="+mj-lt"/>
                <a:cs typeface="Arial Narrow"/>
              </a:rPr>
              <a:t>typically</a:t>
            </a:r>
            <a:r>
              <a:rPr sz="2200" kern="0" spc="-80" dirty="0">
                <a:solidFill>
                  <a:sysClr val="windowText" lastClr="000000"/>
                </a:solidFill>
                <a:latin typeface="+mj-lt"/>
                <a:cs typeface="Arial Narrow"/>
              </a:rPr>
              <a:t> </a:t>
            </a:r>
            <a:r>
              <a:rPr sz="2200" kern="0" spc="-33" dirty="0">
                <a:solidFill>
                  <a:sysClr val="windowText" lastClr="000000"/>
                </a:solidFill>
                <a:latin typeface="+mj-lt"/>
                <a:cs typeface="Arial Narrow"/>
              </a:rPr>
              <a:t>for</a:t>
            </a:r>
            <a:endParaRPr sz="2200" kern="0" dirty="0">
              <a:solidFill>
                <a:sysClr val="windowText" lastClr="000000"/>
              </a:solidFill>
              <a:latin typeface="+mj-lt"/>
              <a:cs typeface="Arial Narrow"/>
            </a:endParaRPr>
          </a:p>
          <a:p>
            <a:pPr marL="16933" defTabSz="1219170">
              <a:spcBef>
                <a:spcPts val="20"/>
              </a:spcBef>
            </a:pPr>
            <a:r>
              <a:rPr sz="2200" kern="0" spc="-147" dirty="0">
                <a:solidFill>
                  <a:sysClr val="windowText" lastClr="000000"/>
                </a:solidFill>
                <a:latin typeface="+mj-lt"/>
                <a:cs typeface="Arial Narrow"/>
              </a:rPr>
              <a:t>binary</a:t>
            </a:r>
            <a:r>
              <a:rPr sz="2200" kern="0" spc="-93" dirty="0">
                <a:solidFill>
                  <a:sysClr val="windowText" lastClr="000000"/>
                </a:solidFill>
                <a:latin typeface="+mj-lt"/>
                <a:cs typeface="Arial Narrow"/>
              </a:rPr>
              <a:t> </a:t>
            </a:r>
            <a:r>
              <a:rPr sz="2200" kern="0" spc="-13" dirty="0">
                <a:solidFill>
                  <a:sysClr val="windowText" lastClr="000000"/>
                </a:solidFill>
                <a:latin typeface="+mj-lt"/>
                <a:cs typeface="Arial Narrow"/>
              </a:rPr>
              <a:t>data)</a:t>
            </a:r>
            <a:endParaRPr sz="2200" kern="0" dirty="0">
              <a:solidFill>
                <a:sysClr val="windowText" lastClr="000000"/>
              </a:solidFill>
              <a:latin typeface="+mj-lt"/>
              <a:cs typeface="Arial Narrow"/>
            </a:endParaRPr>
          </a:p>
          <a:p>
            <a:pPr marL="784840" lvl="1" indent="-158323" defTabSz="1219170">
              <a:spcBef>
                <a:spcPts val="27"/>
              </a:spcBef>
              <a:buFontTx/>
              <a:buChar char="-"/>
              <a:tabLst>
                <a:tab pos="784840" algn="l"/>
              </a:tabLst>
            </a:pPr>
            <a:r>
              <a:rPr sz="2200" kern="0" spc="-293" dirty="0">
                <a:solidFill>
                  <a:sysClr val="windowText" lastClr="000000"/>
                </a:solidFill>
                <a:latin typeface="+mj-lt"/>
                <a:cs typeface="Arial Narrow"/>
              </a:rPr>
              <a:t>a</a:t>
            </a:r>
            <a:r>
              <a:rPr sz="2200" kern="0" spc="-40" dirty="0">
                <a:solidFill>
                  <a:sysClr val="windowText" lastClr="000000"/>
                </a:solidFill>
                <a:latin typeface="+mj-lt"/>
                <a:cs typeface="Arial Narrow"/>
              </a:rPr>
              <a:t> </a:t>
            </a:r>
            <a:r>
              <a:rPr sz="2200" kern="0" spc="-187" dirty="0">
                <a:solidFill>
                  <a:sysClr val="windowText" lastClr="000000"/>
                </a:solidFill>
                <a:latin typeface="+mj-lt"/>
                <a:cs typeface="Arial Narrow"/>
              </a:rPr>
              <a:t>procedure</a:t>
            </a:r>
            <a:r>
              <a:rPr sz="2200" kern="0" spc="-80" dirty="0">
                <a:solidFill>
                  <a:sysClr val="windowText" lastClr="000000"/>
                </a:solidFill>
                <a:latin typeface="+mj-lt"/>
                <a:cs typeface="Arial Narrow"/>
              </a:rPr>
              <a:t> </a:t>
            </a:r>
            <a:r>
              <a:rPr sz="2200" kern="0" spc="-93" dirty="0">
                <a:solidFill>
                  <a:sysClr val="windowText" lastClr="000000"/>
                </a:solidFill>
                <a:latin typeface="+mj-lt"/>
                <a:cs typeface="Arial Narrow"/>
              </a:rPr>
              <a:t>to</a:t>
            </a:r>
            <a:r>
              <a:rPr sz="2200" kern="0" spc="-113" dirty="0">
                <a:solidFill>
                  <a:sysClr val="windowText" lastClr="000000"/>
                </a:solidFill>
                <a:latin typeface="+mj-lt"/>
                <a:cs typeface="Arial Narrow"/>
              </a:rPr>
              <a:t> </a:t>
            </a:r>
            <a:r>
              <a:rPr sz="2200" kern="0" spc="-127" dirty="0">
                <a:solidFill>
                  <a:sysClr val="windowText" lastClr="000000"/>
                </a:solidFill>
                <a:latin typeface="+mj-lt"/>
                <a:cs typeface="Arial Narrow"/>
              </a:rPr>
              <a:t>retrieve</a:t>
            </a:r>
            <a:r>
              <a:rPr sz="2200" kern="0" spc="-80" dirty="0">
                <a:solidFill>
                  <a:sysClr val="windowText" lastClr="000000"/>
                </a:solidFill>
                <a:latin typeface="+mj-lt"/>
                <a:cs typeface="Arial Narrow"/>
              </a:rPr>
              <a:t> </a:t>
            </a:r>
            <a:r>
              <a:rPr sz="2200" kern="0" spc="-93" dirty="0">
                <a:solidFill>
                  <a:sysClr val="windowText" lastClr="000000"/>
                </a:solidFill>
                <a:latin typeface="+mj-lt"/>
                <a:cs typeface="Arial Narrow"/>
              </a:rPr>
              <a:t>all</a:t>
            </a:r>
            <a:r>
              <a:rPr sz="2200" kern="0" spc="-53" dirty="0">
                <a:solidFill>
                  <a:sysClr val="windowText" lastClr="000000"/>
                </a:solidFill>
                <a:latin typeface="+mj-lt"/>
                <a:cs typeface="Arial Narrow"/>
              </a:rPr>
              <a:t> </a:t>
            </a:r>
            <a:r>
              <a:rPr sz="2200" kern="0" spc="-167" dirty="0">
                <a:solidFill>
                  <a:sysClr val="windowText" lastClr="000000"/>
                </a:solidFill>
                <a:latin typeface="+mj-lt"/>
                <a:cs typeface="Arial Narrow"/>
              </a:rPr>
              <a:t>customer</a:t>
            </a:r>
            <a:r>
              <a:rPr sz="2200" kern="0" spc="-67" dirty="0">
                <a:solidFill>
                  <a:sysClr val="windowText" lastClr="000000"/>
                </a:solidFill>
                <a:latin typeface="+mj-lt"/>
                <a:cs typeface="Arial Narrow"/>
              </a:rPr>
              <a:t> </a:t>
            </a:r>
            <a:r>
              <a:rPr sz="2200" kern="0" spc="-227" dirty="0">
                <a:solidFill>
                  <a:sysClr val="windowText" lastClr="000000"/>
                </a:solidFill>
                <a:latin typeface="+mj-lt"/>
                <a:cs typeface="Arial Narrow"/>
              </a:rPr>
              <a:t>data</a:t>
            </a:r>
            <a:r>
              <a:rPr sz="2200" kern="0" spc="-47" dirty="0">
                <a:solidFill>
                  <a:sysClr val="windowText" lastClr="000000"/>
                </a:solidFill>
                <a:latin typeface="+mj-lt"/>
                <a:cs typeface="Arial Narrow"/>
              </a:rPr>
              <a:t> </a:t>
            </a:r>
            <a:r>
              <a:rPr sz="2200" kern="0" spc="-107" dirty="0">
                <a:solidFill>
                  <a:sysClr val="windowText" lastClr="000000"/>
                </a:solidFill>
                <a:latin typeface="+mj-lt"/>
                <a:cs typeface="Arial Narrow"/>
              </a:rPr>
              <a:t>from</a:t>
            </a:r>
            <a:r>
              <a:rPr sz="2200" kern="0" spc="-67" dirty="0">
                <a:solidFill>
                  <a:sysClr val="windowText" lastClr="000000"/>
                </a:solidFill>
                <a:latin typeface="+mj-lt"/>
                <a:cs typeface="Arial Narrow"/>
              </a:rPr>
              <a:t> </a:t>
            </a:r>
            <a:r>
              <a:rPr sz="2200" kern="0" spc="-40" dirty="0">
                <a:solidFill>
                  <a:sysClr val="windowText" lastClr="000000"/>
                </a:solidFill>
                <a:latin typeface="+mj-lt"/>
                <a:cs typeface="Arial Narrow"/>
              </a:rPr>
              <a:t>“customers.data”</a:t>
            </a:r>
            <a:endParaRPr sz="2200" kern="0" dirty="0">
              <a:solidFill>
                <a:sysClr val="windowText" lastClr="000000"/>
              </a:solidFill>
              <a:latin typeface="+mj-lt"/>
              <a:cs typeface="Arial Narrow"/>
            </a:endParaRPr>
          </a:p>
          <a:p>
            <a:pPr marL="784840" lvl="1" indent="-158323" defTabSz="1219170">
              <a:spcBef>
                <a:spcPts val="27"/>
              </a:spcBef>
              <a:buFontTx/>
              <a:buChar char="-"/>
              <a:tabLst>
                <a:tab pos="784840" algn="l"/>
              </a:tabLst>
            </a:pPr>
            <a:r>
              <a:rPr sz="2200" kern="0" spc="-293" dirty="0">
                <a:solidFill>
                  <a:sysClr val="windowText" lastClr="000000"/>
                </a:solidFill>
                <a:latin typeface="+mj-lt"/>
                <a:cs typeface="Arial Narrow"/>
              </a:rPr>
              <a:t>a</a:t>
            </a:r>
            <a:r>
              <a:rPr sz="2200" kern="0" spc="-47" dirty="0">
                <a:solidFill>
                  <a:sysClr val="windowText" lastClr="000000"/>
                </a:solidFill>
                <a:latin typeface="+mj-lt"/>
                <a:cs typeface="Arial Narrow"/>
              </a:rPr>
              <a:t> </a:t>
            </a:r>
            <a:r>
              <a:rPr sz="2200" kern="0" spc="-187" dirty="0">
                <a:solidFill>
                  <a:sysClr val="windowText" lastClr="000000"/>
                </a:solidFill>
                <a:latin typeface="+mj-lt"/>
                <a:cs typeface="Arial Narrow"/>
              </a:rPr>
              <a:t>procedure</a:t>
            </a:r>
            <a:r>
              <a:rPr sz="2200" kern="0" spc="-73" dirty="0">
                <a:solidFill>
                  <a:sysClr val="windowText" lastClr="000000"/>
                </a:solidFill>
                <a:latin typeface="+mj-lt"/>
                <a:cs typeface="Arial Narrow"/>
              </a:rPr>
              <a:t> </a:t>
            </a:r>
            <a:r>
              <a:rPr sz="2200" kern="0" spc="-93" dirty="0">
                <a:solidFill>
                  <a:sysClr val="windowText" lastClr="000000"/>
                </a:solidFill>
                <a:latin typeface="+mj-lt"/>
                <a:cs typeface="Arial Narrow"/>
              </a:rPr>
              <a:t>to</a:t>
            </a:r>
            <a:r>
              <a:rPr sz="2200" kern="0" spc="-120" dirty="0">
                <a:solidFill>
                  <a:sysClr val="windowText" lastClr="000000"/>
                </a:solidFill>
                <a:latin typeface="+mj-lt"/>
                <a:cs typeface="Arial Narrow"/>
              </a:rPr>
              <a:t> </a:t>
            </a:r>
            <a:r>
              <a:rPr sz="2200" kern="0" spc="-253" dirty="0">
                <a:solidFill>
                  <a:sysClr val="windowText" lastClr="000000"/>
                </a:solidFill>
                <a:latin typeface="+mj-lt"/>
                <a:cs typeface="Arial Narrow"/>
              </a:rPr>
              <a:t>add</a:t>
            </a:r>
            <a:r>
              <a:rPr sz="2200" kern="0" spc="-27" dirty="0">
                <a:solidFill>
                  <a:sysClr val="windowText" lastClr="000000"/>
                </a:solidFill>
                <a:latin typeface="+mj-lt"/>
                <a:cs typeface="Arial Narrow"/>
              </a:rPr>
              <a:t> </a:t>
            </a:r>
            <a:r>
              <a:rPr sz="2200" kern="0" spc="-293" dirty="0">
                <a:solidFill>
                  <a:sysClr val="windowText" lastClr="000000"/>
                </a:solidFill>
                <a:latin typeface="+mj-lt"/>
                <a:cs typeface="Arial Narrow"/>
              </a:rPr>
              <a:t>a</a:t>
            </a:r>
            <a:r>
              <a:rPr sz="2200" kern="0" spc="-147" dirty="0">
                <a:solidFill>
                  <a:sysClr val="windowText" lastClr="000000"/>
                </a:solidFill>
                <a:latin typeface="+mj-lt"/>
                <a:cs typeface="Arial Narrow"/>
              </a:rPr>
              <a:t> </a:t>
            </a:r>
            <a:r>
              <a:rPr sz="2200" kern="0" spc="-193" dirty="0">
                <a:solidFill>
                  <a:sysClr val="windowText" lastClr="000000"/>
                </a:solidFill>
                <a:latin typeface="+mj-lt"/>
                <a:cs typeface="Arial Narrow"/>
              </a:rPr>
              <a:t>new</a:t>
            </a:r>
            <a:r>
              <a:rPr sz="2200" kern="0" dirty="0">
                <a:solidFill>
                  <a:sysClr val="windowText" lastClr="000000"/>
                </a:solidFill>
                <a:latin typeface="+mj-lt"/>
                <a:cs typeface="Arial Narrow"/>
              </a:rPr>
              <a:t> </a:t>
            </a:r>
            <a:r>
              <a:rPr sz="2200" kern="0" spc="-213" dirty="0">
                <a:solidFill>
                  <a:sysClr val="windowText" lastClr="000000"/>
                </a:solidFill>
                <a:latin typeface="+mj-lt"/>
                <a:cs typeface="Arial Narrow"/>
              </a:rPr>
              <a:t>Customer</a:t>
            </a:r>
            <a:r>
              <a:rPr sz="2200" kern="0" spc="-67" dirty="0">
                <a:solidFill>
                  <a:sysClr val="windowText" lastClr="000000"/>
                </a:solidFill>
                <a:latin typeface="+mj-lt"/>
                <a:cs typeface="Arial Narrow"/>
              </a:rPr>
              <a:t> </a:t>
            </a:r>
            <a:r>
              <a:rPr sz="2200" kern="0" spc="-93" dirty="0">
                <a:solidFill>
                  <a:sysClr val="windowText" lastClr="000000"/>
                </a:solidFill>
                <a:latin typeface="+mj-lt"/>
                <a:cs typeface="Arial Narrow"/>
              </a:rPr>
              <a:t>to</a:t>
            </a:r>
            <a:r>
              <a:rPr sz="2200" kern="0" spc="-120" dirty="0">
                <a:solidFill>
                  <a:sysClr val="windowText" lastClr="000000"/>
                </a:solidFill>
                <a:latin typeface="+mj-lt"/>
                <a:cs typeface="Arial Narrow"/>
              </a:rPr>
              <a:t> </a:t>
            </a:r>
            <a:r>
              <a:rPr sz="2200" kern="0" spc="-140" dirty="0">
                <a:solidFill>
                  <a:sysClr val="windowText" lastClr="000000"/>
                </a:solidFill>
                <a:latin typeface="+mj-lt"/>
                <a:cs typeface="Arial Narrow"/>
              </a:rPr>
              <a:t>the</a:t>
            </a:r>
            <a:r>
              <a:rPr sz="2200" kern="0" spc="-80" dirty="0">
                <a:solidFill>
                  <a:sysClr val="windowText" lastClr="000000"/>
                </a:solidFill>
                <a:latin typeface="+mj-lt"/>
                <a:cs typeface="Arial Narrow"/>
              </a:rPr>
              <a:t> </a:t>
            </a:r>
            <a:r>
              <a:rPr sz="2200" kern="0" spc="-200" dirty="0">
                <a:solidFill>
                  <a:sysClr val="windowText" lastClr="000000"/>
                </a:solidFill>
                <a:latin typeface="+mj-lt"/>
                <a:cs typeface="Arial Narrow"/>
              </a:rPr>
              <a:t>Customers</a:t>
            </a:r>
            <a:r>
              <a:rPr sz="2200" kern="0" spc="-20" dirty="0">
                <a:solidFill>
                  <a:sysClr val="windowText" lastClr="000000"/>
                </a:solidFill>
                <a:latin typeface="+mj-lt"/>
                <a:cs typeface="Arial Narrow"/>
              </a:rPr>
              <a:t> </a:t>
            </a:r>
            <a:r>
              <a:rPr sz="2200" kern="0" spc="-127" dirty="0">
                <a:solidFill>
                  <a:sysClr val="windowText" lastClr="000000"/>
                </a:solidFill>
                <a:latin typeface="+mj-lt"/>
                <a:cs typeface="Arial Narrow"/>
              </a:rPr>
              <a:t>List,</a:t>
            </a:r>
            <a:r>
              <a:rPr sz="2200" kern="0" spc="-93" dirty="0">
                <a:solidFill>
                  <a:sysClr val="windowText" lastClr="000000"/>
                </a:solidFill>
                <a:latin typeface="+mj-lt"/>
                <a:cs typeface="Arial Narrow"/>
              </a:rPr>
              <a:t> </a:t>
            </a:r>
            <a:r>
              <a:rPr sz="2200" kern="0" spc="-213" dirty="0">
                <a:solidFill>
                  <a:sysClr val="windowText" lastClr="000000"/>
                </a:solidFill>
                <a:latin typeface="+mj-lt"/>
                <a:cs typeface="Arial Narrow"/>
              </a:rPr>
              <a:t>and</a:t>
            </a:r>
            <a:r>
              <a:rPr sz="2200" kern="0" spc="-140" dirty="0">
                <a:solidFill>
                  <a:sysClr val="windowText" lastClr="000000"/>
                </a:solidFill>
                <a:latin typeface="+mj-lt"/>
                <a:cs typeface="Arial Narrow"/>
              </a:rPr>
              <a:t> </a:t>
            </a:r>
            <a:r>
              <a:rPr sz="2200" kern="0" spc="-93" dirty="0">
                <a:solidFill>
                  <a:sysClr val="windowText" lastClr="000000"/>
                </a:solidFill>
                <a:latin typeface="+mj-lt"/>
                <a:cs typeface="Arial Narrow"/>
              </a:rPr>
              <a:t>to</a:t>
            </a:r>
            <a:r>
              <a:rPr sz="2200" kern="0" spc="-113" dirty="0">
                <a:solidFill>
                  <a:sysClr val="windowText" lastClr="000000"/>
                </a:solidFill>
                <a:latin typeface="+mj-lt"/>
                <a:cs typeface="Arial Narrow"/>
              </a:rPr>
              <a:t> </a:t>
            </a:r>
            <a:r>
              <a:rPr sz="2200" kern="0" spc="-33" dirty="0">
                <a:solidFill>
                  <a:sysClr val="windowText" lastClr="000000"/>
                </a:solidFill>
                <a:latin typeface="+mj-lt"/>
                <a:cs typeface="Arial Narrow"/>
              </a:rPr>
              <a:t>“customers.data”</a:t>
            </a:r>
            <a:endParaRPr sz="2200" kern="0" dirty="0">
              <a:solidFill>
                <a:sysClr val="windowText" lastClr="000000"/>
              </a:solidFill>
              <a:latin typeface="+mj-lt"/>
              <a:cs typeface="Arial Narrow"/>
            </a:endParaRPr>
          </a:p>
          <a:p>
            <a:pPr marL="784840" lvl="1" indent="-158323" defTabSz="1219170">
              <a:lnSpc>
                <a:spcPts val="2840"/>
              </a:lnSpc>
              <a:spcBef>
                <a:spcPts val="27"/>
              </a:spcBef>
              <a:buFontTx/>
              <a:buChar char="-"/>
              <a:tabLst>
                <a:tab pos="784840" algn="l"/>
              </a:tabLst>
            </a:pPr>
            <a:r>
              <a:rPr sz="2200" kern="0" spc="-293" dirty="0">
                <a:solidFill>
                  <a:sysClr val="windowText" lastClr="000000"/>
                </a:solidFill>
                <a:latin typeface="+mj-lt"/>
                <a:cs typeface="Arial Narrow"/>
              </a:rPr>
              <a:t>a</a:t>
            </a:r>
            <a:r>
              <a:rPr sz="2200" kern="0" spc="-53" dirty="0">
                <a:solidFill>
                  <a:sysClr val="windowText" lastClr="000000"/>
                </a:solidFill>
                <a:latin typeface="+mj-lt"/>
                <a:cs typeface="Arial Narrow"/>
              </a:rPr>
              <a:t> </a:t>
            </a:r>
            <a:r>
              <a:rPr sz="2200" kern="0" spc="-187" dirty="0">
                <a:solidFill>
                  <a:sysClr val="windowText" lastClr="000000"/>
                </a:solidFill>
                <a:latin typeface="+mj-lt"/>
                <a:cs typeface="Arial Narrow"/>
              </a:rPr>
              <a:t>procedure</a:t>
            </a:r>
            <a:r>
              <a:rPr sz="2200" kern="0" spc="-80" dirty="0">
                <a:solidFill>
                  <a:sysClr val="windowText" lastClr="000000"/>
                </a:solidFill>
                <a:latin typeface="+mj-lt"/>
                <a:cs typeface="Arial Narrow"/>
              </a:rPr>
              <a:t> </a:t>
            </a:r>
            <a:r>
              <a:rPr sz="2200" kern="0" spc="-93" dirty="0">
                <a:solidFill>
                  <a:sysClr val="windowText" lastClr="000000"/>
                </a:solidFill>
                <a:latin typeface="+mj-lt"/>
                <a:cs typeface="Arial Narrow"/>
              </a:rPr>
              <a:t>to</a:t>
            </a:r>
            <a:r>
              <a:rPr sz="2200" kern="0" spc="-127" dirty="0">
                <a:solidFill>
                  <a:sysClr val="windowText" lastClr="000000"/>
                </a:solidFill>
                <a:latin typeface="+mj-lt"/>
                <a:cs typeface="Arial Narrow"/>
              </a:rPr>
              <a:t> </a:t>
            </a:r>
            <a:r>
              <a:rPr sz="2200" kern="0" spc="-200" dirty="0">
                <a:solidFill>
                  <a:sysClr val="windowText" lastClr="000000"/>
                </a:solidFill>
                <a:latin typeface="+mj-lt"/>
                <a:cs typeface="Arial Narrow"/>
              </a:rPr>
              <a:t>remove</a:t>
            </a:r>
            <a:r>
              <a:rPr sz="2200" kern="0" spc="-87" dirty="0">
                <a:solidFill>
                  <a:sysClr val="windowText" lastClr="000000"/>
                </a:solidFill>
                <a:latin typeface="+mj-lt"/>
                <a:cs typeface="Arial Narrow"/>
              </a:rPr>
              <a:t> </a:t>
            </a:r>
            <a:r>
              <a:rPr sz="2200" kern="0" spc="-293" dirty="0">
                <a:solidFill>
                  <a:sysClr val="windowText" lastClr="000000"/>
                </a:solidFill>
                <a:latin typeface="+mj-lt"/>
                <a:cs typeface="Arial Narrow"/>
              </a:rPr>
              <a:t>a</a:t>
            </a:r>
            <a:r>
              <a:rPr sz="2200" kern="0" spc="-53" dirty="0">
                <a:solidFill>
                  <a:sysClr val="windowText" lastClr="000000"/>
                </a:solidFill>
                <a:latin typeface="+mj-lt"/>
                <a:cs typeface="Arial Narrow"/>
              </a:rPr>
              <a:t> </a:t>
            </a:r>
            <a:r>
              <a:rPr sz="2200" kern="0" spc="-167" dirty="0">
                <a:solidFill>
                  <a:sysClr val="windowText" lastClr="000000"/>
                </a:solidFill>
                <a:latin typeface="+mj-lt"/>
                <a:cs typeface="Arial Narrow"/>
              </a:rPr>
              <a:t>customer</a:t>
            </a:r>
            <a:r>
              <a:rPr sz="2200" kern="0" spc="-80" dirty="0">
                <a:solidFill>
                  <a:sysClr val="windowText" lastClr="000000"/>
                </a:solidFill>
                <a:latin typeface="+mj-lt"/>
                <a:cs typeface="Arial Narrow"/>
              </a:rPr>
              <a:t> </a:t>
            </a:r>
            <a:r>
              <a:rPr sz="2200" kern="0" spc="-107" dirty="0">
                <a:solidFill>
                  <a:sysClr val="windowText" lastClr="000000"/>
                </a:solidFill>
                <a:latin typeface="+mj-lt"/>
                <a:cs typeface="Arial Narrow"/>
              </a:rPr>
              <a:t>from</a:t>
            </a:r>
            <a:r>
              <a:rPr sz="2200" kern="0" spc="-73" dirty="0">
                <a:solidFill>
                  <a:sysClr val="windowText" lastClr="000000"/>
                </a:solidFill>
                <a:latin typeface="+mj-lt"/>
                <a:cs typeface="Arial Narrow"/>
              </a:rPr>
              <a:t> </a:t>
            </a:r>
            <a:r>
              <a:rPr sz="2200" kern="0" spc="-140" dirty="0">
                <a:solidFill>
                  <a:sysClr val="windowText" lastClr="000000"/>
                </a:solidFill>
                <a:latin typeface="+mj-lt"/>
                <a:cs typeface="Arial Narrow"/>
              </a:rPr>
              <a:t>the</a:t>
            </a:r>
            <a:r>
              <a:rPr sz="2200" kern="0" spc="-87" dirty="0">
                <a:solidFill>
                  <a:sysClr val="windowText" lastClr="000000"/>
                </a:solidFill>
                <a:latin typeface="+mj-lt"/>
                <a:cs typeface="Arial Narrow"/>
              </a:rPr>
              <a:t> </a:t>
            </a:r>
            <a:r>
              <a:rPr sz="2200" kern="0" spc="-200" dirty="0">
                <a:solidFill>
                  <a:sysClr val="windowText" lastClr="000000"/>
                </a:solidFill>
                <a:latin typeface="+mj-lt"/>
                <a:cs typeface="Arial Narrow"/>
              </a:rPr>
              <a:t>Customers</a:t>
            </a:r>
            <a:r>
              <a:rPr sz="2200" kern="0" spc="-27" dirty="0">
                <a:solidFill>
                  <a:sysClr val="windowText" lastClr="000000"/>
                </a:solidFill>
                <a:latin typeface="+mj-lt"/>
                <a:cs typeface="Arial Narrow"/>
              </a:rPr>
              <a:t> </a:t>
            </a:r>
            <a:r>
              <a:rPr sz="2200" kern="0" spc="-127" dirty="0">
                <a:solidFill>
                  <a:sysClr val="windowText" lastClr="000000"/>
                </a:solidFill>
                <a:latin typeface="+mj-lt"/>
                <a:cs typeface="Arial Narrow"/>
              </a:rPr>
              <a:t>List,</a:t>
            </a:r>
            <a:r>
              <a:rPr sz="2200" kern="0" spc="-107" dirty="0">
                <a:solidFill>
                  <a:sysClr val="windowText" lastClr="000000"/>
                </a:solidFill>
                <a:latin typeface="+mj-lt"/>
                <a:cs typeface="Arial Narrow"/>
              </a:rPr>
              <a:t> </a:t>
            </a:r>
            <a:r>
              <a:rPr sz="2200" kern="0" spc="-213" dirty="0">
                <a:solidFill>
                  <a:sysClr val="windowText" lastClr="000000"/>
                </a:solidFill>
                <a:latin typeface="+mj-lt"/>
                <a:cs typeface="Arial Narrow"/>
              </a:rPr>
              <a:t>and</a:t>
            </a:r>
            <a:r>
              <a:rPr sz="2200" kern="0" spc="-140" dirty="0">
                <a:solidFill>
                  <a:sysClr val="windowText" lastClr="000000"/>
                </a:solidFill>
                <a:latin typeface="+mj-lt"/>
                <a:cs typeface="Arial Narrow"/>
              </a:rPr>
              <a:t> </a:t>
            </a:r>
            <a:r>
              <a:rPr sz="2200" kern="0" spc="-107" dirty="0">
                <a:solidFill>
                  <a:sysClr val="windowText" lastClr="000000"/>
                </a:solidFill>
                <a:latin typeface="+mj-lt"/>
                <a:cs typeface="Arial Narrow"/>
              </a:rPr>
              <a:t>from</a:t>
            </a:r>
            <a:r>
              <a:rPr sz="2200" kern="0" spc="-73" dirty="0">
                <a:solidFill>
                  <a:sysClr val="windowText" lastClr="000000"/>
                </a:solidFill>
                <a:latin typeface="+mj-lt"/>
                <a:cs typeface="Arial Narrow"/>
              </a:rPr>
              <a:t> </a:t>
            </a:r>
            <a:r>
              <a:rPr sz="2200" kern="0" spc="-33" dirty="0">
                <a:solidFill>
                  <a:sysClr val="windowText" lastClr="000000"/>
                </a:solidFill>
                <a:latin typeface="+mj-lt"/>
                <a:cs typeface="Arial Narrow"/>
              </a:rPr>
              <a:t>“customers.data”</a:t>
            </a:r>
            <a:endParaRPr sz="2200" kern="0" dirty="0">
              <a:solidFill>
                <a:sysClr val="windowText" lastClr="000000"/>
              </a:solidFill>
              <a:latin typeface="+mj-lt"/>
              <a:cs typeface="Arial Narrow"/>
            </a:endParaRPr>
          </a:p>
          <a:p>
            <a:pPr marL="784840" lvl="1" indent="-158323" defTabSz="1219170">
              <a:lnSpc>
                <a:spcPts val="2840"/>
              </a:lnSpc>
              <a:buFontTx/>
              <a:buChar char="-"/>
              <a:tabLst>
                <a:tab pos="784840" algn="l"/>
              </a:tabLst>
            </a:pPr>
            <a:r>
              <a:rPr sz="2200" kern="0" spc="-293" dirty="0">
                <a:solidFill>
                  <a:sysClr val="windowText" lastClr="000000"/>
                </a:solidFill>
                <a:latin typeface="+mj-lt"/>
                <a:cs typeface="Arial Narrow"/>
              </a:rPr>
              <a:t>a</a:t>
            </a:r>
            <a:r>
              <a:rPr sz="2200" kern="0" spc="-40" dirty="0">
                <a:solidFill>
                  <a:sysClr val="windowText" lastClr="000000"/>
                </a:solidFill>
                <a:latin typeface="+mj-lt"/>
                <a:cs typeface="Arial Narrow"/>
              </a:rPr>
              <a:t> </a:t>
            </a:r>
            <a:r>
              <a:rPr sz="2200" kern="0" spc="-187" dirty="0">
                <a:solidFill>
                  <a:sysClr val="windowText" lastClr="000000"/>
                </a:solidFill>
                <a:latin typeface="+mj-lt"/>
                <a:cs typeface="Arial Narrow"/>
              </a:rPr>
              <a:t>procedure</a:t>
            </a:r>
            <a:r>
              <a:rPr sz="2200" kern="0" spc="-73" dirty="0">
                <a:solidFill>
                  <a:sysClr val="windowText" lastClr="000000"/>
                </a:solidFill>
                <a:latin typeface="+mj-lt"/>
                <a:cs typeface="Arial Narrow"/>
              </a:rPr>
              <a:t> </a:t>
            </a:r>
            <a:r>
              <a:rPr sz="2200" kern="0" spc="-93" dirty="0">
                <a:solidFill>
                  <a:sysClr val="windowText" lastClr="000000"/>
                </a:solidFill>
                <a:latin typeface="+mj-lt"/>
                <a:cs typeface="Arial Narrow"/>
              </a:rPr>
              <a:t>to</a:t>
            </a:r>
            <a:r>
              <a:rPr sz="2200" kern="0" spc="-120" dirty="0">
                <a:solidFill>
                  <a:sysClr val="windowText" lastClr="000000"/>
                </a:solidFill>
                <a:latin typeface="+mj-lt"/>
                <a:cs typeface="Arial Narrow"/>
              </a:rPr>
              <a:t> </a:t>
            </a:r>
            <a:r>
              <a:rPr sz="2200" kern="0" spc="-127" dirty="0">
                <a:solidFill>
                  <a:sysClr val="windowText" lastClr="000000"/>
                </a:solidFill>
                <a:latin typeface="+mj-lt"/>
                <a:cs typeface="Arial Narrow"/>
              </a:rPr>
              <a:t>retrieve</a:t>
            </a:r>
            <a:r>
              <a:rPr sz="2200" kern="0" spc="-73" dirty="0">
                <a:solidFill>
                  <a:sysClr val="windowText" lastClr="000000"/>
                </a:solidFill>
                <a:latin typeface="+mj-lt"/>
                <a:cs typeface="Arial Narrow"/>
              </a:rPr>
              <a:t> </a:t>
            </a:r>
            <a:r>
              <a:rPr sz="2200" kern="0" spc="-200" dirty="0">
                <a:solidFill>
                  <a:sysClr val="windowText" lastClr="000000"/>
                </a:solidFill>
                <a:latin typeface="+mj-lt"/>
                <a:cs typeface="Arial Narrow"/>
              </a:rPr>
              <a:t>one</a:t>
            </a:r>
            <a:r>
              <a:rPr sz="2200" kern="0" spc="-67" dirty="0">
                <a:solidFill>
                  <a:sysClr val="windowText" lastClr="000000"/>
                </a:solidFill>
                <a:latin typeface="+mj-lt"/>
                <a:cs typeface="Arial Narrow"/>
              </a:rPr>
              <a:t> </a:t>
            </a:r>
            <a:r>
              <a:rPr sz="2200" kern="0" spc="-160" dirty="0">
                <a:solidFill>
                  <a:sysClr val="windowText" lastClr="000000"/>
                </a:solidFill>
                <a:latin typeface="+mj-lt"/>
                <a:cs typeface="Arial Narrow"/>
              </a:rPr>
              <a:t>customer’s</a:t>
            </a:r>
            <a:r>
              <a:rPr sz="2200" kern="0" spc="-20" dirty="0">
                <a:solidFill>
                  <a:sysClr val="windowText" lastClr="000000"/>
                </a:solidFill>
                <a:latin typeface="+mj-lt"/>
                <a:cs typeface="Arial Narrow"/>
              </a:rPr>
              <a:t> </a:t>
            </a:r>
            <a:r>
              <a:rPr sz="2200" kern="0" spc="-213" dirty="0">
                <a:solidFill>
                  <a:sysClr val="windowText" lastClr="000000"/>
                </a:solidFill>
                <a:latin typeface="+mj-lt"/>
                <a:cs typeface="Arial Narrow"/>
              </a:rPr>
              <a:t>bank</a:t>
            </a:r>
            <a:r>
              <a:rPr sz="2200" kern="0" spc="-73" dirty="0">
                <a:solidFill>
                  <a:sysClr val="windowText" lastClr="000000"/>
                </a:solidFill>
                <a:latin typeface="+mj-lt"/>
                <a:cs typeface="Arial Narrow"/>
              </a:rPr>
              <a:t> </a:t>
            </a:r>
            <a:r>
              <a:rPr sz="2200" kern="0" spc="-160" dirty="0">
                <a:solidFill>
                  <a:sysClr val="windowText" lastClr="000000"/>
                </a:solidFill>
                <a:latin typeface="+mj-lt"/>
                <a:cs typeface="Arial Narrow"/>
              </a:rPr>
              <a:t>statement</a:t>
            </a:r>
            <a:r>
              <a:rPr sz="2200" kern="0" spc="-73" dirty="0">
                <a:solidFill>
                  <a:sysClr val="windowText" lastClr="000000"/>
                </a:solidFill>
                <a:latin typeface="+mj-lt"/>
                <a:cs typeface="Arial Narrow"/>
              </a:rPr>
              <a:t> </a:t>
            </a:r>
            <a:r>
              <a:rPr sz="2200" kern="0" spc="-107" dirty="0">
                <a:solidFill>
                  <a:sysClr val="windowText" lastClr="000000"/>
                </a:solidFill>
                <a:latin typeface="+mj-lt"/>
                <a:cs typeface="Arial Narrow"/>
              </a:rPr>
              <a:t>from</a:t>
            </a:r>
            <a:r>
              <a:rPr sz="2200" kern="0" spc="-67" dirty="0">
                <a:solidFill>
                  <a:sysClr val="windowText" lastClr="000000"/>
                </a:solidFill>
                <a:latin typeface="+mj-lt"/>
                <a:cs typeface="Arial Narrow"/>
              </a:rPr>
              <a:t> </a:t>
            </a:r>
            <a:r>
              <a:rPr sz="2200" kern="0" spc="-127" dirty="0">
                <a:solidFill>
                  <a:sysClr val="windowText" lastClr="000000"/>
                </a:solidFill>
                <a:latin typeface="+mj-lt"/>
                <a:cs typeface="Arial Narrow"/>
              </a:rPr>
              <a:t>“customers.data”</a:t>
            </a:r>
            <a:r>
              <a:rPr sz="2200" kern="0" spc="-47" dirty="0">
                <a:solidFill>
                  <a:sysClr val="windowText" lastClr="000000"/>
                </a:solidFill>
                <a:latin typeface="+mj-lt"/>
                <a:cs typeface="Arial Narrow"/>
              </a:rPr>
              <a:t> </a:t>
            </a:r>
            <a:r>
              <a:rPr sz="2200" kern="0" spc="-220" dirty="0">
                <a:solidFill>
                  <a:sysClr val="windowText" lastClr="000000"/>
                </a:solidFill>
                <a:latin typeface="+mj-lt"/>
                <a:cs typeface="Arial Narrow"/>
              </a:rPr>
              <a:t>by</a:t>
            </a:r>
            <a:r>
              <a:rPr sz="2200" kern="0" spc="-80" dirty="0">
                <a:solidFill>
                  <a:sysClr val="windowText" lastClr="000000"/>
                </a:solidFill>
                <a:latin typeface="+mj-lt"/>
                <a:cs typeface="Arial Narrow"/>
              </a:rPr>
              <a:t> </a:t>
            </a:r>
            <a:r>
              <a:rPr sz="2200" kern="0" spc="-133" dirty="0">
                <a:solidFill>
                  <a:sysClr val="windowText" lastClr="000000"/>
                </a:solidFill>
                <a:latin typeface="+mj-lt"/>
                <a:cs typeface="Arial Narrow"/>
              </a:rPr>
              <a:t>entering</a:t>
            </a:r>
            <a:r>
              <a:rPr sz="2200" kern="0" spc="-73" dirty="0">
                <a:solidFill>
                  <a:sysClr val="windowText" lastClr="000000"/>
                </a:solidFill>
                <a:latin typeface="+mj-lt"/>
                <a:cs typeface="Arial Narrow"/>
              </a:rPr>
              <a:t> </a:t>
            </a:r>
            <a:r>
              <a:rPr sz="2200" kern="0" spc="-33" dirty="0">
                <a:solidFill>
                  <a:sysClr val="windowText" lastClr="000000"/>
                </a:solidFill>
                <a:latin typeface="+mj-lt"/>
                <a:cs typeface="Arial Narrow"/>
              </a:rPr>
              <a:t>the</a:t>
            </a:r>
            <a:endParaRPr sz="2200" kern="0" dirty="0">
              <a:solidFill>
                <a:sysClr val="windowText" lastClr="000000"/>
              </a:solidFill>
              <a:latin typeface="+mj-lt"/>
              <a:cs typeface="Arial Narrow"/>
            </a:endParaRPr>
          </a:p>
          <a:p>
            <a:pPr marL="16933" defTabSz="1219170">
              <a:spcBef>
                <a:spcPts val="20"/>
              </a:spcBef>
            </a:pPr>
            <a:r>
              <a:rPr sz="2200" kern="0" spc="-160" dirty="0">
                <a:solidFill>
                  <a:sysClr val="windowText" lastClr="000000"/>
                </a:solidFill>
                <a:latin typeface="+mj-lt"/>
                <a:cs typeface="Arial Narrow"/>
              </a:rPr>
              <a:t>customer’s</a:t>
            </a:r>
            <a:r>
              <a:rPr sz="2200" kern="0" spc="-27" dirty="0">
                <a:solidFill>
                  <a:sysClr val="windowText" lastClr="000000"/>
                </a:solidFill>
                <a:latin typeface="+mj-lt"/>
                <a:cs typeface="Arial Narrow"/>
              </a:rPr>
              <a:t> name</a:t>
            </a:r>
            <a:endParaRPr sz="2200" kern="0" dirty="0">
              <a:solidFill>
                <a:sysClr val="windowText" lastClr="000000"/>
              </a:solidFill>
              <a:latin typeface="+mj-lt"/>
              <a:cs typeface="Arial Narrow"/>
            </a:endParaRPr>
          </a:p>
          <a:p>
            <a:pPr marL="397923" marR="620591" indent="-381837" defTabSz="1219170">
              <a:lnSpc>
                <a:spcPct val="100899"/>
              </a:lnSpc>
              <a:buFont typeface="Arial"/>
              <a:buChar char="•"/>
              <a:tabLst>
                <a:tab pos="397923" algn="l"/>
              </a:tabLst>
            </a:pPr>
            <a:r>
              <a:rPr sz="2200" kern="0" spc="-207" dirty="0">
                <a:solidFill>
                  <a:sysClr val="windowText" lastClr="000000"/>
                </a:solidFill>
                <a:latin typeface="+mj-lt"/>
                <a:cs typeface="Arial Narrow"/>
              </a:rPr>
              <a:t>Handle</a:t>
            </a:r>
            <a:r>
              <a:rPr sz="2200" kern="0" spc="-53" dirty="0">
                <a:solidFill>
                  <a:sysClr val="windowText" lastClr="000000"/>
                </a:solidFill>
                <a:latin typeface="+mj-lt"/>
                <a:cs typeface="Arial Narrow"/>
              </a:rPr>
              <a:t> </a:t>
            </a:r>
            <a:r>
              <a:rPr sz="2200" kern="0" spc="-180" dirty="0">
                <a:solidFill>
                  <a:sysClr val="windowText" lastClr="000000"/>
                </a:solidFill>
                <a:latin typeface="+mj-lt"/>
                <a:cs typeface="Arial Narrow"/>
              </a:rPr>
              <a:t>exceptions</a:t>
            </a:r>
            <a:r>
              <a:rPr sz="2200" kern="0" spc="-113" dirty="0">
                <a:solidFill>
                  <a:sysClr val="windowText" lastClr="000000"/>
                </a:solidFill>
                <a:latin typeface="+mj-lt"/>
                <a:cs typeface="Arial Narrow"/>
              </a:rPr>
              <a:t> </a:t>
            </a:r>
            <a:r>
              <a:rPr sz="2200" kern="0" spc="-193" dirty="0">
                <a:solidFill>
                  <a:sysClr val="windowText" lastClr="000000"/>
                </a:solidFill>
                <a:latin typeface="+mj-lt"/>
                <a:cs typeface="Arial Narrow"/>
              </a:rPr>
              <a:t>such</a:t>
            </a:r>
            <a:r>
              <a:rPr sz="2200" kern="0" spc="-60" dirty="0">
                <a:solidFill>
                  <a:sysClr val="windowText" lastClr="000000"/>
                </a:solidFill>
                <a:latin typeface="+mj-lt"/>
                <a:cs typeface="Arial Narrow"/>
              </a:rPr>
              <a:t> </a:t>
            </a:r>
            <a:r>
              <a:rPr sz="2200" kern="0" spc="-260" dirty="0">
                <a:solidFill>
                  <a:sysClr val="windowText" lastClr="000000"/>
                </a:solidFill>
                <a:latin typeface="+mj-lt"/>
                <a:cs typeface="Arial Narrow"/>
              </a:rPr>
              <a:t>as</a:t>
            </a:r>
            <a:r>
              <a:rPr sz="2200" kern="0" spc="7" dirty="0">
                <a:solidFill>
                  <a:sysClr val="windowText" lastClr="000000"/>
                </a:solidFill>
                <a:latin typeface="+mj-lt"/>
                <a:cs typeface="Arial Narrow"/>
              </a:rPr>
              <a:t> </a:t>
            </a:r>
            <a:r>
              <a:rPr sz="2200" kern="0" spc="-167" dirty="0">
                <a:solidFill>
                  <a:sysClr val="windowText" lastClr="000000"/>
                </a:solidFill>
                <a:latin typeface="+mj-lt"/>
                <a:cs typeface="Arial Narrow"/>
              </a:rPr>
              <a:t>FileNotFoundError,</a:t>
            </a:r>
            <a:r>
              <a:rPr sz="2200" kern="0" spc="-53" dirty="0">
                <a:solidFill>
                  <a:sysClr val="windowText" lastClr="000000"/>
                </a:solidFill>
                <a:latin typeface="+mj-lt"/>
                <a:cs typeface="Arial Narrow"/>
              </a:rPr>
              <a:t> </a:t>
            </a:r>
            <a:r>
              <a:rPr sz="2200" kern="0" spc="-152" dirty="0">
                <a:solidFill>
                  <a:sysClr val="windowText" lastClr="000000"/>
                </a:solidFill>
                <a:latin typeface="+mj-lt"/>
                <a:cs typeface="Arial Narrow"/>
              </a:rPr>
              <a:t>IOError</a:t>
            </a:r>
            <a:r>
              <a:rPr sz="2200" kern="0" spc="-67" dirty="0">
                <a:solidFill>
                  <a:sysClr val="windowText" lastClr="000000"/>
                </a:solidFill>
                <a:latin typeface="+mj-lt"/>
                <a:cs typeface="Arial Narrow"/>
              </a:rPr>
              <a:t> </a:t>
            </a:r>
            <a:r>
              <a:rPr sz="2200" kern="0" spc="-53" dirty="0">
                <a:solidFill>
                  <a:sysClr val="windowText" lastClr="000000"/>
                </a:solidFill>
                <a:latin typeface="+mj-lt"/>
                <a:cs typeface="Arial Narrow"/>
              </a:rPr>
              <a:t>in</a:t>
            </a:r>
            <a:r>
              <a:rPr sz="2200" kern="0" spc="-40" dirty="0">
                <a:solidFill>
                  <a:sysClr val="windowText" lastClr="000000"/>
                </a:solidFill>
                <a:latin typeface="+mj-lt"/>
                <a:cs typeface="Arial Narrow"/>
              </a:rPr>
              <a:t> </a:t>
            </a:r>
            <a:r>
              <a:rPr sz="2200" kern="0" spc="-173" dirty="0">
                <a:solidFill>
                  <a:sysClr val="windowText" lastClr="000000"/>
                </a:solidFill>
                <a:latin typeface="+mj-lt"/>
                <a:cs typeface="Arial Narrow"/>
              </a:rPr>
              <a:t>Python</a:t>
            </a:r>
            <a:r>
              <a:rPr sz="2200" kern="0" spc="-40" dirty="0">
                <a:solidFill>
                  <a:sysClr val="windowText" lastClr="000000"/>
                </a:solidFill>
                <a:latin typeface="+mj-lt"/>
                <a:cs typeface="Arial Narrow"/>
              </a:rPr>
              <a:t> </a:t>
            </a:r>
            <a:r>
              <a:rPr sz="2200" kern="0" spc="-207" dirty="0">
                <a:solidFill>
                  <a:sysClr val="windowText" lastClr="000000"/>
                </a:solidFill>
                <a:latin typeface="+mj-lt"/>
                <a:cs typeface="Arial Narrow"/>
              </a:rPr>
              <a:t>and</a:t>
            </a:r>
            <a:r>
              <a:rPr sz="2200" kern="0" spc="-73" dirty="0">
                <a:solidFill>
                  <a:sysClr val="windowText" lastClr="000000"/>
                </a:solidFill>
                <a:latin typeface="+mj-lt"/>
                <a:cs typeface="Arial Narrow"/>
              </a:rPr>
              <a:t> </a:t>
            </a:r>
            <a:r>
              <a:rPr sz="2200" kern="0" spc="-187" dirty="0">
                <a:solidFill>
                  <a:sysClr val="windowText" lastClr="000000"/>
                </a:solidFill>
                <a:latin typeface="+mj-lt"/>
                <a:cs typeface="Arial Narrow"/>
              </a:rPr>
              <a:t>FileNotFoundException</a:t>
            </a:r>
            <a:r>
              <a:rPr sz="2200" kern="0" spc="-87" dirty="0">
                <a:solidFill>
                  <a:sysClr val="windowText" lastClr="000000"/>
                </a:solidFill>
                <a:latin typeface="+mj-lt"/>
                <a:cs typeface="Arial Narrow"/>
              </a:rPr>
              <a:t> </a:t>
            </a:r>
            <a:r>
              <a:rPr sz="2200" kern="0" spc="-80" dirty="0">
                <a:solidFill>
                  <a:sysClr val="windowText" lastClr="000000"/>
                </a:solidFill>
                <a:latin typeface="+mj-lt"/>
                <a:cs typeface="Arial Narrow"/>
              </a:rPr>
              <a:t>and </a:t>
            </a:r>
            <a:r>
              <a:rPr sz="2200" kern="0" spc="-193" dirty="0">
                <a:solidFill>
                  <a:sysClr val="windowText" lastClr="000000"/>
                </a:solidFill>
                <a:latin typeface="+mj-lt"/>
                <a:cs typeface="Arial Narrow"/>
              </a:rPr>
              <a:t>IOException</a:t>
            </a:r>
            <a:r>
              <a:rPr sz="2200" kern="0" spc="-60" dirty="0">
                <a:solidFill>
                  <a:sysClr val="windowText" lastClr="000000"/>
                </a:solidFill>
                <a:latin typeface="+mj-lt"/>
                <a:cs typeface="Arial Narrow"/>
              </a:rPr>
              <a:t> </a:t>
            </a:r>
            <a:r>
              <a:rPr sz="2200" kern="0" spc="-53" dirty="0">
                <a:solidFill>
                  <a:sysClr val="windowText" lastClr="000000"/>
                </a:solidFill>
                <a:latin typeface="+mj-lt"/>
                <a:cs typeface="Arial Narrow"/>
              </a:rPr>
              <a:t>in</a:t>
            </a:r>
            <a:r>
              <a:rPr sz="2200" kern="0" spc="-73" dirty="0">
                <a:solidFill>
                  <a:sysClr val="windowText" lastClr="000000"/>
                </a:solidFill>
                <a:latin typeface="+mj-lt"/>
                <a:cs typeface="Arial Narrow"/>
              </a:rPr>
              <a:t> </a:t>
            </a:r>
            <a:r>
              <a:rPr sz="2200" kern="0" spc="-27" dirty="0">
                <a:solidFill>
                  <a:sysClr val="windowText" lastClr="000000"/>
                </a:solidFill>
                <a:latin typeface="+mj-lt"/>
                <a:cs typeface="Arial Narrow"/>
              </a:rPr>
              <a:t>Java</a:t>
            </a:r>
            <a:endParaRPr sz="2200" kern="0" dirty="0">
              <a:solidFill>
                <a:sysClr val="windowText" lastClr="000000"/>
              </a:solidFill>
              <a:latin typeface="+mj-lt"/>
              <a:cs typeface="Arial Narro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9981" y="-263467"/>
            <a:ext cx="11092463" cy="1675673"/>
          </a:xfrm>
          <a:prstGeom prst="rect">
            <a:avLst/>
          </a:prstGeom>
        </p:spPr>
        <p:txBody>
          <a:bodyPr vert="horz" wrap="square" lIns="0" tIns="313267" rIns="0" bIns="0" rtlCol="0">
            <a:spAutoFit/>
          </a:bodyPr>
          <a:lstStyle/>
          <a:p>
            <a:pPr marL="16933">
              <a:spcBef>
                <a:spcPts val="2467"/>
              </a:spcBef>
            </a:pPr>
            <a:r>
              <a:rPr spc="-567" dirty="0"/>
              <a:t>Lab</a:t>
            </a:r>
            <a:r>
              <a:rPr spc="-173" dirty="0"/>
              <a:t> </a:t>
            </a:r>
            <a:r>
              <a:rPr spc="-67" dirty="0"/>
              <a:t>9</a:t>
            </a:r>
          </a:p>
          <a:p>
            <a:pPr marL="595192">
              <a:spcBef>
                <a:spcPts val="1000"/>
              </a:spcBef>
            </a:pPr>
            <a:r>
              <a:rPr sz="2400" b="1" spc="-293" dirty="0"/>
              <a:t>Case</a:t>
            </a:r>
            <a:r>
              <a:rPr sz="2400" b="1" spc="-127" dirty="0"/>
              <a:t> </a:t>
            </a:r>
            <a:r>
              <a:rPr sz="2400" b="1" spc="-193" dirty="0"/>
              <a:t>Study</a:t>
            </a:r>
            <a:r>
              <a:rPr sz="2400" b="1" spc="-27" dirty="0"/>
              <a:t> </a:t>
            </a:r>
            <a:r>
              <a:rPr sz="2400" b="1" spc="127" dirty="0"/>
              <a:t>-</a:t>
            </a:r>
            <a:r>
              <a:rPr sz="2400" b="1" spc="-60" dirty="0"/>
              <a:t> </a:t>
            </a:r>
            <a:r>
              <a:rPr sz="2400" b="1" spc="-187" dirty="0"/>
              <a:t>continued:</a:t>
            </a:r>
            <a:r>
              <a:rPr sz="2400" b="1" spc="-107" dirty="0"/>
              <a:t> </a:t>
            </a:r>
            <a:r>
              <a:rPr sz="2400" spc="-93" dirty="0"/>
              <a:t>Writing</a:t>
            </a:r>
            <a:r>
              <a:rPr sz="2400" spc="-80" dirty="0"/>
              <a:t> </a:t>
            </a:r>
            <a:r>
              <a:rPr sz="2400" spc="-167" dirty="0"/>
              <a:t>objects</a:t>
            </a:r>
            <a:r>
              <a:rPr sz="2400" spc="-113" dirty="0"/>
              <a:t> </a:t>
            </a:r>
            <a:r>
              <a:rPr sz="2400" spc="-93" dirty="0"/>
              <a:t>to</a:t>
            </a:r>
            <a:r>
              <a:rPr sz="2400" spc="-120" dirty="0"/>
              <a:t> </a:t>
            </a:r>
            <a:r>
              <a:rPr sz="2400" spc="-13" dirty="0"/>
              <a:t>files</a:t>
            </a:r>
            <a:endParaRPr sz="2400"/>
          </a:p>
        </p:txBody>
      </p:sp>
      <p:sp>
        <p:nvSpPr>
          <p:cNvPr id="3" name="object 3"/>
          <p:cNvSpPr txBox="1"/>
          <p:nvPr/>
        </p:nvSpPr>
        <p:spPr>
          <a:xfrm>
            <a:off x="755649" y="2622635"/>
            <a:ext cx="10693400" cy="1180665"/>
          </a:xfrm>
          <a:prstGeom prst="rect">
            <a:avLst/>
          </a:prstGeom>
          <a:solidFill>
            <a:srgbClr val="D9D9D9"/>
          </a:solidFill>
          <a:ln w="9525">
            <a:solidFill>
              <a:srgbClr val="000000"/>
            </a:solidFill>
          </a:ln>
        </p:spPr>
        <p:txBody>
          <a:bodyPr vert="horz" wrap="square" lIns="0" tIns="59267" rIns="0" bIns="0" rtlCol="0">
            <a:spAutoFit/>
          </a:bodyPr>
          <a:lstStyle/>
          <a:p>
            <a:pPr marL="118530" defTabSz="1219170">
              <a:spcBef>
                <a:spcPts val="467"/>
              </a:spcBef>
            </a:pPr>
            <a:r>
              <a:rPr sz="2400" kern="0" spc="-160" dirty="0">
                <a:solidFill>
                  <a:sysClr val="windowText" lastClr="000000"/>
                </a:solidFill>
                <a:latin typeface="Arial Narrow"/>
                <a:cs typeface="Arial Narrow"/>
              </a:rPr>
              <a:t>Python:</a:t>
            </a:r>
            <a:r>
              <a:rPr sz="2400" kern="0" spc="-47" dirty="0">
                <a:solidFill>
                  <a:sysClr val="windowText" lastClr="000000"/>
                </a:solidFill>
                <a:latin typeface="Arial Narrow"/>
                <a:cs typeface="Arial Narrow"/>
              </a:rPr>
              <a:t> </a:t>
            </a:r>
            <a:r>
              <a:rPr sz="2400" kern="0" spc="-100" dirty="0">
                <a:solidFill>
                  <a:sysClr val="windowText" lastClr="000000"/>
                </a:solidFill>
                <a:latin typeface="Arial Narrow"/>
                <a:cs typeface="Arial Narrow"/>
              </a:rPr>
              <a:t>import</a:t>
            </a:r>
            <a:r>
              <a:rPr sz="2400" kern="0" spc="-73" dirty="0">
                <a:solidFill>
                  <a:sysClr val="windowText" lastClr="000000"/>
                </a:solidFill>
                <a:latin typeface="Arial Narrow"/>
                <a:cs typeface="Arial Narrow"/>
              </a:rPr>
              <a:t> </a:t>
            </a:r>
            <a:r>
              <a:rPr sz="2400" kern="0" spc="-13" dirty="0">
                <a:solidFill>
                  <a:sysClr val="windowText" lastClr="000000"/>
                </a:solidFill>
                <a:latin typeface="Arial Narrow"/>
                <a:cs typeface="Arial Narrow"/>
              </a:rPr>
              <a:t>pickle</a:t>
            </a:r>
            <a:endParaRPr sz="2400" kern="0">
              <a:solidFill>
                <a:sysClr val="windowText" lastClr="000000"/>
              </a:solidFill>
              <a:latin typeface="Arial Narrow"/>
              <a:cs typeface="Arial Narrow"/>
            </a:endParaRPr>
          </a:p>
          <a:p>
            <a:pPr defTabSz="1219170">
              <a:spcBef>
                <a:spcPts val="80"/>
              </a:spcBef>
            </a:pPr>
            <a:endParaRPr sz="2400" kern="0">
              <a:solidFill>
                <a:sysClr val="windowText" lastClr="000000"/>
              </a:solidFill>
              <a:latin typeface="Arial Narrow"/>
              <a:cs typeface="Arial Narrow"/>
            </a:endParaRPr>
          </a:p>
          <a:p>
            <a:pPr marL="118530" defTabSz="1219170"/>
            <a:r>
              <a:rPr sz="2400" kern="0" spc="-267" dirty="0">
                <a:solidFill>
                  <a:sysClr val="windowText" lastClr="000000"/>
                </a:solidFill>
                <a:latin typeface="Arial Narrow"/>
                <a:cs typeface="Arial Narrow"/>
              </a:rPr>
              <a:t>Java:</a:t>
            </a:r>
            <a:r>
              <a:rPr sz="2400" kern="0" spc="-33" dirty="0">
                <a:solidFill>
                  <a:sysClr val="windowText" lastClr="000000"/>
                </a:solidFill>
                <a:latin typeface="Arial Narrow"/>
                <a:cs typeface="Arial Narrow"/>
              </a:rPr>
              <a:t> </a:t>
            </a:r>
            <a:r>
              <a:rPr sz="2400" kern="0" spc="-140" dirty="0">
                <a:solidFill>
                  <a:sysClr val="windowText" lastClr="000000"/>
                </a:solidFill>
                <a:latin typeface="Arial Narrow"/>
                <a:cs typeface="Arial Narrow"/>
              </a:rPr>
              <a:t>implement</a:t>
            </a:r>
            <a:r>
              <a:rPr sz="2400" kern="0" spc="-40" dirty="0">
                <a:solidFill>
                  <a:sysClr val="windowText" lastClr="000000"/>
                </a:solidFill>
                <a:latin typeface="Arial Narrow"/>
                <a:cs typeface="Arial Narrow"/>
              </a:rPr>
              <a:t> </a:t>
            </a:r>
            <a:r>
              <a:rPr sz="2400" kern="0" spc="-140" dirty="0">
                <a:solidFill>
                  <a:sysClr val="windowText" lastClr="000000"/>
                </a:solidFill>
                <a:latin typeface="Arial Narrow"/>
                <a:cs typeface="Arial Narrow"/>
              </a:rPr>
              <a:t>the</a:t>
            </a:r>
            <a:r>
              <a:rPr sz="2400" kern="0" spc="-60" dirty="0">
                <a:solidFill>
                  <a:sysClr val="windowText" lastClr="000000"/>
                </a:solidFill>
                <a:latin typeface="Arial Narrow"/>
                <a:cs typeface="Arial Narrow"/>
              </a:rPr>
              <a:t> </a:t>
            </a:r>
            <a:r>
              <a:rPr sz="2400" kern="0" spc="-160" dirty="0">
                <a:solidFill>
                  <a:sysClr val="windowText" lastClr="000000"/>
                </a:solidFill>
                <a:latin typeface="Arial Narrow"/>
                <a:cs typeface="Arial Narrow"/>
              </a:rPr>
              <a:t>java.io.Serializable</a:t>
            </a:r>
            <a:r>
              <a:rPr sz="2400" kern="0" spc="-7" dirty="0">
                <a:solidFill>
                  <a:sysClr val="windowText" lastClr="000000"/>
                </a:solidFill>
                <a:latin typeface="Arial Narrow"/>
                <a:cs typeface="Arial Narrow"/>
              </a:rPr>
              <a:t> </a:t>
            </a:r>
            <a:r>
              <a:rPr sz="2400" kern="0" spc="-13" dirty="0">
                <a:solidFill>
                  <a:sysClr val="windowText" lastClr="000000"/>
                </a:solidFill>
                <a:latin typeface="Arial Narrow"/>
                <a:cs typeface="Arial Narrow"/>
              </a:rPr>
              <a:t>interface</a:t>
            </a:r>
            <a:endParaRPr sz="2400" kern="0">
              <a:solidFill>
                <a:sysClr val="windowText" lastClr="000000"/>
              </a:solidFill>
              <a:latin typeface="Arial Narrow"/>
              <a:cs typeface="Arial Narro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9981" y="-263467"/>
            <a:ext cx="11092463" cy="1675673"/>
          </a:xfrm>
          <a:prstGeom prst="rect">
            <a:avLst/>
          </a:prstGeom>
        </p:spPr>
        <p:txBody>
          <a:bodyPr vert="horz" wrap="square" lIns="0" tIns="313267" rIns="0" bIns="0" rtlCol="0">
            <a:spAutoFit/>
          </a:bodyPr>
          <a:lstStyle/>
          <a:p>
            <a:pPr marL="16933">
              <a:spcBef>
                <a:spcPts val="2467"/>
              </a:spcBef>
            </a:pPr>
            <a:r>
              <a:rPr spc="-567" dirty="0">
                <a:latin typeface="+mj-lt"/>
              </a:rPr>
              <a:t>Lab</a:t>
            </a:r>
            <a:r>
              <a:rPr spc="-173" dirty="0">
                <a:latin typeface="+mj-lt"/>
              </a:rPr>
              <a:t> </a:t>
            </a:r>
            <a:r>
              <a:rPr spc="-67" dirty="0">
                <a:latin typeface="+mj-lt"/>
              </a:rPr>
              <a:t>9</a:t>
            </a:r>
          </a:p>
          <a:p>
            <a:pPr marL="595192">
              <a:spcBef>
                <a:spcPts val="1000"/>
              </a:spcBef>
            </a:pPr>
            <a:r>
              <a:rPr sz="2400" b="1" spc="-293" dirty="0">
                <a:latin typeface="+mj-lt"/>
              </a:rPr>
              <a:t>Case</a:t>
            </a:r>
            <a:r>
              <a:rPr sz="2400" b="1" spc="-133" dirty="0">
                <a:latin typeface="+mj-lt"/>
              </a:rPr>
              <a:t> </a:t>
            </a:r>
            <a:r>
              <a:rPr sz="2400" b="1" spc="-193" dirty="0">
                <a:latin typeface="+mj-lt"/>
              </a:rPr>
              <a:t>Study</a:t>
            </a:r>
            <a:r>
              <a:rPr sz="2400" b="1" spc="-20" dirty="0">
                <a:latin typeface="+mj-lt"/>
              </a:rPr>
              <a:t> </a:t>
            </a:r>
            <a:r>
              <a:rPr sz="2400" b="1" spc="127" dirty="0">
                <a:latin typeface="+mj-lt"/>
              </a:rPr>
              <a:t>-</a:t>
            </a:r>
            <a:r>
              <a:rPr sz="2400" b="1" spc="-67" dirty="0">
                <a:latin typeface="+mj-lt"/>
              </a:rPr>
              <a:t> </a:t>
            </a:r>
            <a:r>
              <a:rPr sz="2400" b="1" spc="-187" dirty="0">
                <a:latin typeface="+mj-lt"/>
              </a:rPr>
              <a:t>continued:</a:t>
            </a:r>
            <a:r>
              <a:rPr sz="2400" b="1" spc="-107" dirty="0">
                <a:latin typeface="+mj-lt"/>
              </a:rPr>
              <a:t> </a:t>
            </a:r>
            <a:r>
              <a:rPr sz="2400" spc="-220" dirty="0">
                <a:latin typeface="+mj-lt"/>
              </a:rPr>
              <a:t>Sample</a:t>
            </a:r>
            <a:r>
              <a:rPr sz="2400" spc="-67" dirty="0">
                <a:latin typeface="+mj-lt"/>
              </a:rPr>
              <a:t> </a:t>
            </a:r>
            <a:r>
              <a:rPr sz="2400" spc="-260" dirty="0">
                <a:latin typeface="+mj-lt"/>
              </a:rPr>
              <a:t>Class</a:t>
            </a:r>
            <a:r>
              <a:rPr sz="2400" spc="-13" dirty="0">
                <a:latin typeface="+mj-lt"/>
              </a:rPr>
              <a:t> </a:t>
            </a:r>
            <a:r>
              <a:rPr sz="2400" spc="-133" dirty="0">
                <a:latin typeface="+mj-lt"/>
              </a:rPr>
              <a:t>Diagram</a:t>
            </a:r>
            <a:endParaRPr sz="2400" dirty="0">
              <a:latin typeface="+mj-lt"/>
            </a:endParaRPr>
          </a:p>
        </p:txBody>
      </p:sp>
      <p:sp>
        <p:nvSpPr>
          <p:cNvPr id="3" name="object 3"/>
          <p:cNvSpPr txBox="1"/>
          <p:nvPr/>
        </p:nvSpPr>
        <p:spPr>
          <a:xfrm>
            <a:off x="6000835" y="2813135"/>
            <a:ext cx="5715000" cy="633635"/>
          </a:xfrm>
          <a:prstGeom prst="rect">
            <a:avLst/>
          </a:prstGeom>
          <a:solidFill>
            <a:srgbClr val="F9C090"/>
          </a:solidFill>
          <a:ln w="9525">
            <a:solidFill>
              <a:srgbClr val="000000"/>
            </a:solidFill>
          </a:ln>
        </p:spPr>
        <p:txBody>
          <a:bodyPr vert="horz" wrap="square" lIns="0" tIns="58420" rIns="0" bIns="0" rtlCol="0">
            <a:spAutoFit/>
          </a:bodyPr>
          <a:lstStyle/>
          <a:p>
            <a:pPr marL="121070" defTabSz="1219170">
              <a:spcBef>
                <a:spcPts val="460"/>
              </a:spcBef>
            </a:pPr>
            <a:r>
              <a:rPr sz="1867" kern="0" spc="-167" dirty="0">
                <a:solidFill>
                  <a:sysClr val="windowText" lastClr="000000"/>
                </a:solidFill>
                <a:latin typeface="+mj-lt"/>
                <a:cs typeface="Arial Narrow"/>
              </a:rPr>
              <a:t>Bank</a:t>
            </a:r>
            <a:r>
              <a:rPr sz="1867" kern="0" spc="-80" dirty="0">
                <a:solidFill>
                  <a:sysClr val="windowText" lastClr="000000"/>
                </a:solidFill>
                <a:latin typeface="+mj-lt"/>
                <a:cs typeface="Arial Narrow"/>
              </a:rPr>
              <a:t> </a:t>
            </a:r>
            <a:r>
              <a:rPr sz="1867" kern="0" spc="-193" dirty="0">
                <a:solidFill>
                  <a:sysClr val="windowText" lastClr="000000"/>
                </a:solidFill>
                <a:latin typeface="+mj-lt"/>
                <a:cs typeface="Arial Narrow"/>
              </a:rPr>
              <a:t>has</a:t>
            </a:r>
            <a:r>
              <a:rPr sz="1867" kern="0" spc="-27" dirty="0">
                <a:solidFill>
                  <a:sysClr val="windowText" lastClr="000000"/>
                </a:solidFill>
                <a:latin typeface="+mj-lt"/>
                <a:cs typeface="Arial Narrow"/>
              </a:rPr>
              <a:t> </a:t>
            </a:r>
            <a:r>
              <a:rPr sz="1867" kern="0" spc="-100" dirty="0">
                <a:solidFill>
                  <a:sysClr val="windowText" lastClr="000000"/>
                </a:solidFill>
                <a:latin typeface="+mj-lt"/>
                <a:cs typeface="Arial Narrow"/>
              </a:rPr>
              <a:t>the</a:t>
            </a:r>
            <a:r>
              <a:rPr sz="1867" kern="0" spc="-73" dirty="0">
                <a:solidFill>
                  <a:sysClr val="windowText" lastClr="000000"/>
                </a:solidFill>
                <a:latin typeface="+mj-lt"/>
                <a:cs typeface="Arial Narrow"/>
              </a:rPr>
              <a:t> </a:t>
            </a:r>
            <a:r>
              <a:rPr sz="1867" kern="0" spc="-127" dirty="0">
                <a:solidFill>
                  <a:sysClr val="windowText" lastClr="000000"/>
                </a:solidFill>
                <a:latin typeface="+mj-lt"/>
                <a:cs typeface="Arial Narrow"/>
              </a:rPr>
              <a:t>main</a:t>
            </a:r>
            <a:r>
              <a:rPr sz="1867" kern="0" spc="-40" dirty="0">
                <a:solidFill>
                  <a:sysClr val="windowText" lastClr="000000"/>
                </a:solidFill>
                <a:latin typeface="+mj-lt"/>
                <a:cs typeface="Arial Narrow"/>
              </a:rPr>
              <a:t> </a:t>
            </a:r>
            <a:r>
              <a:rPr sz="1867" kern="0" spc="-140" dirty="0">
                <a:solidFill>
                  <a:sysClr val="windowText" lastClr="000000"/>
                </a:solidFill>
                <a:latin typeface="+mj-lt"/>
                <a:cs typeface="Arial Narrow"/>
              </a:rPr>
              <a:t>system</a:t>
            </a:r>
            <a:r>
              <a:rPr sz="1867" kern="0" spc="-147" dirty="0">
                <a:solidFill>
                  <a:sysClr val="windowText" lastClr="000000"/>
                </a:solidFill>
                <a:latin typeface="+mj-lt"/>
                <a:cs typeface="Arial Narrow"/>
              </a:rPr>
              <a:t> </a:t>
            </a:r>
            <a:r>
              <a:rPr sz="1867" kern="0" spc="-140" dirty="0">
                <a:solidFill>
                  <a:sysClr val="windowText" lastClr="000000"/>
                </a:solidFill>
                <a:latin typeface="+mj-lt"/>
                <a:cs typeface="Arial Narrow"/>
              </a:rPr>
              <a:t>menu</a:t>
            </a:r>
            <a:r>
              <a:rPr sz="1867" kern="0" spc="-133" dirty="0">
                <a:solidFill>
                  <a:sysClr val="windowText" lastClr="000000"/>
                </a:solidFill>
                <a:latin typeface="+mj-lt"/>
                <a:cs typeface="Arial Narrow"/>
              </a:rPr>
              <a:t> </a:t>
            </a:r>
            <a:r>
              <a:rPr sz="1867" kern="0" spc="-160" dirty="0">
                <a:solidFill>
                  <a:sysClr val="windowText" lastClr="000000"/>
                </a:solidFill>
                <a:latin typeface="+mj-lt"/>
                <a:cs typeface="Arial Narrow"/>
              </a:rPr>
              <a:t>and</a:t>
            </a:r>
            <a:r>
              <a:rPr sz="1867" kern="0" spc="-13" dirty="0">
                <a:solidFill>
                  <a:sysClr val="windowText" lastClr="000000"/>
                </a:solidFill>
                <a:latin typeface="+mj-lt"/>
                <a:cs typeface="Arial Narrow"/>
              </a:rPr>
              <a:t> </a:t>
            </a:r>
            <a:r>
              <a:rPr sz="1867" kern="0" spc="-107" dirty="0">
                <a:solidFill>
                  <a:sysClr val="windowText" lastClr="000000"/>
                </a:solidFill>
                <a:latin typeface="+mj-lt"/>
                <a:cs typeface="Arial Narrow"/>
              </a:rPr>
              <a:t>interacts</a:t>
            </a:r>
            <a:r>
              <a:rPr sz="1867" kern="0" spc="-33" dirty="0">
                <a:solidFill>
                  <a:sysClr val="windowText" lastClr="000000"/>
                </a:solidFill>
                <a:latin typeface="+mj-lt"/>
                <a:cs typeface="Arial Narrow"/>
              </a:rPr>
              <a:t> </a:t>
            </a:r>
            <a:r>
              <a:rPr sz="1867" kern="0" spc="-53" dirty="0">
                <a:solidFill>
                  <a:sysClr val="windowText" lastClr="000000"/>
                </a:solidFill>
                <a:latin typeface="+mj-lt"/>
                <a:cs typeface="Arial Narrow"/>
              </a:rPr>
              <a:t>with</a:t>
            </a:r>
            <a:r>
              <a:rPr sz="1867" kern="0" spc="-40" dirty="0">
                <a:solidFill>
                  <a:sysClr val="windowText" lastClr="000000"/>
                </a:solidFill>
                <a:latin typeface="+mj-lt"/>
                <a:cs typeface="Arial Narrow"/>
              </a:rPr>
              <a:t> </a:t>
            </a:r>
            <a:r>
              <a:rPr sz="1867" kern="0" spc="-13" dirty="0">
                <a:solidFill>
                  <a:sysClr val="windowText" lastClr="000000"/>
                </a:solidFill>
                <a:latin typeface="+mj-lt"/>
                <a:cs typeface="Arial Narrow"/>
              </a:rPr>
              <a:t>“customers.data”</a:t>
            </a:r>
            <a:endParaRPr sz="1867" kern="0">
              <a:solidFill>
                <a:sysClr val="windowText" lastClr="000000"/>
              </a:solidFill>
              <a:latin typeface="+mj-lt"/>
              <a:cs typeface="Arial Narrow"/>
            </a:endParaRPr>
          </a:p>
        </p:txBody>
      </p:sp>
      <p:sp>
        <p:nvSpPr>
          <p:cNvPr id="4" name="object 4"/>
          <p:cNvSpPr txBox="1"/>
          <p:nvPr/>
        </p:nvSpPr>
        <p:spPr>
          <a:xfrm>
            <a:off x="6000835" y="3422735"/>
            <a:ext cx="5715000" cy="347169"/>
          </a:xfrm>
          <a:prstGeom prst="rect">
            <a:avLst/>
          </a:prstGeom>
          <a:solidFill>
            <a:srgbClr val="F9C090"/>
          </a:solidFill>
          <a:ln w="9525">
            <a:solidFill>
              <a:srgbClr val="000000"/>
            </a:solidFill>
          </a:ln>
        </p:spPr>
        <p:txBody>
          <a:bodyPr vert="horz" wrap="square" lIns="0" tIns="59267" rIns="0" bIns="0" rtlCol="0">
            <a:spAutoFit/>
          </a:bodyPr>
          <a:lstStyle/>
          <a:p>
            <a:pPr marL="121070" defTabSz="1219170">
              <a:spcBef>
                <a:spcPts val="467"/>
              </a:spcBef>
            </a:pPr>
            <a:r>
              <a:rPr sz="1867" kern="0" spc="-167" dirty="0">
                <a:solidFill>
                  <a:sysClr val="windowText" lastClr="000000"/>
                </a:solidFill>
                <a:latin typeface="+mj-lt"/>
                <a:cs typeface="Arial Narrow"/>
              </a:rPr>
              <a:t>Manager</a:t>
            </a:r>
            <a:r>
              <a:rPr sz="1867" kern="0" spc="40" dirty="0">
                <a:solidFill>
                  <a:sysClr val="windowText" lastClr="000000"/>
                </a:solidFill>
                <a:latin typeface="+mj-lt"/>
                <a:cs typeface="Arial Narrow"/>
              </a:rPr>
              <a:t> </a:t>
            </a:r>
            <a:r>
              <a:rPr sz="1867" kern="0" spc="-193" dirty="0">
                <a:solidFill>
                  <a:sysClr val="windowText" lastClr="000000"/>
                </a:solidFill>
                <a:latin typeface="+mj-lt"/>
                <a:cs typeface="Arial Narrow"/>
              </a:rPr>
              <a:t>has</a:t>
            </a:r>
            <a:r>
              <a:rPr sz="1867" kern="0" spc="7" dirty="0">
                <a:solidFill>
                  <a:sysClr val="windowText" lastClr="000000"/>
                </a:solidFill>
                <a:latin typeface="+mj-lt"/>
                <a:cs typeface="Arial Narrow"/>
              </a:rPr>
              <a:t> </a:t>
            </a:r>
            <a:r>
              <a:rPr sz="1867" kern="0" spc="-100" dirty="0">
                <a:solidFill>
                  <a:sysClr val="windowText" lastClr="000000"/>
                </a:solidFill>
                <a:latin typeface="+mj-lt"/>
                <a:cs typeface="Arial Narrow"/>
              </a:rPr>
              <a:t>the</a:t>
            </a:r>
            <a:r>
              <a:rPr sz="1867" kern="0" spc="-40" dirty="0">
                <a:solidFill>
                  <a:sysClr val="windowText" lastClr="000000"/>
                </a:solidFill>
                <a:latin typeface="+mj-lt"/>
                <a:cs typeface="Arial Narrow"/>
              </a:rPr>
              <a:t> </a:t>
            </a:r>
            <a:r>
              <a:rPr sz="1867" kern="0" spc="-167" dirty="0">
                <a:solidFill>
                  <a:sysClr val="windowText" lastClr="000000"/>
                </a:solidFill>
                <a:latin typeface="+mj-lt"/>
                <a:cs typeface="Arial Narrow"/>
              </a:rPr>
              <a:t>Manager</a:t>
            </a:r>
            <a:r>
              <a:rPr sz="1867" kern="0" spc="-80" dirty="0">
                <a:solidFill>
                  <a:sysClr val="windowText" lastClr="000000"/>
                </a:solidFill>
                <a:latin typeface="+mj-lt"/>
                <a:cs typeface="Arial Narrow"/>
              </a:rPr>
              <a:t> </a:t>
            </a:r>
            <a:r>
              <a:rPr sz="1867" kern="0" spc="-87" dirty="0">
                <a:solidFill>
                  <a:sysClr val="windowText" lastClr="000000"/>
                </a:solidFill>
                <a:latin typeface="+mj-lt"/>
                <a:cs typeface="Arial Narrow"/>
              </a:rPr>
              <a:t>sub-</a:t>
            </a:r>
            <a:r>
              <a:rPr sz="1867" kern="0" spc="-13" dirty="0">
                <a:solidFill>
                  <a:sysClr val="windowText" lastClr="000000"/>
                </a:solidFill>
                <a:latin typeface="+mj-lt"/>
                <a:cs typeface="Arial Narrow"/>
              </a:rPr>
              <a:t>system.</a:t>
            </a:r>
            <a:endParaRPr sz="1867" kern="0">
              <a:solidFill>
                <a:sysClr val="windowText" lastClr="000000"/>
              </a:solidFill>
              <a:latin typeface="+mj-lt"/>
              <a:cs typeface="Arial Narrow"/>
            </a:endParaRPr>
          </a:p>
        </p:txBody>
      </p:sp>
      <p:sp>
        <p:nvSpPr>
          <p:cNvPr id="5" name="object 5"/>
          <p:cNvSpPr txBox="1"/>
          <p:nvPr/>
        </p:nvSpPr>
        <p:spPr>
          <a:xfrm>
            <a:off x="6000835" y="4032335"/>
            <a:ext cx="5715000" cy="644621"/>
          </a:xfrm>
          <a:prstGeom prst="rect">
            <a:avLst/>
          </a:prstGeom>
          <a:solidFill>
            <a:srgbClr val="F9C090"/>
          </a:solidFill>
          <a:ln w="9525">
            <a:solidFill>
              <a:srgbClr val="000000"/>
            </a:solidFill>
          </a:ln>
        </p:spPr>
        <p:txBody>
          <a:bodyPr vert="horz" wrap="square" lIns="0" tIns="79587" rIns="0" bIns="0" rtlCol="0">
            <a:spAutoFit/>
          </a:bodyPr>
          <a:lstStyle/>
          <a:p>
            <a:pPr marL="121070" marR="602812" defTabSz="1219170">
              <a:lnSpc>
                <a:spcPts val="2200"/>
              </a:lnSpc>
              <a:spcBef>
                <a:spcPts val="627"/>
              </a:spcBef>
            </a:pPr>
            <a:r>
              <a:rPr sz="1867" kern="0" spc="-160" dirty="0">
                <a:solidFill>
                  <a:sysClr val="windowText" lastClr="000000"/>
                </a:solidFill>
                <a:latin typeface="+mj-lt"/>
                <a:cs typeface="Arial Narrow"/>
              </a:rPr>
              <a:t>Customer</a:t>
            </a:r>
            <a:r>
              <a:rPr sz="1867" kern="0" spc="-80" dirty="0">
                <a:solidFill>
                  <a:sysClr val="windowText" lastClr="000000"/>
                </a:solidFill>
                <a:latin typeface="+mj-lt"/>
                <a:cs typeface="Arial Narrow"/>
              </a:rPr>
              <a:t> </a:t>
            </a:r>
            <a:r>
              <a:rPr sz="1867" kern="0" spc="-147" dirty="0">
                <a:solidFill>
                  <a:sysClr val="windowText" lastClr="000000"/>
                </a:solidFill>
                <a:latin typeface="+mj-lt"/>
                <a:cs typeface="Arial Narrow"/>
              </a:rPr>
              <a:t>enables</a:t>
            </a:r>
            <a:r>
              <a:rPr sz="1867" kern="0" spc="-113" dirty="0">
                <a:solidFill>
                  <a:sysClr val="windowText" lastClr="000000"/>
                </a:solidFill>
                <a:latin typeface="+mj-lt"/>
                <a:cs typeface="Arial Narrow"/>
              </a:rPr>
              <a:t> </a:t>
            </a:r>
            <a:r>
              <a:rPr sz="1867" kern="0" spc="-133" dirty="0">
                <a:solidFill>
                  <a:sysClr val="windowText" lastClr="000000"/>
                </a:solidFill>
                <a:latin typeface="+mj-lt"/>
                <a:cs typeface="Arial Narrow"/>
              </a:rPr>
              <a:t>customers</a:t>
            </a:r>
            <a:r>
              <a:rPr sz="1867" kern="0" spc="-107" dirty="0">
                <a:solidFill>
                  <a:sysClr val="windowText" lastClr="000000"/>
                </a:solidFill>
                <a:latin typeface="+mj-lt"/>
                <a:cs typeface="Arial Narrow"/>
              </a:rPr>
              <a:t> </a:t>
            </a:r>
            <a:r>
              <a:rPr sz="1867" kern="0" spc="-53" dirty="0">
                <a:solidFill>
                  <a:sysClr val="windowText" lastClr="000000"/>
                </a:solidFill>
                <a:latin typeface="+mj-lt"/>
                <a:cs typeface="Arial Narrow"/>
              </a:rPr>
              <a:t>to</a:t>
            </a:r>
            <a:r>
              <a:rPr sz="1867" kern="0" spc="-80" dirty="0">
                <a:solidFill>
                  <a:sysClr val="windowText" lastClr="000000"/>
                </a:solidFill>
                <a:latin typeface="+mj-lt"/>
                <a:cs typeface="Arial Narrow"/>
              </a:rPr>
              <a:t> </a:t>
            </a:r>
            <a:r>
              <a:rPr sz="1867" kern="0" spc="-100" dirty="0">
                <a:solidFill>
                  <a:sysClr val="windowText" lastClr="000000"/>
                </a:solidFill>
                <a:latin typeface="+mj-lt"/>
                <a:cs typeface="Arial Narrow"/>
              </a:rPr>
              <a:t>perform</a:t>
            </a:r>
            <a:r>
              <a:rPr sz="1867" kern="0" spc="-7" dirty="0">
                <a:solidFill>
                  <a:sysClr val="windowText" lastClr="000000"/>
                </a:solidFill>
                <a:latin typeface="+mj-lt"/>
                <a:cs typeface="Arial Narrow"/>
              </a:rPr>
              <a:t> </a:t>
            </a:r>
            <a:r>
              <a:rPr sz="1867" kern="0" spc="-113" dirty="0">
                <a:solidFill>
                  <a:sysClr val="windowText" lastClr="000000"/>
                </a:solidFill>
                <a:latin typeface="+mj-lt"/>
                <a:cs typeface="Arial Narrow"/>
              </a:rPr>
              <a:t>banking</a:t>
            </a:r>
            <a:r>
              <a:rPr sz="1867" kern="0" spc="-13" dirty="0">
                <a:solidFill>
                  <a:sysClr val="windowText" lastClr="000000"/>
                </a:solidFill>
                <a:latin typeface="+mj-lt"/>
                <a:cs typeface="Arial Narrow"/>
              </a:rPr>
              <a:t> </a:t>
            </a:r>
            <a:r>
              <a:rPr sz="1867" kern="0" spc="-127" dirty="0">
                <a:solidFill>
                  <a:sysClr val="windowText" lastClr="000000"/>
                </a:solidFill>
                <a:latin typeface="+mj-lt"/>
                <a:cs typeface="Arial Narrow"/>
              </a:rPr>
              <a:t>operations,</a:t>
            </a:r>
            <a:r>
              <a:rPr sz="1867" kern="0" spc="-67" dirty="0">
                <a:solidFill>
                  <a:sysClr val="windowText" lastClr="000000"/>
                </a:solidFill>
                <a:latin typeface="+mj-lt"/>
                <a:cs typeface="Arial Narrow"/>
              </a:rPr>
              <a:t> </a:t>
            </a:r>
            <a:r>
              <a:rPr sz="1867" kern="0" spc="-152" dirty="0">
                <a:solidFill>
                  <a:sysClr val="windowText" lastClr="000000"/>
                </a:solidFill>
                <a:latin typeface="+mj-lt"/>
                <a:cs typeface="Arial Narrow"/>
              </a:rPr>
              <a:t>such</a:t>
            </a:r>
            <a:r>
              <a:rPr sz="1867" kern="0" dirty="0">
                <a:solidFill>
                  <a:sysClr val="windowText" lastClr="000000"/>
                </a:solidFill>
                <a:latin typeface="+mj-lt"/>
                <a:cs typeface="Arial Narrow"/>
              </a:rPr>
              <a:t> </a:t>
            </a:r>
            <a:r>
              <a:rPr sz="1867" kern="0" spc="-93" dirty="0">
                <a:solidFill>
                  <a:sysClr val="windowText" lastClr="000000"/>
                </a:solidFill>
                <a:latin typeface="+mj-lt"/>
                <a:cs typeface="Arial Narrow"/>
              </a:rPr>
              <a:t>as </a:t>
            </a:r>
            <a:r>
              <a:rPr sz="1867" kern="0" spc="-127" dirty="0">
                <a:solidFill>
                  <a:sysClr val="windowText" lastClr="000000"/>
                </a:solidFill>
                <a:latin typeface="+mj-lt"/>
                <a:cs typeface="Arial Narrow"/>
              </a:rPr>
              <a:t>deposit,</a:t>
            </a:r>
            <a:r>
              <a:rPr sz="1867" kern="0" spc="13" dirty="0">
                <a:solidFill>
                  <a:sysClr val="windowText" lastClr="000000"/>
                </a:solidFill>
                <a:latin typeface="+mj-lt"/>
                <a:cs typeface="Arial Narrow"/>
              </a:rPr>
              <a:t> </a:t>
            </a:r>
            <a:r>
              <a:rPr sz="1867" kern="0" spc="-107" dirty="0">
                <a:solidFill>
                  <a:sysClr val="windowText" lastClr="000000"/>
                </a:solidFill>
                <a:latin typeface="+mj-lt"/>
                <a:cs typeface="Arial Narrow"/>
              </a:rPr>
              <a:t>withdraw,</a:t>
            </a:r>
            <a:r>
              <a:rPr sz="1867" kern="0" spc="20" dirty="0">
                <a:solidFill>
                  <a:sysClr val="windowText" lastClr="000000"/>
                </a:solidFill>
                <a:latin typeface="+mj-lt"/>
                <a:cs typeface="Arial Narrow"/>
              </a:rPr>
              <a:t> </a:t>
            </a:r>
            <a:r>
              <a:rPr sz="1867" kern="0" spc="-100" dirty="0">
                <a:solidFill>
                  <a:sysClr val="windowText" lastClr="000000"/>
                </a:solidFill>
                <a:latin typeface="+mj-lt"/>
                <a:cs typeface="Arial Narrow"/>
              </a:rPr>
              <a:t>transfer,</a:t>
            </a:r>
            <a:r>
              <a:rPr sz="1867" kern="0" spc="-87" dirty="0">
                <a:solidFill>
                  <a:sysClr val="windowText" lastClr="000000"/>
                </a:solidFill>
                <a:latin typeface="+mj-lt"/>
                <a:cs typeface="Arial Narrow"/>
              </a:rPr>
              <a:t> </a:t>
            </a:r>
            <a:r>
              <a:rPr sz="1867" kern="0" spc="-27" dirty="0">
                <a:solidFill>
                  <a:sysClr val="windowText" lastClr="000000"/>
                </a:solidFill>
                <a:latin typeface="+mj-lt"/>
                <a:cs typeface="Arial Narrow"/>
              </a:rPr>
              <a:t>etc.</a:t>
            </a:r>
            <a:endParaRPr sz="1867" kern="0">
              <a:solidFill>
                <a:sysClr val="windowText" lastClr="000000"/>
              </a:solidFill>
              <a:latin typeface="+mj-lt"/>
              <a:cs typeface="Arial Narrow"/>
            </a:endParaRPr>
          </a:p>
        </p:txBody>
      </p:sp>
      <p:sp>
        <p:nvSpPr>
          <p:cNvPr id="6" name="object 6"/>
          <p:cNvSpPr txBox="1"/>
          <p:nvPr/>
        </p:nvSpPr>
        <p:spPr>
          <a:xfrm>
            <a:off x="6000835" y="2216236"/>
            <a:ext cx="5715000" cy="637909"/>
          </a:xfrm>
          <a:prstGeom prst="rect">
            <a:avLst/>
          </a:prstGeom>
          <a:solidFill>
            <a:srgbClr val="F9C090"/>
          </a:solidFill>
          <a:ln w="9525">
            <a:solidFill>
              <a:srgbClr val="000000"/>
            </a:solidFill>
          </a:ln>
        </p:spPr>
        <p:txBody>
          <a:bodyPr vert="horz" wrap="square" lIns="0" tIns="62653" rIns="0" bIns="0" rtlCol="0">
            <a:spAutoFit/>
          </a:bodyPr>
          <a:lstStyle/>
          <a:p>
            <a:pPr marL="121070" defTabSz="1219170">
              <a:spcBef>
                <a:spcPts val="493"/>
              </a:spcBef>
            </a:pPr>
            <a:r>
              <a:rPr sz="1867" kern="0" spc="-207" dirty="0">
                <a:solidFill>
                  <a:sysClr val="windowText" lastClr="000000"/>
                </a:solidFill>
                <a:latin typeface="+mj-lt"/>
                <a:cs typeface="Arial Narrow"/>
              </a:rPr>
              <a:t>The</a:t>
            </a:r>
            <a:r>
              <a:rPr sz="1867" kern="0" spc="-67" dirty="0">
                <a:solidFill>
                  <a:sysClr val="windowText" lastClr="000000"/>
                </a:solidFill>
                <a:latin typeface="+mj-lt"/>
                <a:cs typeface="Arial Narrow"/>
              </a:rPr>
              <a:t> </a:t>
            </a:r>
            <a:r>
              <a:rPr sz="1867" kern="0" spc="-140" dirty="0">
                <a:solidFill>
                  <a:sysClr val="windowText" lastClr="000000"/>
                </a:solidFill>
                <a:latin typeface="+mj-lt"/>
                <a:cs typeface="Arial Narrow"/>
              </a:rPr>
              <a:t>Config</a:t>
            </a:r>
            <a:r>
              <a:rPr sz="1867" kern="0" spc="-40" dirty="0">
                <a:solidFill>
                  <a:sysClr val="windowText" lastClr="000000"/>
                </a:solidFill>
                <a:latin typeface="+mj-lt"/>
                <a:cs typeface="Arial Narrow"/>
              </a:rPr>
              <a:t> </a:t>
            </a:r>
            <a:r>
              <a:rPr sz="1867" kern="0" spc="-140" dirty="0">
                <a:solidFill>
                  <a:sysClr val="windowText" lastClr="000000"/>
                </a:solidFill>
                <a:latin typeface="+mj-lt"/>
                <a:cs typeface="Arial Narrow"/>
              </a:rPr>
              <a:t>class</a:t>
            </a:r>
            <a:r>
              <a:rPr sz="1867" kern="0" spc="-20" dirty="0">
                <a:solidFill>
                  <a:sysClr val="windowText" lastClr="000000"/>
                </a:solidFill>
                <a:latin typeface="+mj-lt"/>
                <a:cs typeface="Arial Narrow"/>
              </a:rPr>
              <a:t> </a:t>
            </a:r>
            <a:r>
              <a:rPr sz="1867" kern="0" spc="-127" dirty="0">
                <a:solidFill>
                  <a:sysClr val="windowText" lastClr="000000"/>
                </a:solidFill>
                <a:latin typeface="+mj-lt"/>
                <a:cs typeface="Arial Narrow"/>
              </a:rPr>
              <a:t>provides</a:t>
            </a:r>
            <a:r>
              <a:rPr sz="1867" kern="0" spc="-13" dirty="0">
                <a:solidFill>
                  <a:sysClr val="windowText" lastClr="000000"/>
                </a:solidFill>
                <a:latin typeface="+mj-lt"/>
                <a:cs typeface="Arial Narrow"/>
              </a:rPr>
              <a:t> </a:t>
            </a:r>
            <a:r>
              <a:rPr sz="1867" kern="0" spc="-120" dirty="0">
                <a:solidFill>
                  <a:sysClr val="windowText" lastClr="000000"/>
                </a:solidFill>
                <a:latin typeface="+mj-lt"/>
                <a:cs typeface="Arial Narrow"/>
              </a:rPr>
              <a:t>datetime</a:t>
            </a:r>
            <a:r>
              <a:rPr sz="1867" kern="0" spc="-60" dirty="0">
                <a:solidFill>
                  <a:sysClr val="windowText" lastClr="000000"/>
                </a:solidFill>
                <a:latin typeface="+mj-lt"/>
                <a:cs typeface="Arial Narrow"/>
              </a:rPr>
              <a:t> </a:t>
            </a:r>
            <a:r>
              <a:rPr sz="1867" kern="0" spc="-133" dirty="0">
                <a:solidFill>
                  <a:sysClr val="windowText" lastClr="000000"/>
                </a:solidFill>
                <a:latin typeface="+mj-lt"/>
                <a:cs typeface="Arial Narrow"/>
              </a:rPr>
              <a:t>constants</a:t>
            </a:r>
            <a:r>
              <a:rPr sz="1867" kern="0" spc="-127" dirty="0">
                <a:solidFill>
                  <a:sysClr val="windowText" lastClr="000000"/>
                </a:solidFill>
                <a:latin typeface="+mj-lt"/>
                <a:cs typeface="Arial Narrow"/>
              </a:rPr>
              <a:t> </a:t>
            </a:r>
            <a:r>
              <a:rPr sz="1867" kern="0" spc="-160" dirty="0">
                <a:solidFill>
                  <a:sysClr val="windowText" lastClr="000000"/>
                </a:solidFill>
                <a:latin typeface="+mj-lt"/>
                <a:cs typeface="Arial Narrow"/>
              </a:rPr>
              <a:t>and</a:t>
            </a:r>
            <a:r>
              <a:rPr sz="1867" kern="0" spc="-7" dirty="0">
                <a:solidFill>
                  <a:sysClr val="windowText" lastClr="000000"/>
                </a:solidFill>
                <a:latin typeface="+mj-lt"/>
                <a:cs typeface="Arial Narrow"/>
              </a:rPr>
              <a:t> </a:t>
            </a:r>
            <a:r>
              <a:rPr sz="1867" kern="0" spc="-53" dirty="0">
                <a:solidFill>
                  <a:sysClr val="windowText" lastClr="000000"/>
                </a:solidFill>
                <a:latin typeface="+mj-lt"/>
                <a:cs typeface="Arial Narrow"/>
              </a:rPr>
              <a:t>file </a:t>
            </a:r>
            <a:r>
              <a:rPr sz="1867" kern="0" spc="-100" dirty="0">
                <a:solidFill>
                  <a:sysClr val="windowText" lastClr="000000"/>
                </a:solidFill>
                <a:latin typeface="+mj-lt"/>
                <a:cs typeface="Arial Narrow"/>
              </a:rPr>
              <a:t>handling</a:t>
            </a:r>
            <a:r>
              <a:rPr sz="1867" kern="0" spc="-40" dirty="0">
                <a:solidFill>
                  <a:sysClr val="windowText" lastClr="000000"/>
                </a:solidFill>
                <a:latin typeface="+mj-lt"/>
                <a:cs typeface="Arial Narrow"/>
              </a:rPr>
              <a:t> </a:t>
            </a:r>
            <a:r>
              <a:rPr sz="1867" kern="0" spc="-13" dirty="0">
                <a:solidFill>
                  <a:sysClr val="windowText" lastClr="000000"/>
                </a:solidFill>
                <a:latin typeface="+mj-lt"/>
                <a:cs typeface="Arial Narrow"/>
              </a:rPr>
              <a:t>methods</a:t>
            </a:r>
            <a:endParaRPr sz="1867" kern="0">
              <a:solidFill>
                <a:sysClr val="windowText" lastClr="000000"/>
              </a:solidFill>
              <a:latin typeface="+mj-lt"/>
              <a:cs typeface="Arial Narrow"/>
            </a:endParaRPr>
          </a:p>
        </p:txBody>
      </p:sp>
      <p:sp>
        <p:nvSpPr>
          <p:cNvPr id="7" name="object 7"/>
          <p:cNvSpPr txBox="1"/>
          <p:nvPr/>
        </p:nvSpPr>
        <p:spPr>
          <a:xfrm>
            <a:off x="6000835" y="4959349"/>
            <a:ext cx="5715000" cy="356572"/>
          </a:xfrm>
          <a:prstGeom prst="rect">
            <a:avLst/>
          </a:prstGeom>
          <a:solidFill>
            <a:srgbClr val="F9C090"/>
          </a:solidFill>
          <a:ln w="9525">
            <a:solidFill>
              <a:srgbClr val="000000"/>
            </a:solidFill>
          </a:ln>
        </p:spPr>
        <p:txBody>
          <a:bodyPr vert="horz" wrap="square" lIns="0" tIns="68580" rIns="0" bIns="0" rtlCol="0">
            <a:spAutoFit/>
          </a:bodyPr>
          <a:lstStyle/>
          <a:p>
            <a:pPr marL="121070" defTabSz="1219170">
              <a:spcBef>
                <a:spcPts val="540"/>
              </a:spcBef>
            </a:pPr>
            <a:r>
              <a:rPr sz="1867" kern="0" spc="-200" dirty="0">
                <a:solidFill>
                  <a:sysClr val="windowText" lastClr="000000"/>
                </a:solidFill>
                <a:latin typeface="+mj-lt"/>
                <a:cs typeface="Arial Narrow"/>
              </a:rPr>
              <a:t>A</a:t>
            </a:r>
            <a:r>
              <a:rPr sz="1867" kern="0" spc="-27" dirty="0">
                <a:solidFill>
                  <a:sysClr val="windowText" lastClr="000000"/>
                </a:solidFill>
                <a:latin typeface="+mj-lt"/>
                <a:cs typeface="Arial Narrow"/>
              </a:rPr>
              <a:t> </a:t>
            </a:r>
            <a:r>
              <a:rPr sz="1867" kern="0" spc="-173" dirty="0">
                <a:solidFill>
                  <a:sysClr val="windowText" lastClr="000000"/>
                </a:solidFill>
                <a:latin typeface="+mj-lt"/>
                <a:cs typeface="Arial Narrow"/>
              </a:rPr>
              <a:t>Customer</a:t>
            </a:r>
            <a:r>
              <a:rPr sz="1867" kern="0" dirty="0">
                <a:solidFill>
                  <a:sysClr val="windowText" lastClr="000000"/>
                </a:solidFill>
                <a:latin typeface="+mj-lt"/>
                <a:cs typeface="Arial Narrow"/>
              </a:rPr>
              <a:t> </a:t>
            </a:r>
            <a:r>
              <a:rPr sz="1867" kern="0" spc="-160" dirty="0">
                <a:solidFill>
                  <a:sysClr val="windowText" lastClr="000000"/>
                </a:solidFill>
                <a:latin typeface="+mj-lt"/>
                <a:cs typeface="Arial Narrow"/>
              </a:rPr>
              <a:t>has</a:t>
            </a:r>
            <a:r>
              <a:rPr sz="1867" kern="0" spc="-133" dirty="0">
                <a:solidFill>
                  <a:sysClr val="windowText" lastClr="000000"/>
                </a:solidFill>
                <a:latin typeface="+mj-lt"/>
                <a:cs typeface="Arial Narrow"/>
              </a:rPr>
              <a:t> </a:t>
            </a:r>
            <a:r>
              <a:rPr sz="1867" kern="0" spc="-87" dirty="0">
                <a:solidFill>
                  <a:sysClr val="windowText" lastClr="000000"/>
                </a:solidFill>
                <a:latin typeface="+mj-lt"/>
                <a:cs typeface="Arial Narrow"/>
              </a:rPr>
              <a:t>2</a:t>
            </a:r>
            <a:r>
              <a:rPr sz="1867" kern="0" spc="-80" dirty="0">
                <a:solidFill>
                  <a:sysClr val="windowText" lastClr="000000"/>
                </a:solidFill>
                <a:latin typeface="+mj-lt"/>
                <a:cs typeface="Arial Narrow"/>
              </a:rPr>
              <a:t> </a:t>
            </a:r>
            <a:r>
              <a:rPr sz="1867" kern="0" spc="-147" dirty="0">
                <a:solidFill>
                  <a:sysClr val="windowText" lastClr="000000"/>
                </a:solidFill>
                <a:latin typeface="+mj-lt"/>
                <a:cs typeface="Arial Narrow"/>
              </a:rPr>
              <a:t>Accounts,</a:t>
            </a:r>
            <a:r>
              <a:rPr sz="1867" kern="0" spc="13" dirty="0">
                <a:solidFill>
                  <a:sysClr val="windowText" lastClr="000000"/>
                </a:solidFill>
                <a:latin typeface="+mj-lt"/>
                <a:cs typeface="Arial Narrow"/>
              </a:rPr>
              <a:t> </a:t>
            </a:r>
            <a:r>
              <a:rPr sz="1867" kern="0" spc="-107" dirty="0">
                <a:solidFill>
                  <a:sysClr val="windowText" lastClr="000000"/>
                </a:solidFill>
                <a:latin typeface="+mj-lt"/>
                <a:cs typeface="Arial Narrow"/>
              </a:rPr>
              <a:t>which</a:t>
            </a:r>
            <a:r>
              <a:rPr sz="1867" kern="0" spc="-147" dirty="0">
                <a:solidFill>
                  <a:sysClr val="windowText" lastClr="000000"/>
                </a:solidFill>
                <a:latin typeface="+mj-lt"/>
                <a:cs typeface="Arial Narrow"/>
              </a:rPr>
              <a:t> </a:t>
            </a:r>
            <a:r>
              <a:rPr sz="1867" kern="0" spc="-40" dirty="0">
                <a:solidFill>
                  <a:sysClr val="windowText" lastClr="000000"/>
                </a:solidFill>
                <a:latin typeface="+mj-lt"/>
                <a:cs typeface="Arial Narrow"/>
              </a:rPr>
              <a:t>is</a:t>
            </a:r>
            <a:r>
              <a:rPr sz="1867" kern="0" spc="-27" dirty="0">
                <a:solidFill>
                  <a:sysClr val="windowText" lastClr="000000"/>
                </a:solidFill>
                <a:latin typeface="+mj-lt"/>
                <a:cs typeface="Arial Narrow"/>
              </a:rPr>
              <a:t> </a:t>
            </a:r>
            <a:r>
              <a:rPr sz="1867" kern="0" spc="-213" dirty="0">
                <a:solidFill>
                  <a:sysClr val="windowText" lastClr="000000"/>
                </a:solidFill>
                <a:latin typeface="+mj-lt"/>
                <a:cs typeface="Arial Narrow"/>
              </a:rPr>
              <a:t>a</a:t>
            </a:r>
            <a:r>
              <a:rPr sz="1867" kern="0" spc="-47" dirty="0">
                <a:solidFill>
                  <a:sysClr val="windowText" lastClr="000000"/>
                </a:solidFill>
                <a:latin typeface="+mj-lt"/>
                <a:cs typeface="Arial Narrow"/>
              </a:rPr>
              <a:t> </a:t>
            </a:r>
            <a:r>
              <a:rPr sz="1867" kern="0" spc="-120" dirty="0">
                <a:solidFill>
                  <a:sysClr val="windowText" lastClr="000000"/>
                </a:solidFill>
                <a:latin typeface="+mj-lt"/>
                <a:cs typeface="Arial Narrow"/>
              </a:rPr>
              <a:t>composition</a:t>
            </a:r>
            <a:r>
              <a:rPr sz="1867" kern="0" spc="-33" dirty="0">
                <a:solidFill>
                  <a:sysClr val="windowText" lastClr="000000"/>
                </a:solidFill>
                <a:latin typeface="+mj-lt"/>
                <a:cs typeface="Arial Narrow"/>
              </a:rPr>
              <a:t> </a:t>
            </a:r>
            <a:r>
              <a:rPr sz="1867" kern="0" spc="-13" dirty="0">
                <a:solidFill>
                  <a:sysClr val="windowText" lastClr="000000"/>
                </a:solidFill>
                <a:latin typeface="+mj-lt"/>
                <a:cs typeface="Arial Narrow"/>
              </a:rPr>
              <a:t>relationship.</a:t>
            </a:r>
            <a:endParaRPr sz="1867" kern="0">
              <a:solidFill>
                <a:sysClr val="windowText" lastClr="000000"/>
              </a:solidFill>
              <a:latin typeface="+mj-lt"/>
              <a:cs typeface="Arial Narrow"/>
            </a:endParaRPr>
          </a:p>
        </p:txBody>
      </p:sp>
      <p:sp>
        <p:nvSpPr>
          <p:cNvPr id="8" name="object 8"/>
          <p:cNvSpPr txBox="1"/>
          <p:nvPr/>
        </p:nvSpPr>
        <p:spPr>
          <a:xfrm>
            <a:off x="6000835" y="1606633"/>
            <a:ext cx="5715000" cy="349733"/>
          </a:xfrm>
          <a:prstGeom prst="rect">
            <a:avLst/>
          </a:prstGeom>
          <a:solidFill>
            <a:srgbClr val="F9C090"/>
          </a:solidFill>
          <a:ln w="9525">
            <a:solidFill>
              <a:srgbClr val="000000"/>
            </a:solidFill>
          </a:ln>
        </p:spPr>
        <p:txBody>
          <a:bodyPr vert="horz" wrap="square" lIns="0" tIns="61807" rIns="0" bIns="0" rtlCol="0">
            <a:spAutoFit/>
          </a:bodyPr>
          <a:lstStyle/>
          <a:p>
            <a:pPr marL="121070" defTabSz="1219170">
              <a:spcBef>
                <a:spcPts val="487"/>
              </a:spcBef>
            </a:pPr>
            <a:r>
              <a:rPr sz="1867" kern="0" spc="-207" dirty="0">
                <a:solidFill>
                  <a:sysClr val="windowText" lastClr="000000"/>
                </a:solidFill>
                <a:latin typeface="+mj-lt"/>
                <a:cs typeface="Arial Narrow"/>
              </a:rPr>
              <a:t>The</a:t>
            </a:r>
            <a:r>
              <a:rPr sz="1867" kern="0" spc="-87" dirty="0">
                <a:solidFill>
                  <a:sysClr val="windowText" lastClr="000000"/>
                </a:solidFill>
                <a:latin typeface="+mj-lt"/>
                <a:cs typeface="Arial Narrow"/>
              </a:rPr>
              <a:t> </a:t>
            </a:r>
            <a:r>
              <a:rPr sz="1867" kern="0" spc="-107" dirty="0">
                <a:solidFill>
                  <a:sysClr val="windowText" lastClr="000000"/>
                </a:solidFill>
                <a:latin typeface="+mj-lt"/>
                <a:cs typeface="Arial Narrow"/>
              </a:rPr>
              <a:t>Login</a:t>
            </a:r>
            <a:r>
              <a:rPr sz="1867" kern="0" spc="-47" dirty="0">
                <a:solidFill>
                  <a:sysClr val="windowText" lastClr="000000"/>
                </a:solidFill>
                <a:latin typeface="+mj-lt"/>
                <a:cs typeface="Arial Narrow"/>
              </a:rPr>
              <a:t> </a:t>
            </a:r>
            <a:r>
              <a:rPr sz="1867" kern="0" spc="-160" dirty="0">
                <a:solidFill>
                  <a:sysClr val="windowText" lastClr="000000"/>
                </a:solidFill>
                <a:latin typeface="+mj-lt"/>
                <a:cs typeface="Arial Narrow"/>
              </a:rPr>
              <a:t>class</a:t>
            </a:r>
            <a:r>
              <a:rPr sz="1867" kern="0" spc="-40" dirty="0">
                <a:solidFill>
                  <a:sysClr val="windowText" lastClr="000000"/>
                </a:solidFill>
                <a:latin typeface="+mj-lt"/>
                <a:cs typeface="Arial Narrow"/>
              </a:rPr>
              <a:t> </a:t>
            </a:r>
            <a:r>
              <a:rPr sz="1867" kern="0" spc="-53" dirty="0">
                <a:solidFill>
                  <a:sysClr val="windowText" lastClr="000000"/>
                </a:solidFill>
                <a:latin typeface="+mj-lt"/>
                <a:cs typeface="Arial Narrow"/>
              </a:rPr>
              <a:t>is</a:t>
            </a:r>
            <a:r>
              <a:rPr sz="1867" kern="0" spc="-147" dirty="0">
                <a:solidFill>
                  <a:sysClr val="windowText" lastClr="000000"/>
                </a:solidFill>
                <a:latin typeface="+mj-lt"/>
                <a:cs typeface="Arial Narrow"/>
              </a:rPr>
              <a:t> </a:t>
            </a:r>
            <a:r>
              <a:rPr sz="1867" kern="0" spc="-100" dirty="0">
                <a:solidFill>
                  <a:sysClr val="windowText" lastClr="000000"/>
                </a:solidFill>
                <a:latin typeface="+mj-lt"/>
                <a:cs typeface="Arial Narrow"/>
              </a:rPr>
              <a:t>the</a:t>
            </a:r>
            <a:r>
              <a:rPr sz="1867" kern="0" spc="-73" dirty="0">
                <a:solidFill>
                  <a:sysClr val="windowText" lastClr="000000"/>
                </a:solidFill>
                <a:latin typeface="+mj-lt"/>
                <a:cs typeface="Arial Narrow"/>
              </a:rPr>
              <a:t> </a:t>
            </a:r>
            <a:r>
              <a:rPr sz="1867" kern="0" spc="-100" dirty="0">
                <a:solidFill>
                  <a:sysClr val="windowText" lastClr="000000"/>
                </a:solidFill>
                <a:latin typeface="+mj-lt"/>
                <a:cs typeface="Arial Narrow"/>
              </a:rPr>
              <a:t>entry</a:t>
            </a:r>
            <a:r>
              <a:rPr sz="1867" kern="0" spc="-113" dirty="0">
                <a:solidFill>
                  <a:sysClr val="windowText" lastClr="000000"/>
                </a:solidFill>
                <a:latin typeface="+mj-lt"/>
                <a:cs typeface="Arial Narrow"/>
              </a:rPr>
              <a:t> </a:t>
            </a:r>
            <a:r>
              <a:rPr sz="1867" kern="0" spc="-87" dirty="0">
                <a:solidFill>
                  <a:sysClr val="windowText" lastClr="000000"/>
                </a:solidFill>
                <a:latin typeface="+mj-lt"/>
                <a:cs typeface="Arial Narrow"/>
              </a:rPr>
              <a:t>point</a:t>
            </a:r>
            <a:r>
              <a:rPr sz="1867" kern="0" spc="-40" dirty="0">
                <a:solidFill>
                  <a:sysClr val="windowText" lastClr="000000"/>
                </a:solidFill>
                <a:latin typeface="+mj-lt"/>
                <a:cs typeface="Arial Narrow"/>
              </a:rPr>
              <a:t> </a:t>
            </a:r>
            <a:r>
              <a:rPr sz="1867" kern="0" spc="-87" dirty="0">
                <a:solidFill>
                  <a:sysClr val="windowText" lastClr="000000"/>
                </a:solidFill>
                <a:latin typeface="+mj-lt"/>
                <a:cs typeface="Arial Narrow"/>
              </a:rPr>
              <a:t>of</a:t>
            </a:r>
            <a:r>
              <a:rPr sz="1867" kern="0" spc="-40" dirty="0">
                <a:solidFill>
                  <a:sysClr val="windowText" lastClr="000000"/>
                </a:solidFill>
                <a:latin typeface="+mj-lt"/>
                <a:cs typeface="Arial Narrow"/>
              </a:rPr>
              <a:t> </a:t>
            </a:r>
            <a:r>
              <a:rPr sz="1867" kern="0" spc="-100" dirty="0">
                <a:solidFill>
                  <a:sysClr val="windowText" lastClr="000000"/>
                </a:solidFill>
                <a:latin typeface="+mj-lt"/>
                <a:cs typeface="Arial Narrow"/>
              </a:rPr>
              <a:t>the</a:t>
            </a:r>
            <a:r>
              <a:rPr sz="1867" kern="0" spc="-80" dirty="0">
                <a:solidFill>
                  <a:sysClr val="windowText" lastClr="000000"/>
                </a:solidFill>
                <a:latin typeface="+mj-lt"/>
                <a:cs typeface="Arial Narrow"/>
              </a:rPr>
              <a:t> </a:t>
            </a:r>
            <a:r>
              <a:rPr sz="1867" kern="0" spc="-13" dirty="0">
                <a:solidFill>
                  <a:sysClr val="windowText" lastClr="000000"/>
                </a:solidFill>
                <a:latin typeface="+mj-lt"/>
                <a:cs typeface="Arial Narrow"/>
              </a:rPr>
              <a:t>program</a:t>
            </a:r>
            <a:endParaRPr sz="1867" kern="0">
              <a:solidFill>
                <a:sysClr val="windowText" lastClr="000000"/>
              </a:solidFill>
              <a:latin typeface="+mj-lt"/>
              <a:cs typeface="Arial Narrow"/>
            </a:endParaRPr>
          </a:p>
        </p:txBody>
      </p:sp>
      <p:sp>
        <p:nvSpPr>
          <p:cNvPr id="9" name="object 9"/>
          <p:cNvSpPr txBox="1"/>
          <p:nvPr/>
        </p:nvSpPr>
        <p:spPr>
          <a:xfrm>
            <a:off x="1781385" y="6431280"/>
            <a:ext cx="8016240" cy="216363"/>
          </a:xfrm>
          <a:prstGeom prst="rect">
            <a:avLst/>
          </a:prstGeom>
        </p:spPr>
        <p:txBody>
          <a:bodyPr vert="horz" wrap="square" lIns="0" tIns="21167" rIns="0" bIns="0" rtlCol="0">
            <a:spAutoFit/>
          </a:bodyPr>
          <a:lstStyle/>
          <a:p>
            <a:pPr marL="16933" defTabSz="1219170">
              <a:spcBef>
                <a:spcPts val="167"/>
              </a:spcBef>
            </a:pPr>
            <a:r>
              <a:rPr sz="1267" kern="0" dirty="0">
                <a:solidFill>
                  <a:sysClr val="windowText" lastClr="000000"/>
                </a:solidFill>
                <a:latin typeface="+mj-lt"/>
                <a:cs typeface="Arial"/>
              </a:rPr>
              <a:t>Reference:</a:t>
            </a:r>
            <a:r>
              <a:rPr sz="1267" kern="0" spc="573" dirty="0">
                <a:solidFill>
                  <a:sysClr val="windowText" lastClr="000000"/>
                </a:solidFill>
                <a:latin typeface="+mj-lt"/>
                <a:cs typeface="Arial"/>
              </a:rPr>
              <a:t>   </a:t>
            </a:r>
            <a:r>
              <a:rPr sz="1267" kern="0" dirty="0">
                <a:solidFill>
                  <a:sysClr val="windowText" lastClr="000000"/>
                </a:solidFill>
                <a:latin typeface="+mj-lt"/>
                <a:cs typeface="Arial"/>
                <a:hlinkClick r:id="rId2"/>
              </a:rPr>
              <a:t>https://blog.visual-paradigm.com/what-are-the-six-types-of-relationships-in-uml-class-</a:t>
            </a:r>
            <a:r>
              <a:rPr sz="1267" kern="0" spc="-13" dirty="0">
                <a:solidFill>
                  <a:sysClr val="windowText" lastClr="000000"/>
                </a:solidFill>
                <a:latin typeface="+mj-lt"/>
                <a:cs typeface="Arial"/>
                <a:hlinkClick r:id="rId2"/>
              </a:rPr>
              <a:t>diagrams/</a:t>
            </a:r>
            <a:endParaRPr sz="1267" kern="0">
              <a:solidFill>
                <a:sysClr val="windowText" lastClr="000000"/>
              </a:solidFill>
              <a:latin typeface="+mj-lt"/>
              <a:cs typeface="Arial"/>
            </a:endParaRPr>
          </a:p>
        </p:txBody>
      </p:sp>
      <p:pic>
        <p:nvPicPr>
          <p:cNvPr id="10" name="object 10" descr="A diagram of a computer program  AI-generated content may be incorrect."/>
          <p:cNvPicPr/>
          <p:nvPr/>
        </p:nvPicPr>
        <p:blipFill>
          <a:blip r:embed="rId3" cstate="print"/>
          <a:stretch>
            <a:fillRect/>
          </a:stretch>
        </p:blipFill>
        <p:spPr>
          <a:xfrm>
            <a:off x="749300" y="1714501"/>
            <a:ext cx="4902200" cy="4152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781EAA0-EB27-943A-82B9-53CF342D216B}"/>
              </a:ext>
            </a:extLst>
          </p:cNvPr>
          <p:cNvPicPr>
            <a:picLocks noChangeAspect="1"/>
          </p:cNvPicPr>
          <p:nvPr/>
        </p:nvPicPr>
        <p:blipFill>
          <a:blip r:embed="rId2"/>
          <a:srcRect l="11470" t="17883" r="12383" b="6980"/>
          <a:stretch>
            <a:fillRect/>
          </a:stretch>
        </p:blipFill>
        <p:spPr>
          <a:xfrm>
            <a:off x="1398494" y="1226372"/>
            <a:ext cx="9283850" cy="51529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3CDF998-53E9-D9D0-4907-5572508B36BA}"/>
              </a:ext>
            </a:extLst>
          </p:cNvPr>
          <p:cNvPicPr>
            <a:picLocks noChangeAspect="1"/>
          </p:cNvPicPr>
          <p:nvPr/>
        </p:nvPicPr>
        <p:blipFill>
          <a:blip r:embed="rId2"/>
          <a:srcRect l="11811" t="17778" r="10603" b="6820"/>
          <a:stretch>
            <a:fillRect/>
          </a:stretch>
        </p:blipFill>
        <p:spPr>
          <a:xfrm>
            <a:off x="1439917" y="1219200"/>
            <a:ext cx="9459312" cy="51710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3834" y="1072825"/>
            <a:ext cx="10147300" cy="3900213"/>
          </a:xfrm>
          <a:prstGeom prst="rect">
            <a:avLst/>
          </a:prstGeom>
        </p:spPr>
        <p:txBody>
          <a:bodyPr vert="horz" wrap="square" lIns="0" tIns="209973" rIns="0" bIns="0" rtlCol="0">
            <a:spAutoFit/>
          </a:bodyPr>
          <a:lstStyle/>
          <a:p>
            <a:pPr marL="16933" defTabSz="1219170">
              <a:spcBef>
                <a:spcPts val="1653"/>
              </a:spcBef>
            </a:pPr>
            <a:r>
              <a:rPr sz="2400" kern="0" spc="-207" dirty="0">
                <a:solidFill>
                  <a:sysClr val="windowText" lastClr="000000"/>
                </a:solidFill>
                <a:latin typeface="Arial Narrow"/>
                <a:cs typeface="Arial Narrow"/>
              </a:rPr>
              <a:t>Develop</a:t>
            </a:r>
            <a:r>
              <a:rPr sz="2400" kern="0" spc="-133" dirty="0">
                <a:solidFill>
                  <a:sysClr val="windowText" lastClr="000000"/>
                </a:solidFill>
                <a:latin typeface="Arial Narrow"/>
                <a:cs typeface="Arial Narrow"/>
              </a:rPr>
              <a:t> </a:t>
            </a:r>
            <a:r>
              <a:rPr sz="2400" kern="0" spc="-140" dirty="0">
                <a:solidFill>
                  <a:sysClr val="windowText" lastClr="000000"/>
                </a:solidFill>
                <a:latin typeface="Arial Narrow"/>
                <a:cs typeface="Arial Narrow"/>
              </a:rPr>
              <a:t>the</a:t>
            </a:r>
            <a:r>
              <a:rPr sz="2400" kern="0" spc="-67" dirty="0">
                <a:solidFill>
                  <a:sysClr val="windowText" lastClr="000000"/>
                </a:solidFill>
                <a:latin typeface="Arial Narrow"/>
                <a:cs typeface="Arial Narrow"/>
              </a:rPr>
              <a:t> </a:t>
            </a:r>
            <a:r>
              <a:rPr sz="2400" kern="0" spc="-160" dirty="0">
                <a:solidFill>
                  <a:sysClr val="windowText" lastClr="000000"/>
                </a:solidFill>
                <a:latin typeface="Arial Narrow"/>
                <a:cs typeface="Arial Narrow"/>
              </a:rPr>
              <a:t>program</a:t>
            </a:r>
            <a:r>
              <a:rPr sz="2400" kern="0" spc="-20" dirty="0">
                <a:solidFill>
                  <a:sysClr val="windowText" lastClr="000000"/>
                </a:solidFill>
                <a:latin typeface="Arial Narrow"/>
                <a:cs typeface="Arial Narrow"/>
              </a:rPr>
              <a:t> </a:t>
            </a:r>
            <a:r>
              <a:rPr sz="2400" b="1" kern="0" spc="-213" dirty="0">
                <a:solidFill>
                  <a:sysClr val="windowText" lastClr="000000"/>
                </a:solidFill>
                <a:latin typeface="Arial Narrow"/>
                <a:cs typeface="Arial Narrow"/>
              </a:rPr>
              <a:t>Lab9Exercise1</a:t>
            </a:r>
            <a:r>
              <a:rPr sz="2400" b="1" kern="0" spc="-67" dirty="0">
                <a:solidFill>
                  <a:sysClr val="windowText" lastClr="000000"/>
                </a:solidFill>
                <a:latin typeface="Arial Narrow"/>
                <a:cs typeface="Arial Narrow"/>
              </a:rPr>
              <a:t> </a:t>
            </a:r>
            <a:r>
              <a:rPr sz="2400" kern="0" spc="-53" dirty="0">
                <a:solidFill>
                  <a:sysClr val="windowText" lastClr="000000"/>
                </a:solidFill>
                <a:latin typeface="Arial Narrow"/>
                <a:cs typeface="Arial Narrow"/>
              </a:rPr>
              <a:t>in </a:t>
            </a:r>
            <a:r>
              <a:rPr sz="2400" kern="0" spc="-173" dirty="0">
                <a:solidFill>
                  <a:sysClr val="windowText" lastClr="000000"/>
                </a:solidFill>
                <a:latin typeface="Arial Narrow"/>
                <a:cs typeface="Arial Narrow"/>
              </a:rPr>
              <a:t>Python</a:t>
            </a:r>
            <a:r>
              <a:rPr sz="2400" kern="0" spc="-47" dirty="0">
                <a:solidFill>
                  <a:sysClr val="windowText" lastClr="000000"/>
                </a:solidFill>
                <a:latin typeface="Arial Narrow"/>
                <a:cs typeface="Arial Narrow"/>
              </a:rPr>
              <a:t> </a:t>
            </a:r>
            <a:r>
              <a:rPr sz="2400" kern="0" spc="-13" dirty="0">
                <a:solidFill>
                  <a:sysClr val="windowText" lastClr="000000"/>
                </a:solidFill>
                <a:latin typeface="Arial Narrow"/>
                <a:cs typeface="Arial Narrow"/>
              </a:rPr>
              <a:t>that:</a:t>
            </a:r>
            <a:endParaRPr sz="2400" kern="0">
              <a:solidFill>
                <a:sysClr val="windowText" lastClr="000000"/>
              </a:solidFill>
              <a:latin typeface="Arial Narrow"/>
              <a:cs typeface="Arial Narrow"/>
            </a:endParaRPr>
          </a:p>
          <a:p>
            <a:pPr marL="397923" indent="-380990" defTabSz="1219170">
              <a:spcBef>
                <a:spcPts val="1527"/>
              </a:spcBef>
              <a:buFont typeface="Arial"/>
              <a:buChar char="•"/>
              <a:tabLst>
                <a:tab pos="397923" algn="l"/>
              </a:tabLst>
            </a:pPr>
            <a:r>
              <a:rPr sz="2400" kern="0" spc="-207" dirty="0">
                <a:solidFill>
                  <a:sysClr val="windowText" lastClr="000000"/>
                </a:solidFill>
                <a:latin typeface="Arial Narrow"/>
                <a:cs typeface="Arial Narrow"/>
              </a:rPr>
              <a:t>Repeatedly</a:t>
            </a:r>
            <a:r>
              <a:rPr sz="2400" kern="0" spc="-93" dirty="0">
                <a:solidFill>
                  <a:sysClr val="windowText" lastClr="000000"/>
                </a:solidFill>
                <a:latin typeface="Arial Narrow"/>
                <a:cs typeface="Arial Narrow"/>
              </a:rPr>
              <a:t> </a:t>
            </a:r>
            <a:r>
              <a:rPr sz="2400" kern="0" spc="-207" dirty="0">
                <a:solidFill>
                  <a:sysClr val="windowText" lastClr="000000"/>
                </a:solidFill>
                <a:latin typeface="Arial Narrow"/>
                <a:cs typeface="Arial Narrow"/>
              </a:rPr>
              <a:t>reads</a:t>
            </a:r>
            <a:r>
              <a:rPr sz="2400" kern="0" spc="-127" dirty="0">
                <a:solidFill>
                  <a:sysClr val="windowText" lastClr="000000"/>
                </a:solidFill>
                <a:latin typeface="Arial Narrow"/>
                <a:cs typeface="Arial Narrow"/>
              </a:rPr>
              <a:t> </a:t>
            </a:r>
            <a:r>
              <a:rPr sz="2400" kern="0" spc="-293" dirty="0">
                <a:solidFill>
                  <a:sysClr val="windowText" lastClr="000000"/>
                </a:solidFill>
                <a:latin typeface="Arial Narrow"/>
                <a:cs typeface="Arial Narrow"/>
              </a:rPr>
              <a:t>a</a:t>
            </a:r>
            <a:r>
              <a:rPr sz="2400" kern="0" spc="-47" dirty="0">
                <a:solidFill>
                  <a:sysClr val="windowText" lastClr="000000"/>
                </a:solidFill>
                <a:latin typeface="Arial Narrow"/>
                <a:cs typeface="Arial Narrow"/>
              </a:rPr>
              <a:t> </a:t>
            </a:r>
            <a:r>
              <a:rPr sz="2400" kern="0" spc="-87" dirty="0">
                <a:solidFill>
                  <a:sysClr val="windowText" lastClr="000000"/>
                </a:solidFill>
                <a:latin typeface="Arial Narrow"/>
                <a:cs typeface="Arial Narrow"/>
              </a:rPr>
              <a:t>string </a:t>
            </a:r>
            <a:r>
              <a:rPr sz="2400" kern="0" spc="-100" dirty="0">
                <a:solidFill>
                  <a:sysClr val="windowText" lastClr="000000"/>
                </a:solidFill>
                <a:latin typeface="Arial Narrow"/>
                <a:cs typeface="Arial Narrow"/>
              </a:rPr>
              <a:t>from</a:t>
            </a:r>
            <a:r>
              <a:rPr sz="2400" kern="0" spc="-80" dirty="0">
                <a:solidFill>
                  <a:sysClr val="windowText" lastClr="000000"/>
                </a:solidFill>
                <a:latin typeface="Arial Narrow"/>
                <a:cs typeface="Arial Narrow"/>
              </a:rPr>
              <a:t> </a:t>
            </a:r>
            <a:r>
              <a:rPr sz="2400" kern="0" spc="-152" dirty="0">
                <a:solidFill>
                  <a:sysClr val="windowText" lastClr="000000"/>
                </a:solidFill>
                <a:latin typeface="Arial Narrow"/>
                <a:cs typeface="Arial Narrow"/>
              </a:rPr>
              <a:t>the</a:t>
            </a:r>
            <a:r>
              <a:rPr sz="2400" kern="0" spc="-80" dirty="0">
                <a:solidFill>
                  <a:sysClr val="windowText" lastClr="000000"/>
                </a:solidFill>
                <a:latin typeface="Arial Narrow"/>
                <a:cs typeface="Arial Narrow"/>
              </a:rPr>
              <a:t> </a:t>
            </a:r>
            <a:r>
              <a:rPr sz="2400" kern="0" spc="-152" dirty="0">
                <a:solidFill>
                  <a:sysClr val="windowText" lastClr="000000"/>
                </a:solidFill>
                <a:latin typeface="Arial Narrow"/>
                <a:cs typeface="Arial Narrow"/>
              </a:rPr>
              <a:t>user</a:t>
            </a:r>
            <a:r>
              <a:rPr sz="2400" kern="0" spc="-73" dirty="0">
                <a:solidFill>
                  <a:sysClr val="windowText" lastClr="000000"/>
                </a:solidFill>
                <a:latin typeface="Arial Narrow"/>
                <a:cs typeface="Arial Narrow"/>
              </a:rPr>
              <a:t> </a:t>
            </a:r>
            <a:r>
              <a:rPr sz="2400" kern="0" spc="-113" dirty="0">
                <a:solidFill>
                  <a:sysClr val="windowText" lastClr="000000"/>
                </a:solidFill>
                <a:latin typeface="Arial Narrow"/>
                <a:cs typeface="Arial Narrow"/>
              </a:rPr>
              <a:t>input</a:t>
            </a:r>
            <a:r>
              <a:rPr sz="2400" kern="0" spc="-80" dirty="0">
                <a:solidFill>
                  <a:sysClr val="windowText" lastClr="000000"/>
                </a:solidFill>
                <a:latin typeface="Arial Narrow"/>
                <a:cs typeface="Arial Narrow"/>
              </a:rPr>
              <a:t> </a:t>
            </a:r>
            <a:r>
              <a:rPr sz="2400" kern="0" spc="-73" dirty="0">
                <a:solidFill>
                  <a:sysClr val="windowText" lastClr="000000"/>
                </a:solidFill>
                <a:latin typeface="Arial Narrow"/>
                <a:cs typeface="Arial Narrow"/>
              </a:rPr>
              <a:t>until</a:t>
            </a:r>
            <a:r>
              <a:rPr sz="2400" kern="0" spc="-60" dirty="0">
                <a:solidFill>
                  <a:sysClr val="windowText" lastClr="000000"/>
                </a:solidFill>
                <a:latin typeface="Arial Narrow"/>
                <a:cs typeface="Arial Narrow"/>
              </a:rPr>
              <a:t> </a:t>
            </a:r>
            <a:r>
              <a:rPr sz="2400" kern="0" spc="-152" dirty="0">
                <a:solidFill>
                  <a:sysClr val="windowText" lastClr="000000"/>
                </a:solidFill>
                <a:latin typeface="Arial Narrow"/>
                <a:cs typeface="Arial Narrow"/>
              </a:rPr>
              <a:t>the</a:t>
            </a:r>
            <a:r>
              <a:rPr sz="2400" kern="0" spc="-73" dirty="0">
                <a:solidFill>
                  <a:sysClr val="windowText" lastClr="000000"/>
                </a:solidFill>
                <a:latin typeface="Arial Narrow"/>
                <a:cs typeface="Arial Narrow"/>
              </a:rPr>
              <a:t> </a:t>
            </a:r>
            <a:r>
              <a:rPr sz="2400" kern="0" spc="-152" dirty="0">
                <a:solidFill>
                  <a:sysClr val="windowText" lastClr="000000"/>
                </a:solidFill>
                <a:latin typeface="Arial Narrow"/>
                <a:cs typeface="Arial Narrow"/>
              </a:rPr>
              <a:t>user</a:t>
            </a:r>
            <a:r>
              <a:rPr sz="2400" kern="0" spc="-73" dirty="0">
                <a:solidFill>
                  <a:sysClr val="windowText" lastClr="000000"/>
                </a:solidFill>
                <a:latin typeface="Arial Narrow"/>
                <a:cs typeface="Arial Narrow"/>
              </a:rPr>
              <a:t> </a:t>
            </a:r>
            <a:r>
              <a:rPr sz="2400" kern="0" spc="-152" dirty="0">
                <a:solidFill>
                  <a:sysClr val="windowText" lastClr="000000"/>
                </a:solidFill>
                <a:latin typeface="Arial Narrow"/>
                <a:cs typeface="Arial Narrow"/>
              </a:rPr>
              <a:t>enters</a:t>
            </a:r>
            <a:r>
              <a:rPr sz="2400" kern="0" spc="-33" dirty="0">
                <a:solidFill>
                  <a:sysClr val="windowText" lastClr="000000"/>
                </a:solidFill>
                <a:latin typeface="Arial Narrow"/>
                <a:cs typeface="Arial Narrow"/>
              </a:rPr>
              <a:t> </a:t>
            </a:r>
            <a:r>
              <a:rPr sz="2400" kern="0" spc="-67" dirty="0">
                <a:solidFill>
                  <a:sysClr val="windowText" lastClr="000000"/>
                </a:solidFill>
                <a:latin typeface="Arial Narrow"/>
                <a:cs typeface="Arial Narrow"/>
              </a:rPr>
              <a:t>*</a:t>
            </a:r>
            <a:endParaRPr sz="2400" kern="0">
              <a:solidFill>
                <a:sysClr val="windowText" lastClr="000000"/>
              </a:solidFill>
              <a:latin typeface="Arial Narrow"/>
              <a:cs typeface="Arial Narrow"/>
            </a:endParaRPr>
          </a:p>
          <a:p>
            <a:pPr marL="397923" indent="-380990" defTabSz="1219170">
              <a:spcBef>
                <a:spcPts val="1433"/>
              </a:spcBef>
              <a:buFont typeface="Arial"/>
              <a:buChar char="•"/>
              <a:tabLst>
                <a:tab pos="397923" algn="l"/>
              </a:tabLst>
            </a:pPr>
            <a:r>
              <a:rPr sz="2400" kern="0" spc="-160" dirty="0">
                <a:solidFill>
                  <a:sysClr val="windowText" lastClr="000000"/>
                </a:solidFill>
                <a:latin typeface="Arial Narrow"/>
                <a:cs typeface="Arial Narrow"/>
              </a:rPr>
              <a:t>Determines</a:t>
            </a:r>
            <a:r>
              <a:rPr sz="2400" kern="0" spc="-127" dirty="0">
                <a:solidFill>
                  <a:sysClr val="windowText" lastClr="000000"/>
                </a:solidFill>
                <a:latin typeface="Arial Narrow"/>
                <a:cs typeface="Arial Narrow"/>
              </a:rPr>
              <a:t> </a:t>
            </a:r>
            <a:r>
              <a:rPr sz="2400" kern="0" spc="-140" dirty="0">
                <a:solidFill>
                  <a:sysClr val="windowText" lastClr="000000"/>
                </a:solidFill>
                <a:latin typeface="Arial Narrow"/>
                <a:cs typeface="Arial Narrow"/>
              </a:rPr>
              <a:t>the</a:t>
            </a:r>
            <a:r>
              <a:rPr sz="2400" kern="0" spc="-73" dirty="0">
                <a:solidFill>
                  <a:sysClr val="windowText" lastClr="000000"/>
                </a:solidFill>
                <a:latin typeface="Arial Narrow"/>
                <a:cs typeface="Arial Narrow"/>
              </a:rPr>
              <a:t> </a:t>
            </a:r>
            <a:r>
              <a:rPr sz="2400" kern="0" spc="-187" dirty="0">
                <a:solidFill>
                  <a:sysClr val="windowText" lastClr="000000"/>
                </a:solidFill>
                <a:latin typeface="Arial Narrow"/>
                <a:cs typeface="Arial Narrow"/>
              </a:rPr>
              <a:t>occurrences</a:t>
            </a:r>
            <a:r>
              <a:rPr sz="2400" kern="0" spc="-20" dirty="0">
                <a:solidFill>
                  <a:sysClr val="windowText" lastClr="000000"/>
                </a:solidFill>
                <a:latin typeface="Arial Narrow"/>
                <a:cs typeface="Arial Narrow"/>
              </a:rPr>
              <a:t> </a:t>
            </a:r>
            <a:r>
              <a:rPr sz="2400" kern="0" spc="-107" dirty="0">
                <a:solidFill>
                  <a:sysClr val="windowText" lastClr="000000"/>
                </a:solidFill>
                <a:latin typeface="Arial Narrow"/>
                <a:cs typeface="Arial Narrow"/>
              </a:rPr>
              <a:t>of</a:t>
            </a:r>
            <a:r>
              <a:rPr sz="2400" kern="0" spc="-73" dirty="0">
                <a:solidFill>
                  <a:sysClr val="windowText" lastClr="000000"/>
                </a:solidFill>
                <a:latin typeface="Arial Narrow"/>
                <a:cs typeface="Arial Narrow"/>
              </a:rPr>
              <a:t> </a:t>
            </a:r>
            <a:r>
              <a:rPr sz="2400" kern="0" spc="-247" dirty="0">
                <a:solidFill>
                  <a:sysClr val="windowText" lastClr="000000"/>
                </a:solidFill>
                <a:latin typeface="Arial Narrow"/>
                <a:cs typeface="Arial Narrow"/>
              </a:rPr>
              <a:t>each</a:t>
            </a:r>
            <a:r>
              <a:rPr sz="2400" kern="0" spc="-73" dirty="0">
                <a:solidFill>
                  <a:sysClr val="windowText" lastClr="000000"/>
                </a:solidFill>
                <a:latin typeface="Arial Narrow"/>
                <a:cs typeface="Arial Narrow"/>
              </a:rPr>
              <a:t> </a:t>
            </a:r>
            <a:r>
              <a:rPr sz="2400" kern="0" spc="-180" dirty="0">
                <a:solidFill>
                  <a:sysClr val="windowText" lastClr="000000"/>
                </a:solidFill>
                <a:latin typeface="Arial Narrow"/>
                <a:cs typeface="Arial Narrow"/>
              </a:rPr>
              <a:t>vowel</a:t>
            </a:r>
            <a:r>
              <a:rPr sz="2400" kern="0" spc="-53" dirty="0">
                <a:solidFill>
                  <a:sysClr val="windowText" lastClr="000000"/>
                </a:solidFill>
                <a:latin typeface="Arial Narrow"/>
                <a:cs typeface="Arial Narrow"/>
              </a:rPr>
              <a:t> </a:t>
            </a:r>
            <a:r>
              <a:rPr sz="2400" kern="0" spc="-60" dirty="0">
                <a:solidFill>
                  <a:sysClr val="windowText" lastClr="000000"/>
                </a:solidFill>
                <a:latin typeface="Arial Narrow"/>
                <a:cs typeface="Arial Narrow"/>
              </a:rPr>
              <a:t>in</a:t>
            </a:r>
            <a:r>
              <a:rPr sz="2400" kern="0" spc="-173" dirty="0">
                <a:solidFill>
                  <a:sysClr val="windowText" lastClr="000000"/>
                </a:solidFill>
                <a:latin typeface="Arial Narrow"/>
                <a:cs typeface="Arial Narrow"/>
              </a:rPr>
              <a:t> </a:t>
            </a:r>
            <a:r>
              <a:rPr sz="2400" kern="0" spc="-220" dirty="0">
                <a:solidFill>
                  <a:sysClr val="windowText" lastClr="000000"/>
                </a:solidFill>
                <a:latin typeface="Arial Narrow"/>
                <a:cs typeface="Arial Narrow"/>
              </a:rPr>
              <a:t>each</a:t>
            </a:r>
            <a:r>
              <a:rPr sz="2400" kern="0" spc="-73" dirty="0">
                <a:solidFill>
                  <a:sysClr val="windowText" lastClr="000000"/>
                </a:solidFill>
                <a:latin typeface="Arial Narrow"/>
                <a:cs typeface="Arial Narrow"/>
              </a:rPr>
              <a:t> </a:t>
            </a:r>
            <a:r>
              <a:rPr sz="2400" kern="0" spc="-93" dirty="0">
                <a:solidFill>
                  <a:sysClr val="windowText" lastClr="000000"/>
                </a:solidFill>
                <a:latin typeface="Arial Narrow"/>
                <a:cs typeface="Arial Narrow"/>
              </a:rPr>
              <a:t>user-input</a:t>
            </a:r>
            <a:r>
              <a:rPr sz="2400" kern="0" spc="-73" dirty="0">
                <a:solidFill>
                  <a:sysClr val="windowText" lastClr="000000"/>
                </a:solidFill>
                <a:latin typeface="Arial Narrow"/>
                <a:cs typeface="Arial Narrow"/>
              </a:rPr>
              <a:t> </a:t>
            </a:r>
            <a:r>
              <a:rPr sz="2400" kern="0" spc="-87" dirty="0">
                <a:solidFill>
                  <a:sysClr val="windowText" lastClr="000000"/>
                </a:solidFill>
                <a:latin typeface="Arial Narrow"/>
                <a:cs typeface="Arial Narrow"/>
              </a:rPr>
              <a:t>string</a:t>
            </a:r>
            <a:r>
              <a:rPr sz="2400" kern="0" spc="-73" dirty="0">
                <a:solidFill>
                  <a:sysClr val="windowText" lastClr="000000"/>
                </a:solidFill>
                <a:latin typeface="Arial Narrow"/>
                <a:cs typeface="Arial Narrow"/>
              </a:rPr>
              <a:t> </a:t>
            </a:r>
            <a:r>
              <a:rPr sz="2400" kern="0" spc="-247" dirty="0">
                <a:solidFill>
                  <a:sysClr val="windowText" lastClr="000000"/>
                </a:solidFill>
                <a:latin typeface="Arial Narrow"/>
                <a:cs typeface="Arial Narrow"/>
              </a:rPr>
              <a:t>and</a:t>
            </a:r>
            <a:r>
              <a:rPr sz="2400" kern="0" spc="-27" dirty="0">
                <a:solidFill>
                  <a:sysClr val="windowText" lastClr="000000"/>
                </a:solidFill>
                <a:latin typeface="Arial Narrow"/>
                <a:cs typeface="Arial Narrow"/>
              </a:rPr>
              <a:t> </a:t>
            </a:r>
            <a:r>
              <a:rPr sz="2400" kern="0" spc="-160" dirty="0">
                <a:solidFill>
                  <a:sysClr val="windowText" lastClr="000000"/>
                </a:solidFill>
                <a:latin typeface="Arial Narrow"/>
                <a:cs typeface="Arial Narrow"/>
              </a:rPr>
              <a:t>stores</a:t>
            </a:r>
            <a:r>
              <a:rPr sz="2400" kern="0" spc="-20" dirty="0">
                <a:solidFill>
                  <a:sysClr val="windowText" lastClr="000000"/>
                </a:solidFill>
                <a:latin typeface="Arial Narrow"/>
                <a:cs typeface="Arial Narrow"/>
              </a:rPr>
              <a:t> </a:t>
            </a:r>
            <a:r>
              <a:rPr sz="2400" kern="0" spc="-147" dirty="0">
                <a:solidFill>
                  <a:sysClr val="windowText" lastClr="000000"/>
                </a:solidFill>
                <a:latin typeface="Arial Narrow"/>
                <a:cs typeface="Arial Narrow"/>
              </a:rPr>
              <a:t>the</a:t>
            </a:r>
            <a:r>
              <a:rPr sz="2400" kern="0" spc="-67" dirty="0">
                <a:solidFill>
                  <a:sysClr val="windowText" lastClr="000000"/>
                </a:solidFill>
                <a:latin typeface="Arial Narrow"/>
                <a:cs typeface="Arial Narrow"/>
              </a:rPr>
              <a:t> </a:t>
            </a:r>
            <a:r>
              <a:rPr sz="2400" kern="0" spc="-120" dirty="0">
                <a:solidFill>
                  <a:sysClr val="windowText" lastClr="000000"/>
                </a:solidFill>
                <a:latin typeface="Arial Narrow"/>
                <a:cs typeface="Arial Narrow"/>
              </a:rPr>
              <a:t>result</a:t>
            </a:r>
            <a:r>
              <a:rPr sz="2400" kern="0" spc="-73" dirty="0">
                <a:solidFill>
                  <a:sysClr val="windowText" lastClr="000000"/>
                </a:solidFill>
                <a:latin typeface="Arial Narrow"/>
                <a:cs typeface="Arial Narrow"/>
              </a:rPr>
              <a:t> </a:t>
            </a:r>
            <a:r>
              <a:rPr sz="2400" kern="0" spc="-87" dirty="0">
                <a:solidFill>
                  <a:sysClr val="windowText" lastClr="000000"/>
                </a:solidFill>
                <a:latin typeface="Arial Narrow"/>
                <a:cs typeface="Arial Narrow"/>
              </a:rPr>
              <a:t>into</a:t>
            </a:r>
            <a:r>
              <a:rPr sz="2400" kern="0" spc="-120" dirty="0">
                <a:solidFill>
                  <a:sysClr val="windowText" lastClr="000000"/>
                </a:solidFill>
                <a:latin typeface="Arial Narrow"/>
                <a:cs typeface="Arial Narrow"/>
              </a:rPr>
              <a:t> </a:t>
            </a:r>
            <a:r>
              <a:rPr sz="2400" kern="0" spc="-133" dirty="0">
                <a:solidFill>
                  <a:sysClr val="windowText" lastClr="000000"/>
                </a:solidFill>
                <a:latin typeface="Arial Narrow"/>
                <a:cs typeface="Arial Narrow"/>
              </a:rPr>
              <a:t>three</a:t>
            </a:r>
            <a:r>
              <a:rPr sz="2400" kern="0" spc="-67" dirty="0">
                <a:solidFill>
                  <a:sysClr val="windowText" lastClr="000000"/>
                </a:solidFill>
                <a:latin typeface="Arial Narrow"/>
                <a:cs typeface="Arial Narrow"/>
              </a:rPr>
              <a:t> </a:t>
            </a:r>
            <a:r>
              <a:rPr sz="2400" kern="0" spc="-13" dirty="0">
                <a:solidFill>
                  <a:sysClr val="windowText" lastClr="000000"/>
                </a:solidFill>
                <a:latin typeface="Arial Narrow"/>
                <a:cs typeface="Arial Narrow"/>
              </a:rPr>
              <a:t>files</a:t>
            </a:r>
            <a:endParaRPr sz="2400" kern="0">
              <a:solidFill>
                <a:sysClr val="windowText" lastClr="000000"/>
              </a:solidFill>
              <a:latin typeface="Arial Narrow"/>
              <a:cs typeface="Arial Narrow"/>
            </a:endParaRPr>
          </a:p>
          <a:p>
            <a:pPr marL="1395272" lvl="1" indent="-158323" defTabSz="1219170">
              <a:spcBef>
                <a:spcPts val="1427"/>
              </a:spcBef>
              <a:buFontTx/>
              <a:buChar char="-"/>
              <a:tabLst>
                <a:tab pos="1395272" algn="l"/>
              </a:tabLst>
            </a:pPr>
            <a:r>
              <a:rPr sz="2400" kern="0" spc="-160" dirty="0">
                <a:solidFill>
                  <a:sysClr val="windowText" lastClr="000000"/>
                </a:solidFill>
                <a:latin typeface="Arial Narrow"/>
                <a:cs typeface="Arial Narrow"/>
              </a:rPr>
              <a:t>data.txt,</a:t>
            </a:r>
            <a:r>
              <a:rPr sz="2400" kern="0" spc="-107" dirty="0">
                <a:solidFill>
                  <a:sysClr val="windowText" lastClr="000000"/>
                </a:solidFill>
                <a:latin typeface="Arial Narrow"/>
                <a:cs typeface="Arial Narrow"/>
              </a:rPr>
              <a:t> </a:t>
            </a:r>
            <a:r>
              <a:rPr sz="2400" kern="0" spc="-53" dirty="0">
                <a:solidFill>
                  <a:sysClr val="windowText" lastClr="000000"/>
                </a:solidFill>
                <a:latin typeface="Arial Narrow"/>
                <a:cs typeface="Arial Narrow"/>
              </a:rPr>
              <a:t>in</a:t>
            </a:r>
            <a:r>
              <a:rPr sz="2400" kern="0" spc="-67" dirty="0">
                <a:solidFill>
                  <a:sysClr val="windowText" lastClr="000000"/>
                </a:solidFill>
                <a:latin typeface="Arial Narrow"/>
                <a:cs typeface="Arial Narrow"/>
              </a:rPr>
              <a:t> </a:t>
            </a:r>
            <a:r>
              <a:rPr sz="2400" kern="0" spc="-147" dirty="0">
                <a:solidFill>
                  <a:sysClr val="windowText" lastClr="000000"/>
                </a:solidFill>
                <a:latin typeface="Arial Narrow"/>
                <a:cs typeface="Arial Narrow"/>
              </a:rPr>
              <a:t>the</a:t>
            </a:r>
            <a:r>
              <a:rPr sz="2400" kern="0" spc="-80" dirty="0">
                <a:solidFill>
                  <a:sysClr val="windowText" lastClr="000000"/>
                </a:solidFill>
                <a:latin typeface="Arial Narrow"/>
                <a:cs typeface="Arial Narrow"/>
              </a:rPr>
              <a:t> </a:t>
            </a:r>
            <a:r>
              <a:rPr sz="2400" kern="0" spc="-107" dirty="0">
                <a:solidFill>
                  <a:sysClr val="windowText" lastClr="000000"/>
                </a:solidFill>
                <a:latin typeface="Arial Narrow"/>
                <a:cs typeface="Arial Narrow"/>
              </a:rPr>
              <a:t>following</a:t>
            </a:r>
            <a:r>
              <a:rPr sz="2400" kern="0" spc="-93" dirty="0">
                <a:solidFill>
                  <a:sysClr val="windowText" lastClr="000000"/>
                </a:solidFill>
                <a:latin typeface="Arial Narrow"/>
                <a:cs typeface="Arial Narrow"/>
              </a:rPr>
              <a:t> </a:t>
            </a:r>
            <a:r>
              <a:rPr sz="2400" kern="0" spc="-133" dirty="0">
                <a:solidFill>
                  <a:sysClr val="windowText" lastClr="000000"/>
                </a:solidFill>
                <a:latin typeface="Arial Narrow"/>
                <a:cs typeface="Arial Narrow"/>
              </a:rPr>
              <a:t>format:</a:t>
            </a:r>
            <a:r>
              <a:rPr sz="2400" kern="0" spc="-47" dirty="0">
                <a:solidFill>
                  <a:sysClr val="windowText" lastClr="000000"/>
                </a:solidFill>
                <a:latin typeface="Arial Narrow"/>
                <a:cs typeface="Arial Narrow"/>
              </a:rPr>
              <a:t> </a:t>
            </a:r>
            <a:r>
              <a:rPr sz="2400" kern="0" dirty="0">
                <a:solidFill>
                  <a:srgbClr val="E36C09"/>
                </a:solidFill>
                <a:latin typeface="Courier New"/>
                <a:cs typeface="Courier New"/>
              </a:rPr>
              <a:t>&lt;vowel&gt;</a:t>
            </a:r>
            <a:r>
              <a:rPr sz="2400" kern="0" spc="33" dirty="0">
                <a:solidFill>
                  <a:srgbClr val="E36C09"/>
                </a:solidFill>
                <a:latin typeface="Courier New"/>
                <a:cs typeface="Courier New"/>
              </a:rPr>
              <a:t> </a:t>
            </a:r>
            <a:r>
              <a:rPr sz="2400" kern="0" spc="-47" dirty="0">
                <a:solidFill>
                  <a:srgbClr val="E36C09"/>
                </a:solidFill>
                <a:latin typeface="Courier New"/>
                <a:cs typeface="Courier New"/>
              </a:rPr>
              <a:t>-</a:t>
            </a:r>
            <a:r>
              <a:rPr sz="2400" kern="0" dirty="0">
                <a:solidFill>
                  <a:srgbClr val="E36C09"/>
                </a:solidFill>
                <a:latin typeface="Courier New"/>
                <a:cs typeface="Courier New"/>
              </a:rPr>
              <a:t>-&gt;</a:t>
            </a:r>
            <a:r>
              <a:rPr sz="2400" kern="0" spc="73" dirty="0">
                <a:solidFill>
                  <a:srgbClr val="E36C09"/>
                </a:solidFill>
                <a:latin typeface="Courier New"/>
                <a:cs typeface="Courier New"/>
              </a:rPr>
              <a:t> </a:t>
            </a:r>
            <a:r>
              <a:rPr sz="2400" kern="0" spc="-13" dirty="0">
                <a:solidFill>
                  <a:srgbClr val="E36C09"/>
                </a:solidFill>
                <a:latin typeface="Courier New"/>
                <a:cs typeface="Courier New"/>
              </a:rPr>
              <a:t>&lt;frequency&gt;</a:t>
            </a:r>
            <a:endParaRPr sz="2400" kern="0">
              <a:solidFill>
                <a:sysClr val="windowText" lastClr="000000"/>
              </a:solidFill>
              <a:latin typeface="Courier New"/>
              <a:cs typeface="Courier New"/>
            </a:endParaRPr>
          </a:p>
          <a:p>
            <a:pPr marL="1395272" lvl="1" indent="-158323" defTabSz="1219170">
              <a:spcBef>
                <a:spcPts val="1427"/>
              </a:spcBef>
              <a:buFontTx/>
              <a:buChar char="-"/>
              <a:tabLst>
                <a:tab pos="1395272" algn="l"/>
              </a:tabLst>
            </a:pPr>
            <a:r>
              <a:rPr sz="2400" kern="0" spc="-173" dirty="0">
                <a:solidFill>
                  <a:sysClr val="windowText" lastClr="000000"/>
                </a:solidFill>
                <a:latin typeface="Arial Narrow"/>
                <a:cs typeface="Arial Narrow"/>
              </a:rPr>
              <a:t>data.json,</a:t>
            </a:r>
            <a:r>
              <a:rPr sz="2400" kern="0" spc="-100" dirty="0">
                <a:solidFill>
                  <a:sysClr val="windowText" lastClr="000000"/>
                </a:solidFill>
                <a:latin typeface="Arial Narrow"/>
                <a:cs typeface="Arial Narrow"/>
              </a:rPr>
              <a:t> </a:t>
            </a:r>
            <a:r>
              <a:rPr sz="2400" kern="0" spc="-73" dirty="0">
                <a:solidFill>
                  <a:sysClr val="windowText" lastClr="000000"/>
                </a:solidFill>
                <a:latin typeface="Arial Narrow"/>
                <a:cs typeface="Arial Narrow"/>
              </a:rPr>
              <a:t>with </a:t>
            </a:r>
            <a:r>
              <a:rPr sz="2400" kern="0" spc="-200" dirty="0">
                <a:solidFill>
                  <a:sysClr val="windowText" lastClr="000000"/>
                </a:solidFill>
                <a:latin typeface="Arial Narrow"/>
                <a:cs typeface="Arial Narrow"/>
              </a:rPr>
              <a:t>an</a:t>
            </a:r>
            <a:r>
              <a:rPr sz="2400" kern="0" spc="-160" dirty="0">
                <a:solidFill>
                  <a:sysClr val="windowText" lastClr="000000"/>
                </a:solidFill>
                <a:latin typeface="Arial Narrow"/>
                <a:cs typeface="Arial Narrow"/>
              </a:rPr>
              <a:t> </a:t>
            </a:r>
            <a:r>
              <a:rPr sz="2400" kern="0" spc="-133" dirty="0">
                <a:solidFill>
                  <a:sysClr val="windowText" lastClr="000000"/>
                </a:solidFill>
                <a:latin typeface="Arial Narrow"/>
                <a:cs typeface="Arial Narrow"/>
              </a:rPr>
              <a:t>indentation</a:t>
            </a:r>
            <a:r>
              <a:rPr sz="2400" kern="0" spc="-53" dirty="0">
                <a:solidFill>
                  <a:sysClr val="windowText" lastClr="000000"/>
                </a:solidFill>
                <a:latin typeface="Arial Narrow"/>
                <a:cs typeface="Arial Narrow"/>
              </a:rPr>
              <a:t> </a:t>
            </a:r>
            <a:r>
              <a:rPr sz="2400" kern="0" spc="-107" dirty="0">
                <a:solidFill>
                  <a:sysClr val="windowText" lastClr="000000"/>
                </a:solidFill>
                <a:latin typeface="Arial Narrow"/>
                <a:cs typeface="Arial Narrow"/>
              </a:rPr>
              <a:t>of</a:t>
            </a:r>
            <a:r>
              <a:rPr sz="2400" kern="0" spc="-73" dirty="0">
                <a:solidFill>
                  <a:sysClr val="windowText" lastClr="000000"/>
                </a:solidFill>
                <a:latin typeface="Arial Narrow"/>
                <a:cs typeface="Arial Narrow"/>
              </a:rPr>
              <a:t> </a:t>
            </a:r>
            <a:r>
              <a:rPr sz="2400" kern="0" spc="-133" dirty="0">
                <a:solidFill>
                  <a:sysClr val="windowText" lastClr="000000"/>
                </a:solidFill>
                <a:latin typeface="Arial Narrow"/>
                <a:cs typeface="Arial Narrow"/>
              </a:rPr>
              <a:t>4</a:t>
            </a:r>
            <a:r>
              <a:rPr sz="2400" kern="0" dirty="0">
                <a:solidFill>
                  <a:sysClr val="windowText" lastClr="000000"/>
                </a:solidFill>
                <a:latin typeface="Arial Narrow"/>
                <a:cs typeface="Arial Narrow"/>
              </a:rPr>
              <a:t> </a:t>
            </a:r>
            <a:r>
              <a:rPr sz="2400" kern="0" spc="-13" dirty="0">
                <a:solidFill>
                  <a:sysClr val="windowText" lastClr="000000"/>
                </a:solidFill>
                <a:latin typeface="Arial Narrow"/>
                <a:cs typeface="Arial Narrow"/>
              </a:rPr>
              <a:t>spaces</a:t>
            </a:r>
            <a:endParaRPr sz="2400" kern="0">
              <a:solidFill>
                <a:sysClr val="windowText" lastClr="000000"/>
              </a:solidFill>
              <a:latin typeface="Arial Narrow"/>
              <a:cs typeface="Arial Narrow"/>
            </a:endParaRPr>
          </a:p>
          <a:p>
            <a:pPr marL="1395272" lvl="1" indent="-158323" defTabSz="1219170">
              <a:spcBef>
                <a:spcPts val="1427"/>
              </a:spcBef>
              <a:buFontTx/>
              <a:buChar char="-"/>
              <a:tabLst>
                <a:tab pos="1395272" algn="l"/>
              </a:tabLst>
            </a:pPr>
            <a:r>
              <a:rPr sz="2400" kern="0" spc="-40" dirty="0">
                <a:solidFill>
                  <a:sysClr val="windowText" lastClr="000000"/>
                </a:solidFill>
                <a:latin typeface="Arial Narrow"/>
                <a:cs typeface="Arial Narrow"/>
              </a:rPr>
              <a:t>data.csv</a:t>
            </a:r>
            <a:endParaRPr sz="2400" kern="0">
              <a:solidFill>
                <a:sysClr val="windowText" lastClr="000000"/>
              </a:solidFill>
              <a:latin typeface="Arial Narrow"/>
              <a:cs typeface="Arial Narrow"/>
            </a:endParaRPr>
          </a:p>
          <a:p>
            <a:pPr marL="397923" indent="-380990" defTabSz="1219170">
              <a:spcBef>
                <a:spcPts val="1527"/>
              </a:spcBef>
              <a:buFont typeface="Arial"/>
              <a:buChar char="•"/>
              <a:tabLst>
                <a:tab pos="397923" algn="l"/>
              </a:tabLst>
            </a:pPr>
            <a:r>
              <a:rPr sz="2400" kern="0" spc="-272" dirty="0">
                <a:solidFill>
                  <a:sysClr val="windowText" lastClr="000000"/>
                </a:solidFill>
                <a:latin typeface="Arial Narrow"/>
                <a:cs typeface="Arial Narrow"/>
              </a:rPr>
              <a:t>Once</a:t>
            </a:r>
            <a:r>
              <a:rPr sz="2400" kern="0" spc="-60" dirty="0">
                <a:solidFill>
                  <a:sysClr val="windowText" lastClr="000000"/>
                </a:solidFill>
                <a:latin typeface="Arial Narrow"/>
                <a:cs typeface="Arial Narrow"/>
              </a:rPr>
              <a:t> </a:t>
            </a:r>
            <a:r>
              <a:rPr sz="2400" kern="0" spc="-152" dirty="0">
                <a:solidFill>
                  <a:sysClr val="windowText" lastClr="000000"/>
                </a:solidFill>
                <a:latin typeface="Arial Narrow"/>
                <a:cs typeface="Arial Narrow"/>
              </a:rPr>
              <a:t>the</a:t>
            </a:r>
            <a:r>
              <a:rPr sz="2400" kern="0" spc="-60" dirty="0">
                <a:solidFill>
                  <a:sysClr val="windowText" lastClr="000000"/>
                </a:solidFill>
                <a:latin typeface="Arial Narrow"/>
                <a:cs typeface="Arial Narrow"/>
              </a:rPr>
              <a:t> </a:t>
            </a:r>
            <a:r>
              <a:rPr sz="2400" kern="0" spc="-140" dirty="0">
                <a:solidFill>
                  <a:sysClr val="windowText" lastClr="000000"/>
                </a:solidFill>
                <a:latin typeface="Arial Narrow"/>
                <a:cs typeface="Arial Narrow"/>
              </a:rPr>
              <a:t>loop</a:t>
            </a:r>
            <a:r>
              <a:rPr sz="2400" kern="0" spc="-127" dirty="0">
                <a:solidFill>
                  <a:sysClr val="windowText" lastClr="000000"/>
                </a:solidFill>
                <a:latin typeface="Arial Narrow"/>
                <a:cs typeface="Arial Narrow"/>
              </a:rPr>
              <a:t> </a:t>
            </a:r>
            <a:r>
              <a:rPr sz="2400" kern="0" spc="-60" dirty="0">
                <a:solidFill>
                  <a:sysClr val="windowText" lastClr="000000"/>
                </a:solidFill>
                <a:latin typeface="Arial Narrow"/>
                <a:cs typeface="Arial Narrow"/>
              </a:rPr>
              <a:t>is</a:t>
            </a:r>
            <a:r>
              <a:rPr sz="2400" kern="0" spc="-13" dirty="0">
                <a:solidFill>
                  <a:sysClr val="windowText" lastClr="000000"/>
                </a:solidFill>
                <a:latin typeface="Arial Narrow"/>
                <a:cs typeface="Arial Narrow"/>
              </a:rPr>
              <a:t> </a:t>
            </a:r>
            <a:r>
              <a:rPr sz="2400" kern="0" spc="-152" dirty="0">
                <a:solidFill>
                  <a:sysClr val="windowText" lastClr="000000"/>
                </a:solidFill>
                <a:latin typeface="Arial Narrow"/>
                <a:cs typeface="Arial Narrow"/>
              </a:rPr>
              <a:t>terminated,</a:t>
            </a:r>
            <a:r>
              <a:rPr sz="2400" kern="0" spc="-93" dirty="0">
                <a:solidFill>
                  <a:sysClr val="windowText" lastClr="000000"/>
                </a:solidFill>
                <a:latin typeface="Arial Narrow"/>
                <a:cs typeface="Arial Narrow"/>
              </a:rPr>
              <a:t> </a:t>
            </a:r>
            <a:r>
              <a:rPr sz="2400" kern="0" spc="-133" dirty="0">
                <a:solidFill>
                  <a:sysClr val="windowText" lastClr="000000"/>
                </a:solidFill>
                <a:latin typeface="Arial Narrow"/>
                <a:cs typeface="Arial Narrow"/>
              </a:rPr>
              <a:t>retrieves</a:t>
            </a:r>
            <a:r>
              <a:rPr sz="2400" kern="0" spc="-113" dirty="0">
                <a:solidFill>
                  <a:sysClr val="windowText" lastClr="000000"/>
                </a:solidFill>
                <a:latin typeface="Arial Narrow"/>
                <a:cs typeface="Arial Narrow"/>
              </a:rPr>
              <a:t> </a:t>
            </a:r>
            <a:r>
              <a:rPr sz="2400" kern="0" spc="-213" dirty="0">
                <a:solidFill>
                  <a:sysClr val="windowText" lastClr="000000"/>
                </a:solidFill>
                <a:latin typeface="Arial Narrow"/>
                <a:cs typeface="Arial Narrow"/>
              </a:rPr>
              <a:t>and</a:t>
            </a:r>
            <a:r>
              <a:rPr sz="2400" kern="0" spc="-120" dirty="0">
                <a:solidFill>
                  <a:sysClr val="windowText" lastClr="000000"/>
                </a:solidFill>
                <a:latin typeface="Arial Narrow"/>
                <a:cs typeface="Arial Narrow"/>
              </a:rPr>
              <a:t> </a:t>
            </a:r>
            <a:r>
              <a:rPr sz="2400" kern="0" spc="-160" dirty="0">
                <a:solidFill>
                  <a:sysClr val="windowText" lastClr="000000"/>
                </a:solidFill>
                <a:latin typeface="Arial Narrow"/>
                <a:cs typeface="Arial Narrow"/>
              </a:rPr>
              <a:t>displays</a:t>
            </a:r>
            <a:r>
              <a:rPr sz="2400" kern="0" spc="-120" dirty="0">
                <a:solidFill>
                  <a:sysClr val="windowText" lastClr="000000"/>
                </a:solidFill>
                <a:latin typeface="Arial Narrow"/>
                <a:cs typeface="Arial Narrow"/>
              </a:rPr>
              <a:t> </a:t>
            </a:r>
            <a:r>
              <a:rPr sz="2400" kern="0" spc="-152" dirty="0">
                <a:solidFill>
                  <a:sysClr val="windowText" lastClr="000000"/>
                </a:solidFill>
                <a:latin typeface="Arial Narrow"/>
                <a:cs typeface="Arial Narrow"/>
              </a:rPr>
              <a:t>the</a:t>
            </a:r>
            <a:r>
              <a:rPr sz="2400" kern="0" spc="-53" dirty="0">
                <a:solidFill>
                  <a:sysClr val="windowText" lastClr="000000"/>
                </a:solidFill>
                <a:latin typeface="Arial Narrow"/>
                <a:cs typeface="Arial Narrow"/>
              </a:rPr>
              <a:t> </a:t>
            </a:r>
            <a:r>
              <a:rPr sz="2400" kern="0" spc="-160" dirty="0">
                <a:solidFill>
                  <a:sysClr val="windowText" lastClr="000000"/>
                </a:solidFill>
                <a:latin typeface="Arial Narrow"/>
                <a:cs typeface="Arial Narrow"/>
              </a:rPr>
              <a:t>content</a:t>
            </a:r>
            <a:r>
              <a:rPr sz="2400" kern="0" spc="-67" dirty="0">
                <a:solidFill>
                  <a:sysClr val="windowText" lastClr="000000"/>
                </a:solidFill>
                <a:latin typeface="Arial Narrow"/>
                <a:cs typeface="Arial Narrow"/>
              </a:rPr>
              <a:t> </a:t>
            </a:r>
            <a:r>
              <a:rPr sz="2400" kern="0" spc="-200" dirty="0">
                <a:solidFill>
                  <a:sysClr val="windowText" lastClr="000000"/>
                </a:solidFill>
                <a:latin typeface="Arial Narrow"/>
                <a:cs typeface="Arial Narrow"/>
              </a:rPr>
              <a:t>on</a:t>
            </a:r>
            <a:r>
              <a:rPr sz="2400" kern="0" spc="-53" dirty="0">
                <a:solidFill>
                  <a:sysClr val="windowText" lastClr="000000"/>
                </a:solidFill>
                <a:latin typeface="Arial Narrow"/>
                <a:cs typeface="Arial Narrow"/>
              </a:rPr>
              <a:t> </a:t>
            </a:r>
            <a:r>
              <a:rPr sz="2400" kern="0" spc="-93" dirty="0">
                <a:solidFill>
                  <a:sysClr val="windowText" lastClr="000000"/>
                </a:solidFill>
                <a:latin typeface="Arial Narrow"/>
                <a:cs typeface="Arial Narrow"/>
              </a:rPr>
              <a:t>all</a:t>
            </a:r>
            <a:r>
              <a:rPr sz="2400" kern="0" spc="-147" dirty="0">
                <a:solidFill>
                  <a:sysClr val="windowText" lastClr="000000"/>
                </a:solidFill>
                <a:latin typeface="Arial Narrow"/>
                <a:cs typeface="Arial Narrow"/>
              </a:rPr>
              <a:t> </a:t>
            </a:r>
            <a:r>
              <a:rPr sz="2400" kern="0" spc="-140" dirty="0">
                <a:solidFill>
                  <a:sysClr val="windowText" lastClr="000000"/>
                </a:solidFill>
                <a:latin typeface="Arial Narrow"/>
                <a:cs typeface="Arial Narrow"/>
              </a:rPr>
              <a:t>three</a:t>
            </a:r>
            <a:r>
              <a:rPr sz="2400" kern="0" spc="-53" dirty="0">
                <a:solidFill>
                  <a:sysClr val="windowText" lastClr="000000"/>
                </a:solidFill>
                <a:latin typeface="Arial Narrow"/>
                <a:cs typeface="Arial Narrow"/>
              </a:rPr>
              <a:t> </a:t>
            </a:r>
            <a:r>
              <a:rPr sz="2400" kern="0" spc="-13" dirty="0">
                <a:solidFill>
                  <a:sysClr val="windowText" lastClr="000000"/>
                </a:solidFill>
                <a:latin typeface="Arial Narrow"/>
                <a:cs typeface="Arial Narrow"/>
              </a:rPr>
              <a:t>files</a:t>
            </a:r>
            <a:endParaRPr sz="2400" kern="0">
              <a:solidFill>
                <a:sysClr val="windowText" lastClr="000000"/>
              </a:solidFill>
              <a:latin typeface="Arial Narrow"/>
              <a:cs typeface="Arial Narrow"/>
            </a:endParaRPr>
          </a:p>
        </p:txBody>
      </p:sp>
      <p:sp>
        <p:nvSpPr>
          <p:cNvPr id="3" name="object 3" descr="$PPTXTitle"/>
          <p:cNvSpPr txBox="1">
            <a:spLocks noGrp="1"/>
          </p:cNvSpPr>
          <p:nvPr>
            <p:ph type="title"/>
          </p:nvPr>
        </p:nvSpPr>
        <p:spPr>
          <a:xfrm>
            <a:off x="434763" y="91017"/>
            <a:ext cx="4848013" cy="879728"/>
          </a:xfrm>
          <a:prstGeom prst="rect">
            <a:avLst/>
          </a:prstGeom>
        </p:spPr>
        <p:txBody>
          <a:bodyPr vert="horz" wrap="square" lIns="0" tIns="17780" rIns="0" bIns="0" rtlCol="0">
            <a:spAutoFit/>
          </a:bodyPr>
          <a:lstStyle/>
          <a:p>
            <a:pPr marL="16933">
              <a:spcBef>
                <a:spcPts val="140"/>
              </a:spcBef>
            </a:pPr>
            <a:r>
              <a:rPr spc="-560" dirty="0"/>
              <a:t>Lab</a:t>
            </a:r>
            <a:r>
              <a:rPr spc="-180" dirty="0"/>
              <a:t> </a:t>
            </a:r>
            <a:r>
              <a:rPr spc="-267" dirty="0"/>
              <a:t>9</a:t>
            </a:r>
            <a:r>
              <a:rPr spc="-213" dirty="0"/>
              <a:t> </a:t>
            </a:r>
            <a:r>
              <a:rPr dirty="0">
                <a:latin typeface="Times New Roman"/>
                <a:cs typeface="Times New Roman"/>
              </a:rPr>
              <a:t>–</a:t>
            </a:r>
            <a:r>
              <a:rPr spc="-339" dirty="0">
                <a:latin typeface="Times New Roman"/>
                <a:cs typeface="Times New Roman"/>
              </a:rPr>
              <a:t> </a:t>
            </a:r>
            <a:r>
              <a:rPr sz="5267" spc="-413" dirty="0"/>
              <a:t>Lab9Exercise1</a:t>
            </a:r>
            <a:endParaRPr sz="5267">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37397" y="63077"/>
            <a:ext cx="4911513" cy="925104"/>
          </a:xfrm>
          <a:prstGeom prst="rect">
            <a:avLst/>
          </a:prstGeom>
        </p:spPr>
        <p:txBody>
          <a:bodyPr vert="horz" wrap="square" lIns="0" tIns="22013" rIns="0" bIns="0" rtlCol="0">
            <a:spAutoFit/>
          </a:bodyPr>
          <a:lstStyle/>
          <a:p>
            <a:pPr marL="16933">
              <a:spcBef>
                <a:spcPts val="173"/>
              </a:spcBef>
            </a:pPr>
            <a:r>
              <a:rPr sz="5267" spc="-493" dirty="0"/>
              <a:t>Lab</a:t>
            </a:r>
            <a:r>
              <a:rPr sz="5267" spc="-193" dirty="0"/>
              <a:t> </a:t>
            </a:r>
            <a:r>
              <a:rPr sz="5267" spc="-240" dirty="0"/>
              <a:t>9</a:t>
            </a:r>
            <a:r>
              <a:rPr sz="5267" spc="-220" dirty="0"/>
              <a:t> </a:t>
            </a:r>
            <a:r>
              <a:rPr sz="5867" dirty="0">
                <a:latin typeface="Arial"/>
                <a:cs typeface="Arial"/>
              </a:rPr>
              <a:t>–</a:t>
            </a:r>
            <a:r>
              <a:rPr sz="5867" spc="-7" dirty="0">
                <a:latin typeface="Arial"/>
                <a:cs typeface="Arial"/>
              </a:rPr>
              <a:t> </a:t>
            </a:r>
            <a:r>
              <a:rPr sz="5267" spc="-420" dirty="0"/>
              <a:t>Lab9Exercise2</a:t>
            </a:r>
            <a:endParaRPr sz="5267">
              <a:latin typeface="Arial"/>
              <a:cs typeface="Arial"/>
            </a:endParaRPr>
          </a:p>
        </p:txBody>
      </p:sp>
      <p:sp>
        <p:nvSpPr>
          <p:cNvPr id="3" name="object 3"/>
          <p:cNvSpPr txBox="1"/>
          <p:nvPr/>
        </p:nvSpPr>
        <p:spPr>
          <a:xfrm>
            <a:off x="511810" y="1192530"/>
            <a:ext cx="10345420" cy="4210554"/>
          </a:xfrm>
          <a:prstGeom prst="rect">
            <a:avLst/>
          </a:prstGeom>
        </p:spPr>
        <p:txBody>
          <a:bodyPr vert="horz" wrap="square" lIns="0" tIns="16933" rIns="0" bIns="0" rtlCol="0">
            <a:spAutoFit/>
          </a:bodyPr>
          <a:lstStyle/>
          <a:p>
            <a:pPr marL="16933" defTabSz="1219170">
              <a:spcBef>
                <a:spcPts val="133"/>
              </a:spcBef>
            </a:pPr>
            <a:r>
              <a:rPr sz="2400" kern="0" spc="-200" dirty="0">
                <a:solidFill>
                  <a:sysClr val="windowText" lastClr="000000"/>
                </a:solidFill>
                <a:latin typeface="+mj-lt"/>
                <a:cs typeface="Arial Narrow"/>
              </a:rPr>
              <a:t>Develop</a:t>
            </a:r>
            <a:r>
              <a:rPr sz="2400" kern="0" spc="-120" dirty="0">
                <a:solidFill>
                  <a:sysClr val="windowText" lastClr="000000"/>
                </a:solidFill>
                <a:latin typeface="+mj-lt"/>
                <a:cs typeface="Arial Narrow"/>
              </a:rPr>
              <a:t> </a:t>
            </a:r>
            <a:r>
              <a:rPr sz="2400" kern="0" spc="-147" dirty="0">
                <a:solidFill>
                  <a:sysClr val="windowText" lastClr="000000"/>
                </a:solidFill>
                <a:latin typeface="+mj-lt"/>
                <a:cs typeface="Arial Narrow"/>
              </a:rPr>
              <a:t>the</a:t>
            </a:r>
            <a:r>
              <a:rPr sz="2400" kern="0" spc="-73" dirty="0">
                <a:solidFill>
                  <a:sysClr val="windowText" lastClr="000000"/>
                </a:solidFill>
                <a:latin typeface="+mj-lt"/>
                <a:cs typeface="Arial Narrow"/>
              </a:rPr>
              <a:t> </a:t>
            </a:r>
            <a:r>
              <a:rPr sz="2400" kern="0" spc="-152" dirty="0">
                <a:solidFill>
                  <a:sysClr val="windowText" lastClr="000000"/>
                </a:solidFill>
                <a:latin typeface="+mj-lt"/>
                <a:cs typeface="Arial Narrow"/>
              </a:rPr>
              <a:t>program</a:t>
            </a:r>
            <a:r>
              <a:rPr sz="2400" kern="0" spc="-67" dirty="0">
                <a:solidFill>
                  <a:sysClr val="windowText" lastClr="000000"/>
                </a:solidFill>
                <a:latin typeface="+mj-lt"/>
                <a:cs typeface="Arial Narrow"/>
              </a:rPr>
              <a:t> </a:t>
            </a:r>
            <a:r>
              <a:rPr sz="2400" b="1" kern="0" spc="-213" dirty="0">
                <a:solidFill>
                  <a:sysClr val="windowText" lastClr="000000"/>
                </a:solidFill>
                <a:latin typeface="+mj-lt"/>
                <a:cs typeface="Arial Narrow"/>
              </a:rPr>
              <a:t>Lab9Exercise2</a:t>
            </a:r>
            <a:r>
              <a:rPr sz="2400" b="1" kern="0" spc="-67" dirty="0">
                <a:solidFill>
                  <a:sysClr val="windowText" lastClr="000000"/>
                </a:solidFill>
                <a:latin typeface="+mj-lt"/>
                <a:cs typeface="Arial Narrow"/>
              </a:rPr>
              <a:t> </a:t>
            </a:r>
            <a:r>
              <a:rPr sz="2400" kern="0" spc="-120" dirty="0">
                <a:solidFill>
                  <a:sysClr val="windowText" lastClr="000000"/>
                </a:solidFill>
                <a:latin typeface="+mj-lt"/>
                <a:cs typeface="Arial Narrow"/>
              </a:rPr>
              <a:t>(the</a:t>
            </a:r>
            <a:r>
              <a:rPr sz="2400" kern="0" spc="-67" dirty="0">
                <a:solidFill>
                  <a:sysClr val="windowText" lastClr="000000"/>
                </a:solidFill>
                <a:latin typeface="+mj-lt"/>
                <a:cs typeface="Arial Narrow"/>
              </a:rPr>
              <a:t> </a:t>
            </a:r>
            <a:r>
              <a:rPr sz="2400" kern="0" spc="-327" dirty="0">
                <a:solidFill>
                  <a:sysClr val="windowText" lastClr="000000"/>
                </a:solidFill>
                <a:latin typeface="+mj-lt"/>
                <a:cs typeface="Arial Narrow"/>
              </a:rPr>
              <a:t>Game</a:t>
            </a:r>
            <a:r>
              <a:rPr sz="2400" kern="0" spc="-27" dirty="0">
                <a:solidFill>
                  <a:sysClr val="windowText" lastClr="000000"/>
                </a:solidFill>
                <a:latin typeface="+mj-lt"/>
                <a:cs typeface="Arial Narrow"/>
              </a:rPr>
              <a:t> </a:t>
            </a:r>
            <a:r>
              <a:rPr sz="2400" kern="0" spc="-147" dirty="0">
                <a:solidFill>
                  <a:sysClr val="windowText" lastClr="000000"/>
                </a:solidFill>
                <a:latin typeface="+mj-lt"/>
                <a:cs typeface="Arial Narrow"/>
              </a:rPr>
              <a:t>Program)</a:t>
            </a:r>
            <a:r>
              <a:rPr sz="2400" kern="0" spc="-60" dirty="0">
                <a:solidFill>
                  <a:sysClr val="windowText" lastClr="000000"/>
                </a:solidFill>
                <a:latin typeface="+mj-lt"/>
                <a:cs typeface="Arial Narrow"/>
              </a:rPr>
              <a:t> in</a:t>
            </a:r>
            <a:r>
              <a:rPr sz="2400" kern="0" spc="-93" dirty="0">
                <a:solidFill>
                  <a:sysClr val="windowText" lastClr="000000"/>
                </a:solidFill>
                <a:latin typeface="+mj-lt"/>
                <a:cs typeface="Arial Narrow"/>
              </a:rPr>
              <a:t> </a:t>
            </a:r>
            <a:r>
              <a:rPr sz="2400" kern="0" spc="-300" dirty="0">
                <a:solidFill>
                  <a:sysClr val="windowText" lastClr="000000"/>
                </a:solidFill>
                <a:latin typeface="+mj-lt"/>
                <a:cs typeface="Arial Narrow"/>
              </a:rPr>
              <a:t>Java</a:t>
            </a:r>
            <a:r>
              <a:rPr sz="2400" kern="0" spc="-87" dirty="0">
                <a:solidFill>
                  <a:sysClr val="windowText" lastClr="000000"/>
                </a:solidFill>
                <a:latin typeface="+mj-lt"/>
                <a:cs typeface="Arial Narrow"/>
              </a:rPr>
              <a:t> </a:t>
            </a:r>
            <a:r>
              <a:rPr sz="2400" kern="0" spc="-100" dirty="0">
                <a:solidFill>
                  <a:sysClr val="windowText" lastClr="000000"/>
                </a:solidFill>
                <a:latin typeface="+mj-lt"/>
                <a:cs typeface="Arial Narrow"/>
              </a:rPr>
              <a:t>following</a:t>
            </a:r>
            <a:r>
              <a:rPr sz="2400" kern="0" spc="-73" dirty="0">
                <a:solidFill>
                  <a:sysClr val="windowText" lastClr="000000"/>
                </a:solidFill>
                <a:latin typeface="+mj-lt"/>
                <a:cs typeface="Arial Narrow"/>
              </a:rPr>
              <a:t> </a:t>
            </a:r>
            <a:r>
              <a:rPr sz="2400" kern="0" spc="-147" dirty="0">
                <a:solidFill>
                  <a:sysClr val="windowText" lastClr="000000"/>
                </a:solidFill>
                <a:latin typeface="+mj-lt"/>
                <a:cs typeface="Arial Narrow"/>
              </a:rPr>
              <a:t>the</a:t>
            </a:r>
            <a:r>
              <a:rPr sz="2400" kern="0" spc="-60" dirty="0">
                <a:solidFill>
                  <a:sysClr val="windowText" lastClr="000000"/>
                </a:solidFill>
                <a:latin typeface="+mj-lt"/>
                <a:cs typeface="Arial Narrow"/>
              </a:rPr>
              <a:t> </a:t>
            </a:r>
            <a:r>
              <a:rPr sz="2400" kern="0" spc="-167" dirty="0">
                <a:solidFill>
                  <a:sysClr val="windowText" lastClr="000000"/>
                </a:solidFill>
                <a:latin typeface="+mj-lt"/>
                <a:cs typeface="Arial Narrow"/>
              </a:rPr>
              <a:t>below</a:t>
            </a:r>
            <a:r>
              <a:rPr sz="2400" kern="0" spc="-73" dirty="0">
                <a:solidFill>
                  <a:sysClr val="windowText" lastClr="000000"/>
                </a:solidFill>
                <a:latin typeface="+mj-lt"/>
                <a:cs typeface="Arial Narrow"/>
              </a:rPr>
              <a:t> </a:t>
            </a:r>
            <a:r>
              <a:rPr sz="2400" kern="0" spc="-133" dirty="0">
                <a:solidFill>
                  <a:sysClr val="windowText" lastClr="000000"/>
                </a:solidFill>
                <a:latin typeface="+mj-lt"/>
                <a:cs typeface="Arial Narrow"/>
              </a:rPr>
              <a:t>2</a:t>
            </a:r>
            <a:r>
              <a:rPr sz="2400" kern="0" spc="-73" dirty="0">
                <a:solidFill>
                  <a:sysClr val="windowText" lastClr="000000"/>
                </a:solidFill>
                <a:latin typeface="+mj-lt"/>
                <a:cs typeface="Arial Narrow"/>
              </a:rPr>
              <a:t> </a:t>
            </a:r>
            <a:r>
              <a:rPr sz="2400" kern="0" spc="-13" dirty="0">
                <a:solidFill>
                  <a:sysClr val="windowText" lastClr="000000"/>
                </a:solidFill>
                <a:latin typeface="+mj-lt"/>
                <a:cs typeface="Arial Narrow"/>
              </a:rPr>
              <a:t>steps:</a:t>
            </a:r>
            <a:endParaRPr sz="2400" kern="0" dirty="0">
              <a:solidFill>
                <a:sysClr val="windowText" lastClr="000000"/>
              </a:solidFill>
              <a:latin typeface="+mj-lt"/>
              <a:cs typeface="Arial Narrow"/>
            </a:endParaRPr>
          </a:p>
          <a:p>
            <a:pPr defTabSz="1219170">
              <a:spcBef>
                <a:spcPts val="73"/>
              </a:spcBef>
            </a:pPr>
            <a:endParaRPr sz="2400" kern="0" dirty="0">
              <a:solidFill>
                <a:sysClr val="windowText" lastClr="000000"/>
              </a:solidFill>
              <a:latin typeface="+mj-lt"/>
              <a:cs typeface="Arial Narrow"/>
            </a:endParaRPr>
          </a:p>
          <a:p>
            <a:pPr marL="16933" defTabSz="1219170">
              <a:spcBef>
                <a:spcPts val="7"/>
              </a:spcBef>
            </a:pPr>
            <a:r>
              <a:rPr sz="2400" b="1" kern="0" spc="-160" dirty="0">
                <a:solidFill>
                  <a:sysClr val="windowText" lastClr="000000"/>
                </a:solidFill>
                <a:latin typeface="+mj-lt"/>
                <a:cs typeface="Arial Narrow"/>
              </a:rPr>
              <a:t>Step</a:t>
            </a:r>
            <a:r>
              <a:rPr sz="2400" b="1" kern="0" spc="-107" dirty="0">
                <a:solidFill>
                  <a:sysClr val="windowText" lastClr="000000"/>
                </a:solidFill>
                <a:latin typeface="+mj-lt"/>
                <a:cs typeface="Arial Narrow"/>
              </a:rPr>
              <a:t> </a:t>
            </a:r>
            <a:r>
              <a:rPr sz="2400" b="1" kern="0" spc="-173" dirty="0">
                <a:solidFill>
                  <a:sysClr val="windowText" lastClr="000000"/>
                </a:solidFill>
                <a:latin typeface="+mj-lt"/>
                <a:cs typeface="Arial Narrow"/>
              </a:rPr>
              <a:t>1:</a:t>
            </a:r>
            <a:r>
              <a:rPr sz="2400" b="1" kern="0" spc="-47" dirty="0">
                <a:solidFill>
                  <a:sysClr val="windowText" lastClr="000000"/>
                </a:solidFill>
                <a:latin typeface="+mj-lt"/>
                <a:cs typeface="Arial Narrow"/>
              </a:rPr>
              <a:t> </a:t>
            </a:r>
            <a:r>
              <a:rPr sz="2400" kern="0" spc="-207" dirty="0">
                <a:solidFill>
                  <a:sysClr val="windowText" lastClr="000000"/>
                </a:solidFill>
                <a:latin typeface="+mj-lt"/>
                <a:cs typeface="Arial Narrow"/>
              </a:rPr>
              <a:t>Develop</a:t>
            </a:r>
            <a:r>
              <a:rPr sz="2400" kern="0" spc="-93" dirty="0">
                <a:solidFill>
                  <a:sysClr val="windowText" lastClr="000000"/>
                </a:solidFill>
                <a:latin typeface="+mj-lt"/>
                <a:cs typeface="Arial Narrow"/>
              </a:rPr>
              <a:t> </a:t>
            </a:r>
            <a:r>
              <a:rPr sz="2400" kern="0" spc="-147" dirty="0">
                <a:solidFill>
                  <a:sysClr val="windowText" lastClr="000000"/>
                </a:solidFill>
                <a:latin typeface="+mj-lt"/>
                <a:cs typeface="Arial Narrow"/>
              </a:rPr>
              <a:t>the</a:t>
            </a:r>
            <a:r>
              <a:rPr sz="2400" kern="0" spc="-47" dirty="0">
                <a:solidFill>
                  <a:sysClr val="windowText" lastClr="000000"/>
                </a:solidFill>
                <a:latin typeface="+mj-lt"/>
                <a:cs typeface="Arial Narrow"/>
              </a:rPr>
              <a:t> </a:t>
            </a:r>
            <a:r>
              <a:rPr sz="2400" kern="0" spc="-173" dirty="0">
                <a:solidFill>
                  <a:sysClr val="windowText" lastClr="000000"/>
                </a:solidFill>
                <a:latin typeface="+mj-lt"/>
                <a:cs typeface="Arial Narrow"/>
              </a:rPr>
              <a:t>Player</a:t>
            </a:r>
            <a:r>
              <a:rPr sz="2400" kern="0" spc="-67" dirty="0">
                <a:solidFill>
                  <a:sysClr val="windowText" lastClr="000000"/>
                </a:solidFill>
                <a:latin typeface="+mj-lt"/>
                <a:cs typeface="Arial Narrow"/>
              </a:rPr>
              <a:t> </a:t>
            </a:r>
            <a:r>
              <a:rPr sz="2400" kern="0" spc="-27" dirty="0">
                <a:solidFill>
                  <a:sysClr val="windowText" lastClr="000000"/>
                </a:solidFill>
                <a:latin typeface="+mj-lt"/>
                <a:cs typeface="Arial Narrow"/>
              </a:rPr>
              <a:t>class</a:t>
            </a:r>
            <a:endParaRPr sz="2400" kern="0" dirty="0">
              <a:solidFill>
                <a:sysClr val="windowText" lastClr="000000"/>
              </a:solidFill>
              <a:latin typeface="+mj-lt"/>
              <a:cs typeface="Arial Narrow"/>
            </a:endParaRPr>
          </a:p>
          <a:p>
            <a:pPr marL="397923" indent="-380990" defTabSz="1219170">
              <a:spcBef>
                <a:spcPts val="927"/>
              </a:spcBef>
              <a:buFont typeface="Arial"/>
              <a:buChar char="•"/>
              <a:tabLst>
                <a:tab pos="397923" algn="l"/>
              </a:tabLst>
            </a:pPr>
            <a:r>
              <a:rPr sz="2400" kern="0" spc="-167" dirty="0">
                <a:solidFill>
                  <a:sysClr val="windowText" lastClr="000000"/>
                </a:solidFill>
                <a:latin typeface="+mj-lt"/>
                <a:cs typeface="Arial Narrow"/>
              </a:rPr>
              <a:t>Player</a:t>
            </a:r>
            <a:r>
              <a:rPr sz="2400" kern="0" spc="-73" dirty="0">
                <a:solidFill>
                  <a:sysClr val="windowText" lastClr="000000"/>
                </a:solidFill>
                <a:latin typeface="+mj-lt"/>
                <a:cs typeface="Arial Narrow"/>
              </a:rPr>
              <a:t> </a:t>
            </a:r>
            <a:r>
              <a:rPr sz="2400" kern="0" spc="-247" dirty="0">
                <a:solidFill>
                  <a:sysClr val="windowText" lastClr="000000"/>
                </a:solidFill>
                <a:latin typeface="+mj-lt"/>
                <a:cs typeface="Arial Narrow"/>
              </a:rPr>
              <a:t>has</a:t>
            </a:r>
            <a:r>
              <a:rPr sz="2400" kern="0" spc="-27" dirty="0">
                <a:solidFill>
                  <a:sysClr val="windowText" lastClr="000000"/>
                </a:solidFill>
                <a:latin typeface="+mj-lt"/>
                <a:cs typeface="Arial Narrow"/>
              </a:rPr>
              <a:t> </a:t>
            </a:r>
            <a:r>
              <a:rPr sz="2400" kern="0" spc="-140" dirty="0">
                <a:solidFill>
                  <a:sysClr val="windowText" lastClr="000000"/>
                </a:solidFill>
                <a:latin typeface="+mj-lt"/>
                <a:cs typeface="Arial Narrow"/>
              </a:rPr>
              <a:t>two</a:t>
            </a:r>
            <a:r>
              <a:rPr sz="2400" kern="0" spc="-13" dirty="0">
                <a:solidFill>
                  <a:sysClr val="windowText" lastClr="000000"/>
                </a:solidFill>
                <a:latin typeface="+mj-lt"/>
                <a:cs typeface="Arial Narrow"/>
              </a:rPr>
              <a:t> fields:</a:t>
            </a:r>
            <a:endParaRPr sz="2400" kern="0" dirty="0">
              <a:solidFill>
                <a:sysClr val="windowText" lastClr="000000"/>
              </a:solidFill>
              <a:latin typeface="+mj-lt"/>
              <a:cs typeface="Arial Narrow"/>
            </a:endParaRPr>
          </a:p>
          <a:p>
            <a:pPr marL="16933" marR="891518" defTabSz="1219170">
              <a:lnSpc>
                <a:spcPct val="149500"/>
              </a:lnSpc>
            </a:pPr>
            <a:r>
              <a:rPr sz="2400" kern="0" spc="-167" dirty="0">
                <a:solidFill>
                  <a:srgbClr val="E36C09"/>
                </a:solidFill>
                <a:latin typeface="+mj-lt"/>
                <a:cs typeface="Arial Narrow"/>
              </a:rPr>
              <a:t>number</a:t>
            </a:r>
            <a:r>
              <a:rPr sz="2400" kern="0" spc="-127" dirty="0">
                <a:solidFill>
                  <a:srgbClr val="E36C09"/>
                </a:solidFill>
                <a:latin typeface="+mj-lt"/>
                <a:cs typeface="Arial Narrow"/>
              </a:rPr>
              <a:t> </a:t>
            </a:r>
            <a:r>
              <a:rPr sz="2400" kern="0" spc="152" dirty="0">
                <a:solidFill>
                  <a:sysClr val="windowText" lastClr="000000"/>
                </a:solidFill>
                <a:latin typeface="+mj-lt"/>
                <a:cs typeface="Arial Narrow"/>
              </a:rPr>
              <a:t>-</a:t>
            </a:r>
            <a:r>
              <a:rPr sz="2400" kern="0" spc="-73" dirty="0">
                <a:solidFill>
                  <a:sysClr val="windowText" lastClr="000000"/>
                </a:solidFill>
                <a:latin typeface="+mj-lt"/>
                <a:cs typeface="Arial Narrow"/>
              </a:rPr>
              <a:t> </a:t>
            </a:r>
            <a:r>
              <a:rPr sz="2400" kern="0" spc="-93" dirty="0">
                <a:solidFill>
                  <a:sysClr val="windowText" lastClr="000000"/>
                </a:solidFill>
                <a:latin typeface="+mj-lt"/>
                <a:cs typeface="Arial Narrow"/>
              </a:rPr>
              <a:t>initialized</a:t>
            </a:r>
            <a:r>
              <a:rPr sz="2400" kern="0" spc="-27" dirty="0">
                <a:solidFill>
                  <a:sysClr val="windowText" lastClr="000000"/>
                </a:solidFill>
                <a:latin typeface="+mj-lt"/>
                <a:cs typeface="Arial Narrow"/>
              </a:rPr>
              <a:t> </a:t>
            </a:r>
            <a:r>
              <a:rPr sz="2400" kern="0" spc="-120" dirty="0">
                <a:solidFill>
                  <a:sysClr val="windowText" lastClr="000000"/>
                </a:solidFill>
                <a:latin typeface="+mj-lt"/>
                <a:cs typeface="Arial Narrow"/>
              </a:rPr>
              <a:t>from</a:t>
            </a:r>
            <a:r>
              <a:rPr sz="2400" kern="0" spc="-67" dirty="0">
                <a:solidFill>
                  <a:sysClr val="windowText" lastClr="000000"/>
                </a:solidFill>
                <a:latin typeface="+mj-lt"/>
                <a:cs typeface="Arial Narrow"/>
              </a:rPr>
              <a:t> </a:t>
            </a:r>
            <a:r>
              <a:rPr sz="2400" kern="0" spc="-173" dirty="0">
                <a:solidFill>
                  <a:sysClr val="windowText" lastClr="000000"/>
                </a:solidFill>
                <a:latin typeface="+mj-lt"/>
                <a:cs typeface="Arial Narrow"/>
              </a:rPr>
              <a:t>parameter</a:t>
            </a:r>
            <a:r>
              <a:rPr sz="2400" kern="0" spc="-67" dirty="0">
                <a:solidFill>
                  <a:sysClr val="windowText" lastClr="000000"/>
                </a:solidFill>
                <a:latin typeface="+mj-lt"/>
                <a:cs typeface="Arial Narrow"/>
              </a:rPr>
              <a:t> </a:t>
            </a:r>
            <a:r>
              <a:rPr sz="2400" kern="0" spc="-120" dirty="0">
                <a:solidFill>
                  <a:sysClr val="windowText" lastClr="000000"/>
                </a:solidFill>
                <a:latin typeface="+mj-lt"/>
                <a:cs typeface="Arial Narrow"/>
              </a:rPr>
              <a:t>from</a:t>
            </a:r>
            <a:r>
              <a:rPr sz="2400" kern="0" spc="-73" dirty="0">
                <a:solidFill>
                  <a:sysClr val="windowText" lastClr="000000"/>
                </a:solidFill>
                <a:latin typeface="+mj-lt"/>
                <a:cs typeface="Arial Narrow"/>
              </a:rPr>
              <a:t> </a:t>
            </a:r>
            <a:r>
              <a:rPr sz="2400" kern="0" spc="-147" dirty="0">
                <a:solidFill>
                  <a:sysClr val="windowText" lastClr="000000"/>
                </a:solidFill>
                <a:latin typeface="+mj-lt"/>
                <a:cs typeface="Arial Narrow"/>
              </a:rPr>
              <a:t>the</a:t>
            </a:r>
            <a:r>
              <a:rPr sz="2400" kern="0" spc="-67" dirty="0">
                <a:solidFill>
                  <a:sysClr val="windowText" lastClr="000000"/>
                </a:solidFill>
                <a:latin typeface="+mj-lt"/>
                <a:cs typeface="Arial Narrow"/>
              </a:rPr>
              <a:t> </a:t>
            </a:r>
            <a:r>
              <a:rPr sz="2400" kern="0" spc="-320" dirty="0">
                <a:solidFill>
                  <a:sysClr val="windowText" lastClr="000000"/>
                </a:solidFill>
                <a:latin typeface="+mj-lt"/>
                <a:cs typeface="Arial Narrow"/>
              </a:rPr>
              <a:t>Game</a:t>
            </a:r>
            <a:r>
              <a:rPr sz="2400" kern="0" spc="-73" dirty="0">
                <a:solidFill>
                  <a:sysClr val="windowText" lastClr="000000"/>
                </a:solidFill>
                <a:latin typeface="+mj-lt"/>
                <a:cs typeface="Arial Narrow"/>
              </a:rPr>
              <a:t> </a:t>
            </a:r>
            <a:r>
              <a:rPr sz="2400" kern="0" spc="-187" dirty="0">
                <a:solidFill>
                  <a:sysClr val="windowText" lastClr="000000"/>
                </a:solidFill>
                <a:latin typeface="+mj-lt"/>
                <a:cs typeface="Arial Narrow"/>
              </a:rPr>
              <a:t>class.</a:t>
            </a:r>
            <a:r>
              <a:rPr sz="2400" kern="0" spc="-53" dirty="0">
                <a:solidFill>
                  <a:sysClr val="windowText" lastClr="000000"/>
                </a:solidFill>
                <a:latin typeface="+mj-lt"/>
                <a:cs typeface="Arial Narrow"/>
              </a:rPr>
              <a:t> </a:t>
            </a:r>
            <a:r>
              <a:rPr sz="2400" kern="0" spc="-287" dirty="0">
                <a:solidFill>
                  <a:sysClr val="windowText" lastClr="000000"/>
                </a:solidFill>
                <a:latin typeface="+mj-lt"/>
                <a:cs typeface="Arial Narrow"/>
              </a:rPr>
              <a:t>The</a:t>
            </a:r>
            <a:r>
              <a:rPr sz="2400" kern="0" spc="-73" dirty="0">
                <a:solidFill>
                  <a:sysClr val="windowText" lastClr="000000"/>
                </a:solidFill>
                <a:latin typeface="+mj-lt"/>
                <a:cs typeface="Arial Narrow"/>
              </a:rPr>
              <a:t> </a:t>
            </a:r>
            <a:r>
              <a:rPr sz="2400" kern="0" spc="-167" dirty="0">
                <a:solidFill>
                  <a:sysClr val="windowText" lastClr="000000"/>
                </a:solidFill>
                <a:latin typeface="+mj-lt"/>
                <a:cs typeface="Arial Narrow"/>
              </a:rPr>
              <a:t>player</a:t>
            </a:r>
            <a:r>
              <a:rPr sz="2400" kern="0" spc="-67" dirty="0">
                <a:solidFill>
                  <a:sysClr val="windowText" lastClr="000000"/>
                </a:solidFill>
                <a:latin typeface="+mj-lt"/>
                <a:cs typeface="Arial Narrow"/>
              </a:rPr>
              <a:t> </a:t>
            </a:r>
            <a:r>
              <a:rPr sz="2400" kern="0" spc="-167" dirty="0">
                <a:solidFill>
                  <a:sysClr val="windowText" lastClr="000000"/>
                </a:solidFill>
                <a:latin typeface="+mj-lt"/>
                <a:cs typeface="Arial Narrow"/>
              </a:rPr>
              <a:t>number</a:t>
            </a:r>
            <a:r>
              <a:rPr sz="2400" kern="0" spc="-73" dirty="0">
                <a:solidFill>
                  <a:sysClr val="windowText" lastClr="000000"/>
                </a:solidFill>
                <a:latin typeface="+mj-lt"/>
                <a:cs typeface="Arial Narrow"/>
              </a:rPr>
              <a:t> </a:t>
            </a:r>
            <a:r>
              <a:rPr sz="2400" kern="0" spc="-167" dirty="0">
                <a:solidFill>
                  <a:sysClr val="windowText" lastClr="000000"/>
                </a:solidFill>
                <a:latin typeface="+mj-lt"/>
                <a:cs typeface="Arial Narrow"/>
              </a:rPr>
              <a:t>should</a:t>
            </a:r>
            <a:r>
              <a:rPr sz="2400" kern="0" spc="-127" dirty="0">
                <a:solidFill>
                  <a:sysClr val="windowText" lastClr="000000"/>
                </a:solidFill>
                <a:latin typeface="+mj-lt"/>
                <a:cs typeface="Arial Narrow"/>
              </a:rPr>
              <a:t> </a:t>
            </a:r>
            <a:r>
              <a:rPr sz="2400" kern="0" spc="-107" dirty="0">
                <a:solidFill>
                  <a:sysClr val="windowText" lastClr="000000"/>
                </a:solidFill>
                <a:latin typeface="+mj-lt"/>
                <a:cs typeface="Arial Narrow"/>
              </a:rPr>
              <a:t>start</a:t>
            </a:r>
            <a:r>
              <a:rPr sz="2400" kern="0" spc="-80" dirty="0">
                <a:solidFill>
                  <a:sysClr val="windowText" lastClr="000000"/>
                </a:solidFill>
                <a:latin typeface="+mj-lt"/>
                <a:cs typeface="Arial Narrow"/>
              </a:rPr>
              <a:t> </a:t>
            </a:r>
            <a:r>
              <a:rPr sz="2400" kern="0" spc="-107" dirty="0">
                <a:solidFill>
                  <a:sysClr val="windowText" lastClr="000000"/>
                </a:solidFill>
                <a:latin typeface="+mj-lt"/>
                <a:cs typeface="Arial Narrow"/>
              </a:rPr>
              <a:t>from</a:t>
            </a:r>
            <a:r>
              <a:rPr sz="2400" kern="0" spc="-67" dirty="0">
                <a:solidFill>
                  <a:sysClr val="windowText" lastClr="000000"/>
                </a:solidFill>
                <a:latin typeface="+mj-lt"/>
                <a:cs typeface="Arial Narrow"/>
              </a:rPr>
              <a:t> </a:t>
            </a:r>
            <a:r>
              <a:rPr sz="2400" kern="0" spc="-133" dirty="0">
                <a:solidFill>
                  <a:sysClr val="windowText" lastClr="000000"/>
                </a:solidFill>
                <a:latin typeface="+mj-lt"/>
                <a:cs typeface="Arial Narrow"/>
              </a:rPr>
              <a:t>1</a:t>
            </a:r>
            <a:r>
              <a:rPr sz="2400" kern="0" dirty="0">
                <a:solidFill>
                  <a:sysClr val="windowText" lastClr="000000"/>
                </a:solidFill>
                <a:latin typeface="+mj-lt"/>
                <a:cs typeface="Arial Narrow"/>
              </a:rPr>
              <a:t> </a:t>
            </a:r>
            <a:r>
              <a:rPr sz="2400" kern="0" spc="-73" dirty="0">
                <a:solidFill>
                  <a:sysClr val="windowText" lastClr="000000"/>
                </a:solidFill>
                <a:latin typeface="+mj-lt"/>
                <a:cs typeface="Arial Narrow"/>
              </a:rPr>
              <a:t>and </a:t>
            </a:r>
            <a:r>
              <a:rPr sz="2400" kern="0" spc="-147" dirty="0">
                <a:solidFill>
                  <a:sysClr val="windowText" lastClr="000000"/>
                </a:solidFill>
                <a:latin typeface="+mj-lt"/>
                <a:cs typeface="Arial Narrow"/>
              </a:rPr>
              <a:t>increments</a:t>
            </a:r>
            <a:r>
              <a:rPr sz="2400" kern="0" spc="-113" dirty="0">
                <a:solidFill>
                  <a:sysClr val="windowText" lastClr="000000"/>
                </a:solidFill>
                <a:latin typeface="+mj-lt"/>
                <a:cs typeface="Arial Narrow"/>
              </a:rPr>
              <a:t> </a:t>
            </a:r>
            <a:r>
              <a:rPr sz="2400" kern="0" spc="-152" dirty="0">
                <a:solidFill>
                  <a:sysClr val="windowText" lastClr="000000"/>
                </a:solidFill>
                <a:latin typeface="+mj-lt"/>
                <a:cs typeface="Arial Narrow"/>
              </a:rPr>
              <a:t>automatically</a:t>
            </a:r>
            <a:r>
              <a:rPr sz="2400" kern="0" spc="-60" dirty="0">
                <a:solidFill>
                  <a:sysClr val="windowText" lastClr="000000"/>
                </a:solidFill>
                <a:latin typeface="+mj-lt"/>
                <a:cs typeface="Arial Narrow"/>
              </a:rPr>
              <a:t> </a:t>
            </a:r>
            <a:r>
              <a:rPr sz="2400" kern="0" spc="-207" dirty="0">
                <a:solidFill>
                  <a:sysClr val="windowText" lastClr="000000"/>
                </a:solidFill>
                <a:latin typeface="+mj-lt"/>
                <a:cs typeface="Arial Narrow"/>
              </a:rPr>
              <a:t>as</a:t>
            </a:r>
            <a:r>
              <a:rPr sz="2400" kern="0" spc="-100" dirty="0">
                <a:solidFill>
                  <a:sysClr val="windowText" lastClr="000000"/>
                </a:solidFill>
                <a:latin typeface="+mj-lt"/>
                <a:cs typeface="Arial Narrow"/>
              </a:rPr>
              <a:t> </a:t>
            </a:r>
            <a:r>
              <a:rPr sz="2400" kern="0" spc="-193" dirty="0">
                <a:solidFill>
                  <a:sysClr val="windowText" lastClr="000000"/>
                </a:solidFill>
                <a:latin typeface="+mj-lt"/>
                <a:cs typeface="Arial Narrow"/>
              </a:rPr>
              <a:t>new</a:t>
            </a:r>
            <a:r>
              <a:rPr sz="2400" kern="0" spc="-87" dirty="0">
                <a:solidFill>
                  <a:sysClr val="windowText" lastClr="000000"/>
                </a:solidFill>
                <a:latin typeface="+mj-lt"/>
                <a:cs typeface="Arial Narrow"/>
              </a:rPr>
              <a:t> </a:t>
            </a:r>
            <a:r>
              <a:rPr sz="2400" kern="0" spc="-167" dirty="0">
                <a:solidFill>
                  <a:sysClr val="windowText" lastClr="000000"/>
                </a:solidFill>
                <a:latin typeface="+mj-lt"/>
                <a:cs typeface="Arial Narrow"/>
              </a:rPr>
              <a:t>players</a:t>
            </a:r>
            <a:r>
              <a:rPr sz="2400" kern="0" spc="-100" dirty="0">
                <a:solidFill>
                  <a:sysClr val="windowText" lastClr="000000"/>
                </a:solidFill>
                <a:latin typeface="+mj-lt"/>
                <a:cs typeface="Arial Narrow"/>
              </a:rPr>
              <a:t> </a:t>
            </a:r>
            <a:r>
              <a:rPr sz="2400" kern="0" spc="-180" dirty="0">
                <a:solidFill>
                  <a:sysClr val="windowText" lastClr="000000"/>
                </a:solidFill>
                <a:latin typeface="+mj-lt"/>
                <a:cs typeface="Arial Narrow"/>
              </a:rPr>
              <a:t>are</a:t>
            </a:r>
            <a:r>
              <a:rPr sz="2400" kern="0" spc="-40" dirty="0">
                <a:solidFill>
                  <a:sysClr val="windowText" lastClr="000000"/>
                </a:solidFill>
                <a:latin typeface="+mj-lt"/>
                <a:cs typeface="Arial Narrow"/>
              </a:rPr>
              <a:t> </a:t>
            </a:r>
            <a:r>
              <a:rPr sz="2400" kern="0" spc="-13" dirty="0">
                <a:solidFill>
                  <a:sysClr val="windowText" lastClr="000000"/>
                </a:solidFill>
                <a:latin typeface="+mj-lt"/>
                <a:cs typeface="Arial Narrow"/>
              </a:rPr>
              <a:t>created.</a:t>
            </a:r>
            <a:endParaRPr sz="2400" kern="0" dirty="0">
              <a:solidFill>
                <a:sysClr val="windowText" lastClr="000000"/>
              </a:solidFill>
              <a:latin typeface="+mj-lt"/>
              <a:cs typeface="Arial Narrow"/>
            </a:endParaRPr>
          </a:p>
          <a:p>
            <a:pPr marL="16933" defTabSz="1219170">
              <a:spcBef>
                <a:spcPts val="1427"/>
              </a:spcBef>
            </a:pPr>
            <a:r>
              <a:rPr sz="2400" kern="0" spc="-180" dirty="0">
                <a:solidFill>
                  <a:srgbClr val="E36C09"/>
                </a:solidFill>
                <a:latin typeface="+mj-lt"/>
                <a:cs typeface="Arial Narrow"/>
              </a:rPr>
              <a:t>score</a:t>
            </a:r>
            <a:r>
              <a:rPr sz="2400" kern="0" spc="-87" dirty="0">
                <a:solidFill>
                  <a:srgbClr val="E36C09"/>
                </a:solidFill>
                <a:latin typeface="+mj-lt"/>
                <a:cs typeface="Arial Narrow"/>
              </a:rPr>
              <a:t> </a:t>
            </a:r>
            <a:r>
              <a:rPr sz="2400" kern="0" spc="152" dirty="0">
                <a:solidFill>
                  <a:sysClr val="windowText" lastClr="000000"/>
                </a:solidFill>
                <a:latin typeface="+mj-lt"/>
                <a:cs typeface="Arial Narrow"/>
              </a:rPr>
              <a:t>-</a:t>
            </a:r>
            <a:r>
              <a:rPr sz="2400" kern="0" spc="-87" dirty="0">
                <a:solidFill>
                  <a:sysClr val="windowText" lastClr="000000"/>
                </a:solidFill>
                <a:latin typeface="+mj-lt"/>
                <a:cs typeface="Arial Narrow"/>
              </a:rPr>
              <a:t> </a:t>
            </a:r>
            <a:r>
              <a:rPr sz="2400" kern="0" spc="-80" dirty="0">
                <a:solidFill>
                  <a:sysClr val="windowText" lastClr="000000"/>
                </a:solidFill>
                <a:latin typeface="+mj-lt"/>
                <a:cs typeface="Arial Narrow"/>
              </a:rPr>
              <a:t>with </a:t>
            </a:r>
            <a:r>
              <a:rPr sz="2400" kern="0" spc="-293" dirty="0">
                <a:solidFill>
                  <a:sysClr val="windowText" lastClr="000000"/>
                </a:solidFill>
                <a:latin typeface="+mj-lt"/>
                <a:cs typeface="Arial Narrow"/>
              </a:rPr>
              <a:t>a</a:t>
            </a:r>
            <a:r>
              <a:rPr sz="2400" kern="0" spc="-53" dirty="0">
                <a:solidFill>
                  <a:sysClr val="windowText" lastClr="000000"/>
                </a:solidFill>
                <a:latin typeface="+mj-lt"/>
                <a:cs typeface="Arial Narrow"/>
              </a:rPr>
              <a:t> </a:t>
            </a:r>
            <a:r>
              <a:rPr sz="2400" kern="0" spc="-167" dirty="0">
                <a:solidFill>
                  <a:sysClr val="windowText" lastClr="000000"/>
                </a:solidFill>
                <a:latin typeface="+mj-lt"/>
                <a:cs typeface="Arial Narrow"/>
              </a:rPr>
              <a:t>randomly</a:t>
            </a:r>
            <a:r>
              <a:rPr sz="2400" kern="0" spc="-87" dirty="0">
                <a:solidFill>
                  <a:sysClr val="windowText" lastClr="000000"/>
                </a:solidFill>
                <a:latin typeface="+mj-lt"/>
                <a:cs typeface="Arial Narrow"/>
              </a:rPr>
              <a:t> </a:t>
            </a:r>
            <a:r>
              <a:rPr sz="2400" kern="0" spc="-187" dirty="0">
                <a:solidFill>
                  <a:sysClr val="windowText" lastClr="000000"/>
                </a:solidFill>
                <a:latin typeface="+mj-lt"/>
                <a:cs typeface="Arial Narrow"/>
              </a:rPr>
              <a:t>generated</a:t>
            </a:r>
            <a:r>
              <a:rPr sz="2400" kern="0" spc="-40" dirty="0">
                <a:solidFill>
                  <a:sysClr val="windowText" lastClr="000000"/>
                </a:solidFill>
                <a:latin typeface="+mj-lt"/>
                <a:cs typeface="Arial Narrow"/>
              </a:rPr>
              <a:t> </a:t>
            </a:r>
            <a:r>
              <a:rPr sz="2400" kern="0" spc="-120" dirty="0">
                <a:solidFill>
                  <a:sysClr val="windowText" lastClr="000000"/>
                </a:solidFill>
                <a:latin typeface="+mj-lt"/>
                <a:cs typeface="Arial Narrow"/>
              </a:rPr>
              <a:t>integer</a:t>
            </a:r>
            <a:r>
              <a:rPr sz="2400" kern="0" spc="-80" dirty="0">
                <a:solidFill>
                  <a:sysClr val="windowText" lastClr="000000"/>
                </a:solidFill>
                <a:latin typeface="+mj-lt"/>
                <a:cs typeface="Arial Narrow"/>
              </a:rPr>
              <a:t> </a:t>
            </a:r>
            <a:r>
              <a:rPr sz="2400" kern="0" spc="-180" dirty="0">
                <a:solidFill>
                  <a:sysClr val="windowText" lastClr="000000"/>
                </a:solidFill>
                <a:latin typeface="+mj-lt"/>
                <a:cs typeface="Arial Narrow"/>
              </a:rPr>
              <a:t>score</a:t>
            </a:r>
            <a:r>
              <a:rPr sz="2400" kern="0" spc="-73" dirty="0">
                <a:solidFill>
                  <a:sysClr val="windowText" lastClr="000000"/>
                </a:solidFill>
                <a:latin typeface="+mj-lt"/>
                <a:cs typeface="Arial Narrow"/>
              </a:rPr>
              <a:t> </a:t>
            </a:r>
            <a:r>
              <a:rPr sz="2400" kern="0" spc="-187" dirty="0">
                <a:solidFill>
                  <a:sysClr val="windowText" lastClr="000000"/>
                </a:solidFill>
                <a:latin typeface="+mj-lt"/>
                <a:cs typeface="Arial Narrow"/>
              </a:rPr>
              <a:t>between</a:t>
            </a:r>
            <a:r>
              <a:rPr sz="2400" kern="0" spc="-73" dirty="0">
                <a:solidFill>
                  <a:sysClr val="windowText" lastClr="000000"/>
                </a:solidFill>
                <a:latin typeface="+mj-lt"/>
                <a:cs typeface="Arial Narrow"/>
              </a:rPr>
              <a:t> </a:t>
            </a:r>
            <a:r>
              <a:rPr sz="2400" kern="0" spc="-133" dirty="0">
                <a:solidFill>
                  <a:sysClr val="windowText" lastClr="000000"/>
                </a:solidFill>
                <a:latin typeface="+mj-lt"/>
                <a:cs typeface="Arial Narrow"/>
              </a:rPr>
              <a:t>0</a:t>
            </a:r>
            <a:r>
              <a:rPr sz="2400" kern="0" spc="-120" dirty="0">
                <a:solidFill>
                  <a:sysClr val="windowText" lastClr="000000"/>
                </a:solidFill>
                <a:latin typeface="+mj-lt"/>
                <a:cs typeface="Arial Narrow"/>
              </a:rPr>
              <a:t> </a:t>
            </a:r>
            <a:r>
              <a:rPr sz="2400" kern="0" spc="-213" dirty="0">
                <a:solidFill>
                  <a:sysClr val="windowText" lastClr="000000"/>
                </a:solidFill>
                <a:latin typeface="+mj-lt"/>
                <a:cs typeface="Arial Narrow"/>
              </a:rPr>
              <a:t>and</a:t>
            </a:r>
            <a:r>
              <a:rPr sz="2400" kern="0" spc="-140" dirty="0">
                <a:solidFill>
                  <a:sysClr val="windowText" lastClr="000000"/>
                </a:solidFill>
                <a:latin typeface="+mj-lt"/>
                <a:cs typeface="Arial Narrow"/>
              </a:rPr>
              <a:t> </a:t>
            </a:r>
            <a:r>
              <a:rPr sz="2400" kern="0" spc="-127" dirty="0">
                <a:solidFill>
                  <a:sysClr val="windowText" lastClr="000000"/>
                </a:solidFill>
                <a:latin typeface="+mj-lt"/>
                <a:cs typeface="Arial Narrow"/>
              </a:rPr>
              <a:t>10 </a:t>
            </a:r>
            <a:r>
              <a:rPr sz="2400" kern="0" spc="-13" dirty="0">
                <a:solidFill>
                  <a:sysClr val="windowText" lastClr="000000"/>
                </a:solidFill>
                <a:latin typeface="+mj-lt"/>
                <a:cs typeface="Arial Narrow"/>
              </a:rPr>
              <a:t>inclusive.</a:t>
            </a:r>
            <a:endParaRPr sz="2400" kern="0" dirty="0">
              <a:solidFill>
                <a:sysClr val="windowText" lastClr="000000"/>
              </a:solidFill>
              <a:latin typeface="+mj-lt"/>
              <a:cs typeface="Arial Narrow"/>
            </a:endParaRPr>
          </a:p>
          <a:p>
            <a:pPr marL="397923" indent="-380990" defTabSz="1219170">
              <a:spcBef>
                <a:spcPts val="1533"/>
              </a:spcBef>
              <a:buFont typeface="Arial"/>
              <a:buChar char="•"/>
              <a:tabLst>
                <a:tab pos="397923" algn="l"/>
              </a:tabLst>
            </a:pPr>
            <a:r>
              <a:rPr sz="2400" kern="0" spc="-167" dirty="0">
                <a:solidFill>
                  <a:sysClr val="windowText" lastClr="000000"/>
                </a:solidFill>
                <a:latin typeface="+mj-lt"/>
                <a:cs typeface="Arial Narrow"/>
              </a:rPr>
              <a:t>Override</a:t>
            </a:r>
            <a:r>
              <a:rPr sz="2400" kern="0" spc="-67" dirty="0">
                <a:solidFill>
                  <a:sysClr val="windowText" lastClr="000000"/>
                </a:solidFill>
                <a:latin typeface="+mj-lt"/>
                <a:cs typeface="Arial Narrow"/>
              </a:rPr>
              <a:t> </a:t>
            </a:r>
            <a:r>
              <a:rPr sz="2400" kern="0" spc="-147" dirty="0">
                <a:solidFill>
                  <a:sysClr val="windowText" lastClr="000000"/>
                </a:solidFill>
                <a:latin typeface="+mj-lt"/>
                <a:cs typeface="Arial Narrow"/>
              </a:rPr>
              <a:t>the</a:t>
            </a:r>
            <a:r>
              <a:rPr sz="2400" kern="0" spc="-93" dirty="0">
                <a:solidFill>
                  <a:sysClr val="windowText" lastClr="000000"/>
                </a:solidFill>
                <a:latin typeface="+mj-lt"/>
                <a:cs typeface="Arial Narrow"/>
              </a:rPr>
              <a:t> </a:t>
            </a:r>
            <a:r>
              <a:rPr sz="2400" kern="0" spc="-100" dirty="0">
                <a:solidFill>
                  <a:sysClr val="windowText" lastClr="000000"/>
                </a:solidFill>
                <a:latin typeface="+mj-lt"/>
                <a:cs typeface="Arial Narrow"/>
              </a:rPr>
              <a:t>toString()</a:t>
            </a:r>
            <a:r>
              <a:rPr sz="2400" kern="0" dirty="0">
                <a:solidFill>
                  <a:sysClr val="windowText" lastClr="000000"/>
                </a:solidFill>
                <a:latin typeface="+mj-lt"/>
                <a:cs typeface="Arial Narrow"/>
              </a:rPr>
              <a:t> </a:t>
            </a:r>
            <a:r>
              <a:rPr sz="2400" kern="0" spc="-180" dirty="0">
                <a:solidFill>
                  <a:sysClr val="windowText" lastClr="000000"/>
                </a:solidFill>
                <a:latin typeface="+mj-lt"/>
                <a:cs typeface="Arial Narrow"/>
              </a:rPr>
              <a:t>method</a:t>
            </a:r>
            <a:r>
              <a:rPr sz="2400" kern="0" spc="-127" dirty="0">
                <a:solidFill>
                  <a:sysClr val="windowText" lastClr="000000"/>
                </a:solidFill>
                <a:latin typeface="+mj-lt"/>
                <a:cs typeface="Arial Narrow"/>
              </a:rPr>
              <a:t> </a:t>
            </a:r>
            <a:r>
              <a:rPr sz="2400" kern="0" spc="-93" dirty="0">
                <a:solidFill>
                  <a:sysClr val="windowText" lastClr="000000"/>
                </a:solidFill>
                <a:latin typeface="+mj-lt"/>
                <a:cs typeface="Arial Narrow"/>
              </a:rPr>
              <a:t>to</a:t>
            </a:r>
            <a:r>
              <a:rPr sz="2400" kern="0" spc="-107" dirty="0">
                <a:solidFill>
                  <a:sysClr val="windowText" lastClr="000000"/>
                </a:solidFill>
                <a:latin typeface="+mj-lt"/>
                <a:cs typeface="Arial Narrow"/>
              </a:rPr>
              <a:t> </a:t>
            </a:r>
            <a:r>
              <a:rPr sz="2400" kern="0" spc="-152" dirty="0">
                <a:solidFill>
                  <a:sysClr val="windowText" lastClr="000000"/>
                </a:solidFill>
                <a:latin typeface="+mj-lt"/>
                <a:cs typeface="Arial Narrow"/>
              </a:rPr>
              <a:t>display</a:t>
            </a:r>
            <a:r>
              <a:rPr sz="2400" kern="0" spc="-73" dirty="0">
                <a:solidFill>
                  <a:sysClr val="windowText" lastClr="000000"/>
                </a:solidFill>
                <a:latin typeface="+mj-lt"/>
                <a:cs typeface="Arial Narrow"/>
              </a:rPr>
              <a:t> </a:t>
            </a:r>
            <a:r>
              <a:rPr sz="2400" kern="0" spc="-147" dirty="0">
                <a:solidFill>
                  <a:sysClr val="windowText" lastClr="000000"/>
                </a:solidFill>
                <a:latin typeface="+mj-lt"/>
                <a:cs typeface="Arial Narrow"/>
              </a:rPr>
              <a:t>the</a:t>
            </a:r>
            <a:r>
              <a:rPr sz="2400" kern="0" spc="-60" dirty="0">
                <a:solidFill>
                  <a:sysClr val="windowText" lastClr="000000"/>
                </a:solidFill>
                <a:latin typeface="+mj-lt"/>
                <a:cs typeface="Arial Narrow"/>
              </a:rPr>
              <a:t> </a:t>
            </a:r>
            <a:r>
              <a:rPr sz="2400" kern="0" spc="-167" dirty="0">
                <a:solidFill>
                  <a:sysClr val="windowText" lastClr="000000"/>
                </a:solidFill>
                <a:latin typeface="+mj-lt"/>
                <a:cs typeface="Arial Narrow"/>
              </a:rPr>
              <a:t>player</a:t>
            </a:r>
            <a:r>
              <a:rPr sz="2400" kern="0" spc="-60" dirty="0">
                <a:solidFill>
                  <a:sysClr val="windowText" lastClr="000000"/>
                </a:solidFill>
                <a:latin typeface="+mj-lt"/>
                <a:cs typeface="Arial Narrow"/>
              </a:rPr>
              <a:t> </a:t>
            </a:r>
            <a:r>
              <a:rPr sz="2400" kern="0" spc="-167" dirty="0">
                <a:solidFill>
                  <a:sysClr val="windowText" lastClr="000000"/>
                </a:solidFill>
                <a:latin typeface="+mj-lt"/>
                <a:cs typeface="Arial Narrow"/>
              </a:rPr>
              <a:t>object</a:t>
            </a:r>
            <a:r>
              <a:rPr sz="2400" kern="0" spc="-67" dirty="0">
                <a:solidFill>
                  <a:sysClr val="windowText" lastClr="000000"/>
                </a:solidFill>
                <a:latin typeface="+mj-lt"/>
                <a:cs typeface="Arial Narrow"/>
              </a:rPr>
              <a:t> </a:t>
            </a:r>
            <a:r>
              <a:rPr sz="2400" kern="0" spc="-113" dirty="0">
                <a:solidFill>
                  <a:sysClr val="windowText" lastClr="000000"/>
                </a:solidFill>
                <a:latin typeface="+mj-lt"/>
                <a:cs typeface="Arial Narrow"/>
              </a:rPr>
              <a:t>information</a:t>
            </a:r>
            <a:r>
              <a:rPr sz="2400" kern="0" spc="-47" dirty="0">
                <a:solidFill>
                  <a:sysClr val="windowText" lastClr="000000"/>
                </a:solidFill>
                <a:latin typeface="+mj-lt"/>
                <a:cs typeface="Arial Narrow"/>
              </a:rPr>
              <a:t> </a:t>
            </a:r>
            <a:r>
              <a:rPr sz="2400" kern="0" spc="-213" dirty="0">
                <a:solidFill>
                  <a:sysClr val="windowText" lastClr="000000"/>
                </a:solidFill>
                <a:latin typeface="+mj-lt"/>
                <a:cs typeface="Arial Narrow"/>
              </a:rPr>
              <a:t>as:</a:t>
            </a:r>
            <a:r>
              <a:rPr sz="2400" kern="0" spc="73" dirty="0">
                <a:solidFill>
                  <a:sysClr val="windowText" lastClr="000000"/>
                </a:solidFill>
                <a:latin typeface="+mj-lt"/>
                <a:cs typeface="Arial Narrow"/>
              </a:rPr>
              <a:t> </a:t>
            </a:r>
            <a:r>
              <a:rPr sz="2400" kern="0" spc="-193" dirty="0">
                <a:solidFill>
                  <a:srgbClr val="E36C09"/>
                </a:solidFill>
                <a:latin typeface="+mj-lt"/>
                <a:cs typeface="Arial Narrow"/>
              </a:rPr>
              <a:t>Player_&lt;number&gt;</a:t>
            </a:r>
            <a:r>
              <a:rPr sz="2400" kern="0" spc="-80" dirty="0">
                <a:solidFill>
                  <a:srgbClr val="E36C09"/>
                </a:solidFill>
                <a:latin typeface="+mj-lt"/>
                <a:cs typeface="Arial Narrow"/>
              </a:rPr>
              <a:t> </a:t>
            </a:r>
            <a:r>
              <a:rPr sz="2400" kern="0" spc="-173" dirty="0">
                <a:solidFill>
                  <a:srgbClr val="E36C09"/>
                </a:solidFill>
                <a:latin typeface="+mj-lt"/>
                <a:cs typeface="Arial Narrow"/>
              </a:rPr>
              <a:t>score:</a:t>
            </a:r>
            <a:r>
              <a:rPr sz="2400" kern="0" spc="-47" dirty="0">
                <a:solidFill>
                  <a:srgbClr val="E36C09"/>
                </a:solidFill>
                <a:latin typeface="+mj-lt"/>
                <a:cs typeface="Arial Narrow"/>
              </a:rPr>
              <a:t> </a:t>
            </a:r>
            <a:r>
              <a:rPr sz="2400" kern="0" spc="-213" dirty="0">
                <a:solidFill>
                  <a:srgbClr val="E36C09"/>
                </a:solidFill>
                <a:latin typeface="+mj-lt"/>
                <a:cs typeface="Arial Narrow"/>
              </a:rPr>
              <a:t>&lt;score&gt;</a:t>
            </a:r>
            <a:endParaRPr sz="2400" kern="0" dirty="0">
              <a:solidFill>
                <a:sysClr val="windowText" lastClr="000000"/>
              </a:solidFill>
              <a:latin typeface="+mj-lt"/>
              <a:cs typeface="Arial Narrow"/>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6276" y="17357"/>
            <a:ext cx="4932680" cy="925104"/>
          </a:xfrm>
          <a:prstGeom prst="rect">
            <a:avLst/>
          </a:prstGeom>
        </p:spPr>
        <p:txBody>
          <a:bodyPr vert="horz" wrap="square" lIns="0" tIns="22013" rIns="0" bIns="0" rtlCol="0">
            <a:spAutoFit/>
          </a:bodyPr>
          <a:lstStyle/>
          <a:p>
            <a:pPr marL="16933">
              <a:spcBef>
                <a:spcPts val="173"/>
              </a:spcBef>
            </a:pPr>
            <a:r>
              <a:rPr sz="5867" spc="-600" dirty="0"/>
              <a:t>Lab</a:t>
            </a:r>
            <a:r>
              <a:rPr sz="5867" spc="-240" dirty="0"/>
              <a:t> </a:t>
            </a:r>
            <a:r>
              <a:rPr sz="5867" spc="-280" dirty="0"/>
              <a:t>9</a:t>
            </a:r>
            <a:r>
              <a:rPr sz="5867" spc="-207" dirty="0"/>
              <a:t> </a:t>
            </a:r>
            <a:r>
              <a:rPr sz="5867" dirty="0">
                <a:latin typeface="Times New Roman"/>
                <a:cs typeface="Times New Roman"/>
              </a:rPr>
              <a:t>–</a:t>
            </a:r>
            <a:r>
              <a:rPr sz="5867" spc="-360" dirty="0">
                <a:latin typeface="Times New Roman"/>
                <a:cs typeface="Times New Roman"/>
              </a:rPr>
              <a:t> </a:t>
            </a:r>
            <a:r>
              <a:rPr sz="5267" spc="-413" dirty="0"/>
              <a:t>Lab9Exercise2</a:t>
            </a:r>
            <a:endParaRPr sz="5267">
              <a:latin typeface="Times New Roman"/>
              <a:cs typeface="Times New Roman"/>
            </a:endParaRPr>
          </a:p>
        </p:txBody>
      </p:sp>
      <p:sp>
        <p:nvSpPr>
          <p:cNvPr id="3" name="object 3"/>
          <p:cNvSpPr txBox="1"/>
          <p:nvPr/>
        </p:nvSpPr>
        <p:spPr>
          <a:xfrm>
            <a:off x="706120" y="1137919"/>
            <a:ext cx="10566400" cy="4839786"/>
          </a:xfrm>
          <a:prstGeom prst="rect">
            <a:avLst/>
          </a:prstGeom>
        </p:spPr>
        <p:txBody>
          <a:bodyPr vert="horz" wrap="square" lIns="0" tIns="17780" rIns="0" bIns="0" rtlCol="0">
            <a:spAutoFit/>
          </a:bodyPr>
          <a:lstStyle/>
          <a:p>
            <a:pPr marL="16933" defTabSz="1219170">
              <a:spcBef>
                <a:spcPts val="140"/>
              </a:spcBef>
            </a:pPr>
            <a:r>
              <a:rPr lang="en-US" sz="2000" b="1" kern="0" spc="-160" dirty="0">
                <a:solidFill>
                  <a:sysClr val="windowText" lastClr="000000"/>
                </a:solidFill>
                <a:latin typeface="+mj-lt"/>
                <a:cs typeface="Arial Narrow"/>
              </a:rPr>
              <a:t>Step</a:t>
            </a:r>
            <a:r>
              <a:rPr lang="en-US" sz="2000" b="1" kern="0" spc="-107" dirty="0">
                <a:solidFill>
                  <a:sysClr val="windowText" lastClr="000000"/>
                </a:solidFill>
                <a:latin typeface="+mj-lt"/>
                <a:cs typeface="Arial Narrow"/>
              </a:rPr>
              <a:t> </a:t>
            </a:r>
            <a:r>
              <a:rPr lang="en-US" sz="2000" b="1" kern="0" spc="-167" dirty="0">
                <a:solidFill>
                  <a:sysClr val="windowText" lastClr="000000"/>
                </a:solidFill>
                <a:latin typeface="+mj-lt"/>
                <a:cs typeface="Arial Narrow"/>
              </a:rPr>
              <a:t>2:</a:t>
            </a:r>
            <a:r>
              <a:rPr lang="en-US" sz="2000" b="1" kern="0" spc="-60" dirty="0">
                <a:solidFill>
                  <a:sysClr val="windowText" lastClr="000000"/>
                </a:solidFill>
                <a:latin typeface="+mj-lt"/>
                <a:cs typeface="Arial Narrow"/>
              </a:rPr>
              <a:t> </a:t>
            </a:r>
            <a:r>
              <a:rPr lang="en-US" sz="2000" kern="0" spc="-267" dirty="0">
                <a:solidFill>
                  <a:sysClr val="windowText" lastClr="000000"/>
                </a:solidFill>
                <a:latin typeface="+mj-lt"/>
                <a:cs typeface="Arial Narrow"/>
              </a:rPr>
              <a:t>The</a:t>
            </a:r>
            <a:r>
              <a:rPr lang="en-US" sz="2000" kern="0" spc="-113" dirty="0">
                <a:solidFill>
                  <a:sysClr val="windowText" lastClr="000000"/>
                </a:solidFill>
                <a:latin typeface="+mj-lt"/>
                <a:cs typeface="Arial Narrow"/>
              </a:rPr>
              <a:t> </a:t>
            </a:r>
            <a:r>
              <a:rPr lang="en-US" sz="2000" kern="0" spc="-327" dirty="0">
                <a:solidFill>
                  <a:sysClr val="windowText" lastClr="000000"/>
                </a:solidFill>
                <a:latin typeface="+mj-lt"/>
                <a:cs typeface="Arial Narrow"/>
              </a:rPr>
              <a:t>Game</a:t>
            </a:r>
            <a:r>
              <a:rPr lang="en-US" sz="2000" kern="0" spc="-20" dirty="0">
                <a:solidFill>
                  <a:sysClr val="windowText" lastClr="000000"/>
                </a:solidFill>
                <a:latin typeface="+mj-lt"/>
                <a:cs typeface="Arial Narrow"/>
              </a:rPr>
              <a:t> </a:t>
            </a:r>
            <a:r>
              <a:rPr lang="en-US" sz="2000" kern="0" spc="-13" dirty="0">
                <a:solidFill>
                  <a:sysClr val="windowText" lastClr="000000"/>
                </a:solidFill>
                <a:latin typeface="+mj-lt"/>
                <a:cs typeface="Arial Narrow"/>
              </a:rPr>
              <a:t>class</a:t>
            </a:r>
            <a:endParaRPr lang="en-US" sz="2000" kern="0" dirty="0">
              <a:solidFill>
                <a:sysClr val="windowText" lastClr="000000"/>
              </a:solidFill>
              <a:latin typeface="+mj-lt"/>
              <a:cs typeface="Arial Narrow"/>
            </a:endParaRPr>
          </a:p>
          <a:p>
            <a:pPr marL="397923" indent="-380990" defTabSz="1219170">
              <a:lnSpc>
                <a:spcPts val="2847"/>
              </a:lnSpc>
              <a:spcBef>
                <a:spcPts val="27"/>
              </a:spcBef>
              <a:buFont typeface="Arial"/>
              <a:buChar char="•"/>
              <a:tabLst>
                <a:tab pos="397923" algn="l"/>
              </a:tabLst>
            </a:pPr>
            <a:r>
              <a:rPr lang="en-US" sz="2000" kern="0" spc="-327" dirty="0">
                <a:solidFill>
                  <a:sysClr val="windowText" lastClr="000000"/>
                </a:solidFill>
                <a:latin typeface="+mj-lt"/>
                <a:cs typeface="Arial Narrow"/>
              </a:rPr>
              <a:t>Game</a:t>
            </a:r>
            <a:r>
              <a:rPr lang="en-US" sz="2000" kern="0" spc="-33" dirty="0">
                <a:solidFill>
                  <a:sysClr val="windowText" lastClr="000000"/>
                </a:solidFill>
                <a:latin typeface="+mj-lt"/>
                <a:cs typeface="Arial Narrow"/>
              </a:rPr>
              <a:t> </a:t>
            </a:r>
            <a:r>
              <a:rPr lang="en-US" sz="2000" kern="0" spc="-207" dirty="0">
                <a:solidFill>
                  <a:sysClr val="windowText" lastClr="000000"/>
                </a:solidFill>
                <a:latin typeface="+mj-lt"/>
                <a:cs typeface="Arial Narrow"/>
              </a:rPr>
              <a:t>has</a:t>
            </a:r>
            <a:r>
              <a:rPr lang="en-US" sz="2000" kern="0" spc="-113" dirty="0">
                <a:solidFill>
                  <a:sysClr val="windowText" lastClr="000000"/>
                </a:solidFill>
                <a:latin typeface="+mj-lt"/>
                <a:cs typeface="Arial Narrow"/>
              </a:rPr>
              <a:t> </a:t>
            </a:r>
            <a:r>
              <a:rPr lang="en-US" sz="2000" kern="0" spc="-293" dirty="0">
                <a:solidFill>
                  <a:sysClr val="windowText" lastClr="000000"/>
                </a:solidFill>
                <a:latin typeface="+mj-lt"/>
                <a:cs typeface="Arial Narrow"/>
              </a:rPr>
              <a:t>a</a:t>
            </a:r>
            <a:r>
              <a:rPr lang="en-US" sz="2000" kern="0" spc="-73" dirty="0">
                <a:solidFill>
                  <a:sysClr val="windowText" lastClr="000000"/>
                </a:solidFill>
                <a:latin typeface="+mj-lt"/>
                <a:cs typeface="Arial Narrow"/>
              </a:rPr>
              <a:t> </a:t>
            </a:r>
            <a:r>
              <a:rPr lang="en-US" sz="2000" kern="0" spc="-47" dirty="0">
                <a:solidFill>
                  <a:sysClr val="windowText" lastClr="000000"/>
                </a:solidFill>
                <a:latin typeface="+mj-lt"/>
                <a:cs typeface="Arial Narrow"/>
              </a:rPr>
              <a:t>list</a:t>
            </a:r>
            <a:r>
              <a:rPr lang="en-US" sz="2000" kern="0" spc="-53" dirty="0">
                <a:solidFill>
                  <a:sysClr val="windowText" lastClr="000000"/>
                </a:solidFill>
                <a:latin typeface="+mj-lt"/>
                <a:cs typeface="Arial Narrow"/>
              </a:rPr>
              <a:t> </a:t>
            </a:r>
            <a:r>
              <a:rPr lang="en-US" sz="2000" kern="0" spc="-107" dirty="0">
                <a:solidFill>
                  <a:sysClr val="windowText" lastClr="000000"/>
                </a:solidFill>
                <a:latin typeface="+mj-lt"/>
                <a:cs typeface="Arial Narrow"/>
              </a:rPr>
              <a:t>of</a:t>
            </a:r>
            <a:r>
              <a:rPr lang="en-US" sz="2000" kern="0" spc="-80" dirty="0">
                <a:solidFill>
                  <a:sysClr val="windowText" lastClr="000000"/>
                </a:solidFill>
                <a:latin typeface="+mj-lt"/>
                <a:cs typeface="Arial Narrow"/>
              </a:rPr>
              <a:t> </a:t>
            </a:r>
            <a:r>
              <a:rPr lang="en-US" sz="2000" kern="0" spc="-180" dirty="0">
                <a:solidFill>
                  <a:sysClr val="windowText" lastClr="000000"/>
                </a:solidFill>
                <a:latin typeface="+mj-lt"/>
                <a:cs typeface="Arial Narrow"/>
              </a:rPr>
              <a:t>players</a:t>
            </a:r>
            <a:r>
              <a:rPr lang="en-US" sz="2000" kern="0" spc="-27" dirty="0">
                <a:solidFill>
                  <a:sysClr val="windowText" lastClr="000000"/>
                </a:solidFill>
                <a:latin typeface="+mj-lt"/>
                <a:cs typeface="Arial Narrow"/>
              </a:rPr>
              <a:t> </a:t>
            </a:r>
            <a:r>
              <a:rPr lang="en-US" sz="2000" kern="0" spc="-73" dirty="0">
                <a:solidFill>
                  <a:sysClr val="windowText" lastClr="000000"/>
                </a:solidFill>
                <a:latin typeface="+mj-lt"/>
                <a:cs typeface="Arial Narrow"/>
              </a:rPr>
              <a:t>with</a:t>
            </a:r>
            <a:r>
              <a:rPr lang="en-US" sz="2000" kern="0" spc="-47" dirty="0">
                <a:solidFill>
                  <a:sysClr val="windowText" lastClr="000000"/>
                </a:solidFill>
                <a:latin typeface="+mj-lt"/>
                <a:cs typeface="Arial Narrow"/>
              </a:rPr>
              <a:t> </a:t>
            </a:r>
            <a:r>
              <a:rPr lang="en-US" sz="2000" kern="0" spc="-293" dirty="0">
                <a:solidFill>
                  <a:sysClr val="windowText" lastClr="000000"/>
                </a:solidFill>
                <a:latin typeface="+mj-lt"/>
                <a:cs typeface="Arial Narrow"/>
              </a:rPr>
              <a:t>a</a:t>
            </a:r>
            <a:r>
              <a:rPr lang="en-US" sz="2000" kern="0" spc="-73" dirty="0">
                <a:solidFill>
                  <a:sysClr val="windowText" lastClr="000000"/>
                </a:solidFill>
                <a:latin typeface="+mj-lt"/>
                <a:cs typeface="Arial Narrow"/>
              </a:rPr>
              <a:t> </a:t>
            </a:r>
            <a:r>
              <a:rPr lang="en-US" sz="2000" kern="0" spc="-140" dirty="0">
                <a:solidFill>
                  <a:sysClr val="windowText" lastClr="000000"/>
                </a:solidFill>
                <a:latin typeface="+mj-lt"/>
                <a:cs typeface="Arial Narrow"/>
              </a:rPr>
              <a:t>default</a:t>
            </a:r>
            <a:r>
              <a:rPr lang="en-US" sz="2000" kern="0" spc="-107" dirty="0">
                <a:solidFill>
                  <a:sysClr val="windowText" lastClr="000000"/>
                </a:solidFill>
                <a:latin typeface="+mj-lt"/>
                <a:cs typeface="Arial Narrow"/>
              </a:rPr>
              <a:t> </a:t>
            </a:r>
            <a:r>
              <a:rPr lang="en-US" sz="2000" kern="0" spc="-13" dirty="0">
                <a:solidFill>
                  <a:sysClr val="windowText" lastClr="000000"/>
                </a:solidFill>
                <a:latin typeface="+mj-lt"/>
                <a:cs typeface="Arial Narrow"/>
              </a:rPr>
              <a:t>constructor</a:t>
            </a:r>
            <a:endParaRPr lang="en-US" sz="2000" kern="0" dirty="0">
              <a:solidFill>
                <a:sysClr val="windowText" lastClr="000000"/>
              </a:solidFill>
              <a:latin typeface="+mj-lt"/>
              <a:cs typeface="Arial Narrow"/>
            </a:endParaRPr>
          </a:p>
          <a:p>
            <a:pPr marL="397923" indent="-380990" defTabSz="1219170">
              <a:lnSpc>
                <a:spcPts val="2847"/>
              </a:lnSpc>
              <a:buFont typeface="Arial"/>
              <a:buChar char="•"/>
              <a:tabLst>
                <a:tab pos="397923" algn="l"/>
              </a:tabLst>
            </a:pPr>
            <a:r>
              <a:rPr lang="en-US" sz="2000" kern="0" spc="-327" dirty="0">
                <a:solidFill>
                  <a:sysClr val="windowText" lastClr="000000"/>
                </a:solidFill>
                <a:latin typeface="+mj-lt"/>
                <a:cs typeface="Arial Narrow"/>
              </a:rPr>
              <a:t>Game</a:t>
            </a:r>
            <a:r>
              <a:rPr lang="en-US" sz="2000" kern="0" spc="-27" dirty="0">
                <a:solidFill>
                  <a:sysClr val="windowText" lastClr="000000"/>
                </a:solidFill>
                <a:latin typeface="+mj-lt"/>
                <a:cs typeface="Arial Narrow"/>
              </a:rPr>
              <a:t> </a:t>
            </a:r>
            <a:r>
              <a:rPr lang="en-US" sz="2000" kern="0" spc="-207" dirty="0">
                <a:solidFill>
                  <a:sysClr val="windowText" lastClr="000000"/>
                </a:solidFill>
                <a:latin typeface="+mj-lt"/>
                <a:cs typeface="Arial Narrow"/>
              </a:rPr>
              <a:t>has</a:t>
            </a:r>
            <a:r>
              <a:rPr lang="en-US" sz="2000" kern="0" spc="-100" dirty="0">
                <a:solidFill>
                  <a:sysClr val="windowText" lastClr="000000"/>
                </a:solidFill>
                <a:latin typeface="+mj-lt"/>
                <a:cs typeface="Arial Narrow"/>
              </a:rPr>
              <a:t> </a:t>
            </a:r>
            <a:r>
              <a:rPr lang="en-US" sz="2000" kern="0" spc="-293" dirty="0">
                <a:solidFill>
                  <a:sysClr val="windowText" lastClr="000000"/>
                </a:solidFill>
                <a:latin typeface="+mj-lt"/>
                <a:cs typeface="Arial Narrow"/>
              </a:rPr>
              <a:t>a</a:t>
            </a:r>
            <a:r>
              <a:rPr lang="en-US" sz="2000" kern="0" spc="-67" dirty="0">
                <a:solidFill>
                  <a:sysClr val="windowText" lastClr="000000"/>
                </a:solidFill>
                <a:latin typeface="+mj-lt"/>
                <a:cs typeface="Arial Narrow"/>
              </a:rPr>
              <a:t> </a:t>
            </a:r>
            <a:r>
              <a:rPr lang="en-US" sz="2000" kern="0" spc="-173" dirty="0">
                <a:solidFill>
                  <a:sysClr val="windowText" lastClr="000000"/>
                </a:solidFill>
                <a:latin typeface="+mj-lt"/>
                <a:cs typeface="Arial Narrow"/>
              </a:rPr>
              <a:t>method</a:t>
            </a:r>
            <a:r>
              <a:rPr lang="en-US" sz="2000" kern="0" spc="-60" dirty="0">
                <a:solidFill>
                  <a:sysClr val="windowText" lastClr="000000"/>
                </a:solidFill>
                <a:latin typeface="+mj-lt"/>
                <a:cs typeface="Arial Narrow"/>
              </a:rPr>
              <a:t> </a:t>
            </a:r>
            <a:r>
              <a:rPr lang="en-US" sz="2000" kern="0" spc="-152" dirty="0">
                <a:solidFill>
                  <a:sysClr val="windowText" lastClr="000000"/>
                </a:solidFill>
                <a:latin typeface="+mj-lt"/>
                <a:cs typeface="Arial Narrow"/>
              </a:rPr>
              <a:t>play()</a:t>
            </a:r>
            <a:r>
              <a:rPr lang="en-US" sz="2000" kern="0" spc="-20" dirty="0">
                <a:solidFill>
                  <a:sysClr val="windowText" lastClr="000000"/>
                </a:solidFill>
                <a:latin typeface="+mj-lt"/>
                <a:cs typeface="Arial Narrow"/>
              </a:rPr>
              <a:t> </a:t>
            </a:r>
            <a:r>
              <a:rPr lang="en-US" sz="2000" kern="0" spc="-127" dirty="0">
                <a:solidFill>
                  <a:sysClr val="windowText" lastClr="000000"/>
                </a:solidFill>
                <a:latin typeface="+mj-lt"/>
                <a:cs typeface="Arial Narrow"/>
              </a:rPr>
              <a:t>that</a:t>
            </a:r>
            <a:r>
              <a:rPr lang="en-US" sz="2000" kern="0" spc="-40" dirty="0">
                <a:solidFill>
                  <a:sysClr val="windowText" lastClr="000000"/>
                </a:solidFill>
                <a:latin typeface="+mj-lt"/>
                <a:cs typeface="Arial Narrow"/>
              </a:rPr>
              <a:t> </a:t>
            </a:r>
            <a:r>
              <a:rPr lang="en-US" sz="2000" kern="0" spc="-93" dirty="0">
                <a:solidFill>
                  <a:sysClr val="windowText" lastClr="000000"/>
                </a:solidFill>
                <a:latin typeface="+mj-lt"/>
                <a:cs typeface="Arial Narrow"/>
              </a:rPr>
              <a:t>initializes</a:t>
            </a:r>
            <a:r>
              <a:rPr lang="en-US" sz="2000" kern="0" spc="-27" dirty="0">
                <a:solidFill>
                  <a:sysClr val="windowText" lastClr="000000"/>
                </a:solidFill>
                <a:latin typeface="+mj-lt"/>
                <a:cs typeface="Arial Narrow"/>
              </a:rPr>
              <a:t> </a:t>
            </a:r>
            <a:r>
              <a:rPr lang="en-US" sz="2000" kern="0" spc="-147" dirty="0">
                <a:solidFill>
                  <a:sysClr val="windowText" lastClr="000000"/>
                </a:solidFill>
                <a:latin typeface="+mj-lt"/>
                <a:cs typeface="Arial Narrow"/>
              </a:rPr>
              <a:t>the</a:t>
            </a:r>
            <a:r>
              <a:rPr lang="en-US" sz="2000" kern="0" spc="-67" dirty="0">
                <a:solidFill>
                  <a:sysClr val="windowText" lastClr="000000"/>
                </a:solidFill>
                <a:latin typeface="+mj-lt"/>
                <a:cs typeface="Arial Narrow"/>
              </a:rPr>
              <a:t> </a:t>
            </a:r>
            <a:r>
              <a:rPr lang="en-US" sz="2000" kern="0" spc="-180" dirty="0">
                <a:solidFill>
                  <a:sysClr val="windowText" lastClr="000000"/>
                </a:solidFill>
                <a:latin typeface="+mj-lt"/>
                <a:cs typeface="Arial Narrow"/>
              </a:rPr>
              <a:t>players</a:t>
            </a:r>
            <a:r>
              <a:rPr lang="en-US" sz="2000" kern="0" spc="-40" dirty="0">
                <a:solidFill>
                  <a:sysClr val="windowText" lastClr="000000"/>
                </a:solidFill>
                <a:latin typeface="+mj-lt"/>
                <a:cs typeface="Arial Narrow"/>
              </a:rPr>
              <a:t> </a:t>
            </a:r>
            <a:r>
              <a:rPr lang="en-US" sz="2000" kern="0" spc="-47" dirty="0">
                <a:solidFill>
                  <a:sysClr val="windowText" lastClr="000000"/>
                </a:solidFill>
                <a:latin typeface="+mj-lt"/>
                <a:cs typeface="Arial Narrow"/>
              </a:rPr>
              <a:t>list</a:t>
            </a:r>
            <a:r>
              <a:rPr lang="en-US" sz="2000" kern="0" spc="-40" dirty="0">
                <a:solidFill>
                  <a:sysClr val="windowText" lastClr="000000"/>
                </a:solidFill>
                <a:latin typeface="+mj-lt"/>
                <a:cs typeface="Arial Narrow"/>
              </a:rPr>
              <a:t> </a:t>
            </a:r>
            <a:r>
              <a:rPr lang="en-US" sz="2000" kern="0" spc="-73" dirty="0">
                <a:solidFill>
                  <a:sysClr val="windowText" lastClr="000000"/>
                </a:solidFill>
                <a:latin typeface="+mj-lt"/>
                <a:cs typeface="Arial Narrow"/>
              </a:rPr>
              <a:t>with</a:t>
            </a:r>
            <a:r>
              <a:rPr lang="en-US" sz="2000" kern="0" spc="-40" dirty="0">
                <a:solidFill>
                  <a:sysClr val="windowText" lastClr="000000"/>
                </a:solidFill>
                <a:latin typeface="+mj-lt"/>
                <a:cs typeface="Arial Narrow"/>
              </a:rPr>
              <a:t> </a:t>
            </a:r>
            <a:r>
              <a:rPr lang="en-US" sz="2000" kern="0" spc="-127" dirty="0">
                <a:solidFill>
                  <a:sysClr val="windowText" lastClr="000000"/>
                </a:solidFill>
                <a:latin typeface="+mj-lt"/>
                <a:cs typeface="Arial Narrow"/>
              </a:rPr>
              <a:t>10</a:t>
            </a:r>
            <a:r>
              <a:rPr lang="en-US" sz="2000" kern="0" spc="-73" dirty="0">
                <a:solidFill>
                  <a:sysClr val="windowText" lastClr="000000"/>
                </a:solidFill>
                <a:latin typeface="+mj-lt"/>
                <a:cs typeface="Arial Narrow"/>
              </a:rPr>
              <a:t> </a:t>
            </a:r>
            <a:r>
              <a:rPr lang="en-US" sz="2000" kern="0" spc="-13" dirty="0">
                <a:solidFill>
                  <a:sysClr val="windowText" lastClr="000000"/>
                </a:solidFill>
                <a:latin typeface="+mj-lt"/>
                <a:cs typeface="Arial Narrow"/>
              </a:rPr>
              <a:t>players</a:t>
            </a:r>
            <a:endParaRPr lang="en-US" sz="2000" kern="0" dirty="0">
              <a:solidFill>
                <a:sysClr val="windowText" lastClr="000000"/>
              </a:solidFill>
              <a:latin typeface="+mj-lt"/>
              <a:cs typeface="Arial Narrow"/>
            </a:endParaRPr>
          </a:p>
          <a:p>
            <a:pPr marL="397923" indent="-380990" defTabSz="1219170">
              <a:spcBef>
                <a:spcPts val="20"/>
              </a:spcBef>
              <a:buFont typeface="Arial"/>
              <a:buChar char="•"/>
              <a:tabLst>
                <a:tab pos="397923" algn="l"/>
              </a:tabLst>
            </a:pPr>
            <a:r>
              <a:rPr lang="en-US" sz="2000" kern="0" spc="-327" dirty="0">
                <a:solidFill>
                  <a:sysClr val="windowText" lastClr="000000"/>
                </a:solidFill>
                <a:latin typeface="+mj-lt"/>
                <a:cs typeface="Arial Narrow"/>
              </a:rPr>
              <a:t>Game</a:t>
            </a:r>
            <a:r>
              <a:rPr lang="en-US" sz="2000" kern="0" spc="-13" dirty="0">
                <a:solidFill>
                  <a:sysClr val="windowText" lastClr="000000"/>
                </a:solidFill>
                <a:latin typeface="+mj-lt"/>
                <a:cs typeface="Arial Narrow"/>
              </a:rPr>
              <a:t> </a:t>
            </a:r>
            <a:r>
              <a:rPr lang="en-US" sz="2000" kern="0" spc="-207" dirty="0">
                <a:solidFill>
                  <a:sysClr val="windowText" lastClr="000000"/>
                </a:solidFill>
                <a:latin typeface="+mj-lt"/>
                <a:cs typeface="Arial Narrow"/>
              </a:rPr>
              <a:t>has</a:t>
            </a:r>
            <a:r>
              <a:rPr lang="en-US" sz="2000" kern="0" spc="-87" dirty="0">
                <a:solidFill>
                  <a:sysClr val="windowText" lastClr="000000"/>
                </a:solidFill>
                <a:latin typeface="+mj-lt"/>
                <a:cs typeface="Arial Narrow"/>
              </a:rPr>
              <a:t> </a:t>
            </a:r>
            <a:r>
              <a:rPr lang="en-US" sz="2000" kern="0" spc="-293" dirty="0">
                <a:solidFill>
                  <a:sysClr val="windowText" lastClr="000000"/>
                </a:solidFill>
                <a:latin typeface="+mj-lt"/>
                <a:cs typeface="Arial Narrow"/>
              </a:rPr>
              <a:t>a</a:t>
            </a:r>
            <a:r>
              <a:rPr lang="en-US" sz="2000" kern="0" spc="-53" dirty="0">
                <a:solidFill>
                  <a:sysClr val="windowText" lastClr="000000"/>
                </a:solidFill>
                <a:latin typeface="+mj-lt"/>
                <a:cs typeface="Arial Narrow"/>
              </a:rPr>
              <a:t> </a:t>
            </a:r>
            <a:r>
              <a:rPr lang="en-US" sz="2000" kern="0" spc="-173" dirty="0">
                <a:solidFill>
                  <a:sysClr val="windowText" lastClr="000000"/>
                </a:solidFill>
                <a:latin typeface="+mj-lt"/>
                <a:cs typeface="Arial Narrow"/>
              </a:rPr>
              <a:t>save()</a:t>
            </a:r>
            <a:r>
              <a:rPr lang="en-US" sz="2000" kern="0" spc="-93" dirty="0">
                <a:solidFill>
                  <a:sysClr val="windowText" lastClr="000000"/>
                </a:solidFill>
                <a:latin typeface="+mj-lt"/>
                <a:cs typeface="Arial Narrow"/>
              </a:rPr>
              <a:t> </a:t>
            </a:r>
            <a:r>
              <a:rPr lang="en-US" sz="2000" kern="0" spc="-173" dirty="0">
                <a:solidFill>
                  <a:sysClr val="windowText" lastClr="000000"/>
                </a:solidFill>
                <a:latin typeface="+mj-lt"/>
                <a:cs typeface="Arial Narrow"/>
              </a:rPr>
              <a:t>method</a:t>
            </a:r>
            <a:r>
              <a:rPr lang="en-US" sz="2000" kern="0" spc="-60" dirty="0">
                <a:solidFill>
                  <a:sysClr val="windowText" lastClr="000000"/>
                </a:solidFill>
                <a:latin typeface="+mj-lt"/>
                <a:cs typeface="Arial Narrow"/>
              </a:rPr>
              <a:t> </a:t>
            </a:r>
            <a:r>
              <a:rPr lang="en-US" sz="2000" kern="0" spc="-120" dirty="0">
                <a:solidFill>
                  <a:sysClr val="windowText" lastClr="000000"/>
                </a:solidFill>
                <a:latin typeface="+mj-lt"/>
                <a:cs typeface="Arial Narrow"/>
              </a:rPr>
              <a:t>that</a:t>
            </a:r>
            <a:r>
              <a:rPr lang="en-US" sz="2000" kern="0" spc="-27" dirty="0">
                <a:solidFill>
                  <a:sysClr val="windowText" lastClr="000000"/>
                </a:solidFill>
                <a:latin typeface="+mj-lt"/>
                <a:cs typeface="Arial Narrow"/>
              </a:rPr>
              <a:t> </a:t>
            </a:r>
            <a:r>
              <a:rPr lang="en-US" sz="2000" kern="0" spc="-227" dirty="0">
                <a:solidFill>
                  <a:sysClr val="windowText" lastClr="000000"/>
                </a:solidFill>
                <a:latin typeface="+mj-lt"/>
                <a:cs typeface="Arial Narrow"/>
              </a:rPr>
              <a:t>saves</a:t>
            </a:r>
            <a:r>
              <a:rPr lang="en-US" sz="2000" kern="0" spc="-107" dirty="0">
                <a:solidFill>
                  <a:sysClr val="windowText" lastClr="000000"/>
                </a:solidFill>
                <a:latin typeface="+mj-lt"/>
                <a:cs typeface="Arial Narrow"/>
              </a:rPr>
              <a:t> </a:t>
            </a:r>
            <a:r>
              <a:rPr lang="en-US" sz="2000" kern="0" spc="-152" dirty="0">
                <a:solidFill>
                  <a:sysClr val="windowText" lastClr="000000"/>
                </a:solidFill>
                <a:latin typeface="+mj-lt"/>
                <a:cs typeface="Arial Narrow"/>
              </a:rPr>
              <a:t>the</a:t>
            </a:r>
            <a:r>
              <a:rPr lang="en-US" sz="2000" kern="0" spc="-53" dirty="0">
                <a:solidFill>
                  <a:sysClr val="windowText" lastClr="000000"/>
                </a:solidFill>
                <a:latin typeface="+mj-lt"/>
                <a:cs typeface="Arial Narrow"/>
              </a:rPr>
              <a:t> </a:t>
            </a:r>
            <a:r>
              <a:rPr lang="en-US" sz="2000" kern="0" spc="-180" dirty="0">
                <a:solidFill>
                  <a:sysClr val="windowText" lastClr="000000"/>
                </a:solidFill>
                <a:latin typeface="+mj-lt"/>
                <a:cs typeface="Arial Narrow"/>
              </a:rPr>
              <a:t>players</a:t>
            </a:r>
            <a:r>
              <a:rPr lang="en-US" sz="2000" kern="0" spc="-20" dirty="0">
                <a:solidFill>
                  <a:sysClr val="windowText" lastClr="000000"/>
                </a:solidFill>
                <a:latin typeface="+mj-lt"/>
                <a:cs typeface="Arial Narrow"/>
              </a:rPr>
              <a:t> </a:t>
            </a:r>
            <a:r>
              <a:rPr lang="en-US" sz="2000" kern="0" spc="-93" dirty="0">
                <a:solidFill>
                  <a:sysClr val="windowText" lastClr="000000"/>
                </a:solidFill>
                <a:latin typeface="+mj-lt"/>
                <a:cs typeface="Arial Narrow"/>
              </a:rPr>
              <a:t>to</a:t>
            </a:r>
            <a:r>
              <a:rPr lang="en-US" sz="2000" kern="0" spc="-107" dirty="0">
                <a:solidFill>
                  <a:sysClr val="windowText" lastClr="000000"/>
                </a:solidFill>
                <a:latin typeface="+mj-lt"/>
                <a:cs typeface="Arial Narrow"/>
              </a:rPr>
              <a:t> </a:t>
            </a:r>
            <a:r>
              <a:rPr lang="en-US" sz="2000" kern="0" spc="-293" dirty="0">
                <a:solidFill>
                  <a:sysClr val="windowText" lastClr="000000"/>
                </a:solidFill>
                <a:latin typeface="+mj-lt"/>
                <a:cs typeface="Arial Narrow"/>
              </a:rPr>
              <a:t>a</a:t>
            </a:r>
            <a:r>
              <a:rPr lang="en-US" sz="2000" kern="0" spc="-67" dirty="0">
                <a:solidFill>
                  <a:sysClr val="windowText" lastClr="000000"/>
                </a:solidFill>
                <a:latin typeface="+mj-lt"/>
                <a:cs typeface="Arial Narrow"/>
              </a:rPr>
              <a:t> </a:t>
            </a:r>
            <a:r>
              <a:rPr lang="en-US" sz="2000" kern="0" spc="-53" dirty="0">
                <a:solidFill>
                  <a:sysClr val="windowText" lastClr="000000"/>
                </a:solidFill>
                <a:latin typeface="+mj-lt"/>
                <a:cs typeface="Arial Narrow"/>
              </a:rPr>
              <a:t>file</a:t>
            </a:r>
            <a:r>
              <a:rPr lang="en-US" sz="2000" kern="0" spc="-87" dirty="0">
                <a:solidFill>
                  <a:sysClr val="windowText" lastClr="000000"/>
                </a:solidFill>
                <a:latin typeface="+mj-lt"/>
                <a:cs typeface="Arial Narrow"/>
              </a:rPr>
              <a:t> </a:t>
            </a:r>
            <a:r>
              <a:rPr lang="en-US" sz="2000" kern="0" spc="-147" dirty="0">
                <a:solidFill>
                  <a:sysClr val="windowText" lastClr="000000"/>
                </a:solidFill>
                <a:latin typeface="+mj-lt"/>
                <a:cs typeface="Arial Narrow"/>
              </a:rPr>
              <a:t>“</a:t>
            </a:r>
            <a:r>
              <a:rPr lang="en-US" sz="2000" kern="0" spc="-147" dirty="0" err="1">
                <a:solidFill>
                  <a:sysClr val="windowText" lastClr="000000"/>
                </a:solidFill>
                <a:latin typeface="+mj-lt"/>
                <a:cs typeface="Arial Narrow"/>
              </a:rPr>
              <a:t>game.data</a:t>
            </a:r>
            <a:r>
              <a:rPr lang="en-US" sz="2000" kern="0" spc="-147" dirty="0">
                <a:solidFill>
                  <a:sysClr val="windowText" lastClr="000000"/>
                </a:solidFill>
                <a:latin typeface="+mj-lt"/>
                <a:cs typeface="Arial Narrow"/>
              </a:rPr>
              <a:t>”,</a:t>
            </a:r>
            <a:r>
              <a:rPr lang="en-US" sz="2000" kern="0" spc="-47" dirty="0">
                <a:solidFill>
                  <a:sysClr val="windowText" lastClr="000000"/>
                </a:solidFill>
                <a:latin typeface="+mj-lt"/>
                <a:cs typeface="Arial Narrow"/>
              </a:rPr>
              <a:t> </a:t>
            </a:r>
            <a:r>
              <a:rPr lang="en-US" sz="2000" kern="0" dirty="0">
                <a:solidFill>
                  <a:sysClr val="windowText" lastClr="000000"/>
                </a:solidFill>
                <a:latin typeface="+mj-lt"/>
                <a:cs typeface="Arial Narrow"/>
              </a:rPr>
              <a:t>if</a:t>
            </a:r>
            <a:r>
              <a:rPr lang="en-US" sz="2000" kern="0" spc="-80" dirty="0">
                <a:solidFill>
                  <a:sysClr val="windowText" lastClr="000000"/>
                </a:solidFill>
                <a:latin typeface="+mj-lt"/>
                <a:cs typeface="Arial Narrow"/>
              </a:rPr>
              <a:t> </a:t>
            </a:r>
            <a:r>
              <a:rPr lang="en-US" sz="2000" kern="0" spc="-152" dirty="0">
                <a:solidFill>
                  <a:sysClr val="windowText" lastClr="000000"/>
                </a:solidFill>
                <a:latin typeface="+mj-lt"/>
                <a:cs typeface="Arial Narrow"/>
              </a:rPr>
              <a:t>the</a:t>
            </a:r>
            <a:r>
              <a:rPr lang="en-US" sz="2000" kern="0" spc="-47" dirty="0">
                <a:solidFill>
                  <a:sysClr val="windowText" lastClr="000000"/>
                </a:solidFill>
                <a:latin typeface="+mj-lt"/>
                <a:cs typeface="Arial Narrow"/>
              </a:rPr>
              <a:t> </a:t>
            </a:r>
            <a:r>
              <a:rPr lang="en-US" sz="2000" kern="0" spc="-180" dirty="0">
                <a:solidFill>
                  <a:sysClr val="windowText" lastClr="000000"/>
                </a:solidFill>
                <a:latin typeface="+mj-lt"/>
                <a:cs typeface="Arial Narrow"/>
              </a:rPr>
              <a:t>players</a:t>
            </a:r>
            <a:r>
              <a:rPr lang="en-US" sz="2000" kern="0" spc="-13" dirty="0">
                <a:solidFill>
                  <a:sysClr val="windowText" lastClr="000000"/>
                </a:solidFill>
                <a:latin typeface="+mj-lt"/>
                <a:cs typeface="Arial Narrow"/>
              </a:rPr>
              <a:t> </a:t>
            </a:r>
            <a:r>
              <a:rPr lang="en-US" sz="2000" kern="0" spc="-107" dirty="0">
                <a:solidFill>
                  <a:sysClr val="windowText" lastClr="000000"/>
                </a:solidFill>
                <a:latin typeface="+mj-lt"/>
                <a:cs typeface="Arial Narrow"/>
              </a:rPr>
              <a:t>from</a:t>
            </a:r>
            <a:r>
              <a:rPr lang="en-US" sz="2000" kern="0" spc="-53" dirty="0">
                <a:solidFill>
                  <a:sysClr val="windowText" lastClr="000000"/>
                </a:solidFill>
                <a:latin typeface="+mj-lt"/>
                <a:cs typeface="Arial Narrow"/>
              </a:rPr>
              <a:t> </a:t>
            </a:r>
            <a:r>
              <a:rPr lang="en-US" sz="2000" kern="0" spc="-152" dirty="0">
                <a:solidFill>
                  <a:sysClr val="windowText" lastClr="000000"/>
                </a:solidFill>
                <a:latin typeface="+mj-lt"/>
                <a:cs typeface="Arial Narrow"/>
              </a:rPr>
              <a:t>the</a:t>
            </a:r>
            <a:r>
              <a:rPr lang="en-US" sz="2000" kern="0" spc="-40" dirty="0">
                <a:solidFill>
                  <a:sysClr val="windowText" lastClr="000000"/>
                </a:solidFill>
                <a:latin typeface="+mj-lt"/>
                <a:cs typeface="Arial Narrow"/>
              </a:rPr>
              <a:t> </a:t>
            </a:r>
            <a:r>
              <a:rPr lang="en-US" sz="2000" kern="0" spc="-152" dirty="0">
                <a:solidFill>
                  <a:sysClr val="windowText" lastClr="000000"/>
                </a:solidFill>
                <a:latin typeface="+mj-lt"/>
                <a:cs typeface="Arial Narrow"/>
              </a:rPr>
              <a:t>previous</a:t>
            </a:r>
            <a:r>
              <a:rPr lang="en-US" sz="2000" kern="0" spc="-47" dirty="0">
                <a:solidFill>
                  <a:sysClr val="windowText" lastClr="000000"/>
                </a:solidFill>
                <a:latin typeface="+mj-lt"/>
                <a:cs typeface="Arial Narrow"/>
              </a:rPr>
              <a:t> </a:t>
            </a:r>
            <a:r>
              <a:rPr lang="en-US" sz="2000" kern="0" spc="-80" dirty="0">
                <a:solidFill>
                  <a:sysClr val="windowText" lastClr="000000"/>
                </a:solidFill>
                <a:latin typeface="+mj-lt"/>
                <a:cs typeface="Arial Narrow"/>
              </a:rPr>
              <a:t>game</a:t>
            </a:r>
            <a:endParaRPr lang="en-US" sz="2000" kern="0" dirty="0">
              <a:solidFill>
                <a:sysClr val="windowText" lastClr="000000"/>
              </a:solidFill>
              <a:latin typeface="+mj-lt"/>
              <a:cs typeface="Arial Narrow"/>
            </a:endParaRPr>
          </a:p>
          <a:p>
            <a:pPr marL="397923" defTabSz="1219170">
              <a:spcBef>
                <a:spcPts val="27"/>
              </a:spcBef>
            </a:pPr>
            <a:r>
              <a:rPr lang="en-US" sz="2000" kern="0" spc="-167" dirty="0">
                <a:solidFill>
                  <a:sysClr val="windowText" lastClr="000000"/>
                </a:solidFill>
                <a:latin typeface="+mj-lt"/>
                <a:cs typeface="Arial Narrow"/>
              </a:rPr>
              <a:t>were</a:t>
            </a:r>
            <a:r>
              <a:rPr lang="en-US" sz="2000" kern="0" spc="-80" dirty="0">
                <a:solidFill>
                  <a:sysClr val="windowText" lastClr="000000"/>
                </a:solidFill>
                <a:latin typeface="+mj-lt"/>
                <a:cs typeface="Arial Narrow"/>
              </a:rPr>
              <a:t> </a:t>
            </a:r>
            <a:r>
              <a:rPr lang="en-US" sz="2000" kern="0" spc="-220" dirty="0">
                <a:solidFill>
                  <a:sysClr val="windowText" lastClr="000000"/>
                </a:solidFill>
                <a:latin typeface="+mj-lt"/>
                <a:cs typeface="Arial Narrow"/>
              </a:rPr>
              <a:t>saved,</a:t>
            </a:r>
            <a:r>
              <a:rPr lang="en-US" sz="2000" kern="0" spc="-140" dirty="0">
                <a:solidFill>
                  <a:sysClr val="windowText" lastClr="000000"/>
                </a:solidFill>
                <a:latin typeface="+mj-lt"/>
                <a:cs typeface="Arial Narrow"/>
              </a:rPr>
              <a:t> </a:t>
            </a:r>
            <a:r>
              <a:rPr lang="en-US" sz="2000" kern="0" spc="-187" dirty="0">
                <a:solidFill>
                  <a:sysClr val="windowText" lastClr="000000"/>
                </a:solidFill>
                <a:latin typeface="+mj-lt"/>
                <a:cs typeface="Arial Narrow"/>
              </a:rPr>
              <a:t>new</a:t>
            </a:r>
            <a:r>
              <a:rPr lang="en-US" sz="2000" kern="0" spc="-73" dirty="0">
                <a:solidFill>
                  <a:sysClr val="windowText" lastClr="000000"/>
                </a:solidFill>
                <a:latin typeface="+mj-lt"/>
                <a:cs typeface="Arial Narrow"/>
              </a:rPr>
              <a:t> </a:t>
            </a:r>
            <a:r>
              <a:rPr lang="en-US" sz="2000" kern="0" spc="-180" dirty="0">
                <a:solidFill>
                  <a:sysClr val="windowText" lastClr="000000"/>
                </a:solidFill>
                <a:latin typeface="+mj-lt"/>
                <a:cs typeface="Arial Narrow"/>
              </a:rPr>
              <a:t>players</a:t>
            </a:r>
            <a:r>
              <a:rPr lang="en-US" sz="2000" kern="0" spc="-27" dirty="0">
                <a:solidFill>
                  <a:sysClr val="windowText" lastClr="000000"/>
                </a:solidFill>
                <a:latin typeface="+mj-lt"/>
                <a:cs typeface="Arial Narrow"/>
              </a:rPr>
              <a:t> will</a:t>
            </a:r>
            <a:r>
              <a:rPr lang="en-US" sz="2000" kern="0" spc="-60" dirty="0">
                <a:solidFill>
                  <a:sysClr val="windowText" lastClr="000000"/>
                </a:solidFill>
                <a:latin typeface="+mj-lt"/>
                <a:cs typeface="Arial Narrow"/>
              </a:rPr>
              <a:t> </a:t>
            </a:r>
            <a:r>
              <a:rPr lang="en-US" sz="2000" kern="0" spc="-240" dirty="0">
                <a:solidFill>
                  <a:sysClr val="windowText" lastClr="000000"/>
                </a:solidFill>
                <a:latin typeface="+mj-lt"/>
                <a:cs typeface="Arial Narrow"/>
              </a:rPr>
              <a:t>be</a:t>
            </a:r>
            <a:r>
              <a:rPr lang="en-US" sz="2000" kern="0" spc="-67" dirty="0">
                <a:solidFill>
                  <a:sysClr val="windowText" lastClr="000000"/>
                </a:solidFill>
                <a:latin typeface="+mj-lt"/>
                <a:cs typeface="Arial Narrow"/>
              </a:rPr>
              <a:t> </a:t>
            </a:r>
            <a:r>
              <a:rPr lang="en-US" sz="2000" kern="0" spc="-227" dirty="0">
                <a:solidFill>
                  <a:sysClr val="windowText" lastClr="000000"/>
                </a:solidFill>
                <a:latin typeface="+mj-lt"/>
                <a:cs typeface="Arial Narrow"/>
              </a:rPr>
              <a:t>appended</a:t>
            </a:r>
            <a:r>
              <a:rPr lang="en-US" sz="2000" kern="0" spc="-107" dirty="0">
                <a:solidFill>
                  <a:sysClr val="windowText" lastClr="000000"/>
                </a:solidFill>
                <a:latin typeface="+mj-lt"/>
                <a:cs typeface="Arial Narrow"/>
              </a:rPr>
              <a:t> </a:t>
            </a:r>
            <a:r>
              <a:rPr lang="en-US" sz="2000" kern="0" spc="-93" dirty="0">
                <a:solidFill>
                  <a:sysClr val="windowText" lastClr="000000"/>
                </a:solidFill>
                <a:latin typeface="+mj-lt"/>
                <a:cs typeface="Arial Narrow"/>
              </a:rPr>
              <a:t>to</a:t>
            </a:r>
            <a:r>
              <a:rPr lang="en-US" sz="2000" kern="0" spc="-113" dirty="0">
                <a:solidFill>
                  <a:sysClr val="windowText" lastClr="000000"/>
                </a:solidFill>
                <a:latin typeface="+mj-lt"/>
                <a:cs typeface="Arial Narrow"/>
              </a:rPr>
              <a:t> </a:t>
            </a:r>
            <a:r>
              <a:rPr lang="en-US" sz="2000" kern="0" spc="-147" dirty="0">
                <a:solidFill>
                  <a:sysClr val="windowText" lastClr="000000"/>
                </a:solidFill>
                <a:latin typeface="+mj-lt"/>
                <a:cs typeface="Arial Narrow"/>
              </a:rPr>
              <a:t>the</a:t>
            </a:r>
            <a:r>
              <a:rPr lang="en-US" sz="2000" kern="0" spc="-67" dirty="0">
                <a:solidFill>
                  <a:sysClr val="windowText" lastClr="000000"/>
                </a:solidFill>
                <a:latin typeface="+mj-lt"/>
                <a:cs typeface="Arial Narrow"/>
              </a:rPr>
              <a:t> </a:t>
            </a:r>
            <a:r>
              <a:rPr lang="en-US" sz="2000" kern="0" spc="-27" dirty="0">
                <a:solidFill>
                  <a:sysClr val="windowText" lastClr="000000"/>
                </a:solidFill>
                <a:latin typeface="+mj-lt"/>
                <a:cs typeface="Arial Narrow"/>
              </a:rPr>
              <a:t>file</a:t>
            </a:r>
            <a:endParaRPr lang="en-US" sz="2000" kern="0" dirty="0">
              <a:solidFill>
                <a:sysClr val="windowText" lastClr="000000"/>
              </a:solidFill>
              <a:latin typeface="+mj-lt"/>
              <a:cs typeface="Arial Narrow"/>
            </a:endParaRPr>
          </a:p>
          <a:p>
            <a:pPr marL="397923" indent="-380990" defTabSz="1219170">
              <a:spcBef>
                <a:spcPts val="27"/>
              </a:spcBef>
              <a:buFont typeface="Arial"/>
              <a:buChar char="•"/>
              <a:tabLst>
                <a:tab pos="397923" algn="l"/>
              </a:tabLst>
            </a:pPr>
            <a:r>
              <a:rPr lang="en-US" sz="2000" kern="0" spc="-327" dirty="0">
                <a:solidFill>
                  <a:sysClr val="windowText" lastClr="000000"/>
                </a:solidFill>
                <a:latin typeface="+mj-lt"/>
                <a:cs typeface="Arial Narrow"/>
              </a:rPr>
              <a:t>Game</a:t>
            </a:r>
            <a:r>
              <a:rPr lang="en-US" sz="2000" kern="0" spc="-33" dirty="0">
                <a:solidFill>
                  <a:sysClr val="windowText" lastClr="000000"/>
                </a:solidFill>
                <a:latin typeface="+mj-lt"/>
                <a:cs typeface="Arial Narrow"/>
              </a:rPr>
              <a:t> </a:t>
            </a:r>
            <a:r>
              <a:rPr lang="en-US" sz="2000" kern="0" spc="-213" dirty="0">
                <a:solidFill>
                  <a:sysClr val="windowText" lastClr="000000"/>
                </a:solidFill>
                <a:latin typeface="+mj-lt"/>
                <a:cs typeface="Arial Narrow"/>
              </a:rPr>
              <a:t>has</a:t>
            </a:r>
            <a:r>
              <a:rPr lang="en-US" sz="2000" kern="0" spc="-113" dirty="0">
                <a:solidFill>
                  <a:sysClr val="windowText" lastClr="000000"/>
                </a:solidFill>
                <a:latin typeface="+mj-lt"/>
                <a:cs typeface="Arial Narrow"/>
              </a:rPr>
              <a:t> </a:t>
            </a:r>
            <a:r>
              <a:rPr lang="en-US" sz="2000" kern="0" spc="-293" dirty="0">
                <a:solidFill>
                  <a:sysClr val="windowText" lastClr="000000"/>
                </a:solidFill>
                <a:latin typeface="+mj-lt"/>
                <a:cs typeface="Arial Narrow"/>
              </a:rPr>
              <a:t>a</a:t>
            </a:r>
            <a:r>
              <a:rPr lang="en-US" sz="2000" kern="0" spc="-73" dirty="0">
                <a:solidFill>
                  <a:sysClr val="windowText" lastClr="000000"/>
                </a:solidFill>
                <a:latin typeface="+mj-lt"/>
                <a:cs typeface="Arial Narrow"/>
              </a:rPr>
              <a:t> </a:t>
            </a:r>
            <a:r>
              <a:rPr lang="en-US" sz="2000" kern="0" spc="-147" dirty="0">
                <a:solidFill>
                  <a:sysClr val="windowText" lastClr="000000"/>
                </a:solidFill>
                <a:latin typeface="+mj-lt"/>
                <a:cs typeface="Arial Narrow"/>
              </a:rPr>
              <a:t>show()</a:t>
            </a:r>
            <a:r>
              <a:rPr lang="en-US" sz="2000" kern="0" spc="-20" dirty="0">
                <a:solidFill>
                  <a:sysClr val="windowText" lastClr="000000"/>
                </a:solidFill>
                <a:latin typeface="+mj-lt"/>
                <a:cs typeface="Arial Narrow"/>
              </a:rPr>
              <a:t> </a:t>
            </a:r>
            <a:r>
              <a:rPr lang="en-US" sz="2000" kern="0" spc="-173" dirty="0">
                <a:solidFill>
                  <a:sysClr val="windowText" lastClr="000000"/>
                </a:solidFill>
                <a:latin typeface="+mj-lt"/>
                <a:cs typeface="Arial Narrow"/>
              </a:rPr>
              <a:t>method</a:t>
            </a:r>
            <a:r>
              <a:rPr lang="en-US" sz="2000" kern="0" spc="-73" dirty="0">
                <a:solidFill>
                  <a:sysClr val="windowText" lastClr="000000"/>
                </a:solidFill>
                <a:latin typeface="+mj-lt"/>
                <a:cs typeface="Arial Narrow"/>
              </a:rPr>
              <a:t> </a:t>
            </a:r>
            <a:r>
              <a:rPr lang="en-US" sz="2000" kern="0" spc="-127" dirty="0">
                <a:solidFill>
                  <a:sysClr val="windowText" lastClr="000000"/>
                </a:solidFill>
                <a:latin typeface="+mj-lt"/>
                <a:cs typeface="Arial Narrow"/>
              </a:rPr>
              <a:t>that</a:t>
            </a:r>
            <a:r>
              <a:rPr lang="en-US" sz="2000" kern="0" spc="-53" dirty="0">
                <a:solidFill>
                  <a:sysClr val="windowText" lastClr="000000"/>
                </a:solidFill>
                <a:latin typeface="+mj-lt"/>
                <a:cs typeface="Arial Narrow"/>
              </a:rPr>
              <a:t> </a:t>
            </a:r>
            <a:r>
              <a:rPr lang="en-US" sz="2000" kern="0" spc="-160" dirty="0">
                <a:solidFill>
                  <a:sysClr val="windowText" lastClr="000000"/>
                </a:solidFill>
                <a:latin typeface="+mj-lt"/>
                <a:cs typeface="Arial Narrow"/>
              </a:rPr>
              <a:t>displays</a:t>
            </a:r>
            <a:r>
              <a:rPr lang="en-US" sz="2000" kern="0" spc="-73" dirty="0">
                <a:solidFill>
                  <a:sysClr val="windowText" lastClr="000000"/>
                </a:solidFill>
                <a:latin typeface="+mj-lt"/>
                <a:cs typeface="Arial Narrow"/>
              </a:rPr>
              <a:t> </a:t>
            </a:r>
            <a:r>
              <a:rPr lang="en-US" sz="2000" kern="0" spc="-147" dirty="0">
                <a:solidFill>
                  <a:sysClr val="windowText" lastClr="000000"/>
                </a:solidFill>
                <a:latin typeface="+mj-lt"/>
                <a:cs typeface="Arial Narrow"/>
              </a:rPr>
              <a:t>the</a:t>
            </a:r>
            <a:r>
              <a:rPr lang="en-US" sz="2000" kern="0" spc="-73" dirty="0">
                <a:solidFill>
                  <a:sysClr val="windowText" lastClr="000000"/>
                </a:solidFill>
                <a:latin typeface="+mj-lt"/>
                <a:cs typeface="Arial Narrow"/>
              </a:rPr>
              <a:t> </a:t>
            </a:r>
            <a:r>
              <a:rPr lang="en-US" sz="2000" kern="0" spc="-152" dirty="0">
                <a:solidFill>
                  <a:sysClr val="windowText" lastClr="000000"/>
                </a:solidFill>
                <a:latin typeface="+mj-lt"/>
                <a:cs typeface="Arial Narrow"/>
              </a:rPr>
              <a:t>content</a:t>
            </a:r>
            <a:r>
              <a:rPr lang="en-US" sz="2000" kern="0" spc="-60" dirty="0">
                <a:solidFill>
                  <a:sysClr val="windowText" lastClr="000000"/>
                </a:solidFill>
                <a:latin typeface="+mj-lt"/>
                <a:cs typeface="Arial Narrow"/>
              </a:rPr>
              <a:t> </a:t>
            </a:r>
            <a:r>
              <a:rPr lang="en-US" sz="2000" kern="0" spc="-113" dirty="0">
                <a:solidFill>
                  <a:sysClr val="windowText" lastClr="000000"/>
                </a:solidFill>
                <a:latin typeface="+mj-lt"/>
                <a:cs typeface="Arial Narrow"/>
              </a:rPr>
              <a:t>of</a:t>
            </a:r>
            <a:r>
              <a:rPr lang="en-US" sz="2000" kern="0" spc="-67" dirty="0">
                <a:solidFill>
                  <a:sysClr val="windowText" lastClr="000000"/>
                </a:solidFill>
                <a:latin typeface="+mj-lt"/>
                <a:cs typeface="Arial Narrow"/>
              </a:rPr>
              <a:t> </a:t>
            </a:r>
            <a:r>
              <a:rPr lang="en-US" sz="2000" kern="0" spc="-40" dirty="0" err="1">
                <a:solidFill>
                  <a:sysClr val="windowText" lastClr="000000"/>
                </a:solidFill>
                <a:latin typeface="+mj-lt"/>
                <a:cs typeface="Arial Narrow"/>
              </a:rPr>
              <a:t>game.data</a:t>
            </a:r>
            <a:endParaRPr lang="en-US" sz="2000" kern="0" dirty="0">
              <a:solidFill>
                <a:sysClr val="windowText" lastClr="000000"/>
              </a:solidFill>
              <a:latin typeface="+mj-lt"/>
              <a:cs typeface="Arial Narrow"/>
            </a:endParaRPr>
          </a:p>
          <a:p>
            <a:pPr marL="397923" indent="-380990" defTabSz="1219170">
              <a:lnSpc>
                <a:spcPts val="2847"/>
              </a:lnSpc>
              <a:spcBef>
                <a:spcPts val="27"/>
              </a:spcBef>
              <a:buFont typeface="Arial"/>
              <a:buChar char="•"/>
              <a:tabLst>
                <a:tab pos="397923" algn="l"/>
              </a:tabLst>
            </a:pPr>
            <a:r>
              <a:rPr lang="en-US" sz="2000" kern="0" spc="-327" dirty="0">
                <a:solidFill>
                  <a:sysClr val="windowText" lastClr="000000"/>
                </a:solidFill>
                <a:latin typeface="+mj-lt"/>
                <a:cs typeface="Arial Narrow"/>
              </a:rPr>
              <a:t>Game</a:t>
            </a:r>
            <a:r>
              <a:rPr lang="en-US" sz="2000" kern="0" spc="-40" dirty="0">
                <a:solidFill>
                  <a:sysClr val="windowText" lastClr="000000"/>
                </a:solidFill>
                <a:latin typeface="+mj-lt"/>
                <a:cs typeface="Arial Narrow"/>
              </a:rPr>
              <a:t> </a:t>
            </a:r>
            <a:r>
              <a:rPr lang="en-US" sz="2000" kern="0" spc="-207" dirty="0">
                <a:solidFill>
                  <a:sysClr val="windowText" lastClr="000000"/>
                </a:solidFill>
                <a:latin typeface="+mj-lt"/>
                <a:cs typeface="Arial Narrow"/>
              </a:rPr>
              <a:t>has</a:t>
            </a:r>
            <a:r>
              <a:rPr lang="en-US" sz="2000" kern="0" spc="-113" dirty="0">
                <a:solidFill>
                  <a:sysClr val="windowText" lastClr="000000"/>
                </a:solidFill>
                <a:latin typeface="+mj-lt"/>
                <a:cs typeface="Arial Narrow"/>
              </a:rPr>
              <a:t> </a:t>
            </a:r>
            <a:r>
              <a:rPr lang="en-US" sz="2000" kern="0" spc="-293" dirty="0">
                <a:solidFill>
                  <a:sysClr val="windowText" lastClr="000000"/>
                </a:solidFill>
                <a:latin typeface="+mj-lt"/>
                <a:cs typeface="Arial Narrow"/>
              </a:rPr>
              <a:t>a</a:t>
            </a:r>
            <a:r>
              <a:rPr lang="en-US" sz="2000" kern="0" spc="-73" dirty="0">
                <a:solidFill>
                  <a:sysClr val="windowText" lastClr="000000"/>
                </a:solidFill>
                <a:latin typeface="+mj-lt"/>
                <a:cs typeface="Arial Narrow"/>
              </a:rPr>
              <a:t> </a:t>
            </a:r>
            <a:r>
              <a:rPr lang="en-US" sz="2000" kern="0" spc="-133" dirty="0">
                <a:solidFill>
                  <a:sysClr val="windowText" lastClr="000000"/>
                </a:solidFill>
                <a:latin typeface="+mj-lt"/>
                <a:cs typeface="Arial Narrow"/>
              </a:rPr>
              <a:t>clear()</a:t>
            </a:r>
            <a:r>
              <a:rPr lang="en-US" sz="2000" kern="0" spc="-67" dirty="0">
                <a:solidFill>
                  <a:sysClr val="windowText" lastClr="000000"/>
                </a:solidFill>
                <a:latin typeface="+mj-lt"/>
                <a:cs typeface="Arial Narrow"/>
              </a:rPr>
              <a:t> </a:t>
            </a:r>
            <a:r>
              <a:rPr lang="en-US" sz="2000" kern="0" spc="-173" dirty="0">
                <a:solidFill>
                  <a:sysClr val="windowText" lastClr="000000"/>
                </a:solidFill>
                <a:latin typeface="+mj-lt"/>
                <a:cs typeface="Arial Narrow"/>
              </a:rPr>
              <a:t>method</a:t>
            </a:r>
            <a:r>
              <a:rPr lang="en-US" sz="2000" kern="0" spc="-93" dirty="0">
                <a:solidFill>
                  <a:sysClr val="windowText" lastClr="000000"/>
                </a:solidFill>
                <a:latin typeface="+mj-lt"/>
                <a:cs typeface="Arial Narrow"/>
              </a:rPr>
              <a:t> </a:t>
            </a:r>
            <a:r>
              <a:rPr lang="en-US" sz="2000" kern="0" spc="-127" dirty="0">
                <a:solidFill>
                  <a:sysClr val="windowText" lastClr="000000"/>
                </a:solidFill>
                <a:latin typeface="+mj-lt"/>
                <a:cs typeface="Arial Narrow"/>
              </a:rPr>
              <a:t>that</a:t>
            </a:r>
            <a:r>
              <a:rPr lang="en-US" sz="2000" kern="0" spc="-53" dirty="0">
                <a:solidFill>
                  <a:sysClr val="windowText" lastClr="000000"/>
                </a:solidFill>
                <a:latin typeface="+mj-lt"/>
                <a:cs typeface="Arial Narrow"/>
              </a:rPr>
              <a:t> </a:t>
            </a:r>
            <a:r>
              <a:rPr lang="en-US" sz="2000" kern="0" spc="-167" dirty="0">
                <a:solidFill>
                  <a:sysClr val="windowText" lastClr="000000"/>
                </a:solidFill>
                <a:latin typeface="+mj-lt"/>
                <a:cs typeface="Arial Narrow"/>
              </a:rPr>
              <a:t>clears</a:t>
            </a:r>
            <a:r>
              <a:rPr lang="en-US" sz="2000" kern="0" spc="-80" dirty="0">
                <a:solidFill>
                  <a:sysClr val="windowText" lastClr="000000"/>
                </a:solidFill>
                <a:latin typeface="+mj-lt"/>
                <a:cs typeface="Arial Narrow"/>
              </a:rPr>
              <a:t> </a:t>
            </a:r>
            <a:r>
              <a:rPr lang="en-US" sz="2000" kern="0" spc="-93" dirty="0">
                <a:solidFill>
                  <a:sysClr val="windowText" lastClr="000000"/>
                </a:solidFill>
                <a:latin typeface="+mj-lt"/>
                <a:cs typeface="Arial Narrow"/>
              </a:rPr>
              <a:t>all</a:t>
            </a:r>
            <a:r>
              <a:rPr lang="en-US" sz="2000" kern="0" spc="-127" dirty="0">
                <a:solidFill>
                  <a:sysClr val="windowText" lastClr="000000"/>
                </a:solidFill>
                <a:latin typeface="+mj-lt"/>
                <a:cs typeface="Arial Narrow"/>
              </a:rPr>
              <a:t> </a:t>
            </a:r>
            <a:r>
              <a:rPr lang="en-US" sz="2000" kern="0" spc="-152" dirty="0">
                <a:solidFill>
                  <a:sysClr val="windowText" lastClr="000000"/>
                </a:solidFill>
                <a:latin typeface="+mj-lt"/>
                <a:cs typeface="Arial Narrow"/>
              </a:rPr>
              <a:t>content</a:t>
            </a:r>
            <a:r>
              <a:rPr lang="en-US" sz="2000" kern="0" spc="-73" dirty="0">
                <a:solidFill>
                  <a:sysClr val="windowText" lastClr="000000"/>
                </a:solidFill>
                <a:latin typeface="+mj-lt"/>
                <a:cs typeface="Arial Narrow"/>
              </a:rPr>
              <a:t> </a:t>
            </a:r>
            <a:r>
              <a:rPr lang="en-US" sz="2000" kern="0" spc="-107" dirty="0">
                <a:solidFill>
                  <a:sysClr val="windowText" lastClr="000000"/>
                </a:solidFill>
                <a:latin typeface="+mj-lt"/>
                <a:cs typeface="Arial Narrow"/>
              </a:rPr>
              <a:t>of</a:t>
            </a:r>
            <a:r>
              <a:rPr lang="en-US" sz="2000" kern="0" spc="-73" dirty="0">
                <a:solidFill>
                  <a:sysClr val="windowText" lastClr="000000"/>
                </a:solidFill>
                <a:latin typeface="+mj-lt"/>
                <a:cs typeface="Arial Narrow"/>
              </a:rPr>
              <a:t> </a:t>
            </a:r>
            <a:r>
              <a:rPr lang="en-US" sz="2000" kern="0" spc="-47" dirty="0" err="1">
                <a:solidFill>
                  <a:sysClr val="windowText" lastClr="000000"/>
                </a:solidFill>
                <a:latin typeface="+mj-lt"/>
                <a:cs typeface="Arial Narrow"/>
              </a:rPr>
              <a:t>game.data</a:t>
            </a:r>
            <a:endParaRPr lang="en-US" sz="2000" kern="0" dirty="0">
              <a:solidFill>
                <a:sysClr val="windowText" lastClr="000000"/>
              </a:solidFill>
              <a:latin typeface="+mj-lt"/>
              <a:cs typeface="Arial Narrow"/>
            </a:endParaRPr>
          </a:p>
          <a:p>
            <a:pPr marL="397923" indent="-380990" defTabSz="1219170">
              <a:lnSpc>
                <a:spcPts val="2847"/>
              </a:lnSpc>
              <a:buFont typeface="Arial"/>
              <a:buChar char="•"/>
              <a:tabLst>
                <a:tab pos="397923" algn="l"/>
              </a:tabLst>
            </a:pPr>
            <a:r>
              <a:rPr lang="en-US" sz="2000" kern="0" spc="-327" dirty="0">
                <a:solidFill>
                  <a:sysClr val="windowText" lastClr="000000"/>
                </a:solidFill>
                <a:latin typeface="+mj-lt"/>
                <a:cs typeface="Arial Narrow"/>
              </a:rPr>
              <a:t>Game</a:t>
            </a:r>
            <a:r>
              <a:rPr lang="en-US" sz="2000" kern="0" spc="-27" dirty="0">
                <a:solidFill>
                  <a:sysClr val="windowText" lastClr="000000"/>
                </a:solidFill>
                <a:latin typeface="+mj-lt"/>
                <a:cs typeface="Arial Narrow"/>
              </a:rPr>
              <a:t> </a:t>
            </a:r>
            <a:r>
              <a:rPr lang="en-US" sz="2000" kern="0" spc="-207" dirty="0">
                <a:solidFill>
                  <a:sysClr val="windowText" lastClr="000000"/>
                </a:solidFill>
                <a:latin typeface="+mj-lt"/>
                <a:cs typeface="Arial Narrow"/>
              </a:rPr>
              <a:t>has</a:t>
            </a:r>
            <a:r>
              <a:rPr lang="en-US" sz="2000" kern="0" spc="-107" dirty="0">
                <a:solidFill>
                  <a:sysClr val="windowText" lastClr="000000"/>
                </a:solidFill>
                <a:latin typeface="+mj-lt"/>
                <a:cs typeface="Arial Narrow"/>
              </a:rPr>
              <a:t> </a:t>
            </a:r>
            <a:r>
              <a:rPr lang="en-US" sz="2000" kern="0" spc="-293" dirty="0">
                <a:solidFill>
                  <a:sysClr val="windowText" lastClr="000000"/>
                </a:solidFill>
                <a:latin typeface="+mj-lt"/>
                <a:cs typeface="Arial Narrow"/>
              </a:rPr>
              <a:t>a</a:t>
            </a:r>
            <a:r>
              <a:rPr lang="en-US" sz="2000" kern="0" spc="-73" dirty="0">
                <a:solidFill>
                  <a:sysClr val="windowText" lastClr="000000"/>
                </a:solidFill>
                <a:latin typeface="+mj-lt"/>
                <a:cs typeface="Arial Narrow"/>
              </a:rPr>
              <a:t> </a:t>
            </a:r>
            <a:r>
              <a:rPr lang="en-US" sz="2000" kern="0" spc="-160" dirty="0">
                <a:solidFill>
                  <a:sysClr val="windowText" lastClr="000000"/>
                </a:solidFill>
                <a:latin typeface="+mj-lt"/>
                <a:cs typeface="Arial Narrow"/>
              </a:rPr>
              <a:t>menu()</a:t>
            </a:r>
            <a:r>
              <a:rPr lang="en-US" sz="2000" kern="0" spc="-100" dirty="0">
                <a:solidFill>
                  <a:sysClr val="windowText" lastClr="000000"/>
                </a:solidFill>
                <a:latin typeface="+mj-lt"/>
                <a:cs typeface="Arial Narrow"/>
              </a:rPr>
              <a:t> </a:t>
            </a:r>
            <a:r>
              <a:rPr lang="en-US" sz="2000" kern="0" spc="-173" dirty="0">
                <a:solidFill>
                  <a:sysClr val="windowText" lastClr="000000"/>
                </a:solidFill>
                <a:latin typeface="+mj-lt"/>
                <a:cs typeface="Arial Narrow"/>
              </a:rPr>
              <a:t>method</a:t>
            </a:r>
            <a:r>
              <a:rPr lang="en-US" sz="2000" kern="0" spc="-73" dirty="0">
                <a:solidFill>
                  <a:sysClr val="windowText" lastClr="000000"/>
                </a:solidFill>
                <a:latin typeface="+mj-lt"/>
                <a:cs typeface="Arial Narrow"/>
              </a:rPr>
              <a:t> </a:t>
            </a:r>
            <a:r>
              <a:rPr lang="en-US" sz="2000" kern="0" spc="-127" dirty="0">
                <a:solidFill>
                  <a:sysClr val="windowText" lastClr="000000"/>
                </a:solidFill>
                <a:latin typeface="+mj-lt"/>
                <a:cs typeface="Arial Narrow"/>
              </a:rPr>
              <a:t>that</a:t>
            </a:r>
            <a:r>
              <a:rPr lang="en-US" sz="2000" kern="0" spc="-53" dirty="0">
                <a:solidFill>
                  <a:sysClr val="windowText" lastClr="000000"/>
                </a:solidFill>
                <a:latin typeface="+mj-lt"/>
                <a:cs typeface="Arial Narrow"/>
              </a:rPr>
              <a:t> </a:t>
            </a:r>
            <a:r>
              <a:rPr lang="en-US" sz="2000" kern="0" spc="-113" dirty="0">
                <a:solidFill>
                  <a:sysClr val="windowText" lastClr="000000"/>
                </a:solidFill>
                <a:latin typeface="+mj-lt"/>
                <a:cs typeface="Arial Narrow"/>
              </a:rPr>
              <a:t>offers</a:t>
            </a:r>
            <a:r>
              <a:rPr lang="en-US" sz="2000" kern="0" spc="-73" dirty="0">
                <a:solidFill>
                  <a:sysClr val="windowText" lastClr="000000"/>
                </a:solidFill>
                <a:latin typeface="+mj-lt"/>
                <a:cs typeface="Arial Narrow"/>
              </a:rPr>
              <a:t> </a:t>
            </a:r>
            <a:r>
              <a:rPr lang="en-US" sz="2000" kern="0" spc="-147" dirty="0">
                <a:solidFill>
                  <a:sysClr val="windowText" lastClr="000000"/>
                </a:solidFill>
                <a:latin typeface="+mj-lt"/>
                <a:cs typeface="Arial Narrow"/>
              </a:rPr>
              <a:t>the</a:t>
            </a:r>
            <a:r>
              <a:rPr lang="en-US" sz="2000" kern="0" spc="-67" dirty="0">
                <a:solidFill>
                  <a:sysClr val="windowText" lastClr="000000"/>
                </a:solidFill>
                <a:latin typeface="+mj-lt"/>
                <a:cs typeface="Arial Narrow"/>
              </a:rPr>
              <a:t> </a:t>
            </a:r>
            <a:r>
              <a:rPr lang="en-US" sz="2000" kern="0" spc="-100" dirty="0">
                <a:solidFill>
                  <a:sysClr val="windowText" lastClr="000000"/>
                </a:solidFill>
                <a:latin typeface="+mj-lt"/>
                <a:cs typeface="Arial Narrow"/>
              </a:rPr>
              <a:t>following</a:t>
            </a:r>
            <a:r>
              <a:rPr lang="en-US" sz="2000" kern="0" spc="-40" dirty="0">
                <a:solidFill>
                  <a:sysClr val="windowText" lastClr="000000"/>
                </a:solidFill>
                <a:latin typeface="+mj-lt"/>
                <a:cs typeface="Arial Narrow"/>
              </a:rPr>
              <a:t> </a:t>
            </a:r>
            <a:r>
              <a:rPr lang="en-US" sz="2000" kern="0" spc="-180" dirty="0">
                <a:solidFill>
                  <a:sysClr val="windowText" lastClr="000000"/>
                </a:solidFill>
                <a:latin typeface="+mj-lt"/>
                <a:cs typeface="Arial Narrow"/>
              </a:rPr>
              <a:t>choices</a:t>
            </a:r>
            <a:r>
              <a:rPr lang="en-US" sz="2000" kern="0" spc="-73" dirty="0">
                <a:solidFill>
                  <a:sysClr val="windowText" lastClr="000000"/>
                </a:solidFill>
                <a:latin typeface="+mj-lt"/>
                <a:cs typeface="Arial Narrow"/>
              </a:rPr>
              <a:t> </a:t>
            </a:r>
            <a:r>
              <a:rPr lang="en-US" sz="2000" kern="0" spc="-13" dirty="0">
                <a:solidFill>
                  <a:sysClr val="windowText" lastClr="000000"/>
                </a:solidFill>
                <a:latin typeface="+mj-lt"/>
                <a:cs typeface="Arial Narrow"/>
              </a:rPr>
              <a:t>(p/s/v/c/x)</a:t>
            </a:r>
            <a:endParaRPr lang="en-US" sz="2000" kern="0" dirty="0">
              <a:solidFill>
                <a:sysClr val="windowText" lastClr="000000"/>
              </a:solidFill>
              <a:latin typeface="+mj-lt"/>
              <a:cs typeface="Arial Narrow"/>
            </a:endParaRPr>
          </a:p>
          <a:p>
            <a:pPr marL="1236949" defTabSz="1219170">
              <a:spcBef>
                <a:spcPts val="20"/>
              </a:spcBef>
            </a:pPr>
            <a:r>
              <a:rPr lang="en-US" sz="2000" kern="0" spc="-67" dirty="0">
                <a:solidFill>
                  <a:sysClr val="windowText" lastClr="000000"/>
                </a:solidFill>
                <a:latin typeface="+mj-lt"/>
                <a:cs typeface="Arial Narrow"/>
              </a:rPr>
              <a:t>(</a:t>
            </a:r>
            <a:r>
              <a:rPr lang="en-US" sz="2000" kern="0" spc="-100" dirty="0">
                <a:solidFill>
                  <a:sysClr val="windowText" lastClr="000000"/>
                </a:solidFill>
                <a:latin typeface="+mj-lt"/>
                <a:cs typeface="Arial Narrow"/>
              </a:rPr>
              <a:t> </a:t>
            </a:r>
            <a:r>
              <a:rPr lang="en-US" sz="2000" kern="0" spc="-200" dirty="0">
                <a:solidFill>
                  <a:sysClr val="windowText" lastClr="000000"/>
                </a:solidFill>
                <a:latin typeface="+mj-lt"/>
                <a:cs typeface="Arial Narrow"/>
              </a:rPr>
              <a:t>p</a:t>
            </a:r>
            <a:r>
              <a:rPr lang="en-US" sz="2000" kern="0" spc="-93" dirty="0">
                <a:solidFill>
                  <a:sysClr val="windowText" lastClr="000000"/>
                </a:solidFill>
                <a:latin typeface="+mj-lt"/>
                <a:cs typeface="Arial Narrow"/>
              </a:rPr>
              <a:t> </a:t>
            </a:r>
            <a:r>
              <a:rPr lang="en-US" sz="2000" kern="0" dirty="0">
                <a:solidFill>
                  <a:sysClr val="windowText" lastClr="000000"/>
                </a:solidFill>
                <a:latin typeface="+mj-lt"/>
                <a:cs typeface="Arial Narrow"/>
              </a:rPr>
              <a:t>)</a:t>
            </a:r>
            <a:r>
              <a:rPr lang="en-US" sz="2000" kern="0" spc="313" dirty="0">
                <a:solidFill>
                  <a:sysClr val="windowText" lastClr="000000"/>
                </a:solidFill>
                <a:latin typeface="+mj-lt"/>
                <a:cs typeface="Arial Narrow"/>
              </a:rPr>
              <a:t> </a:t>
            </a:r>
            <a:r>
              <a:rPr lang="en-US" sz="2000" kern="0" spc="-27" dirty="0">
                <a:solidFill>
                  <a:sysClr val="windowText" lastClr="000000"/>
                </a:solidFill>
                <a:latin typeface="+mj-lt"/>
                <a:cs typeface="Arial Narrow"/>
              </a:rPr>
              <a:t>play</a:t>
            </a:r>
            <a:endParaRPr lang="en-US" sz="2000" kern="0" dirty="0">
              <a:solidFill>
                <a:sysClr val="windowText" lastClr="000000"/>
              </a:solidFill>
              <a:latin typeface="+mj-lt"/>
              <a:cs typeface="Arial Narrow"/>
            </a:endParaRPr>
          </a:p>
          <a:p>
            <a:pPr marL="1218323" marR="8330992" indent="18626" defTabSz="1219170">
              <a:lnSpc>
                <a:spcPct val="99700"/>
              </a:lnSpc>
              <a:spcBef>
                <a:spcPts val="40"/>
              </a:spcBef>
            </a:pPr>
            <a:r>
              <a:rPr lang="en-US" sz="2000" kern="0" spc="-67" dirty="0">
                <a:solidFill>
                  <a:sysClr val="windowText" lastClr="000000"/>
                </a:solidFill>
                <a:latin typeface="+mj-lt"/>
                <a:cs typeface="Arial Narrow"/>
              </a:rPr>
              <a:t>(</a:t>
            </a:r>
            <a:r>
              <a:rPr lang="en-US" sz="2000" kern="0" spc="-93" dirty="0">
                <a:solidFill>
                  <a:sysClr val="windowText" lastClr="000000"/>
                </a:solidFill>
                <a:latin typeface="+mj-lt"/>
                <a:cs typeface="Arial Narrow"/>
              </a:rPr>
              <a:t> </a:t>
            </a:r>
            <a:r>
              <a:rPr lang="en-US" sz="2000" kern="0" spc="-200" dirty="0">
                <a:solidFill>
                  <a:sysClr val="windowText" lastClr="000000"/>
                </a:solidFill>
                <a:latin typeface="+mj-lt"/>
                <a:cs typeface="Arial Narrow"/>
              </a:rPr>
              <a:t>s</a:t>
            </a:r>
            <a:r>
              <a:rPr lang="en-US" sz="2000" kern="0" spc="-100" dirty="0">
                <a:solidFill>
                  <a:sysClr val="windowText" lastClr="000000"/>
                </a:solidFill>
                <a:latin typeface="+mj-lt"/>
                <a:cs typeface="Arial Narrow"/>
              </a:rPr>
              <a:t> </a:t>
            </a:r>
            <a:r>
              <a:rPr lang="en-US" sz="2000" kern="0" dirty="0">
                <a:solidFill>
                  <a:sysClr val="windowText" lastClr="000000"/>
                </a:solidFill>
                <a:latin typeface="+mj-lt"/>
                <a:cs typeface="Arial Narrow"/>
              </a:rPr>
              <a:t>)</a:t>
            </a:r>
            <a:r>
              <a:rPr lang="en-US" sz="2000" kern="0" spc="320" dirty="0">
                <a:solidFill>
                  <a:sysClr val="windowText" lastClr="000000"/>
                </a:solidFill>
                <a:latin typeface="+mj-lt"/>
                <a:cs typeface="Arial Narrow"/>
              </a:rPr>
              <a:t> </a:t>
            </a:r>
            <a:r>
              <a:rPr lang="en-US" sz="2000" kern="0" spc="-67" dirty="0">
                <a:solidFill>
                  <a:sysClr val="windowText" lastClr="000000"/>
                </a:solidFill>
                <a:latin typeface="+mj-lt"/>
                <a:cs typeface="Arial Narrow"/>
              </a:rPr>
              <a:t>save (</a:t>
            </a:r>
            <a:r>
              <a:rPr lang="en-US" sz="2000" kern="0" spc="-100" dirty="0">
                <a:solidFill>
                  <a:sysClr val="windowText" lastClr="000000"/>
                </a:solidFill>
                <a:latin typeface="+mj-lt"/>
                <a:cs typeface="Arial Narrow"/>
              </a:rPr>
              <a:t> </a:t>
            </a:r>
            <a:r>
              <a:rPr lang="en-US" sz="2000" kern="0" spc="-207" dirty="0">
                <a:solidFill>
                  <a:sysClr val="windowText" lastClr="000000"/>
                </a:solidFill>
                <a:latin typeface="+mj-lt"/>
                <a:cs typeface="Arial Narrow"/>
              </a:rPr>
              <a:t>v</a:t>
            </a:r>
            <a:r>
              <a:rPr lang="en-US" sz="2000" kern="0" spc="-100" dirty="0">
                <a:solidFill>
                  <a:sysClr val="windowText" lastClr="000000"/>
                </a:solidFill>
                <a:latin typeface="+mj-lt"/>
                <a:cs typeface="Arial Narrow"/>
              </a:rPr>
              <a:t> </a:t>
            </a:r>
            <a:r>
              <a:rPr lang="en-US" sz="2000" kern="0" dirty="0">
                <a:solidFill>
                  <a:sysClr val="windowText" lastClr="000000"/>
                </a:solidFill>
                <a:latin typeface="+mj-lt"/>
                <a:cs typeface="Arial Narrow"/>
              </a:rPr>
              <a:t>)</a:t>
            </a:r>
            <a:r>
              <a:rPr lang="en-US" sz="2000" kern="0" spc="305" dirty="0">
                <a:solidFill>
                  <a:sysClr val="windowText" lastClr="000000"/>
                </a:solidFill>
                <a:latin typeface="+mj-lt"/>
                <a:cs typeface="Arial Narrow"/>
              </a:rPr>
              <a:t> </a:t>
            </a:r>
            <a:r>
              <a:rPr lang="en-US" sz="2000" kern="0" spc="-133" dirty="0">
                <a:solidFill>
                  <a:sysClr val="windowText" lastClr="000000"/>
                </a:solidFill>
                <a:latin typeface="+mj-lt"/>
                <a:cs typeface="Arial Narrow"/>
              </a:rPr>
              <a:t>show </a:t>
            </a:r>
            <a:r>
              <a:rPr lang="en-US" sz="2000" kern="0" spc="-67" dirty="0">
                <a:solidFill>
                  <a:sysClr val="windowText" lastClr="000000"/>
                </a:solidFill>
                <a:latin typeface="+mj-lt"/>
                <a:cs typeface="Arial Narrow"/>
              </a:rPr>
              <a:t>(</a:t>
            </a:r>
            <a:r>
              <a:rPr lang="en-US" sz="2000" kern="0" spc="-100" dirty="0">
                <a:solidFill>
                  <a:sysClr val="windowText" lastClr="000000"/>
                </a:solidFill>
                <a:latin typeface="+mj-lt"/>
                <a:cs typeface="Arial Narrow"/>
              </a:rPr>
              <a:t> </a:t>
            </a:r>
            <a:r>
              <a:rPr lang="en-US" sz="2000" kern="0" spc="-247" dirty="0">
                <a:solidFill>
                  <a:sysClr val="windowText" lastClr="000000"/>
                </a:solidFill>
                <a:latin typeface="+mj-lt"/>
                <a:cs typeface="Arial Narrow"/>
              </a:rPr>
              <a:t>c</a:t>
            </a:r>
            <a:r>
              <a:rPr lang="en-US" sz="2000" kern="0" spc="-100" dirty="0">
                <a:solidFill>
                  <a:sysClr val="windowText" lastClr="000000"/>
                </a:solidFill>
                <a:latin typeface="+mj-lt"/>
                <a:cs typeface="Arial Narrow"/>
              </a:rPr>
              <a:t> </a:t>
            </a:r>
            <a:r>
              <a:rPr lang="en-US" sz="2000" kern="0" dirty="0">
                <a:solidFill>
                  <a:sysClr val="windowText" lastClr="000000"/>
                </a:solidFill>
                <a:latin typeface="+mj-lt"/>
                <a:cs typeface="Arial Narrow"/>
              </a:rPr>
              <a:t>)</a:t>
            </a:r>
            <a:r>
              <a:rPr lang="en-US" sz="2000" kern="0" spc="320" dirty="0">
                <a:solidFill>
                  <a:sysClr val="windowText" lastClr="000000"/>
                </a:solidFill>
                <a:latin typeface="+mj-lt"/>
                <a:cs typeface="Arial Narrow"/>
              </a:rPr>
              <a:t> </a:t>
            </a:r>
            <a:r>
              <a:rPr lang="en-US" sz="2000" kern="0" spc="-40" dirty="0">
                <a:solidFill>
                  <a:sysClr val="windowText" lastClr="000000"/>
                </a:solidFill>
                <a:latin typeface="+mj-lt"/>
                <a:cs typeface="Arial Narrow"/>
              </a:rPr>
              <a:t>clear </a:t>
            </a:r>
            <a:r>
              <a:rPr lang="en-US" sz="2000" kern="0" spc="-67" dirty="0">
                <a:solidFill>
                  <a:sysClr val="windowText" lastClr="000000"/>
                </a:solidFill>
                <a:latin typeface="+mj-lt"/>
                <a:cs typeface="Arial Narrow"/>
              </a:rPr>
              <a:t>(</a:t>
            </a:r>
            <a:r>
              <a:rPr lang="en-US" sz="2000" kern="0" spc="-93" dirty="0">
                <a:solidFill>
                  <a:sysClr val="windowText" lastClr="000000"/>
                </a:solidFill>
                <a:latin typeface="+mj-lt"/>
                <a:cs typeface="Arial Narrow"/>
              </a:rPr>
              <a:t> </a:t>
            </a:r>
            <a:r>
              <a:rPr lang="en-US" sz="2000" kern="0" spc="-233" dirty="0">
                <a:solidFill>
                  <a:sysClr val="windowText" lastClr="000000"/>
                </a:solidFill>
                <a:latin typeface="+mj-lt"/>
                <a:cs typeface="Arial Narrow"/>
              </a:rPr>
              <a:t>x</a:t>
            </a:r>
            <a:r>
              <a:rPr lang="en-US" sz="2000" kern="0" spc="-93" dirty="0">
                <a:solidFill>
                  <a:sysClr val="windowText" lastClr="000000"/>
                </a:solidFill>
                <a:latin typeface="+mj-lt"/>
                <a:cs typeface="Arial Narrow"/>
              </a:rPr>
              <a:t> </a:t>
            </a:r>
            <a:r>
              <a:rPr lang="en-US" sz="2000" kern="0" dirty="0">
                <a:solidFill>
                  <a:sysClr val="windowText" lastClr="000000"/>
                </a:solidFill>
                <a:latin typeface="+mj-lt"/>
                <a:cs typeface="Arial Narrow"/>
              </a:rPr>
              <a:t>)</a:t>
            </a:r>
            <a:r>
              <a:rPr lang="en-US" sz="2000" kern="0" spc="313" dirty="0">
                <a:solidFill>
                  <a:sysClr val="windowText" lastClr="000000"/>
                </a:solidFill>
                <a:latin typeface="+mj-lt"/>
                <a:cs typeface="Arial Narrow"/>
              </a:rPr>
              <a:t> </a:t>
            </a:r>
            <a:r>
              <a:rPr lang="en-US" sz="2000" kern="0" spc="-27" dirty="0">
                <a:solidFill>
                  <a:sysClr val="windowText" lastClr="000000"/>
                </a:solidFill>
                <a:latin typeface="+mj-lt"/>
                <a:cs typeface="Arial Narrow"/>
              </a:rPr>
              <a:t>exit</a:t>
            </a:r>
            <a:endParaRPr lang="en-US" sz="2000" kern="0" dirty="0">
              <a:solidFill>
                <a:sysClr val="windowText" lastClr="000000"/>
              </a:solidFill>
              <a:latin typeface="+mj-lt"/>
              <a:cs typeface="Arial Narrow"/>
            </a:endParaRPr>
          </a:p>
          <a:p>
            <a:pPr marL="397923" indent="-380990" defTabSz="1219170">
              <a:spcBef>
                <a:spcPts val="20"/>
              </a:spcBef>
              <a:buFont typeface="Arial"/>
              <a:buChar char="•"/>
              <a:tabLst>
                <a:tab pos="397923" algn="l"/>
              </a:tabLst>
            </a:pPr>
            <a:r>
              <a:rPr lang="en-US" sz="2000" kern="0" spc="-327" dirty="0">
                <a:solidFill>
                  <a:sysClr val="windowText" lastClr="000000"/>
                </a:solidFill>
                <a:latin typeface="+mj-lt"/>
                <a:cs typeface="Arial Narrow"/>
              </a:rPr>
              <a:t>Game</a:t>
            </a:r>
            <a:r>
              <a:rPr lang="en-US" sz="2000" kern="0" spc="-27" dirty="0">
                <a:solidFill>
                  <a:sysClr val="windowText" lastClr="000000"/>
                </a:solidFill>
                <a:latin typeface="+mj-lt"/>
                <a:cs typeface="Arial Narrow"/>
              </a:rPr>
              <a:t> </a:t>
            </a:r>
            <a:r>
              <a:rPr lang="en-US" sz="2000" kern="0" spc="-213" dirty="0">
                <a:solidFill>
                  <a:sysClr val="windowText" lastClr="000000"/>
                </a:solidFill>
                <a:latin typeface="+mj-lt"/>
                <a:cs typeface="Arial Narrow"/>
              </a:rPr>
              <a:t>has</a:t>
            </a:r>
            <a:r>
              <a:rPr lang="en-US" sz="2000" kern="0" spc="-107" dirty="0">
                <a:solidFill>
                  <a:sysClr val="windowText" lastClr="000000"/>
                </a:solidFill>
                <a:latin typeface="+mj-lt"/>
                <a:cs typeface="Arial Narrow"/>
              </a:rPr>
              <a:t> </a:t>
            </a:r>
            <a:r>
              <a:rPr lang="en-US" sz="2000" kern="0" spc="-293" dirty="0">
                <a:solidFill>
                  <a:sysClr val="windowText" lastClr="000000"/>
                </a:solidFill>
                <a:latin typeface="+mj-lt"/>
                <a:cs typeface="Arial Narrow"/>
              </a:rPr>
              <a:t>a</a:t>
            </a:r>
            <a:r>
              <a:rPr lang="en-US" sz="2000" kern="0" spc="-67" dirty="0">
                <a:solidFill>
                  <a:sysClr val="windowText" lastClr="000000"/>
                </a:solidFill>
                <a:latin typeface="+mj-lt"/>
                <a:cs typeface="Arial Narrow"/>
              </a:rPr>
              <a:t> </a:t>
            </a:r>
            <a:r>
              <a:rPr lang="en-US" sz="2000" kern="0" spc="-120" dirty="0">
                <a:solidFill>
                  <a:sysClr val="windowText" lastClr="000000"/>
                </a:solidFill>
                <a:latin typeface="+mj-lt"/>
                <a:cs typeface="Arial Narrow"/>
              </a:rPr>
              <a:t>help()</a:t>
            </a:r>
            <a:r>
              <a:rPr lang="en-US" sz="2000" kern="0" spc="-113" dirty="0">
                <a:solidFill>
                  <a:sysClr val="windowText" lastClr="000000"/>
                </a:solidFill>
                <a:latin typeface="+mj-lt"/>
                <a:cs typeface="Arial Narrow"/>
              </a:rPr>
              <a:t> </a:t>
            </a:r>
            <a:r>
              <a:rPr lang="en-US" sz="2000" kern="0" spc="-173" dirty="0">
                <a:solidFill>
                  <a:sysClr val="windowText" lastClr="000000"/>
                </a:solidFill>
                <a:latin typeface="+mj-lt"/>
                <a:cs typeface="Arial Narrow"/>
              </a:rPr>
              <a:t>method</a:t>
            </a:r>
            <a:r>
              <a:rPr lang="en-US" sz="2000" kern="0" spc="-73" dirty="0">
                <a:solidFill>
                  <a:sysClr val="windowText" lastClr="000000"/>
                </a:solidFill>
                <a:latin typeface="+mj-lt"/>
                <a:cs typeface="Arial Narrow"/>
              </a:rPr>
              <a:t> </a:t>
            </a:r>
            <a:r>
              <a:rPr lang="en-US" sz="2000" kern="0" spc="-93" dirty="0">
                <a:solidFill>
                  <a:sysClr val="windowText" lastClr="000000"/>
                </a:solidFill>
                <a:latin typeface="+mj-lt"/>
                <a:cs typeface="Arial Narrow"/>
              </a:rPr>
              <a:t>to</a:t>
            </a:r>
            <a:r>
              <a:rPr lang="en-US" sz="2000" kern="0" spc="-113" dirty="0">
                <a:solidFill>
                  <a:sysClr val="windowText" lastClr="000000"/>
                </a:solidFill>
                <a:latin typeface="+mj-lt"/>
                <a:cs typeface="Arial Narrow"/>
              </a:rPr>
              <a:t> </a:t>
            </a:r>
            <a:r>
              <a:rPr lang="en-US" sz="2000" kern="0" spc="-173" dirty="0">
                <a:solidFill>
                  <a:sysClr val="windowText" lastClr="000000"/>
                </a:solidFill>
                <a:latin typeface="+mj-lt"/>
                <a:cs typeface="Arial Narrow"/>
              </a:rPr>
              <a:t>show</a:t>
            </a:r>
            <a:r>
              <a:rPr lang="en-US" sz="2000" kern="0" spc="-120" dirty="0">
                <a:solidFill>
                  <a:sysClr val="windowText" lastClr="000000"/>
                </a:solidFill>
                <a:latin typeface="+mj-lt"/>
                <a:cs typeface="Arial Narrow"/>
              </a:rPr>
              <a:t> </a:t>
            </a:r>
            <a:r>
              <a:rPr lang="en-US" sz="2000" kern="0" spc="-152" dirty="0">
                <a:solidFill>
                  <a:sysClr val="windowText" lastClr="000000"/>
                </a:solidFill>
                <a:latin typeface="+mj-lt"/>
                <a:cs typeface="Arial Narrow"/>
              </a:rPr>
              <a:t>the</a:t>
            </a:r>
            <a:r>
              <a:rPr lang="en-US" sz="2000" kern="0" spc="-60" dirty="0">
                <a:solidFill>
                  <a:sysClr val="windowText" lastClr="000000"/>
                </a:solidFill>
                <a:latin typeface="+mj-lt"/>
                <a:cs typeface="Arial Narrow"/>
              </a:rPr>
              <a:t> </a:t>
            </a:r>
            <a:r>
              <a:rPr lang="en-US" sz="2000" kern="0" spc="-180" dirty="0">
                <a:solidFill>
                  <a:sysClr val="windowText" lastClr="000000"/>
                </a:solidFill>
                <a:latin typeface="+mj-lt"/>
                <a:cs typeface="Arial Narrow"/>
              </a:rPr>
              <a:t>choices</a:t>
            </a:r>
            <a:r>
              <a:rPr lang="en-US" sz="2000" kern="0" spc="-73" dirty="0">
                <a:solidFill>
                  <a:sysClr val="windowText" lastClr="000000"/>
                </a:solidFill>
                <a:latin typeface="+mj-lt"/>
                <a:cs typeface="Arial Narrow"/>
              </a:rPr>
              <a:t> </a:t>
            </a:r>
            <a:r>
              <a:rPr lang="en-US" sz="2000" kern="0" spc="-213" dirty="0">
                <a:solidFill>
                  <a:sysClr val="windowText" lastClr="000000"/>
                </a:solidFill>
                <a:latin typeface="+mj-lt"/>
                <a:cs typeface="Arial Narrow"/>
              </a:rPr>
              <a:t>and</a:t>
            </a:r>
            <a:r>
              <a:rPr lang="en-US" sz="2000" kern="0" spc="-120" dirty="0">
                <a:solidFill>
                  <a:sysClr val="windowText" lastClr="000000"/>
                </a:solidFill>
                <a:latin typeface="+mj-lt"/>
                <a:cs typeface="Arial Narrow"/>
              </a:rPr>
              <a:t> </a:t>
            </a:r>
            <a:r>
              <a:rPr lang="en-US" sz="2000" kern="0" spc="-152" dirty="0">
                <a:solidFill>
                  <a:sysClr val="windowText" lastClr="000000"/>
                </a:solidFill>
                <a:latin typeface="+mj-lt"/>
                <a:cs typeface="Arial Narrow"/>
              </a:rPr>
              <a:t>the</a:t>
            </a:r>
            <a:r>
              <a:rPr lang="en-US" sz="2000" kern="0" spc="-60" dirty="0">
                <a:solidFill>
                  <a:sysClr val="windowText" lastClr="000000"/>
                </a:solidFill>
                <a:latin typeface="+mj-lt"/>
                <a:cs typeface="Arial Narrow"/>
              </a:rPr>
              <a:t> </a:t>
            </a:r>
            <a:r>
              <a:rPr lang="en-US" sz="2000" kern="0" spc="-207" dirty="0">
                <a:solidFill>
                  <a:sysClr val="windowText" lastClr="000000"/>
                </a:solidFill>
                <a:latin typeface="+mj-lt"/>
                <a:cs typeface="Arial Narrow"/>
              </a:rPr>
              <a:t>read</a:t>
            </a:r>
            <a:r>
              <a:rPr lang="en-US" sz="2000" kern="0" spc="-53" dirty="0">
                <a:solidFill>
                  <a:sysClr val="windowText" lastClr="000000"/>
                </a:solidFill>
                <a:latin typeface="+mj-lt"/>
                <a:cs typeface="Arial Narrow"/>
              </a:rPr>
              <a:t> </a:t>
            </a:r>
            <a:r>
              <a:rPr lang="en-US" sz="2000" kern="0" spc="-120" dirty="0">
                <a:solidFill>
                  <a:sysClr val="windowText" lastClr="000000"/>
                </a:solidFill>
                <a:latin typeface="+mj-lt"/>
                <a:cs typeface="Arial Narrow"/>
              </a:rPr>
              <a:t>function</a:t>
            </a:r>
            <a:r>
              <a:rPr lang="en-US" sz="2000" kern="0" spc="-73" dirty="0">
                <a:solidFill>
                  <a:sysClr val="windowText" lastClr="000000"/>
                </a:solidFill>
                <a:latin typeface="+mj-lt"/>
                <a:cs typeface="Arial Narrow"/>
              </a:rPr>
              <a:t> </a:t>
            </a:r>
            <a:r>
              <a:rPr lang="en-US" sz="2000" kern="0" spc="-93" dirty="0">
                <a:solidFill>
                  <a:sysClr val="windowText" lastClr="000000"/>
                </a:solidFill>
                <a:latin typeface="+mj-lt"/>
                <a:cs typeface="Arial Narrow"/>
              </a:rPr>
              <a:t>to</a:t>
            </a:r>
            <a:r>
              <a:rPr lang="en-US" sz="2000" kern="0" spc="-127" dirty="0">
                <a:solidFill>
                  <a:sysClr val="windowText" lastClr="000000"/>
                </a:solidFill>
                <a:latin typeface="+mj-lt"/>
                <a:cs typeface="Arial Narrow"/>
              </a:rPr>
              <a:t> </a:t>
            </a:r>
            <a:r>
              <a:rPr lang="en-US" sz="2000" kern="0" spc="-193" dirty="0">
                <a:solidFill>
                  <a:sysClr val="windowText" lastClr="000000"/>
                </a:solidFill>
                <a:latin typeface="+mj-lt"/>
                <a:cs typeface="Arial Narrow"/>
              </a:rPr>
              <a:t>read</a:t>
            </a:r>
            <a:r>
              <a:rPr lang="en-US" sz="2000" kern="0" spc="-67" dirty="0">
                <a:solidFill>
                  <a:sysClr val="windowText" lastClr="000000"/>
                </a:solidFill>
                <a:latin typeface="+mj-lt"/>
                <a:cs typeface="Arial Narrow"/>
              </a:rPr>
              <a:t> </a:t>
            </a:r>
            <a:r>
              <a:rPr lang="en-US" sz="2000" kern="0" spc="-147" dirty="0">
                <a:solidFill>
                  <a:sysClr val="windowText" lastClr="000000"/>
                </a:solidFill>
                <a:latin typeface="+mj-lt"/>
                <a:cs typeface="Arial Narrow"/>
              </a:rPr>
              <a:t>the</a:t>
            </a:r>
            <a:r>
              <a:rPr lang="en-US" sz="2000" kern="0" spc="-67" dirty="0">
                <a:solidFill>
                  <a:sysClr val="windowText" lastClr="000000"/>
                </a:solidFill>
                <a:latin typeface="+mj-lt"/>
                <a:cs typeface="Arial Narrow"/>
              </a:rPr>
              <a:t> </a:t>
            </a:r>
            <a:r>
              <a:rPr lang="en-US" sz="2000" kern="0" spc="-13" dirty="0">
                <a:solidFill>
                  <a:sysClr val="windowText" lastClr="000000"/>
                </a:solidFill>
                <a:latin typeface="+mj-lt"/>
                <a:cs typeface="Arial Narrow"/>
              </a:rPr>
              <a:t>choices</a:t>
            </a:r>
            <a:endParaRPr lang="en-US" sz="2000" kern="0" dirty="0">
              <a:solidFill>
                <a:sysClr val="windowText" lastClr="000000"/>
              </a:solidFill>
              <a:latin typeface="+mj-lt"/>
              <a:cs typeface="Arial Narrow"/>
            </a:endParaRPr>
          </a:p>
          <a:p>
            <a:pPr marL="397923" indent="-380990" defTabSz="1219170">
              <a:spcBef>
                <a:spcPts val="27"/>
              </a:spcBef>
              <a:buFont typeface="Arial"/>
              <a:buChar char="•"/>
              <a:tabLst>
                <a:tab pos="397923" algn="l"/>
              </a:tabLst>
            </a:pPr>
            <a:r>
              <a:rPr lang="en-US" sz="2000" kern="0" spc="-327" dirty="0">
                <a:solidFill>
                  <a:sysClr val="windowText" lastClr="000000"/>
                </a:solidFill>
                <a:latin typeface="+mj-lt"/>
                <a:cs typeface="Arial Narrow"/>
              </a:rPr>
              <a:t>Game</a:t>
            </a:r>
            <a:r>
              <a:rPr lang="en-US" sz="2000" kern="0" spc="-27" dirty="0">
                <a:solidFill>
                  <a:sysClr val="windowText" lastClr="000000"/>
                </a:solidFill>
                <a:latin typeface="+mj-lt"/>
                <a:cs typeface="Arial Narrow"/>
              </a:rPr>
              <a:t> </a:t>
            </a:r>
            <a:r>
              <a:rPr lang="en-US" sz="2000" kern="0" spc="-207" dirty="0">
                <a:solidFill>
                  <a:sysClr val="windowText" lastClr="000000"/>
                </a:solidFill>
                <a:latin typeface="+mj-lt"/>
                <a:cs typeface="Arial Narrow"/>
              </a:rPr>
              <a:t>has</a:t>
            </a:r>
            <a:r>
              <a:rPr lang="en-US" sz="2000" kern="0" spc="-100" dirty="0">
                <a:solidFill>
                  <a:sysClr val="windowText" lastClr="000000"/>
                </a:solidFill>
                <a:latin typeface="+mj-lt"/>
                <a:cs typeface="Arial Narrow"/>
              </a:rPr>
              <a:t> </a:t>
            </a:r>
            <a:r>
              <a:rPr lang="en-US" sz="2000" kern="0" spc="-147" dirty="0">
                <a:solidFill>
                  <a:sysClr val="windowText" lastClr="000000"/>
                </a:solidFill>
                <a:latin typeface="+mj-lt"/>
                <a:cs typeface="Arial Narrow"/>
              </a:rPr>
              <a:t>the</a:t>
            </a:r>
            <a:r>
              <a:rPr lang="en-US" sz="2000" kern="0" spc="-67" dirty="0">
                <a:solidFill>
                  <a:sysClr val="windowText" lastClr="000000"/>
                </a:solidFill>
                <a:latin typeface="+mj-lt"/>
                <a:cs typeface="Arial Narrow"/>
              </a:rPr>
              <a:t> </a:t>
            </a:r>
            <a:r>
              <a:rPr lang="en-US" sz="2000" kern="0" spc="-127" dirty="0">
                <a:solidFill>
                  <a:sysClr val="windowText" lastClr="000000"/>
                </a:solidFill>
                <a:latin typeface="+mj-lt"/>
                <a:cs typeface="Arial Narrow"/>
              </a:rPr>
              <a:t>main()</a:t>
            </a:r>
            <a:r>
              <a:rPr lang="en-US" sz="2000" kern="0" spc="-73" dirty="0">
                <a:solidFill>
                  <a:sysClr val="windowText" lastClr="000000"/>
                </a:solidFill>
                <a:latin typeface="+mj-lt"/>
                <a:cs typeface="Arial Narrow"/>
              </a:rPr>
              <a:t> </a:t>
            </a:r>
            <a:r>
              <a:rPr lang="en-US" sz="2000" kern="0" spc="-173" dirty="0">
                <a:solidFill>
                  <a:sysClr val="windowText" lastClr="000000"/>
                </a:solidFill>
                <a:latin typeface="+mj-lt"/>
                <a:cs typeface="Arial Narrow"/>
              </a:rPr>
              <a:t>method</a:t>
            </a:r>
            <a:r>
              <a:rPr lang="en-US" sz="2000" kern="0" spc="-67" dirty="0">
                <a:solidFill>
                  <a:sysClr val="windowText" lastClr="000000"/>
                </a:solidFill>
                <a:latin typeface="+mj-lt"/>
                <a:cs typeface="Arial Narrow"/>
              </a:rPr>
              <a:t> </a:t>
            </a:r>
            <a:r>
              <a:rPr lang="en-US" sz="2000" kern="0" spc="-127" dirty="0">
                <a:solidFill>
                  <a:sysClr val="windowText" lastClr="000000"/>
                </a:solidFill>
                <a:latin typeface="+mj-lt"/>
                <a:cs typeface="Arial Narrow"/>
              </a:rPr>
              <a:t>that</a:t>
            </a:r>
            <a:r>
              <a:rPr lang="en-US" sz="2000" kern="0" spc="-47" dirty="0">
                <a:solidFill>
                  <a:sysClr val="windowText" lastClr="000000"/>
                </a:solidFill>
                <a:latin typeface="+mj-lt"/>
                <a:cs typeface="Arial Narrow"/>
              </a:rPr>
              <a:t> </a:t>
            </a:r>
            <a:r>
              <a:rPr lang="en-US" sz="2000" kern="0" spc="-167" dirty="0">
                <a:solidFill>
                  <a:sysClr val="windowText" lastClr="000000"/>
                </a:solidFill>
                <a:latin typeface="+mj-lt"/>
                <a:cs typeface="Arial Narrow"/>
              </a:rPr>
              <a:t>invokes</a:t>
            </a:r>
            <a:r>
              <a:rPr lang="en-US" sz="2000" kern="0" spc="-53" dirty="0">
                <a:solidFill>
                  <a:sysClr val="windowText" lastClr="000000"/>
                </a:solidFill>
                <a:latin typeface="+mj-lt"/>
                <a:cs typeface="Arial Narrow"/>
              </a:rPr>
              <a:t> </a:t>
            </a:r>
            <a:r>
              <a:rPr lang="en-US" sz="2000" kern="0" spc="-147" dirty="0">
                <a:solidFill>
                  <a:sysClr val="windowText" lastClr="000000"/>
                </a:solidFill>
                <a:latin typeface="+mj-lt"/>
                <a:cs typeface="Arial Narrow"/>
              </a:rPr>
              <a:t>the</a:t>
            </a:r>
            <a:r>
              <a:rPr lang="en-US" sz="2000" kern="0" spc="-53" dirty="0">
                <a:solidFill>
                  <a:sysClr val="windowText" lastClr="000000"/>
                </a:solidFill>
                <a:latin typeface="+mj-lt"/>
                <a:cs typeface="Arial Narrow"/>
              </a:rPr>
              <a:t> </a:t>
            </a:r>
            <a:r>
              <a:rPr lang="en-US" sz="2000" kern="0" spc="-180" dirty="0">
                <a:solidFill>
                  <a:sysClr val="windowText" lastClr="000000"/>
                </a:solidFill>
                <a:latin typeface="+mj-lt"/>
                <a:cs typeface="Arial Narrow"/>
              </a:rPr>
              <a:t>system</a:t>
            </a:r>
            <a:r>
              <a:rPr lang="en-US" sz="2000" kern="0" spc="-100" dirty="0">
                <a:solidFill>
                  <a:sysClr val="windowText" lastClr="000000"/>
                </a:solidFill>
                <a:latin typeface="+mj-lt"/>
                <a:cs typeface="Arial Narrow"/>
              </a:rPr>
              <a:t> </a:t>
            </a:r>
            <a:r>
              <a:rPr lang="en-US" sz="2000" kern="0" spc="-13" dirty="0">
                <a:solidFill>
                  <a:sysClr val="windowText" lastClr="000000"/>
                </a:solidFill>
                <a:latin typeface="+mj-lt"/>
                <a:cs typeface="Arial Narrow"/>
              </a:rPr>
              <a:t>menu()</a:t>
            </a:r>
            <a:endParaRPr lang="en-US" sz="2000" kern="0" dirty="0">
              <a:solidFill>
                <a:sysClr val="windowText" lastClr="000000"/>
              </a:solidFill>
              <a:latin typeface="+mj-lt"/>
              <a:cs typeface="Arial Narro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37397" y="63077"/>
            <a:ext cx="4911513" cy="925104"/>
          </a:xfrm>
          <a:prstGeom prst="rect">
            <a:avLst/>
          </a:prstGeom>
        </p:spPr>
        <p:txBody>
          <a:bodyPr vert="horz" wrap="square" lIns="0" tIns="22013" rIns="0" bIns="0" rtlCol="0">
            <a:spAutoFit/>
          </a:bodyPr>
          <a:lstStyle/>
          <a:p>
            <a:pPr marL="16933">
              <a:spcBef>
                <a:spcPts val="173"/>
              </a:spcBef>
            </a:pPr>
            <a:r>
              <a:rPr sz="5267" spc="-493" dirty="0"/>
              <a:t>Lab</a:t>
            </a:r>
            <a:r>
              <a:rPr sz="5267" spc="-193" dirty="0"/>
              <a:t> </a:t>
            </a:r>
            <a:r>
              <a:rPr sz="5267" spc="-240" dirty="0"/>
              <a:t>9</a:t>
            </a:r>
            <a:r>
              <a:rPr sz="5267" spc="-220" dirty="0"/>
              <a:t> </a:t>
            </a:r>
            <a:r>
              <a:rPr sz="5867" dirty="0">
                <a:latin typeface="Arial"/>
                <a:cs typeface="Arial"/>
              </a:rPr>
              <a:t>–</a:t>
            </a:r>
            <a:r>
              <a:rPr sz="5867" spc="-7" dirty="0">
                <a:latin typeface="Arial"/>
                <a:cs typeface="Arial"/>
              </a:rPr>
              <a:t> </a:t>
            </a:r>
            <a:r>
              <a:rPr sz="5267" spc="-420" dirty="0"/>
              <a:t>Lab9Exercise3</a:t>
            </a:r>
            <a:endParaRPr sz="5267">
              <a:latin typeface="Arial"/>
              <a:cs typeface="Arial"/>
            </a:endParaRPr>
          </a:p>
        </p:txBody>
      </p:sp>
      <p:sp>
        <p:nvSpPr>
          <p:cNvPr id="3" name="object 3"/>
          <p:cNvSpPr txBox="1">
            <a:spLocks noGrp="1"/>
          </p:cNvSpPr>
          <p:nvPr>
            <p:ph type="body" idx="1"/>
          </p:nvPr>
        </p:nvSpPr>
        <p:spPr>
          <a:xfrm>
            <a:off x="682413" y="1590041"/>
            <a:ext cx="13516187" cy="3830963"/>
          </a:xfrm>
          <a:prstGeom prst="rect">
            <a:avLst/>
          </a:prstGeom>
        </p:spPr>
        <p:txBody>
          <a:bodyPr vert="horz" wrap="square" lIns="0" tIns="16933" rIns="0" bIns="0" rtlCol="0">
            <a:spAutoFit/>
          </a:bodyPr>
          <a:lstStyle/>
          <a:p>
            <a:pPr marL="16933">
              <a:spcBef>
                <a:spcPts val="133"/>
              </a:spcBef>
            </a:pPr>
            <a:r>
              <a:rPr spc="-200" dirty="0">
                <a:latin typeface="+mj-lt"/>
              </a:rPr>
              <a:t>Develop</a:t>
            </a:r>
            <a:r>
              <a:rPr spc="-113" dirty="0">
                <a:latin typeface="+mj-lt"/>
              </a:rPr>
              <a:t> </a:t>
            </a:r>
            <a:r>
              <a:rPr spc="-147" dirty="0">
                <a:latin typeface="+mj-lt"/>
              </a:rPr>
              <a:t>the</a:t>
            </a:r>
            <a:r>
              <a:rPr spc="-60" dirty="0">
                <a:latin typeface="+mj-lt"/>
              </a:rPr>
              <a:t> </a:t>
            </a:r>
            <a:r>
              <a:rPr spc="-152" dirty="0">
                <a:latin typeface="+mj-lt"/>
              </a:rPr>
              <a:t>program</a:t>
            </a:r>
            <a:r>
              <a:rPr spc="-60" dirty="0">
                <a:latin typeface="+mj-lt"/>
              </a:rPr>
              <a:t> </a:t>
            </a:r>
            <a:r>
              <a:rPr b="1" spc="-213" dirty="0">
                <a:latin typeface="+mj-lt"/>
              </a:rPr>
              <a:t>Lab9Exercise3</a:t>
            </a:r>
            <a:r>
              <a:rPr b="1" spc="-60" dirty="0">
                <a:latin typeface="+mj-lt"/>
              </a:rPr>
              <a:t> </a:t>
            </a:r>
            <a:r>
              <a:rPr spc="-213" dirty="0">
                <a:latin typeface="+mj-lt"/>
              </a:rPr>
              <a:t>(The</a:t>
            </a:r>
            <a:r>
              <a:rPr spc="-107" dirty="0">
                <a:latin typeface="+mj-lt"/>
              </a:rPr>
              <a:t> </a:t>
            </a:r>
            <a:r>
              <a:rPr spc="-180" dirty="0">
                <a:latin typeface="+mj-lt"/>
              </a:rPr>
              <a:t>Student</a:t>
            </a:r>
            <a:r>
              <a:rPr spc="-60" dirty="0">
                <a:latin typeface="+mj-lt"/>
              </a:rPr>
              <a:t> </a:t>
            </a:r>
            <a:r>
              <a:rPr spc="-160" dirty="0">
                <a:latin typeface="+mj-lt"/>
              </a:rPr>
              <a:t>Program)</a:t>
            </a:r>
            <a:r>
              <a:rPr spc="-27" dirty="0">
                <a:latin typeface="+mj-lt"/>
              </a:rPr>
              <a:t> </a:t>
            </a:r>
            <a:r>
              <a:rPr spc="-60" dirty="0">
                <a:latin typeface="+mj-lt"/>
              </a:rPr>
              <a:t>in</a:t>
            </a:r>
            <a:r>
              <a:rPr spc="-87" dirty="0">
                <a:latin typeface="+mj-lt"/>
              </a:rPr>
              <a:t> </a:t>
            </a:r>
            <a:r>
              <a:rPr spc="-167" dirty="0">
                <a:latin typeface="+mj-lt"/>
              </a:rPr>
              <a:t>Python</a:t>
            </a:r>
            <a:r>
              <a:rPr spc="-87" dirty="0">
                <a:latin typeface="+mj-lt"/>
              </a:rPr>
              <a:t> </a:t>
            </a:r>
            <a:r>
              <a:rPr spc="-100" dirty="0">
                <a:latin typeface="+mj-lt"/>
              </a:rPr>
              <a:t>following</a:t>
            </a:r>
            <a:r>
              <a:rPr spc="-27" dirty="0">
                <a:latin typeface="+mj-lt"/>
              </a:rPr>
              <a:t> </a:t>
            </a:r>
            <a:r>
              <a:rPr spc="-147" dirty="0">
                <a:latin typeface="+mj-lt"/>
              </a:rPr>
              <a:t>the</a:t>
            </a:r>
            <a:r>
              <a:rPr spc="-53" dirty="0">
                <a:latin typeface="+mj-lt"/>
              </a:rPr>
              <a:t> </a:t>
            </a:r>
            <a:r>
              <a:rPr spc="-167" dirty="0">
                <a:latin typeface="+mj-lt"/>
              </a:rPr>
              <a:t>below</a:t>
            </a:r>
            <a:r>
              <a:rPr spc="-67" dirty="0">
                <a:latin typeface="+mj-lt"/>
              </a:rPr>
              <a:t> </a:t>
            </a:r>
            <a:r>
              <a:rPr spc="-133" dirty="0">
                <a:latin typeface="+mj-lt"/>
              </a:rPr>
              <a:t>2</a:t>
            </a:r>
            <a:r>
              <a:rPr spc="-60" dirty="0">
                <a:latin typeface="+mj-lt"/>
              </a:rPr>
              <a:t> </a:t>
            </a:r>
            <a:r>
              <a:rPr spc="-13" dirty="0">
                <a:latin typeface="+mj-lt"/>
              </a:rPr>
              <a:t>steps:</a:t>
            </a:r>
          </a:p>
          <a:p>
            <a:pPr>
              <a:spcBef>
                <a:spcPts val="73"/>
              </a:spcBef>
            </a:pPr>
            <a:endParaRPr spc="-13" dirty="0">
              <a:latin typeface="+mj-lt"/>
            </a:endParaRPr>
          </a:p>
          <a:p>
            <a:pPr marL="16933">
              <a:spcBef>
                <a:spcPts val="7"/>
              </a:spcBef>
            </a:pPr>
            <a:r>
              <a:rPr b="1" spc="-160" dirty="0">
                <a:latin typeface="+mj-lt"/>
              </a:rPr>
              <a:t>Step</a:t>
            </a:r>
            <a:r>
              <a:rPr b="1" spc="-120" dirty="0">
                <a:latin typeface="+mj-lt"/>
              </a:rPr>
              <a:t> </a:t>
            </a:r>
            <a:r>
              <a:rPr b="1" spc="-173" dirty="0">
                <a:latin typeface="+mj-lt"/>
              </a:rPr>
              <a:t>1:</a:t>
            </a:r>
            <a:r>
              <a:rPr b="1" spc="-53" dirty="0">
                <a:latin typeface="+mj-lt"/>
              </a:rPr>
              <a:t> </a:t>
            </a:r>
            <a:r>
              <a:rPr spc="-260" dirty="0">
                <a:latin typeface="+mj-lt"/>
              </a:rPr>
              <a:t>The</a:t>
            </a:r>
            <a:r>
              <a:rPr spc="-107" dirty="0">
                <a:latin typeface="+mj-lt"/>
              </a:rPr>
              <a:t> </a:t>
            </a:r>
            <a:r>
              <a:rPr spc="-180" dirty="0">
                <a:latin typeface="+mj-lt"/>
              </a:rPr>
              <a:t>Student</a:t>
            </a:r>
            <a:r>
              <a:rPr spc="-67" dirty="0">
                <a:latin typeface="+mj-lt"/>
              </a:rPr>
              <a:t> </a:t>
            </a:r>
            <a:r>
              <a:rPr spc="-13" dirty="0">
                <a:latin typeface="+mj-lt"/>
              </a:rPr>
              <a:t>class</a:t>
            </a:r>
          </a:p>
          <a:p>
            <a:pPr marL="397923" indent="-380990">
              <a:spcBef>
                <a:spcPts val="927"/>
              </a:spcBef>
              <a:buFont typeface="Arial"/>
              <a:buChar char="•"/>
              <a:tabLst>
                <a:tab pos="397923" algn="l"/>
              </a:tabLst>
            </a:pPr>
            <a:r>
              <a:rPr spc="-180" dirty="0">
                <a:latin typeface="+mj-lt"/>
              </a:rPr>
              <a:t>Student</a:t>
            </a:r>
            <a:r>
              <a:rPr spc="-60" dirty="0">
                <a:latin typeface="+mj-lt"/>
              </a:rPr>
              <a:t> </a:t>
            </a:r>
            <a:r>
              <a:rPr spc="-213" dirty="0">
                <a:latin typeface="+mj-lt"/>
              </a:rPr>
              <a:t>has</a:t>
            </a:r>
            <a:r>
              <a:rPr spc="-120" dirty="0">
                <a:latin typeface="+mj-lt"/>
              </a:rPr>
              <a:t> </a:t>
            </a:r>
            <a:r>
              <a:rPr spc="-127" dirty="0">
                <a:latin typeface="+mj-lt"/>
              </a:rPr>
              <a:t>3</a:t>
            </a:r>
            <a:r>
              <a:rPr spc="-93" dirty="0">
                <a:latin typeface="+mj-lt"/>
              </a:rPr>
              <a:t> </a:t>
            </a:r>
            <a:r>
              <a:rPr spc="-100" dirty="0">
                <a:latin typeface="+mj-lt"/>
              </a:rPr>
              <a:t>fields:</a:t>
            </a:r>
            <a:r>
              <a:rPr spc="-160" dirty="0">
                <a:latin typeface="+mj-lt"/>
              </a:rPr>
              <a:t> </a:t>
            </a:r>
            <a:r>
              <a:rPr spc="-220" dirty="0">
                <a:latin typeface="+mj-lt"/>
              </a:rPr>
              <a:t>name,</a:t>
            </a:r>
            <a:r>
              <a:rPr spc="-87" dirty="0">
                <a:latin typeface="+mj-lt"/>
              </a:rPr>
              <a:t> </a:t>
            </a:r>
            <a:r>
              <a:rPr spc="-167" dirty="0">
                <a:latin typeface="+mj-lt"/>
              </a:rPr>
              <a:t>mark,</a:t>
            </a:r>
            <a:r>
              <a:rPr spc="-80" dirty="0">
                <a:latin typeface="+mj-lt"/>
              </a:rPr>
              <a:t> </a:t>
            </a:r>
            <a:r>
              <a:rPr spc="-247" dirty="0">
                <a:latin typeface="+mj-lt"/>
              </a:rPr>
              <a:t>and</a:t>
            </a:r>
            <a:r>
              <a:rPr spc="-13" dirty="0">
                <a:latin typeface="+mj-lt"/>
              </a:rPr>
              <a:t> </a:t>
            </a:r>
            <a:r>
              <a:rPr spc="-27" dirty="0">
                <a:latin typeface="+mj-lt"/>
              </a:rPr>
              <a:t>grade</a:t>
            </a:r>
          </a:p>
          <a:p>
            <a:pPr marL="397923" indent="-380990">
              <a:spcBef>
                <a:spcPts val="1427"/>
              </a:spcBef>
              <a:buFont typeface="Arial"/>
              <a:buChar char="•"/>
              <a:tabLst>
                <a:tab pos="397923" algn="l"/>
              </a:tabLst>
            </a:pPr>
            <a:r>
              <a:rPr spc="-180" dirty="0">
                <a:latin typeface="+mj-lt"/>
              </a:rPr>
              <a:t>Student</a:t>
            </a:r>
            <a:r>
              <a:rPr spc="-73" dirty="0">
                <a:latin typeface="+mj-lt"/>
              </a:rPr>
              <a:t> </a:t>
            </a:r>
            <a:r>
              <a:rPr spc="-152" dirty="0">
                <a:latin typeface="+mj-lt"/>
              </a:rPr>
              <a:t>defines</a:t>
            </a:r>
            <a:r>
              <a:rPr spc="-113" dirty="0">
                <a:latin typeface="+mj-lt"/>
              </a:rPr>
              <a:t> </a:t>
            </a:r>
            <a:r>
              <a:rPr spc="-293" dirty="0">
                <a:latin typeface="+mj-lt"/>
              </a:rPr>
              <a:t>a</a:t>
            </a:r>
            <a:r>
              <a:rPr spc="-27" dirty="0">
                <a:latin typeface="+mj-lt"/>
              </a:rPr>
              <a:t> </a:t>
            </a:r>
            <a:r>
              <a:rPr spc="-127" dirty="0">
                <a:latin typeface="+mj-lt"/>
              </a:rPr>
              <a:t>function</a:t>
            </a:r>
            <a:r>
              <a:rPr spc="-152" dirty="0">
                <a:latin typeface="+mj-lt"/>
              </a:rPr>
              <a:t> </a:t>
            </a:r>
            <a:r>
              <a:rPr spc="-93" dirty="0">
                <a:latin typeface="+mj-lt"/>
              </a:rPr>
              <a:t>to</a:t>
            </a:r>
            <a:r>
              <a:rPr spc="-113" dirty="0">
                <a:latin typeface="+mj-lt"/>
              </a:rPr>
              <a:t> </a:t>
            </a:r>
            <a:r>
              <a:rPr spc="-147" dirty="0">
                <a:latin typeface="+mj-lt"/>
              </a:rPr>
              <a:t>determine</a:t>
            </a:r>
            <a:r>
              <a:rPr spc="-60" dirty="0">
                <a:latin typeface="+mj-lt"/>
              </a:rPr>
              <a:t> </a:t>
            </a:r>
            <a:r>
              <a:rPr spc="-213" dirty="0">
                <a:latin typeface="+mj-lt"/>
              </a:rPr>
              <a:t>and</a:t>
            </a:r>
            <a:r>
              <a:rPr spc="-120" dirty="0">
                <a:latin typeface="+mj-lt"/>
              </a:rPr>
              <a:t> </a:t>
            </a:r>
            <a:r>
              <a:rPr spc="-107" dirty="0">
                <a:latin typeface="+mj-lt"/>
              </a:rPr>
              <a:t>return</a:t>
            </a:r>
            <a:r>
              <a:rPr spc="-47" dirty="0">
                <a:latin typeface="+mj-lt"/>
              </a:rPr>
              <a:t> </a:t>
            </a:r>
            <a:r>
              <a:rPr spc="-147" dirty="0">
                <a:latin typeface="+mj-lt"/>
              </a:rPr>
              <a:t>the</a:t>
            </a:r>
            <a:r>
              <a:rPr spc="-60" dirty="0">
                <a:latin typeface="+mj-lt"/>
              </a:rPr>
              <a:t> </a:t>
            </a:r>
            <a:r>
              <a:rPr spc="-193" dirty="0">
                <a:latin typeface="+mj-lt"/>
              </a:rPr>
              <a:t>grade</a:t>
            </a:r>
            <a:r>
              <a:rPr spc="-67" dirty="0">
                <a:latin typeface="+mj-lt"/>
              </a:rPr>
              <a:t> </a:t>
            </a:r>
            <a:r>
              <a:rPr spc="-227" dirty="0">
                <a:latin typeface="+mj-lt"/>
              </a:rPr>
              <a:t>based</a:t>
            </a:r>
            <a:r>
              <a:rPr spc="-120" dirty="0">
                <a:latin typeface="+mj-lt"/>
              </a:rPr>
              <a:t> </a:t>
            </a:r>
            <a:r>
              <a:rPr spc="-200" dirty="0">
                <a:latin typeface="+mj-lt"/>
              </a:rPr>
              <a:t>on</a:t>
            </a:r>
            <a:r>
              <a:rPr spc="-47" dirty="0">
                <a:latin typeface="+mj-lt"/>
              </a:rPr>
              <a:t> </a:t>
            </a:r>
            <a:r>
              <a:rPr spc="-147" dirty="0">
                <a:latin typeface="+mj-lt"/>
              </a:rPr>
              <a:t>the</a:t>
            </a:r>
            <a:r>
              <a:rPr spc="-60" dirty="0">
                <a:latin typeface="+mj-lt"/>
              </a:rPr>
              <a:t> </a:t>
            </a:r>
            <a:r>
              <a:rPr spc="-140" dirty="0">
                <a:latin typeface="+mj-lt"/>
              </a:rPr>
              <a:t>student’s</a:t>
            </a:r>
            <a:r>
              <a:rPr spc="-7" dirty="0">
                <a:latin typeface="+mj-lt"/>
              </a:rPr>
              <a:t> </a:t>
            </a:r>
            <a:r>
              <a:rPr spc="-167" dirty="0">
                <a:latin typeface="+mj-lt"/>
              </a:rPr>
              <a:t>mark</a:t>
            </a:r>
            <a:r>
              <a:rPr spc="-67" dirty="0">
                <a:latin typeface="+mj-lt"/>
              </a:rPr>
              <a:t> </a:t>
            </a:r>
            <a:r>
              <a:rPr spc="-100" dirty="0">
                <a:latin typeface="+mj-lt"/>
              </a:rPr>
              <a:t>(following</a:t>
            </a:r>
            <a:r>
              <a:rPr spc="-73" dirty="0">
                <a:latin typeface="+mj-lt"/>
              </a:rPr>
              <a:t> </a:t>
            </a:r>
            <a:r>
              <a:rPr spc="-33" dirty="0">
                <a:latin typeface="+mj-lt"/>
              </a:rPr>
              <a:t>the</a:t>
            </a:r>
          </a:p>
          <a:p>
            <a:pPr marL="397923">
              <a:spcBef>
                <a:spcPts val="1427"/>
              </a:spcBef>
            </a:pPr>
            <a:r>
              <a:rPr spc="-147" dirty="0">
                <a:latin typeface="+mj-lt"/>
              </a:rPr>
              <a:t>grading</a:t>
            </a:r>
            <a:r>
              <a:rPr spc="-67" dirty="0">
                <a:latin typeface="+mj-lt"/>
              </a:rPr>
              <a:t> </a:t>
            </a:r>
            <a:r>
              <a:rPr spc="-227" dirty="0">
                <a:latin typeface="+mj-lt"/>
              </a:rPr>
              <a:t>schema</a:t>
            </a:r>
            <a:r>
              <a:rPr spc="-27" dirty="0">
                <a:latin typeface="+mj-lt"/>
              </a:rPr>
              <a:t> </a:t>
            </a:r>
            <a:r>
              <a:rPr spc="-107" dirty="0">
                <a:latin typeface="+mj-lt"/>
              </a:rPr>
              <a:t>of</a:t>
            </a:r>
            <a:r>
              <a:rPr spc="-67" dirty="0">
                <a:latin typeface="+mj-lt"/>
              </a:rPr>
              <a:t> </a:t>
            </a:r>
            <a:r>
              <a:rPr spc="-13" dirty="0">
                <a:latin typeface="+mj-lt"/>
              </a:rPr>
              <a:t>UTS).</a:t>
            </a:r>
          </a:p>
          <a:p>
            <a:pPr marL="397923" indent="-380990">
              <a:spcBef>
                <a:spcPts val="1427"/>
              </a:spcBef>
              <a:buFont typeface="Arial"/>
              <a:buChar char="•"/>
              <a:tabLst>
                <a:tab pos="397923" algn="l"/>
                <a:tab pos="2826949" algn="l"/>
                <a:tab pos="3463627" algn="l"/>
              </a:tabLst>
            </a:pPr>
            <a:r>
              <a:rPr spc="-180" dirty="0">
                <a:latin typeface="+mj-lt"/>
              </a:rPr>
              <a:t>Student</a:t>
            </a:r>
            <a:r>
              <a:rPr spc="13" dirty="0">
                <a:latin typeface="+mj-lt"/>
              </a:rPr>
              <a:t> </a:t>
            </a:r>
            <a:r>
              <a:rPr spc="-152" dirty="0">
                <a:latin typeface="+mj-lt"/>
              </a:rPr>
              <a:t>overrides</a:t>
            </a:r>
            <a:r>
              <a:rPr spc="-60" dirty="0">
                <a:latin typeface="+mj-lt"/>
              </a:rPr>
              <a:t> </a:t>
            </a:r>
            <a:r>
              <a:rPr dirty="0">
                <a:latin typeface="+mj-lt"/>
              </a:rPr>
              <a:t>the </a:t>
            </a:r>
            <a:r>
              <a:rPr u="sng" dirty="0">
                <a:uFill>
                  <a:solidFill>
                    <a:srgbClr val="000000"/>
                  </a:solidFill>
                </a:uFill>
                <a:latin typeface="+mj-lt"/>
              </a:rPr>
              <a:t>	</a:t>
            </a:r>
            <a:r>
              <a:rPr spc="-33" dirty="0">
                <a:latin typeface="+mj-lt"/>
              </a:rPr>
              <a:t>str</a:t>
            </a:r>
            <a:r>
              <a:rPr u="sng" dirty="0">
                <a:uFill>
                  <a:solidFill>
                    <a:srgbClr val="000000"/>
                  </a:solidFill>
                </a:uFill>
                <a:latin typeface="+mj-lt"/>
              </a:rPr>
              <a:t>	</a:t>
            </a:r>
            <a:r>
              <a:rPr spc="-67" dirty="0">
                <a:latin typeface="+mj-lt"/>
              </a:rPr>
              <a:t>()</a:t>
            </a:r>
            <a:r>
              <a:rPr spc="-120" dirty="0">
                <a:latin typeface="+mj-lt"/>
              </a:rPr>
              <a:t> function</a:t>
            </a:r>
            <a:r>
              <a:rPr spc="-47" dirty="0">
                <a:latin typeface="+mj-lt"/>
              </a:rPr>
              <a:t> </a:t>
            </a:r>
            <a:r>
              <a:rPr spc="-133" dirty="0">
                <a:latin typeface="+mj-lt"/>
              </a:rPr>
              <a:t>to</a:t>
            </a:r>
            <a:r>
              <a:rPr spc="-20" dirty="0">
                <a:latin typeface="+mj-lt"/>
              </a:rPr>
              <a:t> </a:t>
            </a:r>
            <a:r>
              <a:rPr spc="-193" dirty="0">
                <a:latin typeface="+mj-lt"/>
              </a:rPr>
              <a:t>show</a:t>
            </a:r>
            <a:r>
              <a:rPr spc="7" dirty="0">
                <a:latin typeface="+mj-lt"/>
              </a:rPr>
              <a:t> </a:t>
            </a:r>
            <a:r>
              <a:rPr spc="-173" dirty="0">
                <a:latin typeface="+mj-lt"/>
              </a:rPr>
              <a:t>Student</a:t>
            </a:r>
            <a:r>
              <a:rPr spc="-73" dirty="0">
                <a:latin typeface="+mj-lt"/>
              </a:rPr>
              <a:t> </a:t>
            </a:r>
            <a:r>
              <a:rPr spc="-160" dirty="0">
                <a:latin typeface="+mj-lt"/>
              </a:rPr>
              <a:t>object</a:t>
            </a:r>
            <a:r>
              <a:rPr spc="-67" dirty="0">
                <a:latin typeface="+mj-lt"/>
              </a:rPr>
              <a:t> </a:t>
            </a:r>
            <a:r>
              <a:rPr spc="-113" dirty="0">
                <a:latin typeface="+mj-lt"/>
              </a:rPr>
              <a:t>information</a:t>
            </a:r>
            <a:r>
              <a:rPr spc="-53" dirty="0">
                <a:latin typeface="+mj-lt"/>
              </a:rPr>
              <a:t> in </a:t>
            </a:r>
            <a:r>
              <a:rPr spc="-147" dirty="0">
                <a:latin typeface="+mj-lt"/>
              </a:rPr>
              <a:t>the</a:t>
            </a:r>
            <a:r>
              <a:rPr spc="-67" dirty="0">
                <a:latin typeface="+mj-lt"/>
              </a:rPr>
              <a:t> </a:t>
            </a:r>
            <a:r>
              <a:rPr spc="-100" dirty="0">
                <a:latin typeface="+mj-lt"/>
              </a:rPr>
              <a:t>following</a:t>
            </a:r>
            <a:r>
              <a:rPr spc="-73" dirty="0">
                <a:latin typeface="+mj-lt"/>
              </a:rPr>
              <a:t> </a:t>
            </a:r>
            <a:r>
              <a:rPr spc="-13" dirty="0">
                <a:latin typeface="+mj-lt"/>
              </a:rPr>
              <a:t>format:</a:t>
            </a:r>
          </a:p>
          <a:p>
            <a:pPr marL="397923">
              <a:spcBef>
                <a:spcPts val="1533"/>
              </a:spcBef>
            </a:pPr>
            <a:r>
              <a:rPr spc="-293" dirty="0">
                <a:solidFill>
                  <a:srgbClr val="E36C09"/>
                </a:solidFill>
                <a:latin typeface="+mj-lt"/>
              </a:rPr>
              <a:t>“&lt;name&gt;</a:t>
            </a:r>
            <a:r>
              <a:rPr spc="-27" dirty="0">
                <a:solidFill>
                  <a:srgbClr val="E36C09"/>
                </a:solidFill>
                <a:latin typeface="+mj-lt"/>
              </a:rPr>
              <a:t> </a:t>
            </a:r>
            <a:r>
              <a:rPr spc="-240" dirty="0">
                <a:solidFill>
                  <a:srgbClr val="E36C09"/>
                </a:solidFill>
                <a:latin typeface="+mj-lt"/>
                <a:cs typeface="Wingdings"/>
              </a:rPr>
              <a:t></a:t>
            </a:r>
            <a:r>
              <a:rPr spc="-107" dirty="0">
                <a:solidFill>
                  <a:srgbClr val="E36C09"/>
                </a:solidFill>
                <a:latin typeface="+mj-lt"/>
                <a:cs typeface="Times New Roman"/>
              </a:rPr>
              <a:t> </a:t>
            </a:r>
            <a:r>
              <a:rPr spc="-87" dirty="0">
                <a:solidFill>
                  <a:srgbClr val="E36C09"/>
                </a:solidFill>
                <a:latin typeface="+mj-lt"/>
              </a:rPr>
              <a:t>&lt;grade&gt;”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6276" y="17357"/>
            <a:ext cx="4932680" cy="925104"/>
          </a:xfrm>
          <a:prstGeom prst="rect">
            <a:avLst/>
          </a:prstGeom>
        </p:spPr>
        <p:txBody>
          <a:bodyPr vert="horz" wrap="square" lIns="0" tIns="22013" rIns="0" bIns="0" rtlCol="0">
            <a:spAutoFit/>
          </a:bodyPr>
          <a:lstStyle/>
          <a:p>
            <a:pPr marL="16933">
              <a:spcBef>
                <a:spcPts val="173"/>
              </a:spcBef>
            </a:pPr>
            <a:r>
              <a:rPr sz="5867" spc="-600" dirty="0"/>
              <a:t>Lab</a:t>
            </a:r>
            <a:r>
              <a:rPr sz="5867" spc="-240" dirty="0"/>
              <a:t> </a:t>
            </a:r>
            <a:r>
              <a:rPr sz="5867" spc="-280" dirty="0"/>
              <a:t>9</a:t>
            </a:r>
            <a:r>
              <a:rPr sz="5867" spc="-207" dirty="0"/>
              <a:t> </a:t>
            </a:r>
            <a:r>
              <a:rPr sz="5867" dirty="0">
                <a:latin typeface="Times New Roman"/>
                <a:cs typeface="Times New Roman"/>
              </a:rPr>
              <a:t>–</a:t>
            </a:r>
            <a:r>
              <a:rPr sz="5867" spc="-360" dirty="0">
                <a:latin typeface="Times New Roman"/>
                <a:cs typeface="Times New Roman"/>
              </a:rPr>
              <a:t> </a:t>
            </a:r>
            <a:r>
              <a:rPr sz="5267" spc="-413" dirty="0"/>
              <a:t>Lab9Exercise3</a:t>
            </a:r>
            <a:endParaRPr sz="5267">
              <a:latin typeface="Times New Roman"/>
              <a:cs typeface="Times New Roman"/>
            </a:endParaRPr>
          </a:p>
        </p:txBody>
      </p:sp>
      <p:sp>
        <p:nvSpPr>
          <p:cNvPr id="3" name="object 3"/>
          <p:cNvSpPr txBox="1"/>
          <p:nvPr/>
        </p:nvSpPr>
        <p:spPr>
          <a:xfrm>
            <a:off x="706120" y="897044"/>
            <a:ext cx="10573173" cy="5024623"/>
          </a:xfrm>
          <a:prstGeom prst="rect">
            <a:avLst/>
          </a:prstGeom>
        </p:spPr>
        <p:txBody>
          <a:bodyPr vert="horz" wrap="square" lIns="0" tIns="16933" rIns="0" bIns="0" rtlCol="0">
            <a:spAutoFit/>
          </a:bodyPr>
          <a:lstStyle/>
          <a:p>
            <a:pPr marL="16933" defTabSz="1219170">
              <a:spcBef>
                <a:spcPts val="133"/>
              </a:spcBef>
            </a:pPr>
            <a:r>
              <a:rPr sz="2000" b="1" kern="0" spc="-160" dirty="0">
                <a:solidFill>
                  <a:sysClr val="windowText" lastClr="000000"/>
                </a:solidFill>
                <a:latin typeface="+mj-lt"/>
                <a:cs typeface="Arial Narrow"/>
              </a:rPr>
              <a:t>Step</a:t>
            </a:r>
            <a:r>
              <a:rPr sz="2000" b="1" kern="0" spc="-107" dirty="0">
                <a:solidFill>
                  <a:sysClr val="windowText" lastClr="000000"/>
                </a:solidFill>
                <a:latin typeface="+mj-lt"/>
                <a:cs typeface="Arial Narrow"/>
              </a:rPr>
              <a:t> </a:t>
            </a:r>
            <a:r>
              <a:rPr sz="2000" b="1" kern="0" spc="-167" dirty="0">
                <a:solidFill>
                  <a:sysClr val="windowText" lastClr="000000"/>
                </a:solidFill>
                <a:latin typeface="+mj-lt"/>
                <a:cs typeface="Arial Narrow"/>
              </a:rPr>
              <a:t>2:</a:t>
            </a:r>
            <a:r>
              <a:rPr sz="2000" b="1" kern="0" spc="-60" dirty="0">
                <a:solidFill>
                  <a:sysClr val="windowText" lastClr="000000"/>
                </a:solidFill>
                <a:latin typeface="+mj-lt"/>
                <a:cs typeface="Arial Narrow"/>
              </a:rPr>
              <a:t> </a:t>
            </a:r>
            <a:r>
              <a:rPr sz="2000" kern="0" spc="-260" dirty="0">
                <a:solidFill>
                  <a:sysClr val="windowText" lastClr="000000"/>
                </a:solidFill>
                <a:latin typeface="+mj-lt"/>
                <a:cs typeface="Arial Narrow"/>
              </a:rPr>
              <a:t>The</a:t>
            </a:r>
            <a:r>
              <a:rPr sz="2000" kern="0" spc="-107" dirty="0">
                <a:solidFill>
                  <a:sysClr val="windowText" lastClr="000000"/>
                </a:solidFill>
                <a:latin typeface="+mj-lt"/>
                <a:cs typeface="Arial Narrow"/>
              </a:rPr>
              <a:t> </a:t>
            </a:r>
            <a:r>
              <a:rPr sz="2000" kern="0" spc="-187" dirty="0">
                <a:solidFill>
                  <a:sysClr val="windowText" lastClr="000000"/>
                </a:solidFill>
                <a:latin typeface="+mj-lt"/>
                <a:cs typeface="Arial Narrow"/>
              </a:rPr>
              <a:t>Faculty</a:t>
            </a:r>
            <a:r>
              <a:rPr sz="2000" kern="0" spc="-80" dirty="0">
                <a:solidFill>
                  <a:sysClr val="windowText" lastClr="000000"/>
                </a:solidFill>
                <a:latin typeface="+mj-lt"/>
                <a:cs typeface="Arial Narrow"/>
              </a:rPr>
              <a:t> </a:t>
            </a:r>
            <a:r>
              <a:rPr sz="2000" kern="0" spc="-27" dirty="0">
                <a:solidFill>
                  <a:sysClr val="windowText" lastClr="000000"/>
                </a:solidFill>
                <a:latin typeface="+mj-lt"/>
                <a:cs typeface="Arial Narrow"/>
              </a:rPr>
              <a:t>class</a:t>
            </a:r>
            <a:endParaRPr sz="2000" kern="0" dirty="0">
              <a:solidFill>
                <a:sysClr val="windowText" lastClr="000000"/>
              </a:solidFill>
              <a:latin typeface="+mj-lt"/>
              <a:cs typeface="Arial Narrow"/>
            </a:endParaRPr>
          </a:p>
          <a:p>
            <a:pPr marL="397923" indent="-380990" defTabSz="1219170">
              <a:lnSpc>
                <a:spcPts val="2847"/>
              </a:lnSpc>
              <a:spcBef>
                <a:spcPts val="27"/>
              </a:spcBef>
              <a:buFont typeface="Arial"/>
              <a:buChar char="•"/>
              <a:tabLst>
                <a:tab pos="397923" algn="l"/>
              </a:tabLst>
            </a:pPr>
            <a:r>
              <a:rPr sz="2000" kern="0" spc="-187" dirty="0">
                <a:solidFill>
                  <a:sysClr val="windowText" lastClr="000000"/>
                </a:solidFill>
                <a:latin typeface="+mj-lt"/>
                <a:cs typeface="Arial Narrow"/>
              </a:rPr>
              <a:t>Faculty</a:t>
            </a:r>
            <a:r>
              <a:rPr sz="2000" kern="0" spc="-80" dirty="0">
                <a:solidFill>
                  <a:sysClr val="windowText" lastClr="000000"/>
                </a:solidFill>
                <a:latin typeface="+mj-lt"/>
                <a:cs typeface="Arial Narrow"/>
              </a:rPr>
              <a:t> </a:t>
            </a:r>
            <a:r>
              <a:rPr sz="2000" kern="0" spc="-213" dirty="0">
                <a:solidFill>
                  <a:sysClr val="windowText" lastClr="000000"/>
                </a:solidFill>
                <a:latin typeface="+mj-lt"/>
                <a:cs typeface="Arial Narrow"/>
              </a:rPr>
              <a:t>has</a:t>
            </a:r>
            <a:r>
              <a:rPr sz="2000" kern="0" spc="-107" dirty="0">
                <a:solidFill>
                  <a:sysClr val="windowText" lastClr="000000"/>
                </a:solidFill>
                <a:latin typeface="+mj-lt"/>
                <a:cs typeface="Arial Narrow"/>
              </a:rPr>
              <a:t> </a:t>
            </a:r>
            <a:r>
              <a:rPr sz="2000" kern="0" spc="-293" dirty="0">
                <a:solidFill>
                  <a:sysClr val="windowText" lastClr="000000"/>
                </a:solidFill>
                <a:latin typeface="+mj-lt"/>
                <a:cs typeface="Arial Narrow"/>
              </a:rPr>
              <a:t>a</a:t>
            </a:r>
            <a:r>
              <a:rPr sz="2000" kern="0" spc="-73" dirty="0">
                <a:solidFill>
                  <a:sysClr val="windowText" lastClr="000000"/>
                </a:solidFill>
                <a:latin typeface="+mj-lt"/>
                <a:cs typeface="Arial Narrow"/>
              </a:rPr>
              <a:t> </a:t>
            </a:r>
            <a:r>
              <a:rPr sz="2000" kern="0" spc="-152" dirty="0">
                <a:solidFill>
                  <a:sysClr val="windowText" lastClr="000000"/>
                </a:solidFill>
                <a:latin typeface="+mj-lt"/>
                <a:cs typeface="Arial Narrow"/>
              </a:rPr>
              <a:t>students</a:t>
            </a:r>
            <a:r>
              <a:rPr sz="2000" kern="0" spc="-47" dirty="0">
                <a:solidFill>
                  <a:sysClr val="windowText" lastClr="000000"/>
                </a:solidFill>
                <a:latin typeface="+mj-lt"/>
                <a:cs typeface="Arial Narrow"/>
              </a:rPr>
              <a:t> </a:t>
            </a:r>
            <a:r>
              <a:rPr sz="2000" kern="0" spc="-107" dirty="0">
                <a:solidFill>
                  <a:sysClr val="windowText" lastClr="000000"/>
                </a:solidFill>
                <a:latin typeface="+mj-lt"/>
                <a:cs typeface="Arial Narrow"/>
              </a:rPr>
              <a:t>field,</a:t>
            </a:r>
            <a:r>
              <a:rPr sz="2000" kern="0" spc="-40" dirty="0">
                <a:solidFill>
                  <a:sysClr val="windowText" lastClr="000000"/>
                </a:solidFill>
                <a:latin typeface="+mj-lt"/>
                <a:cs typeface="Arial Narrow"/>
              </a:rPr>
              <a:t> </a:t>
            </a:r>
            <a:r>
              <a:rPr sz="2000" kern="0" spc="-213" dirty="0">
                <a:solidFill>
                  <a:sysClr val="windowText" lastClr="000000"/>
                </a:solidFill>
                <a:latin typeface="+mj-lt"/>
                <a:cs typeface="Arial Narrow"/>
              </a:rPr>
              <a:t>and</a:t>
            </a:r>
            <a:r>
              <a:rPr sz="2000" kern="0" spc="-127" dirty="0">
                <a:solidFill>
                  <a:sysClr val="windowText" lastClr="000000"/>
                </a:solidFill>
                <a:latin typeface="+mj-lt"/>
                <a:cs typeface="Arial Narrow"/>
              </a:rPr>
              <a:t> </a:t>
            </a:r>
            <a:r>
              <a:rPr sz="2000" kern="0" spc="-293" dirty="0">
                <a:solidFill>
                  <a:sysClr val="windowText" lastClr="000000"/>
                </a:solidFill>
                <a:latin typeface="+mj-lt"/>
                <a:cs typeface="Arial Narrow"/>
              </a:rPr>
              <a:t>a</a:t>
            </a:r>
            <a:r>
              <a:rPr sz="2000" kern="0" spc="-67" dirty="0">
                <a:solidFill>
                  <a:sysClr val="windowText" lastClr="000000"/>
                </a:solidFill>
                <a:latin typeface="+mj-lt"/>
                <a:cs typeface="Arial Narrow"/>
              </a:rPr>
              <a:t> </a:t>
            </a:r>
            <a:r>
              <a:rPr sz="2000" kern="0" spc="-140" dirty="0">
                <a:solidFill>
                  <a:sysClr val="windowText" lastClr="000000"/>
                </a:solidFill>
                <a:latin typeface="+mj-lt"/>
                <a:cs typeface="Arial Narrow"/>
              </a:rPr>
              <a:t>constructor</a:t>
            </a:r>
            <a:r>
              <a:rPr sz="2000" kern="0" spc="-47" dirty="0">
                <a:solidFill>
                  <a:sysClr val="windowText" lastClr="000000"/>
                </a:solidFill>
                <a:latin typeface="+mj-lt"/>
                <a:cs typeface="Arial Narrow"/>
              </a:rPr>
              <a:t> </a:t>
            </a:r>
            <a:r>
              <a:rPr sz="2000" kern="0" spc="-127" dirty="0">
                <a:solidFill>
                  <a:sysClr val="windowText" lastClr="000000"/>
                </a:solidFill>
                <a:latin typeface="+mj-lt"/>
                <a:cs typeface="Arial Narrow"/>
              </a:rPr>
              <a:t>that</a:t>
            </a:r>
            <a:r>
              <a:rPr sz="2000" kern="0" spc="-53" dirty="0">
                <a:solidFill>
                  <a:sysClr val="windowText" lastClr="000000"/>
                </a:solidFill>
                <a:latin typeface="+mj-lt"/>
                <a:cs typeface="Arial Narrow"/>
              </a:rPr>
              <a:t> </a:t>
            </a:r>
            <a:r>
              <a:rPr sz="2000" kern="0" spc="-180" dirty="0">
                <a:solidFill>
                  <a:sysClr val="windowText" lastClr="000000"/>
                </a:solidFill>
                <a:latin typeface="+mj-lt"/>
                <a:cs typeface="Arial Narrow"/>
              </a:rPr>
              <a:t>creates</a:t>
            </a:r>
            <a:r>
              <a:rPr sz="2000" kern="0" spc="-93" dirty="0">
                <a:solidFill>
                  <a:sysClr val="windowText" lastClr="000000"/>
                </a:solidFill>
                <a:latin typeface="+mj-lt"/>
                <a:cs typeface="Arial Narrow"/>
              </a:rPr>
              <a:t> </a:t>
            </a:r>
            <a:r>
              <a:rPr sz="2000" kern="0" spc="-253" dirty="0">
                <a:solidFill>
                  <a:sysClr val="windowText" lastClr="000000"/>
                </a:solidFill>
                <a:latin typeface="+mj-lt"/>
                <a:cs typeface="Arial Narrow"/>
              </a:rPr>
              <a:t>an</a:t>
            </a:r>
            <a:r>
              <a:rPr sz="2000" kern="0" spc="-47" dirty="0">
                <a:solidFill>
                  <a:sysClr val="windowText" lastClr="000000"/>
                </a:solidFill>
                <a:latin typeface="+mj-lt"/>
                <a:cs typeface="Arial Narrow"/>
              </a:rPr>
              <a:t> </a:t>
            </a:r>
            <a:r>
              <a:rPr sz="2000" kern="0" spc="-173" dirty="0">
                <a:solidFill>
                  <a:sysClr val="windowText" lastClr="000000"/>
                </a:solidFill>
                <a:latin typeface="+mj-lt"/>
                <a:cs typeface="Arial Narrow"/>
              </a:rPr>
              <a:t>empty</a:t>
            </a:r>
            <a:r>
              <a:rPr sz="2000" kern="0" spc="-80" dirty="0">
                <a:solidFill>
                  <a:sysClr val="windowText" lastClr="000000"/>
                </a:solidFill>
                <a:latin typeface="+mj-lt"/>
                <a:cs typeface="Arial Narrow"/>
              </a:rPr>
              <a:t> </a:t>
            </a:r>
            <a:r>
              <a:rPr sz="2000" kern="0" spc="-133" dirty="0">
                <a:solidFill>
                  <a:sysClr val="windowText" lastClr="000000"/>
                </a:solidFill>
                <a:latin typeface="+mj-lt"/>
                <a:cs typeface="Arial Narrow"/>
              </a:rPr>
              <a:t>dictionary</a:t>
            </a:r>
            <a:r>
              <a:rPr sz="2000" kern="0" spc="-80" dirty="0">
                <a:solidFill>
                  <a:sysClr val="windowText" lastClr="000000"/>
                </a:solidFill>
                <a:latin typeface="+mj-lt"/>
                <a:cs typeface="Arial Narrow"/>
              </a:rPr>
              <a:t> </a:t>
            </a:r>
            <a:r>
              <a:rPr sz="2000" kern="0" spc="-107" dirty="0">
                <a:solidFill>
                  <a:sysClr val="windowText" lastClr="000000"/>
                </a:solidFill>
                <a:latin typeface="+mj-lt"/>
                <a:cs typeface="Arial Narrow"/>
              </a:rPr>
              <a:t>of</a:t>
            </a:r>
            <a:r>
              <a:rPr sz="2000" kern="0" spc="-67" dirty="0">
                <a:solidFill>
                  <a:sysClr val="windowText" lastClr="000000"/>
                </a:solidFill>
                <a:latin typeface="+mj-lt"/>
                <a:cs typeface="Arial Narrow"/>
              </a:rPr>
              <a:t> </a:t>
            </a:r>
            <a:r>
              <a:rPr sz="2000" kern="0" spc="-13" dirty="0">
                <a:solidFill>
                  <a:sysClr val="windowText" lastClr="000000"/>
                </a:solidFill>
                <a:latin typeface="+mj-lt"/>
                <a:cs typeface="Arial Narrow"/>
              </a:rPr>
              <a:t>students</a:t>
            </a:r>
            <a:endParaRPr sz="2000" kern="0" dirty="0">
              <a:solidFill>
                <a:sysClr val="windowText" lastClr="000000"/>
              </a:solidFill>
              <a:latin typeface="+mj-lt"/>
              <a:cs typeface="Arial Narrow"/>
            </a:endParaRPr>
          </a:p>
          <a:p>
            <a:pPr marL="397923" indent="-380990" defTabSz="1219170">
              <a:lnSpc>
                <a:spcPts val="2847"/>
              </a:lnSpc>
              <a:buFont typeface="Arial"/>
              <a:buChar char="•"/>
              <a:tabLst>
                <a:tab pos="397923" algn="l"/>
              </a:tabLst>
            </a:pPr>
            <a:r>
              <a:rPr sz="2000" kern="0" spc="-167" dirty="0">
                <a:solidFill>
                  <a:sysClr val="windowText" lastClr="000000"/>
                </a:solidFill>
                <a:latin typeface="+mj-lt"/>
                <a:cs typeface="Arial Narrow"/>
              </a:rPr>
              <a:t>Faculty</a:t>
            </a:r>
            <a:r>
              <a:rPr sz="2000" kern="0" spc="27" dirty="0">
                <a:solidFill>
                  <a:sysClr val="windowText" lastClr="000000"/>
                </a:solidFill>
                <a:latin typeface="+mj-lt"/>
                <a:cs typeface="Arial Narrow"/>
              </a:rPr>
              <a:t> </a:t>
            </a:r>
            <a:r>
              <a:rPr sz="2000" kern="0" spc="-173" dirty="0">
                <a:solidFill>
                  <a:sysClr val="windowText" lastClr="000000"/>
                </a:solidFill>
                <a:latin typeface="+mj-lt"/>
                <a:cs typeface="Arial Narrow"/>
              </a:rPr>
              <a:t>has</a:t>
            </a:r>
            <a:r>
              <a:rPr sz="2000" kern="0" spc="33" dirty="0">
                <a:solidFill>
                  <a:sysClr val="windowText" lastClr="000000"/>
                </a:solidFill>
                <a:latin typeface="+mj-lt"/>
                <a:cs typeface="Arial Narrow"/>
              </a:rPr>
              <a:t> </a:t>
            </a:r>
            <a:r>
              <a:rPr sz="2000" kern="0" spc="-47" dirty="0">
                <a:solidFill>
                  <a:sysClr val="windowText" lastClr="000000"/>
                </a:solidFill>
                <a:latin typeface="+mj-lt"/>
                <a:cs typeface="Arial Narrow"/>
              </a:rPr>
              <a:t>a</a:t>
            </a:r>
            <a:r>
              <a:rPr sz="2000" kern="0" spc="-67" dirty="0">
                <a:solidFill>
                  <a:sysClr val="windowText" lastClr="000000"/>
                </a:solidFill>
                <a:latin typeface="+mj-lt"/>
                <a:cs typeface="Arial Narrow"/>
              </a:rPr>
              <a:t> </a:t>
            </a:r>
            <a:r>
              <a:rPr sz="2000" kern="0" spc="-152" dirty="0">
                <a:solidFill>
                  <a:sysClr val="windowText" lastClr="000000"/>
                </a:solidFill>
                <a:latin typeface="+mj-lt"/>
                <a:cs typeface="Arial Narrow"/>
              </a:rPr>
              <a:t>method</a:t>
            </a:r>
            <a:r>
              <a:rPr sz="2000" kern="0" spc="13" dirty="0">
                <a:solidFill>
                  <a:sysClr val="windowText" lastClr="000000"/>
                </a:solidFill>
                <a:latin typeface="+mj-lt"/>
                <a:cs typeface="Arial Narrow"/>
              </a:rPr>
              <a:t> </a:t>
            </a:r>
            <a:r>
              <a:rPr sz="2000" kern="0" spc="-87" dirty="0">
                <a:solidFill>
                  <a:sysClr val="windowText" lastClr="000000"/>
                </a:solidFill>
                <a:latin typeface="+mj-lt"/>
                <a:cs typeface="Arial Narrow"/>
              </a:rPr>
              <a:t>enroll_students()</a:t>
            </a:r>
            <a:r>
              <a:rPr sz="2000" kern="0" spc="13" dirty="0">
                <a:solidFill>
                  <a:sysClr val="windowText" lastClr="000000"/>
                </a:solidFill>
                <a:latin typeface="+mj-lt"/>
                <a:cs typeface="Arial Narrow"/>
              </a:rPr>
              <a:t> </a:t>
            </a:r>
            <a:r>
              <a:rPr sz="2000" kern="0" spc="-67" dirty="0">
                <a:solidFill>
                  <a:sysClr val="windowText" lastClr="000000"/>
                </a:solidFill>
                <a:latin typeface="+mj-lt"/>
                <a:cs typeface="Arial Narrow"/>
              </a:rPr>
              <a:t>that</a:t>
            </a:r>
            <a:r>
              <a:rPr sz="2000" kern="0" spc="33" dirty="0">
                <a:solidFill>
                  <a:sysClr val="windowText" lastClr="000000"/>
                </a:solidFill>
                <a:latin typeface="+mj-lt"/>
                <a:cs typeface="Arial Narrow"/>
              </a:rPr>
              <a:t> </a:t>
            </a:r>
            <a:r>
              <a:rPr sz="2000" kern="0" spc="-152" dirty="0">
                <a:solidFill>
                  <a:sysClr val="windowText" lastClr="000000"/>
                </a:solidFill>
                <a:latin typeface="+mj-lt"/>
                <a:cs typeface="Arial Narrow"/>
              </a:rPr>
              <a:t>populates</a:t>
            </a:r>
            <a:r>
              <a:rPr sz="2000" kern="0" spc="20" dirty="0">
                <a:solidFill>
                  <a:sysClr val="windowText" lastClr="000000"/>
                </a:solidFill>
                <a:latin typeface="+mj-lt"/>
                <a:cs typeface="Arial Narrow"/>
              </a:rPr>
              <a:t> </a:t>
            </a:r>
            <a:r>
              <a:rPr sz="2000" kern="0" spc="-67" dirty="0">
                <a:solidFill>
                  <a:sysClr val="windowText" lastClr="000000"/>
                </a:solidFill>
                <a:latin typeface="+mj-lt"/>
                <a:cs typeface="Arial Narrow"/>
              </a:rPr>
              <a:t>the</a:t>
            </a:r>
            <a:r>
              <a:rPr sz="2000" kern="0" spc="20" dirty="0">
                <a:solidFill>
                  <a:sysClr val="windowText" lastClr="000000"/>
                </a:solidFill>
                <a:latin typeface="+mj-lt"/>
                <a:cs typeface="Arial Narrow"/>
              </a:rPr>
              <a:t> </a:t>
            </a:r>
            <a:r>
              <a:rPr sz="2000" kern="0" spc="-140" dirty="0">
                <a:solidFill>
                  <a:sysClr val="windowText" lastClr="000000"/>
                </a:solidFill>
                <a:latin typeface="+mj-lt"/>
                <a:cs typeface="Arial Narrow"/>
              </a:rPr>
              <a:t>students</a:t>
            </a:r>
            <a:r>
              <a:rPr sz="2000" kern="0" spc="20" dirty="0">
                <a:solidFill>
                  <a:sysClr val="windowText" lastClr="000000"/>
                </a:solidFill>
                <a:latin typeface="+mj-lt"/>
                <a:cs typeface="Arial Narrow"/>
              </a:rPr>
              <a:t> </a:t>
            </a:r>
            <a:r>
              <a:rPr sz="2000" kern="0" spc="-113" dirty="0">
                <a:solidFill>
                  <a:sysClr val="windowText" lastClr="000000"/>
                </a:solidFill>
                <a:latin typeface="+mj-lt"/>
                <a:cs typeface="Arial Narrow"/>
              </a:rPr>
              <a:t>dictionary</a:t>
            </a:r>
            <a:r>
              <a:rPr sz="2000" kern="0" dirty="0">
                <a:solidFill>
                  <a:sysClr val="windowText" lastClr="000000"/>
                </a:solidFill>
                <a:latin typeface="+mj-lt"/>
                <a:cs typeface="Arial Narrow"/>
              </a:rPr>
              <a:t> </a:t>
            </a:r>
            <a:r>
              <a:rPr sz="2000" kern="0" spc="-13" dirty="0">
                <a:solidFill>
                  <a:sysClr val="windowText" lastClr="000000"/>
                </a:solidFill>
                <a:latin typeface="+mj-lt"/>
                <a:cs typeface="Arial Narrow"/>
              </a:rPr>
              <a:t>with</a:t>
            </a:r>
            <a:r>
              <a:rPr sz="2000" kern="0" spc="40" dirty="0">
                <a:solidFill>
                  <a:sysClr val="windowText" lastClr="000000"/>
                </a:solidFill>
                <a:latin typeface="+mj-lt"/>
                <a:cs typeface="Arial Narrow"/>
              </a:rPr>
              <a:t> </a:t>
            </a:r>
            <a:r>
              <a:rPr sz="2000" kern="0" dirty="0">
                <a:solidFill>
                  <a:sysClr val="windowText" lastClr="000000"/>
                </a:solidFill>
                <a:latin typeface="+mj-lt"/>
                <a:cs typeface="Arial Narrow"/>
              </a:rPr>
              <a:t>10 </a:t>
            </a:r>
            <a:r>
              <a:rPr sz="2000" kern="0" spc="-147" dirty="0">
                <a:solidFill>
                  <a:sysClr val="windowText" lastClr="000000"/>
                </a:solidFill>
                <a:latin typeface="+mj-lt"/>
                <a:cs typeface="Arial Narrow"/>
              </a:rPr>
              <a:t>records</a:t>
            </a:r>
            <a:r>
              <a:rPr sz="2000" kern="0" spc="20" dirty="0">
                <a:solidFill>
                  <a:sysClr val="windowText" lastClr="000000"/>
                </a:solidFill>
                <a:latin typeface="+mj-lt"/>
                <a:cs typeface="Arial Narrow"/>
              </a:rPr>
              <a:t> </a:t>
            </a:r>
            <a:r>
              <a:rPr sz="2000" kern="0" spc="-127" dirty="0">
                <a:solidFill>
                  <a:sysClr val="windowText" lastClr="000000"/>
                </a:solidFill>
                <a:latin typeface="+mj-lt"/>
                <a:cs typeface="Arial Narrow"/>
              </a:rPr>
              <a:t>where</a:t>
            </a:r>
            <a:r>
              <a:rPr sz="2000" kern="0" spc="40" dirty="0">
                <a:solidFill>
                  <a:sysClr val="windowText" lastClr="000000"/>
                </a:solidFill>
                <a:latin typeface="+mj-lt"/>
                <a:cs typeface="Arial Narrow"/>
              </a:rPr>
              <a:t> </a:t>
            </a:r>
            <a:r>
              <a:rPr sz="2000" kern="0" spc="-33" dirty="0">
                <a:solidFill>
                  <a:sysClr val="windowText" lastClr="000000"/>
                </a:solidFill>
                <a:latin typeface="+mj-lt"/>
                <a:cs typeface="Arial Narrow"/>
              </a:rPr>
              <a:t>in</a:t>
            </a:r>
            <a:endParaRPr sz="2000" kern="0" dirty="0">
              <a:solidFill>
                <a:sysClr val="windowText" lastClr="000000"/>
              </a:solidFill>
              <a:latin typeface="+mj-lt"/>
              <a:cs typeface="Arial Narrow"/>
            </a:endParaRPr>
          </a:p>
          <a:p>
            <a:pPr marL="397923" defTabSz="1219170">
              <a:spcBef>
                <a:spcPts val="20"/>
              </a:spcBef>
            </a:pPr>
            <a:r>
              <a:rPr sz="2000" kern="0" spc="-253" dirty="0">
                <a:solidFill>
                  <a:sysClr val="windowText" lastClr="000000"/>
                </a:solidFill>
                <a:latin typeface="+mj-lt"/>
                <a:cs typeface="Arial Narrow"/>
              </a:rPr>
              <a:t>each</a:t>
            </a:r>
            <a:r>
              <a:rPr sz="2000" kern="0" spc="-33" dirty="0">
                <a:solidFill>
                  <a:sysClr val="windowText" lastClr="000000"/>
                </a:solidFill>
                <a:latin typeface="+mj-lt"/>
                <a:cs typeface="Arial Narrow"/>
              </a:rPr>
              <a:t> </a:t>
            </a:r>
            <a:r>
              <a:rPr sz="2000" kern="0" spc="-13" dirty="0">
                <a:solidFill>
                  <a:sysClr val="windowText" lastClr="000000"/>
                </a:solidFill>
                <a:latin typeface="+mj-lt"/>
                <a:cs typeface="Arial Narrow"/>
              </a:rPr>
              <a:t>record:</a:t>
            </a:r>
            <a:endParaRPr sz="2000" kern="0" dirty="0">
              <a:solidFill>
                <a:sysClr val="windowText" lastClr="000000"/>
              </a:solidFill>
              <a:latin typeface="+mj-lt"/>
              <a:cs typeface="Arial Narrow"/>
            </a:endParaRPr>
          </a:p>
          <a:p>
            <a:pPr marL="16933" marR="2110687" defTabSz="1219170">
              <a:lnSpc>
                <a:spcPct val="100899"/>
              </a:lnSpc>
              <a:tabLst>
                <a:tab pos="3586390" algn="l"/>
              </a:tabLst>
            </a:pPr>
            <a:r>
              <a:rPr sz="2000" kern="0" spc="-240" dirty="0">
                <a:solidFill>
                  <a:srgbClr val="E36C09"/>
                </a:solidFill>
                <a:latin typeface="+mj-lt"/>
                <a:cs typeface="Arial Narrow"/>
              </a:rPr>
              <a:t>name</a:t>
            </a:r>
            <a:r>
              <a:rPr sz="2000" kern="0" spc="-73" dirty="0">
                <a:solidFill>
                  <a:srgbClr val="E36C09"/>
                </a:solidFill>
                <a:latin typeface="+mj-lt"/>
                <a:cs typeface="Arial Narrow"/>
              </a:rPr>
              <a:t> </a:t>
            </a:r>
            <a:r>
              <a:rPr sz="2000" kern="0" spc="-60" dirty="0">
                <a:solidFill>
                  <a:sysClr val="windowText" lastClr="000000"/>
                </a:solidFill>
                <a:latin typeface="+mj-lt"/>
                <a:cs typeface="Arial Narrow"/>
              </a:rPr>
              <a:t>is</a:t>
            </a:r>
            <a:r>
              <a:rPr sz="2000" kern="0" spc="-93" dirty="0">
                <a:solidFill>
                  <a:sysClr val="windowText" lastClr="000000"/>
                </a:solidFill>
                <a:latin typeface="+mj-lt"/>
                <a:cs typeface="Arial Narrow"/>
              </a:rPr>
              <a:t> </a:t>
            </a:r>
            <a:r>
              <a:rPr sz="2000" kern="0" spc="-133" dirty="0">
                <a:solidFill>
                  <a:sysClr val="windowText" lastClr="000000"/>
                </a:solidFill>
                <a:latin typeface="+mj-lt"/>
                <a:cs typeface="Arial Narrow"/>
              </a:rPr>
              <a:t>formatted</a:t>
            </a:r>
            <a:r>
              <a:rPr sz="2000" kern="0" spc="-53" dirty="0">
                <a:solidFill>
                  <a:sysClr val="windowText" lastClr="000000"/>
                </a:solidFill>
                <a:latin typeface="+mj-lt"/>
                <a:cs typeface="Arial Narrow"/>
              </a:rPr>
              <a:t> </a:t>
            </a:r>
            <a:r>
              <a:rPr sz="2000" kern="0" spc="-213" dirty="0">
                <a:solidFill>
                  <a:sysClr val="windowText" lastClr="000000"/>
                </a:solidFill>
                <a:latin typeface="+mj-lt"/>
                <a:cs typeface="Arial Narrow"/>
              </a:rPr>
              <a:t>as:</a:t>
            </a:r>
            <a:r>
              <a:rPr sz="2000" kern="0" spc="-73" dirty="0">
                <a:solidFill>
                  <a:sysClr val="windowText" lastClr="000000"/>
                </a:solidFill>
                <a:latin typeface="+mj-lt"/>
                <a:cs typeface="Arial Narrow"/>
              </a:rPr>
              <a:t> </a:t>
            </a:r>
            <a:r>
              <a:rPr sz="2000" kern="0" spc="-47" dirty="0">
                <a:solidFill>
                  <a:srgbClr val="E36C09"/>
                </a:solidFill>
                <a:latin typeface="+mj-lt"/>
                <a:cs typeface="Arial Narrow"/>
              </a:rPr>
              <a:t>Student_&lt;ID&gt;</a:t>
            </a:r>
            <a:r>
              <a:rPr sz="2000" kern="0" dirty="0">
                <a:solidFill>
                  <a:srgbClr val="E36C09"/>
                </a:solidFill>
                <a:latin typeface="+mj-lt"/>
                <a:cs typeface="Arial Narrow"/>
              </a:rPr>
              <a:t>	</a:t>
            </a:r>
            <a:r>
              <a:rPr sz="2000" kern="0" spc="-140" dirty="0">
                <a:solidFill>
                  <a:srgbClr val="E36C09"/>
                </a:solidFill>
                <a:latin typeface="+mj-lt"/>
                <a:cs typeface="Arial Narrow"/>
              </a:rPr>
              <a:t>[ID</a:t>
            </a:r>
            <a:r>
              <a:rPr sz="2000" kern="0" spc="-60" dirty="0">
                <a:solidFill>
                  <a:srgbClr val="E36C09"/>
                </a:solidFill>
                <a:latin typeface="+mj-lt"/>
                <a:cs typeface="Arial Narrow"/>
              </a:rPr>
              <a:t> </a:t>
            </a:r>
            <a:r>
              <a:rPr sz="2000" kern="0" spc="-73" dirty="0">
                <a:solidFill>
                  <a:srgbClr val="E36C09"/>
                </a:solidFill>
                <a:latin typeface="+mj-lt"/>
                <a:cs typeface="Arial Narrow"/>
              </a:rPr>
              <a:t>is</a:t>
            </a:r>
            <a:r>
              <a:rPr sz="2000" kern="0" spc="-87" dirty="0">
                <a:solidFill>
                  <a:srgbClr val="E36C09"/>
                </a:solidFill>
                <a:latin typeface="+mj-lt"/>
                <a:cs typeface="Arial Narrow"/>
              </a:rPr>
              <a:t> </a:t>
            </a:r>
            <a:r>
              <a:rPr sz="2000" kern="0" spc="-253" dirty="0">
                <a:solidFill>
                  <a:srgbClr val="E36C09"/>
                </a:solidFill>
                <a:latin typeface="+mj-lt"/>
                <a:cs typeface="Arial Narrow"/>
              </a:rPr>
              <a:t>an</a:t>
            </a:r>
            <a:r>
              <a:rPr sz="2000" kern="0" spc="-47" dirty="0">
                <a:solidFill>
                  <a:srgbClr val="E36C09"/>
                </a:solidFill>
                <a:latin typeface="+mj-lt"/>
                <a:cs typeface="Arial Narrow"/>
              </a:rPr>
              <a:t> </a:t>
            </a:r>
            <a:r>
              <a:rPr sz="2000" kern="0" spc="-147" dirty="0">
                <a:solidFill>
                  <a:srgbClr val="E36C09"/>
                </a:solidFill>
                <a:latin typeface="+mj-lt"/>
                <a:cs typeface="Arial Narrow"/>
              </a:rPr>
              <a:t>incremental</a:t>
            </a:r>
            <a:r>
              <a:rPr sz="2000" kern="0" spc="-73" dirty="0">
                <a:solidFill>
                  <a:srgbClr val="E36C09"/>
                </a:solidFill>
                <a:latin typeface="+mj-lt"/>
                <a:cs typeface="Arial Narrow"/>
              </a:rPr>
              <a:t> </a:t>
            </a:r>
            <a:r>
              <a:rPr sz="2000" kern="0" dirty="0">
                <a:solidFill>
                  <a:srgbClr val="E36C09"/>
                </a:solidFill>
                <a:latin typeface="+mj-lt"/>
                <a:cs typeface="Arial Narrow"/>
              </a:rPr>
              <a:t>3-</a:t>
            </a:r>
            <a:r>
              <a:rPr sz="2000" kern="0" spc="-73" dirty="0">
                <a:solidFill>
                  <a:srgbClr val="E36C09"/>
                </a:solidFill>
                <a:latin typeface="+mj-lt"/>
                <a:cs typeface="Arial Narrow"/>
              </a:rPr>
              <a:t>digit</a:t>
            </a:r>
            <a:r>
              <a:rPr sz="2000" kern="0" spc="-33" dirty="0">
                <a:solidFill>
                  <a:srgbClr val="E36C09"/>
                </a:solidFill>
                <a:latin typeface="+mj-lt"/>
                <a:cs typeface="Arial Narrow"/>
              </a:rPr>
              <a:t> </a:t>
            </a:r>
            <a:r>
              <a:rPr sz="2000" kern="0" spc="-187" dirty="0">
                <a:solidFill>
                  <a:srgbClr val="E36C09"/>
                </a:solidFill>
                <a:latin typeface="+mj-lt"/>
                <a:cs typeface="Arial Narrow"/>
              </a:rPr>
              <a:t>value</a:t>
            </a:r>
            <a:r>
              <a:rPr sz="2000" kern="0" spc="-113" dirty="0">
                <a:solidFill>
                  <a:srgbClr val="E36C09"/>
                </a:solidFill>
                <a:latin typeface="+mj-lt"/>
                <a:cs typeface="Arial Narrow"/>
              </a:rPr>
              <a:t> </a:t>
            </a:r>
            <a:r>
              <a:rPr sz="2000" kern="0" spc="-107" dirty="0">
                <a:solidFill>
                  <a:srgbClr val="E36C09"/>
                </a:solidFill>
                <a:latin typeface="+mj-lt"/>
                <a:cs typeface="Arial Narrow"/>
              </a:rPr>
              <a:t>from</a:t>
            </a:r>
            <a:r>
              <a:rPr sz="2000" kern="0" spc="-60" dirty="0">
                <a:solidFill>
                  <a:srgbClr val="E36C09"/>
                </a:solidFill>
                <a:latin typeface="+mj-lt"/>
                <a:cs typeface="Arial Narrow"/>
              </a:rPr>
              <a:t> </a:t>
            </a:r>
            <a:r>
              <a:rPr sz="2000" kern="0" spc="-120" dirty="0">
                <a:solidFill>
                  <a:srgbClr val="E36C09"/>
                </a:solidFill>
                <a:latin typeface="+mj-lt"/>
                <a:cs typeface="Arial Narrow"/>
              </a:rPr>
              <a:t>100</a:t>
            </a:r>
            <a:r>
              <a:rPr sz="2000" kern="0" spc="-100" dirty="0">
                <a:solidFill>
                  <a:srgbClr val="E36C09"/>
                </a:solidFill>
                <a:latin typeface="+mj-lt"/>
                <a:cs typeface="Arial Narrow"/>
              </a:rPr>
              <a:t> </a:t>
            </a:r>
            <a:r>
              <a:rPr sz="2000" kern="0" spc="-93" dirty="0">
                <a:solidFill>
                  <a:srgbClr val="E36C09"/>
                </a:solidFill>
                <a:latin typeface="+mj-lt"/>
                <a:cs typeface="Arial Narrow"/>
              </a:rPr>
              <a:t>to</a:t>
            </a:r>
            <a:r>
              <a:rPr sz="2000" kern="0" spc="-113" dirty="0">
                <a:solidFill>
                  <a:srgbClr val="E36C09"/>
                </a:solidFill>
                <a:latin typeface="+mj-lt"/>
                <a:cs typeface="Arial Narrow"/>
              </a:rPr>
              <a:t> </a:t>
            </a:r>
            <a:r>
              <a:rPr sz="2000" kern="0" spc="-53" dirty="0">
                <a:solidFill>
                  <a:srgbClr val="E36C09"/>
                </a:solidFill>
                <a:latin typeface="+mj-lt"/>
                <a:cs typeface="Arial Narrow"/>
              </a:rPr>
              <a:t>109] </a:t>
            </a:r>
            <a:r>
              <a:rPr sz="2000" kern="0" spc="-173" dirty="0">
                <a:solidFill>
                  <a:srgbClr val="E36C09"/>
                </a:solidFill>
                <a:latin typeface="+mj-lt"/>
                <a:cs typeface="Arial Narrow"/>
              </a:rPr>
              <a:t>mark</a:t>
            </a:r>
            <a:r>
              <a:rPr sz="2000" kern="0" spc="-60" dirty="0">
                <a:solidFill>
                  <a:srgbClr val="E36C09"/>
                </a:solidFill>
                <a:latin typeface="+mj-lt"/>
                <a:cs typeface="Arial Narrow"/>
              </a:rPr>
              <a:t> </a:t>
            </a:r>
            <a:r>
              <a:rPr sz="2000" kern="0" spc="-60" dirty="0">
                <a:solidFill>
                  <a:sysClr val="windowText" lastClr="000000"/>
                </a:solidFill>
                <a:latin typeface="+mj-lt"/>
                <a:cs typeface="Arial Narrow"/>
              </a:rPr>
              <a:t>is</a:t>
            </a:r>
            <a:r>
              <a:rPr sz="2000" kern="0" spc="-100" dirty="0">
                <a:solidFill>
                  <a:sysClr val="windowText" lastClr="000000"/>
                </a:solidFill>
                <a:latin typeface="+mj-lt"/>
                <a:cs typeface="Arial Narrow"/>
              </a:rPr>
              <a:t> </a:t>
            </a:r>
            <a:r>
              <a:rPr sz="2000" kern="0" spc="-293" dirty="0">
                <a:solidFill>
                  <a:sysClr val="windowText" lastClr="000000"/>
                </a:solidFill>
                <a:latin typeface="+mj-lt"/>
                <a:cs typeface="Arial Narrow"/>
              </a:rPr>
              <a:t>a</a:t>
            </a:r>
            <a:r>
              <a:rPr sz="2000" kern="0" spc="-80" dirty="0">
                <a:solidFill>
                  <a:sysClr val="windowText" lastClr="000000"/>
                </a:solidFill>
                <a:latin typeface="+mj-lt"/>
                <a:cs typeface="Arial Narrow"/>
              </a:rPr>
              <a:t> </a:t>
            </a:r>
            <a:r>
              <a:rPr sz="2000" kern="0" spc="-167" dirty="0">
                <a:solidFill>
                  <a:sysClr val="windowText" lastClr="000000"/>
                </a:solidFill>
                <a:latin typeface="+mj-lt"/>
                <a:cs typeface="Arial Narrow"/>
              </a:rPr>
              <a:t>randomly</a:t>
            </a:r>
            <a:r>
              <a:rPr sz="2000" kern="0" spc="-87" dirty="0">
                <a:solidFill>
                  <a:sysClr val="windowText" lastClr="000000"/>
                </a:solidFill>
                <a:latin typeface="+mj-lt"/>
                <a:cs typeface="Arial Narrow"/>
              </a:rPr>
              <a:t> </a:t>
            </a:r>
            <a:r>
              <a:rPr sz="2000" kern="0" spc="-180" dirty="0">
                <a:solidFill>
                  <a:sysClr val="windowText" lastClr="000000"/>
                </a:solidFill>
                <a:latin typeface="+mj-lt"/>
                <a:cs typeface="Arial Narrow"/>
              </a:rPr>
              <a:t>generated</a:t>
            </a:r>
            <a:r>
              <a:rPr sz="2000" kern="0" spc="-113" dirty="0">
                <a:solidFill>
                  <a:sysClr val="windowText" lastClr="000000"/>
                </a:solidFill>
                <a:latin typeface="+mj-lt"/>
                <a:cs typeface="Arial Narrow"/>
              </a:rPr>
              <a:t> </a:t>
            </a:r>
            <a:r>
              <a:rPr sz="2000" kern="0" spc="-120" dirty="0">
                <a:solidFill>
                  <a:sysClr val="windowText" lastClr="000000"/>
                </a:solidFill>
                <a:latin typeface="+mj-lt"/>
                <a:cs typeface="Arial Narrow"/>
              </a:rPr>
              <a:t>integer</a:t>
            </a:r>
            <a:r>
              <a:rPr sz="2000" kern="0" spc="-40" dirty="0">
                <a:solidFill>
                  <a:sysClr val="windowText" lastClr="000000"/>
                </a:solidFill>
                <a:latin typeface="+mj-lt"/>
                <a:cs typeface="Arial Narrow"/>
              </a:rPr>
              <a:t> </a:t>
            </a:r>
            <a:r>
              <a:rPr sz="2000" kern="0" spc="-187" dirty="0">
                <a:solidFill>
                  <a:sysClr val="windowText" lastClr="000000"/>
                </a:solidFill>
                <a:latin typeface="+mj-lt"/>
                <a:cs typeface="Arial Narrow"/>
              </a:rPr>
              <a:t>between</a:t>
            </a:r>
            <a:r>
              <a:rPr sz="2000" kern="0" spc="-80" dirty="0">
                <a:solidFill>
                  <a:sysClr val="windowText" lastClr="000000"/>
                </a:solidFill>
                <a:latin typeface="+mj-lt"/>
                <a:cs typeface="Arial Narrow"/>
              </a:rPr>
              <a:t> </a:t>
            </a:r>
            <a:r>
              <a:rPr sz="2000" kern="0" spc="-133" dirty="0">
                <a:solidFill>
                  <a:sysClr val="windowText" lastClr="000000"/>
                </a:solidFill>
                <a:latin typeface="+mj-lt"/>
                <a:cs typeface="Arial Narrow"/>
              </a:rPr>
              <a:t>1</a:t>
            </a:r>
            <a:r>
              <a:rPr sz="2000" kern="0" spc="-73" dirty="0">
                <a:solidFill>
                  <a:sysClr val="windowText" lastClr="000000"/>
                </a:solidFill>
                <a:latin typeface="+mj-lt"/>
                <a:cs typeface="Arial Narrow"/>
              </a:rPr>
              <a:t> </a:t>
            </a:r>
            <a:r>
              <a:rPr sz="2000" kern="0" spc="-213" dirty="0">
                <a:solidFill>
                  <a:sysClr val="windowText" lastClr="000000"/>
                </a:solidFill>
                <a:latin typeface="+mj-lt"/>
                <a:cs typeface="Arial Narrow"/>
              </a:rPr>
              <a:t>and</a:t>
            </a:r>
            <a:r>
              <a:rPr sz="2000" kern="0" spc="-140" dirty="0">
                <a:solidFill>
                  <a:sysClr val="windowText" lastClr="000000"/>
                </a:solidFill>
                <a:latin typeface="+mj-lt"/>
                <a:cs typeface="Arial Narrow"/>
              </a:rPr>
              <a:t> </a:t>
            </a:r>
            <a:r>
              <a:rPr sz="2000" kern="0" spc="-33" dirty="0">
                <a:solidFill>
                  <a:sysClr val="windowText" lastClr="000000"/>
                </a:solidFill>
                <a:latin typeface="+mj-lt"/>
                <a:cs typeface="Arial Narrow"/>
              </a:rPr>
              <a:t>100</a:t>
            </a:r>
            <a:endParaRPr sz="2000" kern="0" dirty="0">
              <a:solidFill>
                <a:sysClr val="windowText" lastClr="000000"/>
              </a:solidFill>
              <a:latin typeface="+mj-lt"/>
              <a:cs typeface="Arial Narrow"/>
            </a:endParaRPr>
          </a:p>
          <a:p>
            <a:pPr marL="16933" defTabSz="1219170">
              <a:lnSpc>
                <a:spcPts val="2807"/>
              </a:lnSpc>
            </a:pPr>
            <a:r>
              <a:rPr sz="2000" kern="0" spc="-200" dirty="0">
                <a:solidFill>
                  <a:srgbClr val="E36C09"/>
                </a:solidFill>
                <a:latin typeface="+mj-lt"/>
                <a:cs typeface="Arial Narrow"/>
              </a:rPr>
              <a:t>grade</a:t>
            </a:r>
            <a:r>
              <a:rPr sz="2000" kern="0" spc="-67" dirty="0">
                <a:solidFill>
                  <a:srgbClr val="E36C09"/>
                </a:solidFill>
                <a:latin typeface="+mj-lt"/>
                <a:cs typeface="Arial Narrow"/>
              </a:rPr>
              <a:t> </a:t>
            </a:r>
            <a:r>
              <a:rPr sz="2000" kern="0" spc="-73" dirty="0">
                <a:solidFill>
                  <a:sysClr val="windowText" lastClr="000000"/>
                </a:solidFill>
                <a:latin typeface="+mj-lt"/>
                <a:cs typeface="Arial Narrow"/>
              </a:rPr>
              <a:t>is</a:t>
            </a:r>
            <a:r>
              <a:rPr sz="2000" kern="0" spc="-93" dirty="0">
                <a:solidFill>
                  <a:sysClr val="windowText" lastClr="000000"/>
                </a:solidFill>
                <a:latin typeface="+mj-lt"/>
                <a:cs typeface="Arial Narrow"/>
              </a:rPr>
              <a:t> </a:t>
            </a:r>
            <a:r>
              <a:rPr sz="2000" kern="0" spc="-180" dirty="0">
                <a:solidFill>
                  <a:sysClr val="windowText" lastClr="000000"/>
                </a:solidFill>
                <a:latin typeface="+mj-lt"/>
                <a:cs typeface="Arial Narrow"/>
              </a:rPr>
              <a:t>calculated</a:t>
            </a:r>
            <a:r>
              <a:rPr sz="2000" kern="0" spc="-53" dirty="0">
                <a:solidFill>
                  <a:sysClr val="windowText" lastClr="000000"/>
                </a:solidFill>
                <a:latin typeface="+mj-lt"/>
                <a:cs typeface="Arial Narrow"/>
              </a:rPr>
              <a:t> </a:t>
            </a:r>
            <a:r>
              <a:rPr sz="2000" kern="0" spc="-107" dirty="0">
                <a:solidFill>
                  <a:sysClr val="windowText" lastClr="000000"/>
                </a:solidFill>
                <a:latin typeface="+mj-lt"/>
                <a:cs typeface="Arial Narrow"/>
              </a:rPr>
              <a:t>from</a:t>
            </a:r>
            <a:r>
              <a:rPr sz="2000" kern="0" spc="-73" dirty="0">
                <a:solidFill>
                  <a:sysClr val="windowText" lastClr="000000"/>
                </a:solidFill>
                <a:latin typeface="+mj-lt"/>
                <a:cs typeface="Arial Narrow"/>
              </a:rPr>
              <a:t> </a:t>
            </a:r>
            <a:r>
              <a:rPr sz="2000" kern="0" spc="-147" dirty="0">
                <a:solidFill>
                  <a:sysClr val="windowText" lastClr="000000"/>
                </a:solidFill>
                <a:latin typeface="+mj-lt"/>
                <a:cs typeface="Arial Narrow"/>
              </a:rPr>
              <a:t>the</a:t>
            </a:r>
            <a:r>
              <a:rPr sz="2000" kern="0" spc="-67" dirty="0">
                <a:solidFill>
                  <a:sysClr val="windowText" lastClr="000000"/>
                </a:solidFill>
                <a:latin typeface="+mj-lt"/>
                <a:cs typeface="Arial Narrow"/>
              </a:rPr>
              <a:t> </a:t>
            </a:r>
            <a:r>
              <a:rPr sz="2000" kern="0" spc="-152" dirty="0">
                <a:solidFill>
                  <a:sysClr val="windowText" lastClr="000000"/>
                </a:solidFill>
                <a:latin typeface="+mj-lt"/>
                <a:cs typeface="Arial Narrow"/>
              </a:rPr>
              <a:t>mark:</a:t>
            </a:r>
            <a:r>
              <a:rPr sz="2000" kern="0" spc="-80" dirty="0">
                <a:solidFill>
                  <a:sysClr val="windowText" lastClr="000000"/>
                </a:solidFill>
                <a:latin typeface="+mj-lt"/>
                <a:cs typeface="Arial Narrow"/>
              </a:rPr>
              <a:t> </a:t>
            </a:r>
            <a:r>
              <a:rPr sz="2000" kern="0" spc="-187" dirty="0">
                <a:solidFill>
                  <a:srgbClr val="E36C09"/>
                </a:solidFill>
                <a:latin typeface="+mj-lt"/>
                <a:cs typeface="Arial Narrow"/>
              </a:rPr>
              <a:t>[Z</a:t>
            </a:r>
            <a:r>
              <a:rPr sz="2000" kern="0" spc="-93" dirty="0">
                <a:solidFill>
                  <a:srgbClr val="E36C09"/>
                </a:solidFill>
                <a:latin typeface="+mj-lt"/>
                <a:cs typeface="Arial Narrow"/>
              </a:rPr>
              <a:t> </a:t>
            </a:r>
            <a:r>
              <a:rPr sz="2000" kern="0" spc="-193" dirty="0">
                <a:solidFill>
                  <a:srgbClr val="E36C09"/>
                </a:solidFill>
                <a:latin typeface="+mj-lt"/>
                <a:cs typeface="Arial Narrow"/>
              </a:rPr>
              <a:t>,</a:t>
            </a:r>
            <a:r>
              <a:rPr sz="2000" kern="0" spc="-73" dirty="0">
                <a:solidFill>
                  <a:srgbClr val="E36C09"/>
                </a:solidFill>
                <a:latin typeface="+mj-lt"/>
                <a:cs typeface="Arial Narrow"/>
              </a:rPr>
              <a:t> </a:t>
            </a:r>
            <a:r>
              <a:rPr sz="2000" kern="0" spc="-220" dirty="0">
                <a:solidFill>
                  <a:srgbClr val="E36C09"/>
                </a:solidFill>
                <a:latin typeface="+mj-lt"/>
                <a:cs typeface="Arial Narrow"/>
              </a:rPr>
              <a:t>P,</a:t>
            </a:r>
            <a:r>
              <a:rPr sz="2000" kern="0" spc="-87" dirty="0">
                <a:solidFill>
                  <a:srgbClr val="E36C09"/>
                </a:solidFill>
                <a:latin typeface="+mj-lt"/>
                <a:cs typeface="Arial Narrow"/>
              </a:rPr>
              <a:t> </a:t>
            </a:r>
            <a:r>
              <a:rPr sz="2000" kern="0" spc="-360" dirty="0">
                <a:solidFill>
                  <a:srgbClr val="E36C09"/>
                </a:solidFill>
                <a:latin typeface="+mj-lt"/>
                <a:cs typeface="Arial Narrow"/>
              </a:rPr>
              <a:t>C,</a:t>
            </a:r>
            <a:r>
              <a:rPr sz="2000" kern="0" spc="-80" dirty="0">
                <a:solidFill>
                  <a:srgbClr val="E36C09"/>
                </a:solidFill>
                <a:latin typeface="+mj-lt"/>
                <a:cs typeface="Arial Narrow"/>
              </a:rPr>
              <a:t> </a:t>
            </a:r>
            <a:r>
              <a:rPr sz="2000" kern="0" spc="-267" dirty="0">
                <a:solidFill>
                  <a:srgbClr val="E36C09"/>
                </a:solidFill>
                <a:latin typeface="+mj-lt"/>
                <a:cs typeface="Arial Narrow"/>
              </a:rPr>
              <a:t>D,</a:t>
            </a:r>
            <a:r>
              <a:rPr sz="2000" kern="0" spc="-40" dirty="0">
                <a:solidFill>
                  <a:srgbClr val="E36C09"/>
                </a:solidFill>
                <a:latin typeface="+mj-lt"/>
                <a:cs typeface="Arial Narrow"/>
              </a:rPr>
              <a:t> </a:t>
            </a:r>
            <a:r>
              <a:rPr sz="2000" kern="0" spc="-320" dirty="0">
                <a:solidFill>
                  <a:srgbClr val="E36C09"/>
                </a:solidFill>
                <a:latin typeface="+mj-lt"/>
                <a:cs typeface="Arial Narrow"/>
              </a:rPr>
              <a:t>HD</a:t>
            </a:r>
            <a:r>
              <a:rPr sz="2000" kern="0" spc="-73" dirty="0">
                <a:solidFill>
                  <a:srgbClr val="E36C09"/>
                </a:solidFill>
                <a:latin typeface="+mj-lt"/>
                <a:cs typeface="Arial Narrow"/>
              </a:rPr>
              <a:t> </a:t>
            </a:r>
            <a:r>
              <a:rPr sz="2000" kern="0" dirty="0">
                <a:solidFill>
                  <a:srgbClr val="E36C09"/>
                </a:solidFill>
                <a:latin typeface="+mj-lt"/>
                <a:cs typeface="Times New Roman"/>
              </a:rPr>
              <a:t>–</a:t>
            </a:r>
            <a:r>
              <a:rPr sz="2000" kern="0" spc="-127" dirty="0">
                <a:solidFill>
                  <a:srgbClr val="E36C09"/>
                </a:solidFill>
                <a:latin typeface="+mj-lt"/>
                <a:cs typeface="Times New Roman"/>
              </a:rPr>
              <a:t> </a:t>
            </a:r>
            <a:r>
              <a:rPr sz="2000" kern="0" spc="-120" dirty="0">
                <a:solidFill>
                  <a:srgbClr val="E36C09"/>
                </a:solidFill>
                <a:latin typeface="+mj-lt"/>
                <a:cs typeface="Arial Narrow"/>
              </a:rPr>
              <a:t>refer</a:t>
            </a:r>
            <a:r>
              <a:rPr sz="2000" kern="0" spc="-73" dirty="0">
                <a:solidFill>
                  <a:srgbClr val="E36C09"/>
                </a:solidFill>
                <a:latin typeface="+mj-lt"/>
                <a:cs typeface="Arial Narrow"/>
              </a:rPr>
              <a:t> </a:t>
            </a:r>
            <a:r>
              <a:rPr sz="2000" kern="0" spc="-93" dirty="0">
                <a:solidFill>
                  <a:srgbClr val="E36C09"/>
                </a:solidFill>
                <a:latin typeface="+mj-lt"/>
                <a:cs typeface="Arial Narrow"/>
              </a:rPr>
              <a:t>to</a:t>
            </a:r>
            <a:r>
              <a:rPr sz="2000" kern="0" spc="-120" dirty="0">
                <a:solidFill>
                  <a:srgbClr val="E36C09"/>
                </a:solidFill>
                <a:latin typeface="+mj-lt"/>
                <a:cs typeface="Arial Narrow"/>
              </a:rPr>
              <a:t> </a:t>
            </a:r>
            <a:r>
              <a:rPr sz="2000" kern="0" spc="-147" dirty="0">
                <a:solidFill>
                  <a:srgbClr val="E36C09"/>
                </a:solidFill>
                <a:latin typeface="+mj-lt"/>
                <a:cs typeface="Arial Narrow"/>
              </a:rPr>
              <a:t>the</a:t>
            </a:r>
            <a:r>
              <a:rPr sz="2000" kern="0" spc="-67" dirty="0">
                <a:solidFill>
                  <a:srgbClr val="E36C09"/>
                </a:solidFill>
                <a:latin typeface="+mj-lt"/>
                <a:cs typeface="Arial Narrow"/>
              </a:rPr>
              <a:t> </a:t>
            </a:r>
            <a:r>
              <a:rPr sz="2000" kern="0" spc="-373" dirty="0">
                <a:solidFill>
                  <a:srgbClr val="E36C09"/>
                </a:solidFill>
                <a:latin typeface="+mj-lt"/>
                <a:cs typeface="Arial Narrow"/>
              </a:rPr>
              <a:t>UTS</a:t>
            </a:r>
            <a:r>
              <a:rPr sz="2000" kern="0" spc="-67" dirty="0">
                <a:solidFill>
                  <a:srgbClr val="E36C09"/>
                </a:solidFill>
                <a:latin typeface="+mj-lt"/>
                <a:cs typeface="Arial Narrow"/>
              </a:rPr>
              <a:t> </a:t>
            </a:r>
            <a:r>
              <a:rPr sz="2000" kern="0" spc="-152" dirty="0">
                <a:solidFill>
                  <a:srgbClr val="E36C09"/>
                </a:solidFill>
                <a:latin typeface="+mj-lt"/>
                <a:cs typeface="Arial Narrow"/>
              </a:rPr>
              <a:t>grading</a:t>
            </a:r>
            <a:r>
              <a:rPr sz="2000" kern="0" spc="-33" dirty="0">
                <a:solidFill>
                  <a:srgbClr val="E36C09"/>
                </a:solidFill>
                <a:latin typeface="+mj-lt"/>
                <a:cs typeface="Arial Narrow"/>
              </a:rPr>
              <a:t> </a:t>
            </a:r>
            <a:r>
              <a:rPr sz="2000" kern="0" spc="-13" dirty="0">
                <a:solidFill>
                  <a:srgbClr val="E36C09"/>
                </a:solidFill>
                <a:latin typeface="+mj-lt"/>
                <a:cs typeface="Arial Narrow"/>
              </a:rPr>
              <a:t>schema]</a:t>
            </a:r>
            <a:endParaRPr sz="2000" kern="0" dirty="0">
              <a:solidFill>
                <a:sysClr val="windowText" lastClr="000000"/>
              </a:solidFill>
              <a:latin typeface="+mj-lt"/>
              <a:cs typeface="Arial Narrow"/>
            </a:endParaRPr>
          </a:p>
          <a:p>
            <a:pPr marL="397923" indent="-380990" defTabSz="1219170">
              <a:spcBef>
                <a:spcPts val="27"/>
              </a:spcBef>
              <a:buFont typeface="Arial"/>
              <a:buChar char="•"/>
              <a:tabLst>
                <a:tab pos="397923" algn="l"/>
              </a:tabLst>
            </a:pPr>
            <a:r>
              <a:rPr sz="2000" kern="0" spc="-187" dirty="0">
                <a:solidFill>
                  <a:sysClr val="windowText" lastClr="000000"/>
                </a:solidFill>
                <a:latin typeface="+mj-lt"/>
                <a:cs typeface="Arial Narrow"/>
              </a:rPr>
              <a:t>Faculty</a:t>
            </a:r>
            <a:r>
              <a:rPr sz="2000" kern="0" spc="-87" dirty="0">
                <a:solidFill>
                  <a:sysClr val="windowText" lastClr="000000"/>
                </a:solidFill>
                <a:latin typeface="+mj-lt"/>
                <a:cs typeface="Arial Narrow"/>
              </a:rPr>
              <a:t> </a:t>
            </a:r>
            <a:r>
              <a:rPr sz="2000" kern="0" spc="-213" dirty="0">
                <a:solidFill>
                  <a:sysClr val="windowText" lastClr="000000"/>
                </a:solidFill>
                <a:latin typeface="+mj-lt"/>
                <a:cs typeface="Arial Narrow"/>
              </a:rPr>
              <a:t>has</a:t>
            </a:r>
            <a:r>
              <a:rPr sz="2000" kern="0" spc="-100" dirty="0">
                <a:solidFill>
                  <a:sysClr val="windowText" lastClr="000000"/>
                </a:solidFill>
                <a:latin typeface="+mj-lt"/>
                <a:cs typeface="Arial Narrow"/>
              </a:rPr>
              <a:t> </a:t>
            </a:r>
            <a:r>
              <a:rPr sz="2000" kern="0" spc="-293" dirty="0">
                <a:solidFill>
                  <a:sysClr val="windowText" lastClr="000000"/>
                </a:solidFill>
                <a:latin typeface="+mj-lt"/>
                <a:cs typeface="Arial Narrow"/>
              </a:rPr>
              <a:t>a</a:t>
            </a:r>
            <a:r>
              <a:rPr sz="2000" kern="0" spc="-73" dirty="0">
                <a:solidFill>
                  <a:sysClr val="windowText" lastClr="000000"/>
                </a:solidFill>
                <a:latin typeface="+mj-lt"/>
                <a:cs typeface="Arial Narrow"/>
              </a:rPr>
              <a:t> </a:t>
            </a:r>
            <a:r>
              <a:rPr sz="2000" kern="0" spc="-180" dirty="0">
                <a:solidFill>
                  <a:sysClr val="windowText" lastClr="000000"/>
                </a:solidFill>
                <a:latin typeface="+mj-lt"/>
                <a:cs typeface="Arial Narrow"/>
              </a:rPr>
              <a:t>save()</a:t>
            </a:r>
            <a:r>
              <a:rPr sz="2000" kern="0" spc="-107" dirty="0">
                <a:solidFill>
                  <a:sysClr val="windowText" lastClr="000000"/>
                </a:solidFill>
                <a:latin typeface="+mj-lt"/>
                <a:cs typeface="Arial Narrow"/>
              </a:rPr>
              <a:t> </a:t>
            </a:r>
            <a:r>
              <a:rPr sz="2000" kern="0" spc="-173" dirty="0">
                <a:solidFill>
                  <a:sysClr val="windowText" lastClr="000000"/>
                </a:solidFill>
                <a:latin typeface="+mj-lt"/>
                <a:cs typeface="Arial Narrow"/>
              </a:rPr>
              <a:t>method</a:t>
            </a:r>
            <a:r>
              <a:rPr sz="2000" kern="0" spc="-67" dirty="0">
                <a:solidFill>
                  <a:sysClr val="windowText" lastClr="000000"/>
                </a:solidFill>
                <a:latin typeface="+mj-lt"/>
                <a:cs typeface="Arial Narrow"/>
              </a:rPr>
              <a:t> </a:t>
            </a:r>
            <a:r>
              <a:rPr sz="2000" kern="0" spc="-93" dirty="0">
                <a:solidFill>
                  <a:sysClr val="windowText" lastClr="000000"/>
                </a:solidFill>
                <a:latin typeface="+mj-lt"/>
                <a:cs typeface="Arial Narrow"/>
              </a:rPr>
              <a:t>to</a:t>
            </a:r>
            <a:r>
              <a:rPr sz="2000" kern="0" spc="-120" dirty="0">
                <a:solidFill>
                  <a:sysClr val="windowText" lastClr="000000"/>
                </a:solidFill>
                <a:latin typeface="+mj-lt"/>
                <a:cs typeface="Arial Narrow"/>
              </a:rPr>
              <a:t> </a:t>
            </a:r>
            <a:r>
              <a:rPr sz="2000" kern="0" spc="-240" dirty="0">
                <a:solidFill>
                  <a:sysClr val="windowText" lastClr="000000"/>
                </a:solidFill>
                <a:latin typeface="+mj-lt"/>
                <a:cs typeface="Arial Narrow"/>
              </a:rPr>
              <a:t>save</a:t>
            </a:r>
            <a:r>
              <a:rPr sz="2000" kern="0" spc="-60" dirty="0">
                <a:solidFill>
                  <a:sysClr val="windowText" lastClr="000000"/>
                </a:solidFill>
                <a:latin typeface="+mj-lt"/>
                <a:cs typeface="Arial Narrow"/>
              </a:rPr>
              <a:t> </a:t>
            </a:r>
            <a:r>
              <a:rPr sz="2000" kern="0" spc="-147" dirty="0">
                <a:solidFill>
                  <a:sysClr val="windowText" lastClr="000000"/>
                </a:solidFill>
                <a:latin typeface="+mj-lt"/>
                <a:cs typeface="Arial Narrow"/>
              </a:rPr>
              <a:t>the</a:t>
            </a:r>
            <a:r>
              <a:rPr sz="2000" kern="0" spc="-60" dirty="0">
                <a:solidFill>
                  <a:sysClr val="windowText" lastClr="000000"/>
                </a:solidFill>
                <a:latin typeface="+mj-lt"/>
                <a:cs typeface="Arial Narrow"/>
              </a:rPr>
              <a:t> </a:t>
            </a:r>
            <a:r>
              <a:rPr sz="2000" kern="0" spc="-152" dirty="0">
                <a:solidFill>
                  <a:sysClr val="windowText" lastClr="000000"/>
                </a:solidFill>
                <a:latin typeface="+mj-lt"/>
                <a:cs typeface="Arial Narrow"/>
              </a:rPr>
              <a:t>students</a:t>
            </a:r>
            <a:r>
              <a:rPr sz="2000" kern="0" spc="-53" dirty="0">
                <a:solidFill>
                  <a:sysClr val="windowText" lastClr="000000"/>
                </a:solidFill>
                <a:latin typeface="+mj-lt"/>
                <a:cs typeface="Arial Narrow"/>
              </a:rPr>
              <a:t> </a:t>
            </a:r>
            <a:r>
              <a:rPr sz="2000" kern="0" spc="-200" dirty="0">
                <a:solidFill>
                  <a:sysClr val="windowText" lastClr="000000"/>
                </a:solidFill>
                <a:latin typeface="+mj-lt"/>
                <a:cs typeface="Arial Narrow"/>
              </a:rPr>
              <a:t>data</a:t>
            </a:r>
            <a:r>
              <a:rPr sz="2000" kern="0" spc="-107" dirty="0">
                <a:solidFill>
                  <a:sysClr val="windowText" lastClr="000000"/>
                </a:solidFill>
                <a:latin typeface="+mj-lt"/>
                <a:cs typeface="Arial Narrow"/>
              </a:rPr>
              <a:t> </a:t>
            </a:r>
            <a:r>
              <a:rPr sz="2000" kern="0" spc="-93" dirty="0">
                <a:solidFill>
                  <a:sysClr val="windowText" lastClr="000000"/>
                </a:solidFill>
                <a:latin typeface="+mj-lt"/>
                <a:cs typeface="Arial Narrow"/>
              </a:rPr>
              <a:t>to</a:t>
            </a:r>
            <a:r>
              <a:rPr sz="2000" kern="0" spc="-113" dirty="0">
                <a:solidFill>
                  <a:sysClr val="windowText" lastClr="000000"/>
                </a:solidFill>
                <a:latin typeface="+mj-lt"/>
                <a:cs typeface="Arial Narrow"/>
              </a:rPr>
              <a:t> </a:t>
            </a:r>
            <a:r>
              <a:rPr sz="2000" kern="0" spc="-293" dirty="0">
                <a:solidFill>
                  <a:sysClr val="windowText" lastClr="000000"/>
                </a:solidFill>
                <a:latin typeface="+mj-lt"/>
                <a:cs typeface="Arial Narrow"/>
              </a:rPr>
              <a:t>a</a:t>
            </a:r>
            <a:r>
              <a:rPr sz="2000" kern="0" spc="-73" dirty="0">
                <a:solidFill>
                  <a:sysClr val="windowText" lastClr="000000"/>
                </a:solidFill>
                <a:latin typeface="+mj-lt"/>
                <a:cs typeface="Arial Narrow"/>
              </a:rPr>
              <a:t> </a:t>
            </a:r>
            <a:r>
              <a:rPr sz="2000" kern="0" spc="-53" dirty="0">
                <a:solidFill>
                  <a:sysClr val="windowText" lastClr="000000"/>
                </a:solidFill>
                <a:latin typeface="+mj-lt"/>
                <a:cs typeface="Arial Narrow"/>
              </a:rPr>
              <a:t>file</a:t>
            </a:r>
            <a:r>
              <a:rPr sz="2000" kern="0" spc="-100" dirty="0">
                <a:solidFill>
                  <a:sysClr val="windowText" lastClr="000000"/>
                </a:solidFill>
                <a:latin typeface="+mj-lt"/>
                <a:cs typeface="Arial Narrow"/>
              </a:rPr>
              <a:t> </a:t>
            </a:r>
            <a:r>
              <a:rPr sz="2000" kern="0" spc="-140" dirty="0">
                <a:solidFill>
                  <a:sysClr val="windowText" lastClr="000000"/>
                </a:solidFill>
                <a:latin typeface="+mj-lt"/>
                <a:cs typeface="Arial Narrow"/>
              </a:rPr>
              <a:t>“grades.csv”</a:t>
            </a:r>
            <a:r>
              <a:rPr sz="2000" kern="0" spc="-27" dirty="0">
                <a:solidFill>
                  <a:sysClr val="windowText" lastClr="000000"/>
                </a:solidFill>
                <a:latin typeface="+mj-lt"/>
                <a:cs typeface="Arial Narrow"/>
              </a:rPr>
              <a:t> </a:t>
            </a:r>
            <a:r>
              <a:rPr sz="2000" kern="0" spc="-180" dirty="0">
                <a:solidFill>
                  <a:sysClr val="windowText" lastClr="000000"/>
                </a:solidFill>
                <a:latin typeface="+mj-lt"/>
                <a:cs typeface="Arial Narrow"/>
              </a:rPr>
              <a:t>[open</a:t>
            </a:r>
            <a:r>
              <a:rPr sz="2000" kern="0" spc="-113" dirty="0">
                <a:solidFill>
                  <a:sysClr val="windowText" lastClr="000000"/>
                </a:solidFill>
                <a:latin typeface="+mj-lt"/>
                <a:cs typeface="Arial Narrow"/>
              </a:rPr>
              <a:t> </a:t>
            </a:r>
            <a:r>
              <a:rPr sz="2000" kern="0" spc="-147" dirty="0">
                <a:solidFill>
                  <a:sysClr val="windowText" lastClr="000000"/>
                </a:solidFill>
                <a:latin typeface="+mj-lt"/>
                <a:cs typeface="Arial Narrow"/>
              </a:rPr>
              <a:t>the</a:t>
            </a:r>
            <a:r>
              <a:rPr sz="2000" kern="0" spc="-60" dirty="0">
                <a:solidFill>
                  <a:sysClr val="windowText" lastClr="000000"/>
                </a:solidFill>
                <a:latin typeface="+mj-lt"/>
                <a:cs typeface="Arial Narrow"/>
              </a:rPr>
              <a:t> </a:t>
            </a:r>
            <a:r>
              <a:rPr sz="2000" kern="0" spc="-53" dirty="0">
                <a:solidFill>
                  <a:sysClr val="windowText" lastClr="000000"/>
                </a:solidFill>
                <a:latin typeface="+mj-lt"/>
                <a:cs typeface="Arial Narrow"/>
              </a:rPr>
              <a:t>file</a:t>
            </a:r>
            <a:r>
              <a:rPr sz="2000" kern="0" spc="-100" dirty="0">
                <a:solidFill>
                  <a:sysClr val="windowText" lastClr="000000"/>
                </a:solidFill>
                <a:latin typeface="+mj-lt"/>
                <a:cs typeface="Arial Narrow"/>
              </a:rPr>
              <a:t> </a:t>
            </a:r>
            <a:r>
              <a:rPr sz="2000" kern="0" spc="-60" dirty="0">
                <a:solidFill>
                  <a:sysClr val="windowText" lastClr="000000"/>
                </a:solidFill>
                <a:latin typeface="+mj-lt"/>
                <a:cs typeface="Arial Narrow"/>
              </a:rPr>
              <a:t>in</a:t>
            </a:r>
            <a:r>
              <a:rPr sz="2000" kern="0" spc="-87" dirty="0">
                <a:solidFill>
                  <a:sysClr val="windowText" lastClr="000000"/>
                </a:solidFill>
                <a:latin typeface="+mj-lt"/>
                <a:cs typeface="Arial Narrow"/>
              </a:rPr>
              <a:t> </a:t>
            </a:r>
            <a:r>
              <a:rPr sz="2000" kern="0" spc="-120" dirty="0">
                <a:solidFill>
                  <a:sysClr val="windowText" lastClr="000000"/>
                </a:solidFill>
                <a:latin typeface="+mj-lt"/>
                <a:cs typeface="Arial Narrow"/>
              </a:rPr>
              <a:t>overwrite</a:t>
            </a:r>
            <a:r>
              <a:rPr sz="2000" kern="0" spc="-107" dirty="0">
                <a:solidFill>
                  <a:sysClr val="windowText" lastClr="000000"/>
                </a:solidFill>
                <a:latin typeface="+mj-lt"/>
                <a:cs typeface="Arial Narrow"/>
              </a:rPr>
              <a:t> </a:t>
            </a:r>
            <a:r>
              <a:rPr sz="2000" kern="0" spc="-13" dirty="0">
                <a:solidFill>
                  <a:sysClr val="windowText" lastClr="000000"/>
                </a:solidFill>
                <a:latin typeface="+mj-lt"/>
                <a:cs typeface="Arial Narrow"/>
              </a:rPr>
              <a:t>mode]</a:t>
            </a:r>
            <a:endParaRPr sz="2000" kern="0" dirty="0">
              <a:solidFill>
                <a:sysClr val="windowText" lastClr="000000"/>
              </a:solidFill>
              <a:latin typeface="+mj-lt"/>
              <a:cs typeface="Arial Narrow"/>
            </a:endParaRPr>
          </a:p>
          <a:p>
            <a:pPr marL="397923" indent="-380990" defTabSz="1219170">
              <a:spcBef>
                <a:spcPts val="27"/>
              </a:spcBef>
              <a:buFont typeface="Arial"/>
              <a:buChar char="•"/>
              <a:tabLst>
                <a:tab pos="397923" algn="l"/>
              </a:tabLst>
            </a:pPr>
            <a:r>
              <a:rPr sz="2000" kern="0" spc="-180" dirty="0">
                <a:solidFill>
                  <a:sysClr val="windowText" lastClr="000000"/>
                </a:solidFill>
                <a:latin typeface="+mj-lt"/>
                <a:cs typeface="Arial Narrow"/>
              </a:rPr>
              <a:t>Faculty</a:t>
            </a:r>
            <a:r>
              <a:rPr sz="2000" kern="0" spc="-87" dirty="0">
                <a:solidFill>
                  <a:sysClr val="windowText" lastClr="000000"/>
                </a:solidFill>
                <a:latin typeface="+mj-lt"/>
                <a:cs typeface="Arial Narrow"/>
              </a:rPr>
              <a:t> </a:t>
            </a:r>
            <a:r>
              <a:rPr sz="2000" kern="0" spc="-213" dirty="0">
                <a:solidFill>
                  <a:sysClr val="windowText" lastClr="000000"/>
                </a:solidFill>
                <a:latin typeface="+mj-lt"/>
                <a:cs typeface="Arial Narrow"/>
              </a:rPr>
              <a:t>has</a:t>
            </a:r>
            <a:r>
              <a:rPr sz="2000" kern="0" spc="-113" dirty="0">
                <a:solidFill>
                  <a:sysClr val="windowText" lastClr="000000"/>
                </a:solidFill>
                <a:latin typeface="+mj-lt"/>
                <a:cs typeface="Arial Narrow"/>
              </a:rPr>
              <a:t> </a:t>
            </a:r>
            <a:r>
              <a:rPr sz="2000" kern="0" spc="-293" dirty="0">
                <a:solidFill>
                  <a:sysClr val="windowText" lastClr="000000"/>
                </a:solidFill>
                <a:latin typeface="+mj-lt"/>
                <a:cs typeface="Arial Narrow"/>
              </a:rPr>
              <a:t>a</a:t>
            </a:r>
            <a:r>
              <a:rPr sz="2000" kern="0" spc="-73" dirty="0">
                <a:solidFill>
                  <a:sysClr val="windowText" lastClr="000000"/>
                </a:solidFill>
                <a:latin typeface="+mj-lt"/>
                <a:cs typeface="Arial Narrow"/>
              </a:rPr>
              <a:t> </a:t>
            </a:r>
            <a:r>
              <a:rPr sz="2000" kern="0" spc="-147" dirty="0">
                <a:solidFill>
                  <a:sysClr val="windowText" lastClr="000000"/>
                </a:solidFill>
                <a:latin typeface="+mj-lt"/>
                <a:cs typeface="Arial Narrow"/>
              </a:rPr>
              <a:t>show()</a:t>
            </a:r>
            <a:r>
              <a:rPr sz="2000" kern="0" spc="-27" dirty="0">
                <a:solidFill>
                  <a:sysClr val="windowText" lastClr="000000"/>
                </a:solidFill>
                <a:latin typeface="+mj-lt"/>
                <a:cs typeface="Arial Narrow"/>
              </a:rPr>
              <a:t> </a:t>
            </a:r>
            <a:r>
              <a:rPr sz="2000" kern="0" spc="-173" dirty="0">
                <a:solidFill>
                  <a:sysClr val="windowText" lastClr="000000"/>
                </a:solidFill>
                <a:latin typeface="+mj-lt"/>
                <a:cs typeface="Arial Narrow"/>
              </a:rPr>
              <a:t>method</a:t>
            </a:r>
            <a:r>
              <a:rPr sz="2000" kern="0" spc="-67" dirty="0">
                <a:solidFill>
                  <a:sysClr val="windowText" lastClr="000000"/>
                </a:solidFill>
                <a:latin typeface="+mj-lt"/>
                <a:cs typeface="Arial Narrow"/>
              </a:rPr>
              <a:t> </a:t>
            </a:r>
            <a:r>
              <a:rPr sz="2000" kern="0" spc="-120" dirty="0">
                <a:solidFill>
                  <a:sysClr val="windowText" lastClr="000000"/>
                </a:solidFill>
                <a:latin typeface="+mj-lt"/>
                <a:cs typeface="Arial Narrow"/>
              </a:rPr>
              <a:t>that</a:t>
            </a:r>
            <a:r>
              <a:rPr sz="2000" kern="0" spc="-47" dirty="0">
                <a:solidFill>
                  <a:sysClr val="windowText" lastClr="000000"/>
                </a:solidFill>
                <a:latin typeface="+mj-lt"/>
                <a:cs typeface="Arial Narrow"/>
              </a:rPr>
              <a:t> </a:t>
            </a:r>
            <a:r>
              <a:rPr sz="2000" kern="0" spc="-160" dirty="0">
                <a:solidFill>
                  <a:sysClr val="windowText" lastClr="000000"/>
                </a:solidFill>
                <a:latin typeface="+mj-lt"/>
                <a:cs typeface="Arial Narrow"/>
              </a:rPr>
              <a:t>displays</a:t>
            </a:r>
            <a:r>
              <a:rPr sz="2000" kern="0" spc="-47" dirty="0">
                <a:solidFill>
                  <a:sysClr val="windowText" lastClr="000000"/>
                </a:solidFill>
                <a:latin typeface="+mj-lt"/>
                <a:cs typeface="Arial Narrow"/>
              </a:rPr>
              <a:t> </a:t>
            </a:r>
            <a:r>
              <a:rPr sz="2000" kern="0" spc="-152" dirty="0">
                <a:solidFill>
                  <a:sysClr val="windowText" lastClr="000000"/>
                </a:solidFill>
                <a:latin typeface="+mj-lt"/>
                <a:cs typeface="Arial Narrow"/>
              </a:rPr>
              <a:t>the</a:t>
            </a:r>
            <a:r>
              <a:rPr sz="2000" kern="0" spc="-60" dirty="0">
                <a:solidFill>
                  <a:sysClr val="windowText" lastClr="000000"/>
                </a:solidFill>
                <a:latin typeface="+mj-lt"/>
                <a:cs typeface="Arial Narrow"/>
              </a:rPr>
              <a:t> </a:t>
            </a:r>
            <a:r>
              <a:rPr sz="2000" kern="0" spc="-167" dirty="0">
                <a:solidFill>
                  <a:sysClr val="windowText" lastClr="000000"/>
                </a:solidFill>
                <a:latin typeface="+mj-lt"/>
                <a:cs typeface="Arial Narrow"/>
              </a:rPr>
              <a:t>content</a:t>
            </a:r>
            <a:r>
              <a:rPr sz="2000" kern="0" spc="-53" dirty="0">
                <a:solidFill>
                  <a:sysClr val="windowText" lastClr="000000"/>
                </a:solidFill>
                <a:latin typeface="+mj-lt"/>
                <a:cs typeface="Arial Narrow"/>
              </a:rPr>
              <a:t> </a:t>
            </a:r>
            <a:r>
              <a:rPr sz="2000" kern="0" spc="-107" dirty="0">
                <a:solidFill>
                  <a:sysClr val="windowText" lastClr="000000"/>
                </a:solidFill>
                <a:latin typeface="+mj-lt"/>
                <a:cs typeface="Arial Narrow"/>
              </a:rPr>
              <a:t>of</a:t>
            </a:r>
            <a:r>
              <a:rPr sz="2000" kern="0" spc="-80" dirty="0">
                <a:solidFill>
                  <a:sysClr val="windowText" lastClr="000000"/>
                </a:solidFill>
                <a:latin typeface="+mj-lt"/>
                <a:cs typeface="Arial Narrow"/>
              </a:rPr>
              <a:t> </a:t>
            </a:r>
            <a:r>
              <a:rPr sz="2000" kern="0" spc="-40" dirty="0">
                <a:solidFill>
                  <a:sysClr val="windowText" lastClr="000000"/>
                </a:solidFill>
                <a:latin typeface="+mj-lt"/>
                <a:cs typeface="Arial Narrow"/>
              </a:rPr>
              <a:t>grades.csv</a:t>
            </a:r>
            <a:endParaRPr sz="2000" kern="0" dirty="0">
              <a:solidFill>
                <a:sysClr val="windowText" lastClr="000000"/>
              </a:solidFill>
              <a:latin typeface="+mj-lt"/>
              <a:cs typeface="Arial Narrow"/>
            </a:endParaRPr>
          </a:p>
          <a:p>
            <a:pPr marL="397923" indent="-380990" defTabSz="1219170">
              <a:lnSpc>
                <a:spcPts val="2840"/>
              </a:lnSpc>
              <a:spcBef>
                <a:spcPts val="27"/>
              </a:spcBef>
              <a:buFont typeface="Arial"/>
              <a:buChar char="•"/>
              <a:tabLst>
                <a:tab pos="397923" algn="l"/>
              </a:tabLst>
            </a:pPr>
            <a:r>
              <a:rPr sz="2000" kern="0" spc="-187" dirty="0">
                <a:solidFill>
                  <a:sysClr val="windowText" lastClr="000000"/>
                </a:solidFill>
                <a:latin typeface="+mj-lt"/>
                <a:cs typeface="Arial Narrow"/>
              </a:rPr>
              <a:t>Faculty</a:t>
            </a:r>
            <a:r>
              <a:rPr sz="2000" kern="0" spc="-80" dirty="0">
                <a:solidFill>
                  <a:sysClr val="windowText" lastClr="000000"/>
                </a:solidFill>
                <a:latin typeface="+mj-lt"/>
                <a:cs typeface="Arial Narrow"/>
              </a:rPr>
              <a:t> </a:t>
            </a:r>
            <a:r>
              <a:rPr sz="2000" kern="0" spc="-213" dirty="0">
                <a:solidFill>
                  <a:sysClr val="windowText" lastClr="000000"/>
                </a:solidFill>
                <a:latin typeface="+mj-lt"/>
                <a:cs typeface="Arial Narrow"/>
              </a:rPr>
              <a:t>has</a:t>
            </a:r>
            <a:r>
              <a:rPr sz="2000" kern="0" spc="-107" dirty="0">
                <a:solidFill>
                  <a:sysClr val="windowText" lastClr="000000"/>
                </a:solidFill>
                <a:latin typeface="+mj-lt"/>
                <a:cs typeface="Arial Narrow"/>
              </a:rPr>
              <a:t> </a:t>
            </a:r>
            <a:r>
              <a:rPr sz="2000" kern="0" spc="-293" dirty="0">
                <a:solidFill>
                  <a:sysClr val="windowText" lastClr="000000"/>
                </a:solidFill>
                <a:latin typeface="+mj-lt"/>
                <a:cs typeface="Arial Narrow"/>
              </a:rPr>
              <a:t>a</a:t>
            </a:r>
            <a:r>
              <a:rPr sz="2000" kern="0" spc="-67" dirty="0">
                <a:solidFill>
                  <a:sysClr val="windowText" lastClr="000000"/>
                </a:solidFill>
                <a:latin typeface="+mj-lt"/>
                <a:cs typeface="Arial Narrow"/>
              </a:rPr>
              <a:t> </a:t>
            </a:r>
            <a:r>
              <a:rPr sz="2000" kern="0" spc="-160" dirty="0">
                <a:solidFill>
                  <a:sysClr val="windowText" lastClr="000000"/>
                </a:solidFill>
                <a:latin typeface="+mj-lt"/>
                <a:cs typeface="Arial Narrow"/>
              </a:rPr>
              <a:t>menu()</a:t>
            </a:r>
            <a:r>
              <a:rPr sz="2000" kern="0" spc="-113" dirty="0">
                <a:solidFill>
                  <a:sysClr val="windowText" lastClr="000000"/>
                </a:solidFill>
                <a:latin typeface="+mj-lt"/>
                <a:cs typeface="Arial Narrow"/>
              </a:rPr>
              <a:t> </a:t>
            </a:r>
            <a:r>
              <a:rPr sz="2000" kern="0" spc="-173" dirty="0">
                <a:solidFill>
                  <a:sysClr val="windowText" lastClr="000000"/>
                </a:solidFill>
                <a:latin typeface="+mj-lt"/>
                <a:cs typeface="Arial Narrow"/>
              </a:rPr>
              <a:t>method</a:t>
            </a:r>
            <a:r>
              <a:rPr sz="2000" kern="0" spc="-53" dirty="0">
                <a:solidFill>
                  <a:sysClr val="windowText" lastClr="000000"/>
                </a:solidFill>
                <a:latin typeface="+mj-lt"/>
                <a:cs typeface="Arial Narrow"/>
              </a:rPr>
              <a:t> </a:t>
            </a:r>
            <a:r>
              <a:rPr sz="2000" kern="0" spc="-127" dirty="0">
                <a:solidFill>
                  <a:sysClr val="windowText" lastClr="000000"/>
                </a:solidFill>
                <a:latin typeface="+mj-lt"/>
                <a:cs typeface="Arial Narrow"/>
              </a:rPr>
              <a:t>that</a:t>
            </a:r>
            <a:r>
              <a:rPr sz="2000" kern="0" spc="-47" dirty="0">
                <a:solidFill>
                  <a:sysClr val="windowText" lastClr="000000"/>
                </a:solidFill>
                <a:latin typeface="+mj-lt"/>
                <a:cs typeface="Arial Narrow"/>
              </a:rPr>
              <a:t> </a:t>
            </a:r>
            <a:r>
              <a:rPr sz="2000" kern="0" spc="-113" dirty="0">
                <a:solidFill>
                  <a:sysClr val="windowText" lastClr="000000"/>
                </a:solidFill>
                <a:latin typeface="+mj-lt"/>
                <a:cs typeface="Arial Narrow"/>
              </a:rPr>
              <a:t>offers</a:t>
            </a:r>
            <a:r>
              <a:rPr sz="2000" kern="0" spc="-60" dirty="0">
                <a:solidFill>
                  <a:sysClr val="windowText" lastClr="000000"/>
                </a:solidFill>
                <a:latin typeface="+mj-lt"/>
                <a:cs typeface="Arial Narrow"/>
              </a:rPr>
              <a:t> </a:t>
            </a:r>
            <a:r>
              <a:rPr sz="2000" kern="0" spc="-147" dirty="0">
                <a:solidFill>
                  <a:sysClr val="windowText" lastClr="000000"/>
                </a:solidFill>
                <a:latin typeface="+mj-lt"/>
                <a:cs typeface="Arial Narrow"/>
              </a:rPr>
              <a:t>the</a:t>
            </a:r>
            <a:r>
              <a:rPr sz="2000" kern="0" spc="-53" dirty="0">
                <a:solidFill>
                  <a:sysClr val="windowText" lastClr="000000"/>
                </a:solidFill>
                <a:latin typeface="+mj-lt"/>
                <a:cs typeface="Arial Narrow"/>
              </a:rPr>
              <a:t> </a:t>
            </a:r>
            <a:r>
              <a:rPr sz="2000" kern="0" spc="-100" dirty="0">
                <a:solidFill>
                  <a:sysClr val="windowText" lastClr="000000"/>
                </a:solidFill>
                <a:latin typeface="+mj-lt"/>
                <a:cs typeface="Arial Narrow"/>
              </a:rPr>
              <a:t>following</a:t>
            </a:r>
            <a:r>
              <a:rPr sz="2000" kern="0" spc="-40" dirty="0">
                <a:solidFill>
                  <a:sysClr val="windowText" lastClr="000000"/>
                </a:solidFill>
                <a:latin typeface="+mj-lt"/>
                <a:cs typeface="Arial Narrow"/>
              </a:rPr>
              <a:t> </a:t>
            </a:r>
            <a:r>
              <a:rPr sz="2000" kern="0" spc="-180" dirty="0">
                <a:solidFill>
                  <a:sysClr val="windowText" lastClr="000000"/>
                </a:solidFill>
                <a:latin typeface="+mj-lt"/>
                <a:cs typeface="Arial Narrow"/>
              </a:rPr>
              <a:t>choices</a:t>
            </a:r>
            <a:r>
              <a:rPr sz="2000" kern="0" spc="-93" dirty="0">
                <a:solidFill>
                  <a:sysClr val="windowText" lastClr="000000"/>
                </a:solidFill>
                <a:latin typeface="+mj-lt"/>
                <a:cs typeface="Arial Narrow"/>
              </a:rPr>
              <a:t> </a:t>
            </a:r>
            <a:r>
              <a:rPr sz="2000" kern="0" spc="-13" dirty="0">
                <a:solidFill>
                  <a:sysClr val="windowText" lastClr="000000"/>
                </a:solidFill>
                <a:latin typeface="+mj-lt"/>
                <a:cs typeface="Arial Narrow"/>
              </a:rPr>
              <a:t>(p/s/v/x)</a:t>
            </a:r>
            <a:endParaRPr sz="2000" kern="0" dirty="0">
              <a:solidFill>
                <a:sysClr val="windowText" lastClr="000000"/>
              </a:solidFill>
              <a:latin typeface="+mj-lt"/>
              <a:cs typeface="Arial Narrow"/>
            </a:endParaRPr>
          </a:p>
          <a:p>
            <a:pPr marL="1236949" marR="216741" defTabSz="1219170">
              <a:lnSpc>
                <a:spcPts val="2907"/>
              </a:lnSpc>
              <a:spcBef>
                <a:spcPts val="33"/>
              </a:spcBef>
            </a:pPr>
            <a:r>
              <a:rPr sz="2000" kern="0" spc="-67" dirty="0">
                <a:solidFill>
                  <a:sysClr val="windowText" lastClr="000000"/>
                </a:solidFill>
                <a:latin typeface="+mj-lt"/>
                <a:cs typeface="Arial Narrow"/>
              </a:rPr>
              <a:t>(</a:t>
            </a:r>
            <a:r>
              <a:rPr sz="2000" kern="0" spc="-80" dirty="0">
                <a:solidFill>
                  <a:sysClr val="windowText" lastClr="000000"/>
                </a:solidFill>
                <a:latin typeface="+mj-lt"/>
                <a:cs typeface="Arial Narrow"/>
              </a:rPr>
              <a:t> </a:t>
            </a:r>
            <a:r>
              <a:rPr sz="2000" kern="0" spc="-260" dirty="0">
                <a:solidFill>
                  <a:sysClr val="windowText" lastClr="000000"/>
                </a:solidFill>
                <a:latin typeface="+mj-lt"/>
                <a:cs typeface="Arial Narrow"/>
              </a:rPr>
              <a:t>e</a:t>
            </a:r>
            <a:r>
              <a:rPr sz="2000" kern="0" spc="-73" dirty="0">
                <a:solidFill>
                  <a:sysClr val="windowText" lastClr="000000"/>
                </a:solidFill>
                <a:latin typeface="+mj-lt"/>
                <a:cs typeface="Arial Narrow"/>
              </a:rPr>
              <a:t> </a:t>
            </a:r>
            <a:r>
              <a:rPr sz="2000" kern="0" dirty="0">
                <a:solidFill>
                  <a:sysClr val="windowText" lastClr="000000"/>
                </a:solidFill>
                <a:latin typeface="+mj-lt"/>
                <a:cs typeface="Arial Narrow"/>
              </a:rPr>
              <a:t>)</a:t>
            </a:r>
            <a:r>
              <a:rPr sz="2000" kern="0" spc="393" dirty="0">
                <a:solidFill>
                  <a:sysClr val="windowText" lastClr="000000"/>
                </a:solidFill>
                <a:latin typeface="+mj-lt"/>
                <a:cs typeface="Arial Narrow"/>
              </a:rPr>
              <a:t> </a:t>
            </a:r>
            <a:r>
              <a:rPr sz="2000" kern="0" spc="-147" dirty="0">
                <a:solidFill>
                  <a:sysClr val="windowText" lastClr="000000"/>
                </a:solidFill>
                <a:latin typeface="+mj-lt"/>
                <a:cs typeface="Arial Narrow"/>
              </a:rPr>
              <a:t>enrol</a:t>
            </a:r>
            <a:r>
              <a:rPr sz="2000" kern="0" spc="-33" dirty="0">
                <a:solidFill>
                  <a:sysClr val="windowText" lastClr="000000"/>
                </a:solidFill>
                <a:latin typeface="+mj-lt"/>
                <a:cs typeface="Arial Narrow"/>
              </a:rPr>
              <a:t> </a:t>
            </a:r>
            <a:r>
              <a:rPr sz="2000" kern="0" dirty="0">
                <a:solidFill>
                  <a:sysClr val="windowText" lastClr="000000"/>
                </a:solidFill>
                <a:latin typeface="+mj-lt"/>
                <a:cs typeface="Times New Roman"/>
              </a:rPr>
              <a:t>–</a:t>
            </a:r>
            <a:r>
              <a:rPr sz="2000" kern="0" spc="-133" dirty="0">
                <a:solidFill>
                  <a:sysClr val="windowText" lastClr="000000"/>
                </a:solidFill>
                <a:latin typeface="+mj-lt"/>
                <a:cs typeface="Times New Roman"/>
              </a:rPr>
              <a:t> </a:t>
            </a:r>
            <a:r>
              <a:rPr sz="2000" kern="0" spc="-240" dirty="0">
                <a:solidFill>
                  <a:sysClr val="windowText" lastClr="000000"/>
                </a:solidFill>
                <a:latin typeface="+mj-lt"/>
                <a:cs typeface="Arial Narrow"/>
              </a:rPr>
              <a:t>adds</a:t>
            </a:r>
            <a:r>
              <a:rPr sz="2000" kern="0" spc="-60" dirty="0">
                <a:solidFill>
                  <a:sysClr val="windowText" lastClr="000000"/>
                </a:solidFill>
                <a:latin typeface="+mj-lt"/>
                <a:cs typeface="Arial Narrow"/>
              </a:rPr>
              <a:t> </a:t>
            </a:r>
            <a:r>
              <a:rPr sz="2000" kern="0" spc="-127" dirty="0">
                <a:solidFill>
                  <a:sysClr val="windowText" lastClr="000000"/>
                </a:solidFill>
                <a:latin typeface="+mj-lt"/>
                <a:cs typeface="Arial Narrow"/>
              </a:rPr>
              <a:t>10</a:t>
            </a:r>
            <a:r>
              <a:rPr sz="2000" kern="0" spc="-100" dirty="0">
                <a:solidFill>
                  <a:sysClr val="windowText" lastClr="000000"/>
                </a:solidFill>
                <a:latin typeface="+mj-lt"/>
                <a:cs typeface="Arial Narrow"/>
              </a:rPr>
              <a:t> </a:t>
            </a:r>
            <a:r>
              <a:rPr sz="2000" kern="0" spc="-152" dirty="0">
                <a:solidFill>
                  <a:sysClr val="windowText" lastClr="000000"/>
                </a:solidFill>
                <a:latin typeface="+mj-lt"/>
                <a:cs typeface="Arial Narrow"/>
              </a:rPr>
              <a:t>students</a:t>
            </a:r>
            <a:r>
              <a:rPr sz="2000" kern="0" spc="-67" dirty="0">
                <a:solidFill>
                  <a:sysClr val="windowText" lastClr="000000"/>
                </a:solidFill>
                <a:latin typeface="+mj-lt"/>
                <a:cs typeface="Arial Narrow"/>
              </a:rPr>
              <a:t> </a:t>
            </a:r>
            <a:r>
              <a:rPr sz="2000" kern="0" spc="-73" dirty="0">
                <a:solidFill>
                  <a:sysClr val="windowText" lastClr="000000"/>
                </a:solidFill>
                <a:latin typeface="+mj-lt"/>
                <a:cs typeface="Arial Narrow"/>
              </a:rPr>
              <a:t>with</a:t>
            </a:r>
            <a:r>
              <a:rPr sz="2000" kern="0" spc="-53" dirty="0">
                <a:solidFill>
                  <a:sysClr val="windowText" lastClr="000000"/>
                </a:solidFill>
                <a:latin typeface="+mj-lt"/>
                <a:cs typeface="Arial Narrow"/>
              </a:rPr>
              <a:t> </a:t>
            </a:r>
            <a:r>
              <a:rPr sz="2000" kern="0" spc="-160" dirty="0">
                <a:solidFill>
                  <a:sysClr val="windowText" lastClr="000000"/>
                </a:solidFill>
                <a:latin typeface="+mj-lt"/>
                <a:cs typeface="Arial Narrow"/>
              </a:rPr>
              <a:t>IDs</a:t>
            </a:r>
            <a:r>
              <a:rPr sz="2000" kern="0" spc="-140" dirty="0">
                <a:solidFill>
                  <a:sysClr val="windowText" lastClr="000000"/>
                </a:solidFill>
                <a:latin typeface="+mj-lt"/>
                <a:cs typeface="Arial Narrow"/>
              </a:rPr>
              <a:t> </a:t>
            </a:r>
            <a:r>
              <a:rPr sz="2000" kern="0" spc="-133" dirty="0">
                <a:solidFill>
                  <a:sysClr val="windowText" lastClr="000000"/>
                </a:solidFill>
                <a:latin typeface="+mj-lt"/>
                <a:cs typeface="Arial Narrow"/>
              </a:rPr>
              <a:t>ranging</a:t>
            </a:r>
            <a:r>
              <a:rPr sz="2000" kern="0" spc="-107" dirty="0">
                <a:solidFill>
                  <a:sysClr val="windowText" lastClr="000000"/>
                </a:solidFill>
                <a:latin typeface="+mj-lt"/>
                <a:cs typeface="Arial Narrow"/>
              </a:rPr>
              <a:t> from</a:t>
            </a:r>
            <a:r>
              <a:rPr sz="2000" kern="0" spc="-73" dirty="0">
                <a:solidFill>
                  <a:sysClr val="windowText" lastClr="000000"/>
                </a:solidFill>
                <a:latin typeface="+mj-lt"/>
                <a:cs typeface="Arial Narrow"/>
              </a:rPr>
              <a:t> </a:t>
            </a:r>
            <a:r>
              <a:rPr sz="2000" kern="0" spc="-120" dirty="0">
                <a:solidFill>
                  <a:sysClr val="windowText" lastClr="000000"/>
                </a:solidFill>
                <a:latin typeface="+mj-lt"/>
                <a:cs typeface="Arial Narrow"/>
              </a:rPr>
              <a:t>100</a:t>
            </a:r>
            <a:r>
              <a:rPr sz="2000" kern="0" spc="-127" dirty="0">
                <a:solidFill>
                  <a:sysClr val="windowText" lastClr="000000"/>
                </a:solidFill>
                <a:latin typeface="+mj-lt"/>
                <a:cs typeface="Arial Narrow"/>
              </a:rPr>
              <a:t> </a:t>
            </a:r>
            <a:r>
              <a:rPr sz="2000" kern="0" spc="-93" dirty="0">
                <a:solidFill>
                  <a:sysClr val="windowText" lastClr="000000"/>
                </a:solidFill>
                <a:latin typeface="+mj-lt"/>
                <a:cs typeface="Arial Narrow"/>
              </a:rPr>
              <a:t>to</a:t>
            </a:r>
            <a:r>
              <a:rPr sz="2000" kern="0" spc="-127" dirty="0">
                <a:solidFill>
                  <a:sysClr val="windowText" lastClr="000000"/>
                </a:solidFill>
                <a:latin typeface="+mj-lt"/>
                <a:cs typeface="Arial Narrow"/>
              </a:rPr>
              <a:t> </a:t>
            </a:r>
            <a:r>
              <a:rPr sz="2000" kern="0" spc="-120" dirty="0">
                <a:solidFill>
                  <a:sysClr val="windowText" lastClr="000000"/>
                </a:solidFill>
                <a:latin typeface="+mj-lt"/>
                <a:cs typeface="Arial Narrow"/>
              </a:rPr>
              <a:t>109 </a:t>
            </a:r>
            <a:r>
              <a:rPr sz="2000" kern="0" spc="-73" dirty="0">
                <a:solidFill>
                  <a:sysClr val="windowText" lastClr="000000"/>
                </a:solidFill>
                <a:latin typeface="+mj-lt"/>
                <a:cs typeface="Arial Narrow"/>
              </a:rPr>
              <a:t>with</a:t>
            </a:r>
            <a:r>
              <a:rPr sz="2000" kern="0" spc="-53" dirty="0">
                <a:solidFill>
                  <a:sysClr val="windowText" lastClr="000000"/>
                </a:solidFill>
                <a:latin typeface="+mj-lt"/>
                <a:cs typeface="Arial Narrow"/>
              </a:rPr>
              <a:t> </a:t>
            </a:r>
            <a:r>
              <a:rPr sz="2000" kern="0" spc="-167" dirty="0">
                <a:solidFill>
                  <a:sysClr val="windowText" lastClr="000000"/>
                </a:solidFill>
                <a:latin typeface="+mj-lt"/>
                <a:cs typeface="Arial Narrow"/>
              </a:rPr>
              <a:t>randomly</a:t>
            </a:r>
            <a:r>
              <a:rPr sz="2000" kern="0" spc="-80" dirty="0">
                <a:solidFill>
                  <a:sysClr val="windowText" lastClr="000000"/>
                </a:solidFill>
                <a:latin typeface="+mj-lt"/>
                <a:cs typeface="Arial Narrow"/>
              </a:rPr>
              <a:t> </a:t>
            </a:r>
            <a:r>
              <a:rPr sz="2000" kern="0" spc="-180" dirty="0">
                <a:solidFill>
                  <a:sysClr val="windowText" lastClr="000000"/>
                </a:solidFill>
                <a:latin typeface="+mj-lt"/>
                <a:cs typeface="Arial Narrow"/>
              </a:rPr>
              <a:t>generated</a:t>
            </a:r>
            <a:r>
              <a:rPr sz="2000" kern="0" spc="-147" dirty="0">
                <a:solidFill>
                  <a:sysClr val="windowText" lastClr="000000"/>
                </a:solidFill>
                <a:latin typeface="+mj-lt"/>
                <a:cs typeface="Arial Narrow"/>
              </a:rPr>
              <a:t> </a:t>
            </a:r>
            <a:r>
              <a:rPr sz="2000" kern="0" spc="-73" dirty="0">
                <a:solidFill>
                  <a:sysClr val="windowText" lastClr="000000"/>
                </a:solidFill>
                <a:latin typeface="+mj-lt"/>
                <a:cs typeface="Arial Narrow"/>
              </a:rPr>
              <a:t>marks </a:t>
            </a:r>
            <a:r>
              <a:rPr sz="2000" kern="0" spc="-67" dirty="0">
                <a:solidFill>
                  <a:sysClr val="windowText" lastClr="000000"/>
                </a:solidFill>
                <a:latin typeface="+mj-lt"/>
                <a:cs typeface="Arial Narrow"/>
              </a:rPr>
              <a:t>(</a:t>
            </a:r>
            <a:r>
              <a:rPr sz="2000" kern="0" spc="-80" dirty="0">
                <a:solidFill>
                  <a:sysClr val="windowText" lastClr="000000"/>
                </a:solidFill>
                <a:latin typeface="+mj-lt"/>
                <a:cs typeface="Arial Narrow"/>
              </a:rPr>
              <a:t> </a:t>
            </a:r>
            <a:r>
              <a:rPr sz="2000" kern="0" spc="-200" dirty="0">
                <a:solidFill>
                  <a:sysClr val="windowText" lastClr="000000"/>
                </a:solidFill>
                <a:latin typeface="+mj-lt"/>
                <a:cs typeface="Arial Narrow"/>
              </a:rPr>
              <a:t>s</a:t>
            </a:r>
            <a:r>
              <a:rPr sz="2000" kern="0" spc="-87" dirty="0">
                <a:solidFill>
                  <a:sysClr val="windowText" lastClr="000000"/>
                </a:solidFill>
                <a:latin typeface="+mj-lt"/>
                <a:cs typeface="Arial Narrow"/>
              </a:rPr>
              <a:t> </a:t>
            </a:r>
            <a:r>
              <a:rPr sz="2000" kern="0" dirty="0">
                <a:solidFill>
                  <a:sysClr val="windowText" lastClr="000000"/>
                </a:solidFill>
                <a:latin typeface="+mj-lt"/>
                <a:cs typeface="Arial Narrow"/>
              </a:rPr>
              <a:t>)</a:t>
            </a:r>
            <a:r>
              <a:rPr sz="2000" kern="0" spc="387" dirty="0">
                <a:solidFill>
                  <a:sysClr val="windowText" lastClr="000000"/>
                </a:solidFill>
                <a:latin typeface="+mj-lt"/>
                <a:cs typeface="Arial Narrow"/>
              </a:rPr>
              <a:t> </a:t>
            </a:r>
            <a:r>
              <a:rPr sz="2000" kern="0" spc="-240" dirty="0">
                <a:solidFill>
                  <a:sysClr val="windowText" lastClr="000000"/>
                </a:solidFill>
                <a:latin typeface="+mj-lt"/>
                <a:cs typeface="Arial Narrow"/>
              </a:rPr>
              <a:t>save</a:t>
            </a:r>
            <a:r>
              <a:rPr sz="2000" kern="0" spc="-80" dirty="0">
                <a:solidFill>
                  <a:sysClr val="windowText" lastClr="000000"/>
                </a:solidFill>
                <a:latin typeface="+mj-lt"/>
                <a:cs typeface="Arial Narrow"/>
              </a:rPr>
              <a:t> </a:t>
            </a:r>
            <a:r>
              <a:rPr sz="2000" kern="0" dirty="0">
                <a:solidFill>
                  <a:sysClr val="windowText" lastClr="000000"/>
                </a:solidFill>
                <a:latin typeface="+mj-lt"/>
                <a:cs typeface="Times New Roman"/>
              </a:rPr>
              <a:t>–</a:t>
            </a:r>
            <a:r>
              <a:rPr sz="2000" kern="0" spc="-140" dirty="0">
                <a:solidFill>
                  <a:sysClr val="windowText" lastClr="000000"/>
                </a:solidFill>
                <a:latin typeface="+mj-lt"/>
                <a:cs typeface="Times New Roman"/>
              </a:rPr>
              <a:t> </a:t>
            </a:r>
            <a:r>
              <a:rPr sz="2000" kern="0" spc="-240" dirty="0">
                <a:solidFill>
                  <a:sysClr val="windowText" lastClr="000000"/>
                </a:solidFill>
                <a:latin typeface="+mj-lt"/>
                <a:cs typeface="Arial Narrow"/>
              </a:rPr>
              <a:t>save</a:t>
            </a:r>
            <a:r>
              <a:rPr sz="2000" kern="0" spc="-73" dirty="0">
                <a:solidFill>
                  <a:sysClr val="windowText" lastClr="000000"/>
                </a:solidFill>
                <a:latin typeface="+mj-lt"/>
                <a:cs typeface="Arial Narrow"/>
              </a:rPr>
              <a:t> </a:t>
            </a:r>
            <a:r>
              <a:rPr sz="2000" kern="0" spc="-147" dirty="0">
                <a:solidFill>
                  <a:sysClr val="windowText" lastClr="000000"/>
                </a:solidFill>
                <a:latin typeface="+mj-lt"/>
                <a:cs typeface="Arial Narrow"/>
              </a:rPr>
              <a:t>the</a:t>
            </a:r>
            <a:r>
              <a:rPr sz="2000" kern="0" spc="-80" dirty="0">
                <a:solidFill>
                  <a:sysClr val="windowText" lastClr="000000"/>
                </a:solidFill>
                <a:latin typeface="+mj-lt"/>
                <a:cs typeface="Arial Narrow"/>
              </a:rPr>
              <a:t> </a:t>
            </a:r>
            <a:r>
              <a:rPr sz="2000" kern="0" spc="-147" dirty="0">
                <a:solidFill>
                  <a:sysClr val="windowText" lastClr="000000"/>
                </a:solidFill>
                <a:latin typeface="+mj-lt"/>
                <a:cs typeface="Arial Narrow"/>
              </a:rPr>
              <a:t>student</a:t>
            </a:r>
            <a:r>
              <a:rPr sz="2000" kern="0" spc="-127" dirty="0">
                <a:solidFill>
                  <a:sysClr val="windowText" lastClr="000000"/>
                </a:solidFill>
                <a:latin typeface="+mj-lt"/>
                <a:cs typeface="Arial Narrow"/>
              </a:rPr>
              <a:t> </a:t>
            </a:r>
            <a:r>
              <a:rPr sz="2000" kern="0" spc="-160" dirty="0">
                <a:solidFill>
                  <a:sysClr val="windowText" lastClr="000000"/>
                </a:solidFill>
                <a:latin typeface="+mj-lt"/>
                <a:cs typeface="Arial Narrow"/>
              </a:rPr>
              <a:t>records</a:t>
            </a:r>
            <a:r>
              <a:rPr sz="2000" kern="0" spc="-67" dirty="0">
                <a:solidFill>
                  <a:sysClr val="windowText" lastClr="000000"/>
                </a:solidFill>
                <a:latin typeface="+mj-lt"/>
                <a:cs typeface="Arial Narrow"/>
              </a:rPr>
              <a:t> </a:t>
            </a:r>
            <a:r>
              <a:rPr sz="2000" kern="0" spc="-93" dirty="0">
                <a:solidFill>
                  <a:sysClr val="windowText" lastClr="000000"/>
                </a:solidFill>
                <a:latin typeface="+mj-lt"/>
                <a:cs typeface="Arial Narrow"/>
              </a:rPr>
              <a:t>to</a:t>
            </a:r>
            <a:r>
              <a:rPr sz="2000" kern="0" spc="-133" dirty="0">
                <a:solidFill>
                  <a:sysClr val="windowText" lastClr="000000"/>
                </a:solidFill>
                <a:latin typeface="+mj-lt"/>
                <a:cs typeface="Arial Narrow"/>
              </a:rPr>
              <a:t> </a:t>
            </a:r>
            <a:r>
              <a:rPr sz="2000" kern="0" spc="-147" dirty="0">
                <a:solidFill>
                  <a:sysClr val="windowText" lastClr="000000"/>
                </a:solidFill>
                <a:latin typeface="+mj-lt"/>
                <a:cs typeface="Arial Narrow"/>
              </a:rPr>
              <a:t>the</a:t>
            </a:r>
            <a:r>
              <a:rPr sz="2000" kern="0" spc="-80" dirty="0">
                <a:solidFill>
                  <a:sysClr val="windowText" lastClr="000000"/>
                </a:solidFill>
                <a:latin typeface="+mj-lt"/>
                <a:cs typeface="Arial Narrow"/>
              </a:rPr>
              <a:t> </a:t>
            </a:r>
            <a:r>
              <a:rPr sz="2000" kern="0" spc="-193" dirty="0">
                <a:solidFill>
                  <a:sysClr val="windowText" lastClr="000000"/>
                </a:solidFill>
                <a:latin typeface="+mj-lt"/>
                <a:cs typeface="Arial Narrow"/>
              </a:rPr>
              <a:t>grades.csv</a:t>
            </a:r>
            <a:r>
              <a:rPr sz="2000" kern="0" spc="-133" dirty="0">
                <a:solidFill>
                  <a:sysClr val="windowText" lastClr="000000"/>
                </a:solidFill>
                <a:latin typeface="+mj-lt"/>
                <a:cs typeface="Arial Narrow"/>
              </a:rPr>
              <a:t> </a:t>
            </a:r>
            <a:r>
              <a:rPr sz="2000" kern="0" spc="-27" dirty="0">
                <a:solidFill>
                  <a:sysClr val="windowText" lastClr="000000"/>
                </a:solidFill>
                <a:latin typeface="+mj-lt"/>
                <a:cs typeface="Arial Narrow"/>
              </a:rPr>
              <a:t>file</a:t>
            </a:r>
            <a:endParaRPr sz="2000" kern="0" dirty="0">
              <a:solidFill>
                <a:sysClr val="windowText" lastClr="000000"/>
              </a:solidFill>
              <a:latin typeface="+mj-lt"/>
              <a:cs typeface="Arial Narrow"/>
            </a:endParaRPr>
          </a:p>
          <a:p>
            <a:pPr marL="1236949" defTabSz="1219170">
              <a:lnSpc>
                <a:spcPts val="2800"/>
              </a:lnSpc>
            </a:pPr>
            <a:r>
              <a:rPr sz="2000" kern="0" spc="-67" dirty="0">
                <a:solidFill>
                  <a:sysClr val="windowText" lastClr="000000"/>
                </a:solidFill>
                <a:latin typeface="+mj-lt"/>
                <a:cs typeface="Arial Narrow"/>
              </a:rPr>
              <a:t>(</a:t>
            </a:r>
            <a:r>
              <a:rPr sz="2000" kern="0" spc="-87" dirty="0">
                <a:solidFill>
                  <a:sysClr val="windowText" lastClr="000000"/>
                </a:solidFill>
                <a:latin typeface="+mj-lt"/>
                <a:cs typeface="Arial Narrow"/>
              </a:rPr>
              <a:t> </a:t>
            </a:r>
            <a:r>
              <a:rPr sz="2000" kern="0" spc="-213" dirty="0">
                <a:solidFill>
                  <a:sysClr val="windowText" lastClr="000000"/>
                </a:solidFill>
                <a:latin typeface="+mj-lt"/>
                <a:cs typeface="Arial Narrow"/>
              </a:rPr>
              <a:t>v</a:t>
            </a:r>
            <a:r>
              <a:rPr sz="2000" kern="0" spc="-87" dirty="0">
                <a:solidFill>
                  <a:sysClr val="windowText" lastClr="000000"/>
                </a:solidFill>
                <a:latin typeface="+mj-lt"/>
                <a:cs typeface="Arial Narrow"/>
              </a:rPr>
              <a:t> </a:t>
            </a:r>
            <a:r>
              <a:rPr sz="2000" kern="0" dirty="0">
                <a:solidFill>
                  <a:sysClr val="windowText" lastClr="000000"/>
                </a:solidFill>
                <a:latin typeface="+mj-lt"/>
                <a:cs typeface="Arial Narrow"/>
              </a:rPr>
              <a:t>)</a:t>
            </a:r>
            <a:r>
              <a:rPr sz="2000" kern="0" spc="380" dirty="0">
                <a:solidFill>
                  <a:sysClr val="windowText" lastClr="000000"/>
                </a:solidFill>
                <a:latin typeface="+mj-lt"/>
                <a:cs typeface="Arial Narrow"/>
              </a:rPr>
              <a:t> </a:t>
            </a:r>
            <a:r>
              <a:rPr sz="2000" kern="0" spc="-167" dirty="0">
                <a:solidFill>
                  <a:sysClr val="windowText" lastClr="000000"/>
                </a:solidFill>
                <a:latin typeface="+mj-lt"/>
                <a:cs typeface="Arial Narrow"/>
              </a:rPr>
              <a:t>show</a:t>
            </a:r>
            <a:r>
              <a:rPr sz="2000" kern="0" spc="-127" dirty="0">
                <a:solidFill>
                  <a:sysClr val="windowText" lastClr="000000"/>
                </a:solidFill>
                <a:latin typeface="+mj-lt"/>
                <a:cs typeface="Arial Narrow"/>
              </a:rPr>
              <a:t> </a:t>
            </a:r>
            <a:r>
              <a:rPr sz="2000" kern="0" dirty="0">
                <a:solidFill>
                  <a:sysClr val="windowText" lastClr="000000"/>
                </a:solidFill>
                <a:latin typeface="+mj-lt"/>
                <a:cs typeface="Times New Roman"/>
              </a:rPr>
              <a:t>–</a:t>
            </a:r>
            <a:r>
              <a:rPr sz="2000" kern="0" spc="-140" dirty="0">
                <a:solidFill>
                  <a:sysClr val="windowText" lastClr="000000"/>
                </a:solidFill>
                <a:latin typeface="+mj-lt"/>
                <a:cs typeface="Times New Roman"/>
              </a:rPr>
              <a:t> </a:t>
            </a:r>
            <a:r>
              <a:rPr sz="2000" kern="0" spc="-207" dirty="0">
                <a:solidFill>
                  <a:sysClr val="windowText" lastClr="000000"/>
                </a:solidFill>
                <a:latin typeface="+mj-lt"/>
                <a:cs typeface="Arial Narrow"/>
              </a:rPr>
              <a:t>read</a:t>
            </a:r>
            <a:r>
              <a:rPr sz="2000" kern="0" spc="-73" dirty="0">
                <a:solidFill>
                  <a:sysClr val="windowText" lastClr="000000"/>
                </a:solidFill>
                <a:latin typeface="+mj-lt"/>
                <a:cs typeface="Arial Narrow"/>
              </a:rPr>
              <a:t> </a:t>
            </a:r>
            <a:r>
              <a:rPr sz="2000" kern="0" spc="-213" dirty="0">
                <a:solidFill>
                  <a:sysClr val="windowText" lastClr="000000"/>
                </a:solidFill>
                <a:latin typeface="+mj-lt"/>
                <a:cs typeface="Arial Narrow"/>
              </a:rPr>
              <a:t>and</a:t>
            </a:r>
            <a:r>
              <a:rPr sz="2000" kern="0" spc="-140" dirty="0">
                <a:solidFill>
                  <a:sysClr val="windowText" lastClr="000000"/>
                </a:solidFill>
                <a:latin typeface="+mj-lt"/>
                <a:cs typeface="Arial Narrow"/>
              </a:rPr>
              <a:t> </a:t>
            </a:r>
            <a:r>
              <a:rPr sz="2000" kern="0" spc="-167" dirty="0">
                <a:solidFill>
                  <a:sysClr val="windowText" lastClr="000000"/>
                </a:solidFill>
                <a:latin typeface="+mj-lt"/>
                <a:cs typeface="Arial Narrow"/>
              </a:rPr>
              <a:t>show</a:t>
            </a:r>
            <a:r>
              <a:rPr sz="2000" kern="0" spc="-133" dirty="0">
                <a:solidFill>
                  <a:sysClr val="windowText" lastClr="000000"/>
                </a:solidFill>
                <a:latin typeface="+mj-lt"/>
                <a:cs typeface="Arial Narrow"/>
              </a:rPr>
              <a:t> </a:t>
            </a:r>
            <a:r>
              <a:rPr sz="2000" kern="0" spc="-207" dirty="0">
                <a:solidFill>
                  <a:sysClr val="windowText" lastClr="000000"/>
                </a:solidFill>
                <a:latin typeface="+mj-lt"/>
                <a:cs typeface="Arial Narrow"/>
              </a:rPr>
              <a:t>csv</a:t>
            </a:r>
            <a:r>
              <a:rPr sz="2000" kern="0" spc="-140" dirty="0">
                <a:solidFill>
                  <a:sysClr val="windowText" lastClr="000000"/>
                </a:solidFill>
                <a:latin typeface="+mj-lt"/>
                <a:cs typeface="Arial Narrow"/>
              </a:rPr>
              <a:t> </a:t>
            </a:r>
            <a:r>
              <a:rPr sz="2000" kern="0" spc="-13" dirty="0">
                <a:solidFill>
                  <a:sysClr val="windowText" lastClr="000000"/>
                </a:solidFill>
                <a:latin typeface="+mj-lt"/>
                <a:cs typeface="Arial Narrow"/>
              </a:rPr>
              <a:t>content</a:t>
            </a:r>
            <a:endParaRPr sz="2000" kern="0" dirty="0">
              <a:solidFill>
                <a:sysClr val="windowText" lastClr="000000"/>
              </a:solidFill>
              <a:latin typeface="+mj-lt"/>
              <a:cs typeface="Arial Narrow"/>
            </a:endParaRPr>
          </a:p>
          <a:p>
            <a:pPr marL="1236949" defTabSz="1219170">
              <a:spcBef>
                <a:spcPts val="27"/>
              </a:spcBef>
            </a:pPr>
            <a:r>
              <a:rPr sz="2000" kern="0" spc="-67" dirty="0">
                <a:solidFill>
                  <a:sysClr val="windowText" lastClr="000000"/>
                </a:solidFill>
                <a:latin typeface="+mj-lt"/>
                <a:cs typeface="Arial Narrow"/>
              </a:rPr>
              <a:t>(</a:t>
            </a:r>
            <a:r>
              <a:rPr sz="2000" kern="0" spc="-100" dirty="0">
                <a:solidFill>
                  <a:sysClr val="windowText" lastClr="000000"/>
                </a:solidFill>
                <a:latin typeface="+mj-lt"/>
                <a:cs typeface="Arial Narrow"/>
              </a:rPr>
              <a:t> </a:t>
            </a:r>
            <a:r>
              <a:rPr sz="2000" kern="0" spc="-233" dirty="0">
                <a:solidFill>
                  <a:sysClr val="windowText" lastClr="000000"/>
                </a:solidFill>
                <a:latin typeface="+mj-lt"/>
                <a:cs typeface="Arial Narrow"/>
              </a:rPr>
              <a:t>x</a:t>
            </a:r>
            <a:r>
              <a:rPr sz="2000" kern="0" spc="-93" dirty="0">
                <a:solidFill>
                  <a:sysClr val="windowText" lastClr="000000"/>
                </a:solidFill>
                <a:latin typeface="+mj-lt"/>
                <a:cs typeface="Arial Narrow"/>
              </a:rPr>
              <a:t> </a:t>
            </a:r>
            <a:r>
              <a:rPr sz="2000" kern="0" dirty="0">
                <a:solidFill>
                  <a:sysClr val="windowText" lastClr="000000"/>
                </a:solidFill>
                <a:latin typeface="+mj-lt"/>
                <a:cs typeface="Arial Narrow"/>
              </a:rPr>
              <a:t>)</a:t>
            </a:r>
            <a:r>
              <a:rPr sz="2000" kern="0" spc="305" dirty="0">
                <a:solidFill>
                  <a:sysClr val="windowText" lastClr="000000"/>
                </a:solidFill>
                <a:latin typeface="+mj-lt"/>
                <a:cs typeface="Arial Narrow"/>
              </a:rPr>
              <a:t> </a:t>
            </a:r>
            <a:r>
              <a:rPr sz="2000" kern="0" spc="-27" dirty="0">
                <a:solidFill>
                  <a:sysClr val="windowText" lastClr="000000"/>
                </a:solidFill>
                <a:latin typeface="+mj-lt"/>
                <a:cs typeface="Arial Narrow"/>
              </a:rPr>
              <a:t>exit</a:t>
            </a:r>
            <a:endParaRPr sz="2000" kern="0" dirty="0">
              <a:solidFill>
                <a:sysClr val="windowText" lastClr="000000"/>
              </a:solidFill>
              <a:latin typeface="+mj-lt"/>
              <a:cs typeface="Arial Narrow"/>
            </a:endParaRPr>
          </a:p>
          <a:p>
            <a:pPr marL="397923" indent="-380990" defTabSz="1219170">
              <a:spcBef>
                <a:spcPts val="27"/>
              </a:spcBef>
              <a:buFont typeface="Arial"/>
              <a:buChar char="•"/>
              <a:tabLst>
                <a:tab pos="397923" algn="l"/>
              </a:tabLst>
            </a:pPr>
            <a:r>
              <a:rPr sz="2000" kern="0" spc="-187" dirty="0">
                <a:solidFill>
                  <a:sysClr val="windowText" lastClr="000000"/>
                </a:solidFill>
                <a:latin typeface="+mj-lt"/>
                <a:cs typeface="Arial Narrow"/>
              </a:rPr>
              <a:t>Faculty</a:t>
            </a:r>
            <a:r>
              <a:rPr sz="2000" kern="0" spc="-87" dirty="0">
                <a:solidFill>
                  <a:sysClr val="windowText" lastClr="000000"/>
                </a:solidFill>
                <a:latin typeface="+mj-lt"/>
                <a:cs typeface="Arial Narrow"/>
              </a:rPr>
              <a:t> </a:t>
            </a:r>
            <a:r>
              <a:rPr sz="2000" kern="0" spc="-213" dirty="0">
                <a:solidFill>
                  <a:sysClr val="windowText" lastClr="000000"/>
                </a:solidFill>
                <a:latin typeface="+mj-lt"/>
                <a:cs typeface="Arial Narrow"/>
              </a:rPr>
              <a:t>has</a:t>
            </a:r>
            <a:r>
              <a:rPr sz="2000" kern="0" spc="-100" dirty="0">
                <a:solidFill>
                  <a:sysClr val="windowText" lastClr="000000"/>
                </a:solidFill>
                <a:latin typeface="+mj-lt"/>
                <a:cs typeface="Arial Narrow"/>
              </a:rPr>
              <a:t> </a:t>
            </a:r>
            <a:r>
              <a:rPr sz="2000" kern="0" spc="-293" dirty="0">
                <a:solidFill>
                  <a:sysClr val="windowText" lastClr="000000"/>
                </a:solidFill>
                <a:latin typeface="+mj-lt"/>
                <a:cs typeface="Arial Narrow"/>
              </a:rPr>
              <a:t>a</a:t>
            </a:r>
            <a:r>
              <a:rPr sz="2000" kern="0" spc="-73" dirty="0">
                <a:solidFill>
                  <a:sysClr val="windowText" lastClr="000000"/>
                </a:solidFill>
                <a:latin typeface="+mj-lt"/>
                <a:cs typeface="Arial Narrow"/>
              </a:rPr>
              <a:t> </a:t>
            </a:r>
            <a:r>
              <a:rPr sz="2000" kern="0" spc="-120" dirty="0">
                <a:solidFill>
                  <a:sysClr val="windowText" lastClr="000000"/>
                </a:solidFill>
                <a:latin typeface="+mj-lt"/>
                <a:cs typeface="Arial Narrow"/>
              </a:rPr>
              <a:t>help()</a:t>
            </a:r>
            <a:r>
              <a:rPr sz="2000" kern="0" spc="-100" dirty="0">
                <a:solidFill>
                  <a:sysClr val="windowText" lastClr="000000"/>
                </a:solidFill>
                <a:latin typeface="+mj-lt"/>
                <a:cs typeface="Arial Narrow"/>
              </a:rPr>
              <a:t> </a:t>
            </a:r>
            <a:r>
              <a:rPr sz="2000" kern="0" spc="-173" dirty="0">
                <a:solidFill>
                  <a:sysClr val="windowText" lastClr="000000"/>
                </a:solidFill>
                <a:latin typeface="+mj-lt"/>
                <a:cs typeface="Arial Narrow"/>
              </a:rPr>
              <a:t>method</a:t>
            </a:r>
            <a:r>
              <a:rPr sz="2000" kern="0" spc="-67" dirty="0">
                <a:solidFill>
                  <a:sysClr val="windowText" lastClr="000000"/>
                </a:solidFill>
                <a:latin typeface="+mj-lt"/>
                <a:cs typeface="Arial Narrow"/>
              </a:rPr>
              <a:t> </a:t>
            </a:r>
            <a:r>
              <a:rPr sz="2000" kern="0" spc="-93" dirty="0">
                <a:solidFill>
                  <a:sysClr val="windowText" lastClr="000000"/>
                </a:solidFill>
                <a:latin typeface="+mj-lt"/>
                <a:cs typeface="Arial Narrow"/>
              </a:rPr>
              <a:t>to</a:t>
            </a:r>
            <a:r>
              <a:rPr sz="2000" kern="0" spc="-113" dirty="0">
                <a:solidFill>
                  <a:sysClr val="windowText" lastClr="000000"/>
                </a:solidFill>
                <a:latin typeface="+mj-lt"/>
                <a:cs typeface="Arial Narrow"/>
              </a:rPr>
              <a:t> </a:t>
            </a:r>
            <a:r>
              <a:rPr sz="2000" kern="0" spc="-173" dirty="0">
                <a:solidFill>
                  <a:sysClr val="windowText" lastClr="000000"/>
                </a:solidFill>
                <a:latin typeface="+mj-lt"/>
                <a:cs typeface="Arial Narrow"/>
              </a:rPr>
              <a:t>show</a:t>
            </a:r>
            <a:r>
              <a:rPr sz="2000" kern="0" spc="-113" dirty="0">
                <a:solidFill>
                  <a:sysClr val="windowText" lastClr="000000"/>
                </a:solidFill>
                <a:latin typeface="+mj-lt"/>
                <a:cs typeface="Arial Narrow"/>
              </a:rPr>
              <a:t> </a:t>
            </a:r>
            <a:r>
              <a:rPr sz="2000" kern="0" spc="-147" dirty="0">
                <a:solidFill>
                  <a:sysClr val="windowText" lastClr="000000"/>
                </a:solidFill>
                <a:latin typeface="+mj-lt"/>
                <a:cs typeface="Arial Narrow"/>
              </a:rPr>
              <a:t>the</a:t>
            </a:r>
            <a:r>
              <a:rPr sz="2000" kern="0" spc="-60" dirty="0">
                <a:solidFill>
                  <a:sysClr val="windowText" lastClr="000000"/>
                </a:solidFill>
                <a:latin typeface="+mj-lt"/>
                <a:cs typeface="Arial Narrow"/>
              </a:rPr>
              <a:t> </a:t>
            </a:r>
            <a:r>
              <a:rPr sz="2000" kern="0" spc="-180" dirty="0">
                <a:solidFill>
                  <a:sysClr val="windowText" lastClr="000000"/>
                </a:solidFill>
                <a:latin typeface="+mj-lt"/>
                <a:cs typeface="Arial Narrow"/>
              </a:rPr>
              <a:t>choices</a:t>
            </a:r>
            <a:r>
              <a:rPr sz="2000" kern="0" spc="-73" dirty="0">
                <a:solidFill>
                  <a:sysClr val="windowText" lastClr="000000"/>
                </a:solidFill>
                <a:latin typeface="+mj-lt"/>
                <a:cs typeface="Arial Narrow"/>
              </a:rPr>
              <a:t> </a:t>
            </a:r>
            <a:r>
              <a:rPr sz="2000" kern="0" spc="-213" dirty="0">
                <a:solidFill>
                  <a:sysClr val="windowText" lastClr="000000"/>
                </a:solidFill>
                <a:latin typeface="+mj-lt"/>
                <a:cs typeface="Arial Narrow"/>
              </a:rPr>
              <a:t>and</a:t>
            </a:r>
            <a:r>
              <a:rPr sz="2000" kern="0" spc="-127" dirty="0">
                <a:solidFill>
                  <a:sysClr val="windowText" lastClr="000000"/>
                </a:solidFill>
                <a:latin typeface="+mj-lt"/>
                <a:cs typeface="Arial Narrow"/>
              </a:rPr>
              <a:t> </a:t>
            </a:r>
            <a:r>
              <a:rPr sz="2000" kern="0" spc="-147" dirty="0">
                <a:solidFill>
                  <a:sysClr val="windowText" lastClr="000000"/>
                </a:solidFill>
                <a:latin typeface="+mj-lt"/>
                <a:cs typeface="Arial Narrow"/>
              </a:rPr>
              <a:t>the</a:t>
            </a:r>
            <a:r>
              <a:rPr sz="2000" kern="0" spc="-60" dirty="0">
                <a:solidFill>
                  <a:sysClr val="windowText" lastClr="000000"/>
                </a:solidFill>
                <a:latin typeface="+mj-lt"/>
                <a:cs typeface="Arial Narrow"/>
              </a:rPr>
              <a:t> </a:t>
            </a:r>
            <a:r>
              <a:rPr sz="2000" kern="0" spc="-207" dirty="0">
                <a:solidFill>
                  <a:sysClr val="windowText" lastClr="000000"/>
                </a:solidFill>
                <a:latin typeface="+mj-lt"/>
                <a:cs typeface="Arial Narrow"/>
              </a:rPr>
              <a:t>read</a:t>
            </a:r>
            <a:r>
              <a:rPr sz="2000" kern="0" spc="-47" dirty="0">
                <a:solidFill>
                  <a:sysClr val="windowText" lastClr="000000"/>
                </a:solidFill>
                <a:latin typeface="+mj-lt"/>
                <a:cs typeface="Arial Narrow"/>
              </a:rPr>
              <a:t> </a:t>
            </a:r>
            <a:r>
              <a:rPr sz="2000" kern="0" spc="-120" dirty="0">
                <a:solidFill>
                  <a:sysClr val="windowText" lastClr="000000"/>
                </a:solidFill>
                <a:latin typeface="+mj-lt"/>
                <a:cs typeface="Arial Narrow"/>
              </a:rPr>
              <a:t>function</a:t>
            </a:r>
            <a:r>
              <a:rPr sz="2000" kern="0" spc="-73" dirty="0">
                <a:solidFill>
                  <a:sysClr val="windowText" lastClr="000000"/>
                </a:solidFill>
                <a:latin typeface="+mj-lt"/>
                <a:cs typeface="Arial Narrow"/>
              </a:rPr>
              <a:t> </a:t>
            </a:r>
            <a:r>
              <a:rPr sz="2000" kern="0" spc="-93" dirty="0">
                <a:solidFill>
                  <a:sysClr val="windowText" lastClr="000000"/>
                </a:solidFill>
                <a:latin typeface="+mj-lt"/>
                <a:cs typeface="Arial Narrow"/>
              </a:rPr>
              <a:t>to</a:t>
            </a:r>
            <a:r>
              <a:rPr sz="2000" kern="0" spc="-120" dirty="0">
                <a:solidFill>
                  <a:sysClr val="windowText" lastClr="000000"/>
                </a:solidFill>
                <a:latin typeface="+mj-lt"/>
                <a:cs typeface="Arial Narrow"/>
              </a:rPr>
              <a:t> </a:t>
            </a:r>
            <a:r>
              <a:rPr sz="2000" kern="0" spc="-207" dirty="0">
                <a:solidFill>
                  <a:sysClr val="windowText" lastClr="000000"/>
                </a:solidFill>
                <a:latin typeface="+mj-lt"/>
                <a:cs typeface="Arial Narrow"/>
              </a:rPr>
              <a:t>read</a:t>
            </a:r>
            <a:r>
              <a:rPr sz="2000" kern="0" spc="-47" dirty="0">
                <a:solidFill>
                  <a:sysClr val="windowText" lastClr="000000"/>
                </a:solidFill>
                <a:latin typeface="+mj-lt"/>
                <a:cs typeface="Arial Narrow"/>
              </a:rPr>
              <a:t> </a:t>
            </a:r>
            <a:r>
              <a:rPr sz="2000" kern="0" spc="-147" dirty="0">
                <a:solidFill>
                  <a:sysClr val="windowText" lastClr="000000"/>
                </a:solidFill>
                <a:latin typeface="+mj-lt"/>
                <a:cs typeface="Arial Narrow"/>
              </a:rPr>
              <a:t>the</a:t>
            </a:r>
            <a:r>
              <a:rPr sz="2000" kern="0" spc="-60" dirty="0">
                <a:solidFill>
                  <a:sysClr val="windowText" lastClr="000000"/>
                </a:solidFill>
                <a:latin typeface="+mj-lt"/>
                <a:cs typeface="Arial Narrow"/>
              </a:rPr>
              <a:t> </a:t>
            </a:r>
            <a:r>
              <a:rPr sz="2000" kern="0" spc="-13" dirty="0">
                <a:solidFill>
                  <a:sysClr val="windowText" lastClr="000000"/>
                </a:solidFill>
                <a:latin typeface="+mj-lt"/>
                <a:cs typeface="Arial Narrow"/>
              </a:rPr>
              <a:t>choices</a:t>
            </a:r>
            <a:endParaRPr sz="2000" kern="0" dirty="0">
              <a:solidFill>
                <a:sysClr val="windowText" lastClr="000000"/>
              </a:solidFill>
              <a:latin typeface="+mj-lt"/>
              <a:cs typeface="Arial Narrow"/>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47C-18A7-9AFC-9593-71D435A25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482E7-E32D-573D-8C2B-4E48BC06767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Exceptions</a:t>
            </a:r>
          </a:p>
        </p:txBody>
      </p:sp>
      <p:sp>
        <p:nvSpPr>
          <p:cNvPr id="6" name="TextBox 5">
            <a:extLst>
              <a:ext uri="{FF2B5EF4-FFF2-40B4-BE49-F238E27FC236}">
                <a16:creationId xmlns:a16="http://schemas.microsoft.com/office/drawing/2014/main" id="{F4F9A395-3E0E-FE9C-949A-E4964EFA0B3B}"/>
              </a:ext>
            </a:extLst>
          </p:cNvPr>
          <p:cNvSpPr txBox="1"/>
          <p:nvPr/>
        </p:nvSpPr>
        <p:spPr>
          <a:xfrm>
            <a:off x="0" y="1072057"/>
            <a:ext cx="11971282" cy="3903504"/>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What are exceptions?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Special objects that appear when something goes wrong in a program.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Analogy:</a:t>
            </a:r>
            <a:br>
              <a:rPr lang="en-US" altLang="en-US" sz="2800" dirty="0">
                <a:latin typeface="Calibir"/>
              </a:rPr>
            </a:br>
            <a:r>
              <a:rPr lang="en-US" altLang="en-US" sz="2800" dirty="0">
                <a:latin typeface="Calibir"/>
              </a:rPr>
              <a:t>Think of it like a fire alarm in a building.</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Normal life (program flow) stops.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Emergency plan (error handling) starts.</a:t>
            </a:r>
          </a:p>
        </p:txBody>
      </p:sp>
    </p:spTree>
    <p:extLst>
      <p:ext uri="{BB962C8B-B14F-4D97-AF65-F5344CB8AC3E}">
        <p14:creationId xmlns:p14="http://schemas.microsoft.com/office/powerpoint/2010/main" val="2746331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arn(inVertical)">
                                      <p:cBhvr>
                                        <p:cTn id="7" dur="500"/>
                                        <p:tgtEl>
                                          <p:spTgt spid="6">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barn(inVertical)">
                                      <p:cBhvr>
                                        <p:cTn id="10" dur="500"/>
                                        <p:tgtEl>
                                          <p:spTgt spid="6">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barn(inVertical)">
                                      <p:cBhvr>
                                        <p:cTn id="13" dur="500"/>
                                        <p:tgtEl>
                                          <p:spTgt spid="6">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barn(inVertical)">
                                      <p:cBhvr>
                                        <p:cTn id="16"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67D00-0EB0-10B3-1113-CB8EC3415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3800D-0DAD-2223-E244-B3608ED6F73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Exceptions</a:t>
            </a:r>
          </a:p>
        </p:txBody>
      </p:sp>
      <p:sp>
        <p:nvSpPr>
          <p:cNvPr id="6" name="TextBox 5">
            <a:extLst>
              <a:ext uri="{FF2B5EF4-FFF2-40B4-BE49-F238E27FC236}">
                <a16:creationId xmlns:a16="http://schemas.microsoft.com/office/drawing/2014/main" id="{AF5281CF-4426-2FB0-26E9-A2786124A593}"/>
              </a:ext>
            </a:extLst>
          </p:cNvPr>
          <p:cNvSpPr txBox="1"/>
          <p:nvPr/>
        </p:nvSpPr>
        <p:spPr>
          <a:xfrm>
            <a:off x="0" y="756745"/>
            <a:ext cx="11971282" cy="6221383"/>
          </a:xfrm>
          <a:prstGeom prst="rect">
            <a:avLst/>
          </a:prstGeom>
          <a:noFill/>
        </p:spPr>
        <p:txBody>
          <a:bodyPr wrap="square">
            <a:spAutoFit/>
          </a:bodyPr>
          <a:lstStyle/>
          <a:p>
            <a:pPr>
              <a:lnSpc>
                <a:spcPct val="150000"/>
              </a:lnSpc>
            </a:pPr>
            <a:r>
              <a:rPr lang="en-US" sz="2800" b="1" dirty="0">
                <a:latin typeface="Calibir"/>
              </a:rPr>
              <a:t>How we handle them:</a:t>
            </a:r>
          </a:p>
          <a:p>
            <a:pPr marL="457200" indent="-457200">
              <a:lnSpc>
                <a:spcPct val="150000"/>
              </a:lnSpc>
              <a:buFont typeface="Arial" panose="020B0604020202020204" pitchFamily="34" charset="0"/>
              <a:buChar char="•"/>
            </a:pPr>
            <a:r>
              <a:rPr lang="en-US" sz="2400" b="1" dirty="0">
                <a:latin typeface="Calibir"/>
              </a:rPr>
              <a:t>Python</a:t>
            </a:r>
            <a:r>
              <a:rPr lang="en-US" sz="2400" dirty="0">
                <a:latin typeface="Calibir"/>
              </a:rPr>
              <a:t> → try – except – else – finally</a:t>
            </a:r>
          </a:p>
          <a:p>
            <a:pPr marL="914400" lvl="1" indent="-457200">
              <a:lnSpc>
                <a:spcPct val="150000"/>
              </a:lnSpc>
              <a:buFont typeface="Arial" panose="020B0604020202020204" pitchFamily="34" charset="0"/>
              <a:buChar char="•"/>
            </a:pPr>
            <a:r>
              <a:rPr lang="en-US" sz="2400" b="1" dirty="0">
                <a:latin typeface="Calibir"/>
              </a:rPr>
              <a:t>try</a:t>
            </a:r>
            <a:r>
              <a:rPr lang="en-US" sz="2400" dirty="0">
                <a:latin typeface="Calibir"/>
              </a:rPr>
              <a:t> → code that might fail</a:t>
            </a:r>
          </a:p>
          <a:p>
            <a:pPr marL="914400" lvl="1" indent="-457200">
              <a:lnSpc>
                <a:spcPct val="150000"/>
              </a:lnSpc>
              <a:buFont typeface="Arial" panose="020B0604020202020204" pitchFamily="34" charset="0"/>
              <a:buChar char="•"/>
            </a:pPr>
            <a:r>
              <a:rPr lang="en-US" sz="2400" b="1" dirty="0">
                <a:latin typeface="Calibir"/>
              </a:rPr>
              <a:t>except</a:t>
            </a:r>
            <a:r>
              <a:rPr lang="en-US" sz="2400" dirty="0">
                <a:latin typeface="Calibir"/>
              </a:rPr>
              <a:t> → handles the error</a:t>
            </a:r>
          </a:p>
          <a:p>
            <a:pPr marL="914400" lvl="1" indent="-457200">
              <a:lnSpc>
                <a:spcPct val="150000"/>
              </a:lnSpc>
              <a:buFont typeface="Arial" panose="020B0604020202020204" pitchFamily="34" charset="0"/>
              <a:buChar char="•"/>
            </a:pPr>
            <a:r>
              <a:rPr lang="en-US" sz="2400" b="1" dirty="0">
                <a:latin typeface="Calibir"/>
              </a:rPr>
              <a:t>else</a:t>
            </a:r>
            <a:r>
              <a:rPr lang="en-US" sz="2400" dirty="0">
                <a:latin typeface="Calibir"/>
              </a:rPr>
              <a:t> → runs if no error happens</a:t>
            </a:r>
          </a:p>
          <a:p>
            <a:pPr marL="914400" lvl="1" indent="-457200">
              <a:lnSpc>
                <a:spcPct val="150000"/>
              </a:lnSpc>
              <a:buFont typeface="Arial" panose="020B0604020202020204" pitchFamily="34" charset="0"/>
              <a:buChar char="•"/>
            </a:pPr>
            <a:r>
              <a:rPr lang="en-US" sz="2400" b="1" dirty="0">
                <a:latin typeface="Calibir"/>
              </a:rPr>
              <a:t>finally</a:t>
            </a:r>
            <a:r>
              <a:rPr lang="en-US" sz="2400" dirty="0">
                <a:latin typeface="Calibir"/>
              </a:rPr>
              <a:t> → always runs (clean-up, close file, etc.)</a:t>
            </a:r>
          </a:p>
          <a:p>
            <a:pPr marL="457200" indent="-457200">
              <a:lnSpc>
                <a:spcPct val="150000"/>
              </a:lnSpc>
              <a:buFont typeface="Arial" panose="020B0604020202020204" pitchFamily="34" charset="0"/>
              <a:buChar char="•"/>
            </a:pPr>
            <a:r>
              <a:rPr lang="en-US" sz="2400" b="1" dirty="0">
                <a:latin typeface="Calibir"/>
              </a:rPr>
              <a:t>Java</a:t>
            </a:r>
            <a:r>
              <a:rPr lang="en-US" sz="2400" dirty="0">
                <a:latin typeface="Calibir"/>
              </a:rPr>
              <a:t> → try – catch – finally</a:t>
            </a:r>
          </a:p>
          <a:p>
            <a:pPr marL="914400" lvl="1" indent="-457200">
              <a:lnSpc>
                <a:spcPct val="150000"/>
              </a:lnSpc>
              <a:buFont typeface="Arial" panose="020B0604020202020204" pitchFamily="34" charset="0"/>
              <a:buChar char="•"/>
            </a:pPr>
            <a:r>
              <a:rPr lang="en-US" sz="2400" b="1" dirty="0">
                <a:latin typeface="Calibir"/>
              </a:rPr>
              <a:t>try</a:t>
            </a:r>
            <a:r>
              <a:rPr lang="en-US" sz="2400" dirty="0">
                <a:latin typeface="Calibir"/>
              </a:rPr>
              <a:t> → code that might fail</a:t>
            </a:r>
          </a:p>
          <a:p>
            <a:pPr marL="914400" lvl="1" indent="-457200">
              <a:lnSpc>
                <a:spcPct val="150000"/>
              </a:lnSpc>
              <a:buFont typeface="Arial" panose="020B0604020202020204" pitchFamily="34" charset="0"/>
              <a:buChar char="•"/>
            </a:pPr>
            <a:r>
              <a:rPr lang="en-US" sz="2400" b="1" dirty="0">
                <a:latin typeface="Calibir"/>
              </a:rPr>
              <a:t>catch</a:t>
            </a:r>
            <a:r>
              <a:rPr lang="en-US" sz="2400" dirty="0">
                <a:latin typeface="Calibir"/>
              </a:rPr>
              <a:t> → what to do if it fails</a:t>
            </a:r>
          </a:p>
          <a:p>
            <a:pPr marL="914400" lvl="1" indent="-457200">
              <a:lnSpc>
                <a:spcPct val="150000"/>
              </a:lnSpc>
              <a:buFont typeface="Arial" panose="020B0604020202020204" pitchFamily="34" charset="0"/>
              <a:buChar char="•"/>
            </a:pPr>
            <a:r>
              <a:rPr lang="en-US" sz="2400" b="1" dirty="0">
                <a:latin typeface="Calibir"/>
              </a:rPr>
              <a:t>finally</a:t>
            </a:r>
            <a:r>
              <a:rPr lang="en-US" sz="2400" dirty="0">
                <a:latin typeface="Calibir"/>
              </a:rPr>
              <a:t> → always runs </a:t>
            </a:r>
            <a:br>
              <a:rPr lang="en-US" sz="2400" dirty="0">
                <a:latin typeface="Calibir"/>
              </a:rPr>
            </a:br>
            <a:r>
              <a:rPr lang="en-US" sz="2400" dirty="0">
                <a:latin typeface="Calibir"/>
              </a:rPr>
              <a:t>(clean-up, close file, etc.)</a:t>
            </a:r>
          </a:p>
        </p:txBody>
      </p:sp>
      <p:pic>
        <p:nvPicPr>
          <p:cNvPr id="7" name="Picture 6">
            <a:extLst>
              <a:ext uri="{FF2B5EF4-FFF2-40B4-BE49-F238E27FC236}">
                <a16:creationId xmlns:a16="http://schemas.microsoft.com/office/drawing/2014/main" id="{D8DF8B79-6730-CA22-5884-697FE404609F}"/>
              </a:ext>
            </a:extLst>
          </p:cNvPr>
          <p:cNvPicPr>
            <a:picLocks noChangeAspect="1"/>
          </p:cNvPicPr>
          <p:nvPr/>
        </p:nvPicPr>
        <p:blipFill>
          <a:blip r:embed="rId2"/>
          <a:srcRect l="57217" t="26667" r="8065" b="33763"/>
          <a:stretch>
            <a:fillRect/>
          </a:stretch>
        </p:blipFill>
        <p:spPr>
          <a:xfrm>
            <a:off x="6386053" y="-64680"/>
            <a:ext cx="5805948" cy="3722280"/>
          </a:xfrm>
          <a:prstGeom prst="rect">
            <a:avLst/>
          </a:prstGeom>
        </p:spPr>
      </p:pic>
      <p:pic>
        <p:nvPicPr>
          <p:cNvPr id="11" name="Picture 10">
            <a:extLst>
              <a:ext uri="{FF2B5EF4-FFF2-40B4-BE49-F238E27FC236}">
                <a16:creationId xmlns:a16="http://schemas.microsoft.com/office/drawing/2014/main" id="{B4F86AD3-A699-8B24-4369-80E6C80EA459}"/>
              </a:ext>
            </a:extLst>
          </p:cNvPr>
          <p:cNvPicPr>
            <a:picLocks noChangeAspect="1"/>
          </p:cNvPicPr>
          <p:nvPr/>
        </p:nvPicPr>
        <p:blipFill>
          <a:blip r:embed="rId3"/>
          <a:srcRect l="41128" t="53333" r="9201" b="17419"/>
          <a:stretch>
            <a:fillRect/>
          </a:stretch>
        </p:blipFill>
        <p:spPr>
          <a:xfrm>
            <a:off x="4699820" y="4376497"/>
            <a:ext cx="7492180" cy="2481502"/>
          </a:xfrm>
          <a:prstGeom prst="rect">
            <a:avLst/>
          </a:prstGeom>
        </p:spPr>
      </p:pic>
    </p:spTree>
    <p:extLst>
      <p:ext uri="{BB962C8B-B14F-4D97-AF65-F5344CB8AC3E}">
        <p14:creationId xmlns:p14="http://schemas.microsoft.com/office/powerpoint/2010/main" val="1195793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500"/>
                                        <p:tgtEl>
                                          <p:spTgt spid="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fade">
                                      <p:cBhvr>
                                        <p:cTn id="13" dur="500"/>
                                        <p:tgtEl>
                                          <p:spTgt spid="6">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fade">
                                      <p:cBhvr>
                                        <p:cTn id="16" dur="500"/>
                                        <p:tgtEl>
                                          <p:spTgt spid="6">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Effect transition="in" filter="fade">
                                      <p:cBhvr>
                                        <p:cTn id="19" dur="500"/>
                                        <p:tgtEl>
                                          <p:spTgt spid="6">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animEffect transition="in" filter="fade">
                                      <p:cBhvr>
                                        <p:cTn id="25" dur="500"/>
                                        <p:tgtEl>
                                          <p:spTgt spid="6">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6">
                                            <p:txEl>
                                              <p:pRg st="8" end="8"/>
                                            </p:txEl>
                                          </p:spTgt>
                                        </p:tgtEl>
                                        <p:attrNameLst>
                                          <p:attrName>style.visibility</p:attrName>
                                        </p:attrNameLst>
                                      </p:cBhvr>
                                      <p:to>
                                        <p:strVal val="visible"/>
                                      </p:to>
                                    </p:set>
                                    <p:animEffect transition="in" filter="fade">
                                      <p:cBhvr>
                                        <p:cTn id="28" dur="500"/>
                                        <p:tgtEl>
                                          <p:spTgt spid="6">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animEffect transition="in" filter="fade">
                                      <p:cBhvr>
                                        <p:cTn id="31" dur="500"/>
                                        <p:tgtEl>
                                          <p:spTgt spid="6">
                                            <p:txEl>
                                              <p:pRg st="9" end="9"/>
                                            </p:txEl>
                                          </p:spTgt>
                                        </p:tgtEl>
                                      </p:cBhvr>
                                    </p:animEffect>
                                  </p:childTnLst>
                                </p:cTn>
                              </p:par>
                              <p:par>
                                <p:cTn id="32" presetID="16" presetClass="entr" presetSubtype="21"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arn(inVertical)">
                                      <p:cBhvr>
                                        <p:cTn id="34" dur="500"/>
                                        <p:tgtEl>
                                          <p:spTgt spid="7"/>
                                        </p:tgtEl>
                                      </p:cBhvr>
                                    </p:animEffect>
                                  </p:childTnLst>
                                </p:cTn>
                              </p:par>
                              <p:par>
                                <p:cTn id="35" presetID="42"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ppt_x</p:attrName>
                                        </p:attrNameLst>
                                      </p:cBhvr>
                                      <p:tavLst>
                                        <p:tav tm="0">
                                          <p:val>
                                            <p:strVal val="#ppt_x"/>
                                          </p:val>
                                        </p:tav>
                                        <p:tav tm="100000">
                                          <p:val>
                                            <p:strVal val="#ppt_x"/>
                                          </p:val>
                                        </p:tav>
                                      </p:tavLst>
                                    </p:anim>
                                    <p:anim calcmode="lin" valueType="num">
                                      <p:cBhvr>
                                        <p:cTn id="3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DE401-86E6-EAE1-0A35-84453896E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1E89F-DCE7-FD0E-BF5A-EE15BE194BF6}"/>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Exceptions</a:t>
            </a:r>
          </a:p>
        </p:txBody>
      </p:sp>
      <p:sp>
        <p:nvSpPr>
          <p:cNvPr id="6" name="TextBox 5">
            <a:extLst>
              <a:ext uri="{FF2B5EF4-FFF2-40B4-BE49-F238E27FC236}">
                <a16:creationId xmlns:a16="http://schemas.microsoft.com/office/drawing/2014/main" id="{337CF21B-A671-895B-00AC-7E0AD96CD50E}"/>
              </a:ext>
            </a:extLst>
          </p:cNvPr>
          <p:cNvSpPr txBox="1"/>
          <p:nvPr/>
        </p:nvSpPr>
        <p:spPr>
          <a:xfrm>
            <a:off x="0" y="581403"/>
            <a:ext cx="11971282" cy="675441"/>
          </a:xfrm>
          <a:prstGeom prst="rect">
            <a:avLst/>
          </a:prstGeom>
          <a:noFill/>
        </p:spPr>
        <p:txBody>
          <a:bodyPr wrap="square">
            <a:spAutoFit/>
          </a:bodyPr>
          <a:lstStyle/>
          <a:p>
            <a:pPr>
              <a:lnSpc>
                <a:spcPct val="150000"/>
              </a:lnSpc>
            </a:pPr>
            <a:r>
              <a:rPr lang="en-US" sz="2800" dirty="0"/>
              <a:t>Concepts with Examples</a:t>
            </a:r>
            <a:endParaRPr lang="en-US" sz="2800" dirty="0">
              <a:latin typeface="Calibir"/>
            </a:endParaRPr>
          </a:p>
        </p:txBody>
      </p:sp>
      <p:graphicFrame>
        <p:nvGraphicFramePr>
          <p:cNvPr id="3" name="Table 2">
            <a:extLst>
              <a:ext uri="{FF2B5EF4-FFF2-40B4-BE49-F238E27FC236}">
                <a16:creationId xmlns:a16="http://schemas.microsoft.com/office/drawing/2014/main" id="{3AD55106-35CA-9D02-7377-7F91FDD9E86D}"/>
              </a:ext>
            </a:extLst>
          </p:cNvPr>
          <p:cNvGraphicFramePr>
            <a:graphicFrameLocks noGrp="1"/>
          </p:cNvGraphicFramePr>
          <p:nvPr>
            <p:extLst>
              <p:ext uri="{D42A27DB-BD31-4B8C-83A1-F6EECF244321}">
                <p14:modId xmlns:p14="http://schemas.microsoft.com/office/powerpoint/2010/main" val="2984516423"/>
              </p:ext>
            </p:extLst>
          </p:nvPr>
        </p:nvGraphicFramePr>
        <p:xfrm>
          <a:off x="838198" y="1356126"/>
          <a:ext cx="10515600" cy="2661412"/>
        </p:xfrm>
        <a:graphic>
          <a:graphicData uri="http://schemas.openxmlformats.org/drawingml/2006/table">
            <a:tbl>
              <a:tblPr>
                <a:tableStyleId>{ED083AE6-46FA-4A59-8FB0-9F97EB10719F}</a:tableStyleId>
              </a:tblPr>
              <a:tblGrid>
                <a:gridCol w="3505200">
                  <a:extLst>
                    <a:ext uri="{9D8B030D-6E8A-4147-A177-3AD203B41FA5}">
                      <a16:colId xmlns:a16="http://schemas.microsoft.com/office/drawing/2014/main" val="1393283062"/>
                    </a:ext>
                  </a:extLst>
                </a:gridCol>
                <a:gridCol w="3505200">
                  <a:extLst>
                    <a:ext uri="{9D8B030D-6E8A-4147-A177-3AD203B41FA5}">
                      <a16:colId xmlns:a16="http://schemas.microsoft.com/office/drawing/2014/main" val="2370097554"/>
                    </a:ext>
                  </a:extLst>
                </a:gridCol>
                <a:gridCol w="3505200">
                  <a:extLst>
                    <a:ext uri="{9D8B030D-6E8A-4147-A177-3AD203B41FA5}">
                      <a16:colId xmlns:a16="http://schemas.microsoft.com/office/drawing/2014/main" val="3531350266"/>
                    </a:ext>
                  </a:extLst>
                </a:gridCol>
              </a:tblGrid>
              <a:tr h="0">
                <a:tc>
                  <a:txBody>
                    <a:bodyPr/>
                    <a:lstStyle/>
                    <a:p>
                      <a:pPr>
                        <a:lnSpc>
                          <a:spcPct val="150000"/>
                        </a:lnSpc>
                        <a:buNone/>
                      </a:pPr>
                      <a:r>
                        <a:rPr lang="en-US" sz="2800" dirty="0">
                          <a:latin typeface="Calibir"/>
                        </a:rPr>
                        <a:t>Concept</a:t>
                      </a:r>
                    </a:p>
                  </a:txBody>
                  <a:tcPr anchor="ctr">
                    <a:solidFill>
                      <a:schemeClr val="accent4">
                        <a:lumMod val="20000"/>
                        <a:lumOff val="80000"/>
                      </a:schemeClr>
                    </a:solidFill>
                  </a:tcPr>
                </a:tc>
                <a:tc>
                  <a:txBody>
                    <a:bodyPr/>
                    <a:lstStyle/>
                    <a:p>
                      <a:pPr>
                        <a:lnSpc>
                          <a:spcPct val="150000"/>
                        </a:lnSpc>
                        <a:buNone/>
                      </a:pPr>
                      <a:r>
                        <a:rPr lang="en-US" sz="2800" dirty="0">
                          <a:latin typeface="Calibir"/>
                        </a:rPr>
                        <a:t>Java</a:t>
                      </a:r>
                    </a:p>
                  </a:txBody>
                  <a:tcPr anchor="ctr">
                    <a:solidFill>
                      <a:schemeClr val="accent4">
                        <a:lumMod val="20000"/>
                        <a:lumOff val="80000"/>
                      </a:schemeClr>
                    </a:solidFill>
                  </a:tcPr>
                </a:tc>
                <a:tc>
                  <a:txBody>
                    <a:bodyPr/>
                    <a:lstStyle/>
                    <a:p>
                      <a:pPr>
                        <a:lnSpc>
                          <a:spcPct val="150000"/>
                        </a:lnSpc>
                        <a:buNone/>
                      </a:pPr>
                      <a:r>
                        <a:rPr lang="en-US" sz="2800" dirty="0">
                          <a:latin typeface="Calibir"/>
                        </a:rPr>
                        <a:t>Python</a:t>
                      </a:r>
                    </a:p>
                  </a:txBody>
                  <a:tcPr anchor="ctr">
                    <a:solidFill>
                      <a:schemeClr val="accent4">
                        <a:lumMod val="20000"/>
                        <a:lumOff val="80000"/>
                      </a:schemeClr>
                    </a:solidFill>
                  </a:tcPr>
                </a:tc>
                <a:extLst>
                  <a:ext uri="{0D108BD9-81ED-4DB2-BD59-A6C34878D82A}">
                    <a16:rowId xmlns:a16="http://schemas.microsoft.com/office/drawing/2014/main" val="3463850196"/>
                  </a:ext>
                </a:extLst>
              </a:tr>
              <a:tr h="0">
                <a:tc>
                  <a:txBody>
                    <a:bodyPr/>
                    <a:lstStyle/>
                    <a:p>
                      <a:pPr>
                        <a:lnSpc>
                          <a:spcPct val="150000"/>
                        </a:lnSpc>
                        <a:buNone/>
                      </a:pPr>
                      <a:r>
                        <a:rPr lang="en-US" sz="2800" dirty="0">
                          <a:latin typeface="Calibir"/>
                        </a:rPr>
                        <a:t>Raise error</a:t>
                      </a:r>
                    </a:p>
                  </a:txBody>
                  <a:tcPr anchor="ctr"/>
                </a:tc>
                <a:tc>
                  <a:txBody>
                    <a:bodyPr/>
                    <a:lstStyle/>
                    <a:p>
                      <a:pPr>
                        <a:lnSpc>
                          <a:spcPct val="150000"/>
                        </a:lnSpc>
                        <a:buNone/>
                      </a:pPr>
                      <a:r>
                        <a:rPr lang="en-US" sz="2800" dirty="0">
                          <a:latin typeface="Calibir"/>
                        </a:rPr>
                        <a:t>throw, throws</a:t>
                      </a:r>
                    </a:p>
                  </a:txBody>
                  <a:tcPr anchor="ctr"/>
                </a:tc>
                <a:tc>
                  <a:txBody>
                    <a:bodyPr/>
                    <a:lstStyle/>
                    <a:p>
                      <a:pPr>
                        <a:lnSpc>
                          <a:spcPct val="150000"/>
                        </a:lnSpc>
                        <a:buNone/>
                      </a:pPr>
                      <a:r>
                        <a:rPr lang="en-US" sz="2800">
                          <a:latin typeface="Calibir"/>
                        </a:rPr>
                        <a:t>raise</a:t>
                      </a:r>
                    </a:p>
                  </a:txBody>
                  <a:tcPr anchor="ctr"/>
                </a:tc>
                <a:extLst>
                  <a:ext uri="{0D108BD9-81ED-4DB2-BD59-A6C34878D82A}">
                    <a16:rowId xmlns:a16="http://schemas.microsoft.com/office/drawing/2014/main" val="2274014256"/>
                  </a:ext>
                </a:extLst>
              </a:tr>
              <a:tr h="0">
                <a:tc>
                  <a:txBody>
                    <a:bodyPr/>
                    <a:lstStyle/>
                    <a:p>
                      <a:pPr>
                        <a:lnSpc>
                          <a:spcPct val="150000"/>
                        </a:lnSpc>
                        <a:buNone/>
                      </a:pPr>
                      <a:r>
                        <a:rPr lang="en-US" sz="2800">
                          <a:latin typeface="Calibir"/>
                        </a:rPr>
                        <a:t>Catch error</a:t>
                      </a:r>
                    </a:p>
                  </a:txBody>
                  <a:tcPr anchor="ctr"/>
                </a:tc>
                <a:tc>
                  <a:txBody>
                    <a:bodyPr/>
                    <a:lstStyle/>
                    <a:p>
                      <a:pPr>
                        <a:lnSpc>
                          <a:spcPct val="150000"/>
                        </a:lnSpc>
                        <a:buNone/>
                      </a:pPr>
                      <a:r>
                        <a:rPr lang="en-US" sz="2800" dirty="0">
                          <a:latin typeface="Calibir"/>
                        </a:rPr>
                        <a:t>catch(Exception e)</a:t>
                      </a:r>
                    </a:p>
                  </a:txBody>
                  <a:tcPr anchor="ctr"/>
                </a:tc>
                <a:tc>
                  <a:txBody>
                    <a:bodyPr/>
                    <a:lstStyle/>
                    <a:p>
                      <a:pPr>
                        <a:lnSpc>
                          <a:spcPct val="150000"/>
                        </a:lnSpc>
                        <a:buNone/>
                      </a:pPr>
                      <a:r>
                        <a:rPr lang="en-US" sz="2800">
                          <a:latin typeface="Calibir"/>
                        </a:rPr>
                        <a:t>except Exception as e:</a:t>
                      </a:r>
                    </a:p>
                  </a:txBody>
                  <a:tcPr anchor="ctr"/>
                </a:tc>
                <a:extLst>
                  <a:ext uri="{0D108BD9-81ED-4DB2-BD59-A6C34878D82A}">
                    <a16:rowId xmlns:a16="http://schemas.microsoft.com/office/drawing/2014/main" val="1833778645"/>
                  </a:ext>
                </a:extLst>
              </a:tr>
              <a:tr h="0">
                <a:tc>
                  <a:txBody>
                    <a:bodyPr/>
                    <a:lstStyle/>
                    <a:p>
                      <a:pPr>
                        <a:lnSpc>
                          <a:spcPct val="150000"/>
                        </a:lnSpc>
                        <a:buNone/>
                      </a:pPr>
                      <a:r>
                        <a:rPr lang="en-US" sz="2800">
                          <a:latin typeface="Calibir"/>
                        </a:rPr>
                        <a:t>Finally</a:t>
                      </a:r>
                    </a:p>
                  </a:txBody>
                  <a:tcPr anchor="ctr"/>
                </a:tc>
                <a:tc>
                  <a:txBody>
                    <a:bodyPr/>
                    <a:lstStyle/>
                    <a:p>
                      <a:pPr>
                        <a:lnSpc>
                          <a:spcPct val="150000"/>
                        </a:lnSpc>
                        <a:buNone/>
                      </a:pPr>
                      <a:r>
                        <a:rPr lang="en-US" sz="2800" dirty="0">
                          <a:latin typeface="Calibir"/>
                        </a:rPr>
                        <a:t>Runs every time</a:t>
                      </a:r>
                    </a:p>
                  </a:txBody>
                  <a:tcPr anchor="ctr"/>
                </a:tc>
                <a:tc>
                  <a:txBody>
                    <a:bodyPr/>
                    <a:lstStyle/>
                    <a:p>
                      <a:pPr>
                        <a:lnSpc>
                          <a:spcPct val="150000"/>
                        </a:lnSpc>
                        <a:buNone/>
                      </a:pPr>
                      <a:r>
                        <a:rPr lang="en-US" sz="2800" dirty="0">
                          <a:latin typeface="Calibir"/>
                        </a:rPr>
                        <a:t>Runs every time</a:t>
                      </a:r>
                    </a:p>
                  </a:txBody>
                  <a:tcPr anchor="ctr"/>
                </a:tc>
                <a:extLst>
                  <a:ext uri="{0D108BD9-81ED-4DB2-BD59-A6C34878D82A}">
                    <a16:rowId xmlns:a16="http://schemas.microsoft.com/office/drawing/2014/main" val="960848600"/>
                  </a:ext>
                </a:extLst>
              </a:tr>
            </a:tbl>
          </a:graphicData>
        </a:graphic>
      </p:graphicFrame>
      <p:sp>
        <p:nvSpPr>
          <p:cNvPr id="7" name="TextBox 6">
            <a:extLst>
              <a:ext uri="{FF2B5EF4-FFF2-40B4-BE49-F238E27FC236}">
                <a16:creationId xmlns:a16="http://schemas.microsoft.com/office/drawing/2014/main" id="{4B4FC65A-89FC-7C17-1006-01F577F61207}"/>
              </a:ext>
            </a:extLst>
          </p:cNvPr>
          <p:cNvSpPr txBox="1"/>
          <p:nvPr/>
        </p:nvSpPr>
        <p:spPr>
          <a:xfrm>
            <a:off x="0" y="5249512"/>
            <a:ext cx="12088851" cy="523220"/>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throw</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new</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Exception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"Something went wrong"</a:t>
            </a:r>
            <a:r>
              <a:rPr lang="en-US" sz="2800" b="0" dirty="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E0DA05DB-B02D-218B-A4A8-36DDD05809C2}"/>
              </a:ext>
            </a:extLst>
          </p:cNvPr>
          <p:cNvSpPr txBox="1"/>
          <p:nvPr/>
        </p:nvSpPr>
        <p:spPr>
          <a:xfrm>
            <a:off x="-1" y="3931331"/>
            <a:ext cx="12191999" cy="2430922"/>
          </a:xfrm>
          <a:prstGeom prst="rect">
            <a:avLst/>
          </a:prstGeom>
          <a:noFill/>
        </p:spPr>
        <p:txBody>
          <a:bodyPr wrap="square">
            <a:spAutoFit/>
          </a:bodyPr>
          <a:lstStyle/>
          <a:p>
            <a:pPr marL="514350" indent="-514350">
              <a:lnSpc>
                <a:spcPct val="150000"/>
              </a:lnSpc>
              <a:buAutoNum type="arabicPeriod"/>
            </a:pPr>
            <a:r>
              <a:rPr lang="en-US" sz="2500" dirty="0">
                <a:latin typeface="Calibir"/>
              </a:rPr>
              <a:t>Raise error</a:t>
            </a:r>
          </a:p>
          <a:p>
            <a:pPr marL="457200" indent="-457200">
              <a:lnSpc>
                <a:spcPct val="150000"/>
              </a:lnSpc>
              <a:buFont typeface="Arial" panose="020B0604020202020204" pitchFamily="34" charset="0"/>
              <a:buChar char="•"/>
            </a:pPr>
            <a:r>
              <a:rPr lang="en-US" sz="2500" dirty="0">
                <a:latin typeface="Calibir"/>
              </a:rPr>
              <a:t>Java</a:t>
            </a:r>
          </a:p>
          <a:p>
            <a:pPr marL="457200" indent="-457200">
              <a:lnSpc>
                <a:spcPct val="150000"/>
              </a:lnSpc>
              <a:buFont typeface="Arial" panose="020B0604020202020204" pitchFamily="34" charset="0"/>
              <a:buChar char="•"/>
            </a:pPr>
            <a:endParaRPr lang="en-US" sz="2500" dirty="0">
              <a:latin typeface="Calibir"/>
            </a:endParaRPr>
          </a:p>
          <a:p>
            <a:pPr marL="457200" indent="-457200">
              <a:lnSpc>
                <a:spcPct val="150000"/>
              </a:lnSpc>
              <a:buFont typeface="Arial" panose="020B0604020202020204" pitchFamily="34" charset="0"/>
              <a:buChar char="•"/>
            </a:pPr>
            <a:r>
              <a:rPr lang="en-US" sz="2500" dirty="0">
                <a:latin typeface="Calibir"/>
              </a:rPr>
              <a:t>Python</a:t>
            </a:r>
          </a:p>
        </p:txBody>
      </p:sp>
      <p:sp>
        <p:nvSpPr>
          <p:cNvPr id="10" name="TextBox 9">
            <a:extLst>
              <a:ext uri="{FF2B5EF4-FFF2-40B4-BE49-F238E27FC236}">
                <a16:creationId xmlns:a16="http://schemas.microsoft.com/office/drawing/2014/main" id="{A7FEC54E-379F-7CB4-2610-CFFCB909CD60}"/>
              </a:ext>
            </a:extLst>
          </p:cNvPr>
          <p:cNvSpPr txBox="1"/>
          <p:nvPr/>
        </p:nvSpPr>
        <p:spPr>
          <a:xfrm>
            <a:off x="0" y="6195171"/>
            <a:ext cx="12192000" cy="523220"/>
          </a:xfrm>
          <a:prstGeom prst="rect">
            <a:avLst/>
          </a:prstGeom>
          <a:solidFill>
            <a:schemeClr val="tx1"/>
          </a:solidFill>
        </p:spPr>
        <p:txBody>
          <a:bodyPr wrap="square">
            <a:spAutoFit/>
          </a:bodyPr>
          <a:lstStyle/>
          <a:p>
            <a:pPr>
              <a:buNone/>
            </a:pPr>
            <a:r>
              <a:rPr lang="en-US" sz="2800" b="0" dirty="0">
                <a:solidFill>
                  <a:srgbClr val="CCCCCC"/>
                </a:solidFill>
                <a:effectLst/>
                <a:latin typeface="Consolas" panose="020B0609020204030204" pitchFamily="49" charset="0"/>
              </a:rPr>
              <a:t>raise </a:t>
            </a:r>
            <a:r>
              <a:rPr lang="en-US" sz="2800" b="0" dirty="0">
                <a:solidFill>
                  <a:srgbClr val="DCDCAA"/>
                </a:solidFill>
                <a:effectLst/>
                <a:latin typeface="Consolas" panose="020B0609020204030204" pitchFamily="49" charset="0"/>
              </a:rPr>
              <a:t>Exception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"Something went wrong"</a:t>
            </a:r>
            <a:r>
              <a:rPr lang="en-US" sz="2800" b="0" dirty="0">
                <a:solidFill>
                  <a:srgbClr val="CCCCCC"/>
                </a:solidFill>
                <a:effectLst/>
                <a:latin typeface="Consolas" panose="020B0609020204030204" pitchFamily="49" charset="0"/>
              </a:rPr>
              <a:t>)</a:t>
            </a:r>
          </a:p>
        </p:txBody>
      </p:sp>
      <p:sp>
        <p:nvSpPr>
          <p:cNvPr id="4" name="Rectangle 1">
            <a:extLst>
              <a:ext uri="{FF2B5EF4-FFF2-40B4-BE49-F238E27FC236}">
                <a16:creationId xmlns:a16="http://schemas.microsoft.com/office/drawing/2014/main" id="{E395AA9D-9902-2EF7-7F22-A1B43A0BF479}"/>
              </a:ext>
            </a:extLst>
          </p:cNvPr>
          <p:cNvSpPr>
            <a:spLocks noChangeArrowheads="1"/>
          </p:cNvSpPr>
          <p:nvPr/>
        </p:nvSpPr>
        <p:spPr bwMode="auto">
          <a:xfrm>
            <a:off x="2644521" y="4014448"/>
            <a:ext cx="9547480" cy="11868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tx1"/>
                </a:solidFill>
                <a:effectLst/>
                <a:latin typeface="Calibir"/>
              </a:rPr>
              <a:t>Meaning:</a:t>
            </a:r>
            <a:r>
              <a:rPr kumimoji="0" lang="en-US" altLang="en-US" sz="2500" b="0" i="0" u="none" strike="noStrike" cap="none" normalizeH="0" baseline="0" dirty="0">
                <a:ln>
                  <a:noFill/>
                </a:ln>
                <a:solidFill>
                  <a:schemeClr val="tx1"/>
                </a:solidFill>
                <a:effectLst/>
                <a:latin typeface="Calibir"/>
              </a:rPr>
              <a:t> We create/force an error to happen.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tx1"/>
                </a:solidFill>
                <a:effectLst/>
                <a:latin typeface="Calibir"/>
              </a:rPr>
              <a:t>Analogy:</a:t>
            </a:r>
            <a:r>
              <a:rPr kumimoji="0" lang="en-US" altLang="en-US" sz="2500" b="0" i="0" u="none" strike="noStrike" cap="none" normalizeH="0" baseline="0" dirty="0">
                <a:ln>
                  <a:noFill/>
                </a:ln>
                <a:solidFill>
                  <a:schemeClr val="tx1"/>
                </a:solidFill>
                <a:effectLst/>
                <a:latin typeface="Calibir"/>
              </a:rPr>
              <a:t> Like pulling a fire alarm → you announce there’s a problem.</a:t>
            </a:r>
          </a:p>
        </p:txBody>
      </p:sp>
      <p:sp>
        <p:nvSpPr>
          <p:cNvPr id="5" name="Rectangle: Rounded Corners 4">
            <a:extLst>
              <a:ext uri="{FF2B5EF4-FFF2-40B4-BE49-F238E27FC236}">
                <a16:creationId xmlns:a16="http://schemas.microsoft.com/office/drawing/2014/main" id="{DE2D2595-A130-4E60-BD84-E42680B0B3AD}"/>
              </a:ext>
            </a:extLst>
          </p:cNvPr>
          <p:cNvSpPr/>
          <p:nvPr/>
        </p:nvSpPr>
        <p:spPr>
          <a:xfrm>
            <a:off x="838198" y="2005780"/>
            <a:ext cx="10515600" cy="70832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912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ircle(in)">
                                      <p:cBhvr>
                                        <p:cTn id="10" dur="2000"/>
                                        <p:tgtEl>
                                          <p:spTgt spid="8"/>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circle(in)">
                                      <p:cBhvr>
                                        <p:cTn id="13" dur="2000"/>
                                        <p:tgtEl>
                                          <p:spTgt spid="10"/>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circle(in)">
                                      <p:cBhvr>
                                        <p:cTn id="1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28CE2-B20E-A465-0CB6-2C4BC6B43D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1607C-2C02-5231-709A-CC6CBEC2BB92}"/>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Exceptions</a:t>
            </a:r>
          </a:p>
        </p:txBody>
      </p:sp>
      <p:sp>
        <p:nvSpPr>
          <p:cNvPr id="6" name="TextBox 5">
            <a:extLst>
              <a:ext uri="{FF2B5EF4-FFF2-40B4-BE49-F238E27FC236}">
                <a16:creationId xmlns:a16="http://schemas.microsoft.com/office/drawing/2014/main" id="{47FAA503-03F1-94E2-275F-DF1206BC0563}"/>
              </a:ext>
            </a:extLst>
          </p:cNvPr>
          <p:cNvSpPr txBox="1"/>
          <p:nvPr/>
        </p:nvSpPr>
        <p:spPr>
          <a:xfrm>
            <a:off x="0" y="581403"/>
            <a:ext cx="11971282" cy="675441"/>
          </a:xfrm>
          <a:prstGeom prst="rect">
            <a:avLst/>
          </a:prstGeom>
          <a:noFill/>
        </p:spPr>
        <p:txBody>
          <a:bodyPr wrap="square">
            <a:spAutoFit/>
          </a:bodyPr>
          <a:lstStyle/>
          <a:p>
            <a:pPr>
              <a:lnSpc>
                <a:spcPct val="150000"/>
              </a:lnSpc>
            </a:pPr>
            <a:r>
              <a:rPr lang="en-US" sz="2800" dirty="0"/>
              <a:t>Concepts with Examples</a:t>
            </a:r>
            <a:endParaRPr lang="en-US" sz="2800" dirty="0">
              <a:latin typeface="Calibir"/>
            </a:endParaRPr>
          </a:p>
        </p:txBody>
      </p:sp>
      <p:graphicFrame>
        <p:nvGraphicFramePr>
          <p:cNvPr id="3" name="Table 2">
            <a:extLst>
              <a:ext uri="{FF2B5EF4-FFF2-40B4-BE49-F238E27FC236}">
                <a16:creationId xmlns:a16="http://schemas.microsoft.com/office/drawing/2014/main" id="{F6433434-4D5B-E119-CE3F-CB92ABD9268C}"/>
              </a:ext>
            </a:extLst>
          </p:cNvPr>
          <p:cNvGraphicFramePr>
            <a:graphicFrameLocks noGrp="1"/>
          </p:cNvGraphicFramePr>
          <p:nvPr>
            <p:extLst>
              <p:ext uri="{D42A27DB-BD31-4B8C-83A1-F6EECF244321}">
                <p14:modId xmlns:p14="http://schemas.microsoft.com/office/powerpoint/2010/main" val="3435346679"/>
              </p:ext>
            </p:extLst>
          </p:nvPr>
        </p:nvGraphicFramePr>
        <p:xfrm>
          <a:off x="4047893" y="28661"/>
          <a:ext cx="8144105" cy="2661412"/>
        </p:xfrm>
        <a:graphic>
          <a:graphicData uri="http://schemas.openxmlformats.org/drawingml/2006/table">
            <a:tbl>
              <a:tblPr>
                <a:tableStyleId>{ED083AE6-46FA-4A59-8FB0-9F97EB10719F}</a:tableStyleId>
              </a:tblPr>
              <a:tblGrid>
                <a:gridCol w="1810213">
                  <a:extLst>
                    <a:ext uri="{9D8B030D-6E8A-4147-A177-3AD203B41FA5}">
                      <a16:colId xmlns:a16="http://schemas.microsoft.com/office/drawing/2014/main" val="1393283062"/>
                    </a:ext>
                  </a:extLst>
                </a:gridCol>
                <a:gridCol w="2932770">
                  <a:extLst>
                    <a:ext uri="{9D8B030D-6E8A-4147-A177-3AD203B41FA5}">
                      <a16:colId xmlns:a16="http://schemas.microsoft.com/office/drawing/2014/main" val="2370097554"/>
                    </a:ext>
                  </a:extLst>
                </a:gridCol>
                <a:gridCol w="3401122">
                  <a:extLst>
                    <a:ext uri="{9D8B030D-6E8A-4147-A177-3AD203B41FA5}">
                      <a16:colId xmlns:a16="http://schemas.microsoft.com/office/drawing/2014/main" val="3531350266"/>
                    </a:ext>
                  </a:extLst>
                </a:gridCol>
              </a:tblGrid>
              <a:tr h="0">
                <a:tc>
                  <a:txBody>
                    <a:bodyPr/>
                    <a:lstStyle/>
                    <a:p>
                      <a:pPr>
                        <a:lnSpc>
                          <a:spcPct val="150000"/>
                        </a:lnSpc>
                        <a:buNone/>
                      </a:pPr>
                      <a:r>
                        <a:rPr lang="en-US" sz="2800" dirty="0">
                          <a:latin typeface="Calibir"/>
                        </a:rPr>
                        <a:t>Concept</a:t>
                      </a:r>
                    </a:p>
                  </a:txBody>
                  <a:tcPr anchor="ctr">
                    <a:solidFill>
                      <a:schemeClr val="accent4">
                        <a:lumMod val="20000"/>
                        <a:lumOff val="80000"/>
                      </a:schemeClr>
                    </a:solidFill>
                  </a:tcPr>
                </a:tc>
                <a:tc>
                  <a:txBody>
                    <a:bodyPr/>
                    <a:lstStyle/>
                    <a:p>
                      <a:pPr>
                        <a:lnSpc>
                          <a:spcPct val="150000"/>
                        </a:lnSpc>
                        <a:buNone/>
                      </a:pPr>
                      <a:r>
                        <a:rPr lang="en-US" sz="2800" dirty="0">
                          <a:latin typeface="Calibir"/>
                        </a:rPr>
                        <a:t>Java</a:t>
                      </a:r>
                    </a:p>
                  </a:txBody>
                  <a:tcPr anchor="ctr">
                    <a:solidFill>
                      <a:schemeClr val="accent4">
                        <a:lumMod val="20000"/>
                        <a:lumOff val="80000"/>
                      </a:schemeClr>
                    </a:solidFill>
                  </a:tcPr>
                </a:tc>
                <a:tc>
                  <a:txBody>
                    <a:bodyPr/>
                    <a:lstStyle/>
                    <a:p>
                      <a:pPr>
                        <a:lnSpc>
                          <a:spcPct val="150000"/>
                        </a:lnSpc>
                        <a:buNone/>
                      </a:pPr>
                      <a:r>
                        <a:rPr lang="en-US" sz="2800" dirty="0">
                          <a:latin typeface="Calibir"/>
                        </a:rPr>
                        <a:t>Python</a:t>
                      </a:r>
                    </a:p>
                  </a:txBody>
                  <a:tcPr anchor="ctr">
                    <a:solidFill>
                      <a:schemeClr val="accent4">
                        <a:lumMod val="20000"/>
                        <a:lumOff val="80000"/>
                      </a:schemeClr>
                    </a:solidFill>
                  </a:tcPr>
                </a:tc>
                <a:extLst>
                  <a:ext uri="{0D108BD9-81ED-4DB2-BD59-A6C34878D82A}">
                    <a16:rowId xmlns:a16="http://schemas.microsoft.com/office/drawing/2014/main" val="3463850196"/>
                  </a:ext>
                </a:extLst>
              </a:tr>
              <a:tr h="0">
                <a:tc>
                  <a:txBody>
                    <a:bodyPr/>
                    <a:lstStyle/>
                    <a:p>
                      <a:pPr>
                        <a:lnSpc>
                          <a:spcPct val="150000"/>
                        </a:lnSpc>
                        <a:buNone/>
                      </a:pPr>
                      <a:r>
                        <a:rPr lang="en-US" sz="2800" dirty="0">
                          <a:latin typeface="Calibir"/>
                        </a:rPr>
                        <a:t>Raise error</a:t>
                      </a:r>
                    </a:p>
                  </a:txBody>
                  <a:tcPr anchor="ctr"/>
                </a:tc>
                <a:tc>
                  <a:txBody>
                    <a:bodyPr/>
                    <a:lstStyle/>
                    <a:p>
                      <a:pPr>
                        <a:lnSpc>
                          <a:spcPct val="150000"/>
                        </a:lnSpc>
                        <a:buNone/>
                      </a:pPr>
                      <a:r>
                        <a:rPr lang="en-US" sz="2800">
                          <a:latin typeface="Calibir"/>
                        </a:rPr>
                        <a:t>throw, throws</a:t>
                      </a:r>
                    </a:p>
                  </a:txBody>
                  <a:tcPr anchor="ctr"/>
                </a:tc>
                <a:tc>
                  <a:txBody>
                    <a:bodyPr/>
                    <a:lstStyle/>
                    <a:p>
                      <a:pPr>
                        <a:lnSpc>
                          <a:spcPct val="150000"/>
                        </a:lnSpc>
                        <a:buNone/>
                      </a:pPr>
                      <a:r>
                        <a:rPr lang="en-US" sz="2800">
                          <a:latin typeface="Calibir"/>
                        </a:rPr>
                        <a:t>raise</a:t>
                      </a:r>
                    </a:p>
                  </a:txBody>
                  <a:tcPr anchor="ctr"/>
                </a:tc>
                <a:extLst>
                  <a:ext uri="{0D108BD9-81ED-4DB2-BD59-A6C34878D82A}">
                    <a16:rowId xmlns:a16="http://schemas.microsoft.com/office/drawing/2014/main" val="2274014256"/>
                  </a:ext>
                </a:extLst>
              </a:tr>
              <a:tr h="0">
                <a:tc>
                  <a:txBody>
                    <a:bodyPr/>
                    <a:lstStyle/>
                    <a:p>
                      <a:pPr>
                        <a:lnSpc>
                          <a:spcPct val="150000"/>
                        </a:lnSpc>
                        <a:buNone/>
                      </a:pPr>
                      <a:r>
                        <a:rPr lang="en-US" sz="2800">
                          <a:latin typeface="Calibir"/>
                        </a:rPr>
                        <a:t>Catch error</a:t>
                      </a:r>
                    </a:p>
                  </a:txBody>
                  <a:tcPr anchor="ctr"/>
                </a:tc>
                <a:tc>
                  <a:txBody>
                    <a:bodyPr/>
                    <a:lstStyle/>
                    <a:p>
                      <a:pPr>
                        <a:lnSpc>
                          <a:spcPct val="150000"/>
                        </a:lnSpc>
                        <a:buNone/>
                      </a:pPr>
                      <a:r>
                        <a:rPr lang="en-US" sz="2800">
                          <a:latin typeface="Calibir"/>
                        </a:rPr>
                        <a:t>catch(Exception e)</a:t>
                      </a:r>
                    </a:p>
                  </a:txBody>
                  <a:tcPr anchor="ctr"/>
                </a:tc>
                <a:tc>
                  <a:txBody>
                    <a:bodyPr/>
                    <a:lstStyle/>
                    <a:p>
                      <a:pPr>
                        <a:lnSpc>
                          <a:spcPct val="150000"/>
                        </a:lnSpc>
                        <a:buNone/>
                      </a:pPr>
                      <a:r>
                        <a:rPr lang="en-US" sz="2800">
                          <a:latin typeface="Calibir"/>
                        </a:rPr>
                        <a:t>except Exception as e:</a:t>
                      </a:r>
                    </a:p>
                  </a:txBody>
                  <a:tcPr anchor="ctr"/>
                </a:tc>
                <a:extLst>
                  <a:ext uri="{0D108BD9-81ED-4DB2-BD59-A6C34878D82A}">
                    <a16:rowId xmlns:a16="http://schemas.microsoft.com/office/drawing/2014/main" val="1833778645"/>
                  </a:ext>
                </a:extLst>
              </a:tr>
              <a:tr h="0">
                <a:tc>
                  <a:txBody>
                    <a:bodyPr/>
                    <a:lstStyle/>
                    <a:p>
                      <a:pPr>
                        <a:lnSpc>
                          <a:spcPct val="150000"/>
                        </a:lnSpc>
                        <a:buNone/>
                      </a:pPr>
                      <a:r>
                        <a:rPr lang="en-US" sz="2800">
                          <a:latin typeface="Calibir"/>
                        </a:rPr>
                        <a:t>Finally</a:t>
                      </a:r>
                    </a:p>
                  </a:txBody>
                  <a:tcPr anchor="ctr"/>
                </a:tc>
                <a:tc>
                  <a:txBody>
                    <a:bodyPr/>
                    <a:lstStyle/>
                    <a:p>
                      <a:pPr>
                        <a:lnSpc>
                          <a:spcPct val="150000"/>
                        </a:lnSpc>
                        <a:buNone/>
                      </a:pPr>
                      <a:r>
                        <a:rPr lang="en-US" sz="2800">
                          <a:latin typeface="Calibir"/>
                        </a:rPr>
                        <a:t>Runs every time</a:t>
                      </a:r>
                    </a:p>
                  </a:txBody>
                  <a:tcPr anchor="ctr"/>
                </a:tc>
                <a:tc>
                  <a:txBody>
                    <a:bodyPr/>
                    <a:lstStyle/>
                    <a:p>
                      <a:pPr>
                        <a:lnSpc>
                          <a:spcPct val="150000"/>
                        </a:lnSpc>
                        <a:buNone/>
                      </a:pPr>
                      <a:r>
                        <a:rPr lang="en-US" sz="2800" dirty="0">
                          <a:latin typeface="Calibir"/>
                        </a:rPr>
                        <a:t>Runs every time</a:t>
                      </a:r>
                    </a:p>
                  </a:txBody>
                  <a:tcPr anchor="ctr"/>
                </a:tc>
                <a:extLst>
                  <a:ext uri="{0D108BD9-81ED-4DB2-BD59-A6C34878D82A}">
                    <a16:rowId xmlns:a16="http://schemas.microsoft.com/office/drawing/2014/main" val="960848600"/>
                  </a:ext>
                </a:extLst>
              </a:tr>
            </a:tbl>
          </a:graphicData>
        </a:graphic>
      </p:graphicFrame>
      <p:sp>
        <p:nvSpPr>
          <p:cNvPr id="8" name="TextBox 7">
            <a:extLst>
              <a:ext uri="{FF2B5EF4-FFF2-40B4-BE49-F238E27FC236}">
                <a16:creationId xmlns:a16="http://schemas.microsoft.com/office/drawing/2014/main" id="{8743C353-31A7-9900-093E-7009E2E8C2FA}"/>
              </a:ext>
            </a:extLst>
          </p:cNvPr>
          <p:cNvSpPr txBox="1"/>
          <p:nvPr/>
        </p:nvSpPr>
        <p:spPr>
          <a:xfrm>
            <a:off x="100360" y="1838246"/>
            <a:ext cx="12191999" cy="3495188"/>
          </a:xfrm>
          <a:prstGeom prst="rect">
            <a:avLst/>
          </a:prstGeom>
          <a:noFill/>
        </p:spPr>
        <p:txBody>
          <a:bodyPr wrap="square">
            <a:spAutoFit/>
          </a:bodyPr>
          <a:lstStyle/>
          <a:p>
            <a:pPr marL="514350" indent="-514350">
              <a:lnSpc>
                <a:spcPct val="150000"/>
              </a:lnSpc>
              <a:buFont typeface="+mj-lt"/>
              <a:buAutoNum type="arabicPeriod" startAt="2"/>
            </a:pPr>
            <a:r>
              <a:rPr lang="en-US" sz="2500" dirty="0">
                <a:latin typeface="Calibir"/>
              </a:rPr>
              <a:t>Catch error</a:t>
            </a:r>
          </a:p>
          <a:p>
            <a:pPr marL="457200" indent="-457200">
              <a:lnSpc>
                <a:spcPct val="150000"/>
              </a:lnSpc>
              <a:buFont typeface="Arial" panose="020B0604020202020204" pitchFamily="34" charset="0"/>
              <a:buChar char="•"/>
            </a:pPr>
            <a:r>
              <a:rPr lang="en-US" sz="2500" dirty="0">
                <a:latin typeface="Calibir"/>
              </a:rPr>
              <a:t>Java</a:t>
            </a:r>
          </a:p>
          <a:p>
            <a:pPr marL="457200" indent="-457200">
              <a:lnSpc>
                <a:spcPct val="150000"/>
              </a:lnSpc>
              <a:buFont typeface="Arial" panose="020B0604020202020204" pitchFamily="34" charset="0"/>
              <a:buChar char="•"/>
            </a:pPr>
            <a:endParaRPr lang="en-US" sz="2500" dirty="0">
              <a:latin typeface="Calibir"/>
            </a:endParaRPr>
          </a:p>
          <a:p>
            <a:pPr marL="457200" indent="-457200">
              <a:lnSpc>
                <a:spcPct val="150000"/>
              </a:lnSpc>
              <a:buFont typeface="Arial" panose="020B0604020202020204" pitchFamily="34" charset="0"/>
              <a:buChar char="•"/>
            </a:pPr>
            <a:endParaRPr lang="en-US" sz="2500" dirty="0">
              <a:latin typeface="Calibir"/>
            </a:endParaRPr>
          </a:p>
          <a:p>
            <a:pPr marL="457200" indent="-457200">
              <a:lnSpc>
                <a:spcPct val="150000"/>
              </a:lnSpc>
              <a:buFont typeface="Arial" panose="020B0604020202020204" pitchFamily="34" charset="0"/>
              <a:buChar char="•"/>
            </a:pPr>
            <a:endParaRPr lang="en-US" sz="2500" dirty="0">
              <a:latin typeface="Calibir"/>
            </a:endParaRPr>
          </a:p>
          <a:p>
            <a:pPr marL="457200" indent="-457200">
              <a:lnSpc>
                <a:spcPct val="150000"/>
              </a:lnSpc>
              <a:buFont typeface="Arial" panose="020B0604020202020204" pitchFamily="34" charset="0"/>
              <a:buChar char="•"/>
            </a:pPr>
            <a:r>
              <a:rPr lang="en-US" sz="2500" dirty="0">
                <a:latin typeface="Calibir"/>
              </a:rPr>
              <a:t>Python</a:t>
            </a:r>
          </a:p>
        </p:txBody>
      </p:sp>
      <p:sp>
        <p:nvSpPr>
          <p:cNvPr id="5" name="TextBox 4">
            <a:extLst>
              <a:ext uri="{FF2B5EF4-FFF2-40B4-BE49-F238E27FC236}">
                <a16:creationId xmlns:a16="http://schemas.microsoft.com/office/drawing/2014/main" id="{618368FA-7CAD-400D-FD67-8BD45A6656FD}"/>
              </a:ext>
            </a:extLst>
          </p:cNvPr>
          <p:cNvSpPr txBox="1"/>
          <p:nvPr/>
        </p:nvSpPr>
        <p:spPr>
          <a:xfrm>
            <a:off x="1673611" y="2772861"/>
            <a:ext cx="9246220" cy="2015936"/>
          </a:xfrm>
          <a:prstGeom prst="rect">
            <a:avLst/>
          </a:prstGeom>
          <a:solidFill>
            <a:schemeClr val="tx1"/>
          </a:solidFill>
        </p:spPr>
        <p:txBody>
          <a:bodyPr wrap="square">
            <a:spAutoFit/>
          </a:bodyPr>
          <a:lstStyle/>
          <a:p>
            <a:pPr>
              <a:buNone/>
            </a:pPr>
            <a:r>
              <a:rPr lang="en-US" sz="2500" b="0" dirty="0">
                <a:solidFill>
                  <a:srgbClr val="C586C0"/>
                </a:solidFill>
                <a:effectLst/>
                <a:latin typeface="Consolas" panose="020B0609020204030204" pitchFamily="49" charset="0"/>
              </a:rPr>
              <a:t>try</a:t>
            </a:r>
            <a:r>
              <a:rPr lang="en-US" sz="2500" b="0" dirty="0">
                <a:solidFill>
                  <a:srgbClr val="CCCCCC"/>
                </a:solidFill>
                <a:effectLst/>
                <a:latin typeface="Consolas" panose="020B0609020204030204" pitchFamily="49" charset="0"/>
              </a:rPr>
              <a:t> {</a:t>
            </a:r>
          </a:p>
          <a:p>
            <a:pPr>
              <a:buNone/>
            </a:pPr>
            <a:r>
              <a:rPr lang="en-US" sz="2500" b="0" dirty="0">
                <a:solidFill>
                  <a:srgbClr val="CCCCCC"/>
                </a:solidFill>
                <a:effectLst/>
                <a:latin typeface="Consolas" panose="020B0609020204030204" pitchFamily="49" charset="0"/>
              </a:rPr>
              <a:t>    </a:t>
            </a:r>
            <a:r>
              <a:rPr lang="en-US" sz="2500" b="0" dirty="0">
                <a:solidFill>
                  <a:srgbClr val="4EC9B0"/>
                </a:solidFill>
                <a:effectLst/>
                <a:latin typeface="Consolas" panose="020B0609020204030204" pitchFamily="49" charset="0"/>
              </a:rPr>
              <a:t>int</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x</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B5CEA8"/>
                </a:solidFill>
                <a:effectLst/>
                <a:latin typeface="Consolas" panose="020B0609020204030204" pitchFamily="49" charset="0"/>
              </a:rPr>
              <a:t>5</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a:solidFill>
                  <a:srgbClr val="C586C0"/>
                </a:solidFill>
                <a:effectLst/>
                <a:latin typeface="Consolas" panose="020B0609020204030204" pitchFamily="49" charset="0"/>
              </a:rPr>
              <a:t>catch</a:t>
            </a:r>
            <a:r>
              <a:rPr lang="en-US" sz="2500" b="0" dirty="0">
                <a:solidFill>
                  <a:srgbClr val="CCCCCC"/>
                </a:solidFill>
                <a:effectLst/>
                <a:latin typeface="Consolas" panose="020B0609020204030204" pitchFamily="49" charset="0"/>
              </a:rPr>
              <a:t> (</a:t>
            </a:r>
            <a:r>
              <a:rPr lang="en-US" sz="2500" b="0" dirty="0">
                <a:solidFill>
                  <a:srgbClr val="4EC9B0"/>
                </a:solidFill>
                <a:effectLst/>
                <a:latin typeface="Consolas" panose="020B0609020204030204" pitchFamily="49" charset="0"/>
              </a:rPr>
              <a:t>Exception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e</a:t>
            </a:r>
            <a:r>
              <a:rPr lang="en-US" sz="2500" b="0" dirty="0">
                <a:solidFill>
                  <a:srgbClr val="CCCCCC"/>
                </a:solidFill>
                <a:effectLst/>
                <a:latin typeface="Consolas" panose="020B0609020204030204" pitchFamily="49" charset="0"/>
              </a:rPr>
              <a:t>) {</a:t>
            </a: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System</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out</a:t>
            </a:r>
            <a:r>
              <a:rPr lang="en-US" sz="2500" b="0" dirty="0" err="1">
                <a:solidFill>
                  <a:srgbClr val="CCCCCC"/>
                </a:solidFill>
                <a:effectLst/>
                <a:latin typeface="Consolas" panose="020B0609020204030204" pitchFamily="49" charset="0"/>
              </a:rPr>
              <a:t>.</a:t>
            </a:r>
            <a:r>
              <a:rPr lang="en-US" sz="2500" b="0" dirty="0" err="1">
                <a:solidFill>
                  <a:srgbClr val="DCDCAA"/>
                </a:solidFill>
                <a:effectLst/>
                <a:latin typeface="Consolas" panose="020B0609020204030204" pitchFamily="49" charset="0"/>
              </a:rPr>
              <a:t>println</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"Error: "</a:t>
            </a:r>
            <a:r>
              <a:rPr lang="en-US" sz="2500" b="0" dirty="0">
                <a:solidFill>
                  <a:srgbClr val="CCCCCC"/>
                </a:solidFill>
                <a:effectLst/>
                <a:latin typeface="Consolas" panose="020B0609020204030204" pitchFamily="49" charset="0"/>
              </a:rPr>
              <a:t> </a:t>
            </a:r>
            <a:r>
              <a:rPr lang="en-US" sz="2500" b="0" dirty="0">
                <a:solidFill>
                  <a:srgbClr val="D4D4D4"/>
                </a:solidFill>
                <a:effectLst/>
                <a:latin typeface="Consolas" panose="020B0609020204030204" pitchFamily="49" charset="0"/>
              </a:rPr>
              <a:t>+</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e</a:t>
            </a:r>
            <a:r>
              <a:rPr lang="en-US" sz="2500" b="0" dirty="0" err="1">
                <a:solidFill>
                  <a:srgbClr val="CCCCCC"/>
                </a:solidFill>
                <a:effectLst/>
                <a:latin typeface="Consolas" panose="020B0609020204030204" pitchFamily="49" charset="0"/>
              </a:rPr>
              <a:t>.</a:t>
            </a:r>
            <a:r>
              <a:rPr lang="en-US" sz="2500" b="0" dirty="0" err="1">
                <a:solidFill>
                  <a:srgbClr val="DCDCAA"/>
                </a:solidFill>
                <a:effectLst/>
                <a:latin typeface="Consolas" panose="020B0609020204030204" pitchFamily="49" charset="0"/>
              </a:rPr>
              <a:t>getMessage</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6385F649-4F9E-889D-2601-432ABB1CCD3D}"/>
              </a:ext>
            </a:extLst>
          </p:cNvPr>
          <p:cNvSpPr txBox="1"/>
          <p:nvPr/>
        </p:nvSpPr>
        <p:spPr>
          <a:xfrm>
            <a:off x="1673611" y="4863585"/>
            <a:ext cx="9246220" cy="1631216"/>
          </a:xfrm>
          <a:prstGeom prst="rect">
            <a:avLst/>
          </a:prstGeom>
          <a:solidFill>
            <a:schemeClr val="tx1"/>
          </a:solidFill>
        </p:spPr>
        <p:txBody>
          <a:bodyPr wrap="square">
            <a:spAutoFit/>
          </a:bodyPr>
          <a:lstStyle/>
          <a:p>
            <a:pPr>
              <a:buNone/>
            </a:pPr>
            <a:r>
              <a:rPr lang="en-US" sz="2500" b="0" dirty="0">
                <a:solidFill>
                  <a:srgbClr val="C586C0"/>
                </a:solidFill>
                <a:effectLst/>
                <a:latin typeface="Consolas" panose="020B0609020204030204" pitchFamily="49" charset="0"/>
              </a:rPr>
              <a:t>try</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x = 5 / 0</a:t>
            </a:r>
          </a:p>
          <a:p>
            <a:pPr>
              <a:buNone/>
            </a:pPr>
            <a:r>
              <a:rPr lang="en-US" sz="2500" b="0" dirty="0">
                <a:solidFill>
                  <a:srgbClr val="CCCCCC"/>
                </a:solidFill>
                <a:effectLst/>
                <a:latin typeface="Consolas" panose="020B0609020204030204" pitchFamily="49" charset="0"/>
              </a:rPr>
              <a:t>except Exception as e:</a:t>
            </a:r>
          </a:p>
          <a:p>
            <a:pPr>
              <a:buNone/>
            </a:pPr>
            <a:r>
              <a:rPr lang="en-US" sz="2500" b="0" dirty="0">
                <a:solidFill>
                  <a:srgbClr val="CCCCCC"/>
                </a:solidFill>
                <a:effectLst/>
                <a:latin typeface="Consolas" panose="020B0609020204030204" pitchFamily="49" charset="0"/>
              </a:rPr>
              <a:t>    print(</a:t>
            </a:r>
            <a:r>
              <a:rPr lang="en-US" sz="2500" b="0" dirty="0">
                <a:solidFill>
                  <a:srgbClr val="CE9178"/>
                </a:solidFill>
                <a:effectLst/>
                <a:latin typeface="Consolas" panose="020B0609020204030204" pitchFamily="49" charset="0"/>
              </a:rPr>
              <a:t>"Error:"</a:t>
            </a:r>
            <a:r>
              <a:rPr lang="en-US" sz="2500" b="0" dirty="0">
                <a:solidFill>
                  <a:srgbClr val="CCCCCC"/>
                </a:solidFill>
                <a:effectLst/>
                <a:latin typeface="Consolas" panose="020B0609020204030204" pitchFamily="49" charset="0"/>
              </a:rPr>
              <a:t>, e)</a:t>
            </a:r>
          </a:p>
        </p:txBody>
      </p:sp>
      <p:sp>
        <p:nvSpPr>
          <p:cNvPr id="4" name="Rectangle 1">
            <a:extLst>
              <a:ext uri="{FF2B5EF4-FFF2-40B4-BE49-F238E27FC236}">
                <a16:creationId xmlns:a16="http://schemas.microsoft.com/office/drawing/2014/main" id="{73AC6604-55CA-8EB9-3A69-F7D149CF66C6}"/>
              </a:ext>
            </a:extLst>
          </p:cNvPr>
          <p:cNvSpPr>
            <a:spLocks noChangeArrowheads="1"/>
          </p:cNvSpPr>
          <p:nvPr/>
        </p:nvSpPr>
        <p:spPr bwMode="auto">
          <a:xfrm>
            <a:off x="6096000" y="4488283"/>
            <a:ext cx="6095998" cy="2341025"/>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tx1"/>
                </a:solidFill>
                <a:effectLst/>
                <a:latin typeface="Calibir"/>
              </a:rPr>
              <a:t>Meaning:</a:t>
            </a:r>
            <a:r>
              <a:rPr kumimoji="0" lang="en-US" altLang="en-US" sz="2500" b="0" i="0" u="none" strike="noStrike" cap="none" normalizeH="0" baseline="0" dirty="0">
                <a:ln>
                  <a:noFill/>
                </a:ln>
                <a:solidFill>
                  <a:schemeClr val="tx1"/>
                </a:solidFill>
                <a:effectLst/>
                <a:latin typeface="Calibir"/>
              </a:rPr>
              <a:t> We stop the program from crashing by handling the error.</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tx1"/>
                </a:solidFill>
                <a:effectLst/>
                <a:latin typeface="Calibir"/>
              </a:rPr>
              <a:t>Analogy:</a:t>
            </a:r>
            <a:r>
              <a:rPr kumimoji="0" lang="en-US" altLang="en-US" sz="2500" b="0" i="0" u="none" strike="noStrike" cap="none" normalizeH="0" baseline="0" dirty="0">
                <a:ln>
                  <a:noFill/>
                </a:ln>
                <a:solidFill>
                  <a:schemeClr val="tx1"/>
                </a:solidFill>
                <a:effectLst/>
                <a:latin typeface="Calibir"/>
              </a:rPr>
              <a:t> Like firefighters coming to fix the fire alarm situation.</a:t>
            </a:r>
          </a:p>
        </p:txBody>
      </p:sp>
      <p:sp>
        <p:nvSpPr>
          <p:cNvPr id="7" name="Rectangle: Rounded Corners 6">
            <a:extLst>
              <a:ext uri="{FF2B5EF4-FFF2-40B4-BE49-F238E27FC236}">
                <a16:creationId xmlns:a16="http://schemas.microsoft.com/office/drawing/2014/main" id="{64703C96-E64F-7A40-6D2A-5DFE24F13A6B}"/>
              </a:ext>
            </a:extLst>
          </p:cNvPr>
          <p:cNvSpPr/>
          <p:nvPr/>
        </p:nvSpPr>
        <p:spPr>
          <a:xfrm>
            <a:off x="4045105" y="1331632"/>
            <a:ext cx="8144106" cy="70832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4576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CB0A7-D5FE-6625-37BC-0C6A27F0E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2EE73-42BD-67EA-F55C-5E40CE9F9846}"/>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Exceptions</a:t>
            </a:r>
          </a:p>
        </p:txBody>
      </p:sp>
      <p:sp>
        <p:nvSpPr>
          <p:cNvPr id="6" name="TextBox 5">
            <a:extLst>
              <a:ext uri="{FF2B5EF4-FFF2-40B4-BE49-F238E27FC236}">
                <a16:creationId xmlns:a16="http://schemas.microsoft.com/office/drawing/2014/main" id="{910D0EAB-C79B-B3DE-D097-50B0D4A71140}"/>
              </a:ext>
            </a:extLst>
          </p:cNvPr>
          <p:cNvSpPr txBox="1"/>
          <p:nvPr/>
        </p:nvSpPr>
        <p:spPr>
          <a:xfrm>
            <a:off x="0" y="581403"/>
            <a:ext cx="11971282" cy="675441"/>
          </a:xfrm>
          <a:prstGeom prst="rect">
            <a:avLst/>
          </a:prstGeom>
          <a:noFill/>
        </p:spPr>
        <p:txBody>
          <a:bodyPr wrap="square">
            <a:spAutoFit/>
          </a:bodyPr>
          <a:lstStyle/>
          <a:p>
            <a:pPr>
              <a:lnSpc>
                <a:spcPct val="150000"/>
              </a:lnSpc>
            </a:pPr>
            <a:r>
              <a:rPr lang="en-US" sz="2800" dirty="0"/>
              <a:t>Concepts with Examples</a:t>
            </a:r>
            <a:endParaRPr lang="en-US" sz="2800" dirty="0">
              <a:latin typeface="Calibir"/>
            </a:endParaRPr>
          </a:p>
        </p:txBody>
      </p:sp>
      <p:graphicFrame>
        <p:nvGraphicFramePr>
          <p:cNvPr id="3" name="Table 2">
            <a:extLst>
              <a:ext uri="{FF2B5EF4-FFF2-40B4-BE49-F238E27FC236}">
                <a16:creationId xmlns:a16="http://schemas.microsoft.com/office/drawing/2014/main" id="{9E21E046-D35A-BBE8-2659-0F5E9BF1838B}"/>
              </a:ext>
            </a:extLst>
          </p:cNvPr>
          <p:cNvGraphicFramePr>
            <a:graphicFrameLocks noGrp="1"/>
          </p:cNvGraphicFramePr>
          <p:nvPr>
            <p:extLst>
              <p:ext uri="{D42A27DB-BD31-4B8C-83A1-F6EECF244321}">
                <p14:modId xmlns:p14="http://schemas.microsoft.com/office/powerpoint/2010/main" val="2444968372"/>
              </p:ext>
            </p:extLst>
          </p:nvPr>
        </p:nvGraphicFramePr>
        <p:xfrm>
          <a:off x="4047893" y="28661"/>
          <a:ext cx="8144105" cy="2661412"/>
        </p:xfrm>
        <a:graphic>
          <a:graphicData uri="http://schemas.openxmlformats.org/drawingml/2006/table">
            <a:tbl>
              <a:tblPr>
                <a:tableStyleId>{ED083AE6-46FA-4A59-8FB0-9F97EB10719F}</a:tableStyleId>
              </a:tblPr>
              <a:tblGrid>
                <a:gridCol w="1810213">
                  <a:extLst>
                    <a:ext uri="{9D8B030D-6E8A-4147-A177-3AD203B41FA5}">
                      <a16:colId xmlns:a16="http://schemas.microsoft.com/office/drawing/2014/main" val="1393283062"/>
                    </a:ext>
                  </a:extLst>
                </a:gridCol>
                <a:gridCol w="2932770">
                  <a:extLst>
                    <a:ext uri="{9D8B030D-6E8A-4147-A177-3AD203B41FA5}">
                      <a16:colId xmlns:a16="http://schemas.microsoft.com/office/drawing/2014/main" val="2370097554"/>
                    </a:ext>
                  </a:extLst>
                </a:gridCol>
                <a:gridCol w="3401122">
                  <a:extLst>
                    <a:ext uri="{9D8B030D-6E8A-4147-A177-3AD203B41FA5}">
                      <a16:colId xmlns:a16="http://schemas.microsoft.com/office/drawing/2014/main" val="3531350266"/>
                    </a:ext>
                  </a:extLst>
                </a:gridCol>
              </a:tblGrid>
              <a:tr h="0">
                <a:tc>
                  <a:txBody>
                    <a:bodyPr/>
                    <a:lstStyle/>
                    <a:p>
                      <a:pPr>
                        <a:lnSpc>
                          <a:spcPct val="150000"/>
                        </a:lnSpc>
                        <a:buNone/>
                      </a:pPr>
                      <a:r>
                        <a:rPr lang="en-US" sz="2800" dirty="0">
                          <a:latin typeface="Calibir"/>
                        </a:rPr>
                        <a:t>Concept</a:t>
                      </a:r>
                    </a:p>
                  </a:txBody>
                  <a:tcPr anchor="ctr">
                    <a:solidFill>
                      <a:schemeClr val="accent4">
                        <a:lumMod val="20000"/>
                        <a:lumOff val="80000"/>
                      </a:schemeClr>
                    </a:solidFill>
                  </a:tcPr>
                </a:tc>
                <a:tc>
                  <a:txBody>
                    <a:bodyPr/>
                    <a:lstStyle/>
                    <a:p>
                      <a:pPr>
                        <a:lnSpc>
                          <a:spcPct val="150000"/>
                        </a:lnSpc>
                        <a:buNone/>
                      </a:pPr>
                      <a:r>
                        <a:rPr lang="en-US" sz="2800" dirty="0">
                          <a:latin typeface="Calibir"/>
                        </a:rPr>
                        <a:t>Java</a:t>
                      </a:r>
                    </a:p>
                  </a:txBody>
                  <a:tcPr anchor="ctr">
                    <a:solidFill>
                      <a:schemeClr val="accent4">
                        <a:lumMod val="20000"/>
                        <a:lumOff val="80000"/>
                      </a:schemeClr>
                    </a:solidFill>
                  </a:tcPr>
                </a:tc>
                <a:tc>
                  <a:txBody>
                    <a:bodyPr/>
                    <a:lstStyle/>
                    <a:p>
                      <a:pPr>
                        <a:lnSpc>
                          <a:spcPct val="150000"/>
                        </a:lnSpc>
                        <a:buNone/>
                      </a:pPr>
                      <a:r>
                        <a:rPr lang="en-US" sz="2800" dirty="0">
                          <a:latin typeface="Calibir"/>
                        </a:rPr>
                        <a:t>Python</a:t>
                      </a:r>
                    </a:p>
                  </a:txBody>
                  <a:tcPr anchor="ctr">
                    <a:solidFill>
                      <a:schemeClr val="accent4">
                        <a:lumMod val="20000"/>
                        <a:lumOff val="80000"/>
                      </a:schemeClr>
                    </a:solidFill>
                  </a:tcPr>
                </a:tc>
                <a:extLst>
                  <a:ext uri="{0D108BD9-81ED-4DB2-BD59-A6C34878D82A}">
                    <a16:rowId xmlns:a16="http://schemas.microsoft.com/office/drawing/2014/main" val="3463850196"/>
                  </a:ext>
                </a:extLst>
              </a:tr>
              <a:tr h="0">
                <a:tc>
                  <a:txBody>
                    <a:bodyPr/>
                    <a:lstStyle/>
                    <a:p>
                      <a:pPr>
                        <a:lnSpc>
                          <a:spcPct val="150000"/>
                        </a:lnSpc>
                        <a:buNone/>
                      </a:pPr>
                      <a:r>
                        <a:rPr lang="en-US" sz="2800" dirty="0">
                          <a:latin typeface="Calibir"/>
                        </a:rPr>
                        <a:t>Raise error</a:t>
                      </a:r>
                    </a:p>
                  </a:txBody>
                  <a:tcPr anchor="ctr"/>
                </a:tc>
                <a:tc>
                  <a:txBody>
                    <a:bodyPr/>
                    <a:lstStyle/>
                    <a:p>
                      <a:pPr>
                        <a:lnSpc>
                          <a:spcPct val="150000"/>
                        </a:lnSpc>
                        <a:buNone/>
                      </a:pPr>
                      <a:r>
                        <a:rPr lang="en-US" sz="2800">
                          <a:latin typeface="Calibir"/>
                        </a:rPr>
                        <a:t>throw, throws</a:t>
                      </a:r>
                    </a:p>
                  </a:txBody>
                  <a:tcPr anchor="ctr"/>
                </a:tc>
                <a:tc>
                  <a:txBody>
                    <a:bodyPr/>
                    <a:lstStyle/>
                    <a:p>
                      <a:pPr>
                        <a:lnSpc>
                          <a:spcPct val="150000"/>
                        </a:lnSpc>
                        <a:buNone/>
                      </a:pPr>
                      <a:r>
                        <a:rPr lang="en-US" sz="2800">
                          <a:latin typeface="Calibir"/>
                        </a:rPr>
                        <a:t>raise</a:t>
                      </a:r>
                    </a:p>
                  </a:txBody>
                  <a:tcPr anchor="ctr"/>
                </a:tc>
                <a:extLst>
                  <a:ext uri="{0D108BD9-81ED-4DB2-BD59-A6C34878D82A}">
                    <a16:rowId xmlns:a16="http://schemas.microsoft.com/office/drawing/2014/main" val="2274014256"/>
                  </a:ext>
                </a:extLst>
              </a:tr>
              <a:tr h="0">
                <a:tc>
                  <a:txBody>
                    <a:bodyPr/>
                    <a:lstStyle/>
                    <a:p>
                      <a:pPr>
                        <a:lnSpc>
                          <a:spcPct val="150000"/>
                        </a:lnSpc>
                        <a:buNone/>
                      </a:pPr>
                      <a:r>
                        <a:rPr lang="en-US" sz="2800">
                          <a:latin typeface="Calibir"/>
                        </a:rPr>
                        <a:t>Catch error</a:t>
                      </a:r>
                    </a:p>
                  </a:txBody>
                  <a:tcPr anchor="ctr"/>
                </a:tc>
                <a:tc>
                  <a:txBody>
                    <a:bodyPr/>
                    <a:lstStyle/>
                    <a:p>
                      <a:pPr>
                        <a:lnSpc>
                          <a:spcPct val="150000"/>
                        </a:lnSpc>
                        <a:buNone/>
                      </a:pPr>
                      <a:r>
                        <a:rPr lang="en-US" sz="2800">
                          <a:latin typeface="Calibir"/>
                        </a:rPr>
                        <a:t>catch(Exception e)</a:t>
                      </a:r>
                    </a:p>
                  </a:txBody>
                  <a:tcPr anchor="ctr"/>
                </a:tc>
                <a:tc>
                  <a:txBody>
                    <a:bodyPr/>
                    <a:lstStyle/>
                    <a:p>
                      <a:pPr>
                        <a:lnSpc>
                          <a:spcPct val="150000"/>
                        </a:lnSpc>
                        <a:buNone/>
                      </a:pPr>
                      <a:r>
                        <a:rPr lang="en-US" sz="2800">
                          <a:latin typeface="Calibir"/>
                        </a:rPr>
                        <a:t>except Exception as e:</a:t>
                      </a:r>
                    </a:p>
                  </a:txBody>
                  <a:tcPr anchor="ctr"/>
                </a:tc>
                <a:extLst>
                  <a:ext uri="{0D108BD9-81ED-4DB2-BD59-A6C34878D82A}">
                    <a16:rowId xmlns:a16="http://schemas.microsoft.com/office/drawing/2014/main" val="1833778645"/>
                  </a:ext>
                </a:extLst>
              </a:tr>
              <a:tr h="0">
                <a:tc>
                  <a:txBody>
                    <a:bodyPr/>
                    <a:lstStyle/>
                    <a:p>
                      <a:pPr>
                        <a:lnSpc>
                          <a:spcPct val="150000"/>
                        </a:lnSpc>
                        <a:buNone/>
                      </a:pPr>
                      <a:r>
                        <a:rPr lang="en-US" sz="2800">
                          <a:latin typeface="Calibir"/>
                        </a:rPr>
                        <a:t>Finally</a:t>
                      </a:r>
                    </a:p>
                  </a:txBody>
                  <a:tcPr anchor="ctr"/>
                </a:tc>
                <a:tc>
                  <a:txBody>
                    <a:bodyPr/>
                    <a:lstStyle/>
                    <a:p>
                      <a:pPr>
                        <a:lnSpc>
                          <a:spcPct val="150000"/>
                        </a:lnSpc>
                        <a:buNone/>
                      </a:pPr>
                      <a:r>
                        <a:rPr lang="en-US" sz="2800">
                          <a:latin typeface="Calibir"/>
                        </a:rPr>
                        <a:t>Runs every time</a:t>
                      </a:r>
                    </a:p>
                  </a:txBody>
                  <a:tcPr anchor="ctr"/>
                </a:tc>
                <a:tc>
                  <a:txBody>
                    <a:bodyPr/>
                    <a:lstStyle/>
                    <a:p>
                      <a:pPr>
                        <a:lnSpc>
                          <a:spcPct val="150000"/>
                        </a:lnSpc>
                        <a:buNone/>
                      </a:pPr>
                      <a:r>
                        <a:rPr lang="en-US" sz="2800" dirty="0">
                          <a:latin typeface="Calibir"/>
                        </a:rPr>
                        <a:t>Runs every time</a:t>
                      </a:r>
                    </a:p>
                  </a:txBody>
                  <a:tcPr anchor="ctr"/>
                </a:tc>
                <a:extLst>
                  <a:ext uri="{0D108BD9-81ED-4DB2-BD59-A6C34878D82A}">
                    <a16:rowId xmlns:a16="http://schemas.microsoft.com/office/drawing/2014/main" val="960848600"/>
                  </a:ext>
                </a:extLst>
              </a:tr>
            </a:tbl>
          </a:graphicData>
        </a:graphic>
      </p:graphicFrame>
      <p:sp>
        <p:nvSpPr>
          <p:cNvPr id="8" name="TextBox 7">
            <a:extLst>
              <a:ext uri="{FF2B5EF4-FFF2-40B4-BE49-F238E27FC236}">
                <a16:creationId xmlns:a16="http://schemas.microsoft.com/office/drawing/2014/main" id="{39854D65-3E96-2E4F-5AF4-6E1D90507F17}"/>
              </a:ext>
            </a:extLst>
          </p:cNvPr>
          <p:cNvSpPr txBox="1"/>
          <p:nvPr/>
        </p:nvSpPr>
        <p:spPr>
          <a:xfrm>
            <a:off x="100360" y="1838246"/>
            <a:ext cx="12191999" cy="3495188"/>
          </a:xfrm>
          <a:prstGeom prst="rect">
            <a:avLst/>
          </a:prstGeom>
          <a:noFill/>
        </p:spPr>
        <p:txBody>
          <a:bodyPr wrap="square">
            <a:spAutoFit/>
          </a:bodyPr>
          <a:lstStyle/>
          <a:p>
            <a:pPr marL="514350" indent="-514350">
              <a:lnSpc>
                <a:spcPct val="150000"/>
              </a:lnSpc>
              <a:buFont typeface="+mj-lt"/>
              <a:buAutoNum type="arabicPeriod" startAt="3"/>
            </a:pPr>
            <a:r>
              <a:rPr lang="en-US" sz="2500" dirty="0">
                <a:latin typeface="Calibir"/>
              </a:rPr>
              <a:t>Finally (Always runs)</a:t>
            </a:r>
          </a:p>
          <a:p>
            <a:pPr marL="457200" indent="-457200">
              <a:lnSpc>
                <a:spcPct val="150000"/>
              </a:lnSpc>
              <a:buFont typeface="Arial" panose="020B0604020202020204" pitchFamily="34" charset="0"/>
              <a:buChar char="•"/>
            </a:pPr>
            <a:r>
              <a:rPr lang="en-US" sz="2500" dirty="0">
                <a:latin typeface="Calibir"/>
              </a:rPr>
              <a:t>Java</a:t>
            </a:r>
          </a:p>
          <a:p>
            <a:pPr marL="457200" indent="-457200">
              <a:lnSpc>
                <a:spcPct val="150000"/>
              </a:lnSpc>
              <a:buFont typeface="Arial" panose="020B0604020202020204" pitchFamily="34" charset="0"/>
              <a:buChar char="•"/>
            </a:pPr>
            <a:endParaRPr lang="en-US" sz="2500" dirty="0">
              <a:latin typeface="Calibir"/>
            </a:endParaRPr>
          </a:p>
          <a:p>
            <a:pPr marL="457200" indent="-457200">
              <a:lnSpc>
                <a:spcPct val="150000"/>
              </a:lnSpc>
              <a:buFont typeface="Arial" panose="020B0604020202020204" pitchFamily="34" charset="0"/>
              <a:buChar char="•"/>
            </a:pPr>
            <a:endParaRPr lang="en-US" sz="2500" dirty="0">
              <a:latin typeface="Calibir"/>
            </a:endParaRPr>
          </a:p>
          <a:p>
            <a:pPr marL="457200" indent="-457200">
              <a:lnSpc>
                <a:spcPct val="150000"/>
              </a:lnSpc>
              <a:buFont typeface="Arial" panose="020B0604020202020204" pitchFamily="34" charset="0"/>
              <a:buChar char="•"/>
            </a:pPr>
            <a:endParaRPr lang="en-US" sz="2500" dirty="0">
              <a:latin typeface="Calibir"/>
            </a:endParaRPr>
          </a:p>
          <a:p>
            <a:pPr marL="457200" indent="-457200">
              <a:lnSpc>
                <a:spcPct val="150000"/>
              </a:lnSpc>
              <a:buFont typeface="Arial" panose="020B0604020202020204" pitchFamily="34" charset="0"/>
              <a:buChar char="•"/>
            </a:pPr>
            <a:r>
              <a:rPr lang="en-US" sz="2500" dirty="0">
                <a:latin typeface="Calibir"/>
              </a:rPr>
              <a:t>Python</a:t>
            </a:r>
          </a:p>
        </p:txBody>
      </p:sp>
      <p:sp>
        <p:nvSpPr>
          <p:cNvPr id="7" name="TextBox 6">
            <a:extLst>
              <a:ext uri="{FF2B5EF4-FFF2-40B4-BE49-F238E27FC236}">
                <a16:creationId xmlns:a16="http://schemas.microsoft.com/office/drawing/2014/main" id="{262C64DB-E1BA-7528-B64F-7F18F1B5EF3F}"/>
              </a:ext>
            </a:extLst>
          </p:cNvPr>
          <p:cNvSpPr txBox="1"/>
          <p:nvPr/>
        </p:nvSpPr>
        <p:spPr>
          <a:xfrm>
            <a:off x="51006" y="2933676"/>
            <a:ext cx="10477500" cy="2015936"/>
          </a:xfrm>
          <a:prstGeom prst="rect">
            <a:avLst/>
          </a:prstGeom>
          <a:solidFill>
            <a:schemeClr val="tx1"/>
          </a:solidFill>
        </p:spPr>
        <p:txBody>
          <a:bodyPr wrap="square">
            <a:spAutoFit/>
          </a:bodyPr>
          <a:lstStyle/>
          <a:p>
            <a:pPr>
              <a:buNone/>
            </a:pPr>
            <a:r>
              <a:rPr lang="en-US" sz="2500" b="0" dirty="0">
                <a:solidFill>
                  <a:srgbClr val="C586C0"/>
                </a:solidFill>
                <a:effectLst/>
                <a:latin typeface="Consolas" panose="020B0609020204030204" pitchFamily="49" charset="0"/>
              </a:rPr>
              <a:t>try</a:t>
            </a:r>
            <a:r>
              <a:rPr lang="en-US" sz="2500" b="0" dirty="0">
                <a:solidFill>
                  <a:srgbClr val="CCCCCC"/>
                </a:solidFill>
                <a:effectLst/>
                <a:latin typeface="Consolas" panose="020B0609020204030204" pitchFamily="49" charset="0"/>
              </a:rPr>
              <a:t> {</a:t>
            </a: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System</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out</a:t>
            </a:r>
            <a:r>
              <a:rPr lang="en-US" sz="2500" b="0" dirty="0" err="1">
                <a:solidFill>
                  <a:srgbClr val="CCCCCC"/>
                </a:solidFill>
                <a:effectLst/>
                <a:latin typeface="Consolas" panose="020B0609020204030204" pitchFamily="49" charset="0"/>
              </a:rPr>
              <a:t>.</a:t>
            </a:r>
            <a:r>
              <a:rPr lang="en-US" sz="2500" b="0" dirty="0" err="1">
                <a:solidFill>
                  <a:srgbClr val="DCDCAA"/>
                </a:solidFill>
                <a:effectLst/>
                <a:latin typeface="Consolas" panose="020B0609020204030204" pitchFamily="49" charset="0"/>
              </a:rPr>
              <a:t>println</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"Try block"</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a:t>
            </a:r>
            <a:r>
              <a:rPr lang="en-US" sz="2500" b="0" dirty="0">
                <a:solidFill>
                  <a:srgbClr val="C586C0"/>
                </a:solidFill>
                <a:effectLst/>
                <a:latin typeface="Consolas" panose="020B0609020204030204" pitchFamily="49" charset="0"/>
              </a:rPr>
              <a:t>finally</a:t>
            </a:r>
            <a:r>
              <a:rPr lang="en-US" sz="2500" b="0" dirty="0">
                <a:solidFill>
                  <a:srgbClr val="CCCCCC"/>
                </a:solidFill>
                <a:effectLst/>
                <a:latin typeface="Consolas" panose="020B0609020204030204" pitchFamily="49" charset="0"/>
              </a:rPr>
              <a:t> {</a:t>
            </a:r>
          </a:p>
          <a:p>
            <a:pPr>
              <a:buNone/>
            </a:pP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System</a:t>
            </a:r>
            <a:r>
              <a:rPr lang="en-US" sz="2500" b="0" dirty="0" err="1">
                <a:solidFill>
                  <a:srgbClr val="CCCCCC"/>
                </a:solidFill>
                <a:effectLst/>
                <a:latin typeface="Consolas" panose="020B0609020204030204" pitchFamily="49" charset="0"/>
              </a:rPr>
              <a:t>.</a:t>
            </a:r>
            <a:r>
              <a:rPr lang="en-US" sz="2500" b="0" dirty="0" err="1">
                <a:solidFill>
                  <a:srgbClr val="9CDCFE"/>
                </a:solidFill>
                <a:effectLst/>
                <a:latin typeface="Consolas" panose="020B0609020204030204" pitchFamily="49" charset="0"/>
              </a:rPr>
              <a:t>out</a:t>
            </a:r>
            <a:r>
              <a:rPr lang="en-US" sz="2500" b="0" dirty="0" err="1">
                <a:solidFill>
                  <a:srgbClr val="CCCCCC"/>
                </a:solidFill>
                <a:effectLst/>
                <a:latin typeface="Consolas" panose="020B0609020204030204" pitchFamily="49" charset="0"/>
              </a:rPr>
              <a:t>.</a:t>
            </a:r>
            <a:r>
              <a:rPr lang="en-US" sz="2500" b="0" dirty="0" err="1">
                <a:solidFill>
                  <a:srgbClr val="DCDCAA"/>
                </a:solidFill>
                <a:effectLst/>
                <a:latin typeface="Consolas" panose="020B0609020204030204" pitchFamily="49" charset="0"/>
              </a:rPr>
              <a:t>println</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"This always runs"</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2C48FCFB-73F5-7813-1FCA-6C83B1888BC8}"/>
              </a:ext>
            </a:extLst>
          </p:cNvPr>
          <p:cNvSpPr txBox="1"/>
          <p:nvPr/>
        </p:nvSpPr>
        <p:spPr>
          <a:xfrm>
            <a:off x="51006" y="5221525"/>
            <a:ext cx="10477500" cy="1631216"/>
          </a:xfrm>
          <a:prstGeom prst="rect">
            <a:avLst/>
          </a:prstGeom>
          <a:solidFill>
            <a:schemeClr val="tx1"/>
          </a:solidFill>
        </p:spPr>
        <p:txBody>
          <a:bodyPr wrap="square">
            <a:spAutoFit/>
          </a:bodyPr>
          <a:lstStyle/>
          <a:p>
            <a:pPr>
              <a:buNone/>
            </a:pPr>
            <a:r>
              <a:rPr lang="en-US" sz="2500" b="0" dirty="0">
                <a:solidFill>
                  <a:srgbClr val="C586C0"/>
                </a:solidFill>
                <a:effectLst/>
                <a:latin typeface="Consolas" panose="020B0609020204030204" pitchFamily="49" charset="0"/>
              </a:rPr>
              <a:t>try</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    print(</a:t>
            </a:r>
            <a:r>
              <a:rPr lang="en-US" sz="2500" b="0" dirty="0">
                <a:solidFill>
                  <a:srgbClr val="CE9178"/>
                </a:solidFill>
                <a:effectLst/>
                <a:latin typeface="Consolas" panose="020B0609020204030204" pitchFamily="49" charset="0"/>
              </a:rPr>
              <a:t>"Try block"</a:t>
            </a:r>
            <a:r>
              <a:rPr lang="en-US" sz="2500" b="0" dirty="0">
                <a:solidFill>
                  <a:srgbClr val="CCCCCC"/>
                </a:solidFill>
                <a:effectLst/>
                <a:latin typeface="Consolas" panose="020B0609020204030204" pitchFamily="49" charset="0"/>
              </a:rPr>
              <a:t>)</a:t>
            </a:r>
          </a:p>
          <a:p>
            <a:pPr>
              <a:buNone/>
            </a:pPr>
            <a:r>
              <a:rPr lang="en-US" sz="2500" b="0" dirty="0">
                <a:solidFill>
                  <a:srgbClr val="CCCCCC"/>
                </a:solidFill>
                <a:effectLst/>
                <a:latin typeface="Consolas" panose="020B0609020204030204" pitchFamily="49" charset="0"/>
              </a:rPr>
              <a:t>finally:</a:t>
            </a:r>
          </a:p>
          <a:p>
            <a:pPr>
              <a:buNone/>
            </a:pPr>
            <a:r>
              <a:rPr lang="en-US" sz="2500" b="0" dirty="0">
                <a:solidFill>
                  <a:srgbClr val="CCCCCC"/>
                </a:solidFill>
                <a:effectLst/>
                <a:latin typeface="Consolas" panose="020B0609020204030204" pitchFamily="49" charset="0"/>
              </a:rPr>
              <a:t>    print(</a:t>
            </a:r>
            <a:r>
              <a:rPr lang="en-US" sz="2500" b="0" dirty="0">
                <a:solidFill>
                  <a:srgbClr val="CE9178"/>
                </a:solidFill>
                <a:effectLst/>
                <a:latin typeface="Consolas" panose="020B0609020204030204" pitchFamily="49" charset="0"/>
              </a:rPr>
              <a:t>"This always runs"</a:t>
            </a:r>
            <a:r>
              <a:rPr lang="en-US" sz="2500" b="0" dirty="0">
                <a:solidFill>
                  <a:srgbClr val="CCCCCC"/>
                </a:solidFill>
                <a:effectLst/>
                <a:latin typeface="Consolas" panose="020B0609020204030204" pitchFamily="49" charset="0"/>
              </a:rPr>
              <a:t>)</a:t>
            </a:r>
          </a:p>
        </p:txBody>
      </p:sp>
      <p:sp>
        <p:nvSpPr>
          <p:cNvPr id="4" name="Rectangle: Rounded Corners 3">
            <a:extLst>
              <a:ext uri="{FF2B5EF4-FFF2-40B4-BE49-F238E27FC236}">
                <a16:creationId xmlns:a16="http://schemas.microsoft.com/office/drawing/2014/main" id="{48BE9320-014F-CEA1-EA04-91F2B084623A}"/>
              </a:ext>
            </a:extLst>
          </p:cNvPr>
          <p:cNvSpPr/>
          <p:nvPr/>
        </p:nvSpPr>
        <p:spPr>
          <a:xfrm>
            <a:off x="4045105" y="2010058"/>
            <a:ext cx="8144106" cy="70832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35F60978-B72C-C0C9-690C-5FC619D6F7E4}"/>
              </a:ext>
            </a:extLst>
          </p:cNvPr>
          <p:cNvSpPr>
            <a:spLocks noChangeArrowheads="1"/>
          </p:cNvSpPr>
          <p:nvPr/>
        </p:nvSpPr>
        <p:spPr bwMode="auto">
          <a:xfrm>
            <a:off x="5250426" y="4526572"/>
            <a:ext cx="6934483" cy="2341025"/>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tx1"/>
                </a:solidFill>
                <a:effectLst/>
                <a:latin typeface="Calibir"/>
              </a:rPr>
              <a:t>Meaning:</a:t>
            </a:r>
            <a:r>
              <a:rPr kumimoji="0" lang="en-US" altLang="en-US" sz="2500" b="0" i="0" u="none" strike="noStrike" cap="none" normalizeH="0" baseline="0" dirty="0">
                <a:ln>
                  <a:noFill/>
                </a:ln>
                <a:solidFill>
                  <a:schemeClr val="tx1"/>
                </a:solidFill>
                <a:effectLst/>
                <a:latin typeface="Calibir"/>
              </a:rPr>
              <a:t> This part always runs, whether there was an error or not.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1" i="0" u="none" strike="noStrike" cap="none" normalizeH="0" baseline="0" dirty="0">
                <a:ln>
                  <a:noFill/>
                </a:ln>
                <a:solidFill>
                  <a:schemeClr val="tx1"/>
                </a:solidFill>
                <a:effectLst/>
                <a:latin typeface="Calibir"/>
              </a:rPr>
              <a:t>Analogy:</a:t>
            </a:r>
            <a:r>
              <a:rPr kumimoji="0" lang="en-US" altLang="en-US" sz="2500" b="0" i="0" u="none" strike="noStrike" cap="none" normalizeH="0" baseline="0" dirty="0">
                <a:ln>
                  <a:noFill/>
                </a:ln>
                <a:solidFill>
                  <a:schemeClr val="tx1"/>
                </a:solidFill>
                <a:effectLst/>
                <a:latin typeface="Calibir"/>
              </a:rPr>
              <a:t> Like filling the incident report after a fire drill → it happens no matter what.</a:t>
            </a:r>
          </a:p>
        </p:txBody>
      </p:sp>
    </p:spTree>
    <p:extLst>
      <p:ext uri="{BB962C8B-B14F-4D97-AF65-F5344CB8AC3E}">
        <p14:creationId xmlns:p14="http://schemas.microsoft.com/office/powerpoint/2010/main" val="77539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CE5AD-F983-45A7-092F-4480CD7CF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FAA96-5859-4407-B731-A8BFAB15CD06}"/>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Example 1 – Python Exception</a:t>
            </a:r>
            <a:endParaRPr lang="en-US" sz="4000" kern="100" dirty="0">
              <a:latin typeface="Calibir"/>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EC50FE9-76D6-FFC6-0C0C-15E3D25EA565}"/>
              </a:ext>
            </a:extLst>
          </p:cNvPr>
          <p:cNvSpPr txBox="1"/>
          <p:nvPr/>
        </p:nvSpPr>
        <p:spPr>
          <a:xfrm>
            <a:off x="0" y="756745"/>
            <a:ext cx="12192000" cy="3970318"/>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try</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input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"Enter number: "</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10</a:t>
            </a:r>
            <a:r>
              <a:rPr lang="en-US" sz="2800" b="0" dirty="0">
                <a:solidFill>
                  <a:srgbClr val="D4D4D4"/>
                </a:solidFill>
                <a:effectLst/>
                <a:latin typeface="Consolas" panose="020B0609020204030204" pitchFamily="49" charset="0"/>
              </a:rPr>
              <a:t>/</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except</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ZeroDivisionError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"Cannot divide by zero"</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except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ValueError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"Please enter a valid integer"</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finally</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"Done"</a:t>
            </a:r>
            <a:r>
              <a:rPr lang="en-US" sz="2800" b="0" dirty="0">
                <a:solidFill>
                  <a:srgbClr val="CCCCCC"/>
                </a:solidFill>
                <a:effectLst/>
                <a:latin typeface="Consolas" panose="020B0609020204030204" pitchFamily="49" charset="0"/>
              </a:rPr>
              <a:t>)</a:t>
            </a:r>
          </a:p>
        </p:txBody>
      </p:sp>
      <p:sp>
        <p:nvSpPr>
          <p:cNvPr id="9" name="Rectangle 1">
            <a:extLst>
              <a:ext uri="{FF2B5EF4-FFF2-40B4-BE49-F238E27FC236}">
                <a16:creationId xmlns:a16="http://schemas.microsoft.com/office/drawing/2014/main" id="{CC4045C8-5941-C0D4-7DB3-74DD1F116C98}"/>
              </a:ext>
            </a:extLst>
          </p:cNvPr>
          <p:cNvSpPr>
            <a:spLocks noChangeArrowheads="1"/>
          </p:cNvSpPr>
          <p:nvPr/>
        </p:nvSpPr>
        <p:spPr bwMode="auto">
          <a:xfrm>
            <a:off x="0" y="4727063"/>
            <a:ext cx="6753259" cy="1964512"/>
          </a:xfrm>
          <a:prstGeom prst="rect">
            <a:avLst/>
          </a:prstGeom>
          <a:solidFill>
            <a:schemeClr val="bg1"/>
          </a:solidFill>
          <a:ln>
            <a:noFill/>
          </a:ln>
          <a:effec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try: → test some code that might fail.</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a = int(input(...)) → ask user for a number.</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10/a → divide 10 by that number.</a:t>
            </a:r>
          </a:p>
        </p:txBody>
      </p:sp>
      <p:sp>
        <p:nvSpPr>
          <p:cNvPr id="11" name="Rectangle: Rounded Corners 10">
            <a:extLst>
              <a:ext uri="{FF2B5EF4-FFF2-40B4-BE49-F238E27FC236}">
                <a16:creationId xmlns:a16="http://schemas.microsoft.com/office/drawing/2014/main" id="{C0938916-1F26-0B3A-01DE-D3C8842D3E8F}"/>
              </a:ext>
            </a:extLst>
          </p:cNvPr>
          <p:cNvSpPr/>
          <p:nvPr/>
        </p:nvSpPr>
        <p:spPr>
          <a:xfrm>
            <a:off x="0" y="756745"/>
            <a:ext cx="9188245" cy="13522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6115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4B8C4-EE9B-0D88-E034-02D163BE5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305D7-48A5-1903-3573-E8FB9A995D13}"/>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Example 1 – Python Exception</a:t>
            </a:r>
            <a:endParaRPr lang="en-US" sz="4000" kern="100" dirty="0">
              <a:latin typeface="Calibir"/>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C26CF1C-FE1C-2BE7-08F7-B664030DDDB0}"/>
              </a:ext>
            </a:extLst>
          </p:cNvPr>
          <p:cNvSpPr txBox="1"/>
          <p:nvPr/>
        </p:nvSpPr>
        <p:spPr>
          <a:xfrm>
            <a:off x="0" y="756745"/>
            <a:ext cx="12192000" cy="3970318"/>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try</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input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"Enter number: "</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10</a:t>
            </a:r>
            <a:r>
              <a:rPr lang="en-US" sz="2800" b="0" dirty="0">
                <a:solidFill>
                  <a:srgbClr val="D4D4D4"/>
                </a:solidFill>
                <a:effectLst/>
                <a:latin typeface="Consolas" panose="020B0609020204030204" pitchFamily="49" charset="0"/>
              </a:rPr>
              <a:t>/</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except</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ZeroDivisionError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"Cannot divide by zero"</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except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ValueError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"Please enter a valid integer"</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finally</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"Done"</a:t>
            </a:r>
            <a:r>
              <a:rPr lang="en-US" sz="2800" b="0" dirty="0">
                <a:solidFill>
                  <a:srgbClr val="CCCCCC"/>
                </a:solidFill>
                <a:effectLst/>
                <a:latin typeface="Consolas" panose="020B0609020204030204" pitchFamily="49" charset="0"/>
              </a:rPr>
              <a:t>)</a:t>
            </a:r>
          </a:p>
        </p:txBody>
      </p:sp>
      <p:sp>
        <p:nvSpPr>
          <p:cNvPr id="9" name="Rectangle 1">
            <a:extLst>
              <a:ext uri="{FF2B5EF4-FFF2-40B4-BE49-F238E27FC236}">
                <a16:creationId xmlns:a16="http://schemas.microsoft.com/office/drawing/2014/main" id="{DF375DE2-55C8-A789-5F53-2A0756C331A2}"/>
              </a:ext>
            </a:extLst>
          </p:cNvPr>
          <p:cNvSpPr>
            <a:spLocks noChangeArrowheads="1"/>
          </p:cNvSpPr>
          <p:nvPr/>
        </p:nvSpPr>
        <p:spPr bwMode="auto">
          <a:xfrm>
            <a:off x="0" y="4727063"/>
            <a:ext cx="9924768" cy="1964512"/>
          </a:xfrm>
          <a:prstGeom prst="rect">
            <a:avLst/>
          </a:prstGeom>
          <a:solidFill>
            <a:schemeClr val="bg1"/>
          </a:solidFill>
          <a:ln>
            <a:noFill/>
          </a:ln>
          <a:effectLst/>
        </p:spPr>
        <p:txBody>
          <a:bodyPr vert="horz" wrap="non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except </a:t>
            </a:r>
            <a:r>
              <a:rPr lang="en-US" altLang="en-US" sz="2800" dirty="0" err="1">
                <a:latin typeface="Calibir"/>
              </a:rPr>
              <a:t>ZeroDivisionError</a:t>
            </a:r>
            <a:r>
              <a:rPr lang="en-US" altLang="en-US" sz="2800" dirty="0">
                <a:latin typeface="Calibir"/>
              </a:rPr>
              <a:t>: → if user types 0, show a clear error.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except ValueError: → if user types a word, show a clear error.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finally: → always runs at the end (like “cleanup”), prints “Done”.</a:t>
            </a:r>
          </a:p>
        </p:txBody>
      </p:sp>
      <p:sp>
        <p:nvSpPr>
          <p:cNvPr id="11" name="Rectangle: Rounded Corners 10">
            <a:extLst>
              <a:ext uri="{FF2B5EF4-FFF2-40B4-BE49-F238E27FC236}">
                <a16:creationId xmlns:a16="http://schemas.microsoft.com/office/drawing/2014/main" id="{CD5DB7E8-1518-523F-1B0B-605E45BF222E}"/>
              </a:ext>
            </a:extLst>
          </p:cNvPr>
          <p:cNvSpPr/>
          <p:nvPr/>
        </p:nvSpPr>
        <p:spPr>
          <a:xfrm>
            <a:off x="0" y="2076725"/>
            <a:ext cx="9188245" cy="265033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7624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43749-A7CB-DFF5-0500-FB8D93009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30EB6-DF91-B79D-2DDA-23EFF1367E89}"/>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Example 1 – Python Exception</a:t>
            </a:r>
            <a:endParaRPr lang="en-US" sz="4000" kern="100" dirty="0">
              <a:latin typeface="Calibir"/>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69E4955-BDBB-BC85-E3C5-647E258F0BCE}"/>
              </a:ext>
            </a:extLst>
          </p:cNvPr>
          <p:cNvSpPr txBox="1"/>
          <p:nvPr/>
        </p:nvSpPr>
        <p:spPr>
          <a:xfrm>
            <a:off x="0" y="756745"/>
            <a:ext cx="12192000" cy="3970318"/>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try</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input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"Enter number: "</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10</a:t>
            </a:r>
            <a:r>
              <a:rPr lang="en-US" sz="2800" b="0" dirty="0">
                <a:solidFill>
                  <a:srgbClr val="D4D4D4"/>
                </a:solidFill>
                <a:effectLst/>
                <a:latin typeface="Consolas" panose="020B0609020204030204" pitchFamily="49" charset="0"/>
              </a:rPr>
              <a:t>/</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except</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ZeroDivisionError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"Cannot divide by zero"</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except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ValueError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"Please enter a valid integer"</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finally</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"Done"</a:t>
            </a:r>
            <a:r>
              <a:rPr lang="en-US" sz="2800" b="0" dirty="0">
                <a:solidFill>
                  <a:srgbClr val="CCCCCC"/>
                </a:solidFill>
                <a:effectLst/>
                <a:latin typeface="Consolas" panose="020B0609020204030204" pitchFamily="49" charset="0"/>
              </a:rPr>
              <a:t>)</a:t>
            </a:r>
          </a:p>
        </p:txBody>
      </p:sp>
      <p:sp>
        <p:nvSpPr>
          <p:cNvPr id="9" name="Rectangle 1">
            <a:extLst>
              <a:ext uri="{FF2B5EF4-FFF2-40B4-BE49-F238E27FC236}">
                <a16:creationId xmlns:a16="http://schemas.microsoft.com/office/drawing/2014/main" id="{50A4FB50-348A-E6B4-9F31-316FCD78E0FB}"/>
              </a:ext>
            </a:extLst>
          </p:cNvPr>
          <p:cNvSpPr>
            <a:spLocks noChangeArrowheads="1"/>
          </p:cNvSpPr>
          <p:nvPr/>
        </p:nvSpPr>
        <p:spPr bwMode="auto">
          <a:xfrm>
            <a:off x="0" y="4727063"/>
            <a:ext cx="12192000" cy="1318181"/>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Analogy: </a:t>
            </a:r>
            <a:r>
              <a:rPr lang="en-US" sz="2800" dirty="0">
                <a:latin typeface="Calibir"/>
              </a:rPr>
              <a:t>Like Woolworths checkout → if card declines (error), cashier gives a polite message, not crash.</a:t>
            </a:r>
            <a:endParaRPr lang="en-US" altLang="en-US" sz="2800" dirty="0">
              <a:latin typeface="Calibir"/>
            </a:endParaRPr>
          </a:p>
        </p:txBody>
      </p:sp>
    </p:spTree>
    <p:extLst>
      <p:ext uri="{BB962C8B-B14F-4D97-AF65-F5344CB8AC3E}">
        <p14:creationId xmlns:p14="http://schemas.microsoft.com/office/powerpoint/2010/main" val="135133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64254-A31E-1015-2CDC-7D333B5A3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68544-42B8-1263-3EED-E1CF682C7A08}"/>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Activity 1 – (Python – Division Safety)</a:t>
            </a:r>
            <a:endParaRPr lang="en-US" sz="4000" kern="100" dirty="0">
              <a:latin typeface="Calibir"/>
              <a:ea typeface="Aptos" panose="020B0004020202020204" pitchFamily="34" charset="0"/>
              <a:cs typeface="Arial" panose="020B0604020202020204" pitchFamily="34" charset="0"/>
            </a:endParaRPr>
          </a:p>
        </p:txBody>
      </p:sp>
      <p:sp>
        <p:nvSpPr>
          <p:cNvPr id="9" name="Rectangle 1">
            <a:extLst>
              <a:ext uri="{FF2B5EF4-FFF2-40B4-BE49-F238E27FC236}">
                <a16:creationId xmlns:a16="http://schemas.microsoft.com/office/drawing/2014/main" id="{C1C71996-2BC2-636D-B835-9D18F2573C1A}"/>
              </a:ext>
            </a:extLst>
          </p:cNvPr>
          <p:cNvSpPr>
            <a:spLocks noChangeArrowheads="1"/>
          </p:cNvSpPr>
          <p:nvPr/>
        </p:nvSpPr>
        <p:spPr bwMode="auto">
          <a:xfrm>
            <a:off x="0" y="756745"/>
            <a:ext cx="12192000" cy="1318181"/>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Task:</a:t>
            </a:r>
            <a:r>
              <a:rPr lang="en-US" sz="2800" dirty="0">
                <a:latin typeface="Calibir"/>
              </a:rPr>
              <a:t> Write code that divides 10 by user input, handle division by zero with try-except.</a:t>
            </a:r>
            <a:endParaRPr lang="en-US" altLang="en-US" sz="2800" dirty="0">
              <a:latin typeface="Calibir"/>
            </a:endParaRPr>
          </a:p>
        </p:txBody>
      </p:sp>
      <p:pic>
        <p:nvPicPr>
          <p:cNvPr id="3" name="Timer">
            <a:hlinkClick r:id="" action="ppaction://media"/>
            <a:extLst>
              <a:ext uri="{FF2B5EF4-FFF2-40B4-BE49-F238E27FC236}">
                <a16:creationId xmlns:a16="http://schemas.microsoft.com/office/drawing/2014/main" id="{1DEFA54C-460A-82D6-76C1-F152BF3159EC}"/>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731" r="40476" b="40430"/>
          <a:stretch>
            <a:fillRect/>
          </a:stretch>
        </p:blipFill>
        <p:spPr>
          <a:xfrm>
            <a:off x="4952999" y="2920181"/>
            <a:ext cx="2286001" cy="1017638"/>
          </a:xfrm>
          <a:prstGeom prst="rect">
            <a:avLst/>
          </a:prstGeom>
          <a:ln w="38100">
            <a:solidFill>
              <a:srgbClr val="FF0000"/>
            </a:solidFill>
          </a:ln>
        </p:spPr>
      </p:pic>
    </p:spTree>
    <p:extLst>
      <p:ext uri="{BB962C8B-B14F-4D97-AF65-F5344CB8AC3E}">
        <p14:creationId xmlns:p14="http://schemas.microsoft.com/office/powerpoint/2010/main" val="1057911003"/>
      </p:ext>
    </p:extLst>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64254-A31E-1015-2CDC-7D333B5A3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68544-42B8-1263-3EED-E1CF682C7A08}"/>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Activity 1 – (Python – Division Safety)</a:t>
            </a:r>
            <a:endParaRPr lang="en-US" sz="4000" kern="100" dirty="0">
              <a:latin typeface="Calibir"/>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F4C13BB-1609-5F3D-695F-DB8F29755256}"/>
              </a:ext>
            </a:extLst>
          </p:cNvPr>
          <p:cNvSpPr txBox="1"/>
          <p:nvPr/>
        </p:nvSpPr>
        <p:spPr>
          <a:xfrm>
            <a:off x="108155" y="2305615"/>
            <a:ext cx="11975690" cy="2246769"/>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try</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num</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input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"Enter a number: "</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10</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num</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except</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ZeroDivisionError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"Oops, cannot divide by zero"</a:t>
            </a:r>
            <a:r>
              <a:rPr lang="en-US" sz="28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68426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45CDF-6DC8-7B83-0A13-23B2935EB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5D539-0F97-02BB-47DA-F0DFD0D2D12F}"/>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Activity 2 – (Python – File Error)</a:t>
            </a:r>
            <a:endParaRPr lang="en-US" sz="4000" kern="100" dirty="0">
              <a:latin typeface="Calibir"/>
              <a:ea typeface="Aptos" panose="020B0004020202020204" pitchFamily="34" charset="0"/>
              <a:cs typeface="Arial" panose="020B0604020202020204" pitchFamily="34" charset="0"/>
            </a:endParaRPr>
          </a:p>
        </p:txBody>
      </p:sp>
      <p:sp>
        <p:nvSpPr>
          <p:cNvPr id="9" name="Rectangle 1">
            <a:extLst>
              <a:ext uri="{FF2B5EF4-FFF2-40B4-BE49-F238E27FC236}">
                <a16:creationId xmlns:a16="http://schemas.microsoft.com/office/drawing/2014/main" id="{6EC3ABF4-6466-9B54-0AE5-E108187975DE}"/>
              </a:ext>
            </a:extLst>
          </p:cNvPr>
          <p:cNvSpPr>
            <a:spLocks noChangeArrowheads="1"/>
          </p:cNvSpPr>
          <p:nvPr/>
        </p:nvSpPr>
        <p:spPr bwMode="auto">
          <a:xfrm>
            <a:off x="0" y="754949"/>
            <a:ext cx="12192000" cy="132177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Task:</a:t>
            </a:r>
            <a:r>
              <a:rPr lang="en-US" sz="2800" dirty="0">
                <a:latin typeface="Calibir"/>
              </a:rPr>
              <a:t> Modify Example 1 to also try reading hello.txt. If file missing → show “File not found”. (Download ‘hello.txt’ from GitHub)</a:t>
            </a:r>
            <a:endParaRPr lang="en-US" altLang="en-US" sz="2800" dirty="0">
              <a:latin typeface="Calibir"/>
            </a:endParaRPr>
          </a:p>
        </p:txBody>
      </p:sp>
      <p:pic>
        <p:nvPicPr>
          <p:cNvPr id="3" name="Timer">
            <a:hlinkClick r:id="" action="ppaction://media"/>
            <a:extLst>
              <a:ext uri="{FF2B5EF4-FFF2-40B4-BE49-F238E27FC236}">
                <a16:creationId xmlns:a16="http://schemas.microsoft.com/office/drawing/2014/main" id="{B499F608-EBA7-8D93-408E-288FCCB84F7E}"/>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771" t="44731" r="40476" b="40430"/>
          <a:stretch>
            <a:fillRect/>
          </a:stretch>
        </p:blipFill>
        <p:spPr>
          <a:xfrm>
            <a:off x="4952999" y="2076721"/>
            <a:ext cx="2286001" cy="1017638"/>
          </a:xfrm>
          <a:prstGeom prst="rect">
            <a:avLst/>
          </a:prstGeom>
          <a:ln w="38100">
            <a:solidFill>
              <a:srgbClr val="FF0000"/>
            </a:solidFill>
          </a:ln>
        </p:spPr>
      </p:pic>
      <p:pic>
        <p:nvPicPr>
          <p:cNvPr id="5" name="Picture 4">
            <a:extLst>
              <a:ext uri="{FF2B5EF4-FFF2-40B4-BE49-F238E27FC236}">
                <a16:creationId xmlns:a16="http://schemas.microsoft.com/office/drawing/2014/main" id="{61DD15B5-509E-522A-2A5E-20EE21BD2863}"/>
              </a:ext>
            </a:extLst>
          </p:cNvPr>
          <p:cNvPicPr>
            <a:picLocks noChangeAspect="1"/>
          </p:cNvPicPr>
          <p:nvPr/>
        </p:nvPicPr>
        <p:blipFill>
          <a:blip r:embed="rId5"/>
          <a:srcRect t="8386" b="39356"/>
          <a:stretch>
            <a:fillRect/>
          </a:stretch>
        </p:blipFill>
        <p:spPr>
          <a:xfrm>
            <a:off x="0" y="3274141"/>
            <a:ext cx="12192000" cy="3583858"/>
          </a:xfrm>
          <a:prstGeom prst="rect">
            <a:avLst/>
          </a:prstGeom>
        </p:spPr>
      </p:pic>
    </p:spTree>
    <p:extLst>
      <p:ext uri="{BB962C8B-B14F-4D97-AF65-F5344CB8AC3E}">
        <p14:creationId xmlns:p14="http://schemas.microsoft.com/office/powerpoint/2010/main" val="4055345020"/>
      </p:ext>
    </p:extLst>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45CDF-6DC8-7B83-0A13-23B2935EB3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FF04254-B68A-A892-AEB8-AA57ABDC440F}"/>
              </a:ext>
            </a:extLst>
          </p:cNvPr>
          <p:cNvSpPr txBox="1"/>
          <p:nvPr/>
        </p:nvSpPr>
        <p:spPr>
          <a:xfrm>
            <a:off x="24582" y="0"/>
            <a:ext cx="12167418" cy="2677656"/>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try</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f</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open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"hello.txt"</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f</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read</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f</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close</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except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FileNotFoundError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"File not found"</a:t>
            </a:r>
            <a:r>
              <a:rPr lang="en-US" sz="2800" b="0" dirty="0">
                <a:solidFill>
                  <a:srgbClr val="CCCCCC"/>
                </a:solidFill>
                <a:effectLst/>
                <a:latin typeface="Consolas" panose="020B0609020204030204" pitchFamily="49" charset="0"/>
              </a:rPr>
              <a:t>)</a:t>
            </a:r>
          </a:p>
        </p:txBody>
      </p:sp>
      <p:sp>
        <p:nvSpPr>
          <p:cNvPr id="6" name="Rectangle 1">
            <a:extLst>
              <a:ext uri="{FF2B5EF4-FFF2-40B4-BE49-F238E27FC236}">
                <a16:creationId xmlns:a16="http://schemas.microsoft.com/office/drawing/2014/main" id="{DA5C4C65-19C8-2BF5-9F1E-A2CCE0962346}"/>
              </a:ext>
            </a:extLst>
          </p:cNvPr>
          <p:cNvSpPr>
            <a:spLocks noChangeArrowheads="1"/>
          </p:cNvSpPr>
          <p:nvPr/>
        </p:nvSpPr>
        <p:spPr bwMode="auto">
          <a:xfrm>
            <a:off x="0" y="2874923"/>
            <a:ext cx="11825673"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If hello.txt is in the same folder as your .</a:t>
            </a:r>
            <a:r>
              <a:rPr kumimoji="0" lang="en-US" altLang="en-US" sz="2800" i="0" u="none" strike="noStrike" cap="none" normalizeH="0" baseline="0" dirty="0" err="1">
                <a:ln>
                  <a:noFill/>
                </a:ln>
                <a:solidFill>
                  <a:schemeClr val="tx1"/>
                </a:solidFill>
                <a:effectLst/>
                <a:latin typeface="Calibir"/>
              </a:rPr>
              <a:t>py</a:t>
            </a:r>
            <a:r>
              <a:rPr kumimoji="0" lang="en-US" altLang="en-US" sz="2800" i="0" u="none" strike="noStrike" cap="none" normalizeH="0" baseline="0" dirty="0">
                <a:ln>
                  <a:noFill/>
                </a:ln>
                <a:solidFill>
                  <a:schemeClr val="tx1"/>
                </a:solidFill>
                <a:effectLst/>
                <a:latin typeface="Calibir"/>
              </a:rPr>
              <a:t> script or notebook → code works.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If it’s in another folder → you must give the full path, e.g.:</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lang="en-US" altLang="en-US" sz="2800" dirty="0">
              <a:latin typeface="Calibir"/>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Or on Mac/Linux:</a:t>
            </a:r>
          </a:p>
        </p:txBody>
      </p:sp>
      <p:sp>
        <p:nvSpPr>
          <p:cNvPr id="11" name="TextBox 10">
            <a:extLst>
              <a:ext uri="{FF2B5EF4-FFF2-40B4-BE49-F238E27FC236}">
                <a16:creationId xmlns:a16="http://schemas.microsoft.com/office/drawing/2014/main" id="{D602C6D2-796B-E514-8634-85C43129634E}"/>
              </a:ext>
            </a:extLst>
          </p:cNvPr>
          <p:cNvSpPr txBox="1"/>
          <p:nvPr/>
        </p:nvSpPr>
        <p:spPr>
          <a:xfrm>
            <a:off x="0" y="4319002"/>
            <a:ext cx="12192000" cy="523220"/>
          </a:xfrm>
          <a:prstGeom prst="rect">
            <a:avLst/>
          </a:prstGeom>
          <a:solidFill>
            <a:schemeClr val="tx1"/>
          </a:solidFill>
        </p:spPr>
        <p:txBody>
          <a:bodyPr wrap="square">
            <a:spAutoFit/>
          </a:bodyPr>
          <a:lstStyle/>
          <a:p>
            <a:pPr>
              <a:buNone/>
            </a:pPr>
            <a:r>
              <a:rPr lang="en-US" sz="2800" b="0" dirty="0">
                <a:solidFill>
                  <a:srgbClr val="9CDCFE"/>
                </a:solidFill>
                <a:effectLst/>
                <a:latin typeface="Consolas" panose="020B0609020204030204" pitchFamily="49" charset="0"/>
              </a:rPr>
              <a:t>f</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open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"C:/Users/Student/Documents/hello.txt"</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"r"</a:t>
            </a:r>
            <a:r>
              <a:rPr lang="en-US" sz="2800" b="0" dirty="0">
                <a:solidFill>
                  <a:srgbClr val="CCCCCC"/>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B0C8A21C-18FF-640F-7CEA-2FA7C204FC68}"/>
              </a:ext>
            </a:extLst>
          </p:cNvPr>
          <p:cNvSpPr txBox="1"/>
          <p:nvPr/>
        </p:nvSpPr>
        <p:spPr>
          <a:xfrm>
            <a:off x="0" y="5485766"/>
            <a:ext cx="12192000" cy="523220"/>
          </a:xfrm>
          <a:prstGeom prst="rect">
            <a:avLst/>
          </a:prstGeom>
          <a:solidFill>
            <a:schemeClr val="tx1"/>
          </a:solidFill>
        </p:spPr>
        <p:txBody>
          <a:bodyPr wrap="square">
            <a:spAutoFit/>
          </a:bodyPr>
          <a:lstStyle/>
          <a:p>
            <a:pPr>
              <a:buNone/>
            </a:pPr>
            <a:r>
              <a:rPr lang="en-US" sz="2800" b="0" dirty="0">
                <a:solidFill>
                  <a:srgbClr val="9CDCFE"/>
                </a:solidFill>
                <a:effectLst/>
                <a:latin typeface="Consolas" panose="020B0609020204030204" pitchFamily="49" charset="0"/>
              </a:rPr>
              <a:t>f</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open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"/home/student/hello.txt"</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"r"</a:t>
            </a:r>
            <a:r>
              <a:rPr lang="en-US" sz="2800" b="0" dirty="0">
                <a:solidFill>
                  <a:srgbClr val="CCCCCC"/>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F730BD0D-E7ED-E2EC-138A-26B3AC0C5020}"/>
              </a:ext>
            </a:extLst>
          </p:cNvPr>
          <p:cNvSpPr txBox="1"/>
          <p:nvPr/>
        </p:nvSpPr>
        <p:spPr>
          <a:xfrm>
            <a:off x="6504039" y="0"/>
            <a:ext cx="5687961" cy="2341025"/>
          </a:xfrm>
          <a:prstGeom prst="rect">
            <a:avLst/>
          </a:prstGeom>
          <a:solidFill>
            <a:schemeClr val="bg1"/>
          </a:solidFill>
        </p:spPr>
        <p:txBody>
          <a:bodyPr wrap="square">
            <a:spAutoFit/>
          </a:bodyPr>
          <a:lstStyle/>
          <a:p>
            <a:pPr>
              <a:lnSpc>
                <a:spcPct val="150000"/>
              </a:lnSpc>
            </a:pPr>
            <a:r>
              <a:rPr lang="en-US" sz="2500" dirty="0">
                <a:latin typeface="Calibir"/>
              </a:rPr>
              <a:t>Save hello.txt in the same folder as your .</a:t>
            </a:r>
            <a:r>
              <a:rPr lang="en-US" sz="2500" dirty="0" err="1">
                <a:latin typeface="Calibir"/>
              </a:rPr>
              <a:t>py</a:t>
            </a:r>
            <a:r>
              <a:rPr lang="en-US" sz="2500" dirty="0">
                <a:latin typeface="Calibir"/>
              </a:rPr>
              <a:t> file. Otherwise, Python can’t find it — just like putting your Woolworths shopping list in the wrong drawer!</a:t>
            </a:r>
          </a:p>
        </p:txBody>
      </p:sp>
    </p:spTree>
    <p:extLst>
      <p:ext uri="{BB962C8B-B14F-4D97-AF65-F5344CB8AC3E}">
        <p14:creationId xmlns:p14="http://schemas.microsoft.com/office/powerpoint/2010/main" val="3386490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F1194-F44E-1474-5DFF-975160E5EE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36459-F01A-620C-7521-D676045FA436}"/>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Errors vs Exceptions</a:t>
            </a:r>
          </a:p>
        </p:txBody>
      </p:sp>
      <p:sp>
        <p:nvSpPr>
          <p:cNvPr id="5" name="TextBox 4">
            <a:extLst>
              <a:ext uri="{FF2B5EF4-FFF2-40B4-BE49-F238E27FC236}">
                <a16:creationId xmlns:a16="http://schemas.microsoft.com/office/drawing/2014/main" id="{5CC5AA88-3CB6-7DC4-2AF3-C9D2FB521CD4}"/>
              </a:ext>
            </a:extLst>
          </p:cNvPr>
          <p:cNvSpPr txBox="1"/>
          <p:nvPr/>
        </p:nvSpPr>
        <p:spPr>
          <a:xfrm>
            <a:off x="0" y="756745"/>
            <a:ext cx="11965258" cy="5196166"/>
          </a:xfrm>
          <a:prstGeom prst="rect">
            <a:avLst/>
          </a:prstGeom>
          <a:noFill/>
        </p:spPr>
        <p:txBody>
          <a:bodyPr wrap="square">
            <a:spAutoFit/>
          </a:bodyPr>
          <a:lstStyle/>
          <a:p>
            <a:pPr>
              <a:lnSpc>
                <a:spcPct val="150000"/>
              </a:lnSpc>
              <a:buNone/>
            </a:pPr>
            <a:r>
              <a:rPr lang="en-US" sz="2800" b="1" dirty="0">
                <a:latin typeface="Calibir"/>
              </a:rPr>
              <a:t>What’s the difference?</a:t>
            </a:r>
          </a:p>
          <a:p>
            <a:pPr>
              <a:lnSpc>
                <a:spcPct val="150000"/>
              </a:lnSpc>
              <a:buNone/>
            </a:pPr>
            <a:r>
              <a:rPr lang="en-US" sz="2800" dirty="0">
                <a:latin typeface="Calibir"/>
              </a:rPr>
              <a:t>Errors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What they are:</a:t>
            </a:r>
            <a:r>
              <a:rPr lang="en-US" altLang="en-US" sz="2800" dirty="0">
                <a:latin typeface="Calibir"/>
              </a:rPr>
              <a:t> Serious problems in the system.</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Can we fix them?</a:t>
            </a:r>
            <a:r>
              <a:rPr lang="en-US" altLang="en-US" sz="2800" dirty="0">
                <a:latin typeface="Calibir"/>
              </a:rPr>
              <a:t> No, the program usually crashes, and we can’t recover.</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Example:</a:t>
            </a:r>
            <a:r>
              <a:rPr lang="en-US" altLang="en-US" sz="2800" dirty="0">
                <a:latin typeface="Calibir"/>
              </a:rPr>
              <a:t> </a:t>
            </a:r>
            <a:r>
              <a:rPr lang="en-US" altLang="en-US" sz="2800" dirty="0" err="1">
                <a:latin typeface="Calibir"/>
              </a:rPr>
              <a:t>OutOfMemoryError</a:t>
            </a:r>
            <a:r>
              <a:rPr lang="en-US" altLang="en-US" sz="2800" dirty="0">
                <a:latin typeface="Calibir"/>
              </a:rPr>
              <a:t> (computer runs out of memory).</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Analogy:</a:t>
            </a:r>
            <a:r>
              <a:rPr lang="en-US" altLang="en-US" sz="2800" dirty="0">
                <a:latin typeface="Calibir"/>
              </a:rPr>
              <a:t> Like a train system shutting down because of a massive storm → trains cannot run at all.</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Java Example:</a:t>
            </a:r>
          </a:p>
        </p:txBody>
      </p:sp>
      <p:pic>
        <p:nvPicPr>
          <p:cNvPr id="8" name="Picture 7">
            <a:extLst>
              <a:ext uri="{FF2B5EF4-FFF2-40B4-BE49-F238E27FC236}">
                <a16:creationId xmlns:a16="http://schemas.microsoft.com/office/drawing/2014/main" id="{23E3E79B-ACBD-0F8E-C650-0C6BDB27C48F}"/>
              </a:ext>
            </a:extLst>
          </p:cNvPr>
          <p:cNvPicPr>
            <a:picLocks noChangeAspect="1"/>
          </p:cNvPicPr>
          <p:nvPr/>
        </p:nvPicPr>
        <p:blipFill>
          <a:blip r:embed="rId2"/>
          <a:srcRect l="7984" t="72473" r="8064" b="13197"/>
          <a:stretch>
            <a:fillRect/>
          </a:stretch>
        </p:blipFill>
        <p:spPr>
          <a:xfrm>
            <a:off x="565970" y="5796116"/>
            <a:ext cx="11060060" cy="1061883"/>
          </a:xfrm>
          <a:prstGeom prst="rect">
            <a:avLst/>
          </a:prstGeom>
        </p:spPr>
      </p:pic>
    </p:spTree>
    <p:extLst>
      <p:ext uri="{BB962C8B-B14F-4D97-AF65-F5344CB8AC3E}">
        <p14:creationId xmlns:p14="http://schemas.microsoft.com/office/powerpoint/2010/main" val="4261001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C3986-E84C-CBD3-47CE-81F25773DA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A94DC-6587-AC19-00C4-5AA2CF43F0AD}"/>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Errors vs Exceptions</a:t>
            </a:r>
          </a:p>
        </p:txBody>
      </p:sp>
      <p:sp>
        <p:nvSpPr>
          <p:cNvPr id="5" name="TextBox 4">
            <a:extLst>
              <a:ext uri="{FF2B5EF4-FFF2-40B4-BE49-F238E27FC236}">
                <a16:creationId xmlns:a16="http://schemas.microsoft.com/office/drawing/2014/main" id="{E909405D-C332-0520-B027-6F8ED25D29C1}"/>
              </a:ext>
            </a:extLst>
          </p:cNvPr>
          <p:cNvSpPr txBox="1"/>
          <p:nvPr/>
        </p:nvSpPr>
        <p:spPr>
          <a:xfrm>
            <a:off x="113371" y="2294174"/>
            <a:ext cx="11965258" cy="1964512"/>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Errors are like hardware or system failures.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They are not meant to be caught in your code.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Focus on Exceptions (smaller problems you can handle), not Errors.</a:t>
            </a:r>
          </a:p>
        </p:txBody>
      </p:sp>
    </p:spTree>
    <p:extLst>
      <p:ext uri="{BB962C8B-B14F-4D97-AF65-F5344CB8AC3E}">
        <p14:creationId xmlns:p14="http://schemas.microsoft.com/office/powerpoint/2010/main" val="9897988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69320-F2D7-49B8-D6CC-58C1E28C7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7F1D5-E655-03DC-2B52-10E29919E869}"/>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Errors vs Exceptions</a:t>
            </a:r>
          </a:p>
        </p:txBody>
      </p:sp>
      <p:sp>
        <p:nvSpPr>
          <p:cNvPr id="5" name="TextBox 4">
            <a:extLst>
              <a:ext uri="{FF2B5EF4-FFF2-40B4-BE49-F238E27FC236}">
                <a16:creationId xmlns:a16="http://schemas.microsoft.com/office/drawing/2014/main" id="{DFFA733C-9945-393C-8DDB-78BCE173C945}"/>
              </a:ext>
            </a:extLst>
          </p:cNvPr>
          <p:cNvSpPr txBox="1"/>
          <p:nvPr/>
        </p:nvSpPr>
        <p:spPr>
          <a:xfrm>
            <a:off x="0" y="624514"/>
            <a:ext cx="11965258" cy="4549835"/>
          </a:xfrm>
          <a:prstGeom prst="rect">
            <a:avLst/>
          </a:prstGeom>
          <a:noFill/>
        </p:spPr>
        <p:txBody>
          <a:bodyPr wrap="square">
            <a:spAutoFit/>
          </a:bodyPr>
          <a:lstStyle/>
          <a:p>
            <a:pPr>
              <a:lnSpc>
                <a:spcPct val="150000"/>
              </a:lnSpc>
            </a:pPr>
            <a:r>
              <a:rPr lang="en-US" sz="2800" b="1" dirty="0">
                <a:latin typeface="Calibir"/>
              </a:rPr>
              <a:t>Exceptions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What they are:</a:t>
            </a:r>
            <a:r>
              <a:rPr lang="en-US" altLang="en-US" sz="2800" dirty="0">
                <a:latin typeface="Calibir"/>
              </a:rPr>
              <a:t> Smaller problems in the program.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Can we fix them?</a:t>
            </a:r>
            <a:r>
              <a:rPr lang="en-US" altLang="en-US" sz="2800" dirty="0">
                <a:latin typeface="Calibir"/>
              </a:rPr>
              <a:t> Yes, if the programmer handles them.</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Example:</a:t>
            </a:r>
            <a:r>
              <a:rPr lang="en-US" altLang="en-US" sz="2800" dirty="0">
                <a:latin typeface="Calibir"/>
              </a:rPr>
              <a:t> Wrong input ("abc" instead of a number) or dividing by zero.</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Analogy:</a:t>
            </a:r>
            <a:r>
              <a:rPr lang="en-US" altLang="en-US" sz="2800" dirty="0">
                <a:latin typeface="Calibir"/>
              </a:rPr>
              <a:t> Like an </a:t>
            </a:r>
            <a:r>
              <a:rPr lang="en-US" altLang="en-US" sz="2800" b="1" dirty="0">
                <a:latin typeface="Calibir"/>
              </a:rPr>
              <a:t>Opal card machine</a:t>
            </a:r>
            <a:r>
              <a:rPr lang="en-US" altLang="en-US" sz="2800" dirty="0">
                <a:latin typeface="Calibir"/>
              </a:rPr>
              <a:t> – if you tap with an invalid card, the machine rejects it and shows a message, but trains keep running.</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Python example:</a:t>
            </a:r>
          </a:p>
        </p:txBody>
      </p:sp>
      <p:pic>
        <p:nvPicPr>
          <p:cNvPr id="9" name="Picture 8">
            <a:extLst>
              <a:ext uri="{FF2B5EF4-FFF2-40B4-BE49-F238E27FC236}">
                <a16:creationId xmlns:a16="http://schemas.microsoft.com/office/drawing/2014/main" id="{0A10E4FC-B708-8426-B635-16188512464E}"/>
              </a:ext>
            </a:extLst>
          </p:cNvPr>
          <p:cNvPicPr>
            <a:picLocks noChangeAspect="1"/>
          </p:cNvPicPr>
          <p:nvPr/>
        </p:nvPicPr>
        <p:blipFill>
          <a:blip r:embed="rId2"/>
          <a:srcRect l="7863" t="61935" r="7942" b="14839"/>
          <a:stretch>
            <a:fillRect/>
          </a:stretch>
        </p:blipFill>
        <p:spPr>
          <a:xfrm>
            <a:off x="0" y="5072935"/>
            <a:ext cx="11503742" cy="1785064"/>
          </a:xfrm>
          <a:prstGeom prst="rect">
            <a:avLst/>
          </a:prstGeom>
        </p:spPr>
      </p:pic>
    </p:spTree>
    <p:extLst>
      <p:ext uri="{BB962C8B-B14F-4D97-AF65-F5344CB8AC3E}">
        <p14:creationId xmlns:p14="http://schemas.microsoft.com/office/powerpoint/2010/main" val="3238386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8A711-2B13-43FA-A822-EE7982FC0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2960F7-7EAE-1C60-182B-3CF34F90F5A9}"/>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Errors vs Exceptions</a:t>
            </a:r>
          </a:p>
        </p:txBody>
      </p:sp>
      <p:sp>
        <p:nvSpPr>
          <p:cNvPr id="5" name="TextBox 4">
            <a:extLst>
              <a:ext uri="{FF2B5EF4-FFF2-40B4-BE49-F238E27FC236}">
                <a16:creationId xmlns:a16="http://schemas.microsoft.com/office/drawing/2014/main" id="{42C4BDB5-4D84-95EB-A727-7D0AB9278A6F}"/>
              </a:ext>
            </a:extLst>
          </p:cNvPr>
          <p:cNvSpPr txBox="1"/>
          <p:nvPr/>
        </p:nvSpPr>
        <p:spPr>
          <a:xfrm>
            <a:off x="113371" y="1609418"/>
            <a:ext cx="11965258" cy="2610843"/>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Exceptions are like mistakes you can catch and fix while the program is running.</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If you don’t handle them → program will crash.</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If you do handle them → program continues smoothly.</a:t>
            </a:r>
          </a:p>
        </p:txBody>
      </p:sp>
    </p:spTree>
    <p:extLst>
      <p:ext uri="{BB962C8B-B14F-4D97-AF65-F5344CB8AC3E}">
        <p14:creationId xmlns:p14="http://schemas.microsoft.com/office/powerpoint/2010/main" val="3230027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1328-976F-E5FB-206C-5B396C22C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9BAD3-6187-C327-1A34-5635CDDEC9DB}"/>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Errors vs Exceptions</a:t>
            </a:r>
          </a:p>
        </p:txBody>
      </p:sp>
      <p:sp>
        <p:nvSpPr>
          <p:cNvPr id="5" name="TextBox 4">
            <a:extLst>
              <a:ext uri="{FF2B5EF4-FFF2-40B4-BE49-F238E27FC236}">
                <a16:creationId xmlns:a16="http://schemas.microsoft.com/office/drawing/2014/main" id="{8F462484-DD36-8F6A-F701-9C50C5773F33}"/>
              </a:ext>
            </a:extLst>
          </p:cNvPr>
          <p:cNvSpPr txBox="1"/>
          <p:nvPr/>
        </p:nvSpPr>
        <p:spPr>
          <a:xfrm>
            <a:off x="0" y="756745"/>
            <a:ext cx="11965258" cy="1318823"/>
          </a:xfrm>
          <a:prstGeom prst="rect">
            <a:avLst/>
          </a:prstGeom>
          <a:noFill/>
        </p:spPr>
        <p:txBody>
          <a:bodyPr wrap="square">
            <a:spAutoFit/>
          </a:bodyPr>
          <a:lstStyle/>
          <a:p>
            <a:pPr>
              <a:lnSpc>
                <a:spcPct val="150000"/>
              </a:lnSpc>
            </a:pPr>
            <a:r>
              <a:rPr lang="en-US" sz="2800" dirty="0">
                <a:latin typeface="Calibir"/>
              </a:rPr>
              <a:t>Errors = system failure.</a:t>
            </a:r>
            <a:br>
              <a:rPr lang="en-US" sz="2800" dirty="0">
                <a:latin typeface="Calibir"/>
              </a:rPr>
            </a:br>
            <a:r>
              <a:rPr lang="en-US" sz="2800" dirty="0">
                <a:latin typeface="Calibir"/>
              </a:rPr>
              <a:t>Exceptions = programmer can catch and fix.</a:t>
            </a:r>
          </a:p>
        </p:txBody>
      </p:sp>
    </p:spTree>
    <p:extLst>
      <p:ext uri="{BB962C8B-B14F-4D97-AF65-F5344CB8AC3E}">
        <p14:creationId xmlns:p14="http://schemas.microsoft.com/office/powerpoint/2010/main" val="1418758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20A6A-F325-0C63-9FE5-FEEC419DB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B3253-DEB5-252D-0D6A-D5148DAB10B9}"/>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Example 2 – Java Exception</a:t>
            </a:r>
            <a:endParaRPr lang="en-US" sz="4000" kern="100" dirty="0">
              <a:latin typeface="Calibir"/>
              <a:ea typeface="Aptos" panose="020B00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244B53EB-5F36-DC10-CCE0-E50D82192143}"/>
              </a:ext>
            </a:extLst>
          </p:cNvPr>
          <p:cNvSpPr txBox="1"/>
          <p:nvPr/>
        </p:nvSpPr>
        <p:spPr>
          <a:xfrm>
            <a:off x="0" y="733245"/>
            <a:ext cx="12192000" cy="6124754"/>
          </a:xfrm>
          <a:prstGeom prst="rect">
            <a:avLst/>
          </a:prstGeom>
          <a:solidFill>
            <a:schemeClr val="tx1"/>
          </a:solidFill>
        </p:spPr>
        <p:txBody>
          <a:bodyPr wrap="square">
            <a:spAutoFit/>
          </a:bodyPr>
          <a:lstStyle/>
          <a:p>
            <a:pPr>
              <a:buNone/>
            </a:pPr>
            <a:r>
              <a:rPr lang="en-US" sz="2800" b="0" dirty="0">
                <a:solidFill>
                  <a:srgbClr val="569CD6"/>
                </a:solidFill>
                <a:effectLst/>
                <a:latin typeface="Consolas" panose="020B0609020204030204" pitchFamily="49" charset="0"/>
              </a:rPr>
              <a:t>public</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Main</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public</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static</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void</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main</a:t>
            </a:r>
            <a:r>
              <a:rPr lang="en-US" sz="2800" b="0" dirty="0">
                <a:solidFill>
                  <a:srgbClr val="CCCCCC"/>
                </a:solidFill>
                <a:effectLst/>
                <a:latin typeface="Consolas" panose="020B0609020204030204" pitchFamily="49" charset="0"/>
              </a:rPr>
              <a:t>(</a:t>
            </a:r>
            <a:r>
              <a:rPr lang="en-US" sz="2800" b="0" dirty="0">
                <a:solidFill>
                  <a:srgbClr val="4EC9B0"/>
                </a:solidFill>
                <a:effectLst/>
                <a:latin typeface="Consolas" panose="020B0609020204030204" pitchFamily="49" charset="0"/>
              </a:rPr>
              <a:t>String</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args</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try</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Integer</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parseInt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"0"</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10</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catch</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ArithmeticException</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e</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"Cannot divide by zero"</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catch</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NumberFormatException</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e</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"Invalid number"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finally</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"Done"</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a:t>
            </a:r>
          </a:p>
        </p:txBody>
      </p:sp>
      <p:sp>
        <p:nvSpPr>
          <p:cNvPr id="6" name="Rectangle 1">
            <a:extLst>
              <a:ext uri="{FF2B5EF4-FFF2-40B4-BE49-F238E27FC236}">
                <a16:creationId xmlns:a16="http://schemas.microsoft.com/office/drawing/2014/main" id="{DCDC3EB4-57E2-F4D7-AEBC-726412FF326D}"/>
              </a:ext>
            </a:extLst>
          </p:cNvPr>
          <p:cNvSpPr>
            <a:spLocks noChangeArrowheads="1"/>
          </p:cNvSpPr>
          <p:nvPr/>
        </p:nvSpPr>
        <p:spPr bwMode="auto">
          <a:xfrm>
            <a:off x="3967316" y="5539819"/>
            <a:ext cx="8224683" cy="1318181"/>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try { ... } → test risky code.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err="1">
                <a:ln>
                  <a:noFill/>
                </a:ln>
                <a:solidFill>
                  <a:schemeClr val="tx1"/>
                </a:solidFill>
                <a:effectLst/>
                <a:latin typeface="Calibir"/>
              </a:rPr>
              <a:t>Integer.parseInt</a:t>
            </a:r>
            <a:r>
              <a:rPr kumimoji="0" lang="en-US" altLang="en-US" sz="2800" b="0" i="0" u="none" strike="noStrike" cap="none" normalizeH="0" baseline="0" dirty="0">
                <a:ln>
                  <a:noFill/>
                </a:ln>
                <a:solidFill>
                  <a:schemeClr val="tx1"/>
                </a:solidFill>
                <a:effectLst/>
                <a:latin typeface="Calibir"/>
              </a:rPr>
              <a:t>("0") → turn text "0" into number 0.</a:t>
            </a:r>
          </a:p>
        </p:txBody>
      </p:sp>
      <p:sp>
        <p:nvSpPr>
          <p:cNvPr id="7" name="Rectangle: Rounded Corners 6">
            <a:extLst>
              <a:ext uri="{FF2B5EF4-FFF2-40B4-BE49-F238E27FC236}">
                <a16:creationId xmlns:a16="http://schemas.microsoft.com/office/drawing/2014/main" id="{D9D0341A-6F55-BF63-7DA8-9530826BE851}"/>
              </a:ext>
            </a:extLst>
          </p:cNvPr>
          <p:cNvSpPr/>
          <p:nvPr/>
        </p:nvSpPr>
        <p:spPr>
          <a:xfrm>
            <a:off x="1460090" y="1622324"/>
            <a:ext cx="8760542" cy="9144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50603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6BD31-FD9B-4503-6639-37641D4B6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D21C0-3FBA-36F3-2DE7-723B667BA616}"/>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Example 2 – Java Exception</a:t>
            </a:r>
            <a:endParaRPr lang="en-US" sz="4000" kern="100" dirty="0">
              <a:latin typeface="Calibir"/>
              <a:ea typeface="Aptos" panose="020B00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5E4940E-ED87-0E83-0324-3F87A28FBA71}"/>
              </a:ext>
            </a:extLst>
          </p:cNvPr>
          <p:cNvSpPr txBox="1"/>
          <p:nvPr/>
        </p:nvSpPr>
        <p:spPr>
          <a:xfrm>
            <a:off x="0" y="733245"/>
            <a:ext cx="12192000" cy="6124754"/>
          </a:xfrm>
          <a:prstGeom prst="rect">
            <a:avLst/>
          </a:prstGeom>
          <a:solidFill>
            <a:schemeClr val="tx1"/>
          </a:solidFill>
        </p:spPr>
        <p:txBody>
          <a:bodyPr wrap="square">
            <a:spAutoFit/>
          </a:bodyPr>
          <a:lstStyle/>
          <a:p>
            <a:pPr>
              <a:buNone/>
            </a:pPr>
            <a:r>
              <a:rPr lang="en-US" sz="2800" b="0" dirty="0">
                <a:solidFill>
                  <a:srgbClr val="569CD6"/>
                </a:solidFill>
                <a:effectLst/>
                <a:latin typeface="Consolas" panose="020B0609020204030204" pitchFamily="49" charset="0"/>
              </a:rPr>
              <a:t>public</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Main</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public</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static</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void</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main</a:t>
            </a:r>
            <a:r>
              <a:rPr lang="en-US" sz="2800" b="0" dirty="0">
                <a:solidFill>
                  <a:srgbClr val="CCCCCC"/>
                </a:solidFill>
                <a:effectLst/>
                <a:latin typeface="Consolas" panose="020B0609020204030204" pitchFamily="49" charset="0"/>
              </a:rPr>
              <a:t>(</a:t>
            </a:r>
            <a:r>
              <a:rPr lang="en-US" sz="2800" b="0" dirty="0">
                <a:solidFill>
                  <a:srgbClr val="4EC9B0"/>
                </a:solidFill>
                <a:effectLst/>
                <a:latin typeface="Consolas" panose="020B0609020204030204" pitchFamily="49" charset="0"/>
              </a:rPr>
              <a:t>String</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args</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try</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Integer</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parseInt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"0"</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10</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catch</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ArithmeticException</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e</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"Cannot divide by zero"</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catch</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NumberFormatException</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e</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"Invalid number"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finally</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"Done"</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a:t>
            </a:r>
          </a:p>
        </p:txBody>
      </p:sp>
      <p:sp>
        <p:nvSpPr>
          <p:cNvPr id="6" name="Rectangle 1">
            <a:extLst>
              <a:ext uri="{FF2B5EF4-FFF2-40B4-BE49-F238E27FC236}">
                <a16:creationId xmlns:a16="http://schemas.microsoft.com/office/drawing/2014/main" id="{E1BB2808-05AA-AD1B-E0D7-17342D6BE93D}"/>
              </a:ext>
            </a:extLst>
          </p:cNvPr>
          <p:cNvSpPr>
            <a:spLocks noChangeArrowheads="1"/>
          </p:cNvSpPr>
          <p:nvPr/>
        </p:nvSpPr>
        <p:spPr bwMode="auto">
          <a:xfrm>
            <a:off x="2418736" y="5539818"/>
            <a:ext cx="9773264" cy="1318181"/>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10 / a → dividing by zero → error.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catch (</a:t>
            </a:r>
            <a:r>
              <a:rPr lang="en-US" altLang="en-US" sz="2800" dirty="0" err="1">
                <a:latin typeface="Calibir"/>
              </a:rPr>
              <a:t>ArithmeticException</a:t>
            </a:r>
            <a:r>
              <a:rPr lang="en-US" altLang="en-US" sz="2800" dirty="0">
                <a:latin typeface="Calibir"/>
              </a:rPr>
              <a:t> e) → catches divide-by-zero.</a:t>
            </a:r>
          </a:p>
        </p:txBody>
      </p:sp>
      <p:sp>
        <p:nvSpPr>
          <p:cNvPr id="7" name="Rectangle: Rounded Corners 6">
            <a:extLst>
              <a:ext uri="{FF2B5EF4-FFF2-40B4-BE49-F238E27FC236}">
                <a16:creationId xmlns:a16="http://schemas.microsoft.com/office/drawing/2014/main" id="{1ADCC08F-EEF2-630D-1D2E-9BE574A014A0}"/>
              </a:ext>
            </a:extLst>
          </p:cNvPr>
          <p:cNvSpPr/>
          <p:nvPr/>
        </p:nvSpPr>
        <p:spPr>
          <a:xfrm>
            <a:off x="1415845" y="2435772"/>
            <a:ext cx="8760542" cy="9144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1206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7A8F5-AC1A-162A-9EB1-010DE5FEF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C95A0C-D64C-8381-C72E-9ED2D52B4592}"/>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Example 2 – Java Exception</a:t>
            </a:r>
            <a:endParaRPr lang="en-US" sz="4000" kern="100" dirty="0">
              <a:latin typeface="Calibir"/>
              <a:ea typeface="Aptos" panose="020B00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61CF163-D574-071A-E019-F97CF86ED532}"/>
              </a:ext>
            </a:extLst>
          </p:cNvPr>
          <p:cNvSpPr txBox="1"/>
          <p:nvPr/>
        </p:nvSpPr>
        <p:spPr>
          <a:xfrm>
            <a:off x="0" y="733245"/>
            <a:ext cx="12192000" cy="6124754"/>
          </a:xfrm>
          <a:prstGeom prst="rect">
            <a:avLst/>
          </a:prstGeom>
          <a:solidFill>
            <a:schemeClr val="tx1"/>
          </a:solidFill>
        </p:spPr>
        <p:txBody>
          <a:bodyPr wrap="square">
            <a:spAutoFit/>
          </a:bodyPr>
          <a:lstStyle/>
          <a:p>
            <a:pPr>
              <a:buNone/>
            </a:pPr>
            <a:r>
              <a:rPr lang="en-US" sz="2800" b="0" dirty="0">
                <a:solidFill>
                  <a:srgbClr val="569CD6"/>
                </a:solidFill>
                <a:effectLst/>
                <a:latin typeface="Consolas" panose="020B0609020204030204" pitchFamily="49" charset="0"/>
              </a:rPr>
              <a:t>public</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Main</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public</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static</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void</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main</a:t>
            </a:r>
            <a:r>
              <a:rPr lang="en-US" sz="2800" b="0" dirty="0">
                <a:solidFill>
                  <a:srgbClr val="CCCCCC"/>
                </a:solidFill>
                <a:effectLst/>
                <a:latin typeface="Consolas" panose="020B0609020204030204" pitchFamily="49" charset="0"/>
              </a:rPr>
              <a:t>(</a:t>
            </a:r>
            <a:r>
              <a:rPr lang="en-US" sz="2800" b="0" dirty="0">
                <a:solidFill>
                  <a:srgbClr val="4EC9B0"/>
                </a:solidFill>
                <a:effectLst/>
                <a:latin typeface="Consolas" panose="020B0609020204030204" pitchFamily="49" charset="0"/>
              </a:rPr>
              <a:t>String</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args</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try</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Integer</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parseInt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"0"</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10</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catch</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ArithmeticException</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e</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"Cannot divide by zero"</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catch</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NumberFormatException</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e</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"Invalid number"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finally</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"Done"</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a:t>
            </a:r>
          </a:p>
        </p:txBody>
      </p:sp>
      <p:sp>
        <p:nvSpPr>
          <p:cNvPr id="6" name="Rectangle 1">
            <a:extLst>
              <a:ext uri="{FF2B5EF4-FFF2-40B4-BE49-F238E27FC236}">
                <a16:creationId xmlns:a16="http://schemas.microsoft.com/office/drawing/2014/main" id="{D206CC94-32C5-35FC-510A-1E8CFF2F5D4D}"/>
              </a:ext>
            </a:extLst>
          </p:cNvPr>
          <p:cNvSpPr>
            <a:spLocks noChangeArrowheads="1"/>
          </p:cNvSpPr>
          <p:nvPr/>
        </p:nvSpPr>
        <p:spPr bwMode="auto">
          <a:xfrm>
            <a:off x="2418736" y="5539817"/>
            <a:ext cx="9773264" cy="1318181"/>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catch (</a:t>
            </a:r>
            <a:r>
              <a:rPr lang="en-US" altLang="en-US" sz="2800" dirty="0" err="1">
                <a:latin typeface="Calibir"/>
              </a:rPr>
              <a:t>NumberFormatException</a:t>
            </a:r>
            <a:r>
              <a:rPr lang="en-US" altLang="en-US" sz="2800" dirty="0">
                <a:latin typeface="Calibir"/>
              </a:rPr>
              <a:t> e) → catches text like "abc".</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finally → always runs → prints “Done”.</a:t>
            </a:r>
          </a:p>
        </p:txBody>
      </p:sp>
      <p:sp>
        <p:nvSpPr>
          <p:cNvPr id="7" name="Rectangle: Rounded Corners 6">
            <a:extLst>
              <a:ext uri="{FF2B5EF4-FFF2-40B4-BE49-F238E27FC236}">
                <a16:creationId xmlns:a16="http://schemas.microsoft.com/office/drawing/2014/main" id="{DAB42812-CAD9-F46B-5DAF-B9BC6C8B8A45}"/>
              </a:ext>
            </a:extLst>
          </p:cNvPr>
          <p:cNvSpPr/>
          <p:nvPr/>
        </p:nvSpPr>
        <p:spPr>
          <a:xfrm>
            <a:off x="1342103" y="3772098"/>
            <a:ext cx="8760542" cy="131818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9962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19891-B04F-6780-31A0-458A5A4C2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8A646-3FCB-2752-1CC6-21295F17D509}"/>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Example 2 – Java Exception</a:t>
            </a:r>
            <a:endParaRPr lang="en-US" sz="4000" kern="100" dirty="0">
              <a:latin typeface="Calibir"/>
              <a:ea typeface="Aptos" panose="020B00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E8A5EAD-8DC0-8A0A-94D1-73558F976976}"/>
              </a:ext>
            </a:extLst>
          </p:cNvPr>
          <p:cNvSpPr txBox="1"/>
          <p:nvPr/>
        </p:nvSpPr>
        <p:spPr>
          <a:xfrm>
            <a:off x="0" y="733245"/>
            <a:ext cx="12192000" cy="6124754"/>
          </a:xfrm>
          <a:prstGeom prst="rect">
            <a:avLst/>
          </a:prstGeom>
          <a:solidFill>
            <a:schemeClr val="tx1"/>
          </a:solidFill>
        </p:spPr>
        <p:txBody>
          <a:bodyPr wrap="square">
            <a:spAutoFit/>
          </a:bodyPr>
          <a:lstStyle/>
          <a:p>
            <a:pPr>
              <a:buNone/>
            </a:pPr>
            <a:r>
              <a:rPr lang="en-US" sz="2800" b="0" dirty="0">
                <a:solidFill>
                  <a:srgbClr val="569CD6"/>
                </a:solidFill>
                <a:effectLst/>
                <a:latin typeface="Consolas" panose="020B0609020204030204" pitchFamily="49" charset="0"/>
              </a:rPr>
              <a:t>public</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Main</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public</a:t>
            </a: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static</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void</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main</a:t>
            </a:r>
            <a:r>
              <a:rPr lang="en-US" sz="2800" b="0" dirty="0">
                <a:solidFill>
                  <a:srgbClr val="CCCCCC"/>
                </a:solidFill>
                <a:effectLst/>
                <a:latin typeface="Consolas" panose="020B0609020204030204" pitchFamily="49" charset="0"/>
              </a:rPr>
              <a:t>(</a:t>
            </a:r>
            <a:r>
              <a:rPr lang="en-US" sz="2800" b="0" dirty="0">
                <a:solidFill>
                  <a:srgbClr val="4EC9B0"/>
                </a:solidFill>
                <a:effectLst/>
                <a:latin typeface="Consolas" panose="020B0609020204030204" pitchFamily="49" charset="0"/>
              </a:rPr>
              <a:t>String</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args</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try</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Integer</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parseInt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"0"</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10</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catch</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ArithmeticException</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e</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"Cannot divide by zero"</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catch</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NumberFormatException</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e</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"Invalid number"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 </a:t>
            </a:r>
            <a:r>
              <a:rPr lang="en-US" sz="2800" b="0" dirty="0">
                <a:solidFill>
                  <a:srgbClr val="C586C0"/>
                </a:solidFill>
                <a:effectLst/>
                <a:latin typeface="Consolas" panose="020B0609020204030204" pitchFamily="49" charset="0"/>
              </a:rPr>
              <a:t>finally</a:t>
            </a: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System</a:t>
            </a:r>
            <a:r>
              <a:rPr lang="en-US" sz="2800" b="0" dirty="0" err="1">
                <a:solidFill>
                  <a:srgbClr val="CCCCCC"/>
                </a:solidFill>
                <a:effectLst/>
                <a:latin typeface="Consolas" panose="020B0609020204030204" pitchFamily="49" charset="0"/>
              </a:rPr>
              <a:t>.</a:t>
            </a:r>
            <a:r>
              <a:rPr lang="en-US" sz="2800" b="0" dirty="0" err="1">
                <a:solidFill>
                  <a:srgbClr val="4FC1FF"/>
                </a:solidFill>
                <a:effectLst/>
                <a:latin typeface="Consolas" panose="020B0609020204030204" pitchFamily="49" charset="0"/>
              </a:rPr>
              <a:t>out</a:t>
            </a:r>
            <a:r>
              <a:rPr lang="en-US" sz="2800" b="0" dirty="0" err="1">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println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"Done"</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    }</a:t>
            </a:r>
          </a:p>
          <a:p>
            <a:pPr>
              <a:buNone/>
            </a:pPr>
            <a:r>
              <a:rPr lang="en-US" sz="2800" b="0" dirty="0">
                <a:solidFill>
                  <a:srgbClr val="CCCCCC"/>
                </a:solidFill>
                <a:effectLst/>
                <a:latin typeface="Consolas" panose="020B0609020204030204" pitchFamily="49" charset="0"/>
              </a:rPr>
              <a:t>}</a:t>
            </a:r>
          </a:p>
        </p:txBody>
      </p:sp>
      <p:sp>
        <p:nvSpPr>
          <p:cNvPr id="6" name="Rectangle 1">
            <a:extLst>
              <a:ext uri="{FF2B5EF4-FFF2-40B4-BE49-F238E27FC236}">
                <a16:creationId xmlns:a16="http://schemas.microsoft.com/office/drawing/2014/main" id="{795D12C6-66D9-4271-0A33-B6E9AA9E8A5D}"/>
              </a:ext>
            </a:extLst>
          </p:cNvPr>
          <p:cNvSpPr>
            <a:spLocks noChangeArrowheads="1"/>
          </p:cNvSpPr>
          <p:nvPr/>
        </p:nvSpPr>
        <p:spPr bwMode="auto">
          <a:xfrm>
            <a:off x="2418736" y="5538021"/>
            <a:ext cx="9773264" cy="1321772"/>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dirty="0">
                <a:latin typeface="Calibir"/>
              </a:rPr>
              <a:t>Analogy: Like Sydney Trains → if one line fails (error), system re-routes (catch) but still closes gates at night (finally).</a:t>
            </a:r>
            <a:endParaRPr lang="en-US" altLang="en-US" sz="2800" dirty="0">
              <a:latin typeface="Calibir"/>
            </a:endParaRPr>
          </a:p>
        </p:txBody>
      </p:sp>
    </p:spTree>
    <p:extLst>
      <p:ext uri="{BB962C8B-B14F-4D97-AF65-F5344CB8AC3E}">
        <p14:creationId xmlns:p14="http://schemas.microsoft.com/office/powerpoint/2010/main" val="12724389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5C30F-EA59-1D4F-FE7C-74D129211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9A712-004C-042B-1A3F-368CF7A48F10}"/>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Activity 3 (Java – Read File)</a:t>
            </a:r>
            <a:endParaRPr lang="en-US" sz="4000" kern="100" dirty="0">
              <a:latin typeface="Calibir"/>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4B423-7620-7A45-1AD6-0FCC9FB98E1D}"/>
              </a:ext>
            </a:extLst>
          </p:cNvPr>
          <p:cNvSpPr txBox="1"/>
          <p:nvPr/>
        </p:nvSpPr>
        <p:spPr>
          <a:xfrm>
            <a:off x="0" y="756745"/>
            <a:ext cx="11990438" cy="1318181"/>
          </a:xfrm>
          <a:prstGeom prst="rect">
            <a:avLst/>
          </a:prstGeom>
          <a:noFill/>
        </p:spPr>
        <p:txBody>
          <a:bodyPr wrap="square">
            <a:spAutoFit/>
          </a:bodyPr>
          <a:lstStyle/>
          <a:p>
            <a:pPr>
              <a:lnSpc>
                <a:spcPct val="150000"/>
              </a:lnSpc>
            </a:pPr>
            <a:r>
              <a:rPr lang="en-US" sz="2800" b="1" dirty="0">
                <a:latin typeface="Calibir"/>
              </a:rPr>
              <a:t>Task:</a:t>
            </a:r>
            <a:r>
              <a:rPr lang="en-US" sz="2800" dirty="0">
                <a:latin typeface="Calibir"/>
              </a:rPr>
              <a:t> Read a file hello.txt with FileReader, print its content. Download the file from GitHub</a:t>
            </a:r>
          </a:p>
        </p:txBody>
      </p:sp>
      <p:pic>
        <p:nvPicPr>
          <p:cNvPr id="9" name="Timer">
            <a:hlinkClick r:id="" action="ppaction://media"/>
            <a:extLst>
              <a:ext uri="{FF2B5EF4-FFF2-40B4-BE49-F238E27FC236}">
                <a16:creationId xmlns:a16="http://schemas.microsoft.com/office/drawing/2014/main" id="{6CD3C876-D15B-0BF0-1897-7F8C668C3F77}"/>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1013" t="45377" r="41323" b="41290"/>
          <a:stretch>
            <a:fillRect/>
          </a:stretch>
        </p:blipFill>
        <p:spPr>
          <a:xfrm>
            <a:off x="4918586" y="1827801"/>
            <a:ext cx="2153266" cy="914400"/>
          </a:xfrm>
          <a:prstGeom prst="rect">
            <a:avLst/>
          </a:prstGeom>
          <a:ln w="38100">
            <a:solidFill>
              <a:srgbClr val="FF0000"/>
            </a:solidFill>
          </a:ln>
        </p:spPr>
      </p:pic>
      <p:pic>
        <p:nvPicPr>
          <p:cNvPr id="4" name="Picture 3">
            <a:extLst>
              <a:ext uri="{FF2B5EF4-FFF2-40B4-BE49-F238E27FC236}">
                <a16:creationId xmlns:a16="http://schemas.microsoft.com/office/drawing/2014/main" id="{36377C33-84F5-8600-9F2A-45DAEBD908F8}"/>
              </a:ext>
            </a:extLst>
          </p:cNvPr>
          <p:cNvPicPr>
            <a:picLocks noChangeAspect="1"/>
          </p:cNvPicPr>
          <p:nvPr/>
        </p:nvPicPr>
        <p:blipFill>
          <a:blip r:embed="rId5"/>
          <a:srcRect t="6881" b="38925"/>
          <a:stretch>
            <a:fillRect/>
          </a:stretch>
        </p:blipFill>
        <p:spPr>
          <a:xfrm>
            <a:off x="0" y="3141406"/>
            <a:ext cx="12192000" cy="3716594"/>
          </a:xfrm>
          <a:prstGeom prst="rect">
            <a:avLst/>
          </a:prstGeom>
        </p:spPr>
      </p:pic>
    </p:spTree>
    <p:extLst>
      <p:ext uri="{BB962C8B-B14F-4D97-AF65-F5344CB8AC3E}">
        <p14:creationId xmlns:p14="http://schemas.microsoft.com/office/powerpoint/2010/main" val="255386400"/>
      </p:ext>
    </p:extLst>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5C30F-EA59-1D4F-FE7C-74D129211AF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FD154DF-6CB2-3445-6882-09119C6E7EE4}"/>
              </a:ext>
            </a:extLst>
          </p:cNvPr>
          <p:cNvPicPr>
            <a:picLocks noChangeAspect="1"/>
          </p:cNvPicPr>
          <p:nvPr/>
        </p:nvPicPr>
        <p:blipFill>
          <a:blip r:embed="rId2"/>
          <a:srcRect l="8104" r="9274" b="36559"/>
          <a:stretch>
            <a:fillRect/>
          </a:stretch>
        </p:blipFill>
        <p:spPr>
          <a:xfrm>
            <a:off x="-1" y="0"/>
            <a:ext cx="11916697" cy="5147036"/>
          </a:xfrm>
          <a:prstGeom prst="rect">
            <a:avLst/>
          </a:prstGeom>
        </p:spPr>
      </p:pic>
      <p:sp>
        <p:nvSpPr>
          <p:cNvPr id="7" name="TextBox 6">
            <a:extLst>
              <a:ext uri="{FF2B5EF4-FFF2-40B4-BE49-F238E27FC236}">
                <a16:creationId xmlns:a16="http://schemas.microsoft.com/office/drawing/2014/main" id="{3629B524-3DB2-DFC6-FC12-A6D82F6668CC}"/>
              </a:ext>
            </a:extLst>
          </p:cNvPr>
          <p:cNvSpPr txBox="1"/>
          <p:nvPr/>
        </p:nvSpPr>
        <p:spPr>
          <a:xfrm>
            <a:off x="0" y="5171945"/>
            <a:ext cx="12108426" cy="1318181"/>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This line tells Java we want to use </a:t>
            </a:r>
            <a:r>
              <a:rPr lang="en-US" sz="2800" b="1" dirty="0">
                <a:latin typeface="Calibir"/>
              </a:rPr>
              <a:t>input/output (I/O)</a:t>
            </a:r>
            <a:r>
              <a:rPr lang="en-US" sz="2800" dirty="0">
                <a:latin typeface="Calibir"/>
              </a:rPr>
              <a:t> classes, like FileReader for reading files.</a:t>
            </a:r>
          </a:p>
        </p:txBody>
      </p:sp>
      <p:sp>
        <p:nvSpPr>
          <p:cNvPr id="10" name="Rectangle: Rounded Corners 9">
            <a:extLst>
              <a:ext uri="{FF2B5EF4-FFF2-40B4-BE49-F238E27FC236}">
                <a16:creationId xmlns:a16="http://schemas.microsoft.com/office/drawing/2014/main" id="{E66429A4-60FE-2E44-2F0A-10881ED7F662}"/>
              </a:ext>
            </a:extLst>
          </p:cNvPr>
          <p:cNvSpPr/>
          <p:nvPr/>
        </p:nvSpPr>
        <p:spPr>
          <a:xfrm>
            <a:off x="0" y="0"/>
            <a:ext cx="2949677" cy="3687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49069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6E0D1-6DCE-F396-EAFB-73139F8C27A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1CAB875-3231-49D6-2C81-05DBA4D613EF}"/>
              </a:ext>
            </a:extLst>
          </p:cNvPr>
          <p:cNvPicPr>
            <a:picLocks noChangeAspect="1"/>
          </p:cNvPicPr>
          <p:nvPr/>
        </p:nvPicPr>
        <p:blipFill>
          <a:blip r:embed="rId2"/>
          <a:srcRect l="8104" r="9274" b="36559"/>
          <a:stretch>
            <a:fillRect/>
          </a:stretch>
        </p:blipFill>
        <p:spPr>
          <a:xfrm>
            <a:off x="-1" y="0"/>
            <a:ext cx="11916697" cy="5147036"/>
          </a:xfrm>
          <a:prstGeom prst="rect">
            <a:avLst/>
          </a:prstGeom>
        </p:spPr>
      </p:pic>
      <p:sp>
        <p:nvSpPr>
          <p:cNvPr id="7" name="TextBox 6">
            <a:extLst>
              <a:ext uri="{FF2B5EF4-FFF2-40B4-BE49-F238E27FC236}">
                <a16:creationId xmlns:a16="http://schemas.microsoft.com/office/drawing/2014/main" id="{F7D02216-DBC0-1891-70D5-3C30DAE3763E}"/>
              </a:ext>
            </a:extLst>
          </p:cNvPr>
          <p:cNvSpPr txBox="1"/>
          <p:nvPr/>
        </p:nvSpPr>
        <p:spPr>
          <a:xfrm>
            <a:off x="0" y="5171945"/>
            <a:ext cx="12108426" cy="1321772"/>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Defines a class (container for the code) named FileReadExample. Every Java program needs at least one class.</a:t>
            </a:r>
          </a:p>
        </p:txBody>
      </p:sp>
      <p:sp>
        <p:nvSpPr>
          <p:cNvPr id="10" name="Rectangle: Rounded Corners 9">
            <a:extLst>
              <a:ext uri="{FF2B5EF4-FFF2-40B4-BE49-F238E27FC236}">
                <a16:creationId xmlns:a16="http://schemas.microsoft.com/office/drawing/2014/main" id="{942782F2-D6E4-90B3-A180-43CE78B00387}"/>
              </a:ext>
            </a:extLst>
          </p:cNvPr>
          <p:cNvSpPr/>
          <p:nvPr/>
        </p:nvSpPr>
        <p:spPr>
          <a:xfrm>
            <a:off x="14748" y="364283"/>
            <a:ext cx="5471652" cy="35838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25818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4A0C2-770D-9E7B-86AE-A0551B5F736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2775B40-69B7-429A-A0F5-2988128F10F9}"/>
              </a:ext>
            </a:extLst>
          </p:cNvPr>
          <p:cNvPicPr>
            <a:picLocks noChangeAspect="1"/>
          </p:cNvPicPr>
          <p:nvPr/>
        </p:nvPicPr>
        <p:blipFill>
          <a:blip r:embed="rId2"/>
          <a:srcRect l="8104" r="9274" b="36559"/>
          <a:stretch>
            <a:fillRect/>
          </a:stretch>
        </p:blipFill>
        <p:spPr>
          <a:xfrm>
            <a:off x="-1" y="0"/>
            <a:ext cx="11916697" cy="5147036"/>
          </a:xfrm>
          <a:prstGeom prst="rect">
            <a:avLst/>
          </a:prstGeom>
        </p:spPr>
      </p:pic>
      <p:sp>
        <p:nvSpPr>
          <p:cNvPr id="7" name="TextBox 6">
            <a:extLst>
              <a:ext uri="{FF2B5EF4-FFF2-40B4-BE49-F238E27FC236}">
                <a16:creationId xmlns:a16="http://schemas.microsoft.com/office/drawing/2014/main" id="{37F46480-972C-CC84-E164-DC7A41D742FD}"/>
              </a:ext>
            </a:extLst>
          </p:cNvPr>
          <p:cNvSpPr txBox="1"/>
          <p:nvPr/>
        </p:nvSpPr>
        <p:spPr>
          <a:xfrm>
            <a:off x="0" y="5171945"/>
            <a:ext cx="12108426" cy="675441"/>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The main method. This is where the program starts running.</a:t>
            </a:r>
          </a:p>
        </p:txBody>
      </p:sp>
      <p:sp>
        <p:nvSpPr>
          <p:cNvPr id="10" name="Rectangle: Rounded Corners 9">
            <a:extLst>
              <a:ext uri="{FF2B5EF4-FFF2-40B4-BE49-F238E27FC236}">
                <a16:creationId xmlns:a16="http://schemas.microsoft.com/office/drawing/2014/main" id="{D44DBBD0-BF1D-9618-C497-075274DCEBEC}"/>
              </a:ext>
            </a:extLst>
          </p:cNvPr>
          <p:cNvSpPr/>
          <p:nvPr/>
        </p:nvSpPr>
        <p:spPr>
          <a:xfrm>
            <a:off x="0" y="696470"/>
            <a:ext cx="7551174" cy="35838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0347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C393A-FF04-5A68-100A-99DC930DD66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D386671-2D81-DC58-B630-9C6F70D4CD52}"/>
              </a:ext>
            </a:extLst>
          </p:cNvPr>
          <p:cNvPicPr>
            <a:picLocks noChangeAspect="1"/>
          </p:cNvPicPr>
          <p:nvPr/>
        </p:nvPicPr>
        <p:blipFill>
          <a:blip r:embed="rId2"/>
          <a:srcRect l="8104" r="9274" b="36559"/>
          <a:stretch>
            <a:fillRect/>
          </a:stretch>
        </p:blipFill>
        <p:spPr>
          <a:xfrm>
            <a:off x="-1" y="0"/>
            <a:ext cx="11916697" cy="5147036"/>
          </a:xfrm>
          <a:prstGeom prst="rect">
            <a:avLst/>
          </a:prstGeom>
        </p:spPr>
      </p:pic>
      <p:sp>
        <p:nvSpPr>
          <p:cNvPr id="7" name="TextBox 6">
            <a:extLst>
              <a:ext uri="{FF2B5EF4-FFF2-40B4-BE49-F238E27FC236}">
                <a16:creationId xmlns:a16="http://schemas.microsoft.com/office/drawing/2014/main" id="{513D4A42-4641-A8B9-33B9-92E8E35D73AD}"/>
              </a:ext>
            </a:extLst>
          </p:cNvPr>
          <p:cNvSpPr txBox="1"/>
          <p:nvPr/>
        </p:nvSpPr>
        <p:spPr>
          <a:xfrm>
            <a:off x="1764890" y="4271952"/>
            <a:ext cx="10427110" cy="2610843"/>
          </a:xfrm>
          <a:prstGeom prst="rect">
            <a:avLst/>
          </a:prstGeom>
          <a:solidFill>
            <a:schemeClr val="bg1"/>
          </a:solidFill>
          <a:ln>
            <a:solidFill>
              <a:srgbClr val="FF0000"/>
            </a:solidFill>
          </a:ln>
        </p:spPr>
        <p:txBody>
          <a:bodyPr wrap="square">
            <a:spAutoFit/>
          </a:bodyPr>
          <a:lstStyle/>
          <a:p>
            <a:pPr marL="457200" indent="-457200">
              <a:lnSpc>
                <a:spcPct val="150000"/>
              </a:lnSpc>
              <a:buFont typeface="Arial" panose="020B0604020202020204" pitchFamily="34" charset="0"/>
              <a:buChar char="•"/>
            </a:pPr>
            <a:r>
              <a:rPr lang="en-US" sz="2800" dirty="0">
                <a:latin typeface="Calibir"/>
              </a:rPr>
              <a:t>try means “try to do this, but if something goes wrong, handle it later.”</a:t>
            </a:r>
          </a:p>
          <a:p>
            <a:pPr marL="457200" indent="-457200">
              <a:lnSpc>
                <a:spcPct val="150000"/>
              </a:lnSpc>
              <a:buFont typeface="Arial" panose="020B0604020202020204" pitchFamily="34" charset="0"/>
              <a:buChar char="•"/>
            </a:pPr>
            <a:r>
              <a:rPr lang="en-US" sz="2800" dirty="0">
                <a:latin typeface="Calibir"/>
              </a:rPr>
              <a:t>FileReader </a:t>
            </a:r>
            <a:r>
              <a:rPr lang="en-US" sz="2800" dirty="0" err="1">
                <a:latin typeface="Calibir"/>
              </a:rPr>
              <a:t>fr</a:t>
            </a:r>
            <a:r>
              <a:rPr lang="en-US" sz="2800" dirty="0">
                <a:latin typeface="Calibir"/>
              </a:rPr>
              <a:t> = new FileReader("hello.txt");</a:t>
            </a:r>
            <a:br>
              <a:rPr lang="en-US" sz="2800" dirty="0">
                <a:latin typeface="Calibir"/>
              </a:rPr>
            </a:br>
            <a:r>
              <a:rPr lang="en-US" sz="2800" dirty="0">
                <a:latin typeface="Calibir"/>
              </a:rPr>
              <a:t>This line opens a file called hello.txt for reading.</a:t>
            </a:r>
          </a:p>
        </p:txBody>
      </p:sp>
      <p:sp>
        <p:nvSpPr>
          <p:cNvPr id="10" name="Rectangle: Rounded Corners 9">
            <a:extLst>
              <a:ext uri="{FF2B5EF4-FFF2-40B4-BE49-F238E27FC236}">
                <a16:creationId xmlns:a16="http://schemas.microsoft.com/office/drawing/2014/main" id="{B21201F6-C3C4-F598-5874-8588B640646C}"/>
              </a:ext>
            </a:extLst>
          </p:cNvPr>
          <p:cNvSpPr/>
          <p:nvPr/>
        </p:nvSpPr>
        <p:spPr>
          <a:xfrm>
            <a:off x="0" y="1025362"/>
            <a:ext cx="9837174" cy="68560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73965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2AF28-69A0-4437-29FA-1F72F77A7AD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DDE219F-9BA6-C3A7-4B09-48DAFF32F1EA}"/>
              </a:ext>
            </a:extLst>
          </p:cNvPr>
          <p:cNvPicPr>
            <a:picLocks noChangeAspect="1"/>
          </p:cNvPicPr>
          <p:nvPr/>
        </p:nvPicPr>
        <p:blipFill>
          <a:blip r:embed="rId2"/>
          <a:srcRect l="8104" r="9274" b="36559"/>
          <a:stretch>
            <a:fillRect/>
          </a:stretch>
        </p:blipFill>
        <p:spPr>
          <a:xfrm>
            <a:off x="-1" y="0"/>
            <a:ext cx="11916697" cy="5147036"/>
          </a:xfrm>
          <a:prstGeom prst="rect">
            <a:avLst/>
          </a:prstGeom>
        </p:spPr>
      </p:pic>
      <p:sp>
        <p:nvSpPr>
          <p:cNvPr id="7" name="TextBox 6">
            <a:extLst>
              <a:ext uri="{FF2B5EF4-FFF2-40B4-BE49-F238E27FC236}">
                <a16:creationId xmlns:a16="http://schemas.microsoft.com/office/drawing/2014/main" id="{5A9AF3E8-EDDB-4261-0A13-BCD6F9639D95}"/>
              </a:ext>
            </a:extLst>
          </p:cNvPr>
          <p:cNvSpPr txBox="1"/>
          <p:nvPr/>
        </p:nvSpPr>
        <p:spPr>
          <a:xfrm>
            <a:off x="1764890" y="4271952"/>
            <a:ext cx="10427110" cy="2576796"/>
          </a:xfrm>
          <a:prstGeom prst="rect">
            <a:avLst/>
          </a:prstGeom>
          <a:solidFill>
            <a:schemeClr val="bg1"/>
          </a:solidFill>
          <a:ln>
            <a:solidFill>
              <a:srgbClr val="FF0000"/>
            </a:solidFill>
          </a:ln>
        </p:spPr>
        <p:txBody>
          <a:bodyPr wrap="square">
            <a:spAutoFit/>
          </a:bodyPr>
          <a:lstStyle/>
          <a:p>
            <a:pPr marL="457200" indent="-457200">
              <a:lnSpc>
                <a:spcPct val="150000"/>
              </a:lnSpc>
              <a:buFont typeface="Arial" panose="020B0604020202020204" pitchFamily="34" charset="0"/>
              <a:buChar char="•"/>
            </a:pPr>
            <a:r>
              <a:rPr lang="en-US" sz="2200" dirty="0">
                <a:latin typeface="Calibir"/>
              </a:rPr>
              <a:t>int ch; → a variable to store one character at a time (Java reads as numbers first).</a:t>
            </a:r>
          </a:p>
          <a:p>
            <a:pPr marL="457200" indent="-457200">
              <a:lnSpc>
                <a:spcPct val="150000"/>
              </a:lnSpc>
              <a:buFont typeface="Arial" panose="020B0604020202020204" pitchFamily="34" charset="0"/>
              <a:buChar char="•"/>
            </a:pPr>
            <a:r>
              <a:rPr lang="en-US" sz="2200" dirty="0" err="1">
                <a:latin typeface="Calibir"/>
              </a:rPr>
              <a:t>fr.read</a:t>
            </a:r>
            <a:r>
              <a:rPr lang="en-US" sz="2200" dirty="0">
                <a:latin typeface="Calibir"/>
              </a:rPr>
              <a:t>() → reads one character from the file.</a:t>
            </a:r>
          </a:p>
          <a:p>
            <a:pPr marL="457200" indent="-457200">
              <a:lnSpc>
                <a:spcPct val="150000"/>
              </a:lnSpc>
              <a:buFont typeface="Arial" panose="020B0604020202020204" pitchFamily="34" charset="0"/>
              <a:buChar char="•"/>
            </a:pPr>
            <a:r>
              <a:rPr lang="en-US" sz="2200" dirty="0">
                <a:latin typeface="Calibir"/>
              </a:rPr>
              <a:t>!= -1 → means “keep going until the end of the file” (-1 = no more characters).</a:t>
            </a:r>
          </a:p>
          <a:p>
            <a:pPr marL="457200" indent="-457200">
              <a:lnSpc>
                <a:spcPct val="150000"/>
              </a:lnSpc>
              <a:buFont typeface="Arial" panose="020B0604020202020204" pitchFamily="34" charset="0"/>
              <a:buChar char="•"/>
            </a:pPr>
            <a:r>
              <a:rPr lang="en-US" sz="2200" dirty="0">
                <a:latin typeface="Calibir"/>
              </a:rPr>
              <a:t>(char) ch → converts the number into the actual character (e.g., 72 → 'H’).</a:t>
            </a:r>
          </a:p>
          <a:p>
            <a:pPr marL="457200" indent="-457200">
              <a:lnSpc>
                <a:spcPct val="150000"/>
              </a:lnSpc>
              <a:buFont typeface="Arial" panose="020B0604020202020204" pitchFamily="34" charset="0"/>
              <a:buChar char="•"/>
            </a:pPr>
            <a:r>
              <a:rPr lang="en-US" sz="2200" dirty="0" err="1">
                <a:latin typeface="Calibir"/>
              </a:rPr>
              <a:t>System.out.print</a:t>
            </a:r>
            <a:r>
              <a:rPr lang="en-US" sz="2200" dirty="0">
                <a:latin typeface="Calibir"/>
              </a:rPr>
              <a:t>(...) → prints each character on the screen.</a:t>
            </a:r>
          </a:p>
        </p:txBody>
      </p:sp>
      <p:sp>
        <p:nvSpPr>
          <p:cNvPr id="10" name="Rectangle: Rounded Corners 9">
            <a:extLst>
              <a:ext uri="{FF2B5EF4-FFF2-40B4-BE49-F238E27FC236}">
                <a16:creationId xmlns:a16="http://schemas.microsoft.com/office/drawing/2014/main" id="{4030F9A6-244D-D155-59B7-95822BB386D9}"/>
              </a:ext>
            </a:extLst>
          </p:cNvPr>
          <p:cNvSpPr/>
          <p:nvPr/>
        </p:nvSpPr>
        <p:spPr>
          <a:xfrm>
            <a:off x="0" y="1694369"/>
            <a:ext cx="9837174" cy="140279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41922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F1EBF-A1E1-CF03-9C8D-FAA05F8C758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5DAECA4-7835-9ED9-0738-2E73EF59E73E}"/>
              </a:ext>
            </a:extLst>
          </p:cNvPr>
          <p:cNvPicPr>
            <a:picLocks noChangeAspect="1"/>
          </p:cNvPicPr>
          <p:nvPr/>
        </p:nvPicPr>
        <p:blipFill>
          <a:blip r:embed="rId2"/>
          <a:srcRect l="8104" r="9274" b="36559"/>
          <a:stretch>
            <a:fillRect/>
          </a:stretch>
        </p:blipFill>
        <p:spPr>
          <a:xfrm>
            <a:off x="-1" y="0"/>
            <a:ext cx="11916697" cy="5147036"/>
          </a:xfrm>
          <a:prstGeom prst="rect">
            <a:avLst/>
          </a:prstGeom>
        </p:spPr>
      </p:pic>
      <p:sp>
        <p:nvSpPr>
          <p:cNvPr id="7" name="TextBox 6">
            <a:extLst>
              <a:ext uri="{FF2B5EF4-FFF2-40B4-BE49-F238E27FC236}">
                <a16:creationId xmlns:a16="http://schemas.microsoft.com/office/drawing/2014/main" id="{ABEAECFC-D113-4233-0B4F-07F8F9DBBDFF}"/>
              </a:ext>
            </a:extLst>
          </p:cNvPr>
          <p:cNvSpPr txBox="1"/>
          <p:nvPr/>
        </p:nvSpPr>
        <p:spPr>
          <a:xfrm>
            <a:off x="0" y="5170646"/>
            <a:ext cx="12192000" cy="1318181"/>
          </a:xfrm>
          <a:prstGeom prst="rect">
            <a:avLst/>
          </a:prstGeom>
          <a:solidFill>
            <a:schemeClr val="bg1"/>
          </a:solidFill>
          <a:ln>
            <a:solidFill>
              <a:srgbClr val="FF0000"/>
            </a:solidFill>
          </a:ln>
        </p:spPr>
        <p:txBody>
          <a:bodyPr wrap="square">
            <a:spAutoFit/>
          </a:bodyPr>
          <a:lstStyle/>
          <a:p>
            <a:pPr marL="457200" indent="-457200">
              <a:lnSpc>
                <a:spcPct val="150000"/>
              </a:lnSpc>
              <a:buFont typeface="Arial" panose="020B0604020202020204" pitchFamily="34" charset="0"/>
              <a:buChar char="•"/>
            </a:pPr>
            <a:r>
              <a:rPr lang="en-US" sz="2800" dirty="0">
                <a:latin typeface="Calibir"/>
              </a:rPr>
              <a:t>Closes the file after finishing. (Always a good habit, like returning a library book after reading.)</a:t>
            </a:r>
          </a:p>
        </p:txBody>
      </p:sp>
      <p:sp>
        <p:nvSpPr>
          <p:cNvPr id="10" name="Rectangle: Rounded Corners 9">
            <a:extLst>
              <a:ext uri="{FF2B5EF4-FFF2-40B4-BE49-F238E27FC236}">
                <a16:creationId xmlns:a16="http://schemas.microsoft.com/office/drawing/2014/main" id="{59C15DC6-44E4-E8BC-A61E-B623DC4E8480}"/>
              </a:ext>
            </a:extLst>
          </p:cNvPr>
          <p:cNvSpPr/>
          <p:nvPr/>
        </p:nvSpPr>
        <p:spPr>
          <a:xfrm>
            <a:off x="0" y="3023418"/>
            <a:ext cx="9837174" cy="40558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04976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8A203-334E-8C85-6645-D337D401F71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A3C9DF7-E25D-0437-950A-070154C120E3}"/>
              </a:ext>
            </a:extLst>
          </p:cNvPr>
          <p:cNvPicPr>
            <a:picLocks noChangeAspect="1"/>
          </p:cNvPicPr>
          <p:nvPr/>
        </p:nvPicPr>
        <p:blipFill>
          <a:blip r:embed="rId2"/>
          <a:srcRect l="8104" r="9274" b="36559"/>
          <a:stretch>
            <a:fillRect/>
          </a:stretch>
        </p:blipFill>
        <p:spPr>
          <a:xfrm>
            <a:off x="-1" y="0"/>
            <a:ext cx="11916697" cy="5147036"/>
          </a:xfrm>
          <a:prstGeom prst="rect">
            <a:avLst/>
          </a:prstGeom>
        </p:spPr>
      </p:pic>
      <p:sp>
        <p:nvSpPr>
          <p:cNvPr id="7" name="TextBox 6">
            <a:extLst>
              <a:ext uri="{FF2B5EF4-FFF2-40B4-BE49-F238E27FC236}">
                <a16:creationId xmlns:a16="http://schemas.microsoft.com/office/drawing/2014/main" id="{D2536558-1702-8C78-ED97-7575E55A0BE2}"/>
              </a:ext>
            </a:extLst>
          </p:cNvPr>
          <p:cNvSpPr txBox="1"/>
          <p:nvPr/>
        </p:nvSpPr>
        <p:spPr>
          <a:xfrm>
            <a:off x="0" y="5170646"/>
            <a:ext cx="12192000" cy="1321772"/>
          </a:xfrm>
          <a:prstGeom prst="rect">
            <a:avLst/>
          </a:prstGeom>
          <a:solidFill>
            <a:schemeClr val="bg1"/>
          </a:solidFill>
          <a:ln>
            <a:solidFill>
              <a:srgbClr val="FF0000"/>
            </a:solidFill>
          </a:ln>
        </p:spPr>
        <p:txBody>
          <a:bodyPr wrap="square">
            <a:spAutoFit/>
          </a:bodyPr>
          <a:lstStyle/>
          <a:p>
            <a:pPr marL="457200" indent="-457200">
              <a:lnSpc>
                <a:spcPct val="150000"/>
              </a:lnSpc>
              <a:buFont typeface="Arial" panose="020B0604020202020204" pitchFamily="34" charset="0"/>
              <a:buChar char="•"/>
            </a:pPr>
            <a:r>
              <a:rPr lang="en-US" sz="2800" dirty="0">
                <a:latin typeface="Calibir"/>
              </a:rPr>
              <a:t>If something goes wrong (like file missing or unreadable), the program catches the error and shows a friendly message instead of crashing.</a:t>
            </a:r>
          </a:p>
        </p:txBody>
      </p:sp>
      <p:sp>
        <p:nvSpPr>
          <p:cNvPr id="10" name="Rectangle: Rounded Corners 9">
            <a:extLst>
              <a:ext uri="{FF2B5EF4-FFF2-40B4-BE49-F238E27FC236}">
                <a16:creationId xmlns:a16="http://schemas.microsoft.com/office/drawing/2014/main" id="{F09DC854-1038-01A5-E3C4-36B1311726BC}"/>
              </a:ext>
            </a:extLst>
          </p:cNvPr>
          <p:cNvSpPr/>
          <p:nvPr/>
        </p:nvSpPr>
        <p:spPr>
          <a:xfrm>
            <a:off x="0" y="3377381"/>
            <a:ext cx="11916696" cy="103238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99962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25836-E2F3-AA5F-A3BD-6A16F982321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1A6948D-FF05-B81C-C9B8-5A13814B6872}"/>
              </a:ext>
            </a:extLst>
          </p:cNvPr>
          <p:cNvPicPr>
            <a:picLocks noChangeAspect="1"/>
          </p:cNvPicPr>
          <p:nvPr/>
        </p:nvPicPr>
        <p:blipFill>
          <a:blip r:embed="rId2"/>
          <a:srcRect l="8104" r="9274" b="36559"/>
          <a:stretch>
            <a:fillRect/>
          </a:stretch>
        </p:blipFill>
        <p:spPr>
          <a:xfrm>
            <a:off x="-1" y="0"/>
            <a:ext cx="12192001" cy="5147036"/>
          </a:xfrm>
          <a:prstGeom prst="rect">
            <a:avLst/>
          </a:prstGeom>
        </p:spPr>
      </p:pic>
      <p:sp>
        <p:nvSpPr>
          <p:cNvPr id="7" name="TextBox 6">
            <a:extLst>
              <a:ext uri="{FF2B5EF4-FFF2-40B4-BE49-F238E27FC236}">
                <a16:creationId xmlns:a16="http://schemas.microsoft.com/office/drawing/2014/main" id="{683AEEFD-849C-C5EE-7BCC-71570DB01ACC}"/>
              </a:ext>
            </a:extLst>
          </p:cNvPr>
          <p:cNvSpPr txBox="1"/>
          <p:nvPr/>
        </p:nvSpPr>
        <p:spPr>
          <a:xfrm>
            <a:off x="560438" y="4881716"/>
            <a:ext cx="11631561" cy="1976284"/>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In short, this program opens a file called </a:t>
            </a:r>
            <a:r>
              <a:rPr lang="en-US" sz="2800" i="1" dirty="0">
                <a:latin typeface="Calibir"/>
              </a:rPr>
              <a:t>hello.txt</a:t>
            </a:r>
            <a:r>
              <a:rPr lang="en-US" sz="2800" dirty="0">
                <a:latin typeface="Calibir"/>
              </a:rPr>
              <a:t>, reads it one character at a time, prints everything on the screen, and closes the file. If the file isn’t there, it prints an error message.</a:t>
            </a:r>
          </a:p>
        </p:txBody>
      </p:sp>
    </p:spTree>
    <p:extLst>
      <p:ext uri="{BB962C8B-B14F-4D97-AF65-F5344CB8AC3E}">
        <p14:creationId xmlns:p14="http://schemas.microsoft.com/office/powerpoint/2010/main" val="29862457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90E8D-906B-CE08-06C2-473C2B507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C87D1-6A48-1253-33ED-B8AE260225FB}"/>
              </a:ext>
            </a:extLst>
          </p:cNvPr>
          <p:cNvSpPr>
            <a:spLocks noGrp="1"/>
          </p:cNvSpPr>
          <p:nvPr>
            <p:ph type="title"/>
          </p:nvPr>
        </p:nvSpPr>
        <p:spPr>
          <a:xfrm>
            <a:off x="0" y="1"/>
            <a:ext cx="12192000" cy="756744"/>
          </a:xfrm>
        </p:spPr>
        <p:txBody>
          <a:bodyPr anchor="b">
            <a:normAutofit/>
          </a:bodyPr>
          <a:lstStyle/>
          <a:p>
            <a:pPr>
              <a:spcAft>
                <a:spcPts val="800"/>
              </a:spcAft>
            </a:pPr>
            <a:r>
              <a:rPr lang="en-US" sz="4000" dirty="0">
                <a:latin typeface="Calibir"/>
              </a:rPr>
              <a:t>Activity 4 (</a:t>
            </a:r>
            <a:r>
              <a:rPr lang="en-US" sz="4000">
                <a:latin typeface="Calibir"/>
              </a:rPr>
              <a:t>Python and Java </a:t>
            </a:r>
            <a:r>
              <a:rPr lang="en-US" sz="4000" dirty="0">
                <a:latin typeface="Calibir"/>
              </a:rPr>
              <a:t>– Custom Exception)</a:t>
            </a:r>
            <a:endParaRPr lang="en-US" sz="4000" kern="100" dirty="0">
              <a:latin typeface="Calibir"/>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08EEEF1-C4AB-8ECA-A523-4748366F8F9F}"/>
              </a:ext>
            </a:extLst>
          </p:cNvPr>
          <p:cNvSpPr txBox="1"/>
          <p:nvPr/>
        </p:nvSpPr>
        <p:spPr>
          <a:xfrm>
            <a:off x="0" y="756745"/>
            <a:ext cx="11990438" cy="1318181"/>
          </a:xfrm>
          <a:prstGeom prst="rect">
            <a:avLst/>
          </a:prstGeom>
          <a:noFill/>
        </p:spPr>
        <p:txBody>
          <a:bodyPr wrap="square">
            <a:spAutoFit/>
          </a:bodyPr>
          <a:lstStyle/>
          <a:p>
            <a:pPr>
              <a:lnSpc>
                <a:spcPct val="150000"/>
              </a:lnSpc>
            </a:pPr>
            <a:r>
              <a:rPr lang="en-US" sz="2800" b="1" dirty="0">
                <a:latin typeface="Calibir"/>
              </a:rPr>
              <a:t>Task:</a:t>
            </a:r>
            <a:r>
              <a:rPr lang="en-US" sz="2800" dirty="0">
                <a:latin typeface="Calibir"/>
              </a:rPr>
              <a:t> Create custom exception InvalidMarkException for student marks &lt;0 or &gt;100.</a:t>
            </a:r>
          </a:p>
        </p:txBody>
      </p:sp>
      <p:pic>
        <p:nvPicPr>
          <p:cNvPr id="9" name="Timer">
            <a:hlinkClick r:id="" action="ppaction://media"/>
            <a:extLst>
              <a:ext uri="{FF2B5EF4-FFF2-40B4-BE49-F238E27FC236}">
                <a16:creationId xmlns:a16="http://schemas.microsoft.com/office/drawing/2014/main" id="{E787FB58-AA84-8113-2450-B8D3100A2C16}"/>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1013" t="45377" r="41323" b="41290"/>
          <a:stretch>
            <a:fillRect/>
          </a:stretch>
        </p:blipFill>
        <p:spPr>
          <a:xfrm>
            <a:off x="4918586" y="2637964"/>
            <a:ext cx="2153266" cy="914400"/>
          </a:xfrm>
          <a:prstGeom prst="rect">
            <a:avLst/>
          </a:prstGeom>
          <a:ln w="38100">
            <a:solidFill>
              <a:srgbClr val="FF0000"/>
            </a:solidFill>
          </a:ln>
        </p:spPr>
      </p:pic>
    </p:spTree>
    <p:extLst>
      <p:ext uri="{BB962C8B-B14F-4D97-AF65-F5344CB8AC3E}">
        <p14:creationId xmlns:p14="http://schemas.microsoft.com/office/powerpoint/2010/main" val="3035715777"/>
      </p:ext>
    </p:extLst>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949B3-96AC-4081-760E-9F6FA984C84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49FB33B-0BA2-82B4-3E90-62388A3FCD8F}"/>
              </a:ext>
            </a:extLst>
          </p:cNvPr>
          <p:cNvSpPr txBox="1"/>
          <p:nvPr/>
        </p:nvSpPr>
        <p:spPr>
          <a:xfrm>
            <a:off x="19874" y="1204077"/>
            <a:ext cx="9180786" cy="4549835"/>
          </a:xfrm>
          <a:prstGeom prst="rect">
            <a:avLst/>
          </a:prstGeom>
          <a:solidFill>
            <a:schemeClr val="tx1"/>
          </a:solidFill>
        </p:spPr>
        <p:txBody>
          <a:bodyPr wrap="square">
            <a:spAutoFit/>
          </a:bodyPr>
          <a:lstStyle/>
          <a:p>
            <a:pPr>
              <a:lnSpc>
                <a:spcPct val="150000"/>
              </a:lnSpc>
              <a:buNone/>
            </a:pPr>
            <a:r>
              <a:rPr lang="en-US" sz="2800" b="0" dirty="0">
                <a:solidFill>
                  <a:srgbClr val="C586C0"/>
                </a:solidFill>
                <a:effectLst/>
                <a:latin typeface="Calibir"/>
              </a:rPr>
              <a:t>try</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 </a:t>
            </a:r>
            <a:r>
              <a:rPr lang="en-US" sz="2800" b="0" dirty="0">
                <a:solidFill>
                  <a:srgbClr val="D4D4D4"/>
                </a:solidFill>
                <a:effectLst/>
                <a:latin typeface="Calibir"/>
              </a:rPr>
              <a:t>=</a:t>
            </a:r>
            <a:r>
              <a:rPr lang="en-US" sz="2800" b="0" dirty="0">
                <a:solidFill>
                  <a:srgbClr val="CCCCCC"/>
                </a:solidFill>
                <a:effectLst/>
                <a:latin typeface="Calibir"/>
              </a:rPr>
              <a:t> </a:t>
            </a:r>
            <a:r>
              <a:rPr lang="en-US" sz="2800" b="0" dirty="0">
                <a:solidFill>
                  <a:srgbClr val="B5CEA8"/>
                </a:solidFill>
                <a:effectLst/>
                <a:latin typeface="Calibir"/>
              </a:rPr>
              <a:t>120</a:t>
            </a:r>
            <a:endParaRPr lang="en-US" sz="2800" b="0" dirty="0">
              <a:solidFill>
                <a:srgbClr val="CCCCCC"/>
              </a:solidFill>
              <a:effectLst/>
              <a:latin typeface="Calibir"/>
            </a:endParaRPr>
          </a:p>
          <a:p>
            <a:pPr>
              <a:lnSpc>
                <a:spcPct val="150000"/>
              </a:lnSpc>
              <a:buNone/>
            </a:pPr>
            <a:r>
              <a:rPr lang="en-US" sz="2800" b="0" dirty="0">
                <a:solidFill>
                  <a:srgbClr val="CCCCCC"/>
                </a:solidFill>
                <a:effectLst/>
                <a:latin typeface="Calibir"/>
              </a:rPr>
              <a:t>    </a:t>
            </a:r>
            <a:r>
              <a:rPr lang="en-US" sz="2800" b="0" dirty="0">
                <a:solidFill>
                  <a:srgbClr val="C586C0"/>
                </a:solidFill>
                <a:effectLst/>
                <a:latin typeface="Calibir"/>
              </a:rPr>
              <a:t>if</a:t>
            </a: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 </a:t>
            </a:r>
            <a:r>
              <a:rPr lang="en-US" sz="2800" b="0" dirty="0">
                <a:solidFill>
                  <a:srgbClr val="D4D4D4"/>
                </a:solidFill>
                <a:effectLst/>
                <a:latin typeface="Calibir"/>
              </a:rPr>
              <a:t>&lt;</a:t>
            </a:r>
            <a:r>
              <a:rPr lang="en-US" sz="2800" b="0" dirty="0">
                <a:solidFill>
                  <a:srgbClr val="CCCCCC"/>
                </a:solidFill>
                <a:effectLst/>
                <a:latin typeface="Calibir"/>
              </a:rPr>
              <a:t> </a:t>
            </a:r>
            <a:r>
              <a:rPr lang="en-US" sz="2800" b="0" dirty="0">
                <a:solidFill>
                  <a:srgbClr val="B5CEA8"/>
                </a:solidFill>
                <a:effectLst/>
                <a:latin typeface="Calibir"/>
              </a:rPr>
              <a:t>0</a:t>
            </a:r>
            <a:r>
              <a:rPr lang="en-US" sz="2800" b="0" dirty="0">
                <a:solidFill>
                  <a:srgbClr val="CCCCCC"/>
                </a:solidFill>
                <a:effectLst/>
                <a:latin typeface="Calibir"/>
              </a:rPr>
              <a:t> </a:t>
            </a:r>
            <a:r>
              <a:rPr lang="en-US" sz="2800" b="0" dirty="0">
                <a:solidFill>
                  <a:srgbClr val="569CD6"/>
                </a:solidFill>
                <a:effectLst/>
                <a:latin typeface="Calibir"/>
              </a:rPr>
              <a:t>or</a:t>
            </a: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 </a:t>
            </a:r>
            <a:r>
              <a:rPr lang="en-US" sz="2800" b="0" dirty="0">
                <a:solidFill>
                  <a:srgbClr val="D4D4D4"/>
                </a:solidFill>
                <a:effectLst/>
                <a:latin typeface="Calibir"/>
              </a:rPr>
              <a:t>&gt;</a:t>
            </a:r>
            <a:r>
              <a:rPr lang="en-US" sz="2800" b="0" dirty="0">
                <a:solidFill>
                  <a:srgbClr val="CCCCCC"/>
                </a:solidFill>
                <a:effectLst/>
                <a:latin typeface="Calibir"/>
              </a:rPr>
              <a:t> </a:t>
            </a:r>
            <a:r>
              <a:rPr lang="en-US" sz="2800" b="0" dirty="0">
                <a:solidFill>
                  <a:srgbClr val="B5CEA8"/>
                </a:solidFill>
                <a:effectLst/>
                <a:latin typeface="Calibir"/>
              </a:rPr>
              <a:t>100</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C586C0"/>
                </a:solidFill>
                <a:effectLst/>
                <a:latin typeface="Calibir"/>
              </a:rPr>
              <a:t>raise</a:t>
            </a:r>
            <a:r>
              <a:rPr lang="en-US" sz="2800" b="0" dirty="0">
                <a:solidFill>
                  <a:srgbClr val="CCCCCC"/>
                </a:solidFill>
                <a:effectLst/>
                <a:latin typeface="Calibir"/>
              </a:rPr>
              <a:t> </a:t>
            </a:r>
            <a:r>
              <a:rPr lang="en-US" sz="2800" b="0" dirty="0">
                <a:solidFill>
                  <a:srgbClr val="4EC9B0"/>
                </a:solidFill>
                <a:effectLst/>
                <a:latin typeface="Calibir"/>
              </a:rPr>
              <a:t>ValueError</a:t>
            </a:r>
            <a:r>
              <a:rPr lang="en-US" sz="2800" b="0" dirty="0">
                <a:solidFill>
                  <a:srgbClr val="CCCCCC"/>
                </a:solidFill>
                <a:effectLst/>
                <a:latin typeface="Calibir"/>
              </a:rPr>
              <a:t>(</a:t>
            </a:r>
            <a:r>
              <a:rPr lang="en-US" sz="2800" b="0" dirty="0">
                <a:solidFill>
                  <a:srgbClr val="CE9178"/>
                </a:solidFill>
                <a:effectLst/>
                <a:latin typeface="Calibir"/>
              </a:rPr>
              <a:t>"Mark out of range!"</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DCDCAA"/>
                </a:solidFill>
                <a:effectLst/>
                <a:latin typeface="Calibir"/>
              </a:rPr>
              <a:t>print</a:t>
            </a:r>
            <a:r>
              <a:rPr lang="en-US" sz="2800" b="0" dirty="0">
                <a:solidFill>
                  <a:srgbClr val="CCCCCC"/>
                </a:solidFill>
                <a:effectLst/>
                <a:latin typeface="Calibir"/>
              </a:rPr>
              <a:t>(</a:t>
            </a:r>
            <a:r>
              <a:rPr lang="en-US" sz="2800" b="0" dirty="0">
                <a:solidFill>
                  <a:srgbClr val="CE9178"/>
                </a:solidFill>
                <a:effectLst/>
                <a:latin typeface="Calibir"/>
              </a:rPr>
              <a:t>"Valid mark:"</a:t>
            </a: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a:t>
            </a:r>
          </a:p>
          <a:p>
            <a:pPr>
              <a:lnSpc>
                <a:spcPct val="150000"/>
              </a:lnSpc>
              <a:buNone/>
            </a:pPr>
            <a:r>
              <a:rPr lang="en-US" sz="2800" b="0" dirty="0">
                <a:solidFill>
                  <a:srgbClr val="C586C0"/>
                </a:solidFill>
                <a:effectLst/>
                <a:latin typeface="Calibir"/>
              </a:rPr>
              <a:t>except</a:t>
            </a:r>
            <a:r>
              <a:rPr lang="en-US" sz="2800" b="0" dirty="0">
                <a:solidFill>
                  <a:srgbClr val="CCCCCC"/>
                </a:solidFill>
                <a:effectLst/>
                <a:latin typeface="Calibir"/>
              </a:rPr>
              <a:t> </a:t>
            </a:r>
            <a:r>
              <a:rPr lang="en-US" sz="2800" b="0" dirty="0">
                <a:solidFill>
                  <a:srgbClr val="4EC9B0"/>
                </a:solidFill>
                <a:effectLst/>
                <a:latin typeface="Calibir"/>
              </a:rPr>
              <a:t>ValueError</a:t>
            </a:r>
            <a:r>
              <a:rPr lang="en-US" sz="2800" b="0" dirty="0">
                <a:solidFill>
                  <a:srgbClr val="CCCCCC"/>
                </a:solidFill>
                <a:effectLst/>
                <a:latin typeface="Calibir"/>
              </a:rPr>
              <a:t> </a:t>
            </a:r>
            <a:r>
              <a:rPr lang="en-US" sz="2800" b="0" dirty="0">
                <a:solidFill>
                  <a:srgbClr val="C586C0"/>
                </a:solidFill>
                <a:effectLst/>
                <a:latin typeface="Calibir"/>
              </a:rPr>
              <a:t>as</a:t>
            </a:r>
            <a:r>
              <a:rPr lang="en-US" sz="2800" b="0" dirty="0">
                <a:solidFill>
                  <a:srgbClr val="CCCCCC"/>
                </a:solidFill>
                <a:effectLst/>
                <a:latin typeface="Calibir"/>
              </a:rPr>
              <a:t> </a:t>
            </a:r>
            <a:r>
              <a:rPr lang="en-US" sz="2800" b="0" dirty="0">
                <a:solidFill>
                  <a:srgbClr val="9CDCFE"/>
                </a:solidFill>
                <a:effectLst/>
                <a:latin typeface="Calibir"/>
              </a:rPr>
              <a:t>e</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DCDCAA"/>
                </a:solidFill>
                <a:effectLst/>
                <a:latin typeface="Calibir"/>
              </a:rPr>
              <a:t>print</a:t>
            </a:r>
            <a:r>
              <a:rPr lang="en-US" sz="2800" b="0" dirty="0">
                <a:solidFill>
                  <a:srgbClr val="CCCCCC"/>
                </a:solidFill>
                <a:effectLst/>
                <a:latin typeface="Calibir"/>
              </a:rPr>
              <a:t>(</a:t>
            </a:r>
            <a:r>
              <a:rPr lang="en-US" sz="2800" b="0" dirty="0">
                <a:solidFill>
                  <a:srgbClr val="9CDCFE"/>
                </a:solidFill>
                <a:effectLst/>
                <a:latin typeface="Calibir"/>
              </a:rPr>
              <a:t>e</a:t>
            </a:r>
            <a:r>
              <a:rPr lang="en-US" sz="2800" b="0" dirty="0">
                <a:solidFill>
                  <a:srgbClr val="CCCCCC"/>
                </a:solidFill>
                <a:effectLst/>
                <a:latin typeface="Calibir"/>
              </a:rPr>
              <a:t>)</a:t>
            </a:r>
          </a:p>
        </p:txBody>
      </p:sp>
      <p:sp>
        <p:nvSpPr>
          <p:cNvPr id="11" name="Rectangle: Rounded Corners 10">
            <a:extLst>
              <a:ext uri="{FF2B5EF4-FFF2-40B4-BE49-F238E27FC236}">
                <a16:creationId xmlns:a16="http://schemas.microsoft.com/office/drawing/2014/main" id="{FB6DD625-0BF5-F9BF-F539-C8D9535186FB}"/>
              </a:ext>
            </a:extLst>
          </p:cNvPr>
          <p:cNvSpPr/>
          <p:nvPr/>
        </p:nvSpPr>
        <p:spPr>
          <a:xfrm>
            <a:off x="0" y="1204077"/>
            <a:ext cx="6735985" cy="134414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
            <a:extLst>
              <a:ext uri="{FF2B5EF4-FFF2-40B4-BE49-F238E27FC236}">
                <a16:creationId xmlns:a16="http://schemas.microsoft.com/office/drawing/2014/main" id="{83140285-06EA-838D-5426-F8B40B72A51D}"/>
              </a:ext>
            </a:extLst>
          </p:cNvPr>
          <p:cNvSpPr>
            <a:spLocks noChangeArrowheads="1"/>
          </p:cNvSpPr>
          <p:nvPr/>
        </p:nvSpPr>
        <p:spPr bwMode="auto">
          <a:xfrm>
            <a:off x="6926317" y="1204077"/>
            <a:ext cx="5265683" cy="4549835"/>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try:</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“Try to run this code. If something goes wrong, we’ll handle it.”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mark = 120</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student’s mark (here, 120 as an example).</a:t>
            </a:r>
          </a:p>
        </p:txBody>
      </p:sp>
      <p:sp>
        <p:nvSpPr>
          <p:cNvPr id="3" name="TextBox 2">
            <a:extLst>
              <a:ext uri="{FF2B5EF4-FFF2-40B4-BE49-F238E27FC236}">
                <a16:creationId xmlns:a16="http://schemas.microsoft.com/office/drawing/2014/main" id="{41EA022C-0F0D-D120-16C6-7200F58FEB04}"/>
              </a:ext>
            </a:extLst>
          </p:cNvPr>
          <p:cNvSpPr txBox="1"/>
          <p:nvPr/>
        </p:nvSpPr>
        <p:spPr>
          <a:xfrm>
            <a:off x="19874" y="14748"/>
            <a:ext cx="3259394" cy="523220"/>
          </a:xfrm>
          <a:prstGeom prst="rect">
            <a:avLst/>
          </a:prstGeom>
          <a:solidFill>
            <a:schemeClr val="bg1"/>
          </a:solidFill>
          <a:ln w="38100">
            <a:solidFill>
              <a:srgbClr val="FF0000"/>
            </a:solidFill>
          </a:ln>
        </p:spPr>
        <p:txBody>
          <a:bodyPr wrap="square" rtlCol="0">
            <a:spAutoFit/>
          </a:bodyPr>
          <a:lstStyle/>
          <a:p>
            <a:r>
              <a:rPr lang="en-US" sz="2800" dirty="0">
                <a:latin typeface="Calibir"/>
              </a:rPr>
              <a:t>Python Solution</a:t>
            </a:r>
          </a:p>
        </p:txBody>
      </p:sp>
    </p:spTree>
    <p:extLst>
      <p:ext uri="{BB962C8B-B14F-4D97-AF65-F5344CB8AC3E}">
        <p14:creationId xmlns:p14="http://schemas.microsoft.com/office/powerpoint/2010/main" val="11985417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EDE8A-89C6-3870-5D7C-239C1BCD49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3C838C-03D4-B11E-67DD-B66948B811C4}"/>
              </a:ext>
            </a:extLst>
          </p:cNvPr>
          <p:cNvSpPr txBox="1"/>
          <p:nvPr/>
        </p:nvSpPr>
        <p:spPr>
          <a:xfrm>
            <a:off x="0" y="0"/>
            <a:ext cx="10736826" cy="4549835"/>
          </a:xfrm>
          <a:prstGeom prst="rect">
            <a:avLst/>
          </a:prstGeom>
          <a:solidFill>
            <a:schemeClr val="tx1"/>
          </a:solidFill>
        </p:spPr>
        <p:txBody>
          <a:bodyPr wrap="square">
            <a:spAutoFit/>
          </a:bodyPr>
          <a:lstStyle/>
          <a:p>
            <a:pPr>
              <a:lnSpc>
                <a:spcPct val="150000"/>
              </a:lnSpc>
              <a:buNone/>
            </a:pPr>
            <a:r>
              <a:rPr lang="en-US" sz="2800" b="0" dirty="0">
                <a:solidFill>
                  <a:srgbClr val="C586C0"/>
                </a:solidFill>
                <a:effectLst/>
                <a:latin typeface="Calibir"/>
              </a:rPr>
              <a:t>try</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 </a:t>
            </a:r>
            <a:r>
              <a:rPr lang="en-US" sz="2800" b="0" dirty="0">
                <a:solidFill>
                  <a:srgbClr val="D4D4D4"/>
                </a:solidFill>
                <a:effectLst/>
                <a:latin typeface="Calibir"/>
              </a:rPr>
              <a:t>=</a:t>
            </a:r>
            <a:r>
              <a:rPr lang="en-US" sz="2800" b="0" dirty="0">
                <a:solidFill>
                  <a:srgbClr val="CCCCCC"/>
                </a:solidFill>
                <a:effectLst/>
                <a:latin typeface="Calibir"/>
              </a:rPr>
              <a:t> </a:t>
            </a:r>
            <a:r>
              <a:rPr lang="en-US" sz="2800" b="0" dirty="0">
                <a:solidFill>
                  <a:srgbClr val="B5CEA8"/>
                </a:solidFill>
                <a:effectLst/>
                <a:latin typeface="Calibir"/>
              </a:rPr>
              <a:t>120</a:t>
            </a:r>
            <a:endParaRPr lang="en-US" sz="2800" b="0" dirty="0">
              <a:solidFill>
                <a:srgbClr val="CCCCCC"/>
              </a:solidFill>
              <a:effectLst/>
              <a:latin typeface="Calibir"/>
            </a:endParaRPr>
          </a:p>
          <a:p>
            <a:pPr>
              <a:lnSpc>
                <a:spcPct val="150000"/>
              </a:lnSpc>
              <a:buNone/>
            </a:pPr>
            <a:r>
              <a:rPr lang="en-US" sz="2800" b="0" dirty="0">
                <a:solidFill>
                  <a:srgbClr val="CCCCCC"/>
                </a:solidFill>
                <a:effectLst/>
                <a:latin typeface="Calibir"/>
              </a:rPr>
              <a:t>    </a:t>
            </a:r>
            <a:r>
              <a:rPr lang="en-US" sz="2800" b="0" dirty="0">
                <a:solidFill>
                  <a:srgbClr val="C586C0"/>
                </a:solidFill>
                <a:effectLst/>
                <a:latin typeface="Calibir"/>
              </a:rPr>
              <a:t>if</a:t>
            </a: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 </a:t>
            </a:r>
            <a:r>
              <a:rPr lang="en-US" sz="2800" b="0" dirty="0">
                <a:solidFill>
                  <a:srgbClr val="D4D4D4"/>
                </a:solidFill>
                <a:effectLst/>
                <a:latin typeface="Calibir"/>
              </a:rPr>
              <a:t>&lt;</a:t>
            </a:r>
            <a:r>
              <a:rPr lang="en-US" sz="2800" b="0" dirty="0">
                <a:solidFill>
                  <a:srgbClr val="CCCCCC"/>
                </a:solidFill>
                <a:effectLst/>
                <a:latin typeface="Calibir"/>
              </a:rPr>
              <a:t> </a:t>
            </a:r>
            <a:r>
              <a:rPr lang="en-US" sz="2800" b="0" dirty="0">
                <a:solidFill>
                  <a:srgbClr val="B5CEA8"/>
                </a:solidFill>
                <a:effectLst/>
                <a:latin typeface="Calibir"/>
              </a:rPr>
              <a:t>0</a:t>
            </a:r>
            <a:r>
              <a:rPr lang="en-US" sz="2800" b="0" dirty="0">
                <a:solidFill>
                  <a:srgbClr val="CCCCCC"/>
                </a:solidFill>
                <a:effectLst/>
                <a:latin typeface="Calibir"/>
              </a:rPr>
              <a:t> </a:t>
            </a:r>
            <a:r>
              <a:rPr lang="en-US" sz="2800" b="0" dirty="0">
                <a:solidFill>
                  <a:srgbClr val="569CD6"/>
                </a:solidFill>
                <a:effectLst/>
                <a:latin typeface="Calibir"/>
              </a:rPr>
              <a:t>or</a:t>
            </a: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 </a:t>
            </a:r>
            <a:r>
              <a:rPr lang="en-US" sz="2800" b="0" dirty="0">
                <a:solidFill>
                  <a:srgbClr val="D4D4D4"/>
                </a:solidFill>
                <a:effectLst/>
                <a:latin typeface="Calibir"/>
              </a:rPr>
              <a:t>&gt;</a:t>
            </a:r>
            <a:r>
              <a:rPr lang="en-US" sz="2800" b="0" dirty="0">
                <a:solidFill>
                  <a:srgbClr val="CCCCCC"/>
                </a:solidFill>
                <a:effectLst/>
                <a:latin typeface="Calibir"/>
              </a:rPr>
              <a:t> </a:t>
            </a:r>
            <a:r>
              <a:rPr lang="en-US" sz="2800" b="0" dirty="0">
                <a:solidFill>
                  <a:srgbClr val="B5CEA8"/>
                </a:solidFill>
                <a:effectLst/>
                <a:latin typeface="Calibir"/>
              </a:rPr>
              <a:t>100</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C586C0"/>
                </a:solidFill>
                <a:effectLst/>
                <a:latin typeface="Calibir"/>
              </a:rPr>
              <a:t>raise</a:t>
            </a:r>
            <a:r>
              <a:rPr lang="en-US" sz="2800" b="0" dirty="0">
                <a:solidFill>
                  <a:srgbClr val="CCCCCC"/>
                </a:solidFill>
                <a:effectLst/>
                <a:latin typeface="Calibir"/>
              </a:rPr>
              <a:t> </a:t>
            </a:r>
            <a:r>
              <a:rPr lang="en-US" sz="2800" b="0" dirty="0">
                <a:solidFill>
                  <a:srgbClr val="4EC9B0"/>
                </a:solidFill>
                <a:effectLst/>
                <a:latin typeface="Calibir"/>
              </a:rPr>
              <a:t>ValueError</a:t>
            </a:r>
            <a:r>
              <a:rPr lang="en-US" sz="2800" b="0" dirty="0">
                <a:solidFill>
                  <a:srgbClr val="CCCCCC"/>
                </a:solidFill>
                <a:effectLst/>
                <a:latin typeface="Calibir"/>
              </a:rPr>
              <a:t>(</a:t>
            </a:r>
            <a:r>
              <a:rPr lang="en-US" sz="2800" b="0" dirty="0">
                <a:solidFill>
                  <a:srgbClr val="CE9178"/>
                </a:solidFill>
                <a:effectLst/>
                <a:latin typeface="Calibir"/>
              </a:rPr>
              <a:t>"Mark out of range!"</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DCDCAA"/>
                </a:solidFill>
                <a:effectLst/>
                <a:latin typeface="Calibir"/>
              </a:rPr>
              <a:t>print</a:t>
            </a:r>
            <a:r>
              <a:rPr lang="en-US" sz="2800" b="0" dirty="0">
                <a:solidFill>
                  <a:srgbClr val="CCCCCC"/>
                </a:solidFill>
                <a:effectLst/>
                <a:latin typeface="Calibir"/>
              </a:rPr>
              <a:t>(</a:t>
            </a:r>
            <a:r>
              <a:rPr lang="en-US" sz="2800" b="0" dirty="0">
                <a:solidFill>
                  <a:srgbClr val="CE9178"/>
                </a:solidFill>
                <a:effectLst/>
                <a:latin typeface="Calibir"/>
              </a:rPr>
              <a:t>"Valid mark:"</a:t>
            </a: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a:t>
            </a:r>
          </a:p>
          <a:p>
            <a:pPr>
              <a:lnSpc>
                <a:spcPct val="150000"/>
              </a:lnSpc>
              <a:buNone/>
            </a:pPr>
            <a:r>
              <a:rPr lang="en-US" sz="2800" b="0" dirty="0">
                <a:solidFill>
                  <a:srgbClr val="C586C0"/>
                </a:solidFill>
                <a:effectLst/>
                <a:latin typeface="Calibir"/>
              </a:rPr>
              <a:t>except</a:t>
            </a:r>
            <a:r>
              <a:rPr lang="en-US" sz="2800" b="0" dirty="0">
                <a:solidFill>
                  <a:srgbClr val="CCCCCC"/>
                </a:solidFill>
                <a:effectLst/>
                <a:latin typeface="Calibir"/>
              </a:rPr>
              <a:t> </a:t>
            </a:r>
            <a:r>
              <a:rPr lang="en-US" sz="2800" b="0" dirty="0">
                <a:solidFill>
                  <a:srgbClr val="4EC9B0"/>
                </a:solidFill>
                <a:effectLst/>
                <a:latin typeface="Calibir"/>
              </a:rPr>
              <a:t>ValueError</a:t>
            </a:r>
            <a:r>
              <a:rPr lang="en-US" sz="2800" b="0" dirty="0">
                <a:solidFill>
                  <a:srgbClr val="CCCCCC"/>
                </a:solidFill>
                <a:effectLst/>
                <a:latin typeface="Calibir"/>
              </a:rPr>
              <a:t> </a:t>
            </a:r>
            <a:r>
              <a:rPr lang="en-US" sz="2800" b="0" dirty="0">
                <a:solidFill>
                  <a:srgbClr val="C586C0"/>
                </a:solidFill>
                <a:effectLst/>
                <a:latin typeface="Calibir"/>
              </a:rPr>
              <a:t>as</a:t>
            </a:r>
            <a:r>
              <a:rPr lang="en-US" sz="2800" b="0" dirty="0">
                <a:solidFill>
                  <a:srgbClr val="CCCCCC"/>
                </a:solidFill>
                <a:effectLst/>
                <a:latin typeface="Calibir"/>
              </a:rPr>
              <a:t> </a:t>
            </a:r>
            <a:r>
              <a:rPr lang="en-US" sz="2800" b="0" dirty="0">
                <a:solidFill>
                  <a:srgbClr val="9CDCFE"/>
                </a:solidFill>
                <a:effectLst/>
                <a:latin typeface="Calibir"/>
              </a:rPr>
              <a:t>e</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DCDCAA"/>
                </a:solidFill>
                <a:effectLst/>
                <a:latin typeface="Calibir"/>
              </a:rPr>
              <a:t>print</a:t>
            </a:r>
            <a:r>
              <a:rPr lang="en-US" sz="2800" b="0" dirty="0">
                <a:solidFill>
                  <a:srgbClr val="CCCCCC"/>
                </a:solidFill>
                <a:effectLst/>
                <a:latin typeface="Calibir"/>
              </a:rPr>
              <a:t>(</a:t>
            </a:r>
            <a:r>
              <a:rPr lang="en-US" sz="2800" b="0" dirty="0">
                <a:solidFill>
                  <a:srgbClr val="9CDCFE"/>
                </a:solidFill>
                <a:effectLst/>
                <a:latin typeface="Calibir"/>
              </a:rPr>
              <a:t>e</a:t>
            </a:r>
            <a:r>
              <a:rPr lang="en-US" sz="2800" b="0" dirty="0">
                <a:solidFill>
                  <a:srgbClr val="CCCCCC"/>
                </a:solidFill>
                <a:effectLst/>
                <a:latin typeface="Calibir"/>
              </a:rPr>
              <a:t>)</a:t>
            </a:r>
          </a:p>
        </p:txBody>
      </p:sp>
      <p:sp>
        <p:nvSpPr>
          <p:cNvPr id="3" name="TextBox 2">
            <a:extLst>
              <a:ext uri="{FF2B5EF4-FFF2-40B4-BE49-F238E27FC236}">
                <a16:creationId xmlns:a16="http://schemas.microsoft.com/office/drawing/2014/main" id="{14C8D701-B265-A2C7-A58F-A696BD3DB577}"/>
              </a:ext>
            </a:extLst>
          </p:cNvPr>
          <p:cNvSpPr txBox="1"/>
          <p:nvPr/>
        </p:nvSpPr>
        <p:spPr>
          <a:xfrm>
            <a:off x="6592528" y="0"/>
            <a:ext cx="5559725" cy="6488828"/>
          </a:xfrm>
          <a:prstGeom prst="rect">
            <a:avLst/>
          </a:prstGeom>
          <a:solidFill>
            <a:schemeClr val="bg1"/>
          </a:solidFill>
          <a:ln>
            <a:solidFill>
              <a:srgbClr val="FF0000"/>
            </a:solidFill>
          </a:ln>
        </p:spPr>
        <p:txBody>
          <a:bodyPr wrap="square">
            <a:spAutoFit/>
          </a:bodyPr>
          <a:lstStyle/>
          <a:p>
            <a:pPr marL="457200" indent="-457200">
              <a:lnSpc>
                <a:spcPct val="150000"/>
              </a:lnSpc>
              <a:buFont typeface="Arial" panose="020B0604020202020204" pitchFamily="34" charset="0"/>
              <a:buChar char="•"/>
            </a:pPr>
            <a:r>
              <a:rPr lang="en-US" sz="2800" dirty="0">
                <a:latin typeface="Calibir"/>
              </a:rPr>
              <a:t>Condition: If the mark is less than 0 or greater than 100…</a:t>
            </a:r>
          </a:p>
          <a:p>
            <a:pPr marL="457200" indent="-457200">
              <a:lnSpc>
                <a:spcPct val="150000"/>
              </a:lnSpc>
              <a:buFont typeface="Arial" panose="020B0604020202020204" pitchFamily="34" charset="0"/>
              <a:buChar char="•"/>
            </a:pPr>
            <a:r>
              <a:rPr lang="en-US" sz="2800" dirty="0">
                <a:latin typeface="Calibir"/>
              </a:rPr>
              <a:t>raise InvalidMarkException("Mark out of range!")</a:t>
            </a:r>
          </a:p>
          <a:p>
            <a:pPr marL="914400" lvl="1" indent="-457200">
              <a:lnSpc>
                <a:spcPct val="150000"/>
              </a:lnSpc>
              <a:buFont typeface="Arial" panose="020B0604020202020204" pitchFamily="34" charset="0"/>
              <a:buChar char="•"/>
            </a:pPr>
            <a:r>
              <a:rPr lang="en-US" sz="2800" dirty="0">
                <a:latin typeface="Calibir"/>
              </a:rPr>
              <a:t>“Raise” (throw) the custom exception with a message.</a:t>
            </a:r>
          </a:p>
          <a:p>
            <a:pPr>
              <a:lnSpc>
                <a:spcPct val="150000"/>
              </a:lnSpc>
              <a:buNone/>
            </a:pPr>
            <a:r>
              <a:rPr lang="en-US" sz="2800" dirty="0">
                <a:latin typeface="Calibir"/>
              </a:rPr>
              <a:t>Otherwise, it will display Valid mark and shows the content of mark.</a:t>
            </a:r>
          </a:p>
          <a:p>
            <a:pPr>
              <a:lnSpc>
                <a:spcPct val="150000"/>
              </a:lnSpc>
              <a:buNone/>
            </a:pPr>
            <a:r>
              <a:rPr lang="en-US" sz="2800" dirty="0">
                <a:latin typeface="Calibir"/>
              </a:rPr>
              <a:t>In Java this would be throw new InvalidMarkException("...").</a:t>
            </a:r>
          </a:p>
        </p:txBody>
      </p:sp>
      <p:sp>
        <p:nvSpPr>
          <p:cNvPr id="5" name="Rectangle: Rounded Corners 4">
            <a:extLst>
              <a:ext uri="{FF2B5EF4-FFF2-40B4-BE49-F238E27FC236}">
                <a16:creationId xmlns:a16="http://schemas.microsoft.com/office/drawing/2014/main" id="{D528A973-D0C5-FA81-B023-9E1B7FF4E209}"/>
              </a:ext>
            </a:extLst>
          </p:cNvPr>
          <p:cNvSpPr/>
          <p:nvPr/>
        </p:nvSpPr>
        <p:spPr>
          <a:xfrm>
            <a:off x="1" y="1204076"/>
            <a:ext cx="6592528" cy="222492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0047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65D46-F726-2FB5-3FB7-DF85792536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A5E238-19FA-F6AA-6608-0F0795FE0C92}"/>
              </a:ext>
            </a:extLst>
          </p:cNvPr>
          <p:cNvSpPr txBox="1"/>
          <p:nvPr/>
        </p:nvSpPr>
        <p:spPr>
          <a:xfrm>
            <a:off x="-1" y="0"/>
            <a:ext cx="10736826" cy="4549835"/>
          </a:xfrm>
          <a:prstGeom prst="rect">
            <a:avLst/>
          </a:prstGeom>
          <a:solidFill>
            <a:schemeClr val="tx1"/>
          </a:solidFill>
        </p:spPr>
        <p:txBody>
          <a:bodyPr wrap="square">
            <a:spAutoFit/>
          </a:bodyPr>
          <a:lstStyle/>
          <a:p>
            <a:pPr>
              <a:lnSpc>
                <a:spcPct val="150000"/>
              </a:lnSpc>
              <a:buNone/>
            </a:pPr>
            <a:r>
              <a:rPr lang="en-US" sz="2800" b="0" dirty="0">
                <a:solidFill>
                  <a:srgbClr val="C586C0"/>
                </a:solidFill>
                <a:effectLst/>
                <a:latin typeface="Calibir"/>
              </a:rPr>
              <a:t>try</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 </a:t>
            </a:r>
            <a:r>
              <a:rPr lang="en-US" sz="2800" b="0" dirty="0">
                <a:solidFill>
                  <a:srgbClr val="D4D4D4"/>
                </a:solidFill>
                <a:effectLst/>
                <a:latin typeface="Calibir"/>
              </a:rPr>
              <a:t>=</a:t>
            </a:r>
            <a:r>
              <a:rPr lang="en-US" sz="2800" b="0" dirty="0">
                <a:solidFill>
                  <a:srgbClr val="CCCCCC"/>
                </a:solidFill>
                <a:effectLst/>
                <a:latin typeface="Calibir"/>
              </a:rPr>
              <a:t> </a:t>
            </a:r>
            <a:r>
              <a:rPr lang="en-US" sz="2800" b="0" dirty="0">
                <a:solidFill>
                  <a:srgbClr val="B5CEA8"/>
                </a:solidFill>
                <a:effectLst/>
                <a:latin typeface="Calibir"/>
              </a:rPr>
              <a:t>120</a:t>
            </a:r>
            <a:endParaRPr lang="en-US" sz="2800" b="0" dirty="0">
              <a:solidFill>
                <a:srgbClr val="CCCCCC"/>
              </a:solidFill>
              <a:effectLst/>
              <a:latin typeface="Calibir"/>
            </a:endParaRPr>
          </a:p>
          <a:p>
            <a:pPr>
              <a:lnSpc>
                <a:spcPct val="150000"/>
              </a:lnSpc>
              <a:buNone/>
            </a:pPr>
            <a:r>
              <a:rPr lang="en-US" sz="2800" b="0" dirty="0">
                <a:solidFill>
                  <a:srgbClr val="CCCCCC"/>
                </a:solidFill>
                <a:effectLst/>
                <a:latin typeface="Calibir"/>
              </a:rPr>
              <a:t>    </a:t>
            </a:r>
            <a:r>
              <a:rPr lang="en-US" sz="2800" b="0" dirty="0">
                <a:solidFill>
                  <a:srgbClr val="C586C0"/>
                </a:solidFill>
                <a:effectLst/>
                <a:latin typeface="Calibir"/>
              </a:rPr>
              <a:t>if</a:t>
            </a: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 </a:t>
            </a:r>
            <a:r>
              <a:rPr lang="en-US" sz="2800" b="0" dirty="0">
                <a:solidFill>
                  <a:srgbClr val="D4D4D4"/>
                </a:solidFill>
                <a:effectLst/>
                <a:latin typeface="Calibir"/>
              </a:rPr>
              <a:t>&lt;</a:t>
            </a:r>
            <a:r>
              <a:rPr lang="en-US" sz="2800" b="0" dirty="0">
                <a:solidFill>
                  <a:srgbClr val="CCCCCC"/>
                </a:solidFill>
                <a:effectLst/>
                <a:latin typeface="Calibir"/>
              </a:rPr>
              <a:t> </a:t>
            </a:r>
            <a:r>
              <a:rPr lang="en-US" sz="2800" b="0" dirty="0">
                <a:solidFill>
                  <a:srgbClr val="B5CEA8"/>
                </a:solidFill>
                <a:effectLst/>
                <a:latin typeface="Calibir"/>
              </a:rPr>
              <a:t>0</a:t>
            </a:r>
            <a:r>
              <a:rPr lang="en-US" sz="2800" b="0" dirty="0">
                <a:solidFill>
                  <a:srgbClr val="CCCCCC"/>
                </a:solidFill>
                <a:effectLst/>
                <a:latin typeface="Calibir"/>
              </a:rPr>
              <a:t> </a:t>
            </a:r>
            <a:r>
              <a:rPr lang="en-US" sz="2800" b="0" dirty="0">
                <a:solidFill>
                  <a:srgbClr val="569CD6"/>
                </a:solidFill>
                <a:effectLst/>
                <a:latin typeface="Calibir"/>
              </a:rPr>
              <a:t>or</a:t>
            </a: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 </a:t>
            </a:r>
            <a:r>
              <a:rPr lang="en-US" sz="2800" b="0" dirty="0">
                <a:solidFill>
                  <a:srgbClr val="D4D4D4"/>
                </a:solidFill>
                <a:effectLst/>
                <a:latin typeface="Calibir"/>
              </a:rPr>
              <a:t>&gt;</a:t>
            </a:r>
            <a:r>
              <a:rPr lang="en-US" sz="2800" b="0" dirty="0">
                <a:solidFill>
                  <a:srgbClr val="CCCCCC"/>
                </a:solidFill>
                <a:effectLst/>
                <a:latin typeface="Calibir"/>
              </a:rPr>
              <a:t> </a:t>
            </a:r>
            <a:r>
              <a:rPr lang="en-US" sz="2800" b="0" dirty="0">
                <a:solidFill>
                  <a:srgbClr val="B5CEA8"/>
                </a:solidFill>
                <a:effectLst/>
                <a:latin typeface="Calibir"/>
              </a:rPr>
              <a:t>100</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C586C0"/>
                </a:solidFill>
                <a:effectLst/>
                <a:latin typeface="Calibir"/>
              </a:rPr>
              <a:t>raise</a:t>
            </a:r>
            <a:r>
              <a:rPr lang="en-US" sz="2800" b="0" dirty="0">
                <a:solidFill>
                  <a:srgbClr val="CCCCCC"/>
                </a:solidFill>
                <a:effectLst/>
                <a:latin typeface="Calibir"/>
              </a:rPr>
              <a:t> </a:t>
            </a:r>
            <a:r>
              <a:rPr lang="en-US" sz="2800" b="0" dirty="0">
                <a:solidFill>
                  <a:srgbClr val="4EC9B0"/>
                </a:solidFill>
                <a:effectLst/>
                <a:latin typeface="Calibir"/>
              </a:rPr>
              <a:t>ValueError</a:t>
            </a:r>
            <a:r>
              <a:rPr lang="en-US" sz="2800" b="0" dirty="0">
                <a:solidFill>
                  <a:srgbClr val="CCCCCC"/>
                </a:solidFill>
                <a:effectLst/>
                <a:latin typeface="Calibir"/>
              </a:rPr>
              <a:t>(</a:t>
            </a:r>
            <a:r>
              <a:rPr lang="en-US" sz="2800" b="0" dirty="0">
                <a:solidFill>
                  <a:srgbClr val="CE9178"/>
                </a:solidFill>
                <a:effectLst/>
                <a:latin typeface="Calibir"/>
              </a:rPr>
              <a:t>"Mark out of range!"</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DCDCAA"/>
                </a:solidFill>
                <a:effectLst/>
                <a:latin typeface="Calibir"/>
              </a:rPr>
              <a:t>print</a:t>
            </a:r>
            <a:r>
              <a:rPr lang="en-US" sz="2800" b="0" dirty="0">
                <a:solidFill>
                  <a:srgbClr val="CCCCCC"/>
                </a:solidFill>
                <a:effectLst/>
                <a:latin typeface="Calibir"/>
              </a:rPr>
              <a:t>(</a:t>
            </a:r>
            <a:r>
              <a:rPr lang="en-US" sz="2800" b="0" dirty="0">
                <a:solidFill>
                  <a:srgbClr val="CE9178"/>
                </a:solidFill>
                <a:effectLst/>
                <a:latin typeface="Calibir"/>
              </a:rPr>
              <a:t>"Valid mark:"</a:t>
            </a:r>
            <a:r>
              <a:rPr lang="en-US" sz="2800" b="0" dirty="0">
                <a:solidFill>
                  <a:srgbClr val="CCCCCC"/>
                </a:solidFill>
                <a:effectLst/>
                <a:latin typeface="Calibir"/>
              </a:rPr>
              <a:t>, </a:t>
            </a:r>
            <a:r>
              <a:rPr lang="en-US" sz="2800" b="0" dirty="0">
                <a:solidFill>
                  <a:srgbClr val="9CDCFE"/>
                </a:solidFill>
                <a:effectLst/>
                <a:latin typeface="Calibir"/>
              </a:rPr>
              <a:t>mark</a:t>
            </a:r>
            <a:r>
              <a:rPr lang="en-US" sz="2800" b="0" dirty="0">
                <a:solidFill>
                  <a:srgbClr val="CCCCCC"/>
                </a:solidFill>
                <a:effectLst/>
                <a:latin typeface="Calibir"/>
              </a:rPr>
              <a:t>)</a:t>
            </a:r>
          </a:p>
          <a:p>
            <a:pPr>
              <a:lnSpc>
                <a:spcPct val="150000"/>
              </a:lnSpc>
              <a:buNone/>
            </a:pPr>
            <a:r>
              <a:rPr lang="en-US" sz="2800" b="0" dirty="0">
                <a:solidFill>
                  <a:srgbClr val="C586C0"/>
                </a:solidFill>
                <a:effectLst/>
                <a:latin typeface="Calibir"/>
              </a:rPr>
              <a:t>except</a:t>
            </a:r>
            <a:r>
              <a:rPr lang="en-US" sz="2800" b="0" dirty="0">
                <a:solidFill>
                  <a:srgbClr val="CCCCCC"/>
                </a:solidFill>
                <a:effectLst/>
                <a:latin typeface="Calibir"/>
              </a:rPr>
              <a:t> </a:t>
            </a:r>
            <a:r>
              <a:rPr lang="en-US" sz="2800" b="0" dirty="0">
                <a:solidFill>
                  <a:srgbClr val="4EC9B0"/>
                </a:solidFill>
                <a:effectLst/>
                <a:latin typeface="Calibir"/>
              </a:rPr>
              <a:t>ValueError</a:t>
            </a:r>
            <a:r>
              <a:rPr lang="en-US" sz="2800" b="0" dirty="0">
                <a:solidFill>
                  <a:srgbClr val="CCCCCC"/>
                </a:solidFill>
                <a:effectLst/>
                <a:latin typeface="Calibir"/>
              </a:rPr>
              <a:t> </a:t>
            </a:r>
            <a:r>
              <a:rPr lang="en-US" sz="2800" b="0" dirty="0">
                <a:solidFill>
                  <a:srgbClr val="C586C0"/>
                </a:solidFill>
                <a:effectLst/>
                <a:latin typeface="Calibir"/>
              </a:rPr>
              <a:t>as</a:t>
            </a:r>
            <a:r>
              <a:rPr lang="en-US" sz="2800" b="0" dirty="0">
                <a:solidFill>
                  <a:srgbClr val="CCCCCC"/>
                </a:solidFill>
                <a:effectLst/>
                <a:latin typeface="Calibir"/>
              </a:rPr>
              <a:t> </a:t>
            </a:r>
            <a:r>
              <a:rPr lang="en-US" sz="2800" b="0" dirty="0">
                <a:solidFill>
                  <a:srgbClr val="9CDCFE"/>
                </a:solidFill>
                <a:effectLst/>
                <a:latin typeface="Calibir"/>
              </a:rPr>
              <a:t>e</a:t>
            </a:r>
            <a:r>
              <a:rPr lang="en-US" sz="2800" b="0" dirty="0">
                <a:solidFill>
                  <a:srgbClr val="CCCCCC"/>
                </a:solidFill>
                <a:effectLst/>
                <a:latin typeface="Calibir"/>
              </a:rPr>
              <a:t>:</a:t>
            </a:r>
          </a:p>
          <a:p>
            <a:pPr>
              <a:lnSpc>
                <a:spcPct val="150000"/>
              </a:lnSpc>
              <a:buNone/>
            </a:pPr>
            <a:r>
              <a:rPr lang="en-US" sz="2800" b="0" dirty="0">
                <a:solidFill>
                  <a:srgbClr val="CCCCCC"/>
                </a:solidFill>
                <a:effectLst/>
                <a:latin typeface="Calibir"/>
              </a:rPr>
              <a:t>    </a:t>
            </a:r>
            <a:r>
              <a:rPr lang="en-US" sz="2800" b="0" dirty="0">
                <a:solidFill>
                  <a:srgbClr val="DCDCAA"/>
                </a:solidFill>
                <a:effectLst/>
                <a:latin typeface="Calibir"/>
              </a:rPr>
              <a:t>print</a:t>
            </a:r>
            <a:r>
              <a:rPr lang="en-US" sz="2800" b="0" dirty="0">
                <a:solidFill>
                  <a:srgbClr val="CCCCCC"/>
                </a:solidFill>
                <a:effectLst/>
                <a:latin typeface="Calibir"/>
              </a:rPr>
              <a:t>(</a:t>
            </a:r>
            <a:r>
              <a:rPr lang="en-US" sz="2800" b="0" dirty="0">
                <a:solidFill>
                  <a:srgbClr val="9CDCFE"/>
                </a:solidFill>
                <a:effectLst/>
                <a:latin typeface="Calibir"/>
              </a:rPr>
              <a:t>e</a:t>
            </a:r>
            <a:r>
              <a:rPr lang="en-US" sz="2800" b="0" dirty="0">
                <a:solidFill>
                  <a:srgbClr val="CCCCCC"/>
                </a:solidFill>
                <a:effectLst/>
                <a:latin typeface="Calibir"/>
              </a:rPr>
              <a:t>)</a:t>
            </a:r>
          </a:p>
        </p:txBody>
      </p:sp>
      <p:sp>
        <p:nvSpPr>
          <p:cNvPr id="3" name="TextBox 2">
            <a:extLst>
              <a:ext uri="{FF2B5EF4-FFF2-40B4-BE49-F238E27FC236}">
                <a16:creationId xmlns:a16="http://schemas.microsoft.com/office/drawing/2014/main" id="{59950B11-A3F4-B810-A5B0-E65D67416FBF}"/>
              </a:ext>
            </a:extLst>
          </p:cNvPr>
          <p:cNvSpPr txBox="1"/>
          <p:nvPr/>
        </p:nvSpPr>
        <p:spPr>
          <a:xfrm>
            <a:off x="6307498" y="1744505"/>
            <a:ext cx="5884502" cy="5196166"/>
          </a:xfrm>
          <a:prstGeom prst="rect">
            <a:avLst/>
          </a:prstGeom>
          <a:solidFill>
            <a:schemeClr val="bg1"/>
          </a:solidFill>
          <a:ln>
            <a:solidFill>
              <a:srgbClr val="FF0000"/>
            </a:solidFill>
          </a:ln>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except ... as e:</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This catches the custom error if it happens.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 holds the error object.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print(e)</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Prints the error message we passed (e.g., </a:t>
            </a:r>
            <a:r>
              <a:rPr lang="en-US" altLang="en-US" sz="2800" i="1" dirty="0">
                <a:latin typeface="Calibir"/>
              </a:rPr>
              <a:t>"Mark out of range!"</a:t>
            </a:r>
            <a:r>
              <a:rPr lang="en-US" altLang="en-US" sz="2800" dirty="0">
                <a:latin typeface="Calibir"/>
              </a:rPr>
              <a:t>).</a:t>
            </a:r>
          </a:p>
        </p:txBody>
      </p:sp>
      <p:sp>
        <p:nvSpPr>
          <p:cNvPr id="5" name="Rectangle: Rounded Corners 4">
            <a:extLst>
              <a:ext uri="{FF2B5EF4-FFF2-40B4-BE49-F238E27FC236}">
                <a16:creationId xmlns:a16="http://schemas.microsoft.com/office/drawing/2014/main" id="{D7BD90B1-E651-6545-A70A-4F3B0EDEC736}"/>
              </a:ext>
            </a:extLst>
          </p:cNvPr>
          <p:cNvSpPr/>
          <p:nvPr/>
        </p:nvSpPr>
        <p:spPr>
          <a:xfrm>
            <a:off x="9938" y="3160350"/>
            <a:ext cx="5874565" cy="138948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56425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90E8D-906B-CE08-06C2-473C2B507CE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5A3BFEF-1CF6-FA2A-1EB4-8938F3D7989B}"/>
              </a:ext>
            </a:extLst>
          </p:cNvPr>
          <p:cNvSpPr txBox="1"/>
          <p:nvPr/>
        </p:nvSpPr>
        <p:spPr>
          <a:xfrm>
            <a:off x="7449015" y="-73739"/>
            <a:ext cx="4742985" cy="6957674"/>
          </a:xfrm>
          <a:prstGeom prst="rect">
            <a:avLst/>
          </a:prstGeom>
          <a:solidFill>
            <a:schemeClr val="bg1"/>
          </a:solidFill>
          <a:ln>
            <a:solidFill>
              <a:srgbClr val="FF0000"/>
            </a:solidFill>
          </a:ln>
        </p:spPr>
        <p:txBody>
          <a:bodyPr wrap="square">
            <a:spAutoFit/>
          </a:bodyPr>
          <a:lstStyle/>
          <a:p>
            <a:pPr>
              <a:lnSpc>
                <a:spcPct val="150000"/>
              </a:lnSpc>
              <a:buNone/>
            </a:pPr>
            <a:r>
              <a:rPr lang="en-US" sz="2500" dirty="0">
                <a:latin typeface="Calibir"/>
              </a:rPr>
              <a:t>This creates a custom exception called InvalidMarkException.</a:t>
            </a:r>
          </a:p>
          <a:p>
            <a:pPr marL="342900" indent="-342900">
              <a:lnSpc>
                <a:spcPct val="150000"/>
              </a:lnSpc>
              <a:buFont typeface="Arial" panose="020B0604020202020204" pitchFamily="34" charset="0"/>
              <a:buChar char="•"/>
            </a:pPr>
            <a:r>
              <a:rPr lang="en-US" sz="2500" dirty="0">
                <a:latin typeface="Calibir"/>
              </a:rPr>
              <a:t>extends Exception → means this is a special type of error (inherits from Java’s built-in Exception).</a:t>
            </a:r>
          </a:p>
          <a:p>
            <a:pPr marL="342900" indent="-342900">
              <a:lnSpc>
                <a:spcPct val="150000"/>
              </a:lnSpc>
              <a:buFont typeface="Arial" panose="020B0604020202020204" pitchFamily="34" charset="0"/>
              <a:buChar char="•"/>
            </a:pPr>
            <a:r>
              <a:rPr lang="en-US" sz="2500" dirty="0">
                <a:latin typeface="Calibir"/>
              </a:rPr>
              <a:t>The constructor (public InvalidMarkException(String msg)) lets us send an error message to the parent Exception class using super(msg).</a:t>
            </a:r>
          </a:p>
        </p:txBody>
      </p:sp>
      <p:pic>
        <p:nvPicPr>
          <p:cNvPr id="3" name="Picture 2">
            <a:extLst>
              <a:ext uri="{FF2B5EF4-FFF2-40B4-BE49-F238E27FC236}">
                <a16:creationId xmlns:a16="http://schemas.microsoft.com/office/drawing/2014/main" id="{B46006E8-B1DD-A426-9322-B3BB8767158E}"/>
              </a:ext>
            </a:extLst>
          </p:cNvPr>
          <p:cNvPicPr>
            <a:picLocks noChangeAspect="1"/>
          </p:cNvPicPr>
          <p:nvPr/>
        </p:nvPicPr>
        <p:blipFill>
          <a:blip r:embed="rId2"/>
          <a:srcRect l="7500" r="40484" b="21291"/>
          <a:stretch>
            <a:fillRect/>
          </a:stretch>
        </p:blipFill>
        <p:spPr>
          <a:xfrm>
            <a:off x="-1" y="501449"/>
            <a:ext cx="7449015" cy="6340325"/>
          </a:xfrm>
          <a:prstGeom prst="rect">
            <a:avLst/>
          </a:prstGeom>
        </p:spPr>
      </p:pic>
      <p:sp>
        <p:nvSpPr>
          <p:cNvPr id="6" name="TextBox 5">
            <a:extLst>
              <a:ext uri="{FF2B5EF4-FFF2-40B4-BE49-F238E27FC236}">
                <a16:creationId xmlns:a16="http://schemas.microsoft.com/office/drawing/2014/main" id="{5E0BF68A-2DE9-6791-63A5-268F8311A146}"/>
              </a:ext>
            </a:extLst>
          </p:cNvPr>
          <p:cNvSpPr txBox="1"/>
          <p:nvPr/>
        </p:nvSpPr>
        <p:spPr>
          <a:xfrm>
            <a:off x="0" y="-5101"/>
            <a:ext cx="1887794" cy="477054"/>
          </a:xfrm>
          <a:prstGeom prst="rect">
            <a:avLst/>
          </a:prstGeom>
          <a:solidFill>
            <a:schemeClr val="bg1"/>
          </a:solidFill>
          <a:ln>
            <a:solidFill>
              <a:srgbClr val="FF0000"/>
            </a:solidFill>
          </a:ln>
        </p:spPr>
        <p:txBody>
          <a:bodyPr wrap="square" rtlCol="0">
            <a:spAutoFit/>
          </a:bodyPr>
          <a:lstStyle/>
          <a:p>
            <a:r>
              <a:rPr lang="en-US" sz="2500" dirty="0">
                <a:latin typeface="Calibir"/>
              </a:rPr>
              <a:t>Java Solution</a:t>
            </a:r>
          </a:p>
        </p:txBody>
      </p:sp>
    </p:spTree>
    <p:extLst>
      <p:ext uri="{BB962C8B-B14F-4D97-AF65-F5344CB8AC3E}">
        <p14:creationId xmlns:p14="http://schemas.microsoft.com/office/powerpoint/2010/main" val="2443514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A0751-E46E-92F2-5377-D9AA9534A36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EA2E2B7-04EA-E9A1-A0C7-1878BD4813FB}"/>
              </a:ext>
            </a:extLst>
          </p:cNvPr>
          <p:cNvPicPr>
            <a:picLocks noChangeAspect="1"/>
          </p:cNvPicPr>
          <p:nvPr/>
        </p:nvPicPr>
        <p:blipFill>
          <a:blip r:embed="rId2"/>
          <a:srcRect l="7983" r="7581" b="20430"/>
          <a:stretch>
            <a:fillRect/>
          </a:stretch>
        </p:blipFill>
        <p:spPr>
          <a:xfrm>
            <a:off x="0" y="0"/>
            <a:ext cx="12192000" cy="6462808"/>
          </a:xfrm>
          <a:prstGeom prst="rect">
            <a:avLst/>
          </a:prstGeom>
        </p:spPr>
      </p:pic>
      <p:sp>
        <p:nvSpPr>
          <p:cNvPr id="10" name="TextBox 9">
            <a:extLst>
              <a:ext uri="{FF2B5EF4-FFF2-40B4-BE49-F238E27FC236}">
                <a16:creationId xmlns:a16="http://schemas.microsoft.com/office/drawing/2014/main" id="{EF9B308E-8A54-A802-C7B2-A3D541255A0C}"/>
              </a:ext>
            </a:extLst>
          </p:cNvPr>
          <p:cNvSpPr txBox="1"/>
          <p:nvPr/>
        </p:nvSpPr>
        <p:spPr>
          <a:xfrm>
            <a:off x="8023123" y="1"/>
            <a:ext cx="4168877" cy="1964512"/>
          </a:xfrm>
          <a:prstGeom prst="rect">
            <a:avLst/>
          </a:prstGeom>
          <a:solidFill>
            <a:schemeClr val="bg1"/>
          </a:solidFill>
          <a:ln>
            <a:solidFill>
              <a:srgbClr val="FF0000"/>
            </a:solidFill>
          </a:ln>
        </p:spPr>
        <p:txBody>
          <a:bodyPr wrap="square">
            <a:spAutoFit/>
          </a:bodyPr>
          <a:lstStyle/>
          <a:p>
            <a:pPr>
              <a:lnSpc>
                <a:spcPct val="150000"/>
              </a:lnSpc>
              <a:buNone/>
            </a:pPr>
            <a:r>
              <a:rPr lang="en-US" sz="2800" dirty="0">
                <a:latin typeface="Calibir"/>
              </a:rPr>
              <a:t>Defines a class named </a:t>
            </a:r>
            <a:r>
              <a:rPr lang="en-US" sz="2800" dirty="0" err="1">
                <a:latin typeface="Calibir"/>
              </a:rPr>
              <a:t>TestMarks</a:t>
            </a:r>
            <a:r>
              <a:rPr lang="en-US" sz="2800" dirty="0">
                <a:latin typeface="Calibir"/>
              </a:rPr>
              <a:t>. This is where we test the marks.</a:t>
            </a:r>
          </a:p>
        </p:txBody>
      </p:sp>
      <p:sp>
        <p:nvSpPr>
          <p:cNvPr id="11" name="Rectangle: Rounded Corners 10">
            <a:extLst>
              <a:ext uri="{FF2B5EF4-FFF2-40B4-BE49-F238E27FC236}">
                <a16:creationId xmlns:a16="http://schemas.microsoft.com/office/drawing/2014/main" id="{276576E2-B6DF-DEC0-E0FC-C0FD205A8FA4}"/>
              </a:ext>
            </a:extLst>
          </p:cNvPr>
          <p:cNvSpPr/>
          <p:nvPr/>
        </p:nvSpPr>
        <p:spPr>
          <a:xfrm>
            <a:off x="0" y="1964513"/>
            <a:ext cx="7449015" cy="43235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95618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5B1CB-E7E4-25E6-8E30-F464A3DA42F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396486B-F42A-DE11-40A7-B57C150ECA9B}"/>
              </a:ext>
            </a:extLst>
          </p:cNvPr>
          <p:cNvPicPr>
            <a:picLocks noChangeAspect="1"/>
          </p:cNvPicPr>
          <p:nvPr/>
        </p:nvPicPr>
        <p:blipFill>
          <a:blip r:embed="rId2"/>
          <a:srcRect l="7983" r="7581" b="20430"/>
          <a:stretch>
            <a:fillRect/>
          </a:stretch>
        </p:blipFill>
        <p:spPr>
          <a:xfrm>
            <a:off x="0" y="0"/>
            <a:ext cx="12192000" cy="6462808"/>
          </a:xfrm>
          <a:prstGeom prst="rect">
            <a:avLst/>
          </a:prstGeom>
        </p:spPr>
      </p:pic>
      <p:sp>
        <p:nvSpPr>
          <p:cNvPr id="10" name="TextBox 9">
            <a:extLst>
              <a:ext uri="{FF2B5EF4-FFF2-40B4-BE49-F238E27FC236}">
                <a16:creationId xmlns:a16="http://schemas.microsoft.com/office/drawing/2014/main" id="{1A967BDA-DCCB-B447-2C5C-7ECF945E8846}"/>
              </a:ext>
            </a:extLst>
          </p:cNvPr>
          <p:cNvSpPr txBox="1"/>
          <p:nvPr/>
        </p:nvSpPr>
        <p:spPr>
          <a:xfrm>
            <a:off x="8023123" y="1"/>
            <a:ext cx="4168877" cy="675441"/>
          </a:xfrm>
          <a:prstGeom prst="rect">
            <a:avLst/>
          </a:prstGeom>
          <a:solidFill>
            <a:schemeClr val="bg1"/>
          </a:solidFill>
          <a:ln>
            <a:solidFill>
              <a:srgbClr val="FF0000"/>
            </a:solidFill>
          </a:ln>
        </p:spPr>
        <p:txBody>
          <a:bodyPr wrap="square">
            <a:spAutoFit/>
          </a:bodyPr>
          <a:lstStyle/>
          <a:p>
            <a:pPr>
              <a:lnSpc>
                <a:spcPct val="150000"/>
              </a:lnSpc>
              <a:buNone/>
            </a:pPr>
            <a:r>
              <a:rPr lang="en-US" sz="2800" dirty="0">
                <a:latin typeface="Calibir"/>
              </a:rPr>
              <a:t>Program starts here.</a:t>
            </a:r>
          </a:p>
        </p:txBody>
      </p:sp>
      <p:sp>
        <p:nvSpPr>
          <p:cNvPr id="11" name="Rectangle: Rounded Corners 10">
            <a:extLst>
              <a:ext uri="{FF2B5EF4-FFF2-40B4-BE49-F238E27FC236}">
                <a16:creationId xmlns:a16="http://schemas.microsoft.com/office/drawing/2014/main" id="{8D0E705E-3933-CC47-95B9-4C1A955C0611}"/>
              </a:ext>
            </a:extLst>
          </p:cNvPr>
          <p:cNvSpPr/>
          <p:nvPr/>
        </p:nvSpPr>
        <p:spPr>
          <a:xfrm>
            <a:off x="0" y="2359743"/>
            <a:ext cx="7449015" cy="39820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46609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5495D-C463-3481-0085-51948B09B5C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EC29003-4ED2-BF9C-1A00-F0A5D19BF8DF}"/>
              </a:ext>
            </a:extLst>
          </p:cNvPr>
          <p:cNvPicPr>
            <a:picLocks noChangeAspect="1"/>
          </p:cNvPicPr>
          <p:nvPr/>
        </p:nvPicPr>
        <p:blipFill>
          <a:blip r:embed="rId2"/>
          <a:srcRect l="7983" r="7581" b="20430"/>
          <a:stretch>
            <a:fillRect/>
          </a:stretch>
        </p:blipFill>
        <p:spPr>
          <a:xfrm>
            <a:off x="0" y="0"/>
            <a:ext cx="12192000" cy="6462808"/>
          </a:xfrm>
          <a:prstGeom prst="rect">
            <a:avLst/>
          </a:prstGeom>
        </p:spPr>
      </p:pic>
      <p:sp>
        <p:nvSpPr>
          <p:cNvPr id="10" name="TextBox 9">
            <a:extLst>
              <a:ext uri="{FF2B5EF4-FFF2-40B4-BE49-F238E27FC236}">
                <a16:creationId xmlns:a16="http://schemas.microsoft.com/office/drawing/2014/main" id="{E9414786-ED94-A13A-223B-5658B6C4CCFF}"/>
              </a:ext>
            </a:extLst>
          </p:cNvPr>
          <p:cNvSpPr txBox="1"/>
          <p:nvPr/>
        </p:nvSpPr>
        <p:spPr>
          <a:xfrm>
            <a:off x="8023123" y="1"/>
            <a:ext cx="4168877" cy="4553426"/>
          </a:xfrm>
          <a:prstGeom prst="rect">
            <a:avLst/>
          </a:prstGeom>
          <a:solidFill>
            <a:schemeClr val="bg1"/>
          </a:solidFill>
          <a:ln>
            <a:solidFill>
              <a:srgbClr val="FF0000"/>
            </a:solidFill>
          </a:ln>
        </p:spPr>
        <p:txBody>
          <a:bodyPr wrap="square">
            <a:spAutoFit/>
          </a:bodyPr>
          <a:lstStyle/>
          <a:p>
            <a:pPr marL="457200" indent="-457200">
              <a:lnSpc>
                <a:spcPct val="150000"/>
              </a:lnSpc>
              <a:buFont typeface="Arial" panose="020B0604020202020204" pitchFamily="34" charset="0"/>
              <a:buChar char="•"/>
            </a:pPr>
            <a:r>
              <a:rPr lang="en-US" sz="2800" dirty="0">
                <a:latin typeface="Calibir"/>
              </a:rPr>
              <a:t>Inside the try block, we test code that might cause an error.</a:t>
            </a:r>
          </a:p>
          <a:p>
            <a:pPr marL="457200" indent="-457200">
              <a:lnSpc>
                <a:spcPct val="150000"/>
              </a:lnSpc>
              <a:buFont typeface="Arial" panose="020B0604020202020204" pitchFamily="34" charset="0"/>
              <a:buChar char="•"/>
            </a:pPr>
            <a:r>
              <a:rPr lang="en-US" sz="2800" dirty="0">
                <a:latin typeface="Calibir"/>
              </a:rPr>
              <a:t>Here, the mark is set to 120 (which is invalid, since marks should be between 0–100).</a:t>
            </a:r>
          </a:p>
        </p:txBody>
      </p:sp>
      <p:sp>
        <p:nvSpPr>
          <p:cNvPr id="11" name="Rectangle: Rounded Corners 10">
            <a:extLst>
              <a:ext uri="{FF2B5EF4-FFF2-40B4-BE49-F238E27FC236}">
                <a16:creationId xmlns:a16="http://schemas.microsoft.com/office/drawing/2014/main" id="{A8AF3C62-3846-FC69-DAF2-AA06DE1524E8}"/>
              </a:ext>
            </a:extLst>
          </p:cNvPr>
          <p:cNvSpPr/>
          <p:nvPr/>
        </p:nvSpPr>
        <p:spPr>
          <a:xfrm>
            <a:off x="0" y="2684208"/>
            <a:ext cx="7449015" cy="74479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36567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E13A7-58E0-0DEB-2EC0-44023E33753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1749025-8CDD-E6A3-2C1F-1BF21FDE36C5}"/>
              </a:ext>
            </a:extLst>
          </p:cNvPr>
          <p:cNvPicPr>
            <a:picLocks noChangeAspect="1"/>
          </p:cNvPicPr>
          <p:nvPr/>
        </p:nvPicPr>
        <p:blipFill>
          <a:blip r:embed="rId2"/>
          <a:srcRect l="7983" r="7581" b="20430"/>
          <a:stretch>
            <a:fillRect/>
          </a:stretch>
        </p:blipFill>
        <p:spPr>
          <a:xfrm>
            <a:off x="0" y="0"/>
            <a:ext cx="12192000" cy="6462808"/>
          </a:xfrm>
          <a:prstGeom prst="rect">
            <a:avLst/>
          </a:prstGeom>
        </p:spPr>
      </p:pic>
      <p:sp>
        <p:nvSpPr>
          <p:cNvPr id="11" name="Rectangle: Rounded Corners 10">
            <a:extLst>
              <a:ext uri="{FF2B5EF4-FFF2-40B4-BE49-F238E27FC236}">
                <a16:creationId xmlns:a16="http://schemas.microsoft.com/office/drawing/2014/main" id="{E4512087-B0AE-A793-80BE-D162F8625B3A}"/>
              </a:ext>
            </a:extLst>
          </p:cNvPr>
          <p:cNvSpPr/>
          <p:nvPr/>
        </p:nvSpPr>
        <p:spPr>
          <a:xfrm>
            <a:off x="-1" y="3392130"/>
            <a:ext cx="10928555" cy="100289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7423713-2DB3-2F54-8542-8D3DB913C40B}"/>
              </a:ext>
            </a:extLst>
          </p:cNvPr>
          <p:cNvSpPr txBox="1"/>
          <p:nvPr/>
        </p:nvSpPr>
        <p:spPr>
          <a:xfrm>
            <a:off x="1802991" y="5579424"/>
            <a:ext cx="10389009" cy="1186863"/>
          </a:xfrm>
          <a:prstGeom prst="rect">
            <a:avLst/>
          </a:prstGeom>
          <a:solidFill>
            <a:schemeClr val="bg1"/>
          </a:solidFill>
          <a:ln>
            <a:solidFill>
              <a:srgbClr val="FF0000"/>
            </a:solidFill>
          </a:ln>
        </p:spPr>
        <p:txBody>
          <a:bodyPr wrap="square">
            <a:spAutoFit/>
          </a:bodyPr>
          <a:lstStyle/>
          <a:p>
            <a:pPr marL="285750" indent="-285750">
              <a:lnSpc>
                <a:spcPct val="150000"/>
              </a:lnSpc>
              <a:buFont typeface="Arial" panose="020B0604020202020204" pitchFamily="34" charset="0"/>
              <a:buChar char="•"/>
            </a:pPr>
            <a:r>
              <a:rPr lang="en-US" sz="2500" dirty="0">
                <a:latin typeface="Calibir"/>
              </a:rPr>
              <a:t>If the mark is less than 0 or more than 100 → throw our custom exception.</a:t>
            </a:r>
          </a:p>
          <a:p>
            <a:pPr marL="285750" indent="-285750">
              <a:lnSpc>
                <a:spcPct val="150000"/>
              </a:lnSpc>
              <a:buFont typeface="Arial" panose="020B0604020202020204" pitchFamily="34" charset="0"/>
              <a:buChar char="•"/>
            </a:pPr>
            <a:r>
              <a:rPr lang="en-US" sz="2500" dirty="0">
                <a:latin typeface="Calibir"/>
              </a:rPr>
              <a:t>"Mark out of range!" is the error message that goes with it.</a:t>
            </a:r>
          </a:p>
        </p:txBody>
      </p:sp>
    </p:spTree>
    <p:extLst>
      <p:ext uri="{BB962C8B-B14F-4D97-AF65-F5344CB8AC3E}">
        <p14:creationId xmlns:p14="http://schemas.microsoft.com/office/powerpoint/2010/main" val="7043559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7429E-1078-33FA-6BB6-A742E34183E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1350D34-63D9-6111-B44F-8D93262B2176}"/>
              </a:ext>
            </a:extLst>
          </p:cNvPr>
          <p:cNvPicPr>
            <a:picLocks noChangeAspect="1"/>
          </p:cNvPicPr>
          <p:nvPr/>
        </p:nvPicPr>
        <p:blipFill>
          <a:blip r:embed="rId2"/>
          <a:srcRect l="7983" r="7581" b="20430"/>
          <a:stretch>
            <a:fillRect/>
          </a:stretch>
        </p:blipFill>
        <p:spPr>
          <a:xfrm>
            <a:off x="0" y="0"/>
            <a:ext cx="12192000" cy="6462808"/>
          </a:xfrm>
          <a:prstGeom prst="rect">
            <a:avLst/>
          </a:prstGeom>
        </p:spPr>
      </p:pic>
      <p:sp>
        <p:nvSpPr>
          <p:cNvPr id="11" name="Rectangle: Rounded Corners 10">
            <a:extLst>
              <a:ext uri="{FF2B5EF4-FFF2-40B4-BE49-F238E27FC236}">
                <a16:creationId xmlns:a16="http://schemas.microsoft.com/office/drawing/2014/main" id="{700D652C-0F14-A26C-1CFD-2E4BACCE346F}"/>
              </a:ext>
            </a:extLst>
          </p:cNvPr>
          <p:cNvSpPr/>
          <p:nvPr/>
        </p:nvSpPr>
        <p:spPr>
          <a:xfrm>
            <a:off x="0" y="4409767"/>
            <a:ext cx="10928555" cy="33921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AC9AA47-1939-EF21-E2A8-3851EAB775E4}"/>
              </a:ext>
            </a:extLst>
          </p:cNvPr>
          <p:cNvSpPr txBox="1"/>
          <p:nvPr/>
        </p:nvSpPr>
        <p:spPr>
          <a:xfrm>
            <a:off x="1802991" y="5579424"/>
            <a:ext cx="10389009" cy="1186863"/>
          </a:xfrm>
          <a:prstGeom prst="rect">
            <a:avLst/>
          </a:prstGeom>
          <a:solidFill>
            <a:schemeClr val="bg1"/>
          </a:solidFill>
          <a:ln>
            <a:solidFill>
              <a:srgbClr val="FF0000"/>
            </a:solidFill>
          </a:ln>
        </p:spPr>
        <p:txBody>
          <a:bodyPr wrap="square">
            <a:spAutoFit/>
          </a:bodyPr>
          <a:lstStyle/>
          <a:p>
            <a:pPr marL="285750" indent="-285750">
              <a:lnSpc>
                <a:spcPct val="150000"/>
              </a:lnSpc>
              <a:buFont typeface="Arial" panose="020B0604020202020204" pitchFamily="34" charset="0"/>
              <a:buChar char="•"/>
            </a:pPr>
            <a:r>
              <a:rPr lang="en-US" sz="2500" dirty="0">
                <a:latin typeface="Calibir"/>
              </a:rPr>
              <a:t>If the mark is valid, print it.</a:t>
            </a:r>
          </a:p>
          <a:p>
            <a:pPr marL="285750" indent="-285750">
              <a:lnSpc>
                <a:spcPct val="150000"/>
              </a:lnSpc>
              <a:buFont typeface="Arial" panose="020B0604020202020204" pitchFamily="34" charset="0"/>
              <a:buChar char="•"/>
            </a:pPr>
            <a:r>
              <a:rPr lang="en-US" sz="2500" dirty="0">
                <a:latin typeface="Calibir"/>
              </a:rPr>
              <a:t>(This line won’t run here, because the mark is invalid.)</a:t>
            </a:r>
          </a:p>
        </p:txBody>
      </p:sp>
    </p:spTree>
    <p:extLst>
      <p:ext uri="{BB962C8B-B14F-4D97-AF65-F5344CB8AC3E}">
        <p14:creationId xmlns:p14="http://schemas.microsoft.com/office/powerpoint/2010/main" val="33918584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B1E34-58C5-6882-0B20-B5630F32FC4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AD05A74-B7A6-951D-65AE-CFB6C84F75E2}"/>
              </a:ext>
            </a:extLst>
          </p:cNvPr>
          <p:cNvPicPr>
            <a:picLocks noChangeAspect="1"/>
          </p:cNvPicPr>
          <p:nvPr/>
        </p:nvPicPr>
        <p:blipFill>
          <a:blip r:embed="rId2"/>
          <a:srcRect l="7983" r="7581" b="20430"/>
          <a:stretch>
            <a:fillRect/>
          </a:stretch>
        </p:blipFill>
        <p:spPr>
          <a:xfrm>
            <a:off x="0" y="0"/>
            <a:ext cx="12192000" cy="6462808"/>
          </a:xfrm>
          <a:prstGeom prst="rect">
            <a:avLst/>
          </a:prstGeom>
        </p:spPr>
      </p:pic>
      <p:sp>
        <p:nvSpPr>
          <p:cNvPr id="11" name="Rectangle: Rounded Corners 10">
            <a:extLst>
              <a:ext uri="{FF2B5EF4-FFF2-40B4-BE49-F238E27FC236}">
                <a16:creationId xmlns:a16="http://schemas.microsoft.com/office/drawing/2014/main" id="{79018237-6C8D-13F2-2940-BCF2B7681DE9}"/>
              </a:ext>
            </a:extLst>
          </p:cNvPr>
          <p:cNvSpPr/>
          <p:nvPr/>
        </p:nvSpPr>
        <p:spPr>
          <a:xfrm>
            <a:off x="0" y="4719483"/>
            <a:ext cx="10928555" cy="109138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C2A4719-9BED-A924-1789-D91EE0451D75}"/>
              </a:ext>
            </a:extLst>
          </p:cNvPr>
          <p:cNvSpPr txBox="1"/>
          <p:nvPr/>
        </p:nvSpPr>
        <p:spPr>
          <a:xfrm>
            <a:off x="1802991" y="5579424"/>
            <a:ext cx="10389009" cy="1186863"/>
          </a:xfrm>
          <a:prstGeom prst="rect">
            <a:avLst/>
          </a:prstGeom>
          <a:solidFill>
            <a:schemeClr val="bg1"/>
          </a:solidFill>
          <a:ln>
            <a:solidFill>
              <a:srgbClr val="FF0000"/>
            </a:solidFill>
          </a:ln>
        </p:spPr>
        <p:txBody>
          <a:bodyPr wrap="square">
            <a:spAutoFit/>
          </a:bodyPr>
          <a:lstStyle/>
          <a:p>
            <a:pPr marL="285750" indent="-285750">
              <a:lnSpc>
                <a:spcPct val="150000"/>
              </a:lnSpc>
              <a:buFont typeface="Arial" panose="020B0604020202020204" pitchFamily="34" charset="0"/>
              <a:buChar char="•"/>
            </a:pPr>
            <a:r>
              <a:rPr lang="en-US" sz="2500" dirty="0">
                <a:latin typeface="Calibir"/>
              </a:rPr>
              <a:t>If an InvalidMarkException happens, we catch it and print the error message instead of crashing.</a:t>
            </a:r>
          </a:p>
        </p:txBody>
      </p:sp>
    </p:spTree>
    <p:extLst>
      <p:ext uri="{BB962C8B-B14F-4D97-AF65-F5344CB8AC3E}">
        <p14:creationId xmlns:p14="http://schemas.microsoft.com/office/powerpoint/2010/main" val="40568481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1B520-CCB6-13FC-50BE-FF6182884A5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F3C9FEA-F9B2-88D5-85DA-3273506900C1}"/>
              </a:ext>
            </a:extLst>
          </p:cNvPr>
          <p:cNvPicPr>
            <a:picLocks noChangeAspect="1"/>
          </p:cNvPicPr>
          <p:nvPr/>
        </p:nvPicPr>
        <p:blipFill>
          <a:blip r:embed="rId2"/>
          <a:srcRect l="7983" r="7581" b="20430"/>
          <a:stretch>
            <a:fillRect/>
          </a:stretch>
        </p:blipFill>
        <p:spPr>
          <a:xfrm>
            <a:off x="0" y="0"/>
            <a:ext cx="12192000" cy="6462808"/>
          </a:xfrm>
          <a:prstGeom prst="rect">
            <a:avLst/>
          </a:prstGeom>
        </p:spPr>
      </p:pic>
      <p:sp>
        <p:nvSpPr>
          <p:cNvPr id="3" name="TextBox 2">
            <a:extLst>
              <a:ext uri="{FF2B5EF4-FFF2-40B4-BE49-F238E27FC236}">
                <a16:creationId xmlns:a16="http://schemas.microsoft.com/office/drawing/2014/main" id="{E7477C8A-9A55-45CC-33EB-C4F41EDD2F5E}"/>
              </a:ext>
            </a:extLst>
          </p:cNvPr>
          <p:cNvSpPr txBox="1"/>
          <p:nvPr/>
        </p:nvSpPr>
        <p:spPr>
          <a:xfrm>
            <a:off x="1725560" y="5427407"/>
            <a:ext cx="10466439" cy="1563377"/>
          </a:xfrm>
          <a:prstGeom prst="rect">
            <a:avLst/>
          </a:prstGeom>
          <a:solidFill>
            <a:schemeClr val="bg1"/>
          </a:solidFill>
          <a:ln>
            <a:solidFill>
              <a:srgbClr val="FF0000"/>
            </a:solidFill>
          </a:ln>
        </p:spPr>
        <p:txBody>
          <a:bodyPr wrap="square">
            <a:spAutoFit/>
          </a:bodyPr>
          <a:lstStyle/>
          <a:p>
            <a:pPr>
              <a:lnSpc>
                <a:spcPct val="150000"/>
              </a:lnSpc>
            </a:pPr>
            <a:r>
              <a:rPr lang="en-US" sz="2200" dirty="0">
                <a:latin typeface="Calibir"/>
              </a:rPr>
              <a:t>In short, this program shows how to make your own exception for a special rule (marks must be between 0–100). If someone tries an invalid mark, the program throws an error and prints a friendly message.</a:t>
            </a:r>
          </a:p>
        </p:txBody>
      </p:sp>
    </p:spTree>
    <p:extLst>
      <p:ext uri="{BB962C8B-B14F-4D97-AF65-F5344CB8AC3E}">
        <p14:creationId xmlns:p14="http://schemas.microsoft.com/office/powerpoint/2010/main" val="39204024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D1A5D-F184-0A33-0EB8-5A6FB6C53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3850C-F505-7F5A-631E-5D3D7738871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(Python)</a:t>
            </a:r>
          </a:p>
        </p:txBody>
      </p:sp>
      <p:sp>
        <p:nvSpPr>
          <p:cNvPr id="5" name="TextBox 4">
            <a:extLst>
              <a:ext uri="{FF2B5EF4-FFF2-40B4-BE49-F238E27FC236}">
                <a16:creationId xmlns:a16="http://schemas.microsoft.com/office/drawing/2014/main" id="{AFA7F200-50B2-60C5-5817-4C045993A659}"/>
              </a:ext>
            </a:extLst>
          </p:cNvPr>
          <p:cNvSpPr txBox="1"/>
          <p:nvPr/>
        </p:nvSpPr>
        <p:spPr>
          <a:xfrm>
            <a:off x="0" y="756745"/>
            <a:ext cx="11965258" cy="1964512"/>
          </a:xfrm>
          <a:prstGeom prst="rect">
            <a:avLst/>
          </a:prstGeom>
          <a:noFill/>
        </p:spPr>
        <p:txBody>
          <a:bodyPr wrap="square">
            <a:spAutoFit/>
          </a:bodyPr>
          <a:lstStyle/>
          <a:p>
            <a:pPr>
              <a:lnSpc>
                <a:spcPct val="150000"/>
              </a:lnSpc>
            </a:pPr>
            <a:r>
              <a:rPr lang="en-US" sz="2800" b="1" dirty="0">
                <a:latin typeface="Calibir"/>
              </a:rPr>
              <a:t>1. open(filename, mode) → open a file</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Opens a file so you can read/write.</a:t>
            </a:r>
          </a:p>
          <a:p>
            <a:pPr marL="457200" indent="-457200">
              <a:lnSpc>
                <a:spcPct val="150000"/>
              </a:lnSpc>
              <a:buFont typeface="Arial" panose="020B0604020202020204" pitchFamily="34" charset="0"/>
              <a:buChar char="•"/>
            </a:pPr>
            <a:r>
              <a:rPr lang="en-US" sz="2800" dirty="0">
                <a:latin typeface="Calibir"/>
              </a:rPr>
              <a:t>Example:</a:t>
            </a:r>
          </a:p>
        </p:txBody>
      </p:sp>
      <p:pic>
        <p:nvPicPr>
          <p:cNvPr id="7" name="Picture 6">
            <a:extLst>
              <a:ext uri="{FF2B5EF4-FFF2-40B4-BE49-F238E27FC236}">
                <a16:creationId xmlns:a16="http://schemas.microsoft.com/office/drawing/2014/main" id="{6FCF5AE2-585F-4C74-DB9A-58884B4A4713}"/>
              </a:ext>
            </a:extLst>
          </p:cNvPr>
          <p:cNvPicPr>
            <a:picLocks noChangeAspect="1"/>
          </p:cNvPicPr>
          <p:nvPr/>
        </p:nvPicPr>
        <p:blipFill>
          <a:blip r:embed="rId2"/>
          <a:srcRect t="9033" b="41935"/>
          <a:stretch>
            <a:fillRect/>
          </a:stretch>
        </p:blipFill>
        <p:spPr>
          <a:xfrm>
            <a:off x="1406012" y="4270941"/>
            <a:ext cx="9379975" cy="2587058"/>
          </a:xfrm>
          <a:prstGeom prst="rect">
            <a:avLst/>
          </a:prstGeom>
        </p:spPr>
      </p:pic>
      <p:sp>
        <p:nvSpPr>
          <p:cNvPr id="9" name="TextBox 8">
            <a:extLst>
              <a:ext uri="{FF2B5EF4-FFF2-40B4-BE49-F238E27FC236}">
                <a16:creationId xmlns:a16="http://schemas.microsoft.com/office/drawing/2014/main" id="{FB1382C0-FB38-E315-C4AC-8431042FF86A}"/>
              </a:ext>
            </a:extLst>
          </p:cNvPr>
          <p:cNvSpPr txBox="1"/>
          <p:nvPr/>
        </p:nvSpPr>
        <p:spPr>
          <a:xfrm>
            <a:off x="7020233" y="1084744"/>
            <a:ext cx="5171767" cy="1763944"/>
          </a:xfrm>
          <a:prstGeom prst="rect">
            <a:avLst/>
          </a:prstGeom>
          <a:solidFill>
            <a:schemeClr val="bg1"/>
          </a:solidFill>
          <a:ln>
            <a:solidFill>
              <a:srgbClr val="FF0000"/>
            </a:solidFill>
          </a:ln>
        </p:spPr>
        <p:txBody>
          <a:bodyPr wrap="square">
            <a:spAutoFit/>
          </a:bodyPr>
          <a:lstStyle/>
          <a:p>
            <a:pPr>
              <a:lnSpc>
                <a:spcPct val="150000"/>
              </a:lnSpc>
            </a:pPr>
            <a:r>
              <a:rPr lang="en-US" sz="2500" dirty="0">
                <a:latin typeface="Calibir"/>
              </a:rPr>
              <a:t>Make sure this Python file and data.txt are in the same folder, otherwise Python will not find the file.</a:t>
            </a:r>
          </a:p>
        </p:txBody>
      </p:sp>
      <p:pic>
        <p:nvPicPr>
          <p:cNvPr id="11" name="Picture 10">
            <a:extLst>
              <a:ext uri="{FF2B5EF4-FFF2-40B4-BE49-F238E27FC236}">
                <a16:creationId xmlns:a16="http://schemas.microsoft.com/office/drawing/2014/main" id="{46465C0A-AA54-B97B-F897-6C00885D166F}"/>
              </a:ext>
            </a:extLst>
          </p:cNvPr>
          <p:cNvPicPr>
            <a:picLocks noChangeAspect="1"/>
          </p:cNvPicPr>
          <p:nvPr/>
        </p:nvPicPr>
        <p:blipFill>
          <a:blip r:embed="rId3"/>
          <a:srcRect l="8830" t="35699" r="8791" b="48387"/>
          <a:stretch>
            <a:fillRect/>
          </a:stretch>
        </p:blipFill>
        <p:spPr>
          <a:xfrm>
            <a:off x="0" y="2848688"/>
            <a:ext cx="12192000" cy="1324829"/>
          </a:xfrm>
          <a:prstGeom prst="rect">
            <a:avLst/>
          </a:prstGeom>
        </p:spPr>
      </p:pic>
    </p:spTree>
    <p:extLst>
      <p:ext uri="{BB962C8B-B14F-4D97-AF65-F5344CB8AC3E}">
        <p14:creationId xmlns:p14="http://schemas.microsoft.com/office/powerpoint/2010/main" val="33788544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98CC5-76C8-4CA3-2384-3705BB23E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320A6-37E7-6FA8-7FD6-25705D5575D9}"/>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(Python)</a:t>
            </a:r>
          </a:p>
        </p:txBody>
      </p:sp>
      <p:sp>
        <p:nvSpPr>
          <p:cNvPr id="5" name="TextBox 4">
            <a:extLst>
              <a:ext uri="{FF2B5EF4-FFF2-40B4-BE49-F238E27FC236}">
                <a16:creationId xmlns:a16="http://schemas.microsoft.com/office/drawing/2014/main" id="{4FBD29D8-A55E-E18F-A672-3D927A7B0911}"/>
              </a:ext>
            </a:extLst>
          </p:cNvPr>
          <p:cNvSpPr txBox="1"/>
          <p:nvPr/>
        </p:nvSpPr>
        <p:spPr>
          <a:xfrm>
            <a:off x="0" y="756745"/>
            <a:ext cx="11965258" cy="4549835"/>
          </a:xfrm>
          <a:prstGeom prst="rect">
            <a:avLst/>
          </a:prstGeom>
          <a:noFill/>
        </p:spPr>
        <p:txBody>
          <a:bodyPr wrap="square">
            <a:spAutoFit/>
          </a:bodyPr>
          <a:lstStyle/>
          <a:p>
            <a:pPr>
              <a:lnSpc>
                <a:spcPct val="150000"/>
              </a:lnSpc>
            </a:pPr>
            <a:r>
              <a:rPr lang="en-US" sz="2800" b="1" dirty="0">
                <a:latin typeface="Calibir"/>
              </a:rPr>
              <a:t>2. Modes (r, w, a, b, t)</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r → read</a:t>
            </a:r>
          </a:p>
          <a:p>
            <a:pPr marL="914400" lvl="1" indent="-457200">
              <a:lnSpc>
                <a:spcPct val="150000"/>
              </a:lnSpc>
              <a:buFont typeface="Arial" panose="020B0604020202020204" pitchFamily="34" charset="0"/>
              <a:buChar char="•"/>
            </a:pPr>
            <a:r>
              <a:rPr lang="en-US" sz="2800" dirty="0">
                <a:latin typeface="Calibir"/>
              </a:rPr>
              <a:t>w → write (overwrite file)</a:t>
            </a:r>
          </a:p>
          <a:p>
            <a:pPr marL="914400" lvl="1" indent="-457200">
              <a:lnSpc>
                <a:spcPct val="150000"/>
              </a:lnSpc>
              <a:buFont typeface="Arial" panose="020B0604020202020204" pitchFamily="34" charset="0"/>
              <a:buChar char="•"/>
            </a:pPr>
            <a:r>
              <a:rPr lang="en-US" sz="2800" dirty="0">
                <a:latin typeface="Calibir"/>
              </a:rPr>
              <a:t>a → append (add to file)</a:t>
            </a:r>
          </a:p>
          <a:p>
            <a:pPr marL="914400" lvl="1" indent="-457200">
              <a:lnSpc>
                <a:spcPct val="150000"/>
              </a:lnSpc>
              <a:buFont typeface="Arial" panose="020B0604020202020204" pitchFamily="34" charset="0"/>
              <a:buChar char="•"/>
            </a:pPr>
            <a:r>
              <a:rPr lang="en-US" sz="2800" dirty="0">
                <a:latin typeface="Calibir"/>
              </a:rPr>
              <a:t>b → binary mode</a:t>
            </a:r>
          </a:p>
          <a:p>
            <a:pPr marL="914400" lvl="1" indent="-457200">
              <a:lnSpc>
                <a:spcPct val="150000"/>
              </a:lnSpc>
              <a:buFont typeface="Arial" panose="020B0604020202020204" pitchFamily="34" charset="0"/>
              <a:buChar char="•"/>
            </a:pPr>
            <a:r>
              <a:rPr lang="en-US" sz="2800" dirty="0">
                <a:latin typeface="Calibir"/>
              </a:rPr>
              <a:t>t → text mode (default)</a:t>
            </a:r>
          </a:p>
          <a:p>
            <a:pPr>
              <a:lnSpc>
                <a:spcPct val="150000"/>
              </a:lnSpc>
            </a:pPr>
            <a:r>
              <a:rPr lang="en-US" sz="2800" dirty="0">
                <a:latin typeface="Calibir"/>
              </a:rPr>
              <a:t>Example:</a:t>
            </a:r>
          </a:p>
        </p:txBody>
      </p:sp>
      <p:pic>
        <p:nvPicPr>
          <p:cNvPr id="8" name="Picture 7">
            <a:extLst>
              <a:ext uri="{FF2B5EF4-FFF2-40B4-BE49-F238E27FC236}">
                <a16:creationId xmlns:a16="http://schemas.microsoft.com/office/drawing/2014/main" id="{2E85C458-BEFA-A35E-1F33-88AF8476B02B}"/>
              </a:ext>
            </a:extLst>
          </p:cNvPr>
          <p:cNvPicPr>
            <a:picLocks noChangeAspect="1"/>
          </p:cNvPicPr>
          <p:nvPr/>
        </p:nvPicPr>
        <p:blipFill>
          <a:blip r:embed="rId2"/>
          <a:srcRect l="7984" t="65161" r="27903" b="16990"/>
          <a:stretch>
            <a:fillRect/>
          </a:stretch>
        </p:blipFill>
        <p:spPr>
          <a:xfrm>
            <a:off x="0" y="5191431"/>
            <a:ext cx="10943303" cy="1713764"/>
          </a:xfrm>
          <a:prstGeom prst="rect">
            <a:avLst/>
          </a:prstGeom>
        </p:spPr>
      </p:pic>
    </p:spTree>
    <p:extLst>
      <p:ext uri="{BB962C8B-B14F-4D97-AF65-F5344CB8AC3E}">
        <p14:creationId xmlns:p14="http://schemas.microsoft.com/office/powerpoint/2010/main" val="3444035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F035D-2291-67B9-8601-F43CD33C8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58342-5A02-9C60-8D11-73E7B1DC637B}"/>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(Python)</a:t>
            </a:r>
          </a:p>
        </p:txBody>
      </p:sp>
      <p:sp>
        <p:nvSpPr>
          <p:cNvPr id="5" name="TextBox 4">
            <a:extLst>
              <a:ext uri="{FF2B5EF4-FFF2-40B4-BE49-F238E27FC236}">
                <a16:creationId xmlns:a16="http://schemas.microsoft.com/office/drawing/2014/main" id="{FDC13B90-2330-27A2-173C-557B10DB3915}"/>
              </a:ext>
            </a:extLst>
          </p:cNvPr>
          <p:cNvSpPr txBox="1"/>
          <p:nvPr/>
        </p:nvSpPr>
        <p:spPr>
          <a:xfrm>
            <a:off x="0" y="756745"/>
            <a:ext cx="11965258" cy="1964512"/>
          </a:xfrm>
          <a:prstGeom prst="rect">
            <a:avLst/>
          </a:prstGeom>
          <a:noFill/>
        </p:spPr>
        <p:txBody>
          <a:bodyPr wrap="square">
            <a:spAutoFit/>
          </a:bodyPr>
          <a:lstStyle/>
          <a:p>
            <a:pPr>
              <a:lnSpc>
                <a:spcPct val="150000"/>
              </a:lnSpc>
            </a:pPr>
            <a:r>
              <a:rPr lang="en-US" sz="2800" b="1" dirty="0">
                <a:latin typeface="Calibir"/>
              </a:rPr>
              <a:t>3. with open() → auto close file</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File closes by itself, safer.</a:t>
            </a:r>
          </a:p>
          <a:p>
            <a:pPr marL="457200" indent="-457200">
              <a:lnSpc>
                <a:spcPct val="150000"/>
              </a:lnSpc>
              <a:buFont typeface="Arial" panose="020B0604020202020204" pitchFamily="34" charset="0"/>
              <a:buChar char="•"/>
            </a:pPr>
            <a:r>
              <a:rPr lang="en-US" sz="2800" dirty="0">
                <a:latin typeface="Calibir"/>
              </a:rPr>
              <a:t>Example:</a:t>
            </a:r>
          </a:p>
        </p:txBody>
      </p:sp>
      <p:pic>
        <p:nvPicPr>
          <p:cNvPr id="10" name="Picture 9">
            <a:extLst>
              <a:ext uri="{FF2B5EF4-FFF2-40B4-BE49-F238E27FC236}">
                <a16:creationId xmlns:a16="http://schemas.microsoft.com/office/drawing/2014/main" id="{0951123D-E63A-9ED4-B757-7F30F0185AF0}"/>
              </a:ext>
            </a:extLst>
          </p:cNvPr>
          <p:cNvPicPr>
            <a:picLocks noChangeAspect="1"/>
          </p:cNvPicPr>
          <p:nvPr/>
        </p:nvPicPr>
        <p:blipFill>
          <a:blip r:embed="rId2"/>
          <a:srcRect l="7742" t="33548" r="10242" b="55395"/>
          <a:stretch>
            <a:fillRect/>
          </a:stretch>
        </p:blipFill>
        <p:spPr>
          <a:xfrm>
            <a:off x="0" y="2797861"/>
            <a:ext cx="12192000" cy="924526"/>
          </a:xfrm>
          <a:prstGeom prst="rect">
            <a:avLst/>
          </a:prstGeom>
        </p:spPr>
      </p:pic>
      <p:sp>
        <p:nvSpPr>
          <p:cNvPr id="12" name="TextBox 11">
            <a:extLst>
              <a:ext uri="{FF2B5EF4-FFF2-40B4-BE49-F238E27FC236}">
                <a16:creationId xmlns:a16="http://schemas.microsoft.com/office/drawing/2014/main" id="{E549B4D8-DFB5-3395-FD53-1421D21F54A8}"/>
              </a:ext>
            </a:extLst>
          </p:cNvPr>
          <p:cNvSpPr txBox="1"/>
          <p:nvPr/>
        </p:nvSpPr>
        <p:spPr>
          <a:xfrm>
            <a:off x="-10432" y="3717522"/>
            <a:ext cx="12192000" cy="1318181"/>
          </a:xfrm>
          <a:prstGeom prst="rect">
            <a:avLst/>
          </a:prstGeom>
          <a:noFill/>
        </p:spPr>
        <p:txBody>
          <a:bodyPr wrap="square">
            <a:spAutoFit/>
          </a:bodyPr>
          <a:lstStyle/>
          <a:p>
            <a:pPr>
              <a:lnSpc>
                <a:spcPct val="150000"/>
              </a:lnSpc>
            </a:pPr>
            <a:r>
              <a:rPr lang="en-US" sz="2800" dirty="0">
                <a:latin typeface="Calibir"/>
              </a:rPr>
              <a:t>In this example (with open("data.txt", "r") as f:), the file closes automatically because of Python’s context manager (with statement).</a:t>
            </a:r>
          </a:p>
        </p:txBody>
      </p:sp>
    </p:spTree>
    <p:extLst>
      <p:ext uri="{BB962C8B-B14F-4D97-AF65-F5344CB8AC3E}">
        <p14:creationId xmlns:p14="http://schemas.microsoft.com/office/powerpoint/2010/main" val="8927026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8E0A0-37E5-4991-8AD9-3469E6F86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62DA6-CE01-51A6-776C-00AFEE8527E4}"/>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(Python)</a:t>
            </a:r>
          </a:p>
        </p:txBody>
      </p:sp>
      <p:sp>
        <p:nvSpPr>
          <p:cNvPr id="5" name="TextBox 4">
            <a:extLst>
              <a:ext uri="{FF2B5EF4-FFF2-40B4-BE49-F238E27FC236}">
                <a16:creationId xmlns:a16="http://schemas.microsoft.com/office/drawing/2014/main" id="{8E17E552-BC43-2E61-B19A-A9E82ED669F6}"/>
              </a:ext>
            </a:extLst>
          </p:cNvPr>
          <p:cNvSpPr txBox="1"/>
          <p:nvPr/>
        </p:nvSpPr>
        <p:spPr>
          <a:xfrm>
            <a:off x="0" y="756745"/>
            <a:ext cx="11965258" cy="1964512"/>
          </a:xfrm>
          <a:prstGeom prst="rect">
            <a:avLst/>
          </a:prstGeom>
          <a:noFill/>
        </p:spPr>
        <p:txBody>
          <a:bodyPr wrap="square">
            <a:spAutoFit/>
          </a:bodyPr>
          <a:lstStyle/>
          <a:p>
            <a:pPr>
              <a:lnSpc>
                <a:spcPct val="150000"/>
              </a:lnSpc>
            </a:pPr>
            <a:r>
              <a:rPr lang="en-US" sz="2800" b="1" dirty="0">
                <a:latin typeface="Calibir"/>
              </a:rPr>
              <a:t>3. with open() → auto close file</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File closes by itself, safer.</a:t>
            </a:r>
          </a:p>
          <a:p>
            <a:pPr marL="457200" indent="-457200">
              <a:lnSpc>
                <a:spcPct val="150000"/>
              </a:lnSpc>
              <a:buFont typeface="Arial" panose="020B0604020202020204" pitchFamily="34" charset="0"/>
              <a:buChar char="•"/>
            </a:pPr>
            <a:r>
              <a:rPr lang="en-US" sz="2800" dirty="0">
                <a:latin typeface="Calibir"/>
              </a:rPr>
              <a:t>Example:</a:t>
            </a:r>
          </a:p>
        </p:txBody>
      </p:sp>
      <p:pic>
        <p:nvPicPr>
          <p:cNvPr id="10" name="Picture 9">
            <a:extLst>
              <a:ext uri="{FF2B5EF4-FFF2-40B4-BE49-F238E27FC236}">
                <a16:creationId xmlns:a16="http://schemas.microsoft.com/office/drawing/2014/main" id="{34B3B2C1-721C-775F-17B8-F88D922C096A}"/>
              </a:ext>
            </a:extLst>
          </p:cNvPr>
          <p:cNvPicPr>
            <a:picLocks noChangeAspect="1"/>
          </p:cNvPicPr>
          <p:nvPr/>
        </p:nvPicPr>
        <p:blipFill>
          <a:blip r:embed="rId2"/>
          <a:srcRect l="7742" t="33548" r="10242" b="55395"/>
          <a:stretch>
            <a:fillRect/>
          </a:stretch>
        </p:blipFill>
        <p:spPr>
          <a:xfrm>
            <a:off x="0" y="2797861"/>
            <a:ext cx="12192000" cy="924526"/>
          </a:xfrm>
          <a:prstGeom prst="rect">
            <a:avLst/>
          </a:prstGeom>
        </p:spPr>
      </p:pic>
      <p:sp>
        <p:nvSpPr>
          <p:cNvPr id="3" name="TextBox 2">
            <a:extLst>
              <a:ext uri="{FF2B5EF4-FFF2-40B4-BE49-F238E27FC236}">
                <a16:creationId xmlns:a16="http://schemas.microsoft.com/office/drawing/2014/main" id="{83611B28-9905-AD55-DEBC-2F68D75E63DA}"/>
              </a:ext>
            </a:extLst>
          </p:cNvPr>
          <p:cNvSpPr txBox="1"/>
          <p:nvPr/>
        </p:nvSpPr>
        <p:spPr>
          <a:xfrm>
            <a:off x="0" y="3722387"/>
            <a:ext cx="12192000" cy="3031086"/>
          </a:xfrm>
          <a:prstGeom prst="rect">
            <a:avLst/>
          </a:prstGeom>
          <a:noFill/>
        </p:spPr>
        <p:txBody>
          <a:bodyPr wrap="square">
            <a:spAutoFit/>
          </a:bodyPr>
          <a:lstStyle/>
          <a:p>
            <a:pPr>
              <a:lnSpc>
                <a:spcPct val="150000"/>
              </a:lnSpc>
              <a:buNone/>
            </a:pPr>
            <a:r>
              <a:rPr lang="en-US" sz="2600" b="1" dirty="0">
                <a:latin typeface="Calibir"/>
              </a:rPr>
              <a:t>How it works</a:t>
            </a:r>
          </a:p>
          <a:p>
            <a:pPr marL="800100" lvl="1" indent="-342900">
              <a:lnSpc>
                <a:spcPct val="150000"/>
              </a:lnSpc>
              <a:buFont typeface="Arial" panose="020B0604020202020204" pitchFamily="34" charset="0"/>
              <a:buChar char="•"/>
            </a:pPr>
            <a:r>
              <a:rPr lang="en-US" sz="2600" dirty="0">
                <a:latin typeface="Calibir"/>
              </a:rPr>
              <a:t>with statement creates a </a:t>
            </a:r>
            <a:r>
              <a:rPr lang="en-US" sz="2600" i="1" dirty="0">
                <a:latin typeface="Calibir"/>
              </a:rPr>
              <a:t>temporary context</a:t>
            </a:r>
            <a:r>
              <a:rPr lang="en-US" sz="2600" dirty="0">
                <a:latin typeface="Calibir"/>
              </a:rPr>
              <a:t> (a safe block).</a:t>
            </a:r>
          </a:p>
          <a:p>
            <a:pPr marL="800100" lvl="1" indent="-342900">
              <a:lnSpc>
                <a:spcPct val="150000"/>
              </a:lnSpc>
              <a:buFont typeface="Arial" panose="020B0604020202020204" pitchFamily="34" charset="0"/>
              <a:buChar char="•"/>
            </a:pPr>
            <a:r>
              <a:rPr lang="en-US" sz="2600" dirty="0">
                <a:latin typeface="Calibir"/>
              </a:rPr>
              <a:t>When you enter the block → Python opens the file and assigns it to f.</a:t>
            </a:r>
          </a:p>
          <a:p>
            <a:pPr marL="800100" lvl="1" indent="-342900">
              <a:lnSpc>
                <a:spcPct val="150000"/>
              </a:lnSpc>
              <a:buFont typeface="Arial" panose="020B0604020202020204" pitchFamily="34" charset="0"/>
              <a:buChar char="•"/>
            </a:pPr>
            <a:r>
              <a:rPr lang="en-US" sz="2600" dirty="0">
                <a:latin typeface="Calibir"/>
              </a:rPr>
              <a:t>When you leave the block (after the indented lines finish) → Python automatically calls f.close() behind the scenes, even if an error happens.</a:t>
            </a:r>
          </a:p>
        </p:txBody>
      </p:sp>
    </p:spTree>
    <p:extLst>
      <p:ext uri="{BB962C8B-B14F-4D97-AF65-F5344CB8AC3E}">
        <p14:creationId xmlns:p14="http://schemas.microsoft.com/office/powerpoint/2010/main" val="21084297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C595A-8926-A944-D2FE-D1BBE396D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96163-9213-2EC0-07A0-7AD60DDAABC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(Python)</a:t>
            </a:r>
          </a:p>
        </p:txBody>
      </p:sp>
      <p:sp>
        <p:nvSpPr>
          <p:cNvPr id="5" name="TextBox 4">
            <a:extLst>
              <a:ext uri="{FF2B5EF4-FFF2-40B4-BE49-F238E27FC236}">
                <a16:creationId xmlns:a16="http://schemas.microsoft.com/office/drawing/2014/main" id="{F1689A0C-19A4-70C9-1C62-F4836D6D9FDA}"/>
              </a:ext>
            </a:extLst>
          </p:cNvPr>
          <p:cNvSpPr txBox="1"/>
          <p:nvPr/>
        </p:nvSpPr>
        <p:spPr>
          <a:xfrm>
            <a:off x="0" y="756745"/>
            <a:ext cx="11965258" cy="1964512"/>
          </a:xfrm>
          <a:prstGeom prst="rect">
            <a:avLst/>
          </a:prstGeom>
          <a:noFill/>
        </p:spPr>
        <p:txBody>
          <a:bodyPr wrap="square">
            <a:spAutoFit/>
          </a:bodyPr>
          <a:lstStyle/>
          <a:p>
            <a:pPr>
              <a:lnSpc>
                <a:spcPct val="150000"/>
              </a:lnSpc>
            </a:pPr>
            <a:r>
              <a:rPr lang="en-US" sz="2800" b="1" dirty="0">
                <a:latin typeface="Calibir"/>
              </a:rPr>
              <a:t>3. with open() → auto close file</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File closes by itself, safer.</a:t>
            </a:r>
          </a:p>
          <a:p>
            <a:pPr marL="457200" indent="-457200">
              <a:lnSpc>
                <a:spcPct val="150000"/>
              </a:lnSpc>
              <a:buFont typeface="Arial" panose="020B0604020202020204" pitchFamily="34" charset="0"/>
              <a:buChar char="•"/>
            </a:pPr>
            <a:r>
              <a:rPr lang="en-US" sz="2800" dirty="0">
                <a:latin typeface="Calibir"/>
              </a:rPr>
              <a:t>Example:</a:t>
            </a:r>
          </a:p>
        </p:txBody>
      </p:sp>
      <p:pic>
        <p:nvPicPr>
          <p:cNvPr id="10" name="Picture 9">
            <a:extLst>
              <a:ext uri="{FF2B5EF4-FFF2-40B4-BE49-F238E27FC236}">
                <a16:creationId xmlns:a16="http://schemas.microsoft.com/office/drawing/2014/main" id="{702CA895-8FB1-7E63-8F9B-E4269E91C2D2}"/>
              </a:ext>
            </a:extLst>
          </p:cNvPr>
          <p:cNvPicPr>
            <a:picLocks noChangeAspect="1"/>
          </p:cNvPicPr>
          <p:nvPr/>
        </p:nvPicPr>
        <p:blipFill>
          <a:blip r:embed="rId2"/>
          <a:srcRect l="7742" t="33548" r="10242" b="55395"/>
          <a:stretch>
            <a:fillRect/>
          </a:stretch>
        </p:blipFill>
        <p:spPr>
          <a:xfrm>
            <a:off x="0" y="2797861"/>
            <a:ext cx="12192000" cy="924526"/>
          </a:xfrm>
          <a:prstGeom prst="rect">
            <a:avLst/>
          </a:prstGeom>
        </p:spPr>
      </p:pic>
      <p:sp>
        <p:nvSpPr>
          <p:cNvPr id="3" name="TextBox 2">
            <a:extLst>
              <a:ext uri="{FF2B5EF4-FFF2-40B4-BE49-F238E27FC236}">
                <a16:creationId xmlns:a16="http://schemas.microsoft.com/office/drawing/2014/main" id="{13F08D7E-112D-0599-6366-F6360EA0566F}"/>
              </a:ext>
            </a:extLst>
          </p:cNvPr>
          <p:cNvSpPr txBox="1"/>
          <p:nvPr/>
        </p:nvSpPr>
        <p:spPr>
          <a:xfrm>
            <a:off x="0" y="3722387"/>
            <a:ext cx="12192000" cy="2610843"/>
          </a:xfrm>
          <a:prstGeom prst="rect">
            <a:avLst/>
          </a:prstGeom>
          <a:noFill/>
        </p:spPr>
        <p:txBody>
          <a:bodyPr wrap="square">
            <a:spAutoFit/>
          </a:bodyPr>
          <a:lstStyle/>
          <a:p>
            <a:pPr>
              <a:lnSpc>
                <a:spcPct val="150000"/>
              </a:lnSpc>
            </a:pPr>
            <a:r>
              <a:rPr lang="en-US" sz="2800" b="1" dirty="0">
                <a:latin typeface="Calibir"/>
              </a:rPr>
              <a:t>Why it’s safer</a:t>
            </a:r>
          </a:p>
          <a:p>
            <a:pPr marL="914400" lvl="1" indent="-457200">
              <a:lnSpc>
                <a:spcPct val="150000"/>
              </a:lnSpc>
              <a:buFont typeface="Arial" panose="020B0604020202020204" pitchFamily="34" charset="0"/>
              <a:buChar char="•"/>
            </a:pPr>
            <a:r>
              <a:rPr lang="en-US" sz="2800" dirty="0">
                <a:latin typeface="Calibir"/>
              </a:rPr>
              <a:t>You don’t have to remember to call f.close().</a:t>
            </a:r>
          </a:p>
          <a:p>
            <a:pPr marL="914400" lvl="1" indent="-457200">
              <a:lnSpc>
                <a:spcPct val="150000"/>
              </a:lnSpc>
              <a:buFont typeface="Arial" panose="020B0604020202020204" pitchFamily="34" charset="0"/>
              <a:buChar char="•"/>
            </a:pPr>
            <a:r>
              <a:rPr lang="en-US" sz="2800" dirty="0">
                <a:latin typeface="Calibir"/>
              </a:rPr>
              <a:t>Prevents memory leaks or locked files.</a:t>
            </a:r>
          </a:p>
          <a:p>
            <a:pPr marL="914400" lvl="1" indent="-457200">
              <a:lnSpc>
                <a:spcPct val="150000"/>
              </a:lnSpc>
              <a:buFont typeface="Arial" panose="020B0604020202020204" pitchFamily="34" charset="0"/>
              <a:buChar char="•"/>
            </a:pPr>
            <a:r>
              <a:rPr lang="en-US" sz="2800" dirty="0">
                <a:latin typeface="Calibir"/>
              </a:rPr>
              <a:t>Good habit in real projects (always use with).</a:t>
            </a:r>
          </a:p>
        </p:txBody>
      </p:sp>
    </p:spTree>
    <p:extLst>
      <p:ext uri="{BB962C8B-B14F-4D97-AF65-F5344CB8AC3E}">
        <p14:creationId xmlns:p14="http://schemas.microsoft.com/office/powerpoint/2010/main" val="28489154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3F03D-952E-04EC-C608-4B3278C62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E3286-485B-64B5-8B2F-8D0C6E161773}"/>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(Python)</a:t>
            </a:r>
          </a:p>
        </p:txBody>
      </p:sp>
      <p:sp>
        <p:nvSpPr>
          <p:cNvPr id="5" name="TextBox 4">
            <a:extLst>
              <a:ext uri="{FF2B5EF4-FFF2-40B4-BE49-F238E27FC236}">
                <a16:creationId xmlns:a16="http://schemas.microsoft.com/office/drawing/2014/main" id="{1AFF7F29-3337-0EBD-46CF-8334E7401887}"/>
              </a:ext>
            </a:extLst>
          </p:cNvPr>
          <p:cNvSpPr txBox="1"/>
          <p:nvPr/>
        </p:nvSpPr>
        <p:spPr>
          <a:xfrm>
            <a:off x="0" y="756745"/>
            <a:ext cx="11965258" cy="1964512"/>
          </a:xfrm>
          <a:prstGeom prst="rect">
            <a:avLst/>
          </a:prstGeom>
          <a:noFill/>
        </p:spPr>
        <p:txBody>
          <a:bodyPr wrap="square">
            <a:spAutoFit/>
          </a:bodyPr>
          <a:lstStyle/>
          <a:p>
            <a:pPr>
              <a:lnSpc>
                <a:spcPct val="150000"/>
              </a:lnSpc>
            </a:pPr>
            <a:r>
              <a:rPr lang="en-US" sz="2800" b="1" dirty="0">
                <a:latin typeface="Calibir"/>
              </a:rPr>
              <a:t>3. with open() → auto close file</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File closes by itself, safer.</a:t>
            </a:r>
          </a:p>
          <a:p>
            <a:pPr marL="457200" indent="-457200">
              <a:lnSpc>
                <a:spcPct val="150000"/>
              </a:lnSpc>
              <a:buFont typeface="Arial" panose="020B0604020202020204" pitchFamily="34" charset="0"/>
              <a:buChar char="•"/>
            </a:pPr>
            <a:r>
              <a:rPr lang="en-US" sz="2800" dirty="0">
                <a:latin typeface="Calibir"/>
              </a:rPr>
              <a:t>Example:</a:t>
            </a:r>
          </a:p>
        </p:txBody>
      </p:sp>
      <p:pic>
        <p:nvPicPr>
          <p:cNvPr id="10" name="Picture 9">
            <a:extLst>
              <a:ext uri="{FF2B5EF4-FFF2-40B4-BE49-F238E27FC236}">
                <a16:creationId xmlns:a16="http://schemas.microsoft.com/office/drawing/2014/main" id="{832DDB65-E37B-EE85-0AF3-23B045035AF9}"/>
              </a:ext>
            </a:extLst>
          </p:cNvPr>
          <p:cNvPicPr>
            <a:picLocks noChangeAspect="1"/>
          </p:cNvPicPr>
          <p:nvPr/>
        </p:nvPicPr>
        <p:blipFill>
          <a:blip r:embed="rId2"/>
          <a:srcRect l="7742" t="33548" r="10242" b="55395"/>
          <a:stretch>
            <a:fillRect/>
          </a:stretch>
        </p:blipFill>
        <p:spPr>
          <a:xfrm>
            <a:off x="0" y="2797861"/>
            <a:ext cx="12192000" cy="924526"/>
          </a:xfrm>
          <a:prstGeom prst="rect">
            <a:avLst/>
          </a:prstGeom>
        </p:spPr>
      </p:pic>
      <p:sp>
        <p:nvSpPr>
          <p:cNvPr id="3" name="TextBox 2">
            <a:extLst>
              <a:ext uri="{FF2B5EF4-FFF2-40B4-BE49-F238E27FC236}">
                <a16:creationId xmlns:a16="http://schemas.microsoft.com/office/drawing/2014/main" id="{7A017F1B-CBB3-CE1C-50B3-38F9A99893DA}"/>
              </a:ext>
            </a:extLst>
          </p:cNvPr>
          <p:cNvSpPr txBox="1"/>
          <p:nvPr/>
        </p:nvSpPr>
        <p:spPr>
          <a:xfrm>
            <a:off x="0" y="3722387"/>
            <a:ext cx="12192000" cy="3257174"/>
          </a:xfrm>
          <a:prstGeom prst="rect">
            <a:avLst/>
          </a:prstGeom>
          <a:noFill/>
        </p:spPr>
        <p:txBody>
          <a:bodyPr wrap="square">
            <a:spAutoFit/>
          </a:bodyPr>
          <a:lstStyle/>
          <a:p>
            <a:pPr>
              <a:lnSpc>
                <a:spcPct val="150000"/>
              </a:lnSpc>
            </a:pPr>
            <a:r>
              <a:rPr lang="en-US" sz="2800" b="1" dirty="0">
                <a:latin typeface="Calibir"/>
              </a:rPr>
              <a:t>Analogy (UTS Library):</a:t>
            </a:r>
          </a:p>
          <a:p>
            <a:pPr>
              <a:lnSpc>
                <a:spcPct val="150000"/>
              </a:lnSpc>
            </a:pPr>
            <a:r>
              <a:rPr lang="en-US" sz="2800" dirty="0">
                <a:latin typeface="Calibir"/>
              </a:rPr>
              <a:t>It’s like using a library study room with auto-lock.</a:t>
            </a:r>
          </a:p>
          <a:p>
            <a:pPr marL="914400" lvl="1" indent="-457200">
              <a:lnSpc>
                <a:spcPct val="150000"/>
              </a:lnSpc>
              <a:buFont typeface="Arial" panose="020B0604020202020204" pitchFamily="34" charset="0"/>
              <a:buChar char="•"/>
            </a:pPr>
            <a:r>
              <a:rPr lang="en-US" sz="2800" dirty="0">
                <a:latin typeface="Calibir"/>
              </a:rPr>
              <a:t>You borrow the book (open).</a:t>
            </a:r>
          </a:p>
          <a:p>
            <a:pPr marL="914400" lvl="1" indent="-457200">
              <a:lnSpc>
                <a:spcPct val="150000"/>
              </a:lnSpc>
              <a:buFont typeface="Arial" panose="020B0604020202020204" pitchFamily="34" charset="0"/>
              <a:buChar char="•"/>
            </a:pPr>
            <a:r>
              <a:rPr lang="en-US" sz="2800" dirty="0">
                <a:latin typeface="Calibir"/>
              </a:rPr>
              <a:t>You use it (read/write).</a:t>
            </a:r>
          </a:p>
          <a:p>
            <a:pPr marL="914400" lvl="1" indent="-457200">
              <a:lnSpc>
                <a:spcPct val="150000"/>
              </a:lnSpc>
              <a:buFont typeface="Arial" panose="020B0604020202020204" pitchFamily="34" charset="0"/>
              <a:buChar char="•"/>
            </a:pPr>
            <a:r>
              <a:rPr lang="en-US" sz="2800" dirty="0">
                <a:latin typeface="Calibir"/>
              </a:rPr>
              <a:t>When you leave the room, the door auto-locks (Python auto-closes file).</a:t>
            </a:r>
          </a:p>
        </p:txBody>
      </p:sp>
    </p:spTree>
    <p:extLst>
      <p:ext uri="{BB962C8B-B14F-4D97-AF65-F5344CB8AC3E}">
        <p14:creationId xmlns:p14="http://schemas.microsoft.com/office/powerpoint/2010/main" val="32995739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51072-3452-300A-C240-BB641EE54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38081-463D-9CCC-383D-67CBA172BD9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(Java)</a:t>
            </a:r>
          </a:p>
        </p:txBody>
      </p:sp>
      <p:sp>
        <p:nvSpPr>
          <p:cNvPr id="5" name="TextBox 4">
            <a:extLst>
              <a:ext uri="{FF2B5EF4-FFF2-40B4-BE49-F238E27FC236}">
                <a16:creationId xmlns:a16="http://schemas.microsoft.com/office/drawing/2014/main" id="{EAD30917-3739-22E8-6436-81CC602053F0}"/>
              </a:ext>
            </a:extLst>
          </p:cNvPr>
          <p:cNvSpPr txBox="1"/>
          <p:nvPr/>
        </p:nvSpPr>
        <p:spPr>
          <a:xfrm>
            <a:off x="0" y="600544"/>
            <a:ext cx="11965258" cy="3257174"/>
          </a:xfrm>
          <a:prstGeom prst="rect">
            <a:avLst/>
          </a:prstGeom>
          <a:noFill/>
        </p:spPr>
        <p:txBody>
          <a:bodyPr wrap="square">
            <a:spAutoFit/>
          </a:bodyPr>
          <a:lstStyle/>
          <a:p>
            <a:pPr>
              <a:lnSpc>
                <a:spcPct val="150000"/>
              </a:lnSpc>
            </a:pPr>
            <a:r>
              <a:rPr lang="en-US" sz="2800" b="1" dirty="0">
                <a:latin typeface="Calibir"/>
              </a:rPr>
              <a:t>1. Streams → byte-based data flows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Think of a stream like a pipeline that carries data, one piece at a time.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Byte streams handle raw data (good for files like images, audio, videos).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Reads or writes byte by byte (not very efficient for big files, but good for low-level control). Java </a:t>
            </a:r>
            <a:r>
              <a:rPr lang="en-US" sz="2800" dirty="0">
                <a:latin typeface="Calibir"/>
              </a:rPr>
              <a:t>Example:</a:t>
            </a:r>
          </a:p>
        </p:txBody>
      </p:sp>
      <p:pic>
        <p:nvPicPr>
          <p:cNvPr id="9" name="Picture 8">
            <a:extLst>
              <a:ext uri="{FF2B5EF4-FFF2-40B4-BE49-F238E27FC236}">
                <a16:creationId xmlns:a16="http://schemas.microsoft.com/office/drawing/2014/main" id="{44FF83E4-8C16-DDA4-136B-8666A38C4CE5}"/>
              </a:ext>
            </a:extLst>
          </p:cNvPr>
          <p:cNvPicPr>
            <a:picLocks noChangeAspect="1"/>
          </p:cNvPicPr>
          <p:nvPr/>
        </p:nvPicPr>
        <p:blipFill>
          <a:blip r:embed="rId2"/>
          <a:srcRect l="8347" t="35269" r="8306" b="47312"/>
          <a:stretch>
            <a:fillRect/>
          </a:stretch>
        </p:blipFill>
        <p:spPr>
          <a:xfrm>
            <a:off x="0" y="3857718"/>
            <a:ext cx="12192000" cy="1433313"/>
          </a:xfrm>
          <a:prstGeom prst="rect">
            <a:avLst/>
          </a:prstGeom>
        </p:spPr>
      </p:pic>
      <p:sp>
        <p:nvSpPr>
          <p:cNvPr id="6" name="TextBox 5">
            <a:extLst>
              <a:ext uri="{FF2B5EF4-FFF2-40B4-BE49-F238E27FC236}">
                <a16:creationId xmlns:a16="http://schemas.microsoft.com/office/drawing/2014/main" id="{355BBA11-0454-3C24-98AB-48DE3C45F3EF}"/>
              </a:ext>
            </a:extLst>
          </p:cNvPr>
          <p:cNvSpPr txBox="1"/>
          <p:nvPr/>
        </p:nvSpPr>
        <p:spPr>
          <a:xfrm>
            <a:off x="0" y="5421831"/>
            <a:ext cx="12192000" cy="1318181"/>
          </a:xfrm>
          <a:prstGeom prst="rect">
            <a:avLst/>
          </a:prstGeom>
          <a:solidFill>
            <a:schemeClr val="bg1"/>
          </a:solidFill>
        </p:spPr>
        <p:txBody>
          <a:bodyPr wrap="square">
            <a:spAutoFit/>
          </a:bodyPr>
          <a:lstStyle/>
          <a:p>
            <a:pPr>
              <a:lnSpc>
                <a:spcPct val="150000"/>
              </a:lnSpc>
            </a:pPr>
            <a:r>
              <a:rPr lang="en-US" sz="2800" b="1" dirty="0">
                <a:latin typeface="Calibir"/>
              </a:rPr>
              <a:t>Analogy: </a:t>
            </a:r>
            <a:r>
              <a:rPr lang="en-US" sz="2800" dirty="0">
                <a:latin typeface="Calibir"/>
              </a:rPr>
              <a:t>It’s like drinking water through a straw – you get one sip (byte) at a time, not the whole bottle.</a:t>
            </a:r>
          </a:p>
        </p:txBody>
      </p:sp>
    </p:spTree>
    <p:extLst>
      <p:ext uri="{BB962C8B-B14F-4D97-AF65-F5344CB8AC3E}">
        <p14:creationId xmlns:p14="http://schemas.microsoft.com/office/powerpoint/2010/main" val="21609372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89506-78C3-9F7E-A8F5-DA338B12D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EB6C2-CBB3-4E72-4A17-1C45FEC60295}"/>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(Java)</a:t>
            </a:r>
          </a:p>
        </p:txBody>
      </p:sp>
      <p:sp>
        <p:nvSpPr>
          <p:cNvPr id="5" name="TextBox 4">
            <a:extLst>
              <a:ext uri="{FF2B5EF4-FFF2-40B4-BE49-F238E27FC236}">
                <a16:creationId xmlns:a16="http://schemas.microsoft.com/office/drawing/2014/main" id="{78C78C65-F8EB-16FC-D79F-CBE84EEB7D5B}"/>
              </a:ext>
            </a:extLst>
          </p:cNvPr>
          <p:cNvSpPr txBox="1"/>
          <p:nvPr/>
        </p:nvSpPr>
        <p:spPr>
          <a:xfrm>
            <a:off x="0" y="887545"/>
            <a:ext cx="11965258" cy="1318181"/>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Use </a:t>
            </a:r>
            <a:r>
              <a:rPr lang="en-US" altLang="en-US" sz="2800" dirty="0" err="1">
                <a:latin typeface="Calibir"/>
              </a:rPr>
              <a:t>FileInputStream</a:t>
            </a:r>
            <a:r>
              <a:rPr lang="en-US" altLang="en-US" sz="2800" dirty="0">
                <a:latin typeface="Calibir"/>
              </a:rPr>
              <a:t> / </a:t>
            </a:r>
            <a:r>
              <a:rPr lang="en-US" altLang="en-US" sz="2800" dirty="0" err="1">
                <a:latin typeface="Calibir"/>
              </a:rPr>
              <a:t>FileOutputStream</a:t>
            </a:r>
            <a:r>
              <a:rPr lang="en-US" altLang="en-US" sz="2800" dirty="0">
                <a:latin typeface="Calibir"/>
              </a:rPr>
              <a:t> for binary files (e.g., images, audio).</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For text files, it’s better to use Readers/Writers (character-based).</a:t>
            </a:r>
          </a:p>
        </p:txBody>
      </p:sp>
      <p:pic>
        <p:nvPicPr>
          <p:cNvPr id="9" name="Picture 8">
            <a:extLst>
              <a:ext uri="{FF2B5EF4-FFF2-40B4-BE49-F238E27FC236}">
                <a16:creationId xmlns:a16="http://schemas.microsoft.com/office/drawing/2014/main" id="{7AFC0862-C82C-7CF3-8417-0CE385804702}"/>
              </a:ext>
            </a:extLst>
          </p:cNvPr>
          <p:cNvPicPr>
            <a:picLocks noChangeAspect="1"/>
          </p:cNvPicPr>
          <p:nvPr/>
        </p:nvPicPr>
        <p:blipFill>
          <a:blip r:embed="rId2"/>
          <a:srcRect l="8347" t="35269" r="8306" b="47312"/>
          <a:stretch>
            <a:fillRect/>
          </a:stretch>
        </p:blipFill>
        <p:spPr>
          <a:xfrm>
            <a:off x="0" y="3857718"/>
            <a:ext cx="12192000" cy="1433313"/>
          </a:xfrm>
          <a:prstGeom prst="rect">
            <a:avLst/>
          </a:prstGeom>
        </p:spPr>
      </p:pic>
    </p:spTree>
    <p:extLst>
      <p:ext uri="{BB962C8B-B14F-4D97-AF65-F5344CB8AC3E}">
        <p14:creationId xmlns:p14="http://schemas.microsoft.com/office/powerpoint/2010/main" val="6845473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C90E8-3E50-EE86-0A80-FECC40431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75080-3925-60CE-179E-061605D4569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(Java)</a:t>
            </a:r>
          </a:p>
        </p:txBody>
      </p:sp>
      <p:sp>
        <p:nvSpPr>
          <p:cNvPr id="5" name="TextBox 4">
            <a:extLst>
              <a:ext uri="{FF2B5EF4-FFF2-40B4-BE49-F238E27FC236}">
                <a16:creationId xmlns:a16="http://schemas.microsoft.com/office/drawing/2014/main" id="{1FD1A52E-2AC7-712D-EDCA-36892B0BFAA6}"/>
              </a:ext>
            </a:extLst>
          </p:cNvPr>
          <p:cNvSpPr txBox="1"/>
          <p:nvPr/>
        </p:nvSpPr>
        <p:spPr>
          <a:xfrm>
            <a:off x="0" y="756745"/>
            <a:ext cx="11965258" cy="2610843"/>
          </a:xfrm>
          <a:prstGeom prst="rect">
            <a:avLst/>
          </a:prstGeom>
          <a:noFill/>
        </p:spPr>
        <p:txBody>
          <a:bodyPr wrap="square">
            <a:spAutoFit/>
          </a:bodyPr>
          <a:lstStyle/>
          <a:p>
            <a:pPr>
              <a:lnSpc>
                <a:spcPct val="150000"/>
              </a:lnSpc>
            </a:pPr>
            <a:r>
              <a:rPr lang="en-US" sz="2800" b="1" dirty="0">
                <a:latin typeface="Calibir"/>
              </a:rPr>
              <a:t>2. </a:t>
            </a:r>
            <a:r>
              <a:rPr lang="en-US" sz="2800" b="1" dirty="0" err="1">
                <a:latin typeface="Calibir"/>
              </a:rPr>
              <a:t>InputStream</a:t>
            </a:r>
            <a:r>
              <a:rPr lang="en-US" sz="2800" b="1" dirty="0">
                <a:latin typeface="Calibir"/>
              </a:rPr>
              <a:t> (read), </a:t>
            </a:r>
            <a:r>
              <a:rPr lang="en-US" sz="2800" b="1" dirty="0" err="1">
                <a:latin typeface="Calibir"/>
              </a:rPr>
              <a:t>OutputStream</a:t>
            </a:r>
            <a:r>
              <a:rPr lang="en-US" sz="2800" b="1" dirty="0">
                <a:latin typeface="Calibir"/>
              </a:rPr>
              <a:t> (write)</a:t>
            </a:r>
            <a:endParaRPr 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b="1" dirty="0" err="1">
                <a:latin typeface="Calibir"/>
              </a:rPr>
              <a:t>InputStream</a:t>
            </a:r>
            <a:r>
              <a:rPr lang="en-US" altLang="en-US" sz="2800" dirty="0">
                <a:latin typeface="Calibir"/>
              </a:rPr>
              <a:t> → bring data in (read from file).</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b="1" dirty="0" err="1">
                <a:latin typeface="Calibir"/>
              </a:rPr>
              <a:t>OutputStream</a:t>
            </a:r>
            <a:r>
              <a:rPr lang="en-US" altLang="en-US" sz="2800" dirty="0">
                <a:latin typeface="Calibir"/>
              </a:rPr>
              <a:t> → send data out (write to file).</a:t>
            </a:r>
          </a:p>
          <a:p>
            <a:pPr lvl="1" indent="-457200">
              <a:lnSpc>
                <a:spcPct val="150000"/>
              </a:lnSpc>
              <a:buFont typeface="Arial" panose="020B0604020202020204" pitchFamily="34" charset="0"/>
              <a:buChar char="•"/>
            </a:pPr>
            <a:r>
              <a:rPr lang="en-US" sz="2800" dirty="0">
                <a:latin typeface="Calibir"/>
              </a:rPr>
              <a:t>Java Example:</a:t>
            </a:r>
          </a:p>
        </p:txBody>
      </p:sp>
      <p:pic>
        <p:nvPicPr>
          <p:cNvPr id="8" name="Picture 7">
            <a:extLst>
              <a:ext uri="{FF2B5EF4-FFF2-40B4-BE49-F238E27FC236}">
                <a16:creationId xmlns:a16="http://schemas.microsoft.com/office/drawing/2014/main" id="{D2BFDD76-2353-5EC0-63BA-B7950F814900}"/>
              </a:ext>
            </a:extLst>
          </p:cNvPr>
          <p:cNvPicPr>
            <a:picLocks noChangeAspect="1"/>
          </p:cNvPicPr>
          <p:nvPr/>
        </p:nvPicPr>
        <p:blipFill>
          <a:blip r:embed="rId2"/>
          <a:srcRect l="7863" t="41720" r="14839" b="39785"/>
          <a:stretch>
            <a:fillRect/>
          </a:stretch>
        </p:blipFill>
        <p:spPr>
          <a:xfrm>
            <a:off x="-1" y="3264351"/>
            <a:ext cx="12191999" cy="1640863"/>
          </a:xfrm>
          <a:prstGeom prst="rect">
            <a:avLst/>
          </a:prstGeom>
        </p:spPr>
      </p:pic>
      <p:sp>
        <p:nvSpPr>
          <p:cNvPr id="6" name="TextBox 5">
            <a:extLst>
              <a:ext uri="{FF2B5EF4-FFF2-40B4-BE49-F238E27FC236}">
                <a16:creationId xmlns:a16="http://schemas.microsoft.com/office/drawing/2014/main" id="{1B5C36A0-F21A-5030-973A-2C2E5A1E41D2}"/>
              </a:ext>
            </a:extLst>
          </p:cNvPr>
          <p:cNvSpPr txBox="1"/>
          <p:nvPr/>
        </p:nvSpPr>
        <p:spPr>
          <a:xfrm>
            <a:off x="-10432" y="4786792"/>
            <a:ext cx="11975690" cy="2071208"/>
          </a:xfrm>
          <a:prstGeom prst="rect">
            <a:avLst/>
          </a:prstGeom>
          <a:noFill/>
        </p:spPr>
        <p:txBody>
          <a:bodyPr wrap="square">
            <a:spAutoFit/>
          </a:bodyPr>
          <a:lstStyle/>
          <a:p>
            <a:pPr>
              <a:lnSpc>
                <a:spcPct val="150000"/>
              </a:lnSpc>
              <a:buNone/>
            </a:pPr>
            <a:r>
              <a:rPr lang="en-US" sz="2200" b="1" dirty="0">
                <a:latin typeface="Calibir"/>
              </a:rPr>
              <a:t>Analogy:</a:t>
            </a:r>
            <a:br>
              <a:rPr lang="en-US" sz="2200" dirty="0">
                <a:latin typeface="Calibir"/>
              </a:rPr>
            </a:br>
            <a:r>
              <a:rPr lang="en-US" sz="2200" dirty="0">
                <a:latin typeface="Calibir"/>
              </a:rPr>
              <a:t>Think of a water pipe system:</a:t>
            </a:r>
          </a:p>
          <a:p>
            <a:pPr marL="342900" indent="-342900">
              <a:lnSpc>
                <a:spcPct val="150000"/>
              </a:lnSpc>
              <a:buFont typeface="Arial" panose="020B0604020202020204" pitchFamily="34" charset="0"/>
              <a:buChar char="•"/>
            </a:pPr>
            <a:r>
              <a:rPr lang="en-US" sz="2200" dirty="0" err="1">
                <a:latin typeface="Calibir"/>
              </a:rPr>
              <a:t>InputStream</a:t>
            </a:r>
            <a:r>
              <a:rPr lang="en-US" sz="2200" dirty="0">
                <a:latin typeface="Calibir"/>
              </a:rPr>
              <a:t> = water coming into your house (reading data).</a:t>
            </a:r>
          </a:p>
          <a:p>
            <a:pPr marL="342900" indent="-342900">
              <a:lnSpc>
                <a:spcPct val="150000"/>
              </a:lnSpc>
              <a:buFont typeface="Arial" panose="020B0604020202020204" pitchFamily="34" charset="0"/>
              <a:buChar char="•"/>
            </a:pPr>
            <a:r>
              <a:rPr lang="en-US" sz="2200" dirty="0" err="1">
                <a:latin typeface="Calibir"/>
              </a:rPr>
              <a:t>OutputStream</a:t>
            </a:r>
            <a:r>
              <a:rPr lang="en-US" sz="2200" dirty="0">
                <a:latin typeface="Calibir"/>
              </a:rPr>
              <a:t> = water going out of your house (writing data).</a:t>
            </a:r>
          </a:p>
        </p:txBody>
      </p:sp>
    </p:spTree>
    <p:extLst>
      <p:ext uri="{BB962C8B-B14F-4D97-AF65-F5344CB8AC3E}">
        <p14:creationId xmlns:p14="http://schemas.microsoft.com/office/powerpoint/2010/main" val="41159357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5D0AF-43B9-EECC-7948-3F202F413F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658E3-E1A7-9FBC-C792-C5D6E3EF20EB}"/>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(Java)</a:t>
            </a:r>
          </a:p>
        </p:txBody>
      </p:sp>
      <p:sp>
        <p:nvSpPr>
          <p:cNvPr id="5" name="TextBox 4">
            <a:extLst>
              <a:ext uri="{FF2B5EF4-FFF2-40B4-BE49-F238E27FC236}">
                <a16:creationId xmlns:a16="http://schemas.microsoft.com/office/drawing/2014/main" id="{C8DA3887-9A11-C9C1-A073-5F2FAB7C5C37}"/>
              </a:ext>
            </a:extLst>
          </p:cNvPr>
          <p:cNvSpPr txBox="1"/>
          <p:nvPr/>
        </p:nvSpPr>
        <p:spPr>
          <a:xfrm>
            <a:off x="0" y="756745"/>
            <a:ext cx="11965258" cy="2610843"/>
          </a:xfrm>
          <a:prstGeom prst="rect">
            <a:avLst/>
          </a:prstGeom>
          <a:noFill/>
        </p:spPr>
        <p:txBody>
          <a:bodyPr wrap="square">
            <a:spAutoFit/>
          </a:bodyPr>
          <a:lstStyle/>
          <a:p>
            <a:pPr>
              <a:lnSpc>
                <a:spcPct val="150000"/>
              </a:lnSpc>
            </a:pPr>
            <a:r>
              <a:rPr lang="en-US" sz="2800" b="1" dirty="0">
                <a:latin typeface="Calibir"/>
              </a:rPr>
              <a:t>2. </a:t>
            </a:r>
            <a:r>
              <a:rPr lang="en-US" sz="2800" b="1" dirty="0" err="1">
                <a:latin typeface="Calibir"/>
              </a:rPr>
              <a:t>InputStream</a:t>
            </a:r>
            <a:r>
              <a:rPr lang="en-US" sz="2800" b="1" dirty="0">
                <a:latin typeface="Calibir"/>
              </a:rPr>
              <a:t> (read), </a:t>
            </a:r>
            <a:r>
              <a:rPr lang="en-US" sz="2800" b="1" dirty="0" err="1">
                <a:latin typeface="Calibir"/>
              </a:rPr>
              <a:t>OutputStream</a:t>
            </a:r>
            <a:r>
              <a:rPr lang="en-US" sz="2800" b="1" dirty="0">
                <a:latin typeface="Calibir"/>
              </a:rPr>
              <a:t> (write)</a:t>
            </a:r>
            <a:endParaRPr 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b="1" dirty="0" err="1">
                <a:latin typeface="Calibir"/>
              </a:rPr>
              <a:t>InputStream</a:t>
            </a:r>
            <a:r>
              <a:rPr lang="en-US" altLang="en-US" sz="2800" dirty="0">
                <a:latin typeface="Calibir"/>
              </a:rPr>
              <a:t> → bring data in (read from file).</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b="1" dirty="0" err="1">
                <a:latin typeface="Calibir"/>
              </a:rPr>
              <a:t>OutputStream</a:t>
            </a:r>
            <a:r>
              <a:rPr lang="en-US" altLang="en-US" sz="2800" dirty="0">
                <a:latin typeface="Calibir"/>
              </a:rPr>
              <a:t> → send data out (write to file).</a:t>
            </a:r>
          </a:p>
          <a:p>
            <a:pPr lvl="1" indent="-457200">
              <a:lnSpc>
                <a:spcPct val="150000"/>
              </a:lnSpc>
              <a:buFont typeface="Arial" panose="020B0604020202020204" pitchFamily="34" charset="0"/>
              <a:buChar char="•"/>
            </a:pPr>
            <a:r>
              <a:rPr lang="en-US" sz="2800" dirty="0">
                <a:latin typeface="Calibir"/>
              </a:rPr>
              <a:t>Java Example:</a:t>
            </a:r>
          </a:p>
        </p:txBody>
      </p:sp>
      <p:pic>
        <p:nvPicPr>
          <p:cNvPr id="8" name="Picture 7">
            <a:extLst>
              <a:ext uri="{FF2B5EF4-FFF2-40B4-BE49-F238E27FC236}">
                <a16:creationId xmlns:a16="http://schemas.microsoft.com/office/drawing/2014/main" id="{CF04DB4A-6AD8-0E6A-16E9-EAA7665E0AA5}"/>
              </a:ext>
            </a:extLst>
          </p:cNvPr>
          <p:cNvPicPr>
            <a:picLocks noChangeAspect="1"/>
          </p:cNvPicPr>
          <p:nvPr/>
        </p:nvPicPr>
        <p:blipFill>
          <a:blip r:embed="rId2"/>
          <a:srcRect l="7863" t="41720" r="14839" b="39785"/>
          <a:stretch>
            <a:fillRect/>
          </a:stretch>
        </p:blipFill>
        <p:spPr>
          <a:xfrm>
            <a:off x="-1" y="3264351"/>
            <a:ext cx="12191999" cy="1640863"/>
          </a:xfrm>
          <a:prstGeom prst="rect">
            <a:avLst/>
          </a:prstGeom>
        </p:spPr>
      </p:pic>
      <p:sp>
        <p:nvSpPr>
          <p:cNvPr id="6" name="TextBox 5">
            <a:extLst>
              <a:ext uri="{FF2B5EF4-FFF2-40B4-BE49-F238E27FC236}">
                <a16:creationId xmlns:a16="http://schemas.microsoft.com/office/drawing/2014/main" id="{CFBBEC61-AB16-9178-4C58-5A66C3D80FCF}"/>
              </a:ext>
            </a:extLst>
          </p:cNvPr>
          <p:cNvSpPr txBox="1"/>
          <p:nvPr/>
        </p:nvSpPr>
        <p:spPr>
          <a:xfrm>
            <a:off x="-10432" y="4786792"/>
            <a:ext cx="11975690" cy="1964512"/>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err="1">
                <a:latin typeface="Calibir"/>
              </a:rPr>
              <a:t>out.write</a:t>
            </a:r>
            <a:r>
              <a:rPr lang="en-US" altLang="en-US" sz="2800" dirty="0">
                <a:latin typeface="Calibir"/>
              </a:rPr>
              <a:t>(65) writes the ASCII code 65, which is the letter 'A'.</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Streams only handle bytes → good for binary files, not ideal for text (use Readers/Writers for that).</a:t>
            </a:r>
          </a:p>
        </p:txBody>
      </p:sp>
    </p:spTree>
    <p:extLst>
      <p:ext uri="{BB962C8B-B14F-4D97-AF65-F5344CB8AC3E}">
        <p14:creationId xmlns:p14="http://schemas.microsoft.com/office/powerpoint/2010/main" val="27827092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B96A0-B7C8-E53A-4677-9C1E3866D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AB443-5043-0BCA-BC63-71AB9D65BC8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(Java)</a:t>
            </a:r>
          </a:p>
        </p:txBody>
      </p:sp>
      <p:sp>
        <p:nvSpPr>
          <p:cNvPr id="5" name="TextBox 4">
            <a:extLst>
              <a:ext uri="{FF2B5EF4-FFF2-40B4-BE49-F238E27FC236}">
                <a16:creationId xmlns:a16="http://schemas.microsoft.com/office/drawing/2014/main" id="{BFC0A191-88AA-337D-D3F8-0E0273704922}"/>
              </a:ext>
            </a:extLst>
          </p:cNvPr>
          <p:cNvSpPr txBox="1"/>
          <p:nvPr/>
        </p:nvSpPr>
        <p:spPr>
          <a:xfrm>
            <a:off x="0" y="550268"/>
            <a:ext cx="11965258" cy="2610843"/>
          </a:xfrm>
          <a:prstGeom prst="rect">
            <a:avLst/>
          </a:prstGeom>
          <a:noFill/>
        </p:spPr>
        <p:txBody>
          <a:bodyPr wrap="square">
            <a:spAutoFit/>
          </a:bodyPr>
          <a:lstStyle/>
          <a:p>
            <a:pPr>
              <a:lnSpc>
                <a:spcPct val="150000"/>
              </a:lnSpc>
            </a:pPr>
            <a:r>
              <a:rPr lang="en-US" sz="2800" b="1" dirty="0">
                <a:latin typeface="Calibir"/>
              </a:rPr>
              <a:t>3. Readers/Writers → for text (characters)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Use when dealing with plain text (letters, words, sentences).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Works with characters, not raw bytes → makes it easier for text files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Java Example:</a:t>
            </a:r>
          </a:p>
        </p:txBody>
      </p:sp>
      <p:pic>
        <p:nvPicPr>
          <p:cNvPr id="16" name="Picture 15">
            <a:extLst>
              <a:ext uri="{FF2B5EF4-FFF2-40B4-BE49-F238E27FC236}">
                <a16:creationId xmlns:a16="http://schemas.microsoft.com/office/drawing/2014/main" id="{B2A1C9B1-8166-D178-5503-8239CE86567C}"/>
              </a:ext>
            </a:extLst>
          </p:cNvPr>
          <p:cNvPicPr>
            <a:picLocks noChangeAspect="1"/>
          </p:cNvPicPr>
          <p:nvPr/>
        </p:nvPicPr>
        <p:blipFill>
          <a:blip r:embed="rId2"/>
          <a:srcRect l="7258" t="37951" r="23428" b="41329"/>
          <a:stretch>
            <a:fillRect/>
          </a:stretch>
        </p:blipFill>
        <p:spPr>
          <a:xfrm>
            <a:off x="0" y="3067665"/>
            <a:ext cx="12192000" cy="2050026"/>
          </a:xfrm>
          <a:prstGeom prst="rect">
            <a:avLst/>
          </a:prstGeom>
        </p:spPr>
      </p:pic>
      <p:sp>
        <p:nvSpPr>
          <p:cNvPr id="6" name="TextBox 5">
            <a:extLst>
              <a:ext uri="{FF2B5EF4-FFF2-40B4-BE49-F238E27FC236}">
                <a16:creationId xmlns:a16="http://schemas.microsoft.com/office/drawing/2014/main" id="{E0F6A837-3113-A2D3-989F-A96B05CADC52}"/>
              </a:ext>
            </a:extLst>
          </p:cNvPr>
          <p:cNvSpPr txBox="1"/>
          <p:nvPr/>
        </p:nvSpPr>
        <p:spPr>
          <a:xfrm>
            <a:off x="-10432" y="5117691"/>
            <a:ext cx="12192000" cy="1763944"/>
          </a:xfrm>
          <a:prstGeom prst="rect">
            <a:avLst/>
          </a:prstGeom>
          <a:solidFill>
            <a:schemeClr val="bg1"/>
          </a:solidFill>
          <a:ln>
            <a:solidFill>
              <a:srgbClr val="FF0000"/>
            </a:solidFill>
          </a:ln>
        </p:spPr>
        <p:txBody>
          <a:bodyPr wrap="square">
            <a:spAutoFit/>
          </a:bodyPr>
          <a:lstStyle/>
          <a:p>
            <a:pPr>
              <a:lnSpc>
                <a:spcPct val="150000"/>
              </a:lnSpc>
            </a:pPr>
            <a:r>
              <a:rPr lang="en-US" sz="2500" b="1" dirty="0">
                <a:latin typeface="Calibir"/>
              </a:rPr>
              <a:t>Analogy:</a:t>
            </a:r>
          </a:p>
          <a:p>
            <a:pPr marL="342900" indent="-342900">
              <a:lnSpc>
                <a:spcPct val="150000"/>
              </a:lnSpc>
              <a:buFont typeface="Arial" panose="020B0604020202020204" pitchFamily="34" charset="0"/>
              <a:buChar char="•"/>
            </a:pPr>
            <a:r>
              <a:rPr lang="en-US" sz="2500" dirty="0">
                <a:latin typeface="Calibir"/>
              </a:rPr>
              <a:t>Think of Streams as moving Lego blocks (bytes) one by one.</a:t>
            </a:r>
          </a:p>
          <a:p>
            <a:pPr marL="342900" indent="-342900">
              <a:lnSpc>
                <a:spcPct val="150000"/>
              </a:lnSpc>
              <a:buFont typeface="Arial" panose="020B0604020202020204" pitchFamily="34" charset="0"/>
              <a:buChar char="•"/>
            </a:pPr>
            <a:r>
              <a:rPr lang="en-US" sz="2500" dirty="0">
                <a:latin typeface="Calibir"/>
              </a:rPr>
              <a:t>Readers/Writers are smarter – they understand letters and words, not just blocks.</a:t>
            </a:r>
          </a:p>
        </p:txBody>
      </p:sp>
    </p:spTree>
    <p:extLst>
      <p:ext uri="{BB962C8B-B14F-4D97-AF65-F5344CB8AC3E}">
        <p14:creationId xmlns:p14="http://schemas.microsoft.com/office/powerpoint/2010/main" val="23890687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4D8AF-4E66-1441-79D8-F653D2693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98A11-8660-79B8-7598-F3E1577CA60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 Handling Basics (Java)</a:t>
            </a:r>
          </a:p>
        </p:txBody>
      </p:sp>
      <p:sp>
        <p:nvSpPr>
          <p:cNvPr id="5" name="TextBox 4">
            <a:extLst>
              <a:ext uri="{FF2B5EF4-FFF2-40B4-BE49-F238E27FC236}">
                <a16:creationId xmlns:a16="http://schemas.microsoft.com/office/drawing/2014/main" id="{444F3049-BE62-0A82-1002-2B0F6E14628C}"/>
              </a:ext>
            </a:extLst>
          </p:cNvPr>
          <p:cNvSpPr txBox="1"/>
          <p:nvPr/>
        </p:nvSpPr>
        <p:spPr>
          <a:xfrm>
            <a:off x="0" y="550268"/>
            <a:ext cx="11965258" cy="2610843"/>
          </a:xfrm>
          <a:prstGeom prst="rect">
            <a:avLst/>
          </a:prstGeom>
          <a:noFill/>
        </p:spPr>
        <p:txBody>
          <a:bodyPr wrap="square">
            <a:spAutoFit/>
          </a:bodyPr>
          <a:lstStyle/>
          <a:p>
            <a:pPr>
              <a:lnSpc>
                <a:spcPct val="150000"/>
              </a:lnSpc>
            </a:pPr>
            <a:r>
              <a:rPr lang="en-US" sz="2800" b="1" dirty="0">
                <a:latin typeface="Calibir"/>
              </a:rPr>
              <a:t>3. Readers/Writers → for text (characters)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Use when dealing with plain text (letters, words, sentences).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Works with characters, not raw bytes → makes it easier for text files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Java Example:</a:t>
            </a:r>
          </a:p>
        </p:txBody>
      </p:sp>
      <p:pic>
        <p:nvPicPr>
          <p:cNvPr id="16" name="Picture 15">
            <a:extLst>
              <a:ext uri="{FF2B5EF4-FFF2-40B4-BE49-F238E27FC236}">
                <a16:creationId xmlns:a16="http://schemas.microsoft.com/office/drawing/2014/main" id="{A4DD6217-3A08-D7EB-7C24-080AE5FB0B5B}"/>
              </a:ext>
            </a:extLst>
          </p:cNvPr>
          <p:cNvPicPr>
            <a:picLocks noChangeAspect="1"/>
          </p:cNvPicPr>
          <p:nvPr/>
        </p:nvPicPr>
        <p:blipFill>
          <a:blip r:embed="rId2"/>
          <a:srcRect l="7258" t="37951" r="23428" b="41329"/>
          <a:stretch>
            <a:fillRect/>
          </a:stretch>
        </p:blipFill>
        <p:spPr>
          <a:xfrm>
            <a:off x="0" y="3067665"/>
            <a:ext cx="12192000" cy="2050026"/>
          </a:xfrm>
          <a:prstGeom prst="rect">
            <a:avLst/>
          </a:prstGeom>
        </p:spPr>
      </p:pic>
      <p:sp>
        <p:nvSpPr>
          <p:cNvPr id="6" name="TextBox 5">
            <a:extLst>
              <a:ext uri="{FF2B5EF4-FFF2-40B4-BE49-F238E27FC236}">
                <a16:creationId xmlns:a16="http://schemas.microsoft.com/office/drawing/2014/main" id="{911D6457-7176-241D-E189-C10BA1D4E65C}"/>
              </a:ext>
            </a:extLst>
          </p:cNvPr>
          <p:cNvSpPr txBox="1"/>
          <p:nvPr/>
        </p:nvSpPr>
        <p:spPr>
          <a:xfrm>
            <a:off x="-10432" y="5117691"/>
            <a:ext cx="12192000" cy="1318181"/>
          </a:xfrm>
          <a:prstGeom prst="rect">
            <a:avLst/>
          </a:prstGeom>
          <a:solidFill>
            <a:schemeClr val="bg1"/>
          </a:solidFill>
          <a:ln>
            <a:solidFill>
              <a:srgbClr val="FF0000"/>
            </a:solidFill>
          </a:ln>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Use FileReader/</a:t>
            </a:r>
            <a:r>
              <a:rPr lang="en-US" altLang="en-US" sz="2800" dirty="0" err="1">
                <a:latin typeface="Calibir"/>
              </a:rPr>
              <a:t>FileWriter</a:t>
            </a:r>
            <a:r>
              <a:rPr lang="en-US" altLang="en-US" sz="2800" dirty="0">
                <a:latin typeface="Calibir"/>
              </a:rPr>
              <a:t> for text files (like .txt).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Use </a:t>
            </a:r>
            <a:r>
              <a:rPr lang="en-US" altLang="en-US" sz="2800" dirty="0" err="1">
                <a:latin typeface="Calibir"/>
              </a:rPr>
              <a:t>FileInputStream</a:t>
            </a:r>
            <a:r>
              <a:rPr lang="en-US" altLang="en-US" sz="2800" dirty="0">
                <a:latin typeface="Calibir"/>
              </a:rPr>
              <a:t>/</a:t>
            </a:r>
            <a:r>
              <a:rPr lang="en-US" altLang="en-US" sz="2800" dirty="0" err="1">
                <a:latin typeface="Calibir"/>
              </a:rPr>
              <a:t>FileOutputStream</a:t>
            </a:r>
            <a:r>
              <a:rPr lang="en-US" altLang="en-US" sz="2800" dirty="0">
                <a:latin typeface="Calibir"/>
              </a:rPr>
              <a:t> for binary files (like .jpg, .mp3).</a:t>
            </a:r>
          </a:p>
        </p:txBody>
      </p:sp>
    </p:spTree>
    <p:extLst>
      <p:ext uri="{BB962C8B-B14F-4D97-AF65-F5344CB8AC3E}">
        <p14:creationId xmlns:p14="http://schemas.microsoft.com/office/powerpoint/2010/main" val="2411725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FD835-799C-B181-9BBD-15C4D3C45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71499-0659-8E10-7F4D-1A3602139F0D}"/>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Files &amp; Directories (Python with os module)</a:t>
            </a:r>
          </a:p>
        </p:txBody>
      </p:sp>
      <p:sp>
        <p:nvSpPr>
          <p:cNvPr id="5" name="TextBox 4">
            <a:extLst>
              <a:ext uri="{FF2B5EF4-FFF2-40B4-BE49-F238E27FC236}">
                <a16:creationId xmlns:a16="http://schemas.microsoft.com/office/drawing/2014/main" id="{1F5B93DC-30DB-0821-8A4C-E80CA9FC8E69}"/>
              </a:ext>
            </a:extLst>
          </p:cNvPr>
          <p:cNvSpPr txBox="1"/>
          <p:nvPr/>
        </p:nvSpPr>
        <p:spPr>
          <a:xfrm>
            <a:off x="0" y="756745"/>
            <a:ext cx="11965258" cy="2610843"/>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os.path.exists("file.txt")</a:t>
            </a:r>
            <a:r>
              <a:rPr lang="en-US" altLang="en-US" sz="2800" dirty="0">
                <a:latin typeface="Calibir"/>
              </a:rPr>
              <a:t> → check if file exists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err="1">
                <a:latin typeface="Calibir"/>
              </a:rPr>
              <a:t>os.remove</a:t>
            </a:r>
            <a:r>
              <a:rPr lang="en-US" altLang="en-US" sz="2800" b="1" dirty="0">
                <a:latin typeface="Calibir"/>
              </a:rPr>
              <a:t>("file.txt")</a:t>
            </a:r>
            <a:r>
              <a:rPr lang="en-US" altLang="en-US" sz="2800" dirty="0">
                <a:latin typeface="Calibir"/>
              </a:rPr>
              <a:t> → delete file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err="1">
                <a:latin typeface="Calibir"/>
              </a:rPr>
              <a:t>os.mkdir</a:t>
            </a:r>
            <a:r>
              <a:rPr lang="en-US" altLang="en-US" sz="2800" b="1" dirty="0">
                <a:latin typeface="Calibir"/>
              </a:rPr>
              <a:t>("</a:t>
            </a:r>
            <a:r>
              <a:rPr lang="en-US" altLang="en-US" sz="2800" b="1" dirty="0" err="1">
                <a:latin typeface="Calibir"/>
              </a:rPr>
              <a:t>new_folder</a:t>
            </a:r>
            <a:r>
              <a:rPr lang="en-US" altLang="en-US" sz="2800" b="1" dirty="0">
                <a:latin typeface="Calibir"/>
              </a:rPr>
              <a:t>")</a:t>
            </a:r>
            <a:r>
              <a:rPr lang="en-US" altLang="en-US" sz="2800" dirty="0">
                <a:latin typeface="Calibir"/>
              </a:rPr>
              <a:t> → make new folder</a:t>
            </a:r>
          </a:p>
          <a:p>
            <a:pPr lvl="0" eaLnBrk="0" fontAlgn="base" hangingPunct="0">
              <a:lnSpc>
                <a:spcPct val="150000"/>
              </a:lnSpc>
              <a:spcBef>
                <a:spcPct val="0"/>
              </a:spcBef>
              <a:spcAft>
                <a:spcPct val="0"/>
              </a:spcAft>
            </a:pPr>
            <a:r>
              <a:rPr lang="en-US" altLang="en-US" sz="2800" dirty="0">
                <a:latin typeface="Calibir"/>
              </a:rPr>
              <a:t>Python Example:</a:t>
            </a:r>
          </a:p>
        </p:txBody>
      </p:sp>
      <p:pic>
        <p:nvPicPr>
          <p:cNvPr id="9" name="Picture 8">
            <a:extLst>
              <a:ext uri="{FF2B5EF4-FFF2-40B4-BE49-F238E27FC236}">
                <a16:creationId xmlns:a16="http://schemas.microsoft.com/office/drawing/2014/main" id="{50670D3A-C195-E9AA-9E72-83F201FCC706}"/>
              </a:ext>
            </a:extLst>
          </p:cNvPr>
          <p:cNvPicPr>
            <a:picLocks noChangeAspect="1"/>
          </p:cNvPicPr>
          <p:nvPr/>
        </p:nvPicPr>
        <p:blipFill>
          <a:blip r:embed="rId2"/>
          <a:srcRect l="7742" t="43011" r="7943" b="18279"/>
          <a:stretch>
            <a:fillRect/>
          </a:stretch>
        </p:blipFill>
        <p:spPr>
          <a:xfrm>
            <a:off x="1" y="3490413"/>
            <a:ext cx="12191999" cy="3148580"/>
          </a:xfrm>
          <a:prstGeom prst="rect">
            <a:avLst/>
          </a:prstGeom>
        </p:spPr>
      </p:pic>
      <p:sp>
        <p:nvSpPr>
          <p:cNvPr id="11" name="TextBox 10">
            <a:extLst>
              <a:ext uri="{FF2B5EF4-FFF2-40B4-BE49-F238E27FC236}">
                <a16:creationId xmlns:a16="http://schemas.microsoft.com/office/drawing/2014/main" id="{8D7EE610-6AAE-E7CC-71D0-C1717DF7D2C1}"/>
              </a:ext>
            </a:extLst>
          </p:cNvPr>
          <p:cNvSpPr txBox="1"/>
          <p:nvPr/>
        </p:nvSpPr>
        <p:spPr>
          <a:xfrm>
            <a:off x="7211961" y="756745"/>
            <a:ext cx="4980039" cy="4284763"/>
          </a:xfrm>
          <a:prstGeom prst="rect">
            <a:avLst/>
          </a:prstGeom>
          <a:solidFill>
            <a:schemeClr val="bg1"/>
          </a:solidFill>
          <a:ln>
            <a:solidFill>
              <a:srgbClr val="FF0000"/>
            </a:solidFill>
          </a:ln>
        </p:spPr>
        <p:txBody>
          <a:bodyPr wrap="square">
            <a:spAutoFit/>
          </a:bodyPr>
          <a:lstStyle/>
          <a:p>
            <a:pPr>
              <a:lnSpc>
                <a:spcPct val="150000"/>
              </a:lnSpc>
              <a:buNone/>
            </a:pPr>
            <a:r>
              <a:rPr lang="en-US" sz="2300" b="1" dirty="0">
                <a:latin typeface="Calibir"/>
              </a:rPr>
              <a:t>Analogy:</a:t>
            </a:r>
            <a:br>
              <a:rPr lang="en-US" sz="2300" dirty="0">
                <a:latin typeface="Calibir"/>
              </a:rPr>
            </a:br>
            <a:r>
              <a:rPr lang="en-US" sz="2300" dirty="0">
                <a:latin typeface="Calibir"/>
              </a:rPr>
              <a:t>Think of the OS module like a school librarian:</a:t>
            </a:r>
          </a:p>
          <a:p>
            <a:pPr marL="800100" lvl="1" indent="-342900">
              <a:lnSpc>
                <a:spcPct val="150000"/>
              </a:lnSpc>
              <a:buFont typeface="Arial" panose="020B0604020202020204" pitchFamily="34" charset="0"/>
              <a:buChar char="•"/>
            </a:pPr>
            <a:r>
              <a:rPr lang="en-US" sz="2300" dirty="0">
                <a:latin typeface="Calibir"/>
              </a:rPr>
              <a:t>They can check if a book (file) is in the library.</a:t>
            </a:r>
          </a:p>
          <a:p>
            <a:pPr marL="800100" lvl="1" indent="-342900">
              <a:lnSpc>
                <a:spcPct val="150000"/>
              </a:lnSpc>
              <a:buFont typeface="Arial" panose="020B0604020202020204" pitchFamily="34" charset="0"/>
              <a:buChar char="•"/>
            </a:pPr>
            <a:r>
              <a:rPr lang="en-US" sz="2300" dirty="0">
                <a:latin typeface="Calibir"/>
              </a:rPr>
              <a:t>They can remove a book.</a:t>
            </a:r>
          </a:p>
          <a:p>
            <a:pPr marL="800100" lvl="1" indent="-342900">
              <a:lnSpc>
                <a:spcPct val="150000"/>
              </a:lnSpc>
              <a:buFont typeface="Arial" panose="020B0604020202020204" pitchFamily="34" charset="0"/>
              <a:buChar char="•"/>
            </a:pPr>
            <a:r>
              <a:rPr lang="en-US" sz="2300" dirty="0">
                <a:latin typeface="Calibir"/>
              </a:rPr>
              <a:t>They can make a new shelf (folder) for new books.</a:t>
            </a:r>
          </a:p>
        </p:txBody>
      </p:sp>
    </p:spTree>
    <p:extLst>
      <p:ext uri="{BB962C8B-B14F-4D97-AF65-F5344CB8AC3E}">
        <p14:creationId xmlns:p14="http://schemas.microsoft.com/office/powerpoint/2010/main" val="13841598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049B9-BCDD-6F9B-AE5F-2FFBD35E6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76C173-054D-7877-C763-B320C8F5668F}"/>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Files &amp; Directories (Python with os module)</a:t>
            </a:r>
          </a:p>
        </p:txBody>
      </p:sp>
      <p:sp>
        <p:nvSpPr>
          <p:cNvPr id="5" name="TextBox 4">
            <a:extLst>
              <a:ext uri="{FF2B5EF4-FFF2-40B4-BE49-F238E27FC236}">
                <a16:creationId xmlns:a16="http://schemas.microsoft.com/office/drawing/2014/main" id="{71D6A3E4-F9B4-119F-546E-F4CF4758C1E3}"/>
              </a:ext>
            </a:extLst>
          </p:cNvPr>
          <p:cNvSpPr txBox="1"/>
          <p:nvPr/>
        </p:nvSpPr>
        <p:spPr>
          <a:xfrm>
            <a:off x="0" y="756745"/>
            <a:ext cx="11965258" cy="1964512"/>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Use </a:t>
            </a:r>
            <a:r>
              <a:rPr lang="en-US" altLang="en-US" sz="2800" dirty="0" err="1">
                <a:latin typeface="Calibir"/>
              </a:rPr>
              <a:t>os.rmdir</a:t>
            </a:r>
            <a:r>
              <a:rPr lang="en-US" altLang="en-US" sz="2800" dirty="0">
                <a:latin typeface="Calibir"/>
              </a:rPr>
              <a:t>("folder") to remove an empty folder.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For deleting a folder with files inside → use </a:t>
            </a:r>
            <a:r>
              <a:rPr lang="en-US" altLang="en-US" sz="2800" dirty="0" err="1">
                <a:latin typeface="Calibir"/>
              </a:rPr>
              <a:t>shutil.rmtree</a:t>
            </a:r>
            <a:r>
              <a:rPr lang="en-US" altLang="en-US" sz="2800" dirty="0">
                <a:latin typeface="Calibir"/>
              </a:rPr>
              <a:t>("folder") (import </a:t>
            </a:r>
            <a:r>
              <a:rPr lang="en-US" altLang="en-US" sz="2800" dirty="0" err="1">
                <a:latin typeface="Calibir"/>
              </a:rPr>
              <a:t>shutil</a:t>
            </a:r>
            <a:r>
              <a:rPr lang="en-US" altLang="en-US" sz="2800" dirty="0">
                <a:latin typeface="Calibir"/>
              </a:rPr>
              <a:t>).</a:t>
            </a:r>
          </a:p>
        </p:txBody>
      </p:sp>
      <p:pic>
        <p:nvPicPr>
          <p:cNvPr id="9" name="Picture 8">
            <a:extLst>
              <a:ext uri="{FF2B5EF4-FFF2-40B4-BE49-F238E27FC236}">
                <a16:creationId xmlns:a16="http://schemas.microsoft.com/office/drawing/2014/main" id="{153E3CF5-8790-5A9B-8128-A707EBB848BA}"/>
              </a:ext>
            </a:extLst>
          </p:cNvPr>
          <p:cNvPicPr>
            <a:picLocks noChangeAspect="1"/>
          </p:cNvPicPr>
          <p:nvPr/>
        </p:nvPicPr>
        <p:blipFill>
          <a:blip r:embed="rId2"/>
          <a:srcRect l="7742" t="43011" r="7943" b="18279"/>
          <a:stretch>
            <a:fillRect/>
          </a:stretch>
        </p:blipFill>
        <p:spPr>
          <a:xfrm>
            <a:off x="1" y="2952675"/>
            <a:ext cx="12191999" cy="3148580"/>
          </a:xfrm>
          <a:prstGeom prst="rect">
            <a:avLst/>
          </a:prstGeom>
        </p:spPr>
      </p:pic>
    </p:spTree>
    <p:extLst>
      <p:ext uri="{BB962C8B-B14F-4D97-AF65-F5344CB8AC3E}">
        <p14:creationId xmlns:p14="http://schemas.microsoft.com/office/powerpoint/2010/main" val="24148214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0A2A2-9566-B180-019C-592353BD1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0B169-0A01-2DA9-8D2D-F788CB9D27F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Files &amp; Directories (Java using File class)</a:t>
            </a:r>
          </a:p>
        </p:txBody>
      </p:sp>
      <p:sp>
        <p:nvSpPr>
          <p:cNvPr id="5" name="TextBox 4">
            <a:extLst>
              <a:ext uri="{FF2B5EF4-FFF2-40B4-BE49-F238E27FC236}">
                <a16:creationId xmlns:a16="http://schemas.microsoft.com/office/drawing/2014/main" id="{654FFC3D-D977-5889-886F-25206F5BC602}"/>
              </a:ext>
            </a:extLst>
          </p:cNvPr>
          <p:cNvSpPr txBox="1"/>
          <p:nvPr/>
        </p:nvSpPr>
        <p:spPr>
          <a:xfrm>
            <a:off x="0" y="756745"/>
            <a:ext cx="11965258" cy="1964512"/>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err="1">
                <a:latin typeface="Calibir"/>
              </a:rPr>
              <a:t>mkdir</a:t>
            </a:r>
            <a:r>
              <a:rPr lang="en-US" sz="2800" dirty="0">
                <a:latin typeface="Calibir"/>
              </a:rPr>
              <a:t>() → make a new folder</a:t>
            </a:r>
          </a:p>
          <a:p>
            <a:pPr marL="914400" lvl="1" indent="-457200">
              <a:lnSpc>
                <a:spcPct val="150000"/>
              </a:lnSpc>
              <a:buFont typeface="Arial" panose="020B0604020202020204" pitchFamily="34" charset="0"/>
              <a:buChar char="•"/>
            </a:pPr>
            <a:r>
              <a:rPr lang="en-US" sz="2800" dirty="0">
                <a:latin typeface="Calibir"/>
              </a:rPr>
              <a:t>list() → list files/folders inside</a:t>
            </a:r>
          </a:p>
          <a:p>
            <a:pPr marL="914400" lvl="1" indent="-457200">
              <a:lnSpc>
                <a:spcPct val="150000"/>
              </a:lnSpc>
              <a:buFont typeface="Arial" panose="020B0604020202020204" pitchFamily="34" charset="0"/>
              <a:buChar char="•"/>
            </a:pPr>
            <a:r>
              <a:rPr lang="en-US" sz="2800" dirty="0">
                <a:latin typeface="Calibir"/>
              </a:rPr>
              <a:t>Java Example:</a:t>
            </a:r>
          </a:p>
        </p:txBody>
      </p:sp>
      <p:pic>
        <p:nvPicPr>
          <p:cNvPr id="8" name="Picture 7">
            <a:extLst>
              <a:ext uri="{FF2B5EF4-FFF2-40B4-BE49-F238E27FC236}">
                <a16:creationId xmlns:a16="http://schemas.microsoft.com/office/drawing/2014/main" id="{69F7836E-B67E-6D28-7300-8FDFD93415E6}"/>
              </a:ext>
            </a:extLst>
          </p:cNvPr>
          <p:cNvPicPr>
            <a:picLocks noChangeAspect="1"/>
          </p:cNvPicPr>
          <p:nvPr/>
        </p:nvPicPr>
        <p:blipFill>
          <a:blip r:embed="rId2"/>
          <a:srcRect l="8105" t="33548" r="8912" b="23441"/>
          <a:stretch>
            <a:fillRect/>
          </a:stretch>
        </p:blipFill>
        <p:spPr>
          <a:xfrm>
            <a:off x="0" y="2758128"/>
            <a:ext cx="12192000" cy="3554520"/>
          </a:xfrm>
          <a:prstGeom prst="rect">
            <a:avLst/>
          </a:prstGeom>
        </p:spPr>
      </p:pic>
      <p:sp>
        <p:nvSpPr>
          <p:cNvPr id="10" name="TextBox 9">
            <a:extLst>
              <a:ext uri="{FF2B5EF4-FFF2-40B4-BE49-F238E27FC236}">
                <a16:creationId xmlns:a16="http://schemas.microsoft.com/office/drawing/2014/main" id="{DF082196-232F-7361-BA8C-1ACA6D886145}"/>
              </a:ext>
            </a:extLst>
          </p:cNvPr>
          <p:cNvSpPr txBox="1"/>
          <p:nvPr/>
        </p:nvSpPr>
        <p:spPr>
          <a:xfrm>
            <a:off x="6939117" y="879570"/>
            <a:ext cx="5252883" cy="4549835"/>
          </a:xfrm>
          <a:prstGeom prst="rect">
            <a:avLst/>
          </a:prstGeom>
          <a:solidFill>
            <a:schemeClr val="bg1"/>
          </a:solidFill>
          <a:ln>
            <a:solidFill>
              <a:srgbClr val="FF0000"/>
            </a:solidFill>
          </a:ln>
        </p:spPr>
        <p:txBody>
          <a:bodyPr wrap="square">
            <a:spAutoFit/>
          </a:bodyPr>
          <a:lstStyle/>
          <a:p>
            <a:pPr>
              <a:lnSpc>
                <a:spcPct val="150000"/>
              </a:lnSpc>
              <a:buNone/>
            </a:pPr>
            <a:r>
              <a:rPr lang="en-US" sz="2800" b="1" dirty="0">
                <a:latin typeface="Calibir"/>
              </a:rPr>
              <a:t>Analogy:</a:t>
            </a:r>
            <a:br>
              <a:rPr lang="en-US" sz="2800" dirty="0">
                <a:latin typeface="Calibir"/>
              </a:rPr>
            </a:br>
            <a:r>
              <a:rPr lang="en-US" sz="2800" dirty="0">
                <a:latin typeface="Calibir"/>
              </a:rPr>
              <a:t>Think of the File class like a map of a building:</a:t>
            </a:r>
          </a:p>
          <a:p>
            <a:pPr marL="914400" lvl="1" indent="-457200">
              <a:lnSpc>
                <a:spcPct val="150000"/>
              </a:lnSpc>
              <a:buFont typeface="Arial" panose="020B0604020202020204" pitchFamily="34" charset="0"/>
              <a:buChar char="•"/>
            </a:pPr>
            <a:r>
              <a:rPr lang="en-US" sz="2800" dirty="0" err="1">
                <a:latin typeface="Calibir"/>
              </a:rPr>
              <a:t>mkdir</a:t>
            </a:r>
            <a:r>
              <a:rPr lang="en-US" sz="2800" dirty="0">
                <a:latin typeface="Calibir"/>
              </a:rPr>
              <a:t>() = add a new room (folder).</a:t>
            </a:r>
          </a:p>
          <a:p>
            <a:pPr marL="914400" lvl="1" indent="-457200">
              <a:lnSpc>
                <a:spcPct val="150000"/>
              </a:lnSpc>
              <a:buFont typeface="Arial" panose="020B0604020202020204" pitchFamily="34" charset="0"/>
              <a:buChar char="•"/>
            </a:pPr>
            <a:r>
              <a:rPr lang="en-US" sz="2800" dirty="0">
                <a:latin typeface="Calibir"/>
              </a:rPr>
              <a:t>list() = see what’s inside the room.</a:t>
            </a:r>
          </a:p>
        </p:txBody>
      </p:sp>
    </p:spTree>
    <p:extLst>
      <p:ext uri="{BB962C8B-B14F-4D97-AF65-F5344CB8AC3E}">
        <p14:creationId xmlns:p14="http://schemas.microsoft.com/office/powerpoint/2010/main" val="31436601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A8C70-B515-7F98-A618-D8E6355D7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061F0-5DC0-4A02-6730-0FC7FF3AB96F}"/>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Files &amp; Directories (Java using File class)</a:t>
            </a:r>
          </a:p>
        </p:txBody>
      </p:sp>
      <p:pic>
        <p:nvPicPr>
          <p:cNvPr id="8" name="Picture 7">
            <a:extLst>
              <a:ext uri="{FF2B5EF4-FFF2-40B4-BE49-F238E27FC236}">
                <a16:creationId xmlns:a16="http://schemas.microsoft.com/office/drawing/2014/main" id="{3D12F0C1-95AC-C5DC-66C1-B9C8F46FAC3B}"/>
              </a:ext>
            </a:extLst>
          </p:cNvPr>
          <p:cNvPicPr>
            <a:picLocks noChangeAspect="1"/>
          </p:cNvPicPr>
          <p:nvPr/>
        </p:nvPicPr>
        <p:blipFill>
          <a:blip r:embed="rId2"/>
          <a:srcRect l="8105" t="33548" r="8912" b="23441"/>
          <a:stretch>
            <a:fillRect/>
          </a:stretch>
        </p:blipFill>
        <p:spPr>
          <a:xfrm>
            <a:off x="0" y="2758128"/>
            <a:ext cx="12192000" cy="3554520"/>
          </a:xfrm>
          <a:prstGeom prst="rect">
            <a:avLst/>
          </a:prstGeom>
        </p:spPr>
      </p:pic>
      <p:sp>
        <p:nvSpPr>
          <p:cNvPr id="10" name="TextBox 9">
            <a:extLst>
              <a:ext uri="{FF2B5EF4-FFF2-40B4-BE49-F238E27FC236}">
                <a16:creationId xmlns:a16="http://schemas.microsoft.com/office/drawing/2014/main" id="{24524EDD-7359-5873-0368-FA3D34B85B57}"/>
              </a:ext>
            </a:extLst>
          </p:cNvPr>
          <p:cNvSpPr txBox="1"/>
          <p:nvPr/>
        </p:nvSpPr>
        <p:spPr>
          <a:xfrm>
            <a:off x="1" y="879570"/>
            <a:ext cx="12192000" cy="1318181"/>
          </a:xfrm>
          <a:prstGeom prst="rect">
            <a:avLst/>
          </a:prstGeom>
          <a:solidFill>
            <a:schemeClr val="bg1"/>
          </a:solidFill>
          <a:ln>
            <a:solidFill>
              <a:srgbClr val="FF0000"/>
            </a:solidFill>
          </a:ln>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You can also check if a file/folder exists with exists().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Use delete() to remove a file or empty folder.</a:t>
            </a:r>
          </a:p>
        </p:txBody>
      </p:sp>
    </p:spTree>
    <p:extLst>
      <p:ext uri="{BB962C8B-B14F-4D97-AF65-F5344CB8AC3E}">
        <p14:creationId xmlns:p14="http://schemas.microsoft.com/office/powerpoint/2010/main" val="2654373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622BB-B543-7816-0938-4C3D1310F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9A60D8-3382-E7A9-E4A6-189E2C135A2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Files &amp; Directories</a:t>
            </a:r>
          </a:p>
        </p:txBody>
      </p:sp>
      <p:sp>
        <p:nvSpPr>
          <p:cNvPr id="5" name="TextBox 4">
            <a:extLst>
              <a:ext uri="{FF2B5EF4-FFF2-40B4-BE49-F238E27FC236}">
                <a16:creationId xmlns:a16="http://schemas.microsoft.com/office/drawing/2014/main" id="{EB61202B-AF15-FE72-76FF-257EDA8641C4}"/>
              </a:ext>
            </a:extLst>
          </p:cNvPr>
          <p:cNvSpPr txBox="1"/>
          <p:nvPr/>
        </p:nvSpPr>
        <p:spPr>
          <a:xfrm>
            <a:off x="0" y="756745"/>
            <a:ext cx="11965258" cy="2610843"/>
          </a:xfrm>
          <a:prstGeom prst="rect">
            <a:avLst/>
          </a:prstGeom>
          <a:noFill/>
        </p:spPr>
        <p:txBody>
          <a:bodyPr wrap="square">
            <a:spAutoFit/>
          </a:bodyPr>
          <a:lstStyle/>
          <a:p>
            <a:pPr>
              <a:lnSpc>
                <a:spcPct val="150000"/>
              </a:lnSpc>
            </a:pPr>
            <a:r>
              <a:rPr lang="en-US" sz="2800" b="1" dirty="0">
                <a:latin typeface="Calibir"/>
              </a:rPr>
              <a:t>Analogy (Macquarie Uni Canvas):</a:t>
            </a:r>
            <a:endParaRPr lang="en-US" sz="2800" dirty="0">
              <a:latin typeface="Calibir"/>
            </a:endParaRPr>
          </a:p>
          <a:p>
            <a:pPr marL="914400" lvl="1" indent="-457200">
              <a:lnSpc>
                <a:spcPct val="150000"/>
              </a:lnSpc>
              <a:buFont typeface="Arial" panose="020B0604020202020204" pitchFamily="34" charset="0"/>
              <a:buChar char="•"/>
            </a:pPr>
            <a:r>
              <a:rPr lang="en-US" sz="2800" b="1" dirty="0">
                <a:latin typeface="Calibir"/>
              </a:rPr>
              <a:t>Create</a:t>
            </a:r>
            <a:r>
              <a:rPr lang="en-US" sz="2800" dirty="0">
                <a:latin typeface="Calibir"/>
              </a:rPr>
              <a:t> → add a new module or folder in Canvas.</a:t>
            </a:r>
          </a:p>
          <a:p>
            <a:pPr marL="914400" lvl="1" indent="-457200">
              <a:lnSpc>
                <a:spcPct val="150000"/>
              </a:lnSpc>
              <a:buFont typeface="Arial" panose="020B0604020202020204" pitchFamily="34" charset="0"/>
              <a:buChar char="•"/>
            </a:pPr>
            <a:r>
              <a:rPr lang="en-US" sz="2800" b="1" dirty="0">
                <a:latin typeface="Calibir"/>
              </a:rPr>
              <a:t>Delete</a:t>
            </a:r>
            <a:r>
              <a:rPr lang="en-US" sz="2800" dirty="0">
                <a:latin typeface="Calibir"/>
              </a:rPr>
              <a:t> → remove an outdated file or resource.</a:t>
            </a:r>
          </a:p>
          <a:p>
            <a:pPr marL="914400" lvl="1" indent="-457200">
              <a:lnSpc>
                <a:spcPct val="150000"/>
              </a:lnSpc>
              <a:buFont typeface="Arial" panose="020B0604020202020204" pitchFamily="34" charset="0"/>
              <a:buChar char="•"/>
            </a:pPr>
            <a:r>
              <a:rPr lang="en-US" sz="2800" b="1" dirty="0">
                <a:latin typeface="Calibir"/>
              </a:rPr>
              <a:t>List</a:t>
            </a:r>
            <a:r>
              <a:rPr lang="en-US" sz="2800" dirty="0">
                <a:latin typeface="Calibir"/>
              </a:rPr>
              <a:t> → see all uploaded files and resources in a subject.</a:t>
            </a:r>
          </a:p>
        </p:txBody>
      </p:sp>
    </p:spTree>
    <p:extLst>
      <p:ext uri="{BB962C8B-B14F-4D97-AF65-F5344CB8AC3E}">
        <p14:creationId xmlns:p14="http://schemas.microsoft.com/office/powerpoint/2010/main" val="39121358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34D11-A954-5E7F-138E-F9F4E7665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A186E-3545-3F5A-6F8F-B8776DCE1623}"/>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Unit Testing</a:t>
            </a:r>
          </a:p>
        </p:txBody>
      </p:sp>
      <p:sp>
        <p:nvSpPr>
          <p:cNvPr id="5" name="TextBox 4">
            <a:extLst>
              <a:ext uri="{FF2B5EF4-FFF2-40B4-BE49-F238E27FC236}">
                <a16:creationId xmlns:a16="http://schemas.microsoft.com/office/drawing/2014/main" id="{EA69248A-5676-03D3-C84F-68D57D5F11B2}"/>
              </a:ext>
            </a:extLst>
          </p:cNvPr>
          <p:cNvSpPr txBox="1"/>
          <p:nvPr/>
        </p:nvSpPr>
        <p:spPr>
          <a:xfrm>
            <a:off x="0" y="756745"/>
            <a:ext cx="11965258" cy="3903504"/>
          </a:xfrm>
          <a:prstGeom prst="rect">
            <a:avLst/>
          </a:prstGeom>
          <a:noFill/>
        </p:spPr>
        <p:txBody>
          <a:bodyPr wrap="square">
            <a:spAutoFit/>
          </a:bodyPr>
          <a:lstStyle/>
          <a:p>
            <a:pPr>
              <a:lnSpc>
                <a:spcPct val="150000"/>
              </a:lnSpc>
            </a:pPr>
            <a:r>
              <a:rPr lang="en-US" sz="2800" dirty="0">
                <a:latin typeface="Calibir"/>
              </a:rPr>
              <a:t>Purpose:</a:t>
            </a:r>
          </a:p>
          <a:p>
            <a:pPr marL="457200" indent="-457200">
              <a:lnSpc>
                <a:spcPct val="150000"/>
              </a:lnSpc>
              <a:buFont typeface="Arial" panose="020B0604020202020204" pitchFamily="34" charset="0"/>
              <a:buChar char="•"/>
            </a:pPr>
            <a:r>
              <a:rPr lang="en-US" sz="2800" dirty="0">
                <a:latin typeface="Calibir"/>
              </a:rPr>
              <a:t>Test the smallest parts of a program (functions/methods).</a:t>
            </a:r>
          </a:p>
          <a:p>
            <a:pPr marL="457200" indent="-457200">
              <a:lnSpc>
                <a:spcPct val="150000"/>
              </a:lnSpc>
              <a:buFont typeface="Arial" panose="020B0604020202020204" pitchFamily="34" charset="0"/>
              <a:buChar char="•"/>
            </a:pPr>
            <a:r>
              <a:rPr lang="en-US" sz="2800" dirty="0">
                <a:latin typeface="Calibir"/>
              </a:rPr>
              <a:t>Make sure each piece works correctly before combining them.</a:t>
            </a:r>
          </a:p>
          <a:p>
            <a:pPr>
              <a:lnSpc>
                <a:spcPct val="150000"/>
              </a:lnSpc>
            </a:pPr>
            <a:r>
              <a:rPr lang="en-US" sz="2800" dirty="0">
                <a:latin typeface="Calibir"/>
              </a:rPr>
              <a:t>Analogy (Australia):</a:t>
            </a:r>
          </a:p>
          <a:p>
            <a:pPr marL="457200" indent="-457200">
              <a:lnSpc>
                <a:spcPct val="150000"/>
              </a:lnSpc>
              <a:buFont typeface="Arial" panose="020B0604020202020204" pitchFamily="34" charset="0"/>
              <a:buChar char="•"/>
            </a:pPr>
            <a:r>
              <a:rPr lang="en-US" sz="2800" dirty="0">
                <a:latin typeface="Calibir"/>
              </a:rPr>
              <a:t>Like NAPLAN exams → test individual student skills, not the whole school at once.</a:t>
            </a:r>
          </a:p>
        </p:txBody>
      </p:sp>
    </p:spTree>
    <p:extLst>
      <p:ext uri="{BB962C8B-B14F-4D97-AF65-F5344CB8AC3E}">
        <p14:creationId xmlns:p14="http://schemas.microsoft.com/office/powerpoint/2010/main" val="9515621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4E82-C714-0BC2-5902-EA4EDF347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8D5C9-F552-6A06-BE52-3AECE36F1E8D}"/>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Unit Testing</a:t>
            </a:r>
          </a:p>
        </p:txBody>
      </p:sp>
      <p:sp>
        <p:nvSpPr>
          <p:cNvPr id="4" name="TextBox 3">
            <a:extLst>
              <a:ext uri="{FF2B5EF4-FFF2-40B4-BE49-F238E27FC236}">
                <a16:creationId xmlns:a16="http://schemas.microsoft.com/office/drawing/2014/main" id="{B50034C0-BEFF-D90C-025E-2EF4728BF813}"/>
              </a:ext>
            </a:extLst>
          </p:cNvPr>
          <p:cNvSpPr txBox="1"/>
          <p:nvPr/>
        </p:nvSpPr>
        <p:spPr>
          <a:xfrm>
            <a:off x="0" y="519270"/>
            <a:ext cx="11975690" cy="6488828"/>
          </a:xfrm>
          <a:prstGeom prst="rect">
            <a:avLst/>
          </a:prstGeom>
          <a:noFill/>
        </p:spPr>
        <p:txBody>
          <a:bodyPr wrap="square">
            <a:spAutoFit/>
          </a:bodyPr>
          <a:lstStyle/>
          <a:p>
            <a:pPr>
              <a:lnSpc>
                <a:spcPct val="150000"/>
              </a:lnSpc>
              <a:buNone/>
            </a:pPr>
            <a:r>
              <a:rPr lang="en-US" sz="2800" dirty="0">
                <a:latin typeface="Calibir"/>
              </a:rPr>
              <a:t>In software development, we need to make sure that each small piece of code (like a function or method) works correctly before combining it into a bigger program. This process is called unit testing.</a:t>
            </a:r>
          </a:p>
          <a:p>
            <a:pPr>
              <a:lnSpc>
                <a:spcPct val="150000"/>
              </a:lnSpc>
              <a:buNone/>
            </a:pPr>
            <a:r>
              <a:rPr lang="en-US" sz="2800" dirty="0">
                <a:latin typeface="Calibir"/>
              </a:rPr>
              <a:t>In Python, we can use the built-in </a:t>
            </a:r>
            <a:r>
              <a:rPr lang="en-US" sz="2800" dirty="0" err="1">
                <a:latin typeface="Calibir"/>
              </a:rPr>
              <a:t>unittest</a:t>
            </a:r>
            <a:r>
              <a:rPr lang="en-US" sz="2800" dirty="0">
                <a:latin typeface="Calibir"/>
              </a:rPr>
              <a:t> library to write and run these tests. With </a:t>
            </a:r>
            <a:r>
              <a:rPr lang="en-US" sz="2800" dirty="0" err="1">
                <a:latin typeface="Calibir"/>
              </a:rPr>
              <a:t>unittest</a:t>
            </a:r>
            <a:r>
              <a:rPr lang="en-US" sz="2800" dirty="0">
                <a:latin typeface="Calibir"/>
              </a:rPr>
              <a:t>, we can:</a:t>
            </a:r>
          </a:p>
          <a:p>
            <a:pPr marL="800100" lvl="1" indent="-342900">
              <a:lnSpc>
                <a:spcPct val="150000"/>
              </a:lnSpc>
              <a:buFont typeface="Arial" panose="020B0604020202020204" pitchFamily="34" charset="0"/>
              <a:buChar char="•"/>
            </a:pPr>
            <a:r>
              <a:rPr lang="en-US" sz="2800" dirty="0">
                <a:latin typeface="Calibir"/>
              </a:rPr>
              <a:t>Test individual functions (units of code).</a:t>
            </a:r>
          </a:p>
          <a:p>
            <a:pPr marL="800100" lvl="1" indent="-342900">
              <a:lnSpc>
                <a:spcPct val="150000"/>
              </a:lnSpc>
              <a:buFont typeface="Arial" panose="020B0604020202020204" pitchFamily="34" charset="0"/>
              <a:buChar char="•"/>
            </a:pPr>
            <a:r>
              <a:rPr lang="en-US" sz="2800" dirty="0">
                <a:latin typeface="Calibir"/>
              </a:rPr>
              <a:t>Automatically check whether the function output matches what we expect.</a:t>
            </a:r>
          </a:p>
          <a:p>
            <a:pPr marL="800100" lvl="1" indent="-342900">
              <a:lnSpc>
                <a:spcPct val="150000"/>
              </a:lnSpc>
              <a:buFont typeface="Arial" panose="020B0604020202020204" pitchFamily="34" charset="0"/>
              <a:buChar char="•"/>
            </a:pPr>
            <a:r>
              <a:rPr lang="en-US" sz="2800" dirty="0">
                <a:latin typeface="Calibir"/>
              </a:rPr>
              <a:t>Quickly find errors without manually running the code every time.</a:t>
            </a:r>
          </a:p>
          <a:p>
            <a:pPr>
              <a:lnSpc>
                <a:spcPct val="150000"/>
              </a:lnSpc>
              <a:buNone/>
            </a:pPr>
            <a:r>
              <a:rPr lang="en-US" sz="2800" dirty="0">
                <a:latin typeface="Calibir"/>
              </a:rPr>
              <a:t>In the example below, we test a simple function add(a, b) to confirm that it returns the correct result when adding two numbers.</a:t>
            </a:r>
          </a:p>
        </p:txBody>
      </p:sp>
    </p:spTree>
    <p:extLst>
      <p:ext uri="{BB962C8B-B14F-4D97-AF65-F5344CB8AC3E}">
        <p14:creationId xmlns:p14="http://schemas.microsoft.com/office/powerpoint/2010/main" val="17318859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50BE2-1FDC-409F-1141-F838649FE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2D272-6C56-1E44-7661-823E2B5A1C65}"/>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Unit Testing</a:t>
            </a:r>
          </a:p>
        </p:txBody>
      </p:sp>
      <p:sp>
        <p:nvSpPr>
          <p:cNvPr id="5" name="TextBox 4">
            <a:extLst>
              <a:ext uri="{FF2B5EF4-FFF2-40B4-BE49-F238E27FC236}">
                <a16:creationId xmlns:a16="http://schemas.microsoft.com/office/drawing/2014/main" id="{F9E7B9DE-3C8F-A08F-81AD-20DF7A22B55F}"/>
              </a:ext>
            </a:extLst>
          </p:cNvPr>
          <p:cNvSpPr txBox="1"/>
          <p:nvPr/>
        </p:nvSpPr>
        <p:spPr>
          <a:xfrm>
            <a:off x="0" y="756745"/>
            <a:ext cx="11965258" cy="671851"/>
          </a:xfrm>
          <a:prstGeom prst="rect">
            <a:avLst/>
          </a:prstGeom>
          <a:noFill/>
        </p:spPr>
        <p:txBody>
          <a:bodyPr wrap="square">
            <a:spAutoFit/>
          </a:bodyPr>
          <a:lstStyle/>
          <a:p>
            <a:pPr>
              <a:lnSpc>
                <a:spcPct val="150000"/>
              </a:lnSpc>
            </a:pPr>
            <a:r>
              <a:rPr lang="en-US" sz="2800" dirty="0">
                <a:latin typeface="Calibir"/>
              </a:rPr>
              <a:t>Python Example (Using unittest):</a:t>
            </a:r>
          </a:p>
        </p:txBody>
      </p:sp>
      <p:pic>
        <p:nvPicPr>
          <p:cNvPr id="7" name="Picture 6">
            <a:extLst>
              <a:ext uri="{FF2B5EF4-FFF2-40B4-BE49-F238E27FC236}">
                <a16:creationId xmlns:a16="http://schemas.microsoft.com/office/drawing/2014/main" id="{16D1D682-1FF2-43D5-8891-B0B1320CE670}"/>
              </a:ext>
            </a:extLst>
          </p:cNvPr>
          <p:cNvPicPr>
            <a:picLocks noChangeAspect="1"/>
          </p:cNvPicPr>
          <p:nvPr/>
        </p:nvPicPr>
        <p:blipFill>
          <a:blip r:embed="rId2"/>
          <a:srcRect l="8104" t="20831" r="8790" b="26236"/>
          <a:stretch>
            <a:fillRect/>
          </a:stretch>
        </p:blipFill>
        <p:spPr>
          <a:xfrm>
            <a:off x="0" y="1613949"/>
            <a:ext cx="12208182" cy="4373896"/>
          </a:xfrm>
          <a:prstGeom prst="rect">
            <a:avLst/>
          </a:prstGeom>
        </p:spPr>
      </p:pic>
      <p:sp>
        <p:nvSpPr>
          <p:cNvPr id="11" name="TextBox 10">
            <a:extLst>
              <a:ext uri="{FF2B5EF4-FFF2-40B4-BE49-F238E27FC236}">
                <a16:creationId xmlns:a16="http://schemas.microsoft.com/office/drawing/2014/main" id="{744F1F5D-DFB0-0FC7-F64D-36856A1A63E2}"/>
              </a:ext>
            </a:extLst>
          </p:cNvPr>
          <p:cNvSpPr txBox="1"/>
          <p:nvPr/>
        </p:nvSpPr>
        <p:spPr>
          <a:xfrm>
            <a:off x="5975556" y="1613949"/>
            <a:ext cx="6216444" cy="1318181"/>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This brings in Python’s unittest library, which is used to write and run tests.</a:t>
            </a:r>
          </a:p>
        </p:txBody>
      </p:sp>
      <p:sp>
        <p:nvSpPr>
          <p:cNvPr id="12" name="Rectangle: Rounded Corners 11">
            <a:extLst>
              <a:ext uri="{FF2B5EF4-FFF2-40B4-BE49-F238E27FC236}">
                <a16:creationId xmlns:a16="http://schemas.microsoft.com/office/drawing/2014/main" id="{F8355292-7B02-4DB9-4BA7-D9FF60963F69}"/>
              </a:ext>
            </a:extLst>
          </p:cNvPr>
          <p:cNvSpPr/>
          <p:nvPr/>
        </p:nvSpPr>
        <p:spPr>
          <a:xfrm>
            <a:off x="0" y="1613949"/>
            <a:ext cx="3554361" cy="52456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3414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50347-8F3A-86C8-AF9D-55C2FBC0A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06847-BE3F-95C0-2630-6BF0FAE8DE8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Unit Testing</a:t>
            </a:r>
          </a:p>
        </p:txBody>
      </p:sp>
      <p:sp>
        <p:nvSpPr>
          <p:cNvPr id="5" name="TextBox 4">
            <a:extLst>
              <a:ext uri="{FF2B5EF4-FFF2-40B4-BE49-F238E27FC236}">
                <a16:creationId xmlns:a16="http://schemas.microsoft.com/office/drawing/2014/main" id="{D6201A97-AEFF-ECB9-5360-9851BAAE1D03}"/>
              </a:ext>
            </a:extLst>
          </p:cNvPr>
          <p:cNvSpPr txBox="1"/>
          <p:nvPr/>
        </p:nvSpPr>
        <p:spPr>
          <a:xfrm>
            <a:off x="0" y="756745"/>
            <a:ext cx="11965258" cy="671851"/>
          </a:xfrm>
          <a:prstGeom prst="rect">
            <a:avLst/>
          </a:prstGeom>
          <a:noFill/>
        </p:spPr>
        <p:txBody>
          <a:bodyPr wrap="square">
            <a:spAutoFit/>
          </a:bodyPr>
          <a:lstStyle/>
          <a:p>
            <a:pPr>
              <a:lnSpc>
                <a:spcPct val="150000"/>
              </a:lnSpc>
            </a:pPr>
            <a:r>
              <a:rPr lang="en-US" sz="2800" dirty="0">
                <a:latin typeface="Calibir"/>
              </a:rPr>
              <a:t>Python Example (Using unittest):</a:t>
            </a:r>
          </a:p>
        </p:txBody>
      </p:sp>
      <p:pic>
        <p:nvPicPr>
          <p:cNvPr id="7" name="Picture 6">
            <a:extLst>
              <a:ext uri="{FF2B5EF4-FFF2-40B4-BE49-F238E27FC236}">
                <a16:creationId xmlns:a16="http://schemas.microsoft.com/office/drawing/2014/main" id="{C76C022D-C480-C034-41B0-1BCE57A54E54}"/>
              </a:ext>
            </a:extLst>
          </p:cNvPr>
          <p:cNvPicPr>
            <a:picLocks noChangeAspect="1"/>
          </p:cNvPicPr>
          <p:nvPr/>
        </p:nvPicPr>
        <p:blipFill>
          <a:blip r:embed="rId2"/>
          <a:srcRect l="8104" t="20831" r="8790" b="26236"/>
          <a:stretch>
            <a:fillRect/>
          </a:stretch>
        </p:blipFill>
        <p:spPr>
          <a:xfrm>
            <a:off x="0" y="1613949"/>
            <a:ext cx="12208182" cy="4373896"/>
          </a:xfrm>
          <a:prstGeom prst="rect">
            <a:avLst/>
          </a:prstGeom>
        </p:spPr>
      </p:pic>
      <p:sp>
        <p:nvSpPr>
          <p:cNvPr id="11" name="TextBox 10">
            <a:extLst>
              <a:ext uri="{FF2B5EF4-FFF2-40B4-BE49-F238E27FC236}">
                <a16:creationId xmlns:a16="http://schemas.microsoft.com/office/drawing/2014/main" id="{039C4B43-DD8A-F2EB-A9C5-77A88BABAF97}"/>
              </a:ext>
            </a:extLst>
          </p:cNvPr>
          <p:cNvSpPr txBox="1"/>
          <p:nvPr/>
        </p:nvSpPr>
        <p:spPr>
          <a:xfrm>
            <a:off x="5975556" y="1613949"/>
            <a:ext cx="6216444" cy="1968103"/>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A simple function that adds two numbers. This is the function we want to test.</a:t>
            </a:r>
          </a:p>
        </p:txBody>
      </p:sp>
      <p:sp>
        <p:nvSpPr>
          <p:cNvPr id="12" name="Rectangle: Rounded Corners 11">
            <a:extLst>
              <a:ext uri="{FF2B5EF4-FFF2-40B4-BE49-F238E27FC236}">
                <a16:creationId xmlns:a16="http://schemas.microsoft.com/office/drawing/2014/main" id="{CF5D17DA-ED61-BA9D-F6C1-875A5DCAABA3}"/>
              </a:ext>
            </a:extLst>
          </p:cNvPr>
          <p:cNvSpPr/>
          <p:nvPr/>
        </p:nvSpPr>
        <p:spPr>
          <a:xfrm>
            <a:off x="0" y="2258290"/>
            <a:ext cx="3554361" cy="11707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37346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9B87C-3322-93F6-F8A1-6163A8A43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8EBBC-054E-38A1-1125-29F1192AD02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Unit Testing</a:t>
            </a:r>
          </a:p>
        </p:txBody>
      </p:sp>
      <p:sp>
        <p:nvSpPr>
          <p:cNvPr id="5" name="TextBox 4">
            <a:extLst>
              <a:ext uri="{FF2B5EF4-FFF2-40B4-BE49-F238E27FC236}">
                <a16:creationId xmlns:a16="http://schemas.microsoft.com/office/drawing/2014/main" id="{5C4986BD-9DFB-B2E5-4F27-EE41008348DE}"/>
              </a:ext>
            </a:extLst>
          </p:cNvPr>
          <p:cNvSpPr txBox="1"/>
          <p:nvPr/>
        </p:nvSpPr>
        <p:spPr>
          <a:xfrm>
            <a:off x="0" y="756745"/>
            <a:ext cx="11965258" cy="671851"/>
          </a:xfrm>
          <a:prstGeom prst="rect">
            <a:avLst/>
          </a:prstGeom>
          <a:noFill/>
        </p:spPr>
        <p:txBody>
          <a:bodyPr wrap="square">
            <a:spAutoFit/>
          </a:bodyPr>
          <a:lstStyle/>
          <a:p>
            <a:pPr>
              <a:lnSpc>
                <a:spcPct val="150000"/>
              </a:lnSpc>
            </a:pPr>
            <a:r>
              <a:rPr lang="en-US" sz="2800" dirty="0">
                <a:latin typeface="Calibir"/>
              </a:rPr>
              <a:t>Python Example (Using unittest):</a:t>
            </a:r>
          </a:p>
        </p:txBody>
      </p:sp>
      <p:pic>
        <p:nvPicPr>
          <p:cNvPr id="7" name="Picture 6">
            <a:extLst>
              <a:ext uri="{FF2B5EF4-FFF2-40B4-BE49-F238E27FC236}">
                <a16:creationId xmlns:a16="http://schemas.microsoft.com/office/drawing/2014/main" id="{2289478A-B644-A644-CE8E-1614CFEF1635}"/>
              </a:ext>
            </a:extLst>
          </p:cNvPr>
          <p:cNvPicPr>
            <a:picLocks noChangeAspect="1"/>
          </p:cNvPicPr>
          <p:nvPr/>
        </p:nvPicPr>
        <p:blipFill>
          <a:blip r:embed="rId2"/>
          <a:srcRect l="8104" t="20831" r="8790" b="26236"/>
          <a:stretch>
            <a:fillRect/>
          </a:stretch>
        </p:blipFill>
        <p:spPr>
          <a:xfrm>
            <a:off x="0" y="1613949"/>
            <a:ext cx="12208182" cy="4373896"/>
          </a:xfrm>
          <a:prstGeom prst="rect">
            <a:avLst/>
          </a:prstGeom>
        </p:spPr>
      </p:pic>
      <p:sp>
        <p:nvSpPr>
          <p:cNvPr id="11" name="TextBox 10">
            <a:extLst>
              <a:ext uri="{FF2B5EF4-FFF2-40B4-BE49-F238E27FC236}">
                <a16:creationId xmlns:a16="http://schemas.microsoft.com/office/drawing/2014/main" id="{79DCF7AB-11C2-0F79-9189-0D4158BEFA94}"/>
              </a:ext>
            </a:extLst>
          </p:cNvPr>
          <p:cNvSpPr txBox="1"/>
          <p:nvPr/>
        </p:nvSpPr>
        <p:spPr>
          <a:xfrm>
            <a:off x="5975556" y="1030201"/>
            <a:ext cx="6216444" cy="2610843"/>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Creates a test case class (a container for tests).</a:t>
            </a:r>
          </a:p>
          <a:p>
            <a:pPr marL="457200" indent="-457200">
              <a:lnSpc>
                <a:spcPct val="150000"/>
              </a:lnSpc>
              <a:buFont typeface="Arial" panose="020B0604020202020204" pitchFamily="34" charset="0"/>
              <a:buChar char="•"/>
            </a:pPr>
            <a:r>
              <a:rPr lang="en-US" sz="2800" dirty="0">
                <a:latin typeface="Calibir"/>
              </a:rPr>
              <a:t>unittest.TestCase gives us useful testing tools like </a:t>
            </a:r>
            <a:r>
              <a:rPr lang="en-US" sz="2800" dirty="0" err="1">
                <a:latin typeface="Calibir"/>
              </a:rPr>
              <a:t>assertEqual</a:t>
            </a:r>
            <a:endParaRPr lang="en-US" sz="2800" dirty="0">
              <a:latin typeface="Calibir"/>
            </a:endParaRPr>
          </a:p>
        </p:txBody>
      </p:sp>
      <p:sp>
        <p:nvSpPr>
          <p:cNvPr id="12" name="Rectangle: Rounded Corners 11">
            <a:extLst>
              <a:ext uri="{FF2B5EF4-FFF2-40B4-BE49-F238E27FC236}">
                <a16:creationId xmlns:a16="http://schemas.microsoft.com/office/drawing/2014/main" id="{E6ECF29D-6FDD-0322-9311-20A27E493D8C}"/>
              </a:ext>
            </a:extLst>
          </p:cNvPr>
          <p:cNvSpPr/>
          <p:nvPr/>
        </p:nvSpPr>
        <p:spPr>
          <a:xfrm>
            <a:off x="0" y="3767404"/>
            <a:ext cx="7108723" cy="40638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30280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A1D93-7F8C-AC9A-AB07-3F57CE20C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A2A2F-055C-16EB-82D1-FFDE2830370B}"/>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Unit Testing</a:t>
            </a:r>
          </a:p>
        </p:txBody>
      </p:sp>
      <p:sp>
        <p:nvSpPr>
          <p:cNvPr id="5" name="TextBox 4">
            <a:extLst>
              <a:ext uri="{FF2B5EF4-FFF2-40B4-BE49-F238E27FC236}">
                <a16:creationId xmlns:a16="http://schemas.microsoft.com/office/drawing/2014/main" id="{A3CD12B9-4F17-73B2-0656-7C2A91307D13}"/>
              </a:ext>
            </a:extLst>
          </p:cNvPr>
          <p:cNvSpPr txBox="1"/>
          <p:nvPr/>
        </p:nvSpPr>
        <p:spPr>
          <a:xfrm>
            <a:off x="0" y="756745"/>
            <a:ext cx="11965258" cy="671851"/>
          </a:xfrm>
          <a:prstGeom prst="rect">
            <a:avLst/>
          </a:prstGeom>
          <a:noFill/>
        </p:spPr>
        <p:txBody>
          <a:bodyPr wrap="square">
            <a:spAutoFit/>
          </a:bodyPr>
          <a:lstStyle/>
          <a:p>
            <a:pPr>
              <a:lnSpc>
                <a:spcPct val="150000"/>
              </a:lnSpc>
            </a:pPr>
            <a:r>
              <a:rPr lang="en-US" sz="2800" dirty="0">
                <a:latin typeface="Calibir"/>
              </a:rPr>
              <a:t>Python Example (Using unittest):</a:t>
            </a:r>
          </a:p>
        </p:txBody>
      </p:sp>
      <p:pic>
        <p:nvPicPr>
          <p:cNvPr id="7" name="Picture 6">
            <a:extLst>
              <a:ext uri="{FF2B5EF4-FFF2-40B4-BE49-F238E27FC236}">
                <a16:creationId xmlns:a16="http://schemas.microsoft.com/office/drawing/2014/main" id="{B3A168E6-9875-7AC3-CBEC-2A02B9D876C4}"/>
              </a:ext>
            </a:extLst>
          </p:cNvPr>
          <p:cNvPicPr>
            <a:picLocks noChangeAspect="1"/>
          </p:cNvPicPr>
          <p:nvPr/>
        </p:nvPicPr>
        <p:blipFill>
          <a:blip r:embed="rId2"/>
          <a:srcRect l="8104" t="20831" r="8790" b="26236"/>
          <a:stretch>
            <a:fillRect/>
          </a:stretch>
        </p:blipFill>
        <p:spPr>
          <a:xfrm>
            <a:off x="0" y="1613949"/>
            <a:ext cx="12208182" cy="4373896"/>
          </a:xfrm>
          <a:prstGeom prst="rect">
            <a:avLst/>
          </a:prstGeom>
        </p:spPr>
      </p:pic>
      <p:sp>
        <p:nvSpPr>
          <p:cNvPr id="11" name="TextBox 10">
            <a:extLst>
              <a:ext uri="{FF2B5EF4-FFF2-40B4-BE49-F238E27FC236}">
                <a16:creationId xmlns:a16="http://schemas.microsoft.com/office/drawing/2014/main" id="{A6043A42-6546-FA18-CCD7-DBD79B6EFBFD}"/>
              </a:ext>
            </a:extLst>
          </p:cNvPr>
          <p:cNvSpPr txBox="1"/>
          <p:nvPr/>
        </p:nvSpPr>
        <p:spPr>
          <a:xfrm>
            <a:off x="5991738" y="494772"/>
            <a:ext cx="6216444" cy="3257174"/>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Defines one test:</a:t>
            </a:r>
          </a:p>
          <a:p>
            <a:pPr marL="914400" lvl="1" indent="-457200">
              <a:lnSpc>
                <a:spcPct val="150000"/>
              </a:lnSpc>
              <a:buFont typeface="Arial" panose="020B0604020202020204" pitchFamily="34" charset="0"/>
              <a:buChar char="•"/>
            </a:pPr>
            <a:r>
              <a:rPr lang="en-US" sz="2800" dirty="0">
                <a:latin typeface="Calibir"/>
              </a:rPr>
              <a:t>Runs add(2, 3).</a:t>
            </a:r>
          </a:p>
          <a:p>
            <a:pPr marL="914400" lvl="1" indent="-457200">
              <a:lnSpc>
                <a:spcPct val="150000"/>
              </a:lnSpc>
              <a:buFont typeface="Arial" panose="020B0604020202020204" pitchFamily="34" charset="0"/>
              <a:buChar char="•"/>
            </a:pPr>
            <a:r>
              <a:rPr lang="en-US" sz="2800" dirty="0">
                <a:latin typeface="Calibir"/>
              </a:rPr>
              <a:t>Checks if the result is 5.</a:t>
            </a:r>
          </a:p>
          <a:p>
            <a:pPr marL="914400" lvl="1" indent="-457200">
              <a:lnSpc>
                <a:spcPct val="150000"/>
              </a:lnSpc>
              <a:buFont typeface="Arial" panose="020B0604020202020204" pitchFamily="34" charset="0"/>
              <a:buChar char="•"/>
            </a:pPr>
            <a:r>
              <a:rPr lang="en-US" sz="2800" dirty="0">
                <a:latin typeface="Calibir"/>
              </a:rPr>
              <a:t>If yes → test passes</a:t>
            </a:r>
          </a:p>
          <a:p>
            <a:pPr marL="914400" lvl="1" indent="-457200">
              <a:lnSpc>
                <a:spcPct val="150000"/>
              </a:lnSpc>
              <a:buFont typeface="Arial" panose="020B0604020202020204" pitchFamily="34" charset="0"/>
              <a:buChar char="•"/>
            </a:pPr>
            <a:r>
              <a:rPr lang="en-US" sz="2800" dirty="0">
                <a:latin typeface="Calibir"/>
              </a:rPr>
              <a:t>If not → test fails </a:t>
            </a:r>
          </a:p>
        </p:txBody>
      </p:sp>
      <p:sp>
        <p:nvSpPr>
          <p:cNvPr id="12" name="Rectangle: Rounded Corners 11">
            <a:extLst>
              <a:ext uri="{FF2B5EF4-FFF2-40B4-BE49-F238E27FC236}">
                <a16:creationId xmlns:a16="http://schemas.microsoft.com/office/drawing/2014/main" id="{ADA4B0A8-5CA8-2A81-6005-EE30041AAEC2}"/>
              </a:ext>
            </a:extLst>
          </p:cNvPr>
          <p:cNvSpPr/>
          <p:nvPr/>
        </p:nvSpPr>
        <p:spPr>
          <a:xfrm>
            <a:off x="0" y="4180548"/>
            <a:ext cx="7757652" cy="106350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6569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38C4E-74BC-263D-C6FD-614D4E18B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E7C2D-AD12-1A47-FD58-B4334C2D8DB6}"/>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Unit Testing</a:t>
            </a:r>
          </a:p>
        </p:txBody>
      </p:sp>
      <p:sp>
        <p:nvSpPr>
          <p:cNvPr id="5" name="TextBox 4">
            <a:extLst>
              <a:ext uri="{FF2B5EF4-FFF2-40B4-BE49-F238E27FC236}">
                <a16:creationId xmlns:a16="http://schemas.microsoft.com/office/drawing/2014/main" id="{B7357FAE-92B1-97FA-559C-1E66A6561BAF}"/>
              </a:ext>
            </a:extLst>
          </p:cNvPr>
          <p:cNvSpPr txBox="1"/>
          <p:nvPr/>
        </p:nvSpPr>
        <p:spPr>
          <a:xfrm>
            <a:off x="0" y="756745"/>
            <a:ext cx="11965258" cy="671851"/>
          </a:xfrm>
          <a:prstGeom prst="rect">
            <a:avLst/>
          </a:prstGeom>
          <a:noFill/>
        </p:spPr>
        <p:txBody>
          <a:bodyPr wrap="square">
            <a:spAutoFit/>
          </a:bodyPr>
          <a:lstStyle/>
          <a:p>
            <a:pPr>
              <a:lnSpc>
                <a:spcPct val="150000"/>
              </a:lnSpc>
            </a:pPr>
            <a:r>
              <a:rPr lang="en-US" sz="2800" dirty="0">
                <a:latin typeface="Calibir"/>
              </a:rPr>
              <a:t>Python Example (Using unittest):</a:t>
            </a:r>
          </a:p>
        </p:txBody>
      </p:sp>
      <p:pic>
        <p:nvPicPr>
          <p:cNvPr id="7" name="Picture 6">
            <a:extLst>
              <a:ext uri="{FF2B5EF4-FFF2-40B4-BE49-F238E27FC236}">
                <a16:creationId xmlns:a16="http://schemas.microsoft.com/office/drawing/2014/main" id="{3870BE3F-DE4F-93C4-9AE2-1FFD0FE38FAF}"/>
              </a:ext>
            </a:extLst>
          </p:cNvPr>
          <p:cNvPicPr>
            <a:picLocks noChangeAspect="1"/>
          </p:cNvPicPr>
          <p:nvPr/>
        </p:nvPicPr>
        <p:blipFill>
          <a:blip r:embed="rId2"/>
          <a:srcRect l="8104" t="20831" r="8790" b="26236"/>
          <a:stretch>
            <a:fillRect/>
          </a:stretch>
        </p:blipFill>
        <p:spPr>
          <a:xfrm>
            <a:off x="0" y="1613949"/>
            <a:ext cx="12208182" cy="4373896"/>
          </a:xfrm>
          <a:prstGeom prst="rect">
            <a:avLst/>
          </a:prstGeom>
        </p:spPr>
      </p:pic>
      <p:sp>
        <p:nvSpPr>
          <p:cNvPr id="11" name="TextBox 10">
            <a:extLst>
              <a:ext uri="{FF2B5EF4-FFF2-40B4-BE49-F238E27FC236}">
                <a16:creationId xmlns:a16="http://schemas.microsoft.com/office/drawing/2014/main" id="{F8EA7AE1-910E-008A-8438-2E025B8070FD}"/>
              </a:ext>
            </a:extLst>
          </p:cNvPr>
          <p:cNvSpPr txBox="1"/>
          <p:nvPr/>
        </p:nvSpPr>
        <p:spPr>
          <a:xfrm>
            <a:off x="5975556" y="1607195"/>
            <a:ext cx="6216444" cy="675441"/>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Runs the test when the file is executed.</a:t>
            </a:r>
          </a:p>
        </p:txBody>
      </p:sp>
      <p:sp>
        <p:nvSpPr>
          <p:cNvPr id="12" name="Rectangle: Rounded Corners 11">
            <a:extLst>
              <a:ext uri="{FF2B5EF4-FFF2-40B4-BE49-F238E27FC236}">
                <a16:creationId xmlns:a16="http://schemas.microsoft.com/office/drawing/2014/main" id="{4C9BFF5F-CDE4-D802-4CBB-A670E9DB598F}"/>
              </a:ext>
            </a:extLst>
          </p:cNvPr>
          <p:cNvSpPr/>
          <p:nvPr/>
        </p:nvSpPr>
        <p:spPr>
          <a:xfrm>
            <a:off x="0" y="5353665"/>
            <a:ext cx="7757652" cy="64093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83563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CAAB8-4D64-2301-4B3C-8121C9A68A6D}"/>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341342B0-8C06-F3C4-E751-D643C7EDBC07}"/>
              </a:ext>
            </a:extLst>
          </p:cNvPr>
          <p:cNvPicPr>
            <a:picLocks noChangeAspect="1"/>
          </p:cNvPicPr>
          <p:nvPr/>
        </p:nvPicPr>
        <p:blipFill>
          <a:blip r:embed="rId2"/>
          <a:srcRect l="8347" r="8306" b="27957"/>
          <a:stretch>
            <a:fillRect/>
          </a:stretch>
        </p:blipFill>
        <p:spPr>
          <a:xfrm>
            <a:off x="0" y="0"/>
            <a:ext cx="12191999" cy="5870530"/>
          </a:xfrm>
          <a:prstGeom prst="rect">
            <a:avLst/>
          </a:prstGeom>
        </p:spPr>
      </p:pic>
      <p:sp>
        <p:nvSpPr>
          <p:cNvPr id="13" name="Rectangle: Rounded Corners 12">
            <a:extLst>
              <a:ext uri="{FF2B5EF4-FFF2-40B4-BE49-F238E27FC236}">
                <a16:creationId xmlns:a16="http://schemas.microsoft.com/office/drawing/2014/main" id="{BA85C7BA-03A3-103C-4014-CC871C9C5F75}"/>
              </a:ext>
            </a:extLst>
          </p:cNvPr>
          <p:cNvSpPr/>
          <p:nvPr/>
        </p:nvSpPr>
        <p:spPr>
          <a:xfrm>
            <a:off x="811161" y="1489586"/>
            <a:ext cx="6784258" cy="9881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9005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4F11A-5035-78E5-DB3F-E043B5D0BAB1}"/>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9EB97C72-E673-9ED6-D234-1B455E1FF385}"/>
              </a:ext>
            </a:extLst>
          </p:cNvPr>
          <p:cNvPicPr>
            <a:picLocks noChangeAspect="1"/>
          </p:cNvPicPr>
          <p:nvPr/>
        </p:nvPicPr>
        <p:blipFill>
          <a:blip r:embed="rId2"/>
          <a:srcRect l="8347" r="40334" b="27957"/>
          <a:stretch>
            <a:fillRect/>
          </a:stretch>
        </p:blipFill>
        <p:spPr>
          <a:xfrm>
            <a:off x="1" y="0"/>
            <a:ext cx="7506928" cy="5870530"/>
          </a:xfrm>
          <a:prstGeom prst="rect">
            <a:avLst/>
          </a:prstGeom>
        </p:spPr>
      </p:pic>
      <p:sp>
        <p:nvSpPr>
          <p:cNvPr id="13" name="Rectangle: Rounded Corners 12">
            <a:extLst>
              <a:ext uri="{FF2B5EF4-FFF2-40B4-BE49-F238E27FC236}">
                <a16:creationId xmlns:a16="http://schemas.microsoft.com/office/drawing/2014/main" id="{C2372163-EFA4-C03A-1705-10F62CA3F750}"/>
              </a:ext>
            </a:extLst>
          </p:cNvPr>
          <p:cNvSpPr/>
          <p:nvPr/>
        </p:nvSpPr>
        <p:spPr>
          <a:xfrm>
            <a:off x="722670" y="3126658"/>
            <a:ext cx="6784258" cy="60468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E398CFC-6A32-BDBD-1767-D3432028C315}"/>
              </a:ext>
            </a:extLst>
          </p:cNvPr>
          <p:cNvSpPr txBox="1"/>
          <p:nvPr/>
        </p:nvSpPr>
        <p:spPr>
          <a:xfrm>
            <a:off x="7506928" y="1479236"/>
            <a:ext cx="4685071" cy="1964512"/>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Defines a test class (just like in Python, all tests live inside a class).</a:t>
            </a:r>
          </a:p>
        </p:txBody>
      </p:sp>
    </p:spTree>
    <p:extLst>
      <p:ext uri="{BB962C8B-B14F-4D97-AF65-F5344CB8AC3E}">
        <p14:creationId xmlns:p14="http://schemas.microsoft.com/office/powerpoint/2010/main" val="33850295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80A71-5CC7-D3A1-5A1D-58AC1BB0B948}"/>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DEC74BFC-30E4-0A5F-A14C-92B63D180806}"/>
              </a:ext>
            </a:extLst>
          </p:cNvPr>
          <p:cNvPicPr>
            <a:picLocks noChangeAspect="1"/>
          </p:cNvPicPr>
          <p:nvPr/>
        </p:nvPicPr>
        <p:blipFill>
          <a:blip r:embed="rId2"/>
          <a:srcRect l="8347" r="40334" b="27957"/>
          <a:stretch>
            <a:fillRect/>
          </a:stretch>
        </p:blipFill>
        <p:spPr>
          <a:xfrm>
            <a:off x="1" y="0"/>
            <a:ext cx="7506928" cy="5870530"/>
          </a:xfrm>
          <a:prstGeom prst="rect">
            <a:avLst/>
          </a:prstGeom>
        </p:spPr>
      </p:pic>
      <p:sp>
        <p:nvSpPr>
          <p:cNvPr id="13" name="Rectangle: Rounded Corners 12">
            <a:extLst>
              <a:ext uri="{FF2B5EF4-FFF2-40B4-BE49-F238E27FC236}">
                <a16:creationId xmlns:a16="http://schemas.microsoft.com/office/drawing/2014/main" id="{16143E1F-F793-27F6-1D78-FD23868990C0}"/>
              </a:ext>
            </a:extLst>
          </p:cNvPr>
          <p:cNvSpPr/>
          <p:nvPr/>
        </p:nvSpPr>
        <p:spPr>
          <a:xfrm>
            <a:off x="796412" y="3750112"/>
            <a:ext cx="6710515" cy="212041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1AE557A-AFDD-8C64-7592-EC829AE08444}"/>
              </a:ext>
            </a:extLst>
          </p:cNvPr>
          <p:cNvSpPr txBox="1"/>
          <p:nvPr/>
        </p:nvSpPr>
        <p:spPr>
          <a:xfrm>
            <a:off x="7506927" y="1152029"/>
            <a:ext cx="4685071" cy="5196166"/>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Calibir"/>
              </a:rPr>
              <a:t>Defines one test method.</a:t>
            </a:r>
          </a:p>
          <a:p>
            <a:pPr marL="914400" lvl="1" indent="-457200">
              <a:lnSpc>
                <a:spcPct val="150000"/>
              </a:lnSpc>
              <a:buFont typeface="Arial" panose="020B0604020202020204" pitchFamily="34" charset="0"/>
              <a:buChar char="•"/>
            </a:pPr>
            <a:r>
              <a:rPr lang="en-US" sz="2800" dirty="0">
                <a:latin typeface="Calibir"/>
              </a:rPr>
              <a:t>@Test → marks it as a test.</a:t>
            </a:r>
          </a:p>
          <a:p>
            <a:pPr marL="914400" lvl="1" indent="-457200">
              <a:lnSpc>
                <a:spcPct val="150000"/>
              </a:lnSpc>
              <a:buFont typeface="Arial" panose="020B0604020202020204" pitchFamily="34" charset="0"/>
              <a:buChar char="•"/>
            </a:pPr>
            <a:r>
              <a:rPr lang="en-US" sz="2800" dirty="0">
                <a:latin typeface="Calibir"/>
              </a:rPr>
              <a:t>assertEquals(expected, actual) → checks if 2 + 3 equals 5.</a:t>
            </a:r>
          </a:p>
          <a:p>
            <a:pPr marL="914400" lvl="1" indent="-457200">
              <a:lnSpc>
                <a:spcPct val="150000"/>
              </a:lnSpc>
              <a:buFont typeface="Arial" panose="020B0604020202020204" pitchFamily="34" charset="0"/>
              <a:buChar char="•"/>
            </a:pPr>
            <a:r>
              <a:rPr lang="en-US" sz="2800" dirty="0">
                <a:latin typeface="Calibir"/>
              </a:rPr>
              <a:t>If correct → pass.</a:t>
            </a:r>
          </a:p>
          <a:p>
            <a:pPr marL="914400" lvl="1" indent="-457200">
              <a:lnSpc>
                <a:spcPct val="150000"/>
              </a:lnSpc>
              <a:buFont typeface="Arial" panose="020B0604020202020204" pitchFamily="34" charset="0"/>
              <a:buChar char="•"/>
            </a:pPr>
            <a:r>
              <a:rPr lang="en-US" sz="2800" dirty="0">
                <a:latin typeface="Calibir"/>
              </a:rPr>
              <a:t>If wrong → fail.</a:t>
            </a:r>
          </a:p>
        </p:txBody>
      </p:sp>
    </p:spTree>
    <p:extLst>
      <p:ext uri="{BB962C8B-B14F-4D97-AF65-F5344CB8AC3E}">
        <p14:creationId xmlns:p14="http://schemas.microsoft.com/office/powerpoint/2010/main" val="4566815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14236-0F60-D196-FB9F-BF943CB84CC8}"/>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DE29BFBB-EADF-6A33-E9E7-504C4EE0DDAE}"/>
              </a:ext>
            </a:extLst>
          </p:cNvPr>
          <p:cNvPicPr>
            <a:picLocks noChangeAspect="1"/>
          </p:cNvPicPr>
          <p:nvPr/>
        </p:nvPicPr>
        <p:blipFill>
          <a:blip r:embed="rId2"/>
          <a:srcRect l="8347" r="40334" b="27957"/>
          <a:stretch>
            <a:fillRect/>
          </a:stretch>
        </p:blipFill>
        <p:spPr>
          <a:xfrm>
            <a:off x="1" y="0"/>
            <a:ext cx="7506928" cy="5870530"/>
          </a:xfrm>
          <a:prstGeom prst="rect">
            <a:avLst/>
          </a:prstGeom>
        </p:spPr>
      </p:pic>
      <p:sp>
        <p:nvSpPr>
          <p:cNvPr id="3" name="TextBox 2">
            <a:extLst>
              <a:ext uri="{FF2B5EF4-FFF2-40B4-BE49-F238E27FC236}">
                <a16:creationId xmlns:a16="http://schemas.microsoft.com/office/drawing/2014/main" id="{36B232E6-3C9C-519B-8EA5-DE03D51C61C9}"/>
              </a:ext>
            </a:extLst>
          </p:cNvPr>
          <p:cNvSpPr txBox="1"/>
          <p:nvPr/>
        </p:nvSpPr>
        <p:spPr>
          <a:xfrm>
            <a:off x="7506929" y="507751"/>
            <a:ext cx="4685071" cy="5842497"/>
          </a:xfrm>
          <a:prstGeom prst="rect">
            <a:avLst/>
          </a:prstGeom>
          <a:solidFill>
            <a:schemeClr val="bg1"/>
          </a:solidFill>
          <a:ln>
            <a:solidFill>
              <a:srgbClr val="FF0000"/>
            </a:solidFill>
          </a:ln>
        </p:spPr>
        <p:txBody>
          <a:bodyPr wrap="square">
            <a:spAutoFit/>
          </a:bodyPr>
          <a:lstStyle/>
          <a:p>
            <a:pPr>
              <a:lnSpc>
                <a:spcPct val="150000"/>
              </a:lnSpc>
            </a:pPr>
            <a:r>
              <a:rPr lang="en-US" sz="2800" b="1" dirty="0">
                <a:latin typeface="Calibir"/>
              </a:rPr>
              <a:t>Takeaway for Students</a:t>
            </a:r>
          </a:p>
          <a:p>
            <a:pPr marL="457200" indent="-457200">
              <a:lnSpc>
                <a:spcPct val="150000"/>
              </a:lnSpc>
              <a:buFont typeface="Arial" panose="020B0604020202020204" pitchFamily="34" charset="0"/>
              <a:buChar char="•"/>
            </a:pPr>
            <a:r>
              <a:rPr lang="en-US" sz="2800" dirty="0">
                <a:latin typeface="Calibir"/>
              </a:rPr>
              <a:t>Unit tests = small checks that keep big programs reliable.</a:t>
            </a:r>
          </a:p>
          <a:p>
            <a:pPr marL="457200" indent="-457200">
              <a:lnSpc>
                <a:spcPct val="150000"/>
              </a:lnSpc>
              <a:buFont typeface="Arial" panose="020B0604020202020204" pitchFamily="34" charset="0"/>
              <a:buChar char="•"/>
            </a:pPr>
            <a:r>
              <a:rPr lang="en-US" sz="2800" dirty="0">
                <a:latin typeface="Calibir"/>
              </a:rPr>
              <a:t>Python: unittest / </a:t>
            </a:r>
            <a:r>
              <a:rPr lang="en-US" sz="2800" dirty="0" err="1">
                <a:latin typeface="Calibir"/>
              </a:rPr>
              <a:t>pytest</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Java: JUnit.</a:t>
            </a:r>
          </a:p>
          <a:p>
            <a:pPr marL="457200" indent="-457200">
              <a:lnSpc>
                <a:spcPct val="150000"/>
              </a:lnSpc>
              <a:buFont typeface="Arial" panose="020B0604020202020204" pitchFamily="34" charset="0"/>
              <a:buChar char="•"/>
            </a:pPr>
            <a:r>
              <a:rPr lang="en-US" sz="2800" dirty="0">
                <a:latin typeface="Calibir"/>
              </a:rPr>
              <a:t>Both use the same pattern → </a:t>
            </a:r>
            <a:r>
              <a:rPr lang="en-US" sz="2800" i="1" dirty="0">
                <a:latin typeface="Calibir"/>
              </a:rPr>
              <a:t>write a function, write a test, assert the result</a:t>
            </a:r>
            <a:r>
              <a:rPr lang="en-US" sz="2800" dirty="0">
                <a:latin typeface="Calibir"/>
              </a:rPr>
              <a:t>.</a:t>
            </a:r>
          </a:p>
        </p:txBody>
      </p:sp>
    </p:spTree>
    <p:extLst>
      <p:ext uri="{BB962C8B-B14F-4D97-AF65-F5344CB8AC3E}">
        <p14:creationId xmlns:p14="http://schemas.microsoft.com/office/powerpoint/2010/main" val="37456813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840B8-A11A-26BA-2E5A-F6FDEF1BE59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A04E1567-17C4-3321-D57E-4B2D0DB39FC2}"/>
              </a:ext>
            </a:extLst>
          </p:cNvPr>
          <p:cNvPicPr>
            <a:picLocks noChangeAspect="1"/>
          </p:cNvPicPr>
          <p:nvPr/>
        </p:nvPicPr>
        <p:blipFill>
          <a:blip r:embed="rId2"/>
          <a:srcRect l="8347" r="40334" b="27957"/>
          <a:stretch>
            <a:fillRect/>
          </a:stretch>
        </p:blipFill>
        <p:spPr>
          <a:xfrm>
            <a:off x="1" y="0"/>
            <a:ext cx="7506928" cy="5870530"/>
          </a:xfrm>
          <a:prstGeom prst="rect">
            <a:avLst/>
          </a:prstGeom>
        </p:spPr>
      </p:pic>
      <p:sp>
        <p:nvSpPr>
          <p:cNvPr id="3" name="TextBox 2">
            <a:extLst>
              <a:ext uri="{FF2B5EF4-FFF2-40B4-BE49-F238E27FC236}">
                <a16:creationId xmlns:a16="http://schemas.microsoft.com/office/drawing/2014/main" id="{6889CDFD-AD68-795F-2BC1-A5315F9D64F5}"/>
              </a:ext>
            </a:extLst>
          </p:cNvPr>
          <p:cNvSpPr txBox="1"/>
          <p:nvPr/>
        </p:nvSpPr>
        <p:spPr>
          <a:xfrm>
            <a:off x="7506929" y="1510641"/>
            <a:ext cx="4685071" cy="3260764"/>
          </a:xfrm>
          <a:prstGeom prst="rect">
            <a:avLst/>
          </a:prstGeom>
          <a:solidFill>
            <a:schemeClr val="bg1"/>
          </a:solidFill>
          <a:ln>
            <a:solidFill>
              <a:srgbClr val="FF0000"/>
            </a:solidFill>
          </a:ln>
        </p:spPr>
        <p:txBody>
          <a:bodyPr wrap="square">
            <a:spAutoFit/>
          </a:bodyPr>
          <a:lstStyle/>
          <a:p>
            <a:pPr>
              <a:lnSpc>
                <a:spcPct val="150000"/>
              </a:lnSpc>
            </a:pPr>
            <a:r>
              <a:rPr lang="en-US" sz="2800" b="1" dirty="0">
                <a:latin typeface="Calibir"/>
              </a:rPr>
              <a:t>Analogy (Australia):</a:t>
            </a:r>
            <a:br>
              <a:rPr lang="en-US" sz="2800" dirty="0">
                <a:latin typeface="Calibir"/>
              </a:rPr>
            </a:br>
            <a:r>
              <a:rPr lang="en-US" sz="2800" dirty="0">
                <a:latin typeface="Calibir"/>
              </a:rPr>
              <a:t>JUnit tests are like a practice quiz for each topic → you don’t wait until the final exam to find mistakes.</a:t>
            </a:r>
          </a:p>
        </p:txBody>
      </p:sp>
    </p:spTree>
    <p:extLst>
      <p:ext uri="{BB962C8B-B14F-4D97-AF65-F5344CB8AC3E}">
        <p14:creationId xmlns:p14="http://schemas.microsoft.com/office/powerpoint/2010/main" val="914889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FB676-EE6C-6055-E738-E875F0507E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9F2E2-DA24-29AF-B4F2-90F923B1D096}"/>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Why Exceptions? Where Do We See Testing?</a:t>
            </a:r>
          </a:p>
        </p:txBody>
      </p:sp>
      <p:sp>
        <p:nvSpPr>
          <p:cNvPr id="3" name="Rectangle 1">
            <a:extLst>
              <a:ext uri="{FF2B5EF4-FFF2-40B4-BE49-F238E27FC236}">
                <a16:creationId xmlns:a16="http://schemas.microsoft.com/office/drawing/2014/main" id="{FD37AA05-9363-EA3A-3D9D-D1FEFFB14D91}"/>
              </a:ext>
            </a:extLst>
          </p:cNvPr>
          <p:cNvSpPr>
            <a:spLocks noChangeArrowheads="1"/>
          </p:cNvSpPr>
          <p:nvPr/>
        </p:nvSpPr>
        <p:spPr bwMode="auto">
          <a:xfrm>
            <a:off x="0" y="1800413"/>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Calibir"/>
              </a:rPr>
              <a:t>Why do we need exceptions if we already check conditions with if?</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Exceptions handle unexpected issues (e.g., file missing) that we can’t predict.</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2"/>
              <a:tabLst/>
            </a:pPr>
            <a:r>
              <a:rPr kumimoji="0" lang="en-US" altLang="en-US" sz="2800" b="1" i="0" u="none" strike="noStrike" cap="none" normalizeH="0" baseline="0" dirty="0">
                <a:ln>
                  <a:noFill/>
                </a:ln>
                <a:solidFill>
                  <a:schemeClr val="tx1"/>
                </a:solidFill>
                <a:effectLst/>
                <a:latin typeface="Calibir"/>
              </a:rPr>
              <a:t>Where in real life do we see “unit testing”?</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Quality checks in Woolworths (test one pack of strawberries to approve the batch).</a:t>
            </a:r>
          </a:p>
        </p:txBody>
      </p:sp>
    </p:spTree>
    <p:extLst>
      <p:ext uri="{BB962C8B-B14F-4D97-AF65-F5344CB8AC3E}">
        <p14:creationId xmlns:p14="http://schemas.microsoft.com/office/powerpoint/2010/main" val="268455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EEE30-5EB9-B2C5-19D3-2066754BF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56F0D-2512-03F5-4614-6D90A28F677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Role-Playing Debate Questions</a:t>
            </a:r>
          </a:p>
        </p:txBody>
      </p:sp>
      <p:sp>
        <p:nvSpPr>
          <p:cNvPr id="3" name="Rectangle 1">
            <a:extLst>
              <a:ext uri="{FF2B5EF4-FFF2-40B4-BE49-F238E27FC236}">
                <a16:creationId xmlns:a16="http://schemas.microsoft.com/office/drawing/2014/main" id="{367A63BA-0A71-1973-F2D1-45AB84EDB2D8}"/>
              </a:ext>
            </a:extLst>
          </p:cNvPr>
          <p:cNvSpPr>
            <a:spLocks noChangeArrowheads="1"/>
          </p:cNvSpPr>
          <p:nvPr/>
        </p:nvSpPr>
        <p:spPr bwMode="auto">
          <a:xfrm>
            <a:off x="0" y="1154083"/>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Q1: Should we always use exceptions instead of checking conditions?</a:t>
            </a:r>
          </a:p>
          <a:p>
            <a:pPr>
              <a:lnSpc>
                <a:spcPct val="150000"/>
              </a:lnSpc>
            </a:pPr>
            <a:r>
              <a:rPr lang="en-US" sz="2800" dirty="0">
                <a:latin typeface="Calibir"/>
              </a:rPr>
              <a:t>No. Exceptions are for unexpected problems (like a file missing). Routine checks (like if a number is positive) should use simple if conditions.</a:t>
            </a:r>
          </a:p>
          <a:p>
            <a:pPr>
              <a:lnSpc>
                <a:spcPct val="150000"/>
              </a:lnSpc>
            </a:pPr>
            <a:r>
              <a:rPr lang="en-US" sz="2800" b="1" dirty="0">
                <a:latin typeface="Calibir"/>
              </a:rPr>
              <a:t>Q2: Is automated testing more important than manual testing?</a:t>
            </a:r>
          </a:p>
          <a:p>
            <a:pPr>
              <a:lnSpc>
                <a:spcPct val="150000"/>
              </a:lnSpc>
            </a:pPr>
            <a:r>
              <a:rPr lang="en-US" sz="2800" dirty="0">
                <a:latin typeface="Calibir"/>
              </a:rPr>
              <a:t>Automated tests are great for catching repeat mistakes quickly (like rerunning hundreds of test cases). But manual testing is still needed for things like user experience (how the app feels to use).</a:t>
            </a:r>
          </a:p>
        </p:txBody>
      </p:sp>
    </p:spTree>
    <p:extLst>
      <p:ext uri="{BB962C8B-B14F-4D97-AF65-F5344CB8AC3E}">
        <p14:creationId xmlns:p14="http://schemas.microsoft.com/office/powerpoint/2010/main" val="1400436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9F877-8580-BABB-1E3C-9AEAAFFD7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BB175-7E90-230A-C969-A9C0DE59BB73}"/>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2 Preparation &amp; Guideline</a:t>
            </a:r>
          </a:p>
        </p:txBody>
      </p:sp>
      <p:sp>
        <p:nvSpPr>
          <p:cNvPr id="6" name="TextBox 5">
            <a:extLst>
              <a:ext uri="{FF2B5EF4-FFF2-40B4-BE49-F238E27FC236}">
                <a16:creationId xmlns:a16="http://schemas.microsoft.com/office/drawing/2014/main" id="{03C040F0-00A9-9739-0F80-00D9378A4B21}"/>
              </a:ext>
            </a:extLst>
          </p:cNvPr>
          <p:cNvSpPr txBox="1"/>
          <p:nvPr/>
        </p:nvSpPr>
        <p:spPr>
          <a:xfrm>
            <a:off x="0" y="1072057"/>
            <a:ext cx="11971282" cy="4549835"/>
          </a:xfrm>
          <a:prstGeom prst="rect">
            <a:avLst/>
          </a:prstGeom>
          <a:noFill/>
        </p:spPr>
        <p:txBody>
          <a:bodyPr wrap="square">
            <a:spAutoFit/>
          </a:bodyPr>
          <a:lstStyle/>
          <a:p>
            <a:pPr>
              <a:lnSpc>
                <a:spcPct val="150000"/>
              </a:lnSpc>
            </a:pPr>
            <a:r>
              <a:rPr lang="en-US" sz="2800" b="1" dirty="0">
                <a:latin typeface="Calibir"/>
              </a:rPr>
              <a:t>General Rules</a:t>
            </a:r>
          </a:p>
          <a:p>
            <a:pPr marL="914400" lvl="1" indent="-457200">
              <a:lnSpc>
                <a:spcPct val="150000"/>
              </a:lnSpc>
              <a:buFont typeface="Arial" panose="020B0604020202020204" pitchFamily="34" charset="0"/>
              <a:buChar char="•"/>
            </a:pPr>
            <a:r>
              <a:rPr lang="en-US" sz="2800" dirty="0">
                <a:latin typeface="Calibir"/>
              </a:rPr>
              <a:t>8 questions, worth 2 points each → total 15 points.</a:t>
            </a:r>
          </a:p>
          <a:p>
            <a:pPr marL="914400" lvl="1" indent="-457200">
              <a:lnSpc>
                <a:spcPct val="150000"/>
              </a:lnSpc>
              <a:buFont typeface="Arial" panose="020B0604020202020204" pitchFamily="34" charset="0"/>
              <a:buChar char="•"/>
            </a:pPr>
            <a:r>
              <a:rPr lang="en-US" sz="2800" dirty="0">
                <a:latin typeface="Calibir"/>
              </a:rPr>
              <a:t>Restricted open-book: You can use lecture slides, lab notes, and printed subject materials only.</a:t>
            </a:r>
          </a:p>
          <a:p>
            <a:pPr marL="914400" lvl="1" indent="-457200">
              <a:lnSpc>
                <a:spcPct val="150000"/>
              </a:lnSpc>
              <a:buFont typeface="Arial" panose="020B0604020202020204" pitchFamily="34" charset="0"/>
              <a:buChar char="•"/>
            </a:pPr>
            <a:r>
              <a:rPr lang="en-US" sz="2800" dirty="0">
                <a:latin typeface="Calibir"/>
              </a:rPr>
              <a:t>No running code: You must read and reason through the code.</a:t>
            </a:r>
          </a:p>
          <a:p>
            <a:pPr marL="914400" lvl="1" indent="-457200">
              <a:lnSpc>
                <a:spcPct val="150000"/>
              </a:lnSpc>
              <a:buFont typeface="Arial" panose="020B0604020202020204" pitchFamily="34" charset="0"/>
              <a:buChar char="•"/>
            </a:pPr>
            <a:r>
              <a:rPr lang="en-US" sz="2800" dirty="0">
                <a:latin typeface="Calibir"/>
              </a:rPr>
              <a:t>One attempt only, 30 minutes limit.</a:t>
            </a:r>
          </a:p>
          <a:p>
            <a:pPr marL="914400" lvl="1" indent="-457200">
              <a:lnSpc>
                <a:spcPct val="150000"/>
              </a:lnSpc>
              <a:buFont typeface="Arial" panose="020B0604020202020204" pitchFamily="34" charset="0"/>
              <a:buChar char="•"/>
            </a:pPr>
            <a:r>
              <a:rPr lang="en-US" sz="2800" dirty="0">
                <a:latin typeface="Calibir"/>
              </a:rPr>
              <a:t>Quiz will be done in Week 12 lab under supervision.</a:t>
            </a:r>
          </a:p>
        </p:txBody>
      </p:sp>
    </p:spTree>
    <p:extLst>
      <p:ext uri="{BB962C8B-B14F-4D97-AF65-F5344CB8AC3E}">
        <p14:creationId xmlns:p14="http://schemas.microsoft.com/office/powerpoint/2010/main" val="38973493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F7376-3FEB-300E-7D77-20DCCE258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1EE26-B9BE-0EED-0FB7-D8F2C807C669}"/>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2 Preparation &amp; Guideline</a:t>
            </a:r>
          </a:p>
        </p:txBody>
      </p:sp>
      <p:sp>
        <p:nvSpPr>
          <p:cNvPr id="6" name="TextBox 5">
            <a:extLst>
              <a:ext uri="{FF2B5EF4-FFF2-40B4-BE49-F238E27FC236}">
                <a16:creationId xmlns:a16="http://schemas.microsoft.com/office/drawing/2014/main" id="{E308C3C8-3DE7-654D-59FB-2162633A1D57}"/>
              </a:ext>
            </a:extLst>
          </p:cNvPr>
          <p:cNvSpPr txBox="1"/>
          <p:nvPr/>
        </p:nvSpPr>
        <p:spPr>
          <a:xfrm>
            <a:off x="0" y="1072057"/>
            <a:ext cx="11971282" cy="5842497"/>
          </a:xfrm>
          <a:prstGeom prst="rect">
            <a:avLst/>
          </a:prstGeom>
          <a:noFill/>
        </p:spPr>
        <p:txBody>
          <a:bodyPr wrap="square">
            <a:spAutoFit/>
          </a:bodyPr>
          <a:lstStyle/>
          <a:p>
            <a:pPr>
              <a:lnSpc>
                <a:spcPct val="150000"/>
              </a:lnSpc>
            </a:pPr>
            <a:r>
              <a:rPr lang="en-US" sz="2800" b="1" dirty="0">
                <a:latin typeface="Calibir"/>
              </a:rPr>
              <a:t>How to Prepare</a:t>
            </a:r>
          </a:p>
          <a:p>
            <a:pPr marL="514350" indent="-514350">
              <a:lnSpc>
                <a:spcPct val="150000"/>
              </a:lnSpc>
              <a:buFont typeface="+mj-lt"/>
              <a:buAutoNum type="arabicPeriod"/>
            </a:pPr>
            <a:r>
              <a:rPr lang="en-US" sz="2800" b="1" dirty="0">
                <a:latin typeface="Calibir"/>
              </a:rPr>
              <a:t>Revise by weeks:</a:t>
            </a:r>
            <a:endParaRPr lang="en-US" sz="2800" dirty="0">
              <a:latin typeface="Calibir"/>
            </a:endParaRPr>
          </a:p>
          <a:p>
            <a:pPr marL="914400" lvl="1" indent="-457200">
              <a:lnSpc>
                <a:spcPct val="150000"/>
              </a:lnSpc>
              <a:buFont typeface="Arial" panose="020B0604020202020204" pitchFamily="34" charset="0"/>
              <a:buChar char="•"/>
            </a:pPr>
            <a:r>
              <a:rPr lang="en-US" sz="2800" b="1" dirty="0">
                <a:latin typeface="Calibir"/>
              </a:rPr>
              <a:t>Week 9</a:t>
            </a:r>
            <a:r>
              <a:rPr lang="en-US" sz="2800" dirty="0">
                <a:latin typeface="Calibir"/>
              </a:rPr>
              <a:t> → Files, Exceptions, and Unit Testing (Python + Java)</a:t>
            </a:r>
          </a:p>
          <a:p>
            <a:pPr marL="914400" lvl="1" indent="-457200">
              <a:lnSpc>
                <a:spcPct val="150000"/>
              </a:lnSpc>
              <a:buFont typeface="Arial" panose="020B0604020202020204" pitchFamily="34" charset="0"/>
              <a:buChar char="•"/>
            </a:pPr>
            <a:r>
              <a:rPr lang="en-US" sz="2800" b="1" dirty="0">
                <a:latin typeface="Calibir"/>
              </a:rPr>
              <a:t>Week 10</a:t>
            </a:r>
            <a:r>
              <a:rPr lang="en-US" sz="2800" dirty="0">
                <a:latin typeface="Calibir"/>
              </a:rPr>
              <a:t> → GUI basics in Python (</a:t>
            </a:r>
            <a:r>
              <a:rPr lang="en-US" sz="2800" dirty="0" err="1">
                <a:latin typeface="Calibir"/>
              </a:rPr>
              <a:t>Tkinter</a:t>
            </a:r>
            <a:r>
              <a:rPr lang="en-US" sz="2800" dirty="0">
                <a:latin typeface="Calibir"/>
              </a:rPr>
              <a:t>)</a:t>
            </a:r>
          </a:p>
          <a:p>
            <a:pPr marL="914400" lvl="1" indent="-457200">
              <a:lnSpc>
                <a:spcPct val="150000"/>
              </a:lnSpc>
              <a:buFont typeface="Arial" panose="020B0604020202020204" pitchFamily="34" charset="0"/>
              <a:buChar char="•"/>
            </a:pPr>
            <a:r>
              <a:rPr lang="en-US" sz="2800" b="1" dirty="0">
                <a:latin typeface="Calibir"/>
              </a:rPr>
              <a:t>Week 11</a:t>
            </a:r>
            <a:r>
              <a:rPr lang="en-US" sz="2800" dirty="0">
                <a:latin typeface="Calibir"/>
              </a:rPr>
              <a:t> → GUI basics in JavaFX</a:t>
            </a:r>
          </a:p>
          <a:p>
            <a:pPr marL="514350" indent="-514350">
              <a:lnSpc>
                <a:spcPct val="150000"/>
              </a:lnSpc>
              <a:buFont typeface="+mj-lt"/>
              <a:buAutoNum type="arabicPeriod"/>
            </a:pPr>
            <a:r>
              <a:rPr lang="en-US" sz="2800" b="1" dirty="0">
                <a:latin typeface="Calibir"/>
              </a:rPr>
              <a:t>Practice short examples</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File reading/writing functions.</a:t>
            </a:r>
          </a:p>
          <a:p>
            <a:pPr marL="914400" lvl="1" indent="-457200">
              <a:lnSpc>
                <a:spcPct val="150000"/>
              </a:lnSpc>
              <a:buFont typeface="Arial" panose="020B0604020202020204" pitchFamily="34" charset="0"/>
              <a:buChar char="•"/>
            </a:pPr>
            <a:r>
              <a:rPr lang="en-US" sz="2800" dirty="0">
                <a:latin typeface="Calibir"/>
              </a:rPr>
              <a:t>How exceptions flow and how to handle errors.</a:t>
            </a:r>
          </a:p>
          <a:p>
            <a:pPr marL="914400" lvl="1" indent="-457200">
              <a:lnSpc>
                <a:spcPct val="150000"/>
              </a:lnSpc>
              <a:buFont typeface="Arial" panose="020B0604020202020204" pitchFamily="34" charset="0"/>
              <a:buChar char="•"/>
            </a:pPr>
            <a:r>
              <a:rPr lang="en-US" sz="2800" dirty="0">
                <a:latin typeface="Calibir"/>
              </a:rPr>
              <a:t>Basic GUI components and their purpose.</a:t>
            </a:r>
          </a:p>
        </p:txBody>
      </p:sp>
    </p:spTree>
    <p:extLst>
      <p:ext uri="{BB962C8B-B14F-4D97-AF65-F5344CB8AC3E}">
        <p14:creationId xmlns:p14="http://schemas.microsoft.com/office/powerpoint/2010/main" val="438489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B5D40-33F8-5160-5DC7-1BB59CE72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1AEB0-48B8-D66D-D2BB-05CAAC5E594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2 Preparation &amp; Guideline</a:t>
            </a:r>
          </a:p>
        </p:txBody>
      </p:sp>
      <p:sp>
        <p:nvSpPr>
          <p:cNvPr id="6" name="TextBox 5">
            <a:extLst>
              <a:ext uri="{FF2B5EF4-FFF2-40B4-BE49-F238E27FC236}">
                <a16:creationId xmlns:a16="http://schemas.microsoft.com/office/drawing/2014/main" id="{0D413B29-A46F-6D52-F43B-CB196CC60BA6}"/>
              </a:ext>
            </a:extLst>
          </p:cNvPr>
          <p:cNvSpPr txBox="1"/>
          <p:nvPr/>
        </p:nvSpPr>
        <p:spPr>
          <a:xfrm>
            <a:off x="0" y="1072057"/>
            <a:ext cx="11971282" cy="5842497"/>
          </a:xfrm>
          <a:prstGeom prst="rect">
            <a:avLst/>
          </a:prstGeom>
          <a:noFill/>
        </p:spPr>
        <p:txBody>
          <a:bodyPr wrap="square">
            <a:spAutoFit/>
          </a:bodyPr>
          <a:lstStyle/>
          <a:p>
            <a:pPr marL="514350" lvl="0" indent="-514350" eaLnBrk="0" fontAlgn="base" hangingPunct="0">
              <a:lnSpc>
                <a:spcPct val="150000"/>
              </a:lnSpc>
              <a:spcBef>
                <a:spcPct val="0"/>
              </a:spcBef>
              <a:spcAft>
                <a:spcPct val="0"/>
              </a:spcAft>
              <a:buFont typeface="+mj-lt"/>
              <a:buAutoNum type="arabicPeriod" startAt="3"/>
            </a:pPr>
            <a:r>
              <a:rPr lang="en-US" altLang="en-US" sz="2800" b="1" dirty="0">
                <a:latin typeface="Calibir"/>
              </a:rPr>
              <a:t>Watch out for tricky areas</a:t>
            </a:r>
            <a:r>
              <a:rPr lang="en-US" altLang="en-US" sz="28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Immutability (things that cannot change).</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Differences in error-handling between Python and Java.</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Missing superclass or inheritance errors.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Object vs. reference comparison.</a:t>
            </a:r>
          </a:p>
          <a:p>
            <a:pPr marL="514350" lvl="0" indent="-514350" eaLnBrk="0" fontAlgn="base" hangingPunct="0">
              <a:lnSpc>
                <a:spcPct val="150000"/>
              </a:lnSpc>
              <a:spcBef>
                <a:spcPct val="0"/>
              </a:spcBef>
              <a:spcAft>
                <a:spcPct val="0"/>
              </a:spcAft>
              <a:buFont typeface="+mj-lt"/>
              <a:buAutoNum type="arabicPeriod" startAt="4"/>
            </a:pPr>
            <a:r>
              <a:rPr lang="en-US" altLang="en-US" sz="2800" b="1" dirty="0">
                <a:latin typeface="Calibir"/>
              </a:rPr>
              <a:t>Expect real situations</a:t>
            </a:r>
            <a:r>
              <a:rPr lang="en-US" altLang="en-US" sz="28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Some questions will be about code that works.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Some questions will be about code that looks fine but fails for small reasons.</a:t>
            </a:r>
          </a:p>
        </p:txBody>
      </p:sp>
    </p:spTree>
    <p:extLst>
      <p:ext uri="{BB962C8B-B14F-4D97-AF65-F5344CB8AC3E}">
        <p14:creationId xmlns:p14="http://schemas.microsoft.com/office/powerpoint/2010/main" val="12644519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74865-1DFA-130B-3250-240B311EA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2275F-5821-1C3C-37CB-AF4F099926A2}"/>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9 (Files, Exceptions, Testing)</a:t>
            </a:r>
          </a:p>
        </p:txBody>
      </p:sp>
      <p:sp>
        <p:nvSpPr>
          <p:cNvPr id="6" name="TextBox 5">
            <a:extLst>
              <a:ext uri="{FF2B5EF4-FFF2-40B4-BE49-F238E27FC236}">
                <a16:creationId xmlns:a16="http://schemas.microsoft.com/office/drawing/2014/main" id="{4A0CF6DC-427B-3379-AEB4-4D1DED55FB06}"/>
              </a:ext>
            </a:extLst>
          </p:cNvPr>
          <p:cNvSpPr txBox="1"/>
          <p:nvPr/>
        </p:nvSpPr>
        <p:spPr>
          <a:xfrm>
            <a:off x="0" y="1072057"/>
            <a:ext cx="11971282" cy="3903504"/>
          </a:xfrm>
          <a:prstGeom prst="rect">
            <a:avLst/>
          </a:prstGeom>
          <a:noFill/>
        </p:spPr>
        <p:txBody>
          <a:bodyPr wrap="square">
            <a:spAutoFit/>
          </a:bodyPr>
          <a:lstStyle/>
          <a:p>
            <a:pPr>
              <a:lnSpc>
                <a:spcPct val="150000"/>
              </a:lnSpc>
            </a:pPr>
            <a:r>
              <a:rPr lang="en-US" sz="2800" b="1" dirty="0">
                <a:latin typeface="Calibir"/>
              </a:rPr>
              <a:t>Q1.</a:t>
            </a:r>
            <a:br>
              <a:rPr lang="en-US" sz="2800" dirty="0">
                <a:latin typeface="Calibir"/>
              </a:rPr>
            </a:br>
            <a:r>
              <a:rPr lang="en-US" sz="2800" dirty="0">
                <a:latin typeface="Calibir"/>
              </a:rPr>
              <a:t>Which statement about Python exception handling is </a:t>
            </a:r>
            <a:r>
              <a:rPr lang="en-US" sz="2800" b="1" dirty="0">
                <a:latin typeface="Calibir"/>
              </a:rPr>
              <a:t>incorrect</a:t>
            </a:r>
            <a:r>
              <a:rPr lang="en-US" sz="2800" dirty="0">
                <a:latin typeface="Calibir"/>
              </a:rPr>
              <a:t>?</a:t>
            </a:r>
          </a:p>
          <a:p>
            <a:pPr>
              <a:lnSpc>
                <a:spcPct val="150000"/>
              </a:lnSpc>
            </a:pPr>
            <a:r>
              <a:rPr lang="en-US" sz="2800" dirty="0">
                <a:latin typeface="Calibir"/>
              </a:rPr>
              <a:t>A) try can have multiple except blocks</a:t>
            </a:r>
          </a:p>
          <a:p>
            <a:pPr>
              <a:lnSpc>
                <a:spcPct val="150000"/>
              </a:lnSpc>
            </a:pPr>
            <a:r>
              <a:rPr lang="en-US" sz="2800" dirty="0">
                <a:latin typeface="Calibir"/>
              </a:rPr>
              <a:t>B) finally always runs, even if there’s a return inside try</a:t>
            </a:r>
          </a:p>
          <a:p>
            <a:pPr>
              <a:lnSpc>
                <a:spcPct val="150000"/>
              </a:lnSpc>
            </a:pPr>
            <a:r>
              <a:rPr lang="en-US" sz="2800" dirty="0">
                <a:latin typeface="Calibir"/>
              </a:rPr>
              <a:t>C) Python automatically ignores runtime errors without try-except</a:t>
            </a:r>
          </a:p>
          <a:p>
            <a:pPr>
              <a:lnSpc>
                <a:spcPct val="150000"/>
              </a:lnSpc>
            </a:pPr>
            <a:r>
              <a:rPr lang="en-US" sz="2800" dirty="0">
                <a:latin typeface="Calibir"/>
              </a:rPr>
              <a:t>D) else runs only if no exception occurs</a:t>
            </a:r>
          </a:p>
        </p:txBody>
      </p:sp>
      <p:sp>
        <p:nvSpPr>
          <p:cNvPr id="4" name="TextBox 3">
            <a:extLst>
              <a:ext uri="{FF2B5EF4-FFF2-40B4-BE49-F238E27FC236}">
                <a16:creationId xmlns:a16="http://schemas.microsoft.com/office/drawing/2014/main" id="{C15B5833-C03A-B007-937D-3596F9ECA4A2}"/>
              </a:ext>
            </a:extLst>
          </p:cNvPr>
          <p:cNvSpPr txBox="1"/>
          <p:nvPr/>
        </p:nvSpPr>
        <p:spPr>
          <a:xfrm>
            <a:off x="0" y="4893487"/>
            <a:ext cx="12192000" cy="1964512"/>
          </a:xfrm>
          <a:prstGeom prst="rect">
            <a:avLst/>
          </a:prstGeom>
          <a:noFill/>
        </p:spPr>
        <p:txBody>
          <a:bodyPr wrap="square">
            <a:spAutoFit/>
          </a:bodyPr>
          <a:lstStyle/>
          <a:p>
            <a:pPr>
              <a:lnSpc>
                <a:spcPct val="150000"/>
              </a:lnSpc>
            </a:pPr>
            <a:r>
              <a:rPr lang="en-US" sz="2800" b="1" dirty="0">
                <a:latin typeface="Calibir"/>
              </a:rPr>
              <a:t>Answer: C</a:t>
            </a:r>
            <a:br>
              <a:rPr lang="en-US" sz="2800" b="1" dirty="0">
                <a:latin typeface="Calibir"/>
              </a:rPr>
            </a:br>
            <a:r>
              <a:rPr lang="en-US" sz="2800" b="1" dirty="0">
                <a:latin typeface="Calibir"/>
              </a:rPr>
              <a:t>Reason</a:t>
            </a:r>
            <a:r>
              <a:rPr lang="en-US" sz="2800" dirty="0">
                <a:latin typeface="Calibir"/>
              </a:rPr>
              <a:t>: Python does not </a:t>
            </a:r>
            <a:r>
              <a:rPr lang="en-US" sz="2800" i="1" dirty="0">
                <a:latin typeface="Calibir"/>
              </a:rPr>
              <a:t>ignore</a:t>
            </a:r>
            <a:r>
              <a:rPr lang="en-US" sz="2800" dirty="0">
                <a:latin typeface="Calibir"/>
              </a:rPr>
              <a:t> runtime errors—without try-except, they terminate the program.</a:t>
            </a:r>
          </a:p>
        </p:txBody>
      </p:sp>
    </p:spTree>
    <p:extLst>
      <p:ext uri="{BB962C8B-B14F-4D97-AF65-F5344CB8AC3E}">
        <p14:creationId xmlns:p14="http://schemas.microsoft.com/office/powerpoint/2010/main" val="213659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2C051-7A66-EDA9-E7AF-DE547854F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79F88-919D-8998-2E1D-EC4E6FBB9B46}"/>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9 (Files, Exceptions, Testing)</a:t>
            </a:r>
          </a:p>
        </p:txBody>
      </p:sp>
      <p:sp>
        <p:nvSpPr>
          <p:cNvPr id="6" name="TextBox 5">
            <a:extLst>
              <a:ext uri="{FF2B5EF4-FFF2-40B4-BE49-F238E27FC236}">
                <a16:creationId xmlns:a16="http://schemas.microsoft.com/office/drawing/2014/main" id="{FE6EC1EC-C88C-D63D-9D7D-F32F492EF72A}"/>
              </a:ext>
            </a:extLst>
          </p:cNvPr>
          <p:cNvSpPr txBox="1"/>
          <p:nvPr/>
        </p:nvSpPr>
        <p:spPr>
          <a:xfrm>
            <a:off x="0" y="1072057"/>
            <a:ext cx="11971282" cy="1321772"/>
          </a:xfrm>
          <a:prstGeom prst="rect">
            <a:avLst/>
          </a:prstGeom>
          <a:noFill/>
        </p:spPr>
        <p:txBody>
          <a:bodyPr wrap="square">
            <a:spAutoFit/>
          </a:bodyPr>
          <a:lstStyle/>
          <a:p>
            <a:pPr>
              <a:lnSpc>
                <a:spcPct val="150000"/>
              </a:lnSpc>
            </a:pPr>
            <a:r>
              <a:rPr lang="en-US" sz="2800" b="1" dirty="0">
                <a:latin typeface="Calibir"/>
              </a:rPr>
              <a:t>Q2.</a:t>
            </a:r>
            <a:br>
              <a:rPr lang="en-US" sz="2800" dirty="0">
                <a:latin typeface="Calibir"/>
              </a:rPr>
            </a:br>
            <a:r>
              <a:rPr lang="en-US" sz="2800" dirty="0">
                <a:latin typeface="Calibir"/>
              </a:rPr>
              <a:t>What will this code output?</a:t>
            </a:r>
          </a:p>
        </p:txBody>
      </p:sp>
      <p:sp>
        <p:nvSpPr>
          <p:cNvPr id="5" name="TextBox 4">
            <a:extLst>
              <a:ext uri="{FF2B5EF4-FFF2-40B4-BE49-F238E27FC236}">
                <a16:creationId xmlns:a16="http://schemas.microsoft.com/office/drawing/2014/main" id="{DC530AB0-17E9-6C00-0972-2B08448ADFE3}"/>
              </a:ext>
            </a:extLst>
          </p:cNvPr>
          <p:cNvSpPr txBox="1"/>
          <p:nvPr/>
        </p:nvSpPr>
        <p:spPr>
          <a:xfrm>
            <a:off x="0" y="2412552"/>
            <a:ext cx="12192000" cy="3108543"/>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try</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f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open</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"data.txt"</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err="1">
                <a:solidFill>
                  <a:srgbClr val="CCCCCC"/>
                </a:solidFill>
                <a:effectLst/>
                <a:latin typeface="Consolas" panose="020B0609020204030204" pitchFamily="49" charset="0"/>
              </a:rPr>
              <a:t>f.readline</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except</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FileNotFoundError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"File missing"</a:t>
            </a:r>
            <a:r>
              <a:rPr lang="en-US" sz="2800" b="0" dirty="0">
                <a:solidFill>
                  <a:srgbClr val="CCCCCC"/>
                </a:solidFill>
                <a:effectLst/>
                <a:latin typeface="Consolas" panose="020B0609020204030204" pitchFamily="49" charset="0"/>
              </a:rPr>
              <a:t>)</a:t>
            </a:r>
          </a:p>
          <a:p>
            <a:pPr>
              <a:buNone/>
            </a:pPr>
            <a:r>
              <a:rPr lang="en-US" sz="2800" b="0" dirty="0">
                <a:solidFill>
                  <a:srgbClr val="C586C0"/>
                </a:solidFill>
                <a:effectLst/>
                <a:latin typeface="Consolas" panose="020B0609020204030204" pitchFamily="49" charset="0"/>
              </a:rPr>
              <a:t>finally</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"Done"</a:t>
            </a:r>
            <a:r>
              <a:rPr lang="en-US" sz="2800" b="0" dirty="0">
                <a:solidFill>
                  <a:srgbClr val="CCCCCC"/>
                </a:solidFill>
                <a:effectLst/>
                <a:latin typeface="Consolas" panose="020B0609020204030204" pitchFamily="49" charset="0"/>
              </a:rPr>
              <a:t>)</a:t>
            </a:r>
          </a:p>
        </p:txBody>
      </p:sp>
      <p:sp>
        <p:nvSpPr>
          <p:cNvPr id="7" name="Rectangle 1">
            <a:extLst>
              <a:ext uri="{FF2B5EF4-FFF2-40B4-BE49-F238E27FC236}">
                <a16:creationId xmlns:a16="http://schemas.microsoft.com/office/drawing/2014/main" id="{02E8FE9F-7CEC-A249-B9E5-54B75131646A}"/>
              </a:ext>
            </a:extLst>
          </p:cNvPr>
          <p:cNvSpPr>
            <a:spLocks noChangeArrowheads="1"/>
          </p:cNvSpPr>
          <p:nvPr/>
        </p:nvSpPr>
        <p:spPr bwMode="auto">
          <a:xfrm>
            <a:off x="6926318" y="2627995"/>
            <a:ext cx="5265682"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A) File missing \n Done</a:t>
            </a:r>
          </a:p>
          <a:p>
            <a:pPr marL="0" marR="0" lvl="0" indent="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B) Done \n File missing</a:t>
            </a:r>
          </a:p>
          <a:p>
            <a:pPr marL="0" marR="0" lvl="0" indent="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C) Only File missing</a:t>
            </a:r>
          </a:p>
          <a:p>
            <a:pPr marL="0" marR="0" lvl="0" indent="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D) Only Done</a:t>
            </a:r>
          </a:p>
        </p:txBody>
      </p:sp>
      <p:sp>
        <p:nvSpPr>
          <p:cNvPr id="9" name="TextBox 8">
            <a:extLst>
              <a:ext uri="{FF2B5EF4-FFF2-40B4-BE49-F238E27FC236}">
                <a16:creationId xmlns:a16="http://schemas.microsoft.com/office/drawing/2014/main" id="{AA4044F2-0493-52B3-E43C-24F33ADE723F}"/>
              </a:ext>
            </a:extLst>
          </p:cNvPr>
          <p:cNvSpPr txBox="1"/>
          <p:nvPr/>
        </p:nvSpPr>
        <p:spPr>
          <a:xfrm>
            <a:off x="0" y="5539819"/>
            <a:ext cx="12192000" cy="1318181"/>
          </a:xfrm>
          <a:prstGeom prst="rect">
            <a:avLst/>
          </a:prstGeom>
          <a:solidFill>
            <a:schemeClr val="bg1"/>
          </a:solidFill>
        </p:spPr>
        <p:txBody>
          <a:bodyPr wrap="square">
            <a:spAutoFit/>
          </a:bodyPr>
          <a:lstStyle/>
          <a:p>
            <a:pPr>
              <a:lnSpc>
                <a:spcPct val="150000"/>
              </a:lnSpc>
            </a:pPr>
            <a:r>
              <a:rPr lang="en-US" sz="2800" b="1" dirty="0">
                <a:latin typeface="Calibir"/>
              </a:rPr>
              <a:t>Answer A, Reason</a:t>
            </a:r>
            <a:r>
              <a:rPr lang="en-US" sz="2800" dirty="0">
                <a:latin typeface="Calibir"/>
              </a:rPr>
              <a:t>: FileNotFoundError triggers → prints “File missing” → finally block runs “Done”.</a:t>
            </a:r>
          </a:p>
        </p:txBody>
      </p:sp>
    </p:spTree>
    <p:extLst>
      <p:ext uri="{BB962C8B-B14F-4D97-AF65-F5344CB8AC3E}">
        <p14:creationId xmlns:p14="http://schemas.microsoft.com/office/powerpoint/2010/main" val="206462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A0B49-E6F8-F358-F682-2C92BDEF3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38EF6-EB2D-7402-1C94-D18F03E45FC3}"/>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9 (Files, Exceptions, Testing)</a:t>
            </a:r>
          </a:p>
        </p:txBody>
      </p:sp>
      <p:sp>
        <p:nvSpPr>
          <p:cNvPr id="6" name="TextBox 5">
            <a:extLst>
              <a:ext uri="{FF2B5EF4-FFF2-40B4-BE49-F238E27FC236}">
                <a16:creationId xmlns:a16="http://schemas.microsoft.com/office/drawing/2014/main" id="{5DD9C2FA-24DF-4DFB-B448-D63D303AB579}"/>
              </a:ext>
            </a:extLst>
          </p:cNvPr>
          <p:cNvSpPr txBox="1"/>
          <p:nvPr/>
        </p:nvSpPr>
        <p:spPr>
          <a:xfrm>
            <a:off x="0" y="1072057"/>
            <a:ext cx="11971282" cy="1321772"/>
          </a:xfrm>
          <a:prstGeom prst="rect">
            <a:avLst/>
          </a:prstGeom>
          <a:noFill/>
        </p:spPr>
        <p:txBody>
          <a:bodyPr wrap="square">
            <a:spAutoFit/>
          </a:bodyPr>
          <a:lstStyle/>
          <a:p>
            <a:pPr>
              <a:lnSpc>
                <a:spcPct val="150000"/>
              </a:lnSpc>
            </a:pPr>
            <a:r>
              <a:rPr lang="en-US" sz="2800" b="1" dirty="0">
                <a:latin typeface="Calibir"/>
              </a:rPr>
              <a:t>Q3.</a:t>
            </a:r>
            <a:br>
              <a:rPr lang="en-US" sz="2800" dirty="0">
                <a:latin typeface="Calibir"/>
              </a:rPr>
            </a:br>
            <a:r>
              <a:rPr lang="en-US" sz="2800" dirty="0">
                <a:latin typeface="Calibir"/>
              </a:rPr>
              <a:t>Which function is correct for writing binary data in Python?</a:t>
            </a:r>
          </a:p>
        </p:txBody>
      </p:sp>
      <p:sp>
        <p:nvSpPr>
          <p:cNvPr id="7" name="Rectangle 1">
            <a:extLst>
              <a:ext uri="{FF2B5EF4-FFF2-40B4-BE49-F238E27FC236}">
                <a16:creationId xmlns:a16="http://schemas.microsoft.com/office/drawing/2014/main" id="{656343BB-1869-F738-8B44-10B5EC0BA5BD}"/>
              </a:ext>
            </a:extLst>
          </p:cNvPr>
          <p:cNvSpPr>
            <a:spLocks noChangeArrowheads="1"/>
          </p:cNvSpPr>
          <p:nvPr/>
        </p:nvSpPr>
        <p:spPr bwMode="auto">
          <a:xfrm>
            <a:off x="0" y="2627996"/>
            <a:ext cx="12192000"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A) open("</a:t>
            </a:r>
            <a:r>
              <a:rPr lang="en-US" altLang="en-US" sz="2800" dirty="0" err="1">
                <a:latin typeface="Calibir"/>
              </a:rPr>
              <a:t>file.bin</a:t>
            </a:r>
            <a:r>
              <a:rPr lang="en-US" altLang="en-US" sz="2800" dirty="0">
                <a:latin typeface="Calibir"/>
              </a:rPr>
              <a:t>", "w")</a:t>
            </a:r>
          </a:p>
          <a:p>
            <a:pPr lvl="0" eaLnBrk="0" fontAlgn="base" hangingPunct="0">
              <a:lnSpc>
                <a:spcPct val="150000"/>
              </a:lnSpc>
              <a:spcBef>
                <a:spcPct val="0"/>
              </a:spcBef>
              <a:spcAft>
                <a:spcPct val="0"/>
              </a:spcAft>
            </a:pPr>
            <a:r>
              <a:rPr lang="en-US" altLang="en-US" sz="2800" dirty="0">
                <a:latin typeface="Calibir"/>
              </a:rPr>
              <a:t>B) open("</a:t>
            </a:r>
            <a:r>
              <a:rPr lang="en-US" altLang="en-US" sz="2800" dirty="0" err="1">
                <a:latin typeface="Calibir"/>
              </a:rPr>
              <a:t>file.bin</a:t>
            </a:r>
            <a:r>
              <a:rPr lang="en-US" altLang="en-US" sz="2800" dirty="0">
                <a:latin typeface="Calibir"/>
              </a:rPr>
              <a:t>", "</a:t>
            </a:r>
            <a:r>
              <a:rPr lang="en-US" altLang="en-US" sz="2800" dirty="0" err="1">
                <a:latin typeface="Calibir"/>
              </a:rPr>
              <a:t>wb</a:t>
            </a:r>
            <a:r>
              <a:rPr lang="en-US" altLang="en-US" sz="2800" dirty="0">
                <a:latin typeface="Calibir"/>
              </a:rPr>
              <a:t>")</a:t>
            </a:r>
          </a:p>
          <a:p>
            <a:pPr lvl="0" eaLnBrk="0" fontAlgn="base" hangingPunct="0">
              <a:lnSpc>
                <a:spcPct val="150000"/>
              </a:lnSpc>
              <a:spcBef>
                <a:spcPct val="0"/>
              </a:spcBef>
              <a:spcAft>
                <a:spcPct val="0"/>
              </a:spcAft>
            </a:pPr>
            <a:r>
              <a:rPr lang="en-US" altLang="en-US" sz="2800" dirty="0">
                <a:latin typeface="Calibir"/>
              </a:rPr>
              <a:t>C) open("</a:t>
            </a:r>
            <a:r>
              <a:rPr lang="en-US" altLang="en-US" sz="2800" dirty="0" err="1">
                <a:latin typeface="Calibir"/>
              </a:rPr>
              <a:t>file.bin</a:t>
            </a:r>
            <a:r>
              <a:rPr lang="en-US" altLang="en-US" sz="2800" dirty="0">
                <a:latin typeface="Calibir"/>
              </a:rPr>
              <a:t>", "</a:t>
            </a:r>
            <a:r>
              <a:rPr lang="en-US" altLang="en-US" sz="2800" dirty="0" err="1">
                <a:latin typeface="Calibir"/>
              </a:rPr>
              <a:t>rb</a:t>
            </a:r>
            <a:r>
              <a:rPr lang="en-US" altLang="en-US" sz="2800" dirty="0">
                <a:latin typeface="Calibir"/>
              </a:rPr>
              <a:t>")</a:t>
            </a:r>
          </a:p>
          <a:p>
            <a:pPr lvl="0" eaLnBrk="0" fontAlgn="base" hangingPunct="0">
              <a:lnSpc>
                <a:spcPct val="150000"/>
              </a:lnSpc>
              <a:spcBef>
                <a:spcPct val="0"/>
              </a:spcBef>
              <a:spcAft>
                <a:spcPct val="0"/>
              </a:spcAft>
            </a:pPr>
            <a:r>
              <a:rPr lang="en-US" altLang="en-US" sz="2800" dirty="0">
                <a:latin typeface="Calibir"/>
              </a:rPr>
              <a:t>D) open("</a:t>
            </a:r>
            <a:r>
              <a:rPr lang="en-US" altLang="en-US" sz="2800" dirty="0" err="1">
                <a:latin typeface="Calibir"/>
              </a:rPr>
              <a:t>file.bin</a:t>
            </a:r>
            <a:r>
              <a:rPr lang="en-US" altLang="en-US" sz="2800" dirty="0">
                <a:latin typeface="Calibir"/>
              </a:rPr>
              <a:t>", "a")</a:t>
            </a:r>
          </a:p>
        </p:txBody>
      </p:sp>
      <p:sp>
        <p:nvSpPr>
          <p:cNvPr id="9" name="TextBox 8">
            <a:extLst>
              <a:ext uri="{FF2B5EF4-FFF2-40B4-BE49-F238E27FC236}">
                <a16:creationId xmlns:a16="http://schemas.microsoft.com/office/drawing/2014/main" id="{68E8CCDD-F41C-3EE4-1128-18790162E5CA}"/>
              </a:ext>
            </a:extLst>
          </p:cNvPr>
          <p:cNvSpPr txBox="1"/>
          <p:nvPr/>
        </p:nvSpPr>
        <p:spPr>
          <a:xfrm>
            <a:off x="0" y="5450017"/>
            <a:ext cx="12192000" cy="671851"/>
          </a:xfrm>
          <a:prstGeom prst="rect">
            <a:avLst/>
          </a:prstGeom>
          <a:solidFill>
            <a:schemeClr val="bg1"/>
          </a:solidFill>
        </p:spPr>
        <p:txBody>
          <a:bodyPr wrap="square">
            <a:spAutoFit/>
          </a:bodyPr>
          <a:lstStyle/>
          <a:p>
            <a:pPr>
              <a:lnSpc>
                <a:spcPct val="150000"/>
              </a:lnSpc>
            </a:pPr>
            <a:r>
              <a:rPr lang="en-US" sz="2800" b="1" dirty="0">
                <a:latin typeface="Calibir"/>
              </a:rPr>
              <a:t>Answer B ,Reason</a:t>
            </a:r>
            <a:r>
              <a:rPr lang="en-US" sz="2800" dirty="0">
                <a:latin typeface="Calibir"/>
              </a:rPr>
              <a:t>: "</a:t>
            </a:r>
            <a:r>
              <a:rPr lang="en-US" sz="2800" dirty="0" err="1">
                <a:latin typeface="Calibir"/>
              </a:rPr>
              <a:t>wb</a:t>
            </a:r>
            <a:r>
              <a:rPr lang="en-US" sz="2800" dirty="0">
                <a:latin typeface="Calibir"/>
              </a:rPr>
              <a:t>" means write in binary mode. "</a:t>
            </a:r>
            <a:r>
              <a:rPr lang="en-US" sz="2800" dirty="0" err="1">
                <a:latin typeface="Calibir"/>
              </a:rPr>
              <a:t>rb</a:t>
            </a:r>
            <a:r>
              <a:rPr lang="en-US" sz="2800" dirty="0">
                <a:latin typeface="Calibir"/>
              </a:rPr>
              <a:t>" is read binary.</a:t>
            </a:r>
          </a:p>
        </p:txBody>
      </p:sp>
    </p:spTree>
    <p:extLst>
      <p:ext uri="{BB962C8B-B14F-4D97-AF65-F5344CB8AC3E}">
        <p14:creationId xmlns:p14="http://schemas.microsoft.com/office/powerpoint/2010/main" val="56038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fade">
                                      <p:cBhvr>
                                        <p:cTn id="7" dur="500"/>
                                        <p:tgtEl>
                                          <p:spTgt spid="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F8F99-D853-4996-5D35-75658A2ED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B28DA-045B-201C-237B-3821349D1129}"/>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9 (Files, Exceptions, Testing)</a:t>
            </a:r>
          </a:p>
        </p:txBody>
      </p:sp>
      <p:sp>
        <p:nvSpPr>
          <p:cNvPr id="6" name="TextBox 5">
            <a:extLst>
              <a:ext uri="{FF2B5EF4-FFF2-40B4-BE49-F238E27FC236}">
                <a16:creationId xmlns:a16="http://schemas.microsoft.com/office/drawing/2014/main" id="{5794C49B-BFFA-FC9B-C41C-911CE28CD665}"/>
              </a:ext>
            </a:extLst>
          </p:cNvPr>
          <p:cNvSpPr txBox="1"/>
          <p:nvPr/>
        </p:nvSpPr>
        <p:spPr>
          <a:xfrm>
            <a:off x="0" y="1072057"/>
            <a:ext cx="11971282" cy="1321772"/>
          </a:xfrm>
          <a:prstGeom prst="rect">
            <a:avLst/>
          </a:prstGeom>
          <a:noFill/>
        </p:spPr>
        <p:txBody>
          <a:bodyPr wrap="square">
            <a:spAutoFit/>
          </a:bodyPr>
          <a:lstStyle/>
          <a:p>
            <a:pPr>
              <a:lnSpc>
                <a:spcPct val="150000"/>
              </a:lnSpc>
            </a:pPr>
            <a:r>
              <a:rPr lang="en-US" sz="2800" b="1" dirty="0">
                <a:latin typeface="Calibir"/>
              </a:rPr>
              <a:t>Q4.</a:t>
            </a:r>
            <a:br>
              <a:rPr lang="en-US" sz="2800" dirty="0">
                <a:latin typeface="Calibir"/>
              </a:rPr>
            </a:br>
            <a:r>
              <a:rPr lang="en-US" sz="2800" dirty="0">
                <a:latin typeface="Calibir"/>
              </a:rPr>
              <a:t>Which is missing in this test?</a:t>
            </a:r>
          </a:p>
        </p:txBody>
      </p:sp>
      <p:sp>
        <p:nvSpPr>
          <p:cNvPr id="9" name="TextBox 8">
            <a:extLst>
              <a:ext uri="{FF2B5EF4-FFF2-40B4-BE49-F238E27FC236}">
                <a16:creationId xmlns:a16="http://schemas.microsoft.com/office/drawing/2014/main" id="{F0187799-709A-2A20-826A-C153F09C303D}"/>
              </a:ext>
            </a:extLst>
          </p:cNvPr>
          <p:cNvSpPr txBox="1"/>
          <p:nvPr/>
        </p:nvSpPr>
        <p:spPr>
          <a:xfrm>
            <a:off x="0" y="4861652"/>
            <a:ext cx="12192000" cy="1321772"/>
          </a:xfrm>
          <a:prstGeom prst="rect">
            <a:avLst/>
          </a:prstGeom>
          <a:solidFill>
            <a:schemeClr val="bg1"/>
          </a:solidFill>
        </p:spPr>
        <p:txBody>
          <a:bodyPr wrap="square">
            <a:spAutoFit/>
          </a:bodyPr>
          <a:lstStyle/>
          <a:p>
            <a:pPr>
              <a:lnSpc>
                <a:spcPct val="150000"/>
              </a:lnSpc>
            </a:pPr>
            <a:r>
              <a:rPr lang="en-US" sz="2800" b="1" dirty="0">
                <a:latin typeface="Calibir"/>
              </a:rPr>
              <a:t>Answer: B, Reason</a:t>
            </a:r>
            <a:r>
              <a:rPr lang="en-US" sz="2800" dirty="0">
                <a:latin typeface="Calibir"/>
              </a:rPr>
              <a:t>: To use </a:t>
            </a:r>
            <a:r>
              <a:rPr lang="en-US" sz="2800" dirty="0" err="1">
                <a:latin typeface="Calibir"/>
              </a:rPr>
              <a:t>unittest’s</a:t>
            </a:r>
            <a:r>
              <a:rPr lang="en-US" sz="2800" dirty="0">
                <a:latin typeface="Calibir"/>
              </a:rPr>
              <a:t> assertions, class must inherit </a:t>
            </a:r>
            <a:r>
              <a:rPr lang="en-US" sz="2800" dirty="0" err="1">
                <a:latin typeface="Calibir"/>
              </a:rPr>
              <a:t>unittest.TestCase</a:t>
            </a:r>
            <a:r>
              <a:rPr lang="en-US" sz="2800" dirty="0">
                <a:latin typeface="Calibir"/>
              </a:rPr>
              <a:t>.</a:t>
            </a:r>
          </a:p>
        </p:txBody>
      </p:sp>
      <p:sp>
        <p:nvSpPr>
          <p:cNvPr id="4" name="TextBox 3">
            <a:extLst>
              <a:ext uri="{FF2B5EF4-FFF2-40B4-BE49-F238E27FC236}">
                <a16:creationId xmlns:a16="http://schemas.microsoft.com/office/drawing/2014/main" id="{29F856CB-67EB-72BB-5560-F59D7CB86A7D}"/>
              </a:ext>
            </a:extLst>
          </p:cNvPr>
          <p:cNvSpPr txBox="1"/>
          <p:nvPr/>
        </p:nvSpPr>
        <p:spPr>
          <a:xfrm>
            <a:off x="0" y="2648290"/>
            <a:ext cx="9085455" cy="1815882"/>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import</a:t>
            </a:r>
            <a:r>
              <a:rPr lang="en-US" sz="2800" b="0" dirty="0">
                <a:solidFill>
                  <a:srgbClr val="CCCCCC"/>
                </a:solidFill>
                <a:effectLst/>
                <a:latin typeface="Consolas" panose="020B0609020204030204" pitchFamily="49" charset="0"/>
              </a:rPr>
              <a:t> unittest</a:t>
            </a:r>
          </a:p>
          <a:p>
            <a:pPr>
              <a:buNone/>
            </a:pPr>
            <a:r>
              <a:rPr lang="en-US" sz="2800" b="0" dirty="0">
                <a:solidFill>
                  <a:srgbClr val="569CD6"/>
                </a:solidFill>
                <a:effectLst/>
                <a:latin typeface="Consolas" panose="020B0609020204030204" pitchFamily="49" charset="0"/>
              </a:rPr>
              <a:t>class</a:t>
            </a:r>
            <a:r>
              <a:rPr lang="en-US" sz="2800" b="0" dirty="0">
                <a:solidFill>
                  <a:srgbClr val="CCCCCC"/>
                </a:solidFill>
                <a:effectLst/>
                <a:latin typeface="Consolas" panose="020B0609020204030204" pitchFamily="49" charset="0"/>
              </a:rPr>
              <a:t> </a:t>
            </a:r>
            <a:r>
              <a:rPr lang="en-US" sz="2800" b="0" dirty="0" err="1">
                <a:solidFill>
                  <a:srgbClr val="4EC9B0"/>
                </a:solidFill>
                <a:effectLst/>
                <a:latin typeface="Consolas" panose="020B0609020204030204" pitchFamily="49" charset="0"/>
              </a:rPr>
              <a:t>MyTest</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569CD6"/>
                </a:solidFill>
                <a:effectLst/>
                <a:latin typeface="Consolas" panose="020B0609020204030204" pitchFamily="49" charset="0"/>
              </a:rPr>
              <a:t>def</a:t>
            </a:r>
            <a:r>
              <a:rPr lang="en-US" sz="2800" b="0" dirty="0">
                <a:solidFill>
                  <a:srgbClr val="CCCCCC"/>
                </a:solidFill>
                <a:effectLst/>
                <a:latin typeface="Consolas" panose="020B0609020204030204" pitchFamily="49" charset="0"/>
              </a:rPr>
              <a:t> </a:t>
            </a:r>
            <a:r>
              <a:rPr lang="en-US" sz="2800" b="0" dirty="0" err="1">
                <a:solidFill>
                  <a:srgbClr val="DCDCAA"/>
                </a:solidFill>
                <a:effectLst/>
                <a:latin typeface="Consolas" panose="020B0609020204030204" pitchFamily="49" charset="0"/>
              </a:rPr>
              <a:t>test_sum</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self</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err="1">
                <a:solidFill>
                  <a:srgbClr val="569CD6"/>
                </a:solidFill>
                <a:effectLst/>
                <a:latin typeface="Consolas" panose="020B0609020204030204" pitchFamily="49" charset="0"/>
              </a:rPr>
              <a:t>self</a:t>
            </a:r>
            <a:r>
              <a:rPr lang="en-US" sz="2800" b="0" dirty="0" err="1">
                <a:solidFill>
                  <a:srgbClr val="CCCCCC"/>
                </a:solidFill>
                <a:effectLst/>
                <a:latin typeface="Consolas" panose="020B0609020204030204" pitchFamily="49" charset="0"/>
              </a:rPr>
              <a:t>.assertEqual</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2</a:t>
            </a:r>
            <a:r>
              <a:rPr lang="en-US" sz="2800" b="0" dirty="0">
                <a:solidFill>
                  <a:srgbClr val="D4D4D4"/>
                </a:solidFill>
                <a:effectLst/>
                <a:latin typeface="Consolas" panose="020B0609020204030204" pitchFamily="49" charset="0"/>
              </a:rPr>
              <a:t>+</a:t>
            </a:r>
            <a:r>
              <a:rPr lang="en-US" sz="2800" b="0" dirty="0">
                <a:solidFill>
                  <a:srgbClr val="B5CEA8"/>
                </a:solidFill>
                <a:effectLst/>
                <a:latin typeface="Consolas" panose="020B0609020204030204" pitchFamily="49" charset="0"/>
              </a:rPr>
              <a:t>3</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5</a:t>
            </a:r>
            <a:r>
              <a:rPr lang="en-US" sz="2800" b="0" dirty="0">
                <a:solidFill>
                  <a:srgbClr val="CCCCCC"/>
                </a:solidFill>
                <a:effectLst/>
                <a:latin typeface="Consolas" panose="020B0609020204030204" pitchFamily="49" charset="0"/>
              </a:rPr>
              <a:t>)</a:t>
            </a:r>
          </a:p>
        </p:txBody>
      </p:sp>
      <p:sp>
        <p:nvSpPr>
          <p:cNvPr id="5" name="Rectangle 1">
            <a:extLst>
              <a:ext uri="{FF2B5EF4-FFF2-40B4-BE49-F238E27FC236}">
                <a16:creationId xmlns:a16="http://schemas.microsoft.com/office/drawing/2014/main" id="{2A8448D1-1E21-0A0E-434D-6F1D80AEA3C8}"/>
              </a:ext>
            </a:extLst>
          </p:cNvPr>
          <p:cNvSpPr>
            <a:spLocks noChangeArrowheads="1"/>
          </p:cNvSpPr>
          <p:nvPr/>
        </p:nvSpPr>
        <p:spPr bwMode="auto">
          <a:xfrm>
            <a:off x="6512312" y="2250809"/>
            <a:ext cx="5679688"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A) Must import </a:t>
            </a:r>
            <a:r>
              <a:rPr kumimoji="0" lang="en-US" altLang="en-US" sz="2800" b="0" i="0" u="none" strike="noStrike" cap="none" normalizeH="0" baseline="0" dirty="0" err="1">
                <a:ln>
                  <a:noFill/>
                </a:ln>
                <a:solidFill>
                  <a:schemeClr val="tx1"/>
                </a:solidFill>
                <a:effectLst/>
                <a:latin typeface="Calibir"/>
              </a:rPr>
              <a:t>pytest</a:t>
            </a:r>
            <a:endParaRPr kumimoji="0" lang="en-US" altLang="en-US" sz="2800" b="0" i="0" u="none" strike="noStrike" cap="none" normalizeH="0" baseline="0" dirty="0">
              <a:ln>
                <a:noFill/>
              </a:ln>
              <a:solidFill>
                <a:schemeClr val="tx1"/>
              </a:solidFill>
              <a:effectLst/>
              <a:latin typeface="Calibir"/>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B) Class must extend </a:t>
            </a:r>
            <a:r>
              <a:rPr kumimoji="0" lang="en-US" altLang="en-US" sz="2800" b="0" i="0" u="none" strike="noStrike" cap="none" normalizeH="0" baseline="0" dirty="0" err="1">
                <a:ln>
                  <a:noFill/>
                </a:ln>
                <a:solidFill>
                  <a:schemeClr val="tx1"/>
                </a:solidFill>
                <a:effectLst/>
                <a:latin typeface="Calibir"/>
              </a:rPr>
              <a:t>unittest.TestCase</a:t>
            </a:r>
            <a:endParaRPr kumimoji="0" lang="en-US" altLang="en-US" sz="2800" b="0" i="0" u="none" strike="noStrike" cap="none" normalizeH="0" baseline="0" dirty="0">
              <a:ln>
                <a:noFill/>
              </a:ln>
              <a:solidFill>
                <a:schemeClr val="tx1"/>
              </a:solidFill>
              <a:effectLst/>
              <a:latin typeface="Calibir"/>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C) Use == instead of </a:t>
            </a:r>
            <a:r>
              <a:rPr kumimoji="0" lang="en-US" altLang="en-US" sz="2800" b="0" i="0" u="none" strike="noStrike" cap="none" normalizeH="0" baseline="0" dirty="0" err="1">
                <a:ln>
                  <a:noFill/>
                </a:ln>
                <a:solidFill>
                  <a:schemeClr val="tx1"/>
                </a:solidFill>
                <a:effectLst/>
                <a:latin typeface="Calibir"/>
              </a:rPr>
              <a:t>assertEqual</a:t>
            </a:r>
            <a:endParaRPr kumimoji="0" lang="en-US" altLang="en-US" sz="2800" b="0" i="0" u="none" strike="noStrike" cap="none" normalizeH="0" baseline="0" dirty="0">
              <a:ln>
                <a:noFill/>
              </a:ln>
              <a:solidFill>
                <a:schemeClr val="tx1"/>
              </a:solidFill>
              <a:effectLst/>
              <a:latin typeface="Calibir"/>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D) Test method must return True</a:t>
            </a:r>
          </a:p>
        </p:txBody>
      </p:sp>
    </p:spTree>
    <p:extLst>
      <p:ext uri="{BB962C8B-B14F-4D97-AF65-F5344CB8AC3E}">
        <p14:creationId xmlns:p14="http://schemas.microsoft.com/office/powerpoint/2010/main" val="3191252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fade">
                                      <p:cBhvr>
                                        <p:cTn id="7" dur="500"/>
                                        <p:tgtEl>
                                          <p:spTgt spid="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70DD4-A0DD-E3E4-3E51-6CB68FF88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40E62-5FE6-7E8F-2A7A-7E75EE05AE24}"/>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9 (Files, Exceptions, Testing)</a:t>
            </a:r>
          </a:p>
        </p:txBody>
      </p:sp>
      <p:sp>
        <p:nvSpPr>
          <p:cNvPr id="6" name="TextBox 5">
            <a:extLst>
              <a:ext uri="{FF2B5EF4-FFF2-40B4-BE49-F238E27FC236}">
                <a16:creationId xmlns:a16="http://schemas.microsoft.com/office/drawing/2014/main" id="{DD5AE9CA-7711-D742-AD68-5670700B01B9}"/>
              </a:ext>
            </a:extLst>
          </p:cNvPr>
          <p:cNvSpPr txBox="1"/>
          <p:nvPr/>
        </p:nvSpPr>
        <p:spPr>
          <a:xfrm>
            <a:off x="0" y="1072057"/>
            <a:ext cx="11971282" cy="1321772"/>
          </a:xfrm>
          <a:prstGeom prst="rect">
            <a:avLst/>
          </a:prstGeom>
          <a:noFill/>
        </p:spPr>
        <p:txBody>
          <a:bodyPr wrap="square">
            <a:spAutoFit/>
          </a:bodyPr>
          <a:lstStyle/>
          <a:p>
            <a:pPr>
              <a:lnSpc>
                <a:spcPct val="150000"/>
              </a:lnSpc>
            </a:pPr>
            <a:r>
              <a:rPr lang="en-US" sz="2800" b="1" dirty="0">
                <a:latin typeface="Calibir"/>
              </a:rPr>
              <a:t>Q5.</a:t>
            </a:r>
            <a:br>
              <a:rPr lang="en-US" sz="2800" dirty="0">
                <a:latin typeface="Calibir"/>
              </a:rPr>
            </a:br>
            <a:r>
              <a:rPr lang="en-US" sz="2800" dirty="0">
                <a:latin typeface="Calibir"/>
              </a:rPr>
              <a:t>Which method reads the entire file into a string?</a:t>
            </a:r>
          </a:p>
        </p:txBody>
      </p:sp>
      <p:sp>
        <p:nvSpPr>
          <p:cNvPr id="9" name="TextBox 8">
            <a:extLst>
              <a:ext uri="{FF2B5EF4-FFF2-40B4-BE49-F238E27FC236}">
                <a16:creationId xmlns:a16="http://schemas.microsoft.com/office/drawing/2014/main" id="{E0A7938F-34EC-15EE-02F9-74742EF818D0}"/>
              </a:ext>
            </a:extLst>
          </p:cNvPr>
          <p:cNvSpPr txBox="1"/>
          <p:nvPr/>
        </p:nvSpPr>
        <p:spPr>
          <a:xfrm>
            <a:off x="0" y="5028920"/>
            <a:ext cx="12192000" cy="671851"/>
          </a:xfrm>
          <a:prstGeom prst="rect">
            <a:avLst/>
          </a:prstGeom>
          <a:solidFill>
            <a:schemeClr val="bg1"/>
          </a:solidFill>
        </p:spPr>
        <p:txBody>
          <a:bodyPr wrap="square">
            <a:spAutoFit/>
          </a:bodyPr>
          <a:lstStyle/>
          <a:p>
            <a:pPr>
              <a:lnSpc>
                <a:spcPct val="150000"/>
              </a:lnSpc>
            </a:pPr>
            <a:r>
              <a:rPr lang="en-US" sz="2800" b="1" dirty="0">
                <a:latin typeface="Calibir"/>
              </a:rPr>
              <a:t>Answer: C, Reason</a:t>
            </a:r>
            <a:r>
              <a:rPr lang="en-US" sz="2800" dirty="0">
                <a:latin typeface="Calibir"/>
              </a:rPr>
              <a:t>: </a:t>
            </a:r>
            <a:r>
              <a:rPr lang="en-US" sz="2800" dirty="0" err="1">
                <a:latin typeface="Calibir"/>
              </a:rPr>
              <a:t>f.read</a:t>
            </a:r>
            <a:r>
              <a:rPr lang="en-US" sz="2800" dirty="0">
                <a:latin typeface="Calibir"/>
              </a:rPr>
              <a:t>() returns the full file as one string.</a:t>
            </a:r>
          </a:p>
        </p:txBody>
      </p:sp>
      <p:sp>
        <p:nvSpPr>
          <p:cNvPr id="5" name="Rectangle 1">
            <a:extLst>
              <a:ext uri="{FF2B5EF4-FFF2-40B4-BE49-F238E27FC236}">
                <a16:creationId xmlns:a16="http://schemas.microsoft.com/office/drawing/2014/main" id="{73856141-82C5-2917-3A7C-4C7C97D7D3F9}"/>
              </a:ext>
            </a:extLst>
          </p:cNvPr>
          <p:cNvSpPr>
            <a:spLocks noChangeArrowheads="1"/>
          </p:cNvSpPr>
          <p:nvPr/>
        </p:nvSpPr>
        <p:spPr bwMode="auto">
          <a:xfrm>
            <a:off x="0" y="2322319"/>
            <a:ext cx="5679688"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A) </a:t>
            </a:r>
            <a:r>
              <a:rPr lang="en-US" altLang="en-US" sz="2800" dirty="0" err="1">
                <a:latin typeface="Calibir"/>
              </a:rPr>
              <a:t>f.readline</a:t>
            </a:r>
            <a:r>
              <a:rPr lang="en-US" altLang="en-US" sz="2800" dirty="0">
                <a:latin typeface="Calibir"/>
              </a:rPr>
              <a:t>()</a:t>
            </a:r>
          </a:p>
          <a:p>
            <a:pPr lvl="0" eaLnBrk="0" fontAlgn="base" hangingPunct="0">
              <a:lnSpc>
                <a:spcPct val="150000"/>
              </a:lnSpc>
              <a:spcBef>
                <a:spcPct val="0"/>
              </a:spcBef>
              <a:spcAft>
                <a:spcPct val="0"/>
              </a:spcAft>
            </a:pPr>
            <a:r>
              <a:rPr lang="en-US" altLang="en-US" sz="2800" dirty="0">
                <a:latin typeface="Calibir"/>
              </a:rPr>
              <a:t>B) </a:t>
            </a:r>
            <a:r>
              <a:rPr lang="en-US" altLang="en-US" sz="2800" dirty="0" err="1">
                <a:latin typeface="Calibir"/>
              </a:rPr>
              <a:t>f.readlines</a:t>
            </a:r>
            <a:r>
              <a:rPr lang="en-US" altLang="en-US" sz="2800" dirty="0">
                <a:latin typeface="Calibir"/>
              </a:rPr>
              <a:t>()</a:t>
            </a:r>
          </a:p>
          <a:p>
            <a:pPr lvl="0" eaLnBrk="0" fontAlgn="base" hangingPunct="0">
              <a:lnSpc>
                <a:spcPct val="150000"/>
              </a:lnSpc>
              <a:spcBef>
                <a:spcPct val="0"/>
              </a:spcBef>
              <a:spcAft>
                <a:spcPct val="0"/>
              </a:spcAft>
            </a:pPr>
            <a:r>
              <a:rPr lang="en-US" altLang="en-US" sz="2800" dirty="0">
                <a:latin typeface="Calibir"/>
              </a:rPr>
              <a:t>C) </a:t>
            </a:r>
            <a:r>
              <a:rPr lang="en-US" altLang="en-US" sz="2800" dirty="0" err="1">
                <a:latin typeface="Calibir"/>
              </a:rPr>
              <a:t>f.read</a:t>
            </a:r>
            <a:r>
              <a:rPr lang="en-US" altLang="en-US" sz="2800" dirty="0">
                <a:latin typeface="Calibir"/>
              </a:rPr>
              <a:t>()</a:t>
            </a:r>
          </a:p>
          <a:p>
            <a:pPr lvl="0" eaLnBrk="0" fontAlgn="base" hangingPunct="0">
              <a:lnSpc>
                <a:spcPct val="150000"/>
              </a:lnSpc>
              <a:spcBef>
                <a:spcPct val="0"/>
              </a:spcBef>
              <a:spcAft>
                <a:spcPct val="0"/>
              </a:spcAft>
            </a:pPr>
            <a:r>
              <a:rPr lang="en-US" altLang="en-US" sz="2800" dirty="0">
                <a:latin typeface="Calibir"/>
              </a:rPr>
              <a:t>D) </a:t>
            </a:r>
            <a:r>
              <a:rPr lang="en-US" altLang="en-US" sz="2800" dirty="0" err="1">
                <a:latin typeface="Calibir"/>
              </a:rPr>
              <a:t>f.next</a:t>
            </a:r>
            <a:r>
              <a:rPr lang="en-US" altLang="en-US" sz="2800" dirty="0">
                <a:latin typeface="Calibir"/>
              </a:rPr>
              <a:t>()</a:t>
            </a:r>
          </a:p>
        </p:txBody>
      </p:sp>
    </p:spTree>
    <p:extLst>
      <p:ext uri="{BB962C8B-B14F-4D97-AF65-F5344CB8AC3E}">
        <p14:creationId xmlns:p14="http://schemas.microsoft.com/office/powerpoint/2010/main" val="310184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fade">
                                      <p:cBhvr>
                                        <p:cTn id="7" dur="500"/>
                                        <p:tgtEl>
                                          <p:spTgt spid="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animBg="1"/>
    </p:bld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3543</TotalTime>
  <Words>6212</Words>
  <Application>Microsoft Office PowerPoint</Application>
  <PresentationFormat>Widescreen</PresentationFormat>
  <Paragraphs>707</Paragraphs>
  <Slides>98</Slides>
  <Notes>0</Notes>
  <HiddenSlides>0</HiddenSlides>
  <MMClips>4</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98</vt:i4>
      </vt:variant>
    </vt:vector>
  </HeadingPairs>
  <TitlesOfParts>
    <vt:vector size="111" baseType="lpstr">
      <vt:lpstr>Aptos</vt:lpstr>
      <vt:lpstr>Aptos Display</vt:lpstr>
      <vt:lpstr>Arial</vt:lpstr>
      <vt:lpstr>Arial Narrow</vt:lpstr>
      <vt:lpstr>Calibir</vt:lpstr>
      <vt:lpstr>Calibri</vt:lpstr>
      <vt:lpstr>Calibri Light</vt:lpstr>
      <vt:lpstr>Consolas</vt:lpstr>
      <vt:lpstr>Courier New</vt:lpstr>
      <vt:lpstr>Times New Roman</vt:lpstr>
      <vt:lpstr>Office Theme</vt:lpstr>
      <vt:lpstr>1_Office Theme</vt:lpstr>
      <vt:lpstr>2_Office Theme</vt:lpstr>
      <vt:lpstr>32555 – Fundamentals of Software Development</vt:lpstr>
      <vt:lpstr>Welcome to 32555 – Fundamentals of Software Development</vt:lpstr>
      <vt:lpstr>Welcome to 32555 – Fundamentals of Software Development</vt:lpstr>
      <vt:lpstr>Week 9 Outline</vt:lpstr>
      <vt:lpstr>Files and Exceptions</vt:lpstr>
      <vt:lpstr>Contents</vt:lpstr>
      <vt:lpstr>Lab 9 Case Study - continued: Revise the Bank class to include file handling capabilities</vt:lpstr>
      <vt:lpstr>Lab 9 Case Study - continued: Writing objects to files</vt:lpstr>
      <vt:lpstr>Lab 9 Case Study - continued: Sample Class Diagram</vt:lpstr>
      <vt:lpstr>PowerPoint Presentation</vt:lpstr>
      <vt:lpstr>PowerPoint Presentation</vt:lpstr>
      <vt:lpstr>Lab 9 – Lab9Exercise1</vt:lpstr>
      <vt:lpstr>Lab 9 – Lab9Exercise2</vt:lpstr>
      <vt:lpstr>Lab 9 – Lab9Exercise2</vt:lpstr>
      <vt:lpstr>Lab 9 – Lab9Exercise3</vt:lpstr>
      <vt:lpstr>Lab 9 – Lab9Exercise3</vt:lpstr>
      <vt:lpstr>Exceptions</vt:lpstr>
      <vt:lpstr>Exceptions</vt:lpstr>
      <vt:lpstr>Exceptions</vt:lpstr>
      <vt:lpstr>Exceptions</vt:lpstr>
      <vt:lpstr>Exceptions</vt:lpstr>
      <vt:lpstr>Example 1 – Python Exception</vt:lpstr>
      <vt:lpstr>Example 1 – Python Exception</vt:lpstr>
      <vt:lpstr>Example 1 – Python Exception</vt:lpstr>
      <vt:lpstr>Activity 1 – (Python – Division Safety)</vt:lpstr>
      <vt:lpstr>Activity 1 – (Python – Division Safety)</vt:lpstr>
      <vt:lpstr>Activity 2 – (Python – File Error)</vt:lpstr>
      <vt:lpstr>PowerPoint Presentation</vt:lpstr>
      <vt:lpstr>Errors vs Exceptions</vt:lpstr>
      <vt:lpstr>Errors vs Exceptions</vt:lpstr>
      <vt:lpstr>Errors vs Exceptions</vt:lpstr>
      <vt:lpstr>Errors vs Exceptions</vt:lpstr>
      <vt:lpstr>Errors vs Exceptions</vt:lpstr>
      <vt:lpstr>Example 2 – Java Exception</vt:lpstr>
      <vt:lpstr>Example 2 – Java Exception</vt:lpstr>
      <vt:lpstr>Example 2 – Java Exception</vt:lpstr>
      <vt:lpstr>Example 2 – Java Exception</vt:lpstr>
      <vt:lpstr>Activity 3 (Java – Read File)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 4 (Python and Java – Custom Exception)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File Handling Basics (Python)</vt:lpstr>
      <vt:lpstr>File Handling Basics (Python)</vt:lpstr>
      <vt:lpstr>File Handling Basics (Python)</vt:lpstr>
      <vt:lpstr>File Handling Basics (Python)</vt:lpstr>
      <vt:lpstr>File Handling Basics (Python)</vt:lpstr>
      <vt:lpstr>File Handling Basics (Python)</vt:lpstr>
      <vt:lpstr>File Handling Basics (Java)</vt:lpstr>
      <vt:lpstr>File Handling Basics (Java)</vt:lpstr>
      <vt:lpstr>File Handling Basics (Java)</vt:lpstr>
      <vt:lpstr>File Handling Basics (Java)</vt:lpstr>
      <vt:lpstr>File Handling Basics (Java)</vt:lpstr>
      <vt:lpstr>File Handling Basics (Java)</vt:lpstr>
      <vt:lpstr>Files &amp; Directories (Python with os module)</vt:lpstr>
      <vt:lpstr>Files &amp; Directories (Python with os module)</vt:lpstr>
      <vt:lpstr>Files &amp; Directories (Java using File class)</vt:lpstr>
      <vt:lpstr>Files &amp; Directories (Java using File class)</vt:lpstr>
      <vt:lpstr>Files &amp; Directories</vt:lpstr>
      <vt:lpstr>Unit Testing</vt:lpstr>
      <vt:lpstr>Unit Testing</vt:lpstr>
      <vt:lpstr>Unit Testing</vt:lpstr>
      <vt:lpstr>Unit Testing</vt:lpstr>
      <vt:lpstr>Unit Testing</vt:lpstr>
      <vt:lpstr>Unit Testing</vt:lpstr>
      <vt:lpstr>Unit Testing</vt:lpstr>
      <vt:lpstr>PowerPoint Presentation</vt:lpstr>
      <vt:lpstr>PowerPoint Presentation</vt:lpstr>
      <vt:lpstr>PowerPoint Presentation</vt:lpstr>
      <vt:lpstr>PowerPoint Presentation</vt:lpstr>
      <vt:lpstr>PowerPoint Presentation</vt:lpstr>
      <vt:lpstr>Why Exceptions? Where Do We See Testing?</vt:lpstr>
      <vt:lpstr>Role-Playing Debate Questions</vt:lpstr>
      <vt:lpstr>Quiz 2 Preparation &amp; Guideline</vt:lpstr>
      <vt:lpstr>Quiz 2 Preparation &amp; Guideline</vt:lpstr>
      <vt:lpstr>Quiz 2 Preparation &amp; Guideline</vt:lpstr>
      <vt:lpstr>MQs designed in Week 9 (Files, Exceptions, Testing)</vt:lpstr>
      <vt:lpstr>MQs designed in Week 9 (Files, Exceptions, Testing)</vt:lpstr>
      <vt:lpstr>MQs designed in Week 9 (Files, Exceptions, Testing)</vt:lpstr>
      <vt:lpstr>MQs designed in Week 9 (Files, Exceptions, Testing)</vt:lpstr>
      <vt:lpstr>MQs designed in Week 9 (Files, Exceptions, Testing)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1079</cp:revision>
  <dcterms:created xsi:type="dcterms:W3CDTF">2025-07-28T16:39:25Z</dcterms:created>
  <dcterms:modified xsi:type="dcterms:W3CDTF">2026-09-29T22:57:41Z</dcterms:modified>
</cp:coreProperties>
</file>