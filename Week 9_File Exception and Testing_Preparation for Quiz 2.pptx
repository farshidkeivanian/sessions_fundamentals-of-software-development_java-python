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8"/>
  </p:notesMasterIdLst>
  <p:sldIdLst>
    <p:sldId id="256" r:id="rId3"/>
    <p:sldId id="2467" r:id="rId4"/>
    <p:sldId id="2634" r:id="rId5"/>
    <p:sldId id="3051" r:id="rId6"/>
    <p:sldId id="3052" r:id="rId7"/>
    <p:sldId id="3054" r:id="rId8"/>
    <p:sldId id="3055" r:id="rId9"/>
    <p:sldId id="3073" r:id="rId10"/>
    <p:sldId id="3074" r:id="rId11"/>
    <p:sldId id="3075" r:id="rId12"/>
    <p:sldId id="3076" r:id="rId13"/>
    <p:sldId id="3077" r:id="rId14"/>
    <p:sldId id="3078" r:id="rId15"/>
    <p:sldId id="3079" r:id="rId16"/>
    <p:sldId id="3056" r:id="rId17"/>
    <p:sldId id="3106" r:id="rId18"/>
    <p:sldId id="3057" r:id="rId19"/>
    <p:sldId id="3107" r:id="rId20"/>
    <p:sldId id="3058" r:id="rId21"/>
    <p:sldId id="3080" r:id="rId22"/>
    <p:sldId id="3081" r:id="rId23"/>
    <p:sldId id="3082" r:id="rId24"/>
    <p:sldId id="3083" r:id="rId25"/>
    <p:sldId id="3084" r:id="rId26"/>
    <p:sldId id="3085" r:id="rId27"/>
    <p:sldId id="3086" r:id="rId28"/>
    <p:sldId id="3087" r:id="rId29"/>
    <p:sldId id="3088" r:id="rId30"/>
    <p:sldId id="3089" r:id="rId31"/>
    <p:sldId id="3090" r:id="rId32"/>
    <p:sldId id="3091" r:id="rId33"/>
    <p:sldId id="3092" r:id="rId34"/>
    <p:sldId id="3093" r:id="rId35"/>
    <p:sldId id="3124" r:id="rId36"/>
    <p:sldId id="3125" r:id="rId37"/>
    <p:sldId id="3126" r:id="rId38"/>
    <p:sldId id="3127" r:id="rId39"/>
    <p:sldId id="3094" r:id="rId40"/>
    <p:sldId id="3095" r:id="rId41"/>
    <p:sldId id="3096" r:id="rId42"/>
    <p:sldId id="3097" r:id="rId43"/>
    <p:sldId id="3098" r:id="rId44"/>
    <p:sldId id="3099" r:id="rId45"/>
    <p:sldId id="3100" r:id="rId46"/>
    <p:sldId id="3101" r:id="rId47"/>
    <p:sldId id="3059" r:id="rId48"/>
    <p:sldId id="3060" r:id="rId49"/>
    <p:sldId id="3061" r:id="rId50"/>
    <p:sldId id="3103" r:id="rId51"/>
    <p:sldId id="3104" r:id="rId52"/>
    <p:sldId id="3105" r:id="rId53"/>
    <p:sldId id="3062" r:id="rId54"/>
    <p:sldId id="3108" r:id="rId55"/>
    <p:sldId id="3063" r:id="rId56"/>
    <p:sldId id="3109" r:id="rId57"/>
    <p:sldId id="3064" r:id="rId58"/>
    <p:sldId id="3110" r:id="rId59"/>
    <p:sldId id="3066" r:id="rId60"/>
    <p:sldId id="3111" r:id="rId61"/>
    <p:sldId id="3067" r:id="rId62"/>
    <p:sldId id="3112" r:id="rId63"/>
    <p:sldId id="3068" r:id="rId64"/>
    <p:sldId id="3069" r:id="rId65"/>
    <p:sldId id="3113" r:id="rId66"/>
    <p:sldId id="3128" r:id="rId67"/>
    <p:sldId id="3114" r:id="rId68"/>
    <p:sldId id="3115" r:id="rId69"/>
    <p:sldId id="3116" r:id="rId70"/>
    <p:sldId id="3117" r:id="rId71"/>
    <p:sldId id="3070" r:id="rId72"/>
    <p:sldId id="3118" r:id="rId73"/>
    <p:sldId id="3119" r:id="rId74"/>
    <p:sldId id="3120" r:id="rId75"/>
    <p:sldId id="3121" r:id="rId76"/>
    <p:sldId id="3071" r:id="rId77"/>
    <p:sldId id="3072" r:id="rId78"/>
    <p:sldId id="3050" r:id="rId79"/>
    <p:sldId id="3048" r:id="rId80"/>
    <p:sldId id="3049" r:id="rId81"/>
    <p:sldId id="3047" r:id="rId82"/>
    <p:sldId id="3043" r:id="rId83"/>
    <p:sldId id="3044" r:id="rId84"/>
    <p:sldId id="3045" r:id="rId85"/>
    <p:sldId id="3046" r:id="rId86"/>
    <p:sldId id="749"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7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viewProps" Target="viewProp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30/09/2025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9</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9 Outline</a:t>
            </a:r>
            <a:endParaRPr lang="en-AU" sz="4000" b="1" dirty="0">
              <a:latin typeface="Calibir"/>
            </a:endParaRPr>
          </a:p>
        </p:txBody>
      </p:sp>
      <p:sp>
        <p:nvSpPr>
          <p:cNvPr id="4" name="TextBox 3">
            <a:extLst>
              <a:ext uri="{FF2B5EF4-FFF2-40B4-BE49-F238E27FC236}">
                <a16:creationId xmlns:a16="http://schemas.microsoft.com/office/drawing/2014/main" id="{2F0128F9-B18A-0AC2-A696-92165ABAB1BE}"/>
              </a:ext>
            </a:extLst>
          </p:cNvPr>
          <p:cNvSpPr txBox="1"/>
          <p:nvPr/>
        </p:nvSpPr>
        <p:spPr>
          <a:xfrm>
            <a:off x="0" y="856356"/>
            <a:ext cx="12192000" cy="6001643"/>
          </a:xfrm>
          <a:prstGeom prst="rect">
            <a:avLst/>
          </a:prstGeom>
          <a:noFill/>
        </p:spPr>
        <p:txBody>
          <a:bodyPr wrap="square">
            <a:spAutoFit/>
          </a:bodyPr>
          <a:lstStyle/>
          <a:p>
            <a:pPr marL="342900" indent="-342900">
              <a:buFont typeface="+mj-lt"/>
              <a:buAutoNum type="arabicPeriod"/>
            </a:pPr>
            <a:r>
              <a:rPr lang="en-US" sz="2400" dirty="0">
                <a:latin typeface="Calibir"/>
              </a:rPr>
              <a:t>Exceptions</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Example 1 – Python Exception (try/except/finally).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1 (Python – Division Safety)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2 (Python – File Error)</a:t>
            </a:r>
          </a:p>
          <a:p>
            <a:pPr marL="342900" indent="-342900">
              <a:buFont typeface="+mj-lt"/>
              <a:buAutoNum type="arabicPeriod"/>
            </a:pPr>
            <a:r>
              <a:rPr lang="en-US" sz="2400" dirty="0">
                <a:latin typeface="Calibir"/>
              </a:rPr>
              <a:t>Errors vs Exceptions</a:t>
            </a:r>
          </a:p>
          <a:p>
            <a:pPr marL="800100" lvl="1" indent="-342900">
              <a:buFont typeface="Arial" panose="020B0604020202020204" pitchFamily="34" charset="0"/>
              <a:buChar char="•"/>
            </a:pPr>
            <a:r>
              <a:rPr lang="en-US" sz="2400" dirty="0">
                <a:latin typeface="Calibir"/>
              </a:rPr>
              <a:t>Java Example 2 – Exception Handling (divide by zero, number format)</a:t>
            </a:r>
          </a:p>
          <a:p>
            <a:pPr marL="800100" lvl="1" indent="-342900">
              <a:buFont typeface="Arial" panose="020B0604020202020204" pitchFamily="34" charset="0"/>
              <a:buChar char="•"/>
            </a:pPr>
            <a:r>
              <a:rPr lang="en-US" sz="2400" dirty="0">
                <a:latin typeface="Calibir"/>
              </a:rPr>
              <a:t>Activity 3 (Java – Read File)</a:t>
            </a:r>
          </a:p>
          <a:p>
            <a:pPr marL="800100" lvl="1" indent="-342900">
              <a:buFont typeface="Arial" panose="020B0604020202020204" pitchFamily="34" charset="0"/>
              <a:buChar char="•"/>
            </a:pPr>
            <a:r>
              <a:rPr lang="en-US" sz="2400" dirty="0">
                <a:latin typeface="Calibir"/>
              </a:rPr>
              <a:t>Activity 4 (Java – Custom Exception: InvalidMarkException)</a:t>
            </a:r>
          </a:p>
          <a:p>
            <a:pPr marL="342900" indent="-342900">
              <a:buFont typeface="+mj-lt"/>
              <a:buAutoNum type="arabicPeriod"/>
            </a:pPr>
            <a:r>
              <a:rPr lang="en-US" sz="2400" dirty="0">
                <a:latin typeface="Calibir"/>
              </a:rPr>
              <a:t>File Handling Basics (Python)</a:t>
            </a:r>
          </a:p>
          <a:p>
            <a:pPr marL="342900" indent="-342900">
              <a:buFont typeface="+mj-lt"/>
              <a:buAutoNum type="arabicPeriod"/>
            </a:pPr>
            <a:r>
              <a:rPr lang="en-US" sz="2400" dirty="0">
                <a:latin typeface="Calibir"/>
              </a:rPr>
              <a:t>File Handling Basics (Java)</a:t>
            </a:r>
          </a:p>
          <a:p>
            <a:pPr marL="342900" indent="-342900">
              <a:buFont typeface="+mj-lt"/>
              <a:buAutoNum type="arabicPeriod"/>
            </a:pPr>
            <a:r>
              <a:rPr lang="en-US" sz="2400" dirty="0">
                <a:latin typeface="Calibir"/>
              </a:rPr>
              <a:t>Files &amp; Directories</a:t>
            </a:r>
          </a:p>
          <a:p>
            <a:pPr marL="342900" indent="-342900">
              <a:buFont typeface="+mj-lt"/>
              <a:buAutoNum type="arabicPeriod"/>
            </a:pPr>
            <a:r>
              <a:rPr lang="en-US" sz="2400" dirty="0">
                <a:latin typeface="Calibir"/>
              </a:rPr>
              <a:t>Unit Testing</a:t>
            </a:r>
          </a:p>
          <a:p>
            <a:pPr marL="342900" indent="-342900">
              <a:buFont typeface="+mj-lt"/>
              <a:buAutoNum type="arabicPeriod"/>
            </a:pPr>
            <a:r>
              <a:rPr lang="en-US" sz="2400" dirty="0">
                <a:latin typeface="Calibir"/>
              </a:rPr>
              <a:t>Why Exceptions? Where Do We See Testing?</a:t>
            </a:r>
          </a:p>
          <a:p>
            <a:pPr marL="342900" indent="-342900">
              <a:buFont typeface="+mj-lt"/>
              <a:buAutoNum type="arabicPeriod"/>
            </a:pPr>
            <a:r>
              <a:rPr lang="en-US" sz="2400" dirty="0">
                <a:latin typeface="Calibir"/>
              </a:rPr>
              <a:t>Role-Playing Debate Questions</a:t>
            </a:r>
          </a:p>
          <a:p>
            <a:pPr marL="342900" indent="-342900">
              <a:buFont typeface="+mj-lt"/>
              <a:buAutoNum type="arabicPeriod"/>
            </a:pPr>
            <a:r>
              <a:rPr lang="en-US" sz="2400" dirty="0">
                <a:latin typeface="Calibir"/>
              </a:rPr>
              <a:t>Quiz 2 Preparation &amp; Guideline</a:t>
            </a:r>
          </a:p>
          <a:p>
            <a:pPr marL="342900" indent="-342900">
              <a:buFont typeface="+mj-lt"/>
              <a:buAutoNum type="arabicPeriod"/>
            </a:pPr>
            <a:r>
              <a:rPr lang="en-US" sz="2400" dirty="0">
                <a:latin typeface="Calibir"/>
              </a:rPr>
              <a:t>MQs designed in Week 9 (Files, Exceptions, Testing)</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are 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Special objects that appear when something goes wrong in a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br>
              <a:rPr lang="en-US" altLang="en-US" sz="2800" dirty="0">
                <a:latin typeface="Calibir"/>
              </a:rPr>
            </a:br>
            <a:r>
              <a:rPr lang="en-US" altLang="en-US" sz="2800" dirty="0">
                <a:latin typeface="Calibir"/>
              </a:rPr>
              <a:t>Think of it like a fire alarm in a building.</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Normal life (program flow) stops.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Emergency plan (error handling) starts.</a:t>
            </a:r>
          </a:p>
        </p:txBody>
      </p:sp>
    </p:spTree>
    <p:extLst>
      <p:ext uri="{BB962C8B-B14F-4D97-AF65-F5344CB8AC3E}">
        <p14:creationId xmlns:p14="http://schemas.microsoft.com/office/powerpoint/2010/main" val="274633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barn(inVertical)">
                                      <p:cBhvr>
                                        <p:cTn id="7" dur="500"/>
                                        <p:tgtEl>
                                          <p:spTgt spid="6">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barn(inVertical)">
                                      <p:cBhvr>
                                        <p:cTn id="10" dur="500"/>
                                        <p:tgtEl>
                                          <p:spTgt spid="6">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barn(inVertical)">
                                      <p:cBhvr>
                                        <p:cTn id="13" dur="500"/>
                                        <p:tgtEl>
                                          <p:spTgt spid="6">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barn(inVertical)">
                                      <p:cBhvr>
                                        <p:cTn id="16"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67D00-0EB0-10B3-1113-CB8EC3415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3800D-0DAD-2223-E244-B3608ED6F7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AF5281CF-4426-2FB0-26E9-A2786124A593}"/>
              </a:ext>
            </a:extLst>
          </p:cNvPr>
          <p:cNvSpPr txBox="1"/>
          <p:nvPr/>
        </p:nvSpPr>
        <p:spPr>
          <a:xfrm>
            <a:off x="0" y="756745"/>
            <a:ext cx="11971282" cy="6221383"/>
          </a:xfrm>
          <a:prstGeom prst="rect">
            <a:avLst/>
          </a:prstGeom>
          <a:noFill/>
        </p:spPr>
        <p:txBody>
          <a:bodyPr wrap="square">
            <a:spAutoFit/>
          </a:bodyPr>
          <a:lstStyle/>
          <a:p>
            <a:pPr>
              <a:lnSpc>
                <a:spcPct val="150000"/>
              </a:lnSpc>
            </a:pPr>
            <a:r>
              <a:rPr lang="en-US" sz="2800" b="1" dirty="0">
                <a:latin typeface="Calibir"/>
              </a:rPr>
              <a:t>How we handle them:</a:t>
            </a:r>
          </a:p>
          <a:p>
            <a:pPr marL="457200" indent="-457200">
              <a:lnSpc>
                <a:spcPct val="150000"/>
              </a:lnSpc>
              <a:buFont typeface="Arial" panose="020B0604020202020204" pitchFamily="34" charset="0"/>
              <a:buChar char="•"/>
            </a:pPr>
            <a:r>
              <a:rPr lang="en-US" sz="2400" b="1" dirty="0">
                <a:latin typeface="Calibir"/>
              </a:rPr>
              <a:t>Python</a:t>
            </a:r>
            <a:r>
              <a:rPr lang="en-US" sz="2400" dirty="0">
                <a:latin typeface="Calibir"/>
              </a:rPr>
              <a:t> → try – except – else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except</a:t>
            </a:r>
            <a:r>
              <a:rPr lang="en-US" sz="2400" dirty="0">
                <a:latin typeface="Calibir"/>
              </a:rPr>
              <a:t> → handles the error</a:t>
            </a:r>
          </a:p>
          <a:p>
            <a:pPr marL="914400" lvl="1" indent="-457200">
              <a:lnSpc>
                <a:spcPct val="150000"/>
              </a:lnSpc>
              <a:buFont typeface="Arial" panose="020B0604020202020204" pitchFamily="34" charset="0"/>
              <a:buChar char="•"/>
            </a:pPr>
            <a:r>
              <a:rPr lang="en-US" sz="2400" b="1" dirty="0">
                <a:latin typeface="Calibir"/>
              </a:rPr>
              <a:t>else</a:t>
            </a:r>
            <a:r>
              <a:rPr lang="en-US" sz="2400" dirty="0">
                <a:latin typeface="Calibir"/>
              </a:rPr>
              <a:t> → runs if no error happens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(clean-up, close file, etc.)</a:t>
            </a:r>
          </a:p>
          <a:p>
            <a:pPr marL="457200" indent="-457200">
              <a:lnSpc>
                <a:spcPct val="150000"/>
              </a:lnSpc>
              <a:buFont typeface="Arial" panose="020B0604020202020204" pitchFamily="34" charset="0"/>
              <a:buChar char="•"/>
            </a:pPr>
            <a:r>
              <a:rPr lang="en-US" sz="2400" b="1" dirty="0">
                <a:latin typeface="Calibir"/>
              </a:rPr>
              <a:t>Java</a:t>
            </a:r>
            <a:r>
              <a:rPr lang="en-US" sz="2400" dirty="0">
                <a:latin typeface="Calibir"/>
              </a:rPr>
              <a:t> → try – catch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catch</a:t>
            </a:r>
            <a:r>
              <a:rPr lang="en-US" sz="2400" dirty="0">
                <a:latin typeface="Calibir"/>
              </a:rPr>
              <a:t> → what to do if it fails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a:t>
            </a:r>
            <a:br>
              <a:rPr lang="en-US" sz="2400" dirty="0">
                <a:latin typeface="Calibir"/>
              </a:rPr>
            </a:br>
            <a:r>
              <a:rPr lang="en-US" sz="2400" dirty="0">
                <a:latin typeface="Calibir"/>
              </a:rPr>
              <a:t>(clean-up, close file, etc.)</a:t>
            </a:r>
          </a:p>
        </p:txBody>
      </p:sp>
      <p:pic>
        <p:nvPicPr>
          <p:cNvPr id="7" name="Picture 6">
            <a:extLst>
              <a:ext uri="{FF2B5EF4-FFF2-40B4-BE49-F238E27FC236}">
                <a16:creationId xmlns:a16="http://schemas.microsoft.com/office/drawing/2014/main" id="{D8DF8B79-6730-CA22-5884-697FE404609F}"/>
              </a:ext>
            </a:extLst>
          </p:cNvPr>
          <p:cNvPicPr>
            <a:picLocks noChangeAspect="1"/>
          </p:cNvPicPr>
          <p:nvPr/>
        </p:nvPicPr>
        <p:blipFill>
          <a:blip r:embed="rId2"/>
          <a:srcRect l="57217" t="26667" r="8065" b="33763"/>
          <a:stretch>
            <a:fillRect/>
          </a:stretch>
        </p:blipFill>
        <p:spPr>
          <a:xfrm>
            <a:off x="6386053" y="-64680"/>
            <a:ext cx="5805948" cy="3722280"/>
          </a:xfrm>
          <a:prstGeom prst="rect">
            <a:avLst/>
          </a:prstGeom>
        </p:spPr>
      </p:pic>
      <p:pic>
        <p:nvPicPr>
          <p:cNvPr id="11" name="Picture 10">
            <a:extLst>
              <a:ext uri="{FF2B5EF4-FFF2-40B4-BE49-F238E27FC236}">
                <a16:creationId xmlns:a16="http://schemas.microsoft.com/office/drawing/2014/main" id="{B4F86AD3-A699-8B24-4369-80E6C80EA459}"/>
              </a:ext>
            </a:extLst>
          </p:cNvPr>
          <p:cNvPicPr>
            <a:picLocks noChangeAspect="1"/>
          </p:cNvPicPr>
          <p:nvPr/>
        </p:nvPicPr>
        <p:blipFill>
          <a:blip r:embed="rId3"/>
          <a:srcRect l="41128" t="53333" r="9201" b="17419"/>
          <a:stretch>
            <a:fillRect/>
          </a:stretch>
        </p:blipFill>
        <p:spPr>
          <a:xfrm>
            <a:off x="4699820" y="4376497"/>
            <a:ext cx="7492180" cy="2481502"/>
          </a:xfrm>
          <a:prstGeom prst="rect">
            <a:avLst/>
          </a:prstGeom>
        </p:spPr>
      </p:pic>
    </p:spTree>
    <p:extLst>
      <p:ext uri="{BB962C8B-B14F-4D97-AF65-F5344CB8AC3E}">
        <p14:creationId xmlns:p14="http://schemas.microsoft.com/office/powerpoint/2010/main" val="1195793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animEffect transition="in" filter="fade">
                                      <p:cBhvr>
                                        <p:cTn id="25" dur="500"/>
                                        <p:tgtEl>
                                          <p:spTgt spid="6">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xEl>
                                              <p:pRg st="8" end="8"/>
                                            </p:txEl>
                                          </p:spTgt>
                                        </p:tgtEl>
                                        <p:attrNameLst>
                                          <p:attrName>style.visibility</p:attrName>
                                        </p:attrNameLst>
                                      </p:cBhvr>
                                      <p:to>
                                        <p:strVal val="visible"/>
                                      </p:to>
                                    </p:set>
                                    <p:animEffect transition="in" filter="fade">
                                      <p:cBhvr>
                                        <p:cTn id="28" dur="500"/>
                                        <p:tgtEl>
                                          <p:spTgt spid="6">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6">
                                            <p:txEl>
                                              <p:pRg st="9" end="9"/>
                                            </p:txEl>
                                          </p:spTgt>
                                        </p:tgtEl>
                                        <p:attrNameLst>
                                          <p:attrName>style.visibility</p:attrName>
                                        </p:attrNameLst>
                                      </p:cBhvr>
                                      <p:to>
                                        <p:strVal val="visible"/>
                                      </p:to>
                                    </p:set>
                                    <p:animEffect transition="in" filter="fade">
                                      <p:cBhvr>
                                        <p:cTn id="31" dur="500"/>
                                        <p:tgtEl>
                                          <p:spTgt spid="6">
                                            <p:txEl>
                                              <p:pRg st="9" end="9"/>
                                            </p:txEl>
                                          </p:spTgt>
                                        </p:tgtEl>
                                      </p:cBhvr>
                                    </p:animEffect>
                                  </p:childTnLst>
                                </p:cTn>
                              </p:par>
                              <p:par>
                                <p:cTn id="32" presetID="16" presetClass="entr" presetSubtype="21" fill="hold"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barn(inVertical)">
                                      <p:cBhvr>
                                        <p:cTn id="34" dur="500"/>
                                        <p:tgtEl>
                                          <p:spTgt spid="7"/>
                                        </p:tgtEl>
                                      </p:cBhvr>
                                    </p:animEffect>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DE401-86E6-EAE1-0A35-84453896E2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E89F-DCE7-FD0E-BF5A-EE15BE194BF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337CF21B-A671-895B-00AC-7E0AD96CD50E}"/>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3AD55106-35CA-9D02-7377-7F91FDD9E86D}"/>
              </a:ext>
            </a:extLst>
          </p:cNvPr>
          <p:cNvGraphicFramePr>
            <a:graphicFrameLocks noGrp="1"/>
          </p:cNvGraphicFramePr>
          <p:nvPr>
            <p:extLst>
              <p:ext uri="{D42A27DB-BD31-4B8C-83A1-F6EECF244321}">
                <p14:modId xmlns:p14="http://schemas.microsoft.com/office/powerpoint/2010/main" val="2984516423"/>
              </p:ext>
            </p:extLst>
          </p:nvPr>
        </p:nvGraphicFramePr>
        <p:xfrm>
          <a:off x="838198" y="1356126"/>
          <a:ext cx="10515600" cy="2661412"/>
        </p:xfrm>
        <a:graphic>
          <a:graphicData uri="http://schemas.openxmlformats.org/drawingml/2006/table">
            <a:tbl>
              <a:tblPr>
                <a:tableStyleId>{ED083AE6-46FA-4A59-8FB0-9F97EB10719F}</a:tableStyleId>
              </a:tblPr>
              <a:tblGrid>
                <a:gridCol w="3505200">
                  <a:extLst>
                    <a:ext uri="{9D8B030D-6E8A-4147-A177-3AD203B41FA5}">
                      <a16:colId xmlns:a16="http://schemas.microsoft.com/office/drawing/2014/main" val="1393283062"/>
                    </a:ext>
                  </a:extLst>
                </a:gridCol>
                <a:gridCol w="3505200">
                  <a:extLst>
                    <a:ext uri="{9D8B030D-6E8A-4147-A177-3AD203B41FA5}">
                      <a16:colId xmlns:a16="http://schemas.microsoft.com/office/drawing/2014/main" val="2370097554"/>
                    </a:ext>
                  </a:extLst>
                </a:gridCol>
                <a:gridCol w="3505200">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dirty="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dirty="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dirty="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7" name="TextBox 6">
            <a:extLst>
              <a:ext uri="{FF2B5EF4-FFF2-40B4-BE49-F238E27FC236}">
                <a16:creationId xmlns:a16="http://schemas.microsoft.com/office/drawing/2014/main" id="{4B4FC65A-89FC-7C17-1006-01F577F61207}"/>
              </a:ext>
            </a:extLst>
          </p:cNvPr>
          <p:cNvSpPr txBox="1"/>
          <p:nvPr/>
        </p:nvSpPr>
        <p:spPr>
          <a:xfrm>
            <a:off x="0" y="5249512"/>
            <a:ext cx="12088851" cy="523220"/>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throw</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0DA05DB-B02D-218B-A4A8-36DDD05809C2}"/>
              </a:ext>
            </a:extLst>
          </p:cNvPr>
          <p:cNvSpPr txBox="1"/>
          <p:nvPr/>
        </p:nvSpPr>
        <p:spPr>
          <a:xfrm>
            <a:off x="-1" y="3931331"/>
            <a:ext cx="12191999" cy="2430922"/>
          </a:xfrm>
          <a:prstGeom prst="rect">
            <a:avLst/>
          </a:prstGeom>
          <a:noFill/>
        </p:spPr>
        <p:txBody>
          <a:bodyPr wrap="square">
            <a:spAutoFit/>
          </a:bodyPr>
          <a:lstStyle/>
          <a:p>
            <a:pPr marL="514350" indent="-514350">
              <a:lnSpc>
                <a:spcPct val="150000"/>
              </a:lnSpc>
              <a:buAutoNum type="arabicPeriod"/>
            </a:pPr>
            <a:r>
              <a:rPr lang="en-US" sz="2500" dirty="0">
                <a:latin typeface="Calibir"/>
              </a:rPr>
              <a:t>Raise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10" name="TextBox 9">
            <a:extLst>
              <a:ext uri="{FF2B5EF4-FFF2-40B4-BE49-F238E27FC236}">
                <a16:creationId xmlns:a16="http://schemas.microsoft.com/office/drawing/2014/main" id="{A7FEC54E-379F-7CB4-2610-CFFCB909CD60}"/>
              </a:ext>
            </a:extLst>
          </p:cNvPr>
          <p:cNvSpPr txBox="1"/>
          <p:nvPr/>
        </p:nvSpPr>
        <p:spPr>
          <a:xfrm>
            <a:off x="0" y="6195171"/>
            <a:ext cx="12192000" cy="523220"/>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raise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4" name="Rectangle 1">
            <a:extLst>
              <a:ext uri="{FF2B5EF4-FFF2-40B4-BE49-F238E27FC236}">
                <a16:creationId xmlns:a16="http://schemas.microsoft.com/office/drawing/2014/main" id="{E395AA9D-9902-2EF7-7F22-A1B43A0BF479}"/>
              </a:ext>
            </a:extLst>
          </p:cNvPr>
          <p:cNvSpPr>
            <a:spLocks noChangeArrowheads="1"/>
          </p:cNvSpPr>
          <p:nvPr/>
        </p:nvSpPr>
        <p:spPr bwMode="auto">
          <a:xfrm>
            <a:off x="2644521" y="4014448"/>
            <a:ext cx="9547480" cy="11868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create/force an error to happen.</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pulling a fire alarm → you announce there’s a problem.</a:t>
            </a:r>
          </a:p>
        </p:txBody>
      </p:sp>
      <p:sp>
        <p:nvSpPr>
          <p:cNvPr id="5" name="Rectangle: Rounded Corners 4">
            <a:extLst>
              <a:ext uri="{FF2B5EF4-FFF2-40B4-BE49-F238E27FC236}">
                <a16:creationId xmlns:a16="http://schemas.microsoft.com/office/drawing/2014/main" id="{DE2D2595-A130-4E60-BD84-E42680B0B3AD}"/>
              </a:ext>
            </a:extLst>
          </p:cNvPr>
          <p:cNvSpPr/>
          <p:nvPr/>
        </p:nvSpPr>
        <p:spPr>
          <a:xfrm>
            <a:off x="838198" y="2005780"/>
            <a:ext cx="10515600"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9126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circle(in)">
                                      <p:cBhvr>
                                        <p:cTn id="10" dur="2000"/>
                                        <p:tgtEl>
                                          <p:spTgt spid="8"/>
                                        </p:tgtEl>
                                      </p:cBhvr>
                                    </p:animEffect>
                                  </p:childTnLst>
                                </p:cTn>
                              </p:par>
                              <p:par>
                                <p:cTn id="11" presetID="6" presetClass="entr" presetSubtype="16"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circle(in)">
                                      <p:cBhvr>
                                        <p:cTn id="13" dur="2000"/>
                                        <p:tgtEl>
                                          <p:spTgt spid="10"/>
                                        </p:tgtEl>
                                      </p:cBhvr>
                                    </p:animEffect>
                                  </p:childTnLst>
                                </p:cTn>
                              </p:par>
                              <p:par>
                                <p:cTn id="14" presetID="6" presetClass="entr" presetSubtype="16"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circle(in)">
                                      <p:cBhvr>
                                        <p:cTn id="1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CE2-B20E-A465-0CB6-2C4BC6B43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1607C-2C02-5231-709A-CC6CBEC2BB9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47FAA503-03F1-94E2-275F-DF1206BC0563}"/>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F6433434-4D5B-E119-CE3F-CB92ABD9268C}"/>
              </a:ext>
            </a:extLst>
          </p:cNvPr>
          <p:cNvGraphicFramePr>
            <a:graphicFrameLocks noGrp="1"/>
          </p:cNvGraphicFramePr>
          <p:nvPr>
            <p:extLst>
              <p:ext uri="{D42A27DB-BD31-4B8C-83A1-F6EECF244321}">
                <p14:modId xmlns:p14="http://schemas.microsoft.com/office/powerpoint/2010/main" val="3435346679"/>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8743C353-31A7-9900-093E-7009E2E8C2FA}"/>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2"/>
            </a:pPr>
            <a:r>
              <a:rPr lang="en-US" sz="2500" dirty="0">
                <a:latin typeface="Calibir"/>
              </a:rPr>
              <a:t>Catch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5" name="TextBox 4">
            <a:extLst>
              <a:ext uri="{FF2B5EF4-FFF2-40B4-BE49-F238E27FC236}">
                <a16:creationId xmlns:a16="http://schemas.microsoft.com/office/drawing/2014/main" id="{618368FA-7CAD-400D-FD67-8BD45A6656FD}"/>
              </a:ext>
            </a:extLst>
          </p:cNvPr>
          <p:cNvSpPr txBox="1"/>
          <p:nvPr/>
        </p:nvSpPr>
        <p:spPr>
          <a:xfrm>
            <a:off x="1673611" y="2772861"/>
            <a:ext cx="924622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x</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0</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catch</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Exception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e</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"Error: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e</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getMessage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6385F649-4F9E-889D-2601-432ABB1CCD3D}"/>
              </a:ext>
            </a:extLst>
          </p:cNvPr>
          <p:cNvSpPr txBox="1"/>
          <p:nvPr/>
        </p:nvSpPr>
        <p:spPr>
          <a:xfrm>
            <a:off x="1673611" y="4863585"/>
            <a:ext cx="924622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5 / 0</a:t>
            </a:r>
          </a:p>
          <a:p>
            <a:pPr>
              <a:buNone/>
            </a:pPr>
            <a:r>
              <a:rPr lang="en-US" sz="2500" b="0" dirty="0">
                <a:solidFill>
                  <a:srgbClr val="CCCCCC"/>
                </a:solidFill>
                <a:effectLst/>
                <a:latin typeface="Consolas" panose="020B0609020204030204" pitchFamily="49" charset="0"/>
              </a:rPr>
              <a:t>except Exception as e:</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"Error:"</a:t>
            </a:r>
            <a:r>
              <a:rPr lang="en-US" sz="2500" b="0" dirty="0">
                <a:solidFill>
                  <a:srgbClr val="CCCCCC"/>
                </a:solidFill>
                <a:effectLst/>
                <a:latin typeface="Consolas" panose="020B0609020204030204" pitchFamily="49" charset="0"/>
              </a:rPr>
              <a:t>, e)</a:t>
            </a:r>
          </a:p>
        </p:txBody>
      </p:sp>
      <p:sp>
        <p:nvSpPr>
          <p:cNvPr id="4" name="Rectangle 1">
            <a:extLst>
              <a:ext uri="{FF2B5EF4-FFF2-40B4-BE49-F238E27FC236}">
                <a16:creationId xmlns:a16="http://schemas.microsoft.com/office/drawing/2014/main" id="{73AC6604-55CA-8EB9-3A69-F7D149CF66C6}"/>
              </a:ext>
            </a:extLst>
          </p:cNvPr>
          <p:cNvSpPr>
            <a:spLocks noChangeArrowheads="1"/>
          </p:cNvSpPr>
          <p:nvPr/>
        </p:nvSpPr>
        <p:spPr bwMode="auto">
          <a:xfrm>
            <a:off x="6096000" y="4488283"/>
            <a:ext cx="6095998"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stop the program from crashing by handling the error.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firefighters coming to fix the fire alarm situation.</a:t>
            </a:r>
          </a:p>
        </p:txBody>
      </p:sp>
      <p:sp>
        <p:nvSpPr>
          <p:cNvPr id="7" name="Rectangle: Rounded Corners 6">
            <a:extLst>
              <a:ext uri="{FF2B5EF4-FFF2-40B4-BE49-F238E27FC236}">
                <a16:creationId xmlns:a16="http://schemas.microsoft.com/office/drawing/2014/main" id="{64703C96-E64F-7A40-6D2A-5DFE24F13A6B}"/>
              </a:ext>
            </a:extLst>
          </p:cNvPr>
          <p:cNvSpPr/>
          <p:nvPr/>
        </p:nvSpPr>
        <p:spPr>
          <a:xfrm>
            <a:off x="4045105" y="1331632"/>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7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CB0A7-D5FE-6625-37BC-0C6A27F0E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32EE73-42BD-67EA-F55C-5E40CE9F98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910D0EAB-C79B-B3DE-D097-50B0D4A71140}"/>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9E21E046-D35A-BBE8-2659-0F5E9BF1838B}"/>
              </a:ext>
            </a:extLst>
          </p:cNvPr>
          <p:cNvGraphicFramePr>
            <a:graphicFrameLocks noGrp="1"/>
          </p:cNvGraphicFramePr>
          <p:nvPr>
            <p:extLst>
              <p:ext uri="{D42A27DB-BD31-4B8C-83A1-F6EECF244321}">
                <p14:modId xmlns:p14="http://schemas.microsoft.com/office/powerpoint/2010/main" val="2444968372"/>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39854D65-3E96-2E4F-5AF4-6E1D90507F17}"/>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3"/>
            </a:pPr>
            <a:r>
              <a:rPr lang="en-US" sz="2500" dirty="0">
                <a:latin typeface="Calibir"/>
              </a:rPr>
              <a:t>Finally (Always runs)</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7" name="TextBox 6">
            <a:extLst>
              <a:ext uri="{FF2B5EF4-FFF2-40B4-BE49-F238E27FC236}">
                <a16:creationId xmlns:a16="http://schemas.microsoft.com/office/drawing/2014/main" id="{262C64DB-E1BA-7528-B64F-7F18F1B5EF3F}"/>
              </a:ext>
            </a:extLst>
          </p:cNvPr>
          <p:cNvSpPr txBox="1"/>
          <p:nvPr/>
        </p:nvSpPr>
        <p:spPr>
          <a:xfrm>
            <a:off x="51006" y="2933676"/>
            <a:ext cx="1047750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finally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2C48FCFB-73F5-7813-1FCA-6C83B1888BC8}"/>
              </a:ext>
            </a:extLst>
          </p:cNvPr>
          <p:cNvSpPr txBox="1"/>
          <p:nvPr/>
        </p:nvSpPr>
        <p:spPr>
          <a:xfrm>
            <a:off x="51006" y="5221525"/>
            <a:ext cx="1047750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finally:</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8BE9320-014F-CEA1-EA04-91F2B084623A}"/>
              </a:ext>
            </a:extLst>
          </p:cNvPr>
          <p:cNvSpPr/>
          <p:nvPr/>
        </p:nvSpPr>
        <p:spPr>
          <a:xfrm>
            <a:off x="4045105" y="2010058"/>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1">
            <a:extLst>
              <a:ext uri="{FF2B5EF4-FFF2-40B4-BE49-F238E27FC236}">
                <a16:creationId xmlns:a16="http://schemas.microsoft.com/office/drawing/2014/main" id="{35F60978-B72C-C0C9-690C-5FC619D6F7E4}"/>
              </a:ext>
            </a:extLst>
          </p:cNvPr>
          <p:cNvSpPr>
            <a:spLocks noChangeArrowheads="1"/>
          </p:cNvSpPr>
          <p:nvPr/>
        </p:nvSpPr>
        <p:spPr bwMode="auto">
          <a:xfrm>
            <a:off x="5250426" y="4526572"/>
            <a:ext cx="6934483"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This part always runs, whether there was an error or not.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filling the incident report after a fire drill → it happens no matter what.</a:t>
            </a:r>
          </a:p>
        </p:txBody>
      </p:sp>
    </p:spTree>
    <p:extLst>
      <p:ext uri="{BB962C8B-B14F-4D97-AF65-F5344CB8AC3E}">
        <p14:creationId xmlns:p14="http://schemas.microsoft.com/office/powerpoint/2010/main" val="77539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5AD-F983-45A7-092F-4480CD7CF5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FAA96-5859-4407-B731-A8BFAB15CD0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EC50FE9-76D6-FFC6-0C0C-15E3D25EA565}"/>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CC4045C8-5941-C0D4-7DB3-74DD1F116C98}"/>
              </a:ext>
            </a:extLst>
          </p:cNvPr>
          <p:cNvSpPr>
            <a:spLocks noChangeArrowheads="1"/>
          </p:cNvSpPr>
          <p:nvPr/>
        </p:nvSpPr>
        <p:spPr bwMode="auto">
          <a:xfrm>
            <a:off x="0" y="4727063"/>
            <a:ext cx="6753259"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test some code that might fail.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 = int(input(...)) → ask user for a number.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10/a → divide 10 by that number.</a:t>
            </a:r>
          </a:p>
        </p:txBody>
      </p:sp>
      <p:sp>
        <p:nvSpPr>
          <p:cNvPr id="11" name="Rectangle: Rounded Corners 10">
            <a:extLst>
              <a:ext uri="{FF2B5EF4-FFF2-40B4-BE49-F238E27FC236}">
                <a16:creationId xmlns:a16="http://schemas.microsoft.com/office/drawing/2014/main" id="{C0938916-1F26-0B3A-01DE-D3C8842D3E8F}"/>
              </a:ext>
            </a:extLst>
          </p:cNvPr>
          <p:cNvSpPr/>
          <p:nvPr/>
        </p:nvSpPr>
        <p:spPr>
          <a:xfrm>
            <a:off x="0" y="756745"/>
            <a:ext cx="9188245" cy="135227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611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B8C4-EE9B-0D88-E034-02D163BE5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305D7-48A5-1903-3573-E8FB9A995D13}"/>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0C26CF1C-FE1C-2BE7-08F7-B664030DDDB0}"/>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DF375DE2-55C8-A789-5F53-2A0756C331A2}"/>
              </a:ext>
            </a:extLst>
          </p:cNvPr>
          <p:cNvSpPr>
            <a:spLocks noChangeArrowheads="1"/>
          </p:cNvSpPr>
          <p:nvPr/>
        </p:nvSpPr>
        <p:spPr bwMode="auto">
          <a:xfrm>
            <a:off x="0" y="4727063"/>
            <a:ext cx="9924768"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ZeroDivisionError</a:t>
            </a:r>
            <a:r>
              <a:rPr lang="en-US" altLang="en-US" sz="2800" dirty="0">
                <a:latin typeface="Calibir"/>
              </a:rPr>
              <a:t>: → if user types 0,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ValueError: → if user types a word,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at the end (like “cleanup”), prints “Done”.</a:t>
            </a:r>
          </a:p>
        </p:txBody>
      </p:sp>
      <p:sp>
        <p:nvSpPr>
          <p:cNvPr id="11" name="Rectangle: Rounded Corners 10">
            <a:extLst>
              <a:ext uri="{FF2B5EF4-FFF2-40B4-BE49-F238E27FC236}">
                <a16:creationId xmlns:a16="http://schemas.microsoft.com/office/drawing/2014/main" id="{CD5DB7E8-1518-523F-1B0B-605E45BF222E}"/>
              </a:ext>
            </a:extLst>
          </p:cNvPr>
          <p:cNvSpPr/>
          <p:nvPr/>
        </p:nvSpPr>
        <p:spPr>
          <a:xfrm>
            <a:off x="0" y="2076725"/>
            <a:ext cx="9188245" cy="26503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624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43749-A7CB-DFF5-0500-FB8D93009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30EB6-DF91-B79D-2DDA-23EFF1367E8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69E4955-BDBB-BC85-E3C5-647E258F0BCE}"/>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50A4FB50-348A-E6B4-9F31-316FCD78E0FB}"/>
              </a:ext>
            </a:extLst>
          </p:cNvPr>
          <p:cNvSpPr>
            <a:spLocks noChangeArrowheads="1"/>
          </p:cNvSpPr>
          <p:nvPr/>
        </p:nvSpPr>
        <p:spPr bwMode="auto">
          <a:xfrm>
            <a:off x="0" y="4727063"/>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Analogy: </a:t>
            </a:r>
            <a:r>
              <a:rPr lang="en-US" sz="2800" dirty="0">
                <a:latin typeface="Calibir"/>
              </a:rPr>
              <a:t>Like Woolworths checkout → if card declines (error), cashier gives a polite message, not crash.</a:t>
            </a:r>
            <a:endParaRPr lang="en-US" altLang="en-US" sz="2800" dirty="0">
              <a:latin typeface="Calibir"/>
            </a:endParaRPr>
          </a:p>
        </p:txBody>
      </p:sp>
    </p:spTree>
    <p:extLst>
      <p:ext uri="{BB962C8B-B14F-4D97-AF65-F5344CB8AC3E}">
        <p14:creationId xmlns:p14="http://schemas.microsoft.com/office/powerpoint/2010/main" val="135133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C1C71996-2BC2-636D-B835-9D18F2573C1A}"/>
              </a:ext>
            </a:extLst>
          </p:cNvPr>
          <p:cNvSpPr>
            <a:spLocks noChangeArrowheads="1"/>
          </p:cNvSpPr>
          <p:nvPr/>
        </p:nvSpPr>
        <p:spPr bwMode="auto">
          <a:xfrm>
            <a:off x="0" y="756745"/>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Write code that divides 10 by user input, handle division by zero with try-except.</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1DEFA54C-460A-82D6-76C1-F152BF3159E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920181"/>
            <a:ext cx="2286001" cy="1017638"/>
          </a:xfrm>
          <a:prstGeom prst="rect">
            <a:avLst/>
          </a:prstGeom>
          <a:ln w="38100">
            <a:solidFill>
              <a:srgbClr val="FF0000"/>
            </a:solidFill>
          </a:ln>
        </p:spPr>
      </p:pic>
    </p:spTree>
    <p:extLst>
      <p:ext uri="{BB962C8B-B14F-4D97-AF65-F5344CB8AC3E}">
        <p14:creationId xmlns:p14="http://schemas.microsoft.com/office/powerpoint/2010/main" val="1057911003"/>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F4C13BB-1609-5F3D-695F-DB8F29755256}"/>
              </a:ext>
            </a:extLst>
          </p:cNvPr>
          <p:cNvSpPr txBox="1"/>
          <p:nvPr/>
        </p:nvSpPr>
        <p:spPr>
          <a:xfrm>
            <a:off x="108155" y="2305615"/>
            <a:ext cx="11975690" cy="2246769"/>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a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"Oops, cannot divide by zero"</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68426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5D539-0F97-02BB-47DA-F0DFD0D2D12F}"/>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2 – (Python – File Error)</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6EC3ABF4-6466-9B54-0AE5-E108187975DE}"/>
              </a:ext>
            </a:extLst>
          </p:cNvPr>
          <p:cNvSpPr>
            <a:spLocks noChangeArrowheads="1"/>
          </p:cNvSpPr>
          <p:nvPr/>
        </p:nvSpPr>
        <p:spPr bwMode="auto">
          <a:xfrm>
            <a:off x="0" y="754949"/>
            <a:ext cx="12192000" cy="132177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Modify Example 1 to also try reading hello.txt. If file missing → show “File not found”. (Download ‘hello.txt’ from GitHub)</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B499F608-EBA7-8D93-408E-288FCCB84F7E}"/>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076721"/>
            <a:ext cx="2286001" cy="1017638"/>
          </a:xfrm>
          <a:prstGeom prst="rect">
            <a:avLst/>
          </a:prstGeom>
          <a:ln w="38100">
            <a:solidFill>
              <a:srgbClr val="FF0000"/>
            </a:solidFill>
          </a:ln>
        </p:spPr>
      </p:pic>
      <p:pic>
        <p:nvPicPr>
          <p:cNvPr id="5" name="Picture 4">
            <a:extLst>
              <a:ext uri="{FF2B5EF4-FFF2-40B4-BE49-F238E27FC236}">
                <a16:creationId xmlns:a16="http://schemas.microsoft.com/office/drawing/2014/main" id="{61DD15B5-509E-522A-2A5E-20EE21BD2863}"/>
              </a:ext>
            </a:extLst>
          </p:cNvPr>
          <p:cNvPicPr>
            <a:picLocks noChangeAspect="1"/>
          </p:cNvPicPr>
          <p:nvPr/>
        </p:nvPicPr>
        <p:blipFill>
          <a:blip r:embed="rId5"/>
          <a:srcRect t="8386" b="39356"/>
          <a:stretch>
            <a:fillRect/>
          </a:stretch>
        </p:blipFill>
        <p:spPr>
          <a:xfrm>
            <a:off x="0" y="3274141"/>
            <a:ext cx="12192000" cy="3583858"/>
          </a:xfrm>
          <a:prstGeom prst="rect">
            <a:avLst/>
          </a:prstGeom>
        </p:spPr>
      </p:pic>
    </p:spTree>
    <p:extLst>
      <p:ext uri="{BB962C8B-B14F-4D97-AF65-F5344CB8AC3E}">
        <p14:creationId xmlns:p14="http://schemas.microsoft.com/office/powerpoint/2010/main" val="4055345020"/>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F04254-B68A-A892-AEB8-AA57ABDC440F}"/>
              </a:ext>
            </a:extLst>
          </p:cNvPr>
          <p:cNvSpPr txBox="1"/>
          <p:nvPr/>
        </p:nvSpPr>
        <p:spPr>
          <a:xfrm>
            <a:off x="24582" y="0"/>
            <a:ext cx="12167418"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read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close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not found"</a:t>
            </a: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A5C4C65-19C8-2BF5-9F1E-A2CCE0962346}"/>
              </a:ext>
            </a:extLst>
          </p:cNvPr>
          <p:cNvSpPr>
            <a:spLocks noChangeArrowheads="1"/>
          </p:cNvSpPr>
          <p:nvPr/>
        </p:nvSpPr>
        <p:spPr bwMode="auto">
          <a:xfrm>
            <a:off x="0" y="2874923"/>
            <a:ext cx="11825673"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hello.txt is in the same folder as your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script or notebook → code works.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it’s in another folder → you must give the full path, e.g.: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endParaRPr lang="en-US" altLang="en-US" sz="2800" dirty="0">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Or on Mac/Linux:</a:t>
            </a:r>
          </a:p>
        </p:txBody>
      </p:sp>
      <p:sp>
        <p:nvSpPr>
          <p:cNvPr id="11" name="TextBox 10">
            <a:extLst>
              <a:ext uri="{FF2B5EF4-FFF2-40B4-BE49-F238E27FC236}">
                <a16:creationId xmlns:a16="http://schemas.microsoft.com/office/drawing/2014/main" id="{D602C6D2-796B-E514-8634-85C43129634E}"/>
              </a:ext>
            </a:extLst>
          </p:cNvPr>
          <p:cNvSpPr txBox="1"/>
          <p:nvPr/>
        </p:nvSpPr>
        <p:spPr>
          <a:xfrm>
            <a:off x="0" y="4319002"/>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"C:/Users/Student/Documents/hello.txt"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0C8A21C-18FF-640F-7CEA-2FA7C204FC68}"/>
              </a:ext>
            </a:extLst>
          </p:cNvPr>
          <p:cNvSpPr txBox="1"/>
          <p:nvPr/>
        </p:nvSpPr>
        <p:spPr>
          <a:xfrm>
            <a:off x="0" y="5485766"/>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"/home/student/hello.txt"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F730BD0D-E7ED-E2EC-138A-26B3AC0C5020}"/>
              </a:ext>
            </a:extLst>
          </p:cNvPr>
          <p:cNvSpPr txBox="1"/>
          <p:nvPr/>
        </p:nvSpPr>
        <p:spPr>
          <a:xfrm>
            <a:off x="6504039" y="0"/>
            <a:ext cx="5687961" cy="2341025"/>
          </a:xfrm>
          <a:prstGeom prst="rect">
            <a:avLst/>
          </a:prstGeom>
          <a:solidFill>
            <a:schemeClr val="bg1"/>
          </a:solidFill>
        </p:spPr>
        <p:txBody>
          <a:bodyPr wrap="square">
            <a:spAutoFit/>
          </a:bodyPr>
          <a:lstStyle/>
          <a:p>
            <a:pPr>
              <a:lnSpc>
                <a:spcPct val="150000"/>
              </a:lnSpc>
            </a:pPr>
            <a:r>
              <a:rPr lang="en-US" sz="2500" dirty="0">
                <a:latin typeface="Calibir"/>
              </a:rPr>
              <a:t>Save hello.txt in the same folder as your .</a:t>
            </a:r>
            <a:r>
              <a:rPr lang="en-US" sz="2500" dirty="0" err="1">
                <a:latin typeface="Calibir"/>
              </a:rPr>
              <a:t>py</a:t>
            </a:r>
            <a:r>
              <a:rPr lang="en-US" sz="2500" dirty="0">
                <a:latin typeface="Calibir"/>
              </a:rPr>
              <a:t> file. Otherwise, Python can’t find it — just like putting your Woolworths shopping list in the wrong drawer!</a:t>
            </a:r>
          </a:p>
        </p:txBody>
      </p:sp>
    </p:spTree>
    <p:extLst>
      <p:ext uri="{BB962C8B-B14F-4D97-AF65-F5344CB8AC3E}">
        <p14:creationId xmlns:p14="http://schemas.microsoft.com/office/powerpoint/2010/main" val="3386490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1194-F44E-1474-5DFF-975160E5E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F36459-F01A-620C-7521-D676045FA43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5CC5AA88-3CB6-7DC4-2AF3-C9D2FB521CD4}"/>
              </a:ext>
            </a:extLst>
          </p:cNvPr>
          <p:cNvSpPr txBox="1"/>
          <p:nvPr/>
        </p:nvSpPr>
        <p:spPr>
          <a:xfrm>
            <a:off x="0" y="756745"/>
            <a:ext cx="11965258" cy="5196166"/>
          </a:xfrm>
          <a:prstGeom prst="rect">
            <a:avLst/>
          </a:prstGeom>
          <a:noFill/>
        </p:spPr>
        <p:txBody>
          <a:bodyPr wrap="square">
            <a:spAutoFit/>
          </a:bodyPr>
          <a:lstStyle/>
          <a:p>
            <a:pPr>
              <a:lnSpc>
                <a:spcPct val="150000"/>
              </a:lnSpc>
              <a:buNone/>
            </a:pPr>
            <a:r>
              <a:rPr lang="en-US" sz="2800" b="1" dirty="0">
                <a:latin typeface="Calibir"/>
              </a:rPr>
              <a:t>What’s the difference?</a:t>
            </a:r>
          </a:p>
          <a:p>
            <a:pPr>
              <a:lnSpc>
                <a:spcPct val="150000"/>
              </a:lnSpc>
              <a:buNone/>
            </a:pPr>
            <a:r>
              <a:rPr lang="en-US" sz="2800" dirty="0">
                <a:latin typeface="Calibir"/>
              </a:rPr>
              <a:t>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Serious problems in the system.</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No, the program usually crashes, and we can’t recover.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a:t>
            </a:r>
            <a:r>
              <a:rPr lang="en-US" altLang="en-US" sz="2800" dirty="0" err="1">
                <a:latin typeface="Calibir"/>
              </a:rPr>
              <a:t>OutOfMemoryError</a:t>
            </a:r>
            <a:r>
              <a:rPr lang="en-US" altLang="en-US" sz="2800" dirty="0">
                <a:latin typeface="Calibir"/>
              </a:rPr>
              <a:t> (computer runs out of memory).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 train system shutting down because of a massive storm → trains cannot run at all.</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23E3E79B-ACBD-0F8E-C650-0C6BDB27C48F}"/>
              </a:ext>
            </a:extLst>
          </p:cNvPr>
          <p:cNvPicPr>
            <a:picLocks noChangeAspect="1"/>
          </p:cNvPicPr>
          <p:nvPr/>
        </p:nvPicPr>
        <p:blipFill>
          <a:blip r:embed="rId2"/>
          <a:srcRect l="7984" t="72473" r="8064" b="13197"/>
          <a:stretch>
            <a:fillRect/>
          </a:stretch>
        </p:blipFill>
        <p:spPr>
          <a:xfrm>
            <a:off x="565970" y="5796116"/>
            <a:ext cx="11060060" cy="1061883"/>
          </a:xfrm>
          <a:prstGeom prst="rect">
            <a:avLst/>
          </a:prstGeom>
        </p:spPr>
      </p:pic>
    </p:spTree>
    <p:extLst>
      <p:ext uri="{BB962C8B-B14F-4D97-AF65-F5344CB8AC3E}">
        <p14:creationId xmlns:p14="http://schemas.microsoft.com/office/powerpoint/2010/main" val="42610015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C3986-E84C-CBD3-47CE-81F25773DA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BA94DC-6587-AC19-00C4-5AA2CF43F0A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E909405D-C332-0520-B027-6F8ED25D29C1}"/>
              </a:ext>
            </a:extLst>
          </p:cNvPr>
          <p:cNvSpPr txBox="1"/>
          <p:nvPr/>
        </p:nvSpPr>
        <p:spPr>
          <a:xfrm>
            <a:off x="113371" y="2294174"/>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Errors are like hardware or system failures.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They are not meant to be caught in your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Focus on Exceptions (smaller problems you can handle), not Errors.</a:t>
            </a:r>
          </a:p>
        </p:txBody>
      </p:sp>
    </p:spTree>
    <p:extLst>
      <p:ext uri="{BB962C8B-B14F-4D97-AF65-F5344CB8AC3E}">
        <p14:creationId xmlns:p14="http://schemas.microsoft.com/office/powerpoint/2010/main" val="98979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69320-F2D7-49B8-D6CC-58C1E28C7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07F1D5-E655-03DC-2B52-10E29919E8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DFFA733C-9945-393C-8DDB-78BCE173C945}"/>
              </a:ext>
            </a:extLst>
          </p:cNvPr>
          <p:cNvSpPr txBox="1"/>
          <p:nvPr/>
        </p:nvSpPr>
        <p:spPr>
          <a:xfrm>
            <a:off x="0" y="624514"/>
            <a:ext cx="11965258" cy="4549835"/>
          </a:xfrm>
          <a:prstGeom prst="rect">
            <a:avLst/>
          </a:prstGeom>
          <a:noFill/>
        </p:spPr>
        <p:txBody>
          <a:bodyPr wrap="square">
            <a:spAutoFit/>
          </a:bodyPr>
          <a:lstStyle/>
          <a:p>
            <a:pPr>
              <a:lnSpc>
                <a:spcPct val="150000"/>
              </a:lnSpc>
            </a:pPr>
            <a:r>
              <a:rPr lang="en-US" sz="2800" b="1" dirty="0">
                <a:latin typeface="Calibir"/>
              </a:rPr>
              <a:t>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Smaller problems in the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Yes, if the programmer handles them.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Wrong input ("abc" instead of a number) or dividing by zero.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an </a:t>
            </a:r>
            <a:r>
              <a:rPr lang="en-US" altLang="en-US" sz="2800" b="1" dirty="0">
                <a:latin typeface="Calibir"/>
              </a:rPr>
              <a:t>Opal card machine</a:t>
            </a:r>
            <a:r>
              <a:rPr lang="en-US" altLang="en-US" sz="2800" dirty="0">
                <a:latin typeface="Calibir"/>
              </a:rPr>
              <a:t> – if you tap with an invalid card, the machine rejects it and shows a message, but trains keep running.</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Python example:</a:t>
            </a:r>
          </a:p>
        </p:txBody>
      </p:sp>
      <p:pic>
        <p:nvPicPr>
          <p:cNvPr id="9" name="Picture 8">
            <a:extLst>
              <a:ext uri="{FF2B5EF4-FFF2-40B4-BE49-F238E27FC236}">
                <a16:creationId xmlns:a16="http://schemas.microsoft.com/office/drawing/2014/main" id="{0A10E4FC-B708-8426-B635-16188512464E}"/>
              </a:ext>
            </a:extLst>
          </p:cNvPr>
          <p:cNvPicPr>
            <a:picLocks noChangeAspect="1"/>
          </p:cNvPicPr>
          <p:nvPr/>
        </p:nvPicPr>
        <p:blipFill>
          <a:blip r:embed="rId2"/>
          <a:srcRect l="7863" t="61935" r="7942" b="14839"/>
          <a:stretch>
            <a:fillRect/>
          </a:stretch>
        </p:blipFill>
        <p:spPr>
          <a:xfrm>
            <a:off x="0" y="5072935"/>
            <a:ext cx="11503742" cy="1785064"/>
          </a:xfrm>
          <a:prstGeom prst="rect">
            <a:avLst/>
          </a:prstGeom>
        </p:spPr>
      </p:pic>
    </p:spTree>
    <p:extLst>
      <p:ext uri="{BB962C8B-B14F-4D97-AF65-F5344CB8AC3E}">
        <p14:creationId xmlns:p14="http://schemas.microsoft.com/office/powerpoint/2010/main" val="3238386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A711-2B13-43FA-A822-EE7982FC0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2960F7-7EAE-1C60-182B-3CF34F90F5A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42C4BDB5-4D84-95EB-A727-7D0AB9278A6F}"/>
              </a:ext>
            </a:extLst>
          </p:cNvPr>
          <p:cNvSpPr txBox="1"/>
          <p:nvPr/>
        </p:nvSpPr>
        <p:spPr>
          <a:xfrm>
            <a:off x="113371" y="1609418"/>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Exceptions are like mistakes you can catch and fix while the program is running.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don’t handle them → program will crash.</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 handle them → program continues smoothly.</a:t>
            </a:r>
          </a:p>
        </p:txBody>
      </p:sp>
    </p:spTree>
    <p:extLst>
      <p:ext uri="{BB962C8B-B14F-4D97-AF65-F5344CB8AC3E}">
        <p14:creationId xmlns:p14="http://schemas.microsoft.com/office/powerpoint/2010/main" val="3230027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328-976F-E5FB-206C-5B396C22C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9BAD3-6187-C327-1A34-5635CDDEC9D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8F462484-DD36-8F6A-F701-9C50C5773F33}"/>
              </a:ext>
            </a:extLst>
          </p:cNvPr>
          <p:cNvSpPr txBox="1"/>
          <p:nvPr/>
        </p:nvSpPr>
        <p:spPr>
          <a:xfrm>
            <a:off x="0" y="756745"/>
            <a:ext cx="11965258" cy="1318823"/>
          </a:xfrm>
          <a:prstGeom prst="rect">
            <a:avLst/>
          </a:prstGeom>
          <a:noFill/>
        </p:spPr>
        <p:txBody>
          <a:bodyPr wrap="square">
            <a:spAutoFit/>
          </a:bodyPr>
          <a:lstStyle/>
          <a:p>
            <a:pPr>
              <a:lnSpc>
                <a:spcPct val="150000"/>
              </a:lnSpc>
            </a:pPr>
            <a:r>
              <a:rPr lang="en-US" sz="2800" dirty="0">
                <a:latin typeface="Calibir"/>
              </a:rPr>
              <a:t>Errors = system failure.</a:t>
            </a:r>
            <a:br>
              <a:rPr lang="en-US" sz="2800" dirty="0">
                <a:latin typeface="Calibir"/>
              </a:rPr>
            </a:br>
            <a:r>
              <a:rPr lang="en-US" sz="2800" dirty="0">
                <a:latin typeface="Calibir"/>
              </a:rPr>
              <a:t>Exceptions = programmer can catch and fix.</a:t>
            </a:r>
          </a:p>
        </p:txBody>
      </p:sp>
    </p:spTree>
    <p:extLst>
      <p:ext uri="{BB962C8B-B14F-4D97-AF65-F5344CB8AC3E}">
        <p14:creationId xmlns:p14="http://schemas.microsoft.com/office/powerpoint/2010/main" val="1418758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0A6A-F325-0C63-9FE5-FEEC419DB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B3253-DEB5-252D-0D6A-D5148DAB10B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4B53EB-5F36-DC10-CCE0-E50D82192143}"/>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CDC3EB4-57E2-F4D7-AEBC-726412FF326D}"/>
              </a:ext>
            </a:extLst>
          </p:cNvPr>
          <p:cNvSpPr>
            <a:spLocks noChangeArrowheads="1"/>
          </p:cNvSpPr>
          <p:nvPr/>
        </p:nvSpPr>
        <p:spPr bwMode="auto">
          <a:xfrm>
            <a:off x="3967316" y="5539819"/>
            <a:ext cx="8224683"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 } → test risky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err="1">
                <a:ln>
                  <a:noFill/>
                </a:ln>
                <a:solidFill>
                  <a:schemeClr val="tx1"/>
                </a:solidFill>
                <a:effectLst/>
                <a:latin typeface="Calibir"/>
              </a:rPr>
              <a:t>Integer.parseInt</a:t>
            </a:r>
            <a:r>
              <a:rPr kumimoji="0" lang="en-US" altLang="en-US" sz="2800" b="0" i="0" u="none" strike="noStrike" cap="none" normalizeH="0" baseline="0" dirty="0">
                <a:ln>
                  <a:noFill/>
                </a:ln>
                <a:solidFill>
                  <a:schemeClr val="tx1"/>
                </a:solidFill>
                <a:effectLst/>
                <a:latin typeface="Calibir"/>
              </a:rPr>
              <a:t>("0") → turn text "0" into number 0.</a:t>
            </a:r>
          </a:p>
        </p:txBody>
      </p:sp>
      <p:sp>
        <p:nvSpPr>
          <p:cNvPr id="7" name="Rectangle: Rounded Corners 6">
            <a:extLst>
              <a:ext uri="{FF2B5EF4-FFF2-40B4-BE49-F238E27FC236}">
                <a16:creationId xmlns:a16="http://schemas.microsoft.com/office/drawing/2014/main" id="{D9D0341A-6F55-BF63-7DA8-9530826BE851}"/>
              </a:ext>
            </a:extLst>
          </p:cNvPr>
          <p:cNvSpPr/>
          <p:nvPr/>
        </p:nvSpPr>
        <p:spPr>
          <a:xfrm>
            <a:off x="1460090" y="1622324"/>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060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BD31-FD9B-4503-6639-37641D4B6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D21C0-3FBA-36F3-2DE7-723B667BA61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5E4940E-ED87-0E83-0324-3F87A28FBA71}"/>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E1BB2808-05AA-AD1B-E0D7-17342D6BE93D}"/>
              </a:ext>
            </a:extLst>
          </p:cNvPr>
          <p:cNvSpPr>
            <a:spLocks noChangeArrowheads="1"/>
          </p:cNvSpPr>
          <p:nvPr/>
        </p:nvSpPr>
        <p:spPr bwMode="auto">
          <a:xfrm>
            <a:off x="2418736" y="5539818"/>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 / a → dividing by zero →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ArithmeticException</a:t>
            </a:r>
            <a:r>
              <a:rPr lang="en-US" altLang="en-US" sz="2800" dirty="0">
                <a:latin typeface="Calibir"/>
              </a:rPr>
              <a:t> e) → catches divide-by-zero.</a:t>
            </a:r>
          </a:p>
        </p:txBody>
      </p:sp>
      <p:sp>
        <p:nvSpPr>
          <p:cNvPr id="7" name="Rectangle: Rounded Corners 6">
            <a:extLst>
              <a:ext uri="{FF2B5EF4-FFF2-40B4-BE49-F238E27FC236}">
                <a16:creationId xmlns:a16="http://schemas.microsoft.com/office/drawing/2014/main" id="{1ADCC08F-EEF2-630D-1D2E-9BE574A014A0}"/>
              </a:ext>
            </a:extLst>
          </p:cNvPr>
          <p:cNvSpPr/>
          <p:nvPr/>
        </p:nvSpPr>
        <p:spPr>
          <a:xfrm>
            <a:off x="1415845" y="2435772"/>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012060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7A8F5-AC1A-162A-9EB1-010DE5FEF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95A0C-D64C-8381-C72E-9ED2D52B4592}"/>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61CF163-D574-071A-E019-F97CF86ED532}"/>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206CC94-32C5-35FC-510A-1E8CFF2F5D4D}"/>
              </a:ext>
            </a:extLst>
          </p:cNvPr>
          <p:cNvSpPr>
            <a:spLocks noChangeArrowheads="1"/>
          </p:cNvSpPr>
          <p:nvPr/>
        </p:nvSpPr>
        <p:spPr bwMode="auto">
          <a:xfrm>
            <a:off x="2418736" y="5539817"/>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NumberFormatException</a:t>
            </a:r>
            <a:r>
              <a:rPr lang="en-US" altLang="en-US" sz="2800" dirty="0">
                <a:latin typeface="Calibir"/>
              </a:rPr>
              <a:t> e) → catches text like "abc".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 prints “Done”.</a:t>
            </a:r>
          </a:p>
        </p:txBody>
      </p:sp>
      <p:sp>
        <p:nvSpPr>
          <p:cNvPr id="7" name="Rectangle: Rounded Corners 6">
            <a:extLst>
              <a:ext uri="{FF2B5EF4-FFF2-40B4-BE49-F238E27FC236}">
                <a16:creationId xmlns:a16="http://schemas.microsoft.com/office/drawing/2014/main" id="{DAB42812-CAD9-F46B-5DAF-B9BC6C8B8A45}"/>
              </a:ext>
            </a:extLst>
          </p:cNvPr>
          <p:cNvSpPr/>
          <p:nvPr/>
        </p:nvSpPr>
        <p:spPr>
          <a:xfrm>
            <a:off x="1342103" y="3772098"/>
            <a:ext cx="876054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62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19891-B04F-6780-31A0-458A5A4C2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8A646-3FCB-2752-1CC6-21295F17D50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E8A5EAD-8DC0-8A0A-94D1-73558F976976}"/>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795D12C6-66D9-4271-0A33-B6E9AA9E8A5D}"/>
              </a:ext>
            </a:extLst>
          </p:cNvPr>
          <p:cNvSpPr>
            <a:spLocks noChangeArrowheads="1"/>
          </p:cNvSpPr>
          <p:nvPr/>
        </p:nvSpPr>
        <p:spPr bwMode="auto">
          <a:xfrm>
            <a:off x="2418736" y="5538021"/>
            <a:ext cx="9773264" cy="1321772"/>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Analogy: Like Sydney Trains → if one line fails (error), system re-routes (catch) but still closes gates at night (finally).</a:t>
            </a:r>
            <a:endParaRPr lang="en-US" altLang="en-US" sz="2800" dirty="0">
              <a:latin typeface="Calibir"/>
            </a:endParaRPr>
          </a:p>
        </p:txBody>
      </p:sp>
    </p:spTree>
    <p:extLst>
      <p:ext uri="{BB962C8B-B14F-4D97-AF65-F5344CB8AC3E}">
        <p14:creationId xmlns:p14="http://schemas.microsoft.com/office/powerpoint/2010/main" val="1272438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9A712-004C-042B-1A3F-368CF7A48F10}"/>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3 (Java – Read File)</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394B423-7620-7A45-1AD6-0FCC9FB98E1D}"/>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Read a file hello.txt with FileReader, print its content. Download the file from GitHub</a:t>
            </a:r>
          </a:p>
        </p:txBody>
      </p:sp>
      <p:pic>
        <p:nvPicPr>
          <p:cNvPr id="9" name="Timer">
            <a:hlinkClick r:id="" action="ppaction://media"/>
            <a:extLst>
              <a:ext uri="{FF2B5EF4-FFF2-40B4-BE49-F238E27FC236}">
                <a16:creationId xmlns:a16="http://schemas.microsoft.com/office/drawing/2014/main" id="{6CD3C876-D15B-0BF0-1897-7F8C668C3F7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1827801"/>
            <a:ext cx="2153266" cy="914400"/>
          </a:xfrm>
          <a:prstGeom prst="rect">
            <a:avLst/>
          </a:prstGeom>
          <a:ln w="38100">
            <a:solidFill>
              <a:srgbClr val="FF0000"/>
            </a:solidFill>
          </a:ln>
        </p:spPr>
      </p:pic>
      <p:pic>
        <p:nvPicPr>
          <p:cNvPr id="4" name="Picture 3">
            <a:extLst>
              <a:ext uri="{FF2B5EF4-FFF2-40B4-BE49-F238E27FC236}">
                <a16:creationId xmlns:a16="http://schemas.microsoft.com/office/drawing/2014/main" id="{36377C33-84F5-8600-9F2A-45DAEBD908F8}"/>
              </a:ext>
            </a:extLst>
          </p:cNvPr>
          <p:cNvPicPr>
            <a:picLocks noChangeAspect="1"/>
          </p:cNvPicPr>
          <p:nvPr/>
        </p:nvPicPr>
        <p:blipFill>
          <a:blip r:embed="rId5"/>
          <a:srcRect t="6881" b="38925"/>
          <a:stretch>
            <a:fillRect/>
          </a:stretch>
        </p:blipFill>
        <p:spPr>
          <a:xfrm>
            <a:off x="0" y="3141406"/>
            <a:ext cx="12192000" cy="3716594"/>
          </a:xfrm>
          <a:prstGeom prst="rect">
            <a:avLst/>
          </a:prstGeom>
        </p:spPr>
      </p:pic>
    </p:spTree>
    <p:extLst>
      <p:ext uri="{BB962C8B-B14F-4D97-AF65-F5344CB8AC3E}">
        <p14:creationId xmlns:p14="http://schemas.microsoft.com/office/powerpoint/2010/main" val="255386400"/>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FD154DF-6CB2-3445-6882-09119C6E7EE4}"/>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629B524-3DB2-DFC6-FC12-A6D82F6668CC}"/>
              </a:ext>
            </a:extLst>
          </p:cNvPr>
          <p:cNvSpPr txBox="1"/>
          <p:nvPr/>
        </p:nvSpPr>
        <p:spPr>
          <a:xfrm>
            <a:off x="0" y="5171945"/>
            <a:ext cx="12108426"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line tells Java we want to use </a:t>
            </a:r>
            <a:r>
              <a:rPr lang="en-US" sz="2800" b="1" dirty="0">
                <a:latin typeface="Calibir"/>
              </a:rPr>
              <a:t>input/output (I/O)</a:t>
            </a:r>
            <a:r>
              <a:rPr lang="en-US" sz="2800" dirty="0">
                <a:latin typeface="Calibir"/>
              </a:rPr>
              <a:t> classes, like FileReader for reading files.</a:t>
            </a:r>
          </a:p>
        </p:txBody>
      </p:sp>
      <p:sp>
        <p:nvSpPr>
          <p:cNvPr id="10" name="Rectangle: Rounded Corners 9">
            <a:extLst>
              <a:ext uri="{FF2B5EF4-FFF2-40B4-BE49-F238E27FC236}">
                <a16:creationId xmlns:a16="http://schemas.microsoft.com/office/drawing/2014/main" id="{E66429A4-60FE-2E44-2F0A-10881ED7F662}"/>
              </a:ext>
            </a:extLst>
          </p:cNvPr>
          <p:cNvSpPr/>
          <p:nvPr/>
        </p:nvSpPr>
        <p:spPr>
          <a:xfrm>
            <a:off x="0" y="0"/>
            <a:ext cx="2949677"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906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E0D1-6DCE-F396-EAFB-73139F8C27A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1CAB875-3231-49D6-2C81-05DBA4D613EF}"/>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F7D02216-DBC0-1891-70D5-3C30DAE3763E}"/>
              </a:ext>
            </a:extLst>
          </p:cNvPr>
          <p:cNvSpPr txBox="1"/>
          <p:nvPr/>
        </p:nvSpPr>
        <p:spPr>
          <a:xfrm>
            <a:off x="0" y="5171945"/>
            <a:ext cx="12108426" cy="132177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class (container for the code) named FileReadExample. Every Java program needs at least one class.</a:t>
            </a:r>
          </a:p>
        </p:txBody>
      </p:sp>
      <p:sp>
        <p:nvSpPr>
          <p:cNvPr id="10" name="Rectangle: Rounded Corners 9">
            <a:extLst>
              <a:ext uri="{FF2B5EF4-FFF2-40B4-BE49-F238E27FC236}">
                <a16:creationId xmlns:a16="http://schemas.microsoft.com/office/drawing/2014/main" id="{942782F2-D6E4-90B3-A180-43CE78B00387}"/>
              </a:ext>
            </a:extLst>
          </p:cNvPr>
          <p:cNvSpPr/>
          <p:nvPr/>
        </p:nvSpPr>
        <p:spPr>
          <a:xfrm>
            <a:off x="14748" y="364283"/>
            <a:ext cx="5471652"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2581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A0C2-770D-9E7B-86AE-A0551B5F736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2775B40-69B7-429A-A0F5-2988128F10F9}"/>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7F46480-972C-CC84-E164-DC7A41D742FD}"/>
              </a:ext>
            </a:extLst>
          </p:cNvPr>
          <p:cNvSpPr txBox="1"/>
          <p:nvPr/>
        </p:nvSpPr>
        <p:spPr>
          <a:xfrm>
            <a:off x="0" y="5171945"/>
            <a:ext cx="12108426"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The main method. This is where the program starts running.</a:t>
            </a:r>
          </a:p>
        </p:txBody>
      </p:sp>
      <p:sp>
        <p:nvSpPr>
          <p:cNvPr id="10" name="Rectangle: Rounded Corners 9">
            <a:extLst>
              <a:ext uri="{FF2B5EF4-FFF2-40B4-BE49-F238E27FC236}">
                <a16:creationId xmlns:a16="http://schemas.microsoft.com/office/drawing/2014/main" id="{D44DBBD0-BF1D-9618-C497-075274DCEBEC}"/>
              </a:ext>
            </a:extLst>
          </p:cNvPr>
          <p:cNvSpPr/>
          <p:nvPr/>
        </p:nvSpPr>
        <p:spPr>
          <a:xfrm>
            <a:off x="0" y="696470"/>
            <a:ext cx="7551174"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0347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393A-FF04-5A68-100A-99DC930DD6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386671-2D81-DC58-B630-9C6F70D4CD52}"/>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13D4A42-4641-A8B9-33B9-92E8E35D73AD}"/>
              </a:ext>
            </a:extLst>
          </p:cNvPr>
          <p:cNvSpPr txBox="1"/>
          <p:nvPr/>
        </p:nvSpPr>
        <p:spPr>
          <a:xfrm>
            <a:off x="1764890" y="4271952"/>
            <a:ext cx="10427110" cy="2610843"/>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try means “try to do this, but if something goes wrong, handle it later.”</a:t>
            </a:r>
          </a:p>
          <a:p>
            <a:pPr marL="457200" indent="-457200">
              <a:lnSpc>
                <a:spcPct val="150000"/>
              </a:lnSpc>
              <a:buFont typeface="Arial" panose="020B0604020202020204" pitchFamily="34" charset="0"/>
              <a:buChar char="•"/>
            </a:pPr>
            <a:r>
              <a:rPr lang="en-US" sz="2800" dirty="0">
                <a:latin typeface="Calibir"/>
              </a:rPr>
              <a:t>FileReader </a:t>
            </a:r>
            <a:r>
              <a:rPr lang="en-US" sz="2800" dirty="0" err="1">
                <a:latin typeface="Calibir"/>
              </a:rPr>
              <a:t>fr</a:t>
            </a:r>
            <a:r>
              <a:rPr lang="en-US" sz="2800" dirty="0">
                <a:latin typeface="Calibir"/>
              </a:rPr>
              <a:t> = new FileReader("hello.txt");</a:t>
            </a:r>
            <a:br>
              <a:rPr lang="en-US" sz="2800" dirty="0">
                <a:latin typeface="Calibir"/>
              </a:rPr>
            </a:br>
            <a:r>
              <a:rPr lang="en-US" sz="2800" dirty="0">
                <a:latin typeface="Calibir"/>
              </a:rPr>
              <a:t>This line opens a file called hello.txt for reading.</a:t>
            </a:r>
          </a:p>
        </p:txBody>
      </p:sp>
      <p:sp>
        <p:nvSpPr>
          <p:cNvPr id="10" name="Rectangle: Rounded Corners 9">
            <a:extLst>
              <a:ext uri="{FF2B5EF4-FFF2-40B4-BE49-F238E27FC236}">
                <a16:creationId xmlns:a16="http://schemas.microsoft.com/office/drawing/2014/main" id="{B21201F6-C3C4-F598-5874-8588B640646C}"/>
              </a:ext>
            </a:extLst>
          </p:cNvPr>
          <p:cNvSpPr/>
          <p:nvPr/>
        </p:nvSpPr>
        <p:spPr>
          <a:xfrm>
            <a:off x="0" y="1025362"/>
            <a:ext cx="9837174" cy="68560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73965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2AF28-69A0-4437-29FA-1F72F77A7AD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DE219F-9BA6-C3A7-4B09-48DAFF32F1EA}"/>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A9AF3E8-EDDB-4261-0A13-BCD6F9639D95}"/>
              </a:ext>
            </a:extLst>
          </p:cNvPr>
          <p:cNvSpPr txBox="1"/>
          <p:nvPr/>
        </p:nvSpPr>
        <p:spPr>
          <a:xfrm>
            <a:off x="1764890" y="4271952"/>
            <a:ext cx="10427110" cy="257679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200" dirty="0">
                <a:latin typeface="Calibir"/>
              </a:rPr>
              <a:t>int ch; → a variable to store one character at a time (Java reads as numbers first).</a:t>
            </a:r>
          </a:p>
          <a:p>
            <a:pPr marL="457200" indent="-457200">
              <a:lnSpc>
                <a:spcPct val="150000"/>
              </a:lnSpc>
              <a:buFont typeface="Arial" panose="020B0604020202020204" pitchFamily="34" charset="0"/>
              <a:buChar char="•"/>
            </a:pPr>
            <a:r>
              <a:rPr lang="en-US" sz="2200" dirty="0" err="1">
                <a:latin typeface="Calibir"/>
              </a:rPr>
              <a:t>fr.read</a:t>
            </a:r>
            <a:r>
              <a:rPr lang="en-US" sz="2200" dirty="0">
                <a:latin typeface="Calibir"/>
              </a:rPr>
              <a:t>() → reads one character from the file.</a:t>
            </a:r>
          </a:p>
          <a:p>
            <a:pPr marL="457200" indent="-457200">
              <a:lnSpc>
                <a:spcPct val="150000"/>
              </a:lnSpc>
              <a:buFont typeface="Arial" panose="020B0604020202020204" pitchFamily="34" charset="0"/>
              <a:buChar char="•"/>
            </a:pPr>
            <a:r>
              <a:rPr lang="en-US" sz="2200" dirty="0">
                <a:latin typeface="Calibir"/>
              </a:rPr>
              <a:t>!= -1 → means “keep going until the end of the file” (-1 = no more characters).</a:t>
            </a:r>
          </a:p>
          <a:p>
            <a:pPr marL="457200" indent="-457200">
              <a:lnSpc>
                <a:spcPct val="150000"/>
              </a:lnSpc>
              <a:buFont typeface="Arial" panose="020B0604020202020204" pitchFamily="34" charset="0"/>
              <a:buChar char="•"/>
            </a:pPr>
            <a:r>
              <a:rPr lang="en-US" sz="2200" dirty="0">
                <a:latin typeface="Calibir"/>
              </a:rPr>
              <a:t>(char) ch → converts the number into the actual character (e.g., 72 → 'H’).</a:t>
            </a:r>
          </a:p>
          <a:p>
            <a:pPr marL="457200" indent="-457200">
              <a:lnSpc>
                <a:spcPct val="150000"/>
              </a:lnSpc>
              <a:buFont typeface="Arial" panose="020B0604020202020204" pitchFamily="34" charset="0"/>
              <a:buChar char="•"/>
            </a:pPr>
            <a:r>
              <a:rPr lang="en-US" sz="2200" dirty="0" err="1">
                <a:latin typeface="Calibir"/>
              </a:rPr>
              <a:t>System.out.print</a:t>
            </a:r>
            <a:r>
              <a:rPr lang="en-US" sz="2200" dirty="0">
                <a:latin typeface="Calibir"/>
              </a:rPr>
              <a:t>(...) → prints each character on the screen.</a:t>
            </a:r>
          </a:p>
        </p:txBody>
      </p:sp>
      <p:sp>
        <p:nvSpPr>
          <p:cNvPr id="10" name="Rectangle: Rounded Corners 9">
            <a:extLst>
              <a:ext uri="{FF2B5EF4-FFF2-40B4-BE49-F238E27FC236}">
                <a16:creationId xmlns:a16="http://schemas.microsoft.com/office/drawing/2014/main" id="{4030F9A6-244D-D155-59B7-95822BB386D9}"/>
              </a:ext>
            </a:extLst>
          </p:cNvPr>
          <p:cNvSpPr/>
          <p:nvPr/>
        </p:nvSpPr>
        <p:spPr>
          <a:xfrm>
            <a:off x="0" y="1694369"/>
            <a:ext cx="9837174" cy="140279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4192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F1EBF-A1E1-CF03-9C8D-FAA05F8C758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DAECA4-7835-9ED9-0738-2E73EF59E73E}"/>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ABEAECFC-D113-4233-0B4F-07F8F9DBBDFF}"/>
              </a:ext>
            </a:extLst>
          </p:cNvPr>
          <p:cNvSpPr txBox="1"/>
          <p:nvPr/>
        </p:nvSpPr>
        <p:spPr>
          <a:xfrm>
            <a:off x="0" y="5170646"/>
            <a:ext cx="12192000" cy="1318181"/>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Closes the file after finishing. (Always a good habit, like returning a library book after reading.)</a:t>
            </a:r>
          </a:p>
        </p:txBody>
      </p:sp>
      <p:sp>
        <p:nvSpPr>
          <p:cNvPr id="10" name="Rectangle: Rounded Corners 9">
            <a:extLst>
              <a:ext uri="{FF2B5EF4-FFF2-40B4-BE49-F238E27FC236}">
                <a16:creationId xmlns:a16="http://schemas.microsoft.com/office/drawing/2014/main" id="{59C15DC6-44E4-E8BC-A61E-B623DC4E8480}"/>
              </a:ext>
            </a:extLst>
          </p:cNvPr>
          <p:cNvSpPr/>
          <p:nvPr/>
        </p:nvSpPr>
        <p:spPr>
          <a:xfrm>
            <a:off x="0" y="3023418"/>
            <a:ext cx="9837174" cy="4055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0497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8A203-334E-8C85-6645-D337D401F71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A3C9DF7-E25D-0437-950A-070154C120E3}"/>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D2536558-1702-8C78-ED97-7575E55A0BE2}"/>
              </a:ext>
            </a:extLst>
          </p:cNvPr>
          <p:cNvSpPr txBox="1"/>
          <p:nvPr/>
        </p:nvSpPr>
        <p:spPr>
          <a:xfrm>
            <a:off x="0" y="5170646"/>
            <a:ext cx="12192000" cy="1321772"/>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If something goes wrong (like file missing or unreadable), the program catches the error and shows a friendly message instead of crashing.</a:t>
            </a:r>
          </a:p>
        </p:txBody>
      </p:sp>
      <p:sp>
        <p:nvSpPr>
          <p:cNvPr id="10" name="Rectangle: Rounded Corners 9">
            <a:extLst>
              <a:ext uri="{FF2B5EF4-FFF2-40B4-BE49-F238E27FC236}">
                <a16:creationId xmlns:a16="http://schemas.microsoft.com/office/drawing/2014/main" id="{F09DC854-1038-01A5-E3C4-36B1311726BC}"/>
              </a:ext>
            </a:extLst>
          </p:cNvPr>
          <p:cNvSpPr/>
          <p:nvPr/>
        </p:nvSpPr>
        <p:spPr>
          <a:xfrm>
            <a:off x="0" y="3377381"/>
            <a:ext cx="11916696" cy="10323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9996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25836-E2F3-AA5F-A3BD-6A16F982321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1A6948D-FF05-B81C-C9B8-5A13814B6872}"/>
              </a:ext>
            </a:extLst>
          </p:cNvPr>
          <p:cNvPicPr>
            <a:picLocks noChangeAspect="1"/>
          </p:cNvPicPr>
          <p:nvPr/>
        </p:nvPicPr>
        <p:blipFill>
          <a:blip r:embed="rId2"/>
          <a:srcRect l="8104" r="9274" b="36559"/>
          <a:stretch>
            <a:fillRect/>
          </a:stretch>
        </p:blipFill>
        <p:spPr>
          <a:xfrm>
            <a:off x="-1" y="0"/>
            <a:ext cx="12192001" cy="5147036"/>
          </a:xfrm>
          <a:prstGeom prst="rect">
            <a:avLst/>
          </a:prstGeom>
        </p:spPr>
      </p:pic>
      <p:sp>
        <p:nvSpPr>
          <p:cNvPr id="7" name="TextBox 6">
            <a:extLst>
              <a:ext uri="{FF2B5EF4-FFF2-40B4-BE49-F238E27FC236}">
                <a16:creationId xmlns:a16="http://schemas.microsoft.com/office/drawing/2014/main" id="{683AEEFD-849C-C5EE-7BCC-71570DB01ACC}"/>
              </a:ext>
            </a:extLst>
          </p:cNvPr>
          <p:cNvSpPr txBox="1"/>
          <p:nvPr/>
        </p:nvSpPr>
        <p:spPr>
          <a:xfrm>
            <a:off x="560438" y="4881716"/>
            <a:ext cx="11631561" cy="197628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In short, this program opens a file called </a:t>
            </a:r>
            <a:r>
              <a:rPr lang="en-US" sz="2800" i="1" dirty="0">
                <a:latin typeface="Calibir"/>
              </a:rPr>
              <a:t>hello.txt</a:t>
            </a:r>
            <a:r>
              <a:rPr lang="en-US" sz="2800" dirty="0">
                <a:latin typeface="Calibir"/>
              </a:rPr>
              <a:t>, reads it one character at a time, prints everything on the screen, and closes the file. If the file isn’t there, it prints an error message.</a:t>
            </a:r>
          </a:p>
        </p:txBody>
      </p:sp>
    </p:spTree>
    <p:extLst>
      <p:ext uri="{BB962C8B-B14F-4D97-AF65-F5344CB8AC3E}">
        <p14:creationId xmlns:p14="http://schemas.microsoft.com/office/powerpoint/2010/main" val="2986245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C87D1-6A48-1253-33ED-B8AE260225FB}"/>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4 (</a:t>
            </a:r>
            <a:r>
              <a:rPr lang="en-US" sz="4000">
                <a:latin typeface="Calibir"/>
              </a:rPr>
              <a:t>Python and Java </a:t>
            </a:r>
            <a:r>
              <a:rPr lang="en-US" sz="4000" dirty="0">
                <a:latin typeface="Calibir"/>
              </a:rPr>
              <a:t>– Custom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08EEEF1-C4AB-8ECA-A523-4748366F8F9F}"/>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Create custom exception InvalidMarkException for student marks &lt;0 or &gt;100.</a:t>
            </a:r>
          </a:p>
        </p:txBody>
      </p:sp>
      <p:pic>
        <p:nvPicPr>
          <p:cNvPr id="9" name="Timer">
            <a:hlinkClick r:id="" action="ppaction://media"/>
            <a:extLst>
              <a:ext uri="{FF2B5EF4-FFF2-40B4-BE49-F238E27FC236}">
                <a16:creationId xmlns:a16="http://schemas.microsoft.com/office/drawing/2014/main" id="{E787FB58-AA84-8113-2450-B8D3100A2C1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3035715777"/>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949B3-96AC-4081-760E-9F6FA984C84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C8B453E-01E8-8366-2E16-14A8CD9E38F8}"/>
              </a:ext>
            </a:extLst>
          </p:cNvPr>
          <p:cNvPicPr>
            <a:picLocks noChangeAspect="1"/>
          </p:cNvPicPr>
          <p:nvPr/>
        </p:nvPicPr>
        <p:blipFill>
          <a:blip r:embed="rId2"/>
          <a:srcRect l="8347" t="10967" r="9637" b="33333"/>
          <a:stretch>
            <a:fillRect/>
          </a:stretch>
        </p:blipFill>
        <p:spPr>
          <a:xfrm>
            <a:off x="19874" y="1104088"/>
            <a:ext cx="12172126" cy="4649824"/>
          </a:xfrm>
          <a:prstGeom prst="rect">
            <a:avLst/>
          </a:prstGeom>
        </p:spPr>
      </p:pic>
      <p:sp>
        <p:nvSpPr>
          <p:cNvPr id="11" name="Rectangle: Rounded Corners 10">
            <a:extLst>
              <a:ext uri="{FF2B5EF4-FFF2-40B4-BE49-F238E27FC236}">
                <a16:creationId xmlns:a16="http://schemas.microsoft.com/office/drawing/2014/main" id="{FB6DD625-0BF5-F9BF-F539-C8D9535186FB}"/>
              </a:ext>
            </a:extLst>
          </p:cNvPr>
          <p:cNvSpPr/>
          <p:nvPr/>
        </p:nvSpPr>
        <p:spPr>
          <a:xfrm>
            <a:off x="19874" y="1148332"/>
            <a:ext cx="6735985" cy="134414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
            <a:extLst>
              <a:ext uri="{FF2B5EF4-FFF2-40B4-BE49-F238E27FC236}">
                <a16:creationId xmlns:a16="http://schemas.microsoft.com/office/drawing/2014/main" id="{83140285-06EA-838D-5426-F8B40B72A51D}"/>
              </a:ext>
            </a:extLst>
          </p:cNvPr>
          <p:cNvSpPr>
            <a:spLocks noChangeArrowheads="1"/>
          </p:cNvSpPr>
          <p:nvPr/>
        </p:nvSpPr>
        <p:spPr bwMode="auto">
          <a:xfrm>
            <a:off x="6926317" y="1204077"/>
            <a:ext cx="5265683" cy="454983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try:</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“Try to run this code. If something goes wrong, we’ll handle it.”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mark = 120</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student’s mark (here, 120 as an example).</a:t>
            </a:r>
          </a:p>
        </p:txBody>
      </p:sp>
      <p:sp>
        <p:nvSpPr>
          <p:cNvPr id="3" name="TextBox 2">
            <a:extLst>
              <a:ext uri="{FF2B5EF4-FFF2-40B4-BE49-F238E27FC236}">
                <a16:creationId xmlns:a16="http://schemas.microsoft.com/office/drawing/2014/main" id="{41EA022C-0F0D-D120-16C6-7200F58FEB04}"/>
              </a:ext>
            </a:extLst>
          </p:cNvPr>
          <p:cNvSpPr txBox="1"/>
          <p:nvPr/>
        </p:nvSpPr>
        <p:spPr>
          <a:xfrm>
            <a:off x="19874" y="14748"/>
            <a:ext cx="3259394" cy="523220"/>
          </a:xfrm>
          <a:prstGeom prst="rect">
            <a:avLst/>
          </a:prstGeom>
          <a:solidFill>
            <a:schemeClr val="bg1"/>
          </a:solidFill>
          <a:ln w="38100">
            <a:solidFill>
              <a:srgbClr val="FF0000"/>
            </a:solidFill>
          </a:ln>
        </p:spPr>
        <p:txBody>
          <a:bodyPr wrap="square" rtlCol="0">
            <a:spAutoFit/>
          </a:bodyPr>
          <a:lstStyle/>
          <a:p>
            <a:r>
              <a:rPr lang="en-US" sz="2800" dirty="0">
                <a:latin typeface="Calibir"/>
              </a:rPr>
              <a:t>Python Solution</a:t>
            </a:r>
          </a:p>
        </p:txBody>
      </p:sp>
    </p:spTree>
    <p:extLst>
      <p:ext uri="{BB962C8B-B14F-4D97-AF65-F5344CB8AC3E}">
        <p14:creationId xmlns:p14="http://schemas.microsoft.com/office/powerpoint/2010/main" val="11985417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EDE8A-89C6-3870-5D7C-239C1BCD496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F729DB3-8721-2119-B546-B600E9D1458F}"/>
              </a:ext>
            </a:extLst>
          </p:cNvPr>
          <p:cNvPicPr>
            <a:picLocks noChangeAspect="1"/>
          </p:cNvPicPr>
          <p:nvPr/>
        </p:nvPicPr>
        <p:blipFill>
          <a:blip r:embed="rId2"/>
          <a:srcRect l="8347" t="10967" r="9637" b="33333"/>
          <a:stretch>
            <a:fillRect/>
          </a:stretch>
        </p:blipFill>
        <p:spPr>
          <a:xfrm>
            <a:off x="9937" y="0"/>
            <a:ext cx="11110347" cy="4244218"/>
          </a:xfrm>
          <a:prstGeom prst="rect">
            <a:avLst/>
          </a:prstGeom>
        </p:spPr>
      </p:pic>
      <p:sp>
        <p:nvSpPr>
          <p:cNvPr id="11" name="Rectangle: Rounded Corners 10">
            <a:extLst>
              <a:ext uri="{FF2B5EF4-FFF2-40B4-BE49-F238E27FC236}">
                <a16:creationId xmlns:a16="http://schemas.microsoft.com/office/drawing/2014/main" id="{679D6B64-6B5A-8851-46A3-0DB7BCC0A3C2}"/>
              </a:ext>
            </a:extLst>
          </p:cNvPr>
          <p:cNvSpPr/>
          <p:nvPr/>
        </p:nvSpPr>
        <p:spPr>
          <a:xfrm>
            <a:off x="9937" y="1360138"/>
            <a:ext cx="11110347" cy="102910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4C8D701-B265-A2C7-A58F-A696BD3DB577}"/>
              </a:ext>
            </a:extLst>
          </p:cNvPr>
          <p:cNvSpPr txBox="1"/>
          <p:nvPr/>
        </p:nvSpPr>
        <p:spPr>
          <a:xfrm>
            <a:off x="0" y="4250042"/>
            <a:ext cx="12152254" cy="2607958"/>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Condition: If the mark is less than 0 or greater than 100…</a:t>
            </a:r>
          </a:p>
          <a:p>
            <a:pPr marL="457200" indent="-457200">
              <a:lnSpc>
                <a:spcPct val="150000"/>
              </a:lnSpc>
              <a:buFont typeface="Arial" panose="020B0604020202020204" pitchFamily="34" charset="0"/>
              <a:buChar char="•"/>
            </a:pPr>
            <a:r>
              <a:rPr lang="en-US" sz="2800" dirty="0">
                <a:latin typeface="Calibir"/>
              </a:rPr>
              <a:t>raise InvalidMarkException("Mark out of range!")</a:t>
            </a:r>
          </a:p>
          <a:p>
            <a:pPr marL="914400" lvl="1" indent="-457200">
              <a:lnSpc>
                <a:spcPct val="150000"/>
              </a:lnSpc>
              <a:buFont typeface="Arial" panose="020B0604020202020204" pitchFamily="34" charset="0"/>
              <a:buChar char="•"/>
            </a:pPr>
            <a:r>
              <a:rPr lang="en-US" sz="2800" dirty="0">
                <a:latin typeface="Calibir"/>
              </a:rPr>
              <a:t>“Raise” (throw) the custom exception with a message.</a:t>
            </a:r>
          </a:p>
          <a:p>
            <a:pPr>
              <a:lnSpc>
                <a:spcPct val="150000"/>
              </a:lnSpc>
              <a:buNone/>
            </a:pPr>
            <a:r>
              <a:rPr lang="en-US" sz="2800" dirty="0">
                <a:latin typeface="Calibir"/>
              </a:rPr>
              <a:t>In Java this would be throw new InvalidMarkException("...").</a:t>
            </a:r>
          </a:p>
        </p:txBody>
      </p:sp>
    </p:spTree>
    <p:extLst>
      <p:ext uri="{BB962C8B-B14F-4D97-AF65-F5344CB8AC3E}">
        <p14:creationId xmlns:p14="http://schemas.microsoft.com/office/powerpoint/2010/main" val="20300472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B7B0-CBC5-802A-9BDD-9113698C4BA8}"/>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8CF87B3-2F9E-A412-6E40-2B92EF8CED89}"/>
              </a:ext>
            </a:extLst>
          </p:cNvPr>
          <p:cNvPicPr>
            <a:picLocks noChangeAspect="1"/>
          </p:cNvPicPr>
          <p:nvPr/>
        </p:nvPicPr>
        <p:blipFill>
          <a:blip r:embed="rId2"/>
          <a:srcRect l="8347" t="10967" r="9637" b="33333"/>
          <a:stretch>
            <a:fillRect/>
          </a:stretch>
        </p:blipFill>
        <p:spPr>
          <a:xfrm>
            <a:off x="9937" y="0"/>
            <a:ext cx="12172126" cy="4649824"/>
          </a:xfrm>
          <a:prstGeom prst="rect">
            <a:avLst/>
          </a:prstGeom>
        </p:spPr>
      </p:pic>
      <p:sp>
        <p:nvSpPr>
          <p:cNvPr id="11" name="Rectangle: Rounded Corners 10">
            <a:extLst>
              <a:ext uri="{FF2B5EF4-FFF2-40B4-BE49-F238E27FC236}">
                <a16:creationId xmlns:a16="http://schemas.microsoft.com/office/drawing/2014/main" id="{6F62D609-BCCF-1430-7967-F0A5E10757A3}"/>
              </a:ext>
            </a:extLst>
          </p:cNvPr>
          <p:cNvSpPr/>
          <p:nvPr/>
        </p:nvSpPr>
        <p:spPr>
          <a:xfrm>
            <a:off x="9937" y="2766340"/>
            <a:ext cx="9751361" cy="53729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36BDCE5-7363-3873-AB85-CF1CFF5B1579}"/>
              </a:ext>
            </a:extLst>
          </p:cNvPr>
          <p:cNvSpPr txBox="1"/>
          <p:nvPr/>
        </p:nvSpPr>
        <p:spPr>
          <a:xfrm>
            <a:off x="9937" y="4649824"/>
            <a:ext cx="12152254"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If Valid, Print the Mark</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the mark is within 0–100, this runs.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Shows: Valid mark: 85 (for example).</a:t>
            </a:r>
          </a:p>
        </p:txBody>
      </p:sp>
    </p:spTree>
    <p:extLst>
      <p:ext uri="{BB962C8B-B14F-4D97-AF65-F5344CB8AC3E}">
        <p14:creationId xmlns:p14="http://schemas.microsoft.com/office/powerpoint/2010/main" val="299018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65D46-F726-2FB5-3FB7-DF85792536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A8272C3-39BA-DE9A-6A63-AB58640B47EE}"/>
              </a:ext>
            </a:extLst>
          </p:cNvPr>
          <p:cNvPicPr>
            <a:picLocks noChangeAspect="1"/>
          </p:cNvPicPr>
          <p:nvPr/>
        </p:nvPicPr>
        <p:blipFill>
          <a:blip r:embed="rId2"/>
          <a:srcRect l="8347" t="10967" r="9637" b="33333"/>
          <a:stretch>
            <a:fillRect/>
          </a:stretch>
        </p:blipFill>
        <p:spPr>
          <a:xfrm>
            <a:off x="9938" y="0"/>
            <a:ext cx="11732130" cy="4317460"/>
          </a:xfrm>
          <a:prstGeom prst="rect">
            <a:avLst/>
          </a:prstGeom>
        </p:spPr>
      </p:pic>
      <p:sp>
        <p:nvSpPr>
          <p:cNvPr id="3" name="TextBox 2">
            <a:extLst>
              <a:ext uri="{FF2B5EF4-FFF2-40B4-BE49-F238E27FC236}">
                <a16:creationId xmlns:a16="http://schemas.microsoft.com/office/drawing/2014/main" id="{59950B11-A3F4-B810-A5B0-E65D67416FBF}"/>
              </a:ext>
            </a:extLst>
          </p:cNvPr>
          <p:cNvSpPr txBox="1"/>
          <p:nvPr/>
        </p:nvSpPr>
        <p:spPr>
          <a:xfrm>
            <a:off x="-1" y="4278961"/>
            <a:ext cx="12182063" cy="2579039"/>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200" b="1" dirty="0">
                <a:latin typeface="Calibir"/>
              </a:rPr>
              <a:t>except ... as e:</a:t>
            </a:r>
            <a:endParaRPr lang="en-US" altLang="en-US" sz="22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This catches the custom error if it happens.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e holds the error object.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200" b="1" dirty="0">
                <a:latin typeface="Calibir"/>
              </a:rPr>
              <a:t>print(e)</a:t>
            </a:r>
            <a:endParaRPr lang="en-US" altLang="en-US" sz="22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Prints the error message we passed (e.g., </a:t>
            </a:r>
            <a:r>
              <a:rPr lang="en-US" altLang="en-US" sz="2200" i="1" dirty="0">
                <a:latin typeface="Calibir"/>
              </a:rPr>
              <a:t>"Mark out of range!"</a:t>
            </a:r>
            <a:r>
              <a:rPr lang="en-US" altLang="en-US" sz="2200" dirty="0">
                <a:latin typeface="Calibir"/>
              </a:rPr>
              <a:t>).</a:t>
            </a:r>
          </a:p>
        </p:txBody>
      </p:sp>
      <p:sp>
        <p:nvSpPr>
          <p:cNvPr id="5" name="Rectangle: Rounded Corners 4">
            <a:extLst>
              <a:ext uri="{FF2B5EF4-FFF2-40B4-BE49-F238E27FC236}">
                <a16:creationId xmlns:a16="http://schemas.microsoft.com/office/drawing/2014/main" id="{D7BD90B1-E651-6545-A70A-4F3B0EDEC736}"/>
              </a:ext>
            </a:extLst>
          </p:cNvPr>
          <p:cNvSpPr/>
          <p:nvPr/>
        </p:nvSpPr>
        <p:spPr>
          <a:xfrm>
            <a:off x="9938" y="3160350"/>
            <a:ext cx="10181415" cy="111861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56425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5A3BFEF-1CF6-FA2A-1EB4-8938F3D7989B}"/>
              </a:ext>
            </a:extLst>
          </p:cNvPr>
          <p:cNvSpPr txBox="1"/>
          <p:nvPr/>
        </p:nvSpPr>
        <p:spPr>
          <a:xfrm>
            <a:off x="7449015" y="-73739"/>
            <a:ext cx="4742985" cy="6957674"/>
          </a:xfrm>
          <a:prstGeom prst="rect">
            <a:avLst/>
          </a:prstGeom>
          <a:solidFill>
            <a:schemeClr val="bg1"/>
          </a:solidFill>
          <a:ln>
            <a:solidFill>
              <a:srgbClr val="FF0000"/>
            </a:solidFill>
          </a:ln>
        </p:spPr>
        <p:txBody>
          <a:bodyPr wrap="square">
            <a:spAutoFit/>
          </a:bodyPr>
          <a:lstStyle/>
          <a:p>
            <a:pPr>
              <a:lnSpc>
                <a:spcPct val="150000"/>
              </a:lnSpc>
              <a:buNone/>
            </a:pPr>
            <a:r>
              <a:rPr lang="en-US" sz="2500" dirty="0">
                <a:latin typeface="Calibir"/>
              </a:rPr>
              <a:t>This creates a custom exception called InvalidMarkException.</a:t>
            </a:r>
          </a:p>
          <a:p>
            <a:pPr marL="342900" indent="-342900">
              <a:lnSpc>
                <a:spcPct val="150000"/>
              </a:lnSpc>
              <a:buFont typeface="Arial" panose="020B0604020202020204" pitchFamily="34" charset="0"/>
              <a:buChar char="•"/>
            </a:pPr>
            <a:r>
              <a:rPr lang="en-US" sz="2500" dirty="0">
                <a:latin typeface="Calibir"/>
              </a:rPr>
              <a:t>extends Exception → means this is a special type of error (inherits from Java’s built-in Exception).</a:t>
            </a:r>
          </a:p>
          <a:p>
            <a:pPr marL="342900" indent="-342900">
              <a:lnSpc>
                <a:spcPct val="150000"/>
              </a:lnSpc>
              <a:buFont typeface="Arial" panose="020B0604020202020204" pitchFamily="34" charset="0"/>
              <a:buChar char="•"/>
            </a:pPr>
            <a:r>
              <a:rPr lang="en-US" sz="2500" dirty="0">
                <a:latin typeface="Calibir"/>
              </a:rPr>
              <a:t>The constructor (public InvalidMarkException(String msg)) lets us send an error message to the parent Exception class using super(msg).</a:t>
            </a:r>
          </a:p>
        </p:txBody>
      </p:sp>
      <p:pic>
        <p:nvPicPr>
          <p:cNvPr id="3" name="Picture 2">
            <a:extLst>
              <a:ext uri="{FF2B5EF4-FFF2-40B4-BE49-F238E27FC236}">
                <a16:creationId xmlns:a16="http://schemas.microsoft.com/office/drawing/2014/main" id="{B46006E8-B1DD-A426-9322-B3BB8767158E}"/>
              </a:ext>
            </a:extLst>
          </p:cNvPr>
          <p:cNvPicPr>
            <a:picLocks noChangeAspect="1"/>
          </p:cNvPicPr>
          <p:nvPr/>
        </p:nvPicPr>
        <p:blipFill>
          <a:blip r:embed="rId2"/>
          <a:srcRect l="7500" r="40484" b="21291"/>
          <a:stretch>
            <a:fillRect/>
          </a:stretch>
        </p:blipFill>
        <p:spPr>
          <a:xfrm>
            <a:off x="-1" y="501449"/>
            <a:ext cx="7449015" cy="6340325"/>
          </a:xfrm>
          <a:prstGeom prst="rect">
            <a:avLst/>
          </a:prstGeom>
        </p:spPr>
      </p:pic>
      <p:sp>
        <p:nvSpPr>
          <p:cNvPr id="6" name="TextBox 5">
            <a:extLst>
              <a:ext uri="{FF2B5EF4-FFF2-40B4-BE49-F238E27FC236}">
                <a16:creationId xmlns:a16="http://schemas.microsoft.com/office/drawing/2014/main" id="{5E0BF68A-2DE9-6791-63A5-268F8311A146}"/>
              </a:ext>
            </a:extLst>
          </p:cNvPr>
          <p:cNvSpPr txBox="1"/>
          <p:nvPr/>
        </p:nvSpPr>
        <p:spPr>
          <a:xfrm>
            <a:off x="0" y="-5101"/>
            <a:ext cx="1887794" cy="477054"/>
          </a:xfrm>
          <a:prstGeom prst="rect">
            <a:avLst/>
          </a:prstGeom>
          <a:solidFill>
            <a:schemeClr val="bg1"/>
          </a:solidFill>
          <a:ln>
            <a:solidFill>
              <a:srgbClr val="FF0000"/>
            </a:solidFill>
          </a:ln>
        </p:spPr>
        <p:txBody>
          <a:bodyPr wrap="square" rtlCol="0">
            <a:spAutoFit/>
          </a:bodyPr>
          <a:lstStyle/>
          <a:p>
            <a:r>
              <a:rPr lang="en-US" sz="2500" dirty="0">
                <a:latin typeface="Calibir"/>
              </a:rPr>
              <a:t>Java Solution</a:t>
            </a:r>
          </a:p>
        </p:txBody>
      </p:sp>
    </p:spTree>
    <p:extLst>
      <p:ext uri="{BB962C8B-B14F-4D97-AF65-F5344CB8AC3E}">
        <p14:creationId xmlns:p14="http://schemas.microsoft.com/office/powerpoint/2010/main" val="2443514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0751-E46E-92F2-5377-D9AA9534A36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A2E2B7-04EA-E9A1-A0C7-1878BD4813F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F9B308E-8A54-A802-C7B2-A3D541255A0C}"/>
              </a:ext>
            </a:extLst>
          </p:cNvPr>
          <p:cNvSpPr txBox="1"/>
          <p:nvPr/>
        </p:nvSpPr>
        <p:spPr>
          <a:xfrm>
            <a:off x="8023123" y="1"/>
            <a:ext cx="4168877" cy="1964512"/>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Defines a class named </a:t>
            </a:r>
            <a:r>
              <a:rPr lang="en-US" sz="2800" dirty="0" err="1">
                <a:latin typeface="Calibir"/>
              </a:rPr>
              <a:t>TestMarks</a:t>
            </a:r>
            <a:r>
              <a:rPr lang="en-US" sz="2800" dirty="0">
                <a:latin typeface="Calibir"/>
              </a:rPr>
              <a:t>. This is where we test the marks.</a:t>
            </a:r>
          </a:p>
        </p:txBody>
      </p:sp>
      <p:sp>
        <p:nvSpPr>
          <p:cNvPr id="11" name="Rectangle: Rounded Corners 10">
            <a:extLst>
              <a:ext uri="{FF2B5EF4-FFF2-40B4-BE49-F238E27FC236}">
                <a16:creationId xmlns:a16="http://schemas.microsoft.com/office/drawing/2014/main" id="{276576E2-B6DF-DEC0-E0FC-C0FD205A8FA4}"/>
              </a:ext>
            </a:extLst>
          </p:cNvPr>
          <p:cNvSpPr/>
          <p:nvPr/>
        </p:nvSpPr>
        <p:spPr>
          <a:xfrm>
            <a:off x="0" y="1964513"/>
            <a:ext cx="7449015" cy="43235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95618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B1CB-E7E4-25E6-8E30-F464A3DA42F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96486B-F42A-DE11-40A7-B57C150ECA9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1A967BDA-DCCB-B447-2C5C-7ECF945E8846}"/>
              </a:ext>
            </a:extLst>
          </p:cNvPr>
          <p:cNvSpPr txBox="1"/>
          <p:nvPr/>
        </p:nvSpPr>
        <p:spPr>
          <a:xfrm>
            <a:off x="8023123" y="1"/>
            <a:ext cx="4168877" cy="675441"/>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Program starts here.</a:t>
            </a:r>
          </a:p>
        </p:txBody>
      </p:sp>
      <p:sp>
        <p:nvSpPr>
          <p:cNvPr id="11" name="Rectangle: Rounded Corners 10">
            <a:extLst>
              <a:ext uri="{FF2B5EF4-FFF2-40B4-BE49-F238E27FC236}">
                <a16:creationId xmlns:a16="http://schemas.microsoft.com/office/drawing/2014/main" id="{8D0E705E-3933-CC47-95B9-4C1A955C0611}"/>
              </a:ext>
            </a:extLst>
          </p:cNvPr>
          <p:cNvSpPr/>
          <p:nvPr/>
        </p:nvSpPr>
        <p:spPr>
          <a:xfrm>
            <a:off x="0" y="2359743"/>
            <a:ext cx="7449015" cy="3982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46609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5495D-C463-3481-0085-51948B09B5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EC29003-4ED2-BF9C-1A00-F0A5D19BF8DF}"/>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9414786-ED94-A13A-223B-5658B6C4CCFF}"/>
              </a:ext>
            </a:extLst>
          </p:cNvPr>
          <p:cNvSpPr txBox="1"/>
          <p:nvPr/>
        </p:nvSpPr>
        <p:spPr>
          <a:xfrm>
            <a:off x="8023123" y="1"/>
            <a:ext cx="4168877" cy="455342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Inside the try block, we test code that might cause an error.</a:t>
            </a:r>
          </a:p>
          <a:p>
            <a:pPr marL="457200" indent="-457200">
              <a:lnSpc>
                <a:spcPct val="150000"/>
              </a:lnSpc>
              <a:buFont typeface="Arial" panose="020B0604020202020204" pitchFamily="34" charset="0"/>
              <a:buChar char="•"/>
            </a:pPr>
            <a:r>
              <a:rPr lang="en-US" sz="2800" dirty="0">
                <a:latin typeface="Calibir"/>
              </a:rPr>
              <a:t>Here, the mark is set to 120 (which is invalid, since marks should be between 0–100).</a:t>
            </a:r>
          </a:p>
        </p:txBody>
      </p:sp>
      <p:sp>
        <p:nvSpPr>
          <p:cNvPr id="11" name="Rectangle: Rounded Corners 10">
            <a:extLst>
              <a:ext uri="{FF2B5EF4-FFF2-40B4-BE49-F238E27FC236}">
                <a16:creationId xmlns:a16="http://schemas.microsoft.com/office/drawing/2014/main" id="{A8AF3C62-3846-FC69-DAF2-AA06DE1524E8}"/>
              </a:ext>
            </a:extLst>
          </p:cNvPr>
          <p:cNvSpPr/>
          <p:nvPr/>
        </p:nvSpPr>
        <p:spPr>
          <a:xfrm>
            <a:off x="0" y="2684208"/>
            <a:ext cx="7449015" cy="74479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36567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13A7-58E0-0DEB-2EC0-44023E3375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1749025-8CDD-E6A3-2C1F-1BF21FDE36C5}"/>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E4512087-B0AE-A793-80BE-D162F8625B3A}"/>
              </a:ext>
            </a:extLst>
          </p:cNvPr>
          <p:cNvSpPr/>
          <p:nvPr/>
        </p:nvSpPr>
        <p:spPr>
          <a:xfrm>
            <a:off x="-1" y="3392130"/>
            <a:ext cx="10928555" cy="10028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7423713-2DB3-2F54-8542-8D3DB913C40B}"/>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less than 0 or more than 100 → throw our custom exception.</a:t>
            </a:r>
          </a:p>
          <a:p>
            <a:pPr marL="285750" indent="-285750">
              <a:lnSpc>
                <a:spcPct val="150000"/>
              </a:lnSpc>
              <a:buFont typeface="Arial" panose="020B0604020202020204" pitchFamily="34" charset="0"/>
              <a:buChar char="•"/>
            </a:pPr>
            <a:r>
              <a:rPr lang="en-US" sz="2500" dirty="0">
                <a:latin typeface="Calibir"/>
              </a:rPr>
              <a:t>"Mark out of range!" is the error message that goes with it.</a:t>
            </a:r>
          </a:p>
        </p:txBody>
      </p:sp>
    </p:spTree>
    <p:extLst>
      <p:ext uri="{BB962C8B-B14F-4D97-AF65-F5344CB8AC3E}">
        <p14:creationId xmlns:p14="http://schemas.microsoft.com/office/powerpoint/2010/main" val="7043559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7429E-1078-33FA-6BB6-A742E34183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1350D34-63D9-6111-B44F-8D93262B2176}"/>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00D652C-0F14-A26C-1CFD-2E4BACCE346F}"/>
              </a:ext>
            </a:extLst>
          </p:cNvPr>
          <p:cNvSpPr/>
          <p:nvPr/>
        </p:nvSpPr>
        <p:spPr>
          <a:xfrm>
            <a:off x="0" y="4409767"/>
            <a:ext cx="10928555"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AC9AA47-1939-EF21-E2A8-3851EAB775E4}"/>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valid, print it.</a:t>
            </a:r>
          </a:p>
          <a:p>
            <a:pPr marL="285750" indent="-285750">
              <a:lnSpc>
                <a:spcPct val="150000"/>
              </a:lnSpc>
              <a:buFont typeface="Arial" panose="020B0604020202020204" pitchFamily="34" charset="0"/>
              <a:buChar char="•"/>
            </a:pPr>
            <a:r>
              <a:rPr lang="en-US" sz="2500" dirty="0">
                <a:latin typeface="Calibir"/>
              </a:rPr>
              <a:t>(This line won’t run here, because the mark is invalid.)</a:t>
            </a:r>
          </a:p>
        </p:txBody>
      </p:sp>
    </p:spTree>
    <p:extLst>
      <p:ext uri="{BB962C8B-B14F-4D97-AF65-F5344CB8AC3E}">
        <p14:creationId xmlns:p14="http://schemas.microsoft.com/office/powerpoint/2010/main" val="33918584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E34-58C5-6882-0B20-B5630F32FC4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AD05A74-B7A6-951D-65AE-CFB6C84F75E2}"/>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9018237-6C8D-13F2-2940-BCF2B7681DE9}"/>
              </a:ext>
            </a:extLst>
          </p:cNvPr>
          <p:cNvSpPr/>
          <p:nvPr/>
        </p:nvSpPr>
        <p:spPr>
          <a:xfrm>
            <a:off x="0" y="4719483"/>
            <a:ext cx="10928555" cy="10913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2A4719-9BED-A924-1789-D91EE0451D75}"/>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an InvalidMarkException happens, we catch it and print the error message instead of crashing.</a:t>
            </a:r>
          </a:p>
        </p:txBody>
      </p:sp>
    </p:spTree>
    <p:extLst>
      <p:ext uri="{BB962C8B-B14F-4D97-AF65-F5344CB8AC3E}">
        <p14:creationId xmlns:p14="http://schemas.microsoft.com/office/powerpoint/2010/main" val="40568481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1B520-CCB6-13FC-50BE-FF6182884A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3C9FEA-F9B2-88D5-85DA-3273506900C1}"/>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3" name="TextBox 2">
            <a:extLst>
              <a:ext uri="{FF2B5EF4-FFF2-40B4-BE49-F238E27FC236}">
                <a16:creationId xmlns:a16="http://schemas.microsoft.com/office/drawing/2014/main" id="{E7477C8A-9A55-45CC-33EB-C4F41EDD2F5E}"/>
              </a:ext>
            </a:extLst>
          </p:cNvPr>
          <p:cNvSpPr txBox="1"/>
          <p:nvPr/>
        </p:nvSpPr>
        <p:spPr>
          <a:xfrm>
            <a:off x="1725560" y="5427407"/>
            <a:ext cx="10466439" cy="1563377"/>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Calibir"/>
              </a:rPr>
              <a:t>In short, this program shows how to make your own exception for a special rule (marks must be between 0–100). If someone tries an invalid mark, the program throws an error and prints a friendly message.</a:t>
            </a:r>
          </a:p>
        </p:txBody>
      </p:sp>
    </p:spTree>
    <p:extLst>
      <p:ext uri="{BB962C8B-B14F-4D97-AF65-F5344CB8AC3E}">
        <p14:creationId xmlns:p14="http://schemas.microsoft.com/office/powerpoint/2010/main" val="39204024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1A5D-F184-0A33-0EB8-5A6FB6C53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B3850C-F505-7F5A-631E-5D3D773887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AFA7F200-50B2-60C5-5817-4C045993A659}"/>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open(filename, mode) → open a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Opens a file so you can read/write.</a:t>
            </a:r>
          </a:p>
          <a:p>
            <a:pPr marL="457200" indent="-457200">
              <a:lnSpc>
                <a:spcPct val="150000"/>
              </a:lnSpc>
              <a:buFont typeface="Arial" panose="020B0604020202020204" pitchFamily="34" charset="0"/>
              <a:buChar char="•"/>
            </a:pPr>
            <a:r>
              <a:rPr lang="en-US" sz="2800" dirty="0">
                <a:latin typeface="Calibir"/>
              </a:rPr>
              <a:t>Example:</a:t>
            </a:r>
          </a:p>
        </p:txBody>
      </p:sp>
      <p:pic>
        <p:nvPicPr>
          <p:cNvPr id="7" name="Picture 6">
            <a:extLst>
              <a:ext uri="{FF2B5EF4-FFF2-40B4-BE49-F238E27FC236}">
                <a16:creationId xmlns:a16="http://schemas.microsoft.com/office/drawing/2014/main" id="{6FCF5AE2-585F-4C74-DB9A-58884B4A4713}"/>
              </a:ext>
            </a:extLst>
          </p:cNvPr>
          <p:cNvPicPr>
            <a:picLocks noChangeAspect="1"/>
          </p:cNvPicPr>
          <p:nvPr/>
        </p:nvPicPr>
        <p:blipFill>
          <a:blip r:embed="rId2"/>
          <a:srcRect t="9033" b="41935"/>
          <a:stretch>
            <a:fillRect/>
          </a:stretch>
        </p:blipFill>
        <p:spPr>
          <a:xfrm>
            <a:off x="1406012" y="4270941"/>
            <a:ext cx="9379975" cy="2587058"/>
          </a:xfrm>
          <a:prstGeom prst="rect">
            <a:avLst/>
          </a:prstGeom>
        </p:spPr>
      </p:pic>
      <p:sp>
        <p:nvSpPr>
          <p:cNvPr id="9" name="TextBox 8">
            <a:extLst>
              <a:ext uri="{FF2B5EF4-FFF2-40B4-BE49-F238E27FC236}">
                <a16:creationId xmlns:a16="http://schemas.microsoft.com/office/drawing/2014/main" id="{FB1382C0-FB38-E315-C4AC-8431042FF86A}"/>
              </a:ext>
            </a:extLst>
          </p:cNvPr>
          <p:cNvSpPr txBox="1"/>
          <p:nvPr/>
        </p:nvSpPr>
        <p:spPr>
          <a:xfrm>
            <a:off x="7020233" y="1084744"/>
            <a:ext cx="5171767" cy="1763944"/>
          </a:xfrm>
          <a:prstGeom prst="rect">
            <a:avLst/>
          </a:prstGeom>
          <a:solidFill>
            <a:schemeClr val="bg1"/>
          </a:solidFill>
          <a:ln>
            <a:solidFill>
              <a:srgbClr val="FF0000"/>
            </a:solidFill>
          </a:ln>
        </p:spPr>
        <p:txBody>
          <a:bodyPr wrap="square">
            <a:spAutoFit/>
          </a:bodyPr>
          <a:lstStyle/>
          <a:p>
            <a:pPr>
              <a:lnSpc>
                <a:spcPct val="150000"/>
              </a:lnSpc>
            </a:pPr>
            <a:r>
              <a:rPr lang="en-US" sz="2500" dirty="0">
                <a:latin typeface="Calibir"/>
              </a:rPr>
              <a:t>Make sure this Python file and data.txt are in the same folder, otherwise Python will not find the file.</a:t>
            </a:r>
          </a:p>
        </p:txBody>
      </p:sp>
      <p:pic>
        <p:nvPicPr>
          <p:cNvPr id="11" name="Picture 10">
            <a:extLst>
              <a:ext uri="{FF2B5EF4-FFF2-40B4-BE49-F238E27FC236}">
                <a16:creationId xmlns:a16="http://schemas.microsoft.com/office/drawing/2014/main" id="{46465C0A-AA54-B97B-F897-6C00885D166F}"/>
              </a:ext>
            </a:extLst>
          </p:cNvPr>
          <p:cNvPicPr>
            <a:picLocks noChangeAspect="1"/>
          </p:cNvPicPr>
          <p:nvPr/>
        </p:nvPicPr>
        <p:blipFill>
          <a:blip r:embed="rId3"/>
          <a:srcRect l="8830" t="35699" r="8791" b="48387"/>
          <a:stretch>
            <a:fillRect/>
          </a:stretch>
        </p:blipFill>
        <p:spPr>
          <a:xfrm>
            <a:off x="0" y="2848688"/>
            <a:ext cx="12192000" cy="1324829"/>
          </a:xfrm>
          <a:prstGeom prst="rect">
            <a:avLst/>
          </a:prstGeom>
        </p:spPr>
      </p:pic>
    </p:spTree>
    <p:extLst>
      <p:ext uri="{BB962C8B-B14F-4D97-AF65-F5344CB8AC3E}">
        <p14:creationId xmlns:p14="http://schemas.microsoft.com/office/powerpoint/2010/main" val="33788544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98CC5-76C8-4CA3-2384-3705BB23E8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320A6-37E7-6FA8-7FD6-25705D5575D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4FBD29D8-A55E-E18F-A672-3D927A7B0911}"/>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b="1" dirty="0">
                <a:latin typeface="Calibir"/>
              </a:rPr>
              <a:t>2. Modes (r, w, a, b, 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 → read</a:t>
            </a:r>
          </a:p>
          <a:p>
            <a:pPr marL="914400" lvl="1" indent="-457200">
              <a:lnSpc>
                <a:spcPct val="150000"/>
              </a:lnSpc>
              <a:buFont typeface="Arial" panose="020B0604020202020204" pitchFamily="34" charset="0"/>
              <a:buChar char="•"/>
            </a:pPr>
            <a:r>
              <a:rPr lang="en-US" sz="2800" dirty="0">
                <a:latin typeface="Calibir"/>
              </a:rPr>
              <a:t>w → write (overwrite file)</a:t>
            </a:r>
          </a:p>
          <a:p>
            <a:pPr marL="914400" lvl="1" indent="-457200">
              <a:lnSpc>
                <a:spcPct val="150000"/>
              </a:lnSpc>
              <a:buFont typeface="Arial" panose="020B0604020202020204" pitchFamily="34" charset="0"/>
              <a:buChar char="•"/>
            </a:pPr>
            <a:r>
              <a:rPr lang="en-US" sz="2800" dirty="0">
                <a:latin typeface="Calibir"/>
              </a:rPr>
              <a:t>a → append (add to file)</a:t>
            </a:r>
          </a:p>
          <a:p>
            <a:pPr marL="914400" lvl="1" indent="-457200">
              <a:lnSpc>
                <a:spcPct val="150000"/>
              </a:lnSpc>
              <a:buFont typeface="Arial" panose="020B0604020202020204" pitchFamily="34" charset="0"/>
              <a:buChar char="•"/>
            </a:pPr>
            <a:r>
              <a:rPr lang="en-US" sz="2800" dirty="0">
                <a:latin typeface="Calibir"/>
              </a:rPr>
              <a:t>b → binary mode</a:t>
            </a:r>
          </a:p>
          <a:p>
            <a:pPr marL="914400" lvl="1" indent="-457200">
              <a:lnSpc>
                <a:spcPct val="150000"/>
              </a:lnSpc>
              <a:buFont typeface="Arial" panose="020B0604020202020204" pitchFamily="34" charset="0"/>
              <a:buChar char="•"/>
            </a:pPr>
            <a:r>
              <a:rPr lang="en-US" sz="2800" dirty="0">
                <a:latin typeface="Calibir"/>
              </a:rPr>
              <a:t>t → text mode (default)</a:t>
            </a:r>
          </a:p>
          <a:p>
            <a:pPr>
              <a:lnSpc>
                <a:spcPct val="150000"/>
              </a:lnSpc>
            </a:pPr>
            <a:r>
              <a:rPr lang="en-US" sz="2800" dirty="0">
                <a:latin typeface="Calibir"/>
              </a:rPr>
              <a:t>Example:</a:t>
            </a:r>
          </a:p>
        </p:txBody>
      </p:sp>
      <p:pic>
        <p:nvPicPr>
          <p:cNvPr id="8" name="Picture 7">
            <a:extLst>
              <a:ext uri="{FF2B5EF4-FFF2-40B4-BE49-F238E27FC236}">
                <a16:creationId xmlns:a16="http://schemas.microsoft.com/office/drawing/2014/main" id="{2E85C458-BEFA-A35E-1F33-88AF8476B02B}"/>
              </a:ext>
            </a:extLst>
          </p:cNvPr>
          <p:cNvPicPr>
            <a:picLocks noChangeAspect="1"/>
          </p:cNvPicPr>
          <p:nvPr/>
        </p:nvPicPr>
        <p:blipFill>
          <a:blip r:embed="rId2"/>
          <a:srcRect l="7984" t="65161" r="27903" b="16990"/>
          <a:stretch>
            <a:fillRect/>
          </a:stretch>
        </p:blipFill>
        <p:spPr>
          <a:xfrm>
            <a:off x="0" y="5191431"/>
            <a:ext cx="10943303" cy="1713764"/>
          </a:xfrm>
          <a:prstGeom prst="rect">
            <a:avLst/>
          </a:prstGeom>
        </p:spPr>
      </p:pic>
    </p:spTree>
    <p:extLst>
      <p:ext uri="{BB962C8B-B14F-4D97-AF65-F5344CB8AC3E}">
        <p14:creationId xmlns:p14="http://schemas.microsoft.com/office/powerpoint/2010/main" val="3444035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035D-2291-67B9-8601-F43CD33C8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58342-5A02-9C60-8D11-73E7B1DC637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DC13B90-2330-27A2-173C-557B10DB3915}"/>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0951123D-E63A-9ED4-B757-7F30F0185AF0}"/>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12" name="TextBox 11">
            <a:extLst>
              <a:ext uri="{FF2B5EF4-FFF2-40B4-BE49-F238E27FC236}">
                <a16:creationId xmlns:a16="http://schemas.microsoft.com/office/drawing/2014/main" id="{E549B4D8-DFB5-3395-FD53-1421D21F54A8}"/>
              </a:ext>
            </a:extLst>
          </p:cNvPr>
          <p:cNvSpPr txBox="1"/>
          <p:nvPr/>
        </p:nvSpPr>
        <p:spPr>
          <a:xfrm>
            <a:off x="-10432" y="3717522"/>
            <a:ext cx="12192000" cy="1318181"/>
          </a:xfrm>
          <a:prstGeom prst="rect">
            <a:avLst/>
          </a:prstGeom>
          <a:noFill/>
        </p:spPr>
        <p:txBody>
          <a:bodyPr wrap="square">
            <a:spAutoFit/>
          </a:bodyPr>
          <a:lstStyle/>
          <a:p>
            <a:pPr>
              <a:lnSpc>
                <a:spcPct val="150000"/>
              </a:lnSpc>
            </a:pPr>
            <a:r>
              <a:rPr lang="en-US" sz="2800" dirty="0">
                <a:latin typeface="Calibir"/>
              </a:rPr>
              <a:t>In this example (with open("data.txt", "r") as f:), the file closes automatically because of Python’s context manager (with statement).</a:t>
            </a:r>
          </a:p>
        </p:txBody>
      </p:sp>
    </p:spTree>
    <p:extLst>
      <p:ext uri="{BB962C8B-B14F-4D97-AF65-F5344CB8AC3E}">
        <p14:creationId xmlns:p14="http://schemas.microsoft.com/office/powerpoint/2010/main" val="8927026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8E0A0-37E5-4991-8AD9-3469E6F8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62DA6-CE01-51A6-776C-00AFEE8527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8E17E552-BC43-2E61-B19A-A9E82ED669F6}"/>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34B3B2C1-721C-775F-17B8-F88D922C096A}"/>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83611B28-9905-AD55-DEBC-2F68D75E63DA}"/>
              </a:ext>
            </a:extLst>
          </p:cNvPr>
          <p:cNvSpPr txBox="1"/>
          <p:nvPr/>
        </p:nvSpPr>
        <p:spPr>
          <a:xfrm>
            <a:off x="0" y="3722387"/>
            <a:ext cx="12192000" cy="3031086"/>
          </a:xfrm>
          <a:prstGeom prst="rect">
            <a:avLst/>
          </a:prstGeom>
          <a:noFill/>
        </p:spPr>
        <p:txBody>
          <a:bodyPr wrap="square">
            <a:spAutoFit/>
          </a:bodyPr>
          <a:lstStyle/>
          <a:p>
            <a:pPr>
              <a:lnSpc>
                <a:spcPct val="150000"/>
              </a:lnSpc>
              <a:buNone/>
            </a:pPr>
            <a:r>
              <a:rPr lang="en-US" sz="2600" b="1" dirty="0">
                <a:latin typeface="Calibir"/>
              </a:rPr>
              <a:t>How it works</a:t>
            </a:r>
          </a:p>
          <a:p>
            <a:pPr marL="800100" lvl="1" indent="-342900">
              <a:lnSpc>
                <a:spcPct val="150000"/>
              </a:lnSpc>
              <a:buFont typeface="Arial" panose="020B0604020202020204" pitchFamily="34" charset="0"/>
              <a:buChar char="•"/>
            </a:pPr>
            <a:r>
              <a:rPr lang="en-US" sz="2600" dirty="0">
                <a:latin typeface="Calibir"/>
              </a:rPr>
              <a:t>with statement creates a </a:t>
            </a:r>
            <a:r>
              <a:rPr lang="en-US" sz="2600" i="1" dirty="0">
                <a:latin typeface="Calibir"/>
              </a:rPr>
              <a:t>temporary context</a:t>
            </a:r>
            <a:r>
              <a:rPr lang="en-US" sz="2600" dirty="0">
                <a:latin typeface="Calibir"/>
              </a:rPr>
              <a:t> (a safe block).</a:t>
            </a:r>
          </a:p>
          <a:p>
            <a:pPr marL="800100" lvl="1" indent="-342900">
              <a:lnSpc>
                <a:spcPct val="150000"/>
              </a:lnSpc>
              <a:buFont typeface="Arial" panose="020B0604020202020204" pitchFamily="34" charset="0"/>
              <a:buChar char="•"/>
            </a:pPr>
            <a:r>
              <a:rPr lang="en-US" sz="2600" dirty="0">
                <a:latin typeface="Calibir"/>
              </a:rPr>
              <a:t>When you enter the block → Python opens the file and assigns it to f.</a:t>
            </a:r>
          </a:p>
          <a:p>
            <a:pPr marL="800100" lvl="1" indent="-342900">
              <a:lnSpc>
                <a:spcPct val="150000"/>
              </a:lnSpc>
              <a:buFont typeface="Arial" panose="020B0604020202020204" pitchFamily="34" charset="0"/>
              <a:buChar char="•"/>
            </a:pPr>
            <a:r>
              <a:rPr lang="en-US" sz="2600" dirty="0">
                <a:latin typeface="Calibir"/>
              </a:rPr>
              <a:t>When you leave the block (after the indented lines finish) → Python automatically calls f.close() behind the scenes, even if an error happens.</a:t>
            </a:r>
          </a:p>
        </p:txBody>
      </p:sp>
    </p:spTree>
    <p:extLst>
      <p:ext uri="{BB962C8B-B14F-4D97-AF65-F5344CB8AC3E}">
        <p14:creationId xmlns:p14="http://schemas.microsoft.com/office/powerpoint/2010/main" val="21084297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C595A-8926-A944-D2FE-D1BBE396D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696163-9213-2EC0-07A0-7AD60DDAAB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1689A0C-19A4-70C9-1C62-F4836D6D9FDA}"/>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702CA895-8FB1-7E63-8F9B-E4269E91C2D2}"/>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13F08D7E-112D-0599-6366-F6360EA0566F}"/>
              </a:ext>
            </a:extLst>
          </p:cNvPr>
          <p:cNvSpPr txBox="1"/>
          <p:nvPr/>
        </p:nvSpPr>
        <p:spPr>
          <a:xfrm>
            <a:off x="0" y="3722387"/>
            <a:ext cx="12192000" cy="2610843"/>
          </a:xfrm>
          <a:prstGeom prst="rect">
            <a:avLst/>
          </a:prstGeom>
          <a:noFill/>
        </p:spPr>
        <p:txBody>
          <a:bodyPr wrap="square">
            <a:spAutoFit/>
          </a:bodyPr>
          <a:lstStyle/>
          <a:p>
            <a:pPr>
              <a:lnSpc>
                <a:spcPct val="150000"/>
              </a:lnSpc>
            </a:pPr>
            <a:r>
              <a:rPr lang="en-US" sz="2800" b="1" dirty="0">
                <a:latin typeface="Calibir"/>
              </a:rPr>
              <a:t>Why it’s safer</a:t>
            </a:r>
          </a:p>
          <a:p>
            <a:pPr marL="914400" lvl="1" indent="-457200">
              <a:lnSpc>
                <a:spcPct val="150000"/>
              </a:lnSpc>
              <a:buFont typeface="Arial" panose="020B0604020202020204" pitchFamily="34" charset="0"/>
              <a:buChar char="•"/>
            </a:pPr>
            <a:r>
              <a:rPr lang="en-US" sz="2800" dirty="0">
                <a:latin typeface="Calibir"/>
              </a:rPr>
              <a:t>You don’t have to remember to call f.close().</a:t>
            </a:r>
          </a:p>
          <a:p>
            <a:pPr marL="914400" lvl="1" indent="-457200">
              <a:lnSpc>
                <a:spcPct val="150000"/>
              </a:lnSpc>
              <a:buFont typeface="Arial" panose="020B0604020202020204" pitchFamily="34" charset="0"/>
              <a:buChar char="•"/>
            </a:pPr>
            <a:r>
              <a:rPr lang="en-US" sz="2800" dirty="0">
                <a:latin typeface="Calibir"/>
              </a:rPr>
              <a:t>Prevents memory leaks or locked files.</a:t>
            </a:r>
          </a:p>
          <a:p>
            <a:pPr marL="914400" lvl="1" indent="-457200">
              <a:lnSpc>
                <a:spcPct val="150000"/>
              </a:lnSpc>
              <a:buFont typeface="Arial" panose="020B0604020202020204" pitchFamily="34" charset="0"/>
              <a:buChar char="•"/>
            </a:pPr>
            <a:r>
              <a:rPr lang="en-US" sz="2800" dirty="0">
                <a:latin typeface="Calibir"/>
              </a:rPr>
              <a:t>Good habit in real projects (always use with).</a:t>
            </a:r>
          </a:p>
        </p:txBody>
      </p:sp>
    </p:spTree>
    <p:extLst>
      <p:ext uri="{BB962C8B-B14F-4D97-AF65-F5344CB8AC3E}">
        <p14:creationId xmlns:p14="http://schemas.microsoft.com/office/powerpoint/2010/main" val="28489154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3F03D-952E-04EC-C608-4B3278C62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E3286-485B-64B5-8B2F-8D0C6E1617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1AFF7F29-3337-0EBD-46CF-8334E7401887}"/>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832DDB65-E37B-EE85-0AF3-23B045035AF9}"/>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7A017F1B-CBB3-CE1C-50B3-38F9A99893DA}"/>
              </a:ext>
            </a:extLst>
          </p:cNvPr>
          <p:cNvSpPr txBox="1"/>
          <p:nvPr/>
        </p:nvSpPr>
        <p:spPr>
          <a:xfrm>
            <a:off x="0" y="3722387"/>
            <a:ext cx="12192000" cy="3257174"/>
          </a:xfrm>
          <a:prstGeom prst="rect">
            <a:avLst/>
          </a:prstGeom>
          <a:noFill/>
        </p:spPr>
        <p:txBody>
          <a:bodyPr wrap="square">
            <a:spAutoFit/>
          </a:bodyPr>
          <a:lstStyle/>
          <a:p>
            <a:pPr>
              <a:lnSpc>
                <a:spcPct val="150000"/>
              </a:lnSpc>
            </a:pPr>
            <a:r>
              <a:rPr lang="en-US" sz="2800" b="1" dirty="0">
                <a:latin typeface="Calibir"/>
              </a:rPr>
              <a:t>Analogy (UTS Library):</a:t>
            </a:r>
          </a:p>
          <a:p>
            <a:pPr>
              <a:lnSpc>
                <a:spcPct val="150000"/>
              </a:lnSpc>
            </a:pPr>
            <a:r>
              <a:rPr lang="en-US" sz="2800" dirty="0">
                <a:latin typeface="Calibir"/>
              </a:rPr>
              <a:t>It’s like using a library study room with auto-lock.</a:t>
            </a:r>
          </a:p>
          <a:p>
            <a:pPr marL="914400" lvl="1" indent="-457200">
              <a:lnSpc>
                <a:spcPct val="150000"/>
              </a:lnSpc>
              <a:buFont typeface="Arial" panose="020B0604020202020204" pitchFamily="34" charset="0"/>
              <a:buChar char="•"/>
            </a:pPr>
            <a:r>
              <a:rPr lang="en-US" sz="2800" dirty="0">
                <a:latin typeface="Calibir"/>
              </a:rPr>
              <a:t>You borrow the book (open).</a:t>
            </a:r>
          </a:p>
          <a:p>
            <a:pPr marL="914400" lvl="1" indent="-457200">
              <a:lnSpc>
                <a:spcPct val="150000"/>
              </a:lnSpc>
              <a:buFont typeface="Arial" panose="020B0604020202020204" pitchFamily="34" charset="0"/>
              <a:buChar char="•"/>
            </a:pPr>
            <a:r>
              <a:rPr lang="en-US" sz="2800" dirty="0">
                <a:latin typeface="Calibir"/>
              </a:rPr>
              <a:t>You use it (read/write).</a:t>
            </a:r>
          </a:p>
          <a:p>
            <a:pPr marL="914400" lvl="1" indent="-457200">
              <a:lnSpc>
                <a:spcPct val="150000"/>
              </a:lnSpc>
              <a:buFont typeface="Arial" panose="020B0604020202020204" pitchFamily="34" charset="0"/>
              <a:buChar char="•"/>
            </a:pPr>
            <a:r>
              <a:rPr lang="en-US" sz="2800" dirty="0">
                <a:latin typeface="Calibir"/>
              </a:rPr>
              <a:t>When you leave the room, the door auto-locks (Python auto-closes file).</a:t>
            </a:r>
          </a:p>
        </p:txBody>
      </p:sp>
    </p:spTree>
    <p:extLst>
      <p:ext uri="{BB962C8B-B14F-4D97-AF65-F5344CB8AC3E}">
        <p14:creationId xmlns:p14="http://schemas.microsoft.com/office/powerpoint/2010/main" val="32995739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072-3452-300A-C240-BB641EE54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C38081-463D-9CCC-383D-67CBA172BD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EAD30917-3739-22E8-6436-81CC602053F0}"/>
              </a:ext>
            </a:extLst>
          </p:cNvPr>
          <p:cNvSpPr txBox="1"/>
          <p:nvPr/>
        </p:nvSpPr>
        <p:spPr>
          <a:xfrm>
            <a:off x="0" y="600544"/>
            <a:ext cx="11965258" cy="3257174"/>
          </a:xfrm>
          <a:prstGeom prst="rect">
            <a:avLst/>
          </a:prstGeom>
          <a:noFill/>
        </p:spPr>
        <p:txBody>
          <a:bodyPr wrap="square">
            <a:spAutoFit/>
          </a:bodyPr>
          <a:lstStyle/>
          <a:p>
            <a:pPr>
              <a:lnSpc>
                <a:spcPct val="150000"/>
              </a:lnSpc>
            </a:pPr>
            <a:r>
              <a:rPr lang="en-US" sz="2800" b="1" dirty="0">
                <a:latin typeface="Calibir"/>
              </a:rPr>
              <a:t>1. Streams → byte-based data flows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Think of a stream like a pipeline that carries data, one piece at a time.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Byte streams handle raw data (good for files like images, audio, videos).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Reads or writes byte by byte (not very efficient for big files, but good for low-level control). Java </a:t>
            </a:r>
            <a:r>
              <a:rPr lang="en-US" sz="2800" dirty="0">
                <a:latin typeface="Calibir"/>
              </a:rPr>
              <a:t>Example:</a:t>
            </a:r>
          </a:p>
        </p:txBody>
      </p:sp>
      <p:pic>
        <p:nvPicPr>
          <p:cNvPr id="9" name="Picture 8">
            <a:extLst>
              <a:ext uri="{FF2B5EF4-FFF2-40B4-BE49-F238E27FC236}">
                <a16:creationId xmlns:a16="http://schemas.microsoft.com/office/drawing/2014/main" id="{44FF83E4-8C16-DDA4-136B-8666A38C4CE5}"/>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
        <p:nvSpPr>
          <p:cNvPr id="6" name="TextBox 5">
            <a:extLst>
              <a:ext uri="{FF2B5EF4-FFF2-40B4-BE49-F238E27FC236}">
                <a16:creationId xmlns:a16="http://schemas.microsoft.com/office/drawing/2014/main" id="{355BBA11-0454-3C24-98AB-48DE3C45F3EF}"/>
              </a:ext>
            </a:extLst>
          </p:cNvPr>
          <p:cNvSpPr txBox="1"/>
          <p:nvPr/>
        </p:nvSpPr>
        <p:spPr>
          <a:xfrm>
            <a:off x="0" y="5421831"/>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Analogy: </a:t>
            </a:r>
            <a:r>
              <a:rPr lang="en-US" sz="2800" dirty="0">
                <a:latin typeface="Calibir"/>
              </a:rPr>
              <a:t>It’s like drinking water through a straw – you get one sip (byte) at a time, not the whole bottle.</a:t>
            </a:r>
          </a:p>
        </p:txBody>
      </p:sp>
    </p:spTree>
    <p:extLst>
      <p:ext uri="{BB962C8B-B14F-4D97-AF65-F5344CB8AC3E}">
        <p14:creationId xmlns:p14="http://schemas.microsoft.com/office/powerpoint/2010/main" val="21609372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89506-78C3-9F7E-A8F5-DA338B12D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BEB6C2-CBB3-4E72-4A17-1C45FEC6029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78C78C65-F8EB-16FC-D79F-CBE84EEB7D5B}"/>
              </a:ext>
            </a:extLst>
          </p:cNvPr>
          <p:cNvSpPr txBox="1"/>
          <p:nvPr/>
        </p:nvSpPr>
        <p:spPr>
          <a:xfrm>
            <a:off x="0" y="887545"/>
            <a:ext cx="11965258" cy="1318181"/>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 / </a:t>
            </a:r>
            <a:r>
              <a:rPr lang="en-US" altLang="en-US" sz="2800" dirty="0" err="1">
                <a:latin typeface="Calibir"/>
              </a:rPr>
              <a:t>FileOutputStream</a:t>
            </a:r>
            <a:r>
              <a:rPr lang="en-US" altLang="en-US" sz="2800" dirty="0">
                <a:latin typeface="Calibir"/>
              </a:rPr>
              <a:t> for binary files (e.g., images, audio).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text files, it’s better to use Readers/Writers (character-based).</a:t>
            </a:r>
          </a:p>
        </p:txBody>
      </p:sp>
      <p:pic>
        <p:nvPicPr>
          <p:cNvPr id="9" name="Picture 8">
            <a:extLst>
              <a:ext uri="{FF2B5EF4-FFF2-40B4-BE49-F238E27FC236}">
                <a16:creationId xmlns:a16="http://schemas.microsoft.com/office/drawing/2014/main" id="{7AFC0862-C82C-7CF3-8417-0CE385804702}"/>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Tree>
    <p:extLst>
      <p:ext uri="{BB962C8B-B14F-4D97-AF65-F5344CB8AC3E}">
        <p14:creationId xmlns:p14="http://schemas.microsoft.com/office/powerpoint/2010/main" val="6845473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C90E8-3E50-EE86-0A80-FECC40431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5080-3925-60CE-179E-061605D4569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1FD1A52E-2AC7-712D-EDCA-36892B0BFAA6}"/>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D2BFDD76-2353-5EC0-63BA-B7950F814900}"/>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1B5C36A0-F21A-5030-973A-2C2E5A1E41D2}"/>
              </a:ext>
            </a:extLst>
          </p:cNvPr>
          <p:cNvSpPr txBox="1"/>
          <p:nvPr/>
        </p:nvSpPr>
        <p:spPr>
          <a:xfrm>
            <a:off x="-10432" y="4786792"/>
            <a:ext cx="11975690" cy="2071208"/>
          </a:xfrm>
          <a:prstGeom prst="rect">
            <a:avLst/>
          </a:prstGeom>
          <a:noFill/>
        </p:spPr>
        <p:txBody>
          <a:bodyPr wrap="square">
            <a:spAutoFit/>
          </a:bodyPr>
          <a:lstStyle/>
          <a:p>
            <a:pPr>
              <a:lnSpc>
                <a:spcPct val="150000"/>
              </a:lnSpc>
              <a:buNone/>
            </a:pPr>
            <a:r>
              <a:rPr lang="en-US" sz="2200" b="1" dirty="0">
                <a:latin typeface="Calibir"/>
              </a:rPr>
              <a:t>Analogy:</a:t>
            </a:r>
            <a:br>
              <a:rPr lang="en-US" sz="2200" dirty="0">
                <a:latin typeface="Calibir"/>
              </a:rPr>
            </a:br>
            <a:r>
              <a:rPr lang="en-US" sz="2200" dirty="0">
                <a:latin typeface="Calibir"/>
              </a:rPr>
              <a:t>Think of a water pipe system:</a:t>
            </a:r>
          </a:p>
          <a:p>
            <a:pPr marL="342900" indent="-342900">
              <a:lnSpc>
                <a:spcPct val="150000"/>
              </a:lnSpc>
              <a:buFont typeface="Arial" panose="020B0604020202020204" pitchFamily="34" charset="0"/>
              <a:buChar char="•"/>
            </a:pPr>
            <a:r>
              <a:rPr lang="en-US" sz="2200" dirty="0" err="1">
                <a:latin typeface="Calibir"/>
              </a:rPr>
              <a:t>InputStream</a:t>
            </a:r>
            <a:r>
              <a:rPr lang="en-US" sz="2200" dirty="0">
                <a:latin typeface="Calibir"/>
              </a:rPr>
              <a:t> = water coming into your house (reading data).</a:t>
            </a:r>
          </a:p>
          <a:p>
            <a:pPr marL="342900" indent="-342900">
              <a:lnSpc>
                <a:spcPct val="150000"/>
              </a:lnSpc>
              <a:buFont typeface="Arial" panose="020B0604020202020204" pitchFamily="34" charset="0"/>
              <a:buChar char="•"/>
            </a:pPr>
            <a:r>
              <a:rPr lang="en-US" sz="2200" dirty="0" err="1">
                <a:latin typeface="Calibir"/>
              </a:rPr>
              <a:t>OutputStream</a:t>
            </a:r>
            <a:r>
              <a:rPr lang="en-US" sz="2200" dirty="0">
                <a:latin typeface="Calibir"/>
              </a:rPr>
              <a:t> = water going out of your house (writing data).</a:t>
            </a:r>
          </a:p>
        </p:txBody>
      </p:sp>
    </p:spTree>
    <p:extLst>
      <p:ext uri="{BB962C8B-B14F-4D97-AF65-F5344CB8AC3E}">
        <p14:creationId xmlns:p14="http://schemas.microsoft.com/office/powerpoint/2010/main" val="41159357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5D0AF-43B9-EECC-7948-3F202F413F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658E3-E1A7-9FBC-C792-C5D6E3EF20E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C8DA3887-9A11-C9C1-A073-5F2FAB7C5C37}"/>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CF04DB4A-6AD8-0E6A-16E9-EAA7665E0AA5}"/>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CFBBEC61-AB16-9178-4C58-5A66C3D80FCF}"/>
              </a:ext>
            </a:extLst>
          </p:cNvPr>
          <p:cNvSpPr txBox="1"/>
          <p:nvPr/>
        </p:nvSpPr>
        <p:spPr>
          <a:xfrm>
            <a:off x="-10432" y="4786792"/>
            <a:ext cx="11975690"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err="1">
                <a:latin typeface="Calibir"/>
              </a:rPr>
              <a:t>out.write</a:t>
            </a:r>
            <a:r>
              <a:rPr lang="en-US" altLang="en-US" sz="2800" dirty="0">
                <a:latin typeface="Calibir"/>
              </a:rPr>
              <a:t>(65) writes the ASCII code 65, which is the letter 'A'.</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Streams only handle bytes → good for binary files, not ideal for text (use Readers/Writers for that).</a:t>
            </a:r>
          </a:p>
        </p:txBody>
      </p:sp>
    </p:spTree>
    <p:extLst>
      <p:ext uri="{BB962C8B-B14F-4D97-AF65-F5344CB8AC3E}">
        <p14:creationId xmlns:p14="http://schemas.microsoft.com/office/powerpoint/2010/main" val="27827092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96A0-B7C8-E53A-4677-9C1E3866D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4AB443-5043-0BCA-BC63-71AB9D65BC8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BFC0A191-88AA-337D-D3F8-0E0273704922}"/>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B2A1C9B1-8166-D178-5503-8239CE86567C}"/>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E0F6A837-3113-A2D3-989F-A96B05CADC52}"/>
              </a:ext>
            </a:extLst>
          </p:cNvPr>
          <p:cNvSpPr txBox="1"/>
          <p:nvPr/>
        </p:nvSpPr>
        <p:spPr>
          <a:xfrm>
            <a:off x="-10432" y="5117691"/>
            <a:ext cx="12192000" cy="1763944"/>
          </a:xfrm>
          <a:prstGeom prst="rect">
            <a:avLst/>
          </a:prstGeom>
          <a:solidFill>
            <a:schemeClr val="bg1"/>
          </a:solidFill>
          <a:ln>
            <a:solidFill>
              <a:srgbClr val="FF0000"/>
            </a:solidFill>
          </a:ln>
        </p:spPr>
        <p:txBody>
          <a:bodyPr wrap="square">
            <a:spAutoFit/>
          </a:bodyPr>
          <a:lstStyle/>
          <a:p>
            <a:pPr>
              <a:lnSpc>
                <a:spcPct val="150000"/>
              </a:lnSpc>
            </a:pPr>
            <a:r>
              <a:rPr lang="en-US" sz="2500" b="1" dirty="0">
                <a:latin typeface="Calibir"/>
              </a:rPr>
              <a:t>Analogy:</a:t>
            </a:r>
          </a:p>
          <a:p>
            <a:pPr marL="342900" indent="-342900">
              <a:lnSpc>
                <a:spcPct val="150000"/>
              </a:lnSpc>
              <a:buFont typeface="Arial" panose="020B0604020202020204" pitchFamily="34" charset="0"/>
              <a:buChar char="•"/>
            </a:pPr>
            <a:r>
              <a:rPr lang="en-US" sz="2500" dirty="0">
                <a:latin typeface="Calibir"/>
              </a:rPr>
              <a:t>Think of Streams as moving Lego blocks (bytes) one by one.</a:t>
            </a:r>
          </a:p>
          <a:p>
            <a:pPr marL="342900" indent="-342900">
              <a:lnSpc>
                <a:spcPct val="150000"/>
              </a:lnSpc>
              <a:buFont typeface="Arial" panose="020B0604020202020204" pitchFamily="34" charset="0"/>
              <a:buChar char="•"/>
            </a:pPr>
            <a:r>
              <a:rPr lang="en-US" sz="2500" dirty="0">
                <a:latin typeface="Calibir"/>
              </a:rPr>
              <a:t>Readers/Writers are smarter – they understand letters and words, not just blocks.</a:t>
            </a:r>
          </a:p>
        </p:txBody>
      </p:sp>
    </p:spTree>
    <p:extLst>
      <p:ext uri="{BB962C8B-B14F-4D97-AF65-F5344CB8AC3E}">
        <p14:creationId xmlns:p14="http://schemas.microsoft.com/office/powerpoint/2010/main" val="23890687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4D8AF-4E66-1441-79D8-F653D2693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98A11-8660-79B8-7598-F3E1577CA60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444F3049-BE62-0A82-1002-2B0F6E14628C}"/>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A4DD6217-3A08-D7EB-7C24-080AE5FB0B5B}"/>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911D6457-7176-241D-E189-C10BA1D4E65C}"/>
              </a:ext>
            </a:extLst>
          </p:cNvPr>
          <p:cNvSpPr txBox="1"/>
          <p:nvPr/>
        </p:nvSpPr>
        <p:spPr>
          <a:xfrm>
            <a:off x="-10432" y="5117691"/>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FileReader/</a:t>
            </a:r>
            <a:r>
              <a:rPr lang="en-US" altLang="en-US" sz="2800" dirty="0" err="1">
                <a:latin typeface="Calibir"/>
              </a:rPr>
              <a:t>FileWriter</a:t>
            </a:r>
            <a:r>
              <a:rPr lang="en-US" altLang="en-US" sz="2800" dirty="0">
                <a:latin typeface="Calibir"/>
              </a:rPr>
              <a:t> for text files (like .txt).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a:t>
            </a:r>
            <a:r>
              <a:rPr lang="en-US" altLang="en-US" sz="2800" dirty="0" err="1">
                <a:latin typeface="Calibir"/>
              </a:rPr>
              <a:t>FileOutputStream</a:t>
            </a:r>
            <a:r>
              <a:rPr lang="en-US" altLang="en-US" sz="2800" dirty="0">
                <a:latin typeface="Calibir"/>
              </a:rPr>
              <a:t> for binary files (like .jpg, .mp3).</a:t>
            </a:r>
          </a:p>
        </p:txBody>
      </p:sp>
    </p:spTree>
    <p:extLst>
      <p:ext uri="{BB962C8B-B14F-4D97-AF65-F5344CB8AC3E}">
        <p14:creationId xmlns:p14="http://schemas.microsoft.com/office/powerpoint/2010/main" val="2411725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D835-799C-B181-9BBD-15C4D3C45D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71499-0659-8E10-7F4D-1A3602139F0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1F5B93DC-30DB-0821-8A4C-E80CA9FC8E69}"/>
              </a:ext>
            </a:extLst>
          </p:cNvPr>
          <p:cNvSpPr txBox="1"/>
          <p:nvPr/>
        </p:nvSpPr>
        <p:spPr>
          <a:xfrm>
            <a:off x="0" y="756745"/>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os.path.exists("file.txt")</a:t>
            </a:r>
            <a:r>
              <a:rPr lang="en-US" altLang="en-US" sz="2800" dirty="0">
                <a:latin typeface="Calibir"/>
              </a:rPr>
              <a:t> → check if file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os.remove</a:t>
            </a:r>
            <a:r>
              <a:rPr lang="en-US" altLang="en-US" sz="2800" b="1" dirty="0">
                <a:latin typeface="Calibir"/>
              </a:rPr>
              <a:t>("file.txt")</a:t>
            </a:r>
            <a:r>
              <a:rPr lang="en-US" altLang="en-US" sz="2800" dirty="0">
                <a:latin typeface="Calibir"/>
              </a:rPr>
              <a:t> → delete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os.mkdir</a:t>
            </a:r>
            <a:r>
              <a:rPr lang="en-US" altLang="en-US" sz="2800" b="1" dirty="0">
                <a:latin typeface="Calibir"/>
              </a:rPr>
              <a:t>("</a:t>
            </a:r>
            <a:r>
              <a:rPr lang="en-US" altLang="en-US" sz="2800" b="1" dirty="0" err="1">
                <a:latin typeface="Calibir"/>
              </a:rPr>
              <a:t>new_folder</a:t>
            </a:r>
            <a:r>
              <a:rPr lang="en-US" altLang="en-US" sz="2800" b="1" dirty="0">
                <a:latin typeface="Calibir"/>
              </a:rPr>
              <a:t>")</a:t>
            </a:r>
            <a:r>
              <a:rPr lang="en-US" altLang="en-US" sz="2800" dirty="0">
                <a:latin typeface="Calibir"/>
              </a:rPr>
              <a:t> → make new folder</a:t>
            </a:r>
          </a:p>
          <a:p>
            <a:pPr lvl="0" eaLnBrk="0" fontAlgn="base" hangingPunct="0">
              <a:lnSpc>
                <a:spcPct val="150000"/>
              </a:lnSpc>
              <a:spcBef>
                <a:spcPct val="0"/>
              </a:spcBef>
              <a:spcAft>
                <a:spcPct val="0"/>
              </a:spcAft>
            </a:pPr>
            <a:r>
              <a:rPr lang="en-US" altLang="en-US" sz="2800" dirty="0">
                <a:latin typeface="Calibir"/>
              </a:rPr>
              <a:t>Python Example:</a:t>
            </a:r>
          </a:p>
        </p:txBody>
      </p:sp>
      <p:pic>
        <p:nvPicPr>
          <p:cNvPr id="9" name="Picture 8">
            <a:extLst>
              <a:ext uri="{FF2B5EF4-FFF2-40B4-BE49-F238E27FC236}">
                <a16:creationId xmlns:a16="http://schemas.microsoft.com/office/drawing/2014/main" id="{50670D3A-C195-E9AA-9E72-83F201FCC706}"/>
              </a:ext>
            </a:extLst>
          </p:cNvPr>
          <p:cNvPicPr>
            <a:picLocks noChangeAspect="1"/>
          </p:cNvPicPr>
          <p:nvPr/>
        </p:nvPicPr>
        <p:blipFill>
          <a:blip r:embed="rId2"/>
          <a:srcRect l="7742" t="43011" r="7943" b="18279"/>
          <a:stretch>
            <a:fillRect/>
          </a:stretch>
        </p:blipFill>
        <p:spPr>
          <a:xfrm>
            <a:off x="1" y="3490413"/>
            <a:ext cx="12191999" cy="3148580"/>
          </a:xfrm>
          <a:prstGeom prst="rect">
            <a:avLst/>
          </a:prstGeom>
        </p:spPr>
      </p:pic>
      <p:sp>
        <p:nvSpPr>
          <p:cNvPr id="11" name="TextBox 10">
            <a:extLst>
              <a:ext uri="{FF2B5EF4-FFF2-40B4-BE49-F238E27FC236}">
                <a16:creationId xmlns:a16="http://schemas.microsoft.com/office/drawing/2014/main" id="{8D7EE610-6AAE-E7CC-71D0-C1717DF7D2C1}"/>
              </a:ext>
            </a:extLst>
          </p:cNvPr>
          <p:cNvSpPr txBox="1"/>
          <p:nvPr/>
        </p:nvSpPr>
        <p:spPr>
          <a:xfrm>
            <a:off x="7211961" y="756745"/>
            <a:ext cx="4980039" cy="4284763"/>
          </a:xfrm>
          <a:prstGeom prst="rect">
            <a:avLst/>
          </a:prstGeom>
          <a:solidFill>
            <a:schemeClr val="bg1"/>
          </a:solidFill>
          <a:ln>
            <a:solidFill>
              <a:srgbClr val="FF0000"/>
            </a:solidFill>
          </a:ln>
        </p:spPr>
        <p:txBody>
          <a:bodyPr wrap="square">
            <a:spAutoFit/>
          </a:bodyPr>
          <a:lstStyle/>
          <a:p>
            <a:pPr>
              <a:lnSpc>
                <a:spcPct val="150000"/>
              </a:lnSpc>
              <a:buNone/>
            </a:pPr>
            <a:r>
              <a:rPr lang="en-US" sz="2300" b="1" dirty="0">
                <a:latin typeface="Calibir"/>
              </a:rPr>
              <a:t>Analogy:</a:t>
            </a:r>
            <a:br>
              <a:rPr lang="en-US" sz="2300" dirty="0">
                <a:latin typeface="Calibir"/>
              </a:rPr>
            </a:br>
            <a:r>
              <a:rPr lang="en-US" sz="2300" dirty="0">
                <a:latin typeface="Calibir"/>
              </a:rPr>
              <a:t>Think of the OS module like a school librarian:</a:t>
            </a:r>
          </a:p>
          <a:p>
            <a:pPr marL="800100" lvl="1" indent="-342900">
              <a:lnSpc>
                <a:spcPct val="150000"/>
              </a:lnSpc>
              <a:buFont typeface="Arial" panose="020B0604020202020204" pitchFamily="34" charset="0"/>
              <a:buChar char="•"/>
            </a:pPr>
            <a:r>
              <a:rPr lang="en-US" sz="2300" dirty="0">
                <a:latin typeface="Calibir"/>
              </a:rPr>
              <a:t>They can check if a book (file) is in the library.</a:t>
            </a:r>
          </a:p>
          <a:p>
            <a:pPr marL="800100" lvl="1" indent="-342900">
              <a:lnSpc>
                <a:spcPct val="150000"/>
              </a:lnSpc>
              <a:buFont typeface="Arial" panose="020B0604020202020204" pitchFamily="34" charset="0"/>
              <a:buChar char="•"/>
            </a:pPr>
            <a:r>
              <a:rPr lang="en-US" sz="2300" dirty="0">
                <a:latin typeface="Calibir"/>
              </a:rPr>
              <a:t>They can remove a book.</a:t>
            </a:r>
          </a:p>
          <a:p>
            <a:pPr marL="800100" lvl="1" indent="-342900">
              <a:lnSpc>
                <a:spcPct val="150000"/>
              </a:lnSpc>
              <a:buFont typeface="Arial" panose="020B0604020202020204" pitchFamily="34" charset="0"/>
              <a:buChar char="•"/>
            </a:pPr>
            <a:r>
              <a:rPr lang="en-US" sz="2300" dirty="0">
                <a:latin typeface="Calibir"/>
              </a:rPr>
              <a:t>They can make a new shelf (folder) for new books.</a:t>
            </a:r>
          </a:p>
        </p:txBody>
      </p:sp>
    </p:spTree>
    <p:extLst>
      <p:ext uri="{BB962C8B-B14F-4D97-AF65-F5344CB8AC3E}">
        <p14:creationId xmlns:p14="http://schemas.microsoft.com/office/powerpoint/2010/main" val="13841598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049B9-BCDD-6F9B-AE5F-2FFBD35E6A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6C173-054D-7877-C763-B320C8F5668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71D6A3E4-F9B4-119F-546E-F4CF4758C1E3}"/>
              </a:ext>
            </a:extLst>
          </p:cNvPr>
          <p:cNvSpPr txBox="1"/>
          <p:nvPr/>
        </p:nvSpPr>
        <p:spPr>
          <a:xfrm>
            <a:off x="0" y="756745"/>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os.rmdir</a:t>
            </a:r>
            <a:r>
              <a:rPr lang="en-US" altLang="en-US" sz="2800" dirty="0">
                <a:latin typeface="Calibir"/>
              </a:rPr>
              <a:t>("folder") to remove an empty folder.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deleting a folder with files inside → use </a:t>
            </a:r>
            <a:r>
              <a:rPr lang="en-US" altLang="en-US" sz="2800" dirty="0" err="1">
                <a:latin typeface="Calibir"/>
              </a:rPr>
              <a:t>shutil.rmtree</a:t>
            </a:r>
            <a:r>
              <a:rPr lang="en-US" altLang="en-US" sz="2800" dirty="0">
                <a:latin typeface="Calibir"/>
              </a:rPr>
              <a:t>("folder") (import </a:t>
            </a:r>
            <a:r>
              <a:rPr lang="en-US" altLang="en-US" sz="2800" dirty="0" err="1">
                <a:latin typeface="Calibir"/>
              </a:rPr>
              <a:t>shutil</a:t>
            </a:r>
            <a:r>
              <a:rPr lang="en-US" altLang="en-US" sz="2800" dirty="0">
                <a:latin typeface="Calibir"/>
              </a:rPr>
              <a:t>).</a:t>
            </a:r>
          </a:p>
        </p:txBody>
      </p:sp>
      <p:pic>
        <p:nvPicPr>
          <p:cNvPr id="9" name="Picture 8">
            <a:extLst>
              <a:ext uri="{FF2B5EF4-FFF2-40B4-BE49-F238E27FC236}">
                <a16:creationId xmlns:a16="http://schemas.microsoft.com/office/drawing/2014/main" id="{153E3CF5-8790-5A9B-8128-A707EBB848BA}"/>
              </a:ext>
            </a:extLst>
          </p:cNvPr>
          <p:cNvPicPr>
            <a:picLocks noChangeAspect="1"/>
          </p:cNvPicPr>
          <p:nvPr/>
        </p:nvPicPr>
        <p:blipFill>
          <a:blip r:embed="rId2"/>
          <a:srcRect l="7742" t="43011" r="7943" b="18279"/>
          <a:stretch>
            <a:fillRect/>
          </a:stretch>
        </p:blipFill>
        <p:spPr>
          <a:xfrm>
            <a:off x="1" y="2952675"/>
            <a:ext cx="12191999" cy="3148580"/>
          </a:xfrm>
          <a:prstGeom prst="rect">
            <a:avLst/>
          </a:prstGeom>
        </p:spPr>
      </p:pic>
    </p:spTree>
    <p:extLst>
      <p:ext uri="{BB962C8B-B14F-4D97-AF65-F5344CB8AC3E}">
        <p14:creationId xmlns:p14="http://schemas.microsoft.com/office/powerpoint/2010/main" val="24148214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A2A2-9566-B180-019C-592353BD1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0B169-0A01-2DA9-8D2D-F788CB9D27F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sp>
        <p:nvSpPr>
          <p:cNvPr id="5" name="TextBox 4">
            <a:extLst>
              <a:ext uri="{FF2B5EF4-FFF2-40B4-BE49-F238E27FC236}">
                <a16:creationId xmlns:a16="http://schemas.microsoft.com/office/drawing/2014/main" id="{654FFC3D-D977-5889-886F-25206F5BC602}"/>
              </a:ext>
            </a:extLst>
          </p:cNvPr>
          <p:cNvSpPr txBox="1"/>
          <p:nvPr/>
        </p:nvSpPr>
        <p:spPr>
          <a:xfrm>
            <a:off x="0" y="756745"/>
            <a:ext cx="11965258" cy="1964512"/>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make a new folder</a:t>
            </a:r>
          </a:p>
          <a:p>
            <a:pPr marL="914400" lvl="1" indent="-457200">
              <a:lnSpc>
                <a:spcPct val="150000"/>
              </a:lnSpc>
              <a:buFont typeface="Arial" panose="020B0604020202020204" pitchFamily="34" charset="0"/>
              <a:buChar char="•"/>
            </a:pPr>
            <a:r>
              <a:rPr lang="en-US" sz="2800" dirty="0">
                <a:latin typeface="Calibir"/>
              </a:rPr>
              <a:t>list() → list files/folders inside</a:t>
            </a: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69F7836E-B67E-6D28-7300-8FDFD93415E6}"/>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DF082196-232F-7361-BA8C-1ACA6D886145}"/>
              </a:ext>
            </a:extLst>
          </p:cNvPr>
          <p:cNvSpPr txBox="1"/>
          <p:nvPr/>
        </p:nvSpPr>
        <p:spPr>
          <a:xfrm>
            <a:off x="6939117" y="879570"/>
            <a:ext cx="5252883" cy="4549835"/>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Analogy:</a:t>
            </a:r>
            <a:br>
              <a:rPr lang="en-US" sz="2800" dirty="0">
                <a:latin typeface="Calibir"/>
              </a:rPr>
            </a:br>
            <a:r>
              <a:rPr lang="en-US" sz="2800" dirty="0">
                <a:latin typeface="Calibir"/>
              </a:rPr>
              <a:t>Think of the File class like a map of a building:</a:t>
            </a:r>
          </a:p>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add a new room (folder).</a:t>
            </a:r>
          </a:p>
          <a:p>
            <a:pPr marL="914400" lvl="1" indent="-457200">
              <a:lnSpc>
                <a:spcPct val="150000"/>
              </a:lnSpc>
              <a:buFont typeface="Arial" panose="020B0604020202020204" pitchFamily="34" charset="0"/>
              <a:buChar char="•"/>
            </a:pPr>
            <a:r>
              <a:rPr lang="en-US" sz="2800" dirty="0">
                <a:latin typeface="Calibir"/>
              </a:rPr>
              <a:t>list() = see what’s inside the room.</a:t>
            </a:r>
          </a:p>
        </p:txBody>
      </p:sp>
    </p:spTree>
    <p:extLst>
      <p:ext uri="{BB962C8B-B14F-4D97-AF65-F5344CB8AC3E}">
        <p14:creationId xmlns:p14="http://schemas.microsoft.com/office/powerpoint/2010/main" val="31436601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A8C70-B515-7F98-A618-D8E6355D7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D061F0-5DC0-4A02-6730-0FC7FF3AB96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pic>
        <p:nvPicPr>
          <p:cNvPr id="8" name="Picture 7">
            <a:extLst>
              <a:ext uri="{FF2B5EF4-FFF2-40B4-BE49-F238E27FC236}">
                <a16:creationId xmlns:a16="http://schemas.microsoft.com/office/drawing/2014/main" id="{3D12F0C1-95AC-C5DC-66C1-B9C8F46FAC3B}"/>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24524EDD-7359-5873-0368-FA3D34B85B57}"/>
              </a:ext>
            </a:extLst>
          </p:cNvPr>
          <p:cNvSpPr txBox="1"/>
          <p:nvPr/>
        </p:nvSpPr>
        <p:spPr>
          <a:xfrm>
            <a:off x="1" y="879570"/>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You can also check if a file/folder exists with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delete() to remove a file or empty folder.</a:t>
            </a:r>
          </a:p>
        </p:txBody>
      </p:sp>
    </p:spTree>
    <p:extLst>
      <p:ext uri="{BB962C8B-B14F-4D97-AF65-F5344CB8AC3E}">
        <p14:creationId xmlns:p14="http://schemas.microsoft.com/office/powerpoint/2010/main" val="2654373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22BB-B543-7816-0938-4C3D1310F7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9A60D8-3382-E7A9-E4A6-189E2C135A2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EB61202B-AF15-FE72-76FF-257EDA8641C4}"/>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Analogy (Macquarie Uni Canvas):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Create</a:t>
            </a:r>
            <a:r>
              <a:rPr lang="en-US" sz="2800" dirty="0">
                <a:latin typeface="Calibir"/>
              </a:rPr>
              <a:t> → add a new module or folder in Canvas.</a:t>
            </a:r>
          </a:p>
          <a:p>
            <a:pPr marL="914400" lvl="1"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an outdated file or resource.</a:t>
            </a:r>
          </a:p>
          <a:p>
            <a:pPr marL="914400" lvl="1" indent="-457200">
              <a:lnSpc>
                <a:spcPct val="150000"/>
              </a:lnSpc>
              <a:buFont typeface="Arial" panose="020B0604020202020204" pitchFamily="34" charset="0"/>
              <a:buChar char="•"/>
            </a:pPr>
            <a:r>
              <a:rPr lang="en-US" sz="2800" b="1" dirty="0">
                <a:latin typeface="Calibir"/>
              </a:rPr>
              <a:t>List</a:t>
            </a:r>
            <a:r>
              <a:rPr lang="en-US" sz="2800" dirty="0">
                <a:latin typeface="Calibir"/>
              </a:rPr>
              <a:t> → see all uploaded files and resources in a subject.</a:t>
            </a:r>
          </a:p>
        </p:txBody>
      </p:sp>
    </p:spTree>
    <p:extLst>
      <p:ext uri="{BB962C8B-B14F-4D97-AF65-F5344CB8AC3E}">
        <p14:creationId xmlns:p14="http://schemas.microsoft.com/office/powerpoint/2010/main" val="39121358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4D11-A954-5E7F-138E-F9F4E7665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A186E-3545-3F5A-6F8F-B8776DCE162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EA69248A-5676-03D3-C84F-68D57D5F11B2}"/>
              </a:ext>
            </a:extLst>
          </p:cNvPr>
          <p:cNvSpPr txBox="1"/>
          <p:nvPr/>
        </p:nvSpPr>
        <p:spPr>
          <a:xfrm>
            <a:off x="0" y="756745"/>
            <a:ext cx="11965258" cy="3903504"/>
          </a:xfrm>
          <a:prstGeom prst="rect">
            <a:avLst/>
          </a:prstGeom>
          <a:noFill/>
        </p:spPr>
        <p:txBody>
          <a:bodyPr wrap="square">
            <a:spAutoFit/>
          </a:bodyPr>
          <a:lstStyle/>
          <a:p>
            <a:pPr>
              <a:lnSpc>
                <a:spcPct val="150000"/>
              </a:lnSpc>
            </a:pPr>
            <a:r>
              <a:rPr lang="en-US" sz="2800" dirty="0">
                <a:latin typeface="Calibir"/>
              </a:rPr>
              <a:t>Purpose:</a:t>
            </a:r>
          </a:p>
          <a:p>
            <a:pPr marL="457200" indent="-457200">
              <a:lnSpc>
                <a:spcPct val="150000"/>
              </a:lnSpc>
              <a:buFont typeface="Arial" panose="020B0604020202020204" pitchFamily="34" charset="0"/>
              <a:buChar char="•"/>
            </a:pPr>
            <a:r>
              <a:rPr lang="en-US" sz="2800" dirty="0">
                <a:latin typeface="Calibir"/>
              </a:rPr>
              <a:t>Test the smallest parts of a program (functions/methods).</a:t>
            </a:r>
          </a:p>
          <a:p>
            <a:pPr marL="457200" indent="-457200">
              <a:lnSpc>
                <a:spcPct val="150000"/>
              </a:lnSpc>
              <a:buFont typeface="Arial" panose="020B0604020202020204" pitchFamily="34" charset="0"/>
              <a:buChar char="•"/>
            </a:pPr>
            <a:r>
              <a:rPr lang="en-US" sz="2800" dirty="0">
                <a:latin typeface="Calibir"/>
              </a:rPr>
              <a:t>Make sure each piece works correctly before combining them.</a:t>
            </a:r>
          </a:p>
          <a:p>
            <a:pPr>
              <a:lnSpc>
                <a:spcPct val="150000"/>
              </a:lnSpc>
            </a:pPr>
            <a:r>
              <a:rPr lang="en-US" sz="2800" dirty="0">
                <a:latin typeface="Calibir"/>
              </a:rPr>
              <a:t>Analogy (Australia):</a:t>
            </a:r>
          </a:p>
          <a:p>
            <a:pPr marL="457200" indent="-457200">
              <a:lnSpc>
                <a:spcPct val="150000"/>
              </a:lnSpc>
              <a:buFont typeface="Arial" panose="020B0604020202020204" pitchFamily="34" charset="0"/>
              <a:buChar char="•"/>
            </a:pPr>
            <a:r>
              <a:rPr lang="en-US" sz="2800" dirty="0">
                <a:latin typeface="Calibir"/>
              </a:rPr>
              <a:t>Like NAPLAN exams → test individual student skills, not the whole school at once.</a:t>
            </a:r>
          </a:p>
        </p:txBody>
      </p:sp>
    </p:spTree>
    <p:extLst>
      <p:ext uri="{BB962C8B-B14F-4D97-AF65-F5344CB8AC3E}">
        <p14:creationId xmlns:p14="http://schemas.microsoft.com/office/powerpoint/2010/main" val="9515621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14E82-C714-0BC2-5902-EA4EDF3472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8D5C9-F552-6A06-BE52-3AECE36F1E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4" name="TextBox 3">
            <a:extLst>
              <a:ext uri="{FF2B5EF4-FFF2-40B4-BE49-F238E27FC236}">
                <a16:creationId xmlns:a16="http://schemas.microsoft.com/office/drawing/2014/main" id="{B50034C0-BEFF-D90C-025E-2EF4728BF813}"/>
              </a:ext>
            </a:extLst>
          </p:cNvPr>
          <p:cNvSpPr txBox="1"/>
          <p:nvPr/>
        </p:nvSpPr>
        <p:spPr>
          <a:xfrm>
            <a:off x="0" y="519270"/>
            <a:ext cx="11975690" cy="6488828"/>
          </a:xfrm>
          <a:prstGeom prst="rect">
            <a:avLst/>
          </a:prstGeom>
          <a:noFill/>
        </p:spPr>
        <p:txBody>
          <a:bodyPr wrap="square">
            <a:spAutoFit/>
          </a:bodyPr>
          <a:lstStyle/>
          <a:p>
            <a:pPr>
              <a:lnSpc>
                <a:spcPct val="150000"/>
              </a:lnSpc>
              <a:buNone/>
            </a:pPr>
            <a:r>
              <a:rPr lang="en-US" sz="2800" dirty="0">
                <a:latin typeface="Calibir"/>
              </a:rPr>
              <a:t>In software development, we need to make sure that each small piece of code (like a function or method) works correctly before combining it into a bigger program. This process is called unit testing.</a:t>
            </a:r>
          </a:p>
          <a:p>
            <a:pPr>
              <a:lnSpc>
                <a:spcPct val="150000"/>
              </a:lnSpc>
              <a:buNone/>
            </a:pPr>
            <a:r>
              <a:rPr lang="en-US" sz="2800" dirty="0">
                <a:latin typeface="Calibir"/>
              </a:rPr>
              <a:t>In Python, we can use the built-in </a:t>
            </a:r>
            <a:r>
              <a:rPr lang="en-US" sz="2800" dirty="0" err="1">
                <a:latin typeface="Calibir"/>
              </a:rPr>
              <a:t>unittest</a:t>
            </a:r>
            <a:r>
              <a:rPr lang="en-US" sz="2800" dirty="0">
                <a:latin typeface="Calibir"/>
              </a:rPr>
              <a:t> library to write and run these tests. With </a:t>
            </a:r>
            <a:r>
              <a:rPr lang="en-US" sz="2800" dirty="0" err="1">
                <a:latin typeface="Calibir"/>
              </a:rPr>
              <a:t>unittest</a:t>
            </a:r>
            <a:r>
              <a:rPr lang="en-US" sz="2800" dirty="0">
                <a:latin typeface="Calibir"/>
              </a:rPr>
              <a:t>, we can:</a:t>
            </a:r>
          </a:p>
          <a:p>
            <a:pPr marL="800100" lvl="1" indent="-342900">
              <a:lnSpc>
                <a:spcPct val="150000"/>
              </a:lnSpc>
              <a:buFont typeface="Arial" panose="020B0604020202020204" pitchFamily="34" charset="0"/>
              <a:buChar char="•"/>
            </a:pPr>
            <a:r>
              <a:rPr lang="en-US" sz="2800" dirty="0">
                <a:latin typeface="Calibir"/>
              </a:rPr>
              <a:t>Test individual functions (units of code).</a:t>
            </a:r>
          </a:p>
          <a:p>
            <a:pPr marL="800100" lvl="1" indent="-342900">
              <a:lnSpc>
                <a:spcPct val="150000"/>
              </a:lnSpc>
              <a:buFont typeface="Arial" panose="020B0604020202020204" pitchFamily="34" charset="0"/>
              <a:buChar char="•"/>
            </a:pPr>
            <a:r>
              <a:rPr lang="en-US" sz="2800" dirty="0">
                <a:latin typeface="Calibir"/>
              </a:rPr>
              <a:t>Automatically check whether the function output matches what we expect.</a:t>
            </a:r>
          </a:p>
          <a:p>
            <a:pPr marL="800100" lvl="1" indent="-342900">
              <a:lnSpc>
                <a:spcPct val="150000"/>
              </a:lnSpc>
              <a:buFont typeface="Arial" panose="020B0604020202020204" pitchFamily="34" charset="0"/>
              <a:buChar char="•"/>
            </a:pPr>
            <a:r>
              <a:rPr lang="en-US" sz="2800" dirty="0">
                <a:latin typeface="Calibir"/>
              </a:rPr>
              <a:t>Quickly find errors without manually running the code every time.</a:t>
            </a:r>
          </a:p>
          <a:p>
            <a:pPr>
              <a:lnSpc>
                <a:spcPct val="150000"/>
              </a:lnSpc>
              <a:buNone/>
            </a:pPr>
            <a:r>
              <a:rPr lang="en-US" sz="2800" dirty="0">
                <a:latin typeface="Calibir"/>
              </a:rPr>
              <a:t>In the example below, we test a simple function add(a, b) to confirm that it returns the correct result when adding two numbers.</a:t>
            </a:r>
          </a:p>
        </p:txBody>
      </p:sp>
    </p:spTree>
    <p:extLst>
      <p:ext uri="{BB962C8B-B14F-4D97-AF65-F5344CB8AC3E}">
        <p14:creationId xmlns:p14="http://schemas.microsoft.com/office/powerpoint/2010/main" val="173188598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50BE2-1FDC-409F-1141-F838649FE3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2D272-6C56-1E44-7661-823E2B5A1C6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F9E7B9DE-3C8F-A08F-81AD-20DF7A22B55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16D1D682-1FF2-43D5-8891-B0B1320CE670}"/>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44F1F5D-DFB0-0FC7-F64D-36856A1A63E2}"/>
              </a:ext>
            </a:extLst>
          </p:cNvPr>
          <p:cNvSpPr txBox="1"/>
          <p:nvPr/>
        </p:nvSpPr>
        <p:spPr>
          <a:xfrm>
            <a:off x="5975556" y="1613949"/>
            <a:ext cx="6216444"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brings in Python’s unittest library, which is used to write and run tests.</a:t>
            </a:r>
          </a:p>
        </p:txBody>
      </p:sp>
      <p:sp>
        <p:nvSpPr>
          <p:cNvPr id="12" name="Rectangle: Rounded Corners 11">
            <a:extLst>
              <a:ext uri="{FF2B5EF4-FFF2-40B4-BE49-F238E27FC236}">
                <a16:creationId xmlns:a16="http://schemas.microsoft.com/office/drawing/2014/main" id="{F8355292-7B02-4DB9-4BA7-D9FF60963F69}"/>
              </a:ext>
            </a:extLst>
          </p:cNvPr>
          <p:cNvSpPr/>
          <p:nvPr/>
        </p:nvSpPr>
        <p:spPr>
          <a:xfrm>
            <a:off x="0" y="1613949"/>
            <a:ext cx="3554361" cy="5245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13414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50347-8F3A-86C8-AF9D-55C2FBC0A1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506847-BE3F-95C0-2630-6BF0FAE8DE8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D6201A97-AEFF-ECB9-5360-9851BAAE1D0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C76C022D-C480-C034-41B0-1BCE57A54E5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039C4B43-DD8A-F2EB-A9C5-77A88BABAF97}"/>
              </a:ext>
            </a:extLst>
          </p:cNvPr>
          <p:cNvSpPr txBox="1"/>
          <p:nvPr/>
        </p:nvSpPr>
        <p:spPr>
          <a:xfrm>
            <a:off x="5975556" y="1613949"/>
            <a:ext cx="6216444" cy="196810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A simple function that adds two numbers. This is the function we want to test.</a:t>
            </a:r>
          </a:p>
        </p:txBody>
      </p:sp>
      <p:sp>
        <p:nvSpPr>
          <p:cNvPr id="12" name="Rectangle: Rounded Corners 11">
            <a:extLst>
              <a:ext uri="{FF2B5EF4-FFF2-40B4-BE49-F238E27FC236}">
                <a16:creationId xmlns:a16="http://schemas.microsoft.com/office/drawing/2014/main" id="{CF5D17DA-ED61-BA9D-F6C1-875A5DCAABA3}"/>
              </a:ext>
            </a:extLst>
          </p:cNvPr>
          <p:cNvSpPr/>
          <p:nvPr/>
        </p:nvSpPr>
        <p:spPr>
          <a:xfrm>
            <a:off x="0" y="2258290"/>
            <a:ext cx="3554361" cy="1170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73465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9B87C-3322-93F6-F8A1-6163A8A43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08EBBC-054E-38A1-1125-29F1192AD02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5C4986BD-9DFB-B2E5-4F27-EE41008348DE}"/>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289478A-B644-A644-CE8E-1614CFEF1635}"/>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9DCF7AB-11C2-0F79-9189-0D4158BEFA94}"/>
              </a:ext>
            </a:extLst>
          </p:cNvPr>
          <p:cNvSpPr txBox="1"/>
          <p:nvPr/>
        </p:nvSpPr>
        <p:spPr>
          <a:xfrm>
            <a:off x="5975556" y="1030201"/>
            <a:ext cx="6216444" cy="261084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Creates a test case class (a container for tests).</a:t>
            </a:r>
          </a:p>
          <a:p>
            <a:pPr marL="457200" indent="-457200">
              <a:lnSpc>
                <a:spcPct val="150000"/>
              </a:lnSpc>
              <a:buFont typeface="Arial" panose="020B0604020202020204" pitchFamily="34" charset="0"/>
              <a:buChar char="•"/>
            </a:pPr>
            <a:r>
              <a:rPr lang="en-US" sz="2800" dirty="0">
                <a:latin typeface="Calibir"/>
              </a:rPr>
              <a:t>unittest.TestCase gives us useful testing tools like </a:t>
            </a:r>
            <a:r>
              <a:rPr lang="en-US" sz="2800" dirty="0" err="1">
                <a:latin typeface="Calibir"/>
              </a:rPr>
              <a:t>assertEqual</a:t>
            </a:r>
            <a:endParaRPr lang="en-US" sz="2800" dirty="0">
              <a:latin typeface="Calibir"/>
            </a:endParaRPr>
          </a:p>
        </p:txBody>
      </p:sp>
      <p:sp>
        <p:nvSpPr>
          <p:cNvPr id="12" name="Rectangle: Rounded Corners 11">
            <a:extLst>
              <a:ext uri="{FF2B5EF4-FFF2-40B4-BE49-F238E27FC236}">
                <a16:creationId xmlns:a16="http://schemas.microsoft.com/office/drawing/2014/main" id="{E6ECF29D-6FDD-0322-9311-20A27E493D8C}"/>
              </a:ext>
            </a:extLst>
          </p:cNvPr>
          <p:cNvSpPr/>
          <p:nvPr/>
        </p:nvSpPr>
        <p:spPr>
          <a:xfrm>
            <a:off x="0" y="3767404"/>
            <a:ext cx="7108723" cy="40638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30280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1D93-7F8C-AC9A-AB07-3F57CE20C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2A2F-055C-16EB-82D1-FFDE2830370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A3CD12B9-4F17-73B2-0656-7C2A91307D1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B3A168E6-9875-7AC3-CBEC-2A02B9D876C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A6043A42-6546-FA18-CCD7-DBD79B6EFBFD}"/>
              </a:ext>
            </a:extLst>
          </p:cNvPr>
          <p:cNvSpPr txBox="1"/>
          <p:nvPr/>
        </p:nvSpPr>
        <p:spPr>
          <a:xfrm>
            <a:off x="5991738" y="494772"/>
            <a:ext cx="6216444" cy="325717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a:t>
            </a:r>
          </a:p>
          <a:p>
            <a:pPr marL="914400" lvl="1" indent="-457200">
              <a:lnSpc>
                <a:spcPct val="150000"/>
              </a:lnSpc>
              <a:buFont typeface="Arial" panose="020B0604020202020204" pitchFamily="34" charset="0"/>
              <a:buChar char="•"/>
            </a:pPr>
            <a:r>
              <a:rPr lang="en-US" sz="2800" dirty="0">
                <a:latin typeface="Calibir"/>
              </a:rPr>
              <a:t>Runs add(2, 3).</a:t>
            </a:r>
          </a:p>
          <a:p>
            <a:pPr marL="914400" lvl="1" indent="-457200">
              <a:lnSpc>
                <a:spcPct val="150000"/>
              </a:lnSpc>
              <a:buFont typeface="Arial" panose="020B0604020202020204" pitchFamily="34" charset="0"/>
              <a:buChar char="•"/>
            </a:pPr>
            <a:r>
              <a:rPr lang="en-US" sz="2800" dirty="0">
                <a:latin typeface="Calibir"/>
              </a:rPr>
              <a:t>Checks if the result is 5.</a:t>
            </a:r>
          </a:p>
          <a:p>
            <a:pPr marL="914400" lvl="1" indent="-457200">
              <a:lnSpc>
                <a:spcPct val="150000"/>
              </a:lnSpc>
              <a:buFont typeface="Arial" panose="020B0604020202020204" pitchFamily="34" charset="0"/>
              <a:buChar char="•"/>
            </a:pPr>
            <a:r>
              <a:rPr lang="en-US" sz="2800" dirty="0">
                <a:latin typeface="Calibir"/>
              </a:rPr>
              <a:t>If yes → test passes</a:t>
            </a:r>
          </a:p>
          <a:p>
            <a:pPr marL="914400" lvl="1" indent="-457200">
              <a:lnSpc>
                <a:spcPct val="150000"/>
              </a:lnSpc>
              <a:buFont typeface="Arial" panose="020B0604020202020204" pitchFamily="34" charset="0"/>
              <a:buChar char="•"/>
            </a:pPr>
            <a:r>
              <a:rPr lang="en-US" sz="2800" dirty="0">
                <a:latin typeface="Calibir"/>
              </a:rPr>
              <a:t>If not → test fails </a:t>
            </a:r>
          </a:p>
        </p:txBody>
      </p:sp>
      <p:sp>
        <p:nvSpPr>
          <p:cNvPr id="12" name="Rectangle: Rounded Corners 11">
            <a:extLst>
              <a:ext uri="{FF2B5EF4-FFF2-40B4-BE49-F238E27FC236}">
                <a16:creationId xmlns:a16="http://schemas.microsoft.com/office/drawing/2014/main" id="{ADA4B0A8-5CA8-2A81-6005-EE30041AAEC2}"/>
              </a:ext>
            </a:extLst>
          </p:cNvPr>
          <p:cNvSpPr/>
          <p:nvPr/>
        </p:nvSpPr>
        <p:spPr>
          <a:xfrm>
            <a:off x="0" y="4180548"/>
            <a:ext cx="7757652" cy="106350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56569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8C4E-74BC-263D-C6FD-614D4E18B8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E7C2D-AD12-1A47-FD58-B4334C2D8DB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B7357FAE-92B1-97FA-559C-1E66A6561BA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3870BE3F-DE4F-93C4-9AE2-1FFD0FE38FAF}"/>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F8EA7AE1-910E-008A-8438-2E025B8070FD}"/>
              </a:ext>
            </a:extLst>
          </p:cNvPr>
          <p:cNvSpPr txBox="1"/>
          <p:nvPr/>
        </p:nvSpPr>
        <p:spPr>
          <a:xfrm>
            <a:off x="5975556" y="1607195"/>
            <a:ext cx="6216444"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Runs the test when the file is executed.</a:t>
            </a:r>
          </a:p>
        </p:txBody>
      </p:sp>
      <p:sp>
        <p:nvSpPr>
          <p:cNvPr id="12" name="Rectangle: Rounded Corners 11">
            <a:extLst>
              <a:ext uri="{FF2B5EF4-FFF2-40B4-BE49-F238E27FC236}">
                <a16:creationId xmlns:a16="http://schemas.microsoft.com/office/drawing/2014/main" id="{4C9BFF5F-CDE4-D802-4CBB-A670E9DB598F}"/>
              </a:ext>
            </a:extLst>
          </p:cNvPr>
          <p:cNvSpPr/>
          <p:nvPr/>
        </p:nvSpPr>
        <p:spPr>
          <a:xfrm>
            <a:off x="0" y="5353665"/>
            <a:ext cx="7757652" cy="6409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35631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AB8-4D64-2301-4B3C-8121C9A68A6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341342B0-8C06-F3C4-E751-D643C7EDBC07}"/>
              </a:ext>
            </a:extLst>
          </p:cNvPr>
          <p:cNvPicPr>
            <a:picLocks noChangeAspect="1"/>
          </p:cNvPicPr>
          <p:nvPr/>
        </p:nvPicPr>
        <p:blipFill>
          <a:blip r:embed="rId2"/>
          <a:srcRect l="8347" r="8306" b="27957"/>
          <a:stretch>
            <a:fillRect/>
          </a:stretch>
        </p:blipFill>
        <p:spPr>
          <a:xfrm>
            <a:off x="0" y="0"/>
            <a:ext cx="12191999" cy="5870530"/>
          </a:xfrm>
          <a:prstGeom prst="rect">
            <a:avLst/>
          </a:prstGeom>
        </p:spPr>
      </p:pic>
      <p:sp>
        <p:nvSpPr>
          <p:cNvPr id="13" name="Rectangle: Rounded Corners 12">
            <a:extLst>
              <a:ext uri="{FF2B5EF4-FFF2-40B4-BE49-F238E27FC236}">
                <a16:creationId xmlns:a16="http://schemas.microsoft.com/office/drawing/2014/main" id="{BA85C7BA-03A3-103C-4014-CC871C9C5F75}"/>
              </a:ext>
            </a:extLst>
          </p:cNvPr>
          <p:cNvSpPr/>
          <p:nvPr/>
        </p:nvSpPr>
        <p:spPr>
          <a:xfrm>
            <a:off x="811161" y="1489586"/>
            <a:ext cx="6784258" cy="9881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9005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4F11A-5035-78E5-DB3F-E043B5D0BAB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EB97C72-E673-9ED6-D234-1B455E1FF385}"/>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C2372163-EFA4-C03A-1705-10F62CA3F750}"/>
              </a:ext>
            </a:extLst>
          </p:cNvPr>
          <p:cNvSpPr/>
          <p:nvPr/>
        </p:nvSpPr>
        <p:spPr>
          <a:xfrm>
            <a:off x="722670" y="3126658"/>
            <a:ext cx="6784258" cy="60468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E398CFC-6A32-BDBD-1767-D3432028C315}"/>
              </a:ext>
            </a:extLst>
          </p:cNvPr>
          <p:cNvSpPr txBox="1"/>
          <p:nvPr/>
        </p:nvSpPr>
        <p:spPr>
          <a:xfrm>
            <a:off x="7506928" y="1479236"/>
            <a:ext cx="4685071"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test class (just like in Python, all tests live inside a class).</a:t>
            </a:r>
          </a:p>
        </p:txBody>
      </p:sp>
    </p:spTree>
    <p:extLst>
      <p:ext uri="{BB962C8B-B14F-4D97-AF65-F5344CB8AC3E}">
        <p14:creationId xmlns:p14="http://schemas.microsoft.com/office/powerpoint/2010/main" val="338502952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80A71-5CC7-D3A1-5A1D-58AC1BB0B94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C74BFC-30E4-0A5F-A14C-92B63D180806}"/>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16143E1F-F793-27F6-1D78-FD23868990C0}"/>
              </a:ext>
            </a:extLst>
          </p:cNvPr>
          <p:cNvSpPr/>
          <p:nvPr/>
        </p:nvSpPr>
        <p:spPr>
          <a:xfrm>
            <a:off x="796412" y="3750112"/>
            <a:ext cx="6710515" cy="212041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1AE557A-AFDD-8C64-7592-EC829AE08444}"/>
              </a:ext>
            </a:extLst>
          </p:cNvPr>
          <p:cNvSpPr txBox="1"/>
          <p:nvPr/>
        </p:nvSpPr>
        <p:spPr>
          <a:xfrm>
            <a:off x="7506927" y="1152029"/>
            <a:ext cx="4685071" cy="5196166"/>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 method.</a:t>
            </a:r>
          </a:p>
          <a:p>
            <a:pPr marL="914400" lvl="1" indent="-457200">
              <a:lnSpc>
                <a:spcPct val="150000"/>
              </a:lnSpc>
              <a:buFont typeface="Arial" panose="020B0604020202020204" pitchFamily="34" charset="0"/>
              <a:buChar char="•"/>
            </a:pPr>
            <a:r>
              <a:rPr lang="en-US" sz="2800" dirty="0">
                <a:latin typeface="Calibir"/>
              </a:rPr>
              <a:t>@Test → marks it as a test.</a:t>
            </a:r>
          </a:p>
          <a:p>
            <a:pPr marL="914400" lvl="1" indent="-457200">
              <a:lnSpc>
                <a:spcPct val="150000"/>
              </a:lnSpc>
              <a:buFont typeface="Arial" panose="020B0604020202020204" pitchFamily="34" charset="0"/>
              <a:buChar char="•"/>
            </a:pPr>
            <a:r>
              <a:rPr lang="en-US" sz="2800" dirty="0">
                <a:latin typeface="Calibir"/>
              </a:rPr>
              <a:t>assertEquals(expected, actual) → checks if 2 + 3 equals 5.</a:t>
            </a:r>
          </a:p>
          <a:p>
            <a:pPr marL="914400" lvl="1" indent="-457200">
              <a:lnSpc>
                <a:spcPct val="150000"/>
              </a:lnSpc>
              <a:buFont typeface="Arial" panose="020B0604020202020204" pitchFamily="34" charset="0"/>
              <a:buChar char="•"/>
            </a:pPr>
            <a:r>
              <a:rPr lang="en-US" sz="2800" dirty="0">
                <a:latin typeface="Calibir"/>
              </a:rPr>
              <a:t>If correct → pass.</a:t>
            </a:r>
          </a:p>
          <a:p>
            <a:pPr marL="914400" lvl="1" indent="-457200">
              <a:lnSpc>
                <a:spcPct val="150000"/>
              </a:lnSpc>
              <a:buFont typeface="Arial" panose="020B0604020202020204" pitchFamily="34" charset="0"/>
              <a:buChar char="•"/>
            </a:pPr>
            <a:r>
              <a:rPr lang="en-US" sz="2800" dirty="0">
                <a:latin typeface="Calibir"/>
              </a:rPr>
              <a:t>If wrong → fail.</a:t>
            </a:r>
          </a:p>
        </p:txBody>
      </p:sp>
    </p:spTree>
    <p:extLst>
      <p:ext uri="{BB962C8B-B14F-4D97-AF65-F5344CB8AC3E}">
        <p14:creationId xmlns:p14="http://schemas.microsoft.com/office/powerpoint/2010/main" val="4566815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14236-0F60-D196-FB9F-BF943CB84CC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29BFBB-EADF-6A33-E9E7-504C4EE0DDAE}"/>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36B232E6-3C9C-519B-8EA5-DE03D51C61C9}"/>
              </a:ext>
            </a:extLst>
          </p:cNvPr>
          <p:cNvSpPr txBox="1"/>
          <p:nvPr/>
        </p:nvSpPr>
        <p:spPr>
          <a:xfrm>
            <a:off x="7506929" y="507751"/>
            <a:ext cx="4685071" cy="5842497"/>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Takeaway for Students</a:t>
            </a:r>
          </a:p>
          <a:p>
            <a:pPr marL="457200" indent="-457200">
              <a:lnSpc>
                <a:spcPct val="150000"/>
              </a:lnSpc>
              <a:buFont typeface="Arial" panose="020B0604020202020204" pitchFamily="34" charset="0"/>
              <a:buChar char="•"/>
            </a:pPr>
            <a:r>
              <a:rPr lang="en-US" sz="2800" dirty="0">
                <a:latin typeface="Calibir"/>
              </a:rPr>
              <a:t>Unit tests = small checks that keep big programs reliable.</a:t>
            </a:r>
          </a:p>
          <a:p>
            <a:pPr marL="457200" indent="-457200">
              <a:lnSpc>
                <a:spcPct val="150000"/>
              </a:lnSpc>
              <a:buFont typeface="Arial" panose="020B0604020202020204" pitchFamily="34" charset="0"/>
              <a:buChar char="•"/>
            </a:pPr>
            <a:r>
              <a:rPr lang="en-US" sz="2800" dirty="0">
                <a:latin typeface="Calibir"/>
              </a:rPr>
              <a:t>Python: unittest / </a:t>
            </a:r>
            <a:r>
              <a:rPr lang="en-US" sz="2800" dirty="0" err="1">
                <a:latin typeface="Calibir"/>
              </a:rPr>
              <a:t>pytest</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Java: JUnit.</a:t>
            </a:r>
          </a:p>
          <a:p>
            <a:pPr marL="457200" indent="-457200">
              <a:lnSpc>
                <a:spcPct val="150000"/>
              </a:lnSpc>
              <a:buFont typeface="Arial" panose="020B0604020202020204" pitchFamily="34" charset="0"/>
              <a:buChar char="•"/>
            </a:pPr>
            <a:r>
              <a:rPr lang="en-US" sz="2800" dirty="0">
                <a:latin typeface="Calibir"/>
              </a:rPr>
              <a:t>Both use the same pattern → </a:t>
            </a:r>
            <a:r>
              <a:rPr lang="en-US" sz="2800" i="1" dirty="0">
                <a:latin typeface="Calibir"/>
              </a:rPr>
              <a:t>write a function, write a test, assert the result</a:t>
            </a:r>
            <a:r>
              <a:rPr lang="en-US" sz="2800" dirty="0">
                <a:latin typeface="Calibir"/>
              </a:rPr>
              <a:t>.</a:t>
            </a:r>
          </a:p>
        </p:txBody>
      </p:sp>
    </p:spTree>
    <p:extLst>
      <p:ext uri="{BB962C8B-B14F-4D97-AF65-F5344CB8AC3E}">
        <p14:creationId xmlns:p14="http://schemas.microsoft.com/office/powerpoint/2010/main" val="3745681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0B8-A11A-26BA-2E5A-F6FDEF1BE59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A04E1567-17C4-3321-D57E-4B2D0DB39FC2}"/>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6889CDFD-AD68-795F-2BC1-A5315F9D64F5}"/>
              </a:ext>
            </a:extLst>
          </p:cNvPr>
          <p:cNvSpPr txBox="1"/>
          <p:nvPr/>
        </p:nvSpPr>
        <p:spPr>
          <a:xfrm>
            <a:off x="7506929" y="1510641"/>
            <a:ext cx="4685071" cy="326076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Analogy (Australia):</a:t>
            </a:r>
            <a:br>
              <a:rPr lang="en-US" sz="2800" dirty="0">
                <a:latin typeface="Calibir"/>
              </a:rPr>
            </a:br>
            <a:r>
              <a:rPr lang="en-US" sz="2800" dirty="0">
                <a:latin typeface="Calibir"/>
              </a:rPr>
              <a:t>JUnit tests are like a practice quiz for each topic → you don’t wait until the final exam to find mistakes.</a:t>
            </a:r>
          </a:p>
        </p:txBody>
      </p:sp>
    </p:spTree>
    <p:extLst>
      <p:ext uri="{BB962C8B-B14F-4D97-AF65-F5344CB8AC3E}">
        <p14:creationId xmlns:p14="http://schemas.microsoft.com/office/powerpoint/2010/main" val="914889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FB676-EE6C-6055-E738-E875F0507E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9F2E2-DA24-29AF-B4F2-90F923B1D09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Why Exceptions? Where Do We See Testing?</a:t>
            </a:r>
          </a:p>
        </p:txBody>
      </p:sp>
      <p:sp>
        <p:nvSpPr>
          <p:cNvPr id="3" name="Rectangle 1">
            <a:extLst>
              <a:ext uri="{FF2B5EF4-FFF2-40B4-BE49-F238E27FC236}">
                <a16:creationId xmlns:a16="http://schemas.microsoft.com/office/drawing/2014/main" id="{FD37AA05-9363-EA3A-3D9D-D1FEFFB14D91}"/>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Why do we need exceptions if we already check conditions with if?</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Exceptions handle unexpected issues (e.g., file missing) that we can’t predict.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Where in real life do we see “unit testing”?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Quality checks in Woolworths (test one pack of strawberries to approve the batch).</a:t>
            </a:r>
          </a:p>
        </p:txBody>
      </p:sp>
    </p:spTree>
    <p:extLst>
      <p:ext uri="{BB962C8B-B14F-4D97-AF65-F5344CB8AC3E}">
        <p14:creationId xmlns:p14="http://schemas.microsoft.com/office/powerpoint/2010/main" val="2684553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EE30-5EB9-B2C5-19D3-2066754BF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56F0D-2512-03F5-4614-6D90A28F67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Role-Playing Debate Questions</a:t>
            </a:r>
          </a:p>
        </p:txBody>
      </p:sp>
      <p:sp>
        <p:nvSpPr>
          <p:cNvPr id="3" name="Rectangle 1">
            <a:extLst>
              <a:ext uri="{FF2B5EF4-FFF2-40B4-BE49-F238E27FC236}">
                <a16:creationId xmlns:a16="http://schemas.microsoft.com/office/drawing/2014/main" id="{367A63BA-0A71-1973-F2D1-45AB84EDB2D8}"/>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Q1: Should we always use exceptions instead of checking conditions?</a:t>
            </a:r>
          </a:p>
          <a:p>
            <a:pPr>
              <a:lnSpc>
                <a:spcPct val="150000"/>
              </a:lnSpc>
            </a:pPr>
            <a:r>
              <a:rPr lang="en-US" sz="2800" dirty="0">
                <a:latin typeface="Calibir"/>
              </a:rPr>
              <a:t>No. Exceptions are for unexpected problems (like a file missing). Routine checks (like if a number is positive) should use simple if conditions.</a:t>
            </a:r>
          </a:p>
          <a:p>
            <a:pPr>
              <a:lnSpc>
                <a:spcPct val="150000"/>
              </a:lnSpc>
            </a:pPr>
            <a:r>
              <a:rPr lang="en-US" sz="2800" b="1" dirty="0">
                <a:latin typeface="Calibir"/>
              </a:rPr>
              <a:t>Q2: Is automated testing more important than manual testing?</a:t>
            </a:r>
          </a:p>
          <a:p>
            <a:pPr>
              <a:lnSpc>
                <a:spcPct val="150000"/>
              </a:lnSpc>
            </a:pPr>
            <a:r>
              <a:rPr lang="en-US" sz="2800" dirty="0">
                <a:latin typeface="Calibir"/>
              </a:rPr>
              <a:t>Automated tests are great for catching repeat mistakes quickly (like rerunning hundreds of test cases). But manual testing is still needed for things like user experience (how the app feels to use).</a:t>
            </a:r>
          </a:p>
        </p:txBody>
      </p:sp>
    </p:spTree>
    <p:extLst>
      <p:ext uri="{BB962C8B-B14F-4D97-AF65-F5344CB8AC3E}">
        <p14:creationId xmlns:p14="http://schemas.microsoft.com/office/powerpoint/2010/main" val="140043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F877-8580-BABB-1E3C-9AEAAFFD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BB175-7E90-230A-C969-A9C0DE59BB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3C040F0-00A9-9739-0F80-00D9378A4B21}"/>
              </a:ext>
            </a:extLst>
          </p:cNvPr>
          <p:cNvSpPr txBox="1"/>
          <p:nvPr/>
        </p:nvSpPr>
        <p:spPr>
          <a:xfrm>
            <a:off x="0" y="1072057"/>
            <a:ext cx="11971282" cy="4549835"/>
          </a:xfrm>
          <a:prstGeom prst="rect">
            <a:avLst/>
          </a:prstGeom>
          <a:noFill/>
        </p:spPr>
        <p:txBody>
          <a:bodyPr wrap="square">
            <a:spAutoFit/>
          </a:bodyPr>
          <a:lstStyle/>
          <a:p>
            <a:pPr>
              <a:lnSpc>
                <a:spcPct val="150000"/>
              </a:lnSpc>
            </a:pPr>
            <a:r>
              <a:rPr lang="en-US" sz="2800" b="1" dirty="0">
                <a:latin typeface="Calibir"/>
              </a:rPr>
              <a:t>General Rules</a:t>
            </a:r>
          </a:p>
          <a:p>
            <a:pPr marL="914400" lvl="1" indent="-457200">
              <a:lnSpc>
                <a:spcPct val="150000"/>
              </a:lnSpc>
              <a:buFont typeface="Arial" panose="020B0604020202020204" pitchFamily="34" charset="0"/>
              <a:buChar char="•"/>
            </a:pPr>
            <a:r>
              <a:rPr lang="en-US" sz="2800" dirty="0">
                <a:latin typeface="Calibir"/>
              </a:rPr>
              <a:t>8 questions, worth 2 points each → total 16 points.</a:t>
            </a:r>
          </a:p>
          <a:p>
            <a:pPr marL="914400" lvl="1" indent="-457200">
              <a:lnSpc>
                <a:spcPct val="150000"/>
              </a:lnSpc>
              <a:buFont typeface="Arial" panose="020B0604020202020204" pitchFamily="34" charset="0"/>
              <a:buChar char="•"/>
            </a:pPr>
            <a:r>
              <a:rPr lang="en-US" sz="2800" dirty="0">
                <a:latin typeface="Calibir"/>
              </a:rPr>
              <a:t>Restricted open-book: You can use lecture slides, lab notes, and printed subject materials only.</a:t>
            </a:r>
          </a:p>
          <a:p>
            <a:pPr marL="914400" lvl="1" indent="-457200">
              <a:lnSpc>
                <a:spcPct val="150000"/>
              </a:lnSpc>
              <a:buFont typeface="Arial" panose="020B0604020202020204" pitchFamily="34" charset="0"/>
              <a:buChar char="•"/>
            </a:pPr>
            <a:r>
              <a:rPr lang="en-US" sz="2800" dirty="0">
                <a:latin typeface="Calibir"/>
              </a:rPr>
              <a:t>No running code: You must read and reason through the code.</a:t>
            </a:r>
          </a:p>
          <a:p>
            <a:pPr marL="914400" lvl="1" indent="-457200">
              <a:lnSpc>
                <a:spcPct val="150000"/>
              </a:lnSpc>
              <a:buFont typeface="Arial" panose="020B0604020202020204" pitchFamily="34" charset="0"/>
              <a:buChar char="•"/>
            </a:pPr>
            <a:r>
              <a:rPr lang="en-US" sz="2800" dirty="0">
                <a:latin typeface="Calibir"/>
              </a:rPr>
              <a:t>One attempt only, 30 minutes limit.</a:t>
            </a:r>
          </a:p>
          <a:p>
            <a:pPr marL="914400" lvl="1" indent="-457200">
              <a:lnSpc>
                <a:spcPct val="150000"/>
              </a:lnSpc>
              <a:buFont typeface="Arial" panose="020B0604020202020204" pitchFamily="34" charset="0"/>
              <a:buChar char="•"/>
            </a:pPr>
            <a:r>
              <a:rPr lang="en-US" sz="2800" dirty="0">
                <a:latin typeface="Calibir"/>
              </a:rPr>
              <a:t>Quiz will be done in Week 12 lab under supervision.</a:t>
            </a:r>
          </a:p>
        </p:txBody>
      </p:sp>
    </p:spTree>
    <p:extLst>
      <p:ext uri="{BB962C8B-B14F-4D97-AF65-F5344CB8AC3E}">
        <p14:creationId xmlns:p14="http://schemas.microsoft.com/office/powerpoint/2010/main" val="38973493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7376-3FEB-300E-7D77-20DCCE258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1EE26-B9BE-0EED-0FB7-D8F2C807C6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E308C3C8-3DE7-654D-59FB-2162633A1D57}"/>
              </a:ext>
            </a:extLst>
          </p:cNvPr>
          <p:cNvSpPr txBox="1"/>
          <p:nvPr/>
        </p:nvSpPr>
        <p:spPr>
          <a:xfrm>
            <a:off x="0" y="1072057"/>
            <a:ext cx="11971282" cy="5842497"/>
          </a:xfrm>
          <a:prstGeom prst="rect">
            <a:avLst/>
          </a:prstGeom>
          <a:noFill/>
        </p:spPr>
        <p:txBody>
          <a:bodyPr wrap="square">
            <a:spAutoFit/>
          </a:bodyPr>
          <a:lstStyle/>
          <a:p>
            <a:pPr>
              <a:lnSpc>
                <a:spcPct val="150000"/>
              </a:lnSpc>
            </a:pPr>
            <a:r>
              <a:rPr lang="en-US" sz="2800" b="1" dirty="0">
                <a:latin typeface="Calibir"/>
              </a:rPr>
              <a:t>How to Prepare</a:t>
            </a:r>
          </a:p>
          <a:p>
            <a:pPr marL="514350" indent="-514350">
              <a:lnSpc>
                <a:spcPct val="150000"/>
              </a:lnSpc>
              <a:buFont typeface="+mj-lt"/>
              <a:buAutoNum type="arabicPeriod"/>
            </a:pPr>
            <a:r>
              <a:rPr lang="en-US" sz="2800" b="1" dirty="0">
                <a:latin typeface="Calibir"/>
              </a:rPr>
              <a:t>Revise by weeks: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Week 9</a:t>
            </a:r>
            <a:r>
              <a:rPr lang="en-US" sz="2800" dirty="0">
                <a:latin typeface="Calibir"/>
              </a:rPr>
              <a:t> → Files, Exceptions, and Unit Testing (Python + Java)</a:t>
            </a:r>
          </a:p>
          <a:p>
            <a:pPr marL="914400" lvl="1" indent="-457200">
              <a:lnSpc>
                <a:spcPct val="150000"/>
              </a:lnSpc>
              <a:buFont typeface="Arial" panose="020B0604020202020204" pitchFamily="34" charset="0"/>
              <a:buChar char="•"/>
            </a:pPr>
            <a:r>
              <a:rPr lang="en-US" sz="2800" b="1" dirty="0">
                <a:latin typeface="Calibir"/>
              </a:rPr>
              <a:t>Week 10</a:t>
            </a:r>
            <a:r>
              <a:rPr lang="en-US" sz="2800" dirty="0">
                <a:latin typeface="Calibir"/>
              </a:rPr>
              <a:t> → GUI basics in Python (</a:t>
            </a:r>
            <a:r>
              <a:rPr lang="en-US" sz="2800" dirty="0" err="1">
                <a:latin typeface="Calibir"/>
              </a:rPr>
              <a:t>Tkinter</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Week 11</a:t>
            </a:r>
            <a:r>
              <a:rPr lang="en-US" sz="2800" dirty="0">
                <a:latin typeface="Calibir"/>
              </a:rPr>
              <a:t> → GUI basics in JavaFX</a:t>
            </a:r>
          </a:p>
          <a:p>
            <a:pPr marL="514350" indent="-514350">
              <a:lnSpc>
                <a:spcPct val="150000"/>
              </a:lnSpc>
              <a:buFont typeface="+mj-lt"/>
              <a:buAutoNum type="arabicPeriod"/>
            </a:pPr>
            <a:r>
              <a:rPr lang="en-US" sz="2800" b="1" dirty="0">
                <a:latin typeface="Calibir"/>
              </a:rPr>
              <a:t>Practice short examples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File reading/writing functions.</a:t>
            </a:r>
          </a:p>
          <a:p>
            <a:pPr marL="914400" lvl="1" indent="-457200">
              <a:lnSpc>
                <a:spcPct val="150000"/>
              </a:lnSpc>
              <a:buFont typeface="Arial" panose="020B0604020202020204" pitchFamily="34" charset="0"/>
              <a:buChar char="•"/>
            </a:pPr>
            <a:r>
              <a:rPr lang="en-US" sz="2800" dirty="0">
                <a:latin typeface="Calibir"/>
              </a:rPr>
              <a:t>How exceptions flow and how to handle errors.</a:t>
            </a:r>
          </a:p>
          <a:p>
            <a:pPr marL="914400" lvl="1" indent="-457200">
              <a:lnSpc>
                <a:spcPct val="150000"/>
              </a:lnSpc>
              <a:buFont typeface="Arial" panose="020B0604020202020204" pitchFamily="34" charset="0"/>
              <a:buChar char="•"/>
            </a:pPr>
            <a:r>
              <a:rPr lang="en-US" sz="2800" dirty="0">
                <a:latin typeface="Calibir"/>
              </a:rPr>
              <a:t>Basic GUI components and their purpose.</a:t>
            </a:r>
          </a:p>
        </p:txBody>
      </p:sp>
    </p:spTree>
    <p:extLst>
      <p:ext uri="{BB962C8B-B14F-4D97-AF65-F5344CB8AC3E}">
        <p14:creationId xmlns:p14="http://schemas.microsoft.com/office/powerpoint/2010/main" val="4384891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B5D40-33F8-5160-5DC7-1BB59CE72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1AEB0-48B8-D66D-D2BB-05CAAC5E594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D413B29-A46F-6D52-F43B-CB196CC60BA6}"/>
              </a:ext>
            </a:extLst>
          </p:cNvPr>
          <p:cNvSpPr txBox="1"/>
          <p:nvPr/>
        </p:nvSpPr>
        <p:spPr>
          <a:xfrm>
            <a:off x="0" y="1072057"/>
            <a:ext cx="11971282" cy="5842497"/>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Watch out for tricky areas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Immutability (things that cannot change).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Differences in error-handling between Python and Java.</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Missing superclass or inheritance 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Object vs. reference comparison.</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Expect real situations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works.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looks fine but fails for small reasons.</a:t>
            </a:r>
          </a:p>
        </p:txBody>
      </p:sp>
    </p:spTree>
    <p:extLst>
      <p:ext uri="{BB962C8B-B14F-4D97-AF65-F5344CB8AC3E}">
        <p14:creationId xmlns:p14="http://schemas.microsoft.com/office/powerpoint/2010/main" val="126445193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74865-1DFA-130B-3250-240B311EA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2275F-5821-1C3C-37CB-AF4F099926A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4A0CF6DC-427B-3379-AEB4-4D1DED55FB06}"/>
              </a:ext>
            </a:extLst>
          </p:cNvPr>
          <p:cNvSpPr txBox="1"/>
          <p:nvPr/>
        </p:nvSpPr>
        <p:spPr>
          <a:xfrm>
            <a:off x="0" y="1072057"/>
            <a:ext cx="11971282" cy="3903504"/>
          </a:xfrm>
          <a:prstGeom prst="rect">
            <a:avLst/>
          </a:prstGeom>
          <a:noFill/>
        </p:spPr>
        <p:txBody>
          <a:bodyPr wrap="square">
            <a:spAutoFit/>
          </a:bodyPr>
          <a:lstStyle/>
          <a:p>
            <a:pPr>
              <a:lnSpc>
                <a:spcPct val="150000"/>
              </a:lnSpc>
            </a:pPr>
            <a:r>
              <a:rPr lang="en-US" sz="2800" b="1" dirty="0">
                <a:latin typeface="Calibir"/>
              </a:rPr>
              <a:t>Q1.</a:t>
            </a:r>
            <a:br>
              <a:rPr lang="en-US" sz="2800" dirty="0">
                <a:latin typeface="Calibir"/>
              </a:rPr>
            </a:br>
            <a:r>
              <a:rPr lang="en-US" sz="2800" dirty="0">
                <a:latin typeface="Calibir"/>
              </a:rPr>
              <a:t>Which statement about Python exception handling is </a:t>
            </a:r>
            <a:r>
              <a:rPr lang="en-US" sz="2800" b="1" dirty="0">
                <a:latin typeface="Calibir"/>
              </a:rPr>
              <a:t>incorrect</a:t>
            </a:r>
            <a:r>
              <a:rPr lang="en-US" sz="2800" dirty="0">
                <a:latin typeface="Calibir"/>
              </a:rPr>
              <a:t>?</a:t>
            </a:r>
          </a:p>
          <a:p>
            <a:pPr>
              <a:lnSpc>
                <a:spcPct val="150000"/>
              </a:lnSpc>
            </a:pPr>
            <a:r>
              <a:rPr lang="en-US" sz="2800" dirty="0">
                <a:latin typeface="Calibir"/>
              </a:rPr>
              <a:t>A) try can have multiple except blocks</a:t>
            </a:r>
          </a:p>
          <a:p>
            <a:pPr>
              <a:lnSpc>
                <a:spcPct val="150000"/>
              </a:lnSpc>
            </a:pPr>
            <a:r>
              <a:rPr lang="en-US" sz="2800" dirty="0">
                <a:latin typeface="Calibir"/>
              </a:rPr>
              <a:t>B) finally always runs, even if there’s a return inside try</a:t>
            </a:r>
          </a:p>
          <a:p>
            <a:pPr>
              <a:lnSpc>
                <a:spcPct val="150000"/>
              </a:lnSpc>
            </a:pPr>
            <a:r>
              <a:rPr lang="en-US" sz="2800" dirty="0">
                <a:latin typeface="Calibir"/>
              </a:rPr>
              <a:t>C) Python automatically ignores runtime errors without try-except</a:t>
            </a:r>
          </a:p>
          <a:p>
            <a:pPr>
              <a:lnSpc>
                <a:spcPct val="150000"/>
              </a:lnSpc>
            </a:pPr>
            <a:r>
              <a:rPr lang="en-US" sz="2800" dirty="0">
                <a:latin typeface="Calibir"/>
              </a:rPr>
              <a:t>D) else runs only if no exception occurs</a:t>
            </a:r>
          </a:p>
        </p:txBody>
      </p:sp>
      <p:sp>
        <p:nvSpPr>
          <p:cNvPr id="4" name="TextBox 3">
            <a:extLst>
              <a:ext uri="{FF2B5EF4-FFF2-40B4-BE49-F238E27FC236}">
                <a16:creationId xmlns:a16="http://schemas.microsoft.com/office/drawing/2014/main" id="{C15B5833-C03A-B007-937D-3596F9ECA4A2}"/>
              </a:ext>
            </a:extLst>
          </p:cNvPr>
          <p:cNvSpPr txBox="1"/>
          <p:nvPr/>
        </p:nvSpPr>
        <p:spPr>
          <a:xfrm>
            <a:off x="0" y="4893487"/>
            <a:ext cx="12192000" cy="1964512"/>
          </a:xfrm>
          <a:prstGeom prst="rect">
            <a:avLst/>
          </a:prstGeom>
          <a:noFill/>
        </p:spPr>
        <p:txBody>
          <a:bodyPr wrap="square">
            <a:spAutoFit/>
          </a:bodyPr>
          <a:lstStyle/>
          <a:p>
            <a:pPr>
              <a:lnSpc>
                <a:spcPct val="150000"/>
              </a:lnSpc>
            </a:pPr>
            <a:r>
              <a:rPr lang="en-US" sz="2800" b="1" dirty="0">
                <a:latin typeface="Calibir"/>
              </a:rPr>
              <a:t>Answer: C</a:t>
            </a:r>
            <a:br>
              <a:rPr lang="en-US" sz="2800" b="1" dirty="0">
                <a:latin typeface="Calibir"/>
              </a:rPr>
            </a:br>
            <a:r>
              <a:rPr lang="en-US" sz="2800" b="1" dirty="0">
                <a:latin typeface="Calibir"/>
              </a:rPr>
              <a:t>Reason</a:t>
            </a:r>
            <a:r>
              <a:rPr lang="en-US" sz="2800" dirty="0">
                <a:latin typeface="Calibir"/>
              </a:rPr>
              <a:t>: Python does not </a:t>
            </a:r>
            <a:r>
              <a:rPr lang="en-US" sz="2800" i="1" dirty="0">
                <a:latin typeface="Calibir"/>
              </a:rPr>
              <a:t>ignore</a:t>
            </a:r>
            <a:r>
              <a:rPr lang="en-US" sz="2800" dirty="0">
                <a:latin typeface="Calibir"/>
              </a:rPr>
              <a:t> runtime errors—without try-except, they terminate the program.</a:t>
            </a:r>
          </a:p>
        </p:txBody>
      </p:sp>
    </p:spTree>
    <p:extLst>
      <p:ext uri="{BB962C8B-B14F-4D97-AF65-F5344CB8AC3E}">
        <p14:creationId xmlns:p14="http://schemas.microsoft.com/office/powerpoint/2010/main" val="21365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C051-7A66-EDA9-E7AF-DE547854FF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79F88-919D-8998-2E1D-EC4E6FBB9B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FE6EC1EC-C88C-D63D-9D7D-F32F492EF72A}"/>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Q2.</a:t>
            </a:r>
            <a:br>
              <a:rPr lang="en-US" sz="2800" dirty="0">
                <a:latin typeface="Calibir"/>
              </a:rPr>
            </a:br>
            <a:r>
              <a:rPr lang="en-US" sz="2800" dirty="0">
                <a:latin typeface="Calibir"/>
              </a:rPr>
              <a:t>What will this code output?</a:t>
            </a:r>
          </a:p>
        </p:txBody>
      </p:sp>
      <p:sp>
        <p:nvSpPr>
          <p:cNvPr id="5" name="TextBox 4">
            <a:extLst>
              <a:ext uri="{FF2B5EF4-FFF2-40B4-BE49-F238E27FC236}">
                <a16:creationId xmlns:a16="http://schemas.microsoft.com/office/drawing/2014/main" id="{DC530AB0-17E9-6C00-0972-2B08448ADFE3}"/>
              </a:ext>
            </a:extLst>
          </p:cNvPr>
          <p:cNvSpPr txBox="1"/>
          <p:nvPr/>
        </p:nvSpPr>
        <p:spPr>
          <a:xfrm>
            <a:off x="0" y="2412552"/>
            <a:ext cx="12192000" cy="3108543"/>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f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CCCCCC"/>
                </a:solidFill>
                <a:effectLst/>
                <a:latin typeface="Consolas" panose="020B0609020204030204" pitchFamily="49" charset="0"/>
              </a:rPr>
              <a:t>f.readline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missing"</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02E8FE9F-7CEC-A249-B9E5-54B75131646A}"/>
              </a:ext>
            </a:extLst>
          </p:cNvPr>
          <p:cNvSpPr>
            <a:spLocks noChangeArrowheads="1"/>
          </p:cNvSpPr>
          <p:nvPr/>
        </p:nvSpPr>
        <p:spPr bwMode="auto">
          <a:xfrm>
            <a:off x="6926318" y="2627995"/>
            <a:ext cx="5265682"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File missing \n 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Done \n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Only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Only Done</a:t>
            </a:r>
          </a:p>
        </p:txBody>
      </p:sp>
      <p:sp>
        <p:nvSpPr>
          <p:cNvPr id="9" name="TextBox 8">
            <a:extLst>
              <a:ext uri="{FF2B5EF4-FFF2-40B4-BE49-F238E27FC236}">
                <a16:creationId xmlns:a16="http://schemas.microsoft.com/office/drawing/2014/main" id="{AA4044F2-0493-52B3-E43C-24F33ADE723F}"/>
              </a:ext>
            </a:extLst>
          </p:cNvPr>
          <p:cNvSpPr txBox="1"/>
          <p:nvPr/>
        </p:nvSpPr>
        <p:spPr>
          <a:xfrm>
            <a:off x="0" y="5539819"/>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Answer A, Reason</a:t>
            </a:r>
            <a:r>
              <a:rPr lang="en-US" sz="2800" dirty="0">
                <a:latin typeface="Calibir"/>
              </a:rPr>
              <a:t>: FileNotFoundError triggers → prints “File missing” → finally block runs “Done”.</a:t>
            </a:r>
          </a:p>
        </p:txBody>
      </p:sp>
    </p:spTree>
    <p:extLst>
      <p:ext uri="{BB962C8B-B14F-4D97-AF65-F5344CB8AC3E}">
        <p14:creationId xmlns:p14="http://schemas.microsoft.com/office/powerpoint/2010/main" val="206462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A0B49-E6F8-F358-F682-2C92BDEF3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38EF6-EB2D-7402-1C94-D18F03E45FC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DD9C2FA-24DF-4DFB-B448-D63D303AB57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Q3.</a:t>
            </a:r>
            <a:br>
              <a:rPr lang="en-US" sz="2800" dirty="0">
                <a:latin typeface="Calibir"/>
              </a:rPr>
            </a:br>
            <a:r>
              <a:rPr lang="en-US" sz="2800" dirty="0">
                <a:latin typeface="Calibir"/>
              </a:rPr>
              <a:t>Which function is correct for writing binary data in Python?</a:t>
            </a:r>
          </a:p>
        </p:txBody>
      </p:sp>
      <p:sp>
        <p:nvSpPr>
          <p:cNvPr id="7" name="Rectangle 1">
            <a:extLst>
              <a:ext uri="{FF2B5EF4-FFF2-40B4-BE49-F238E27FC236}">
                <a16:creationId xmlns:a16="http://schemas.microsoft.com/office/drawing/2014/main" id="{656343BB-1869-F738-8B44-10B5EC0BA5BD}"/>
              </a:ext>
            </a:extLst>
          </p:cNvPr>
          <p:cNvSpPr>
            <a:spLocks noChangeArrowheads="1"/>
          </p:cNvSpPr>
          <p:nvPr/>
        </p:nvSpPr>
        <p:spPr bwMode="auto">
          <a:xfrm>
            <a:off x="0" y="2627996"/>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open("</a:t>
            </a:r>
            <a:r>
              <a:rPr lang="en-US" altLang="en-US" sz="2800" dirty="0" err="1">
                <a:latin typeface="Calibir"/>
              </a:rPr>
              <a:t>file.bin</a:t>
            </a:r>
            <a:r>
              <a:rPr lang="en-US" altLang="en-US" sz="2800" dirty="0">
                <a:latin typeface="Calibir"/>
              </a:rPr>
              <a:t>", "w")</a:t>
            </a:r>
          </a:p>
          <a:p>
            <a:pPr lvl="0" eaLnBrk="0" fontAlgn="base" hangingPunct="0">
              <a:lnSpc>
                <a:spcPct val="150000"/>
              </a:lnSpc>
              <a:spcBef>
                <a:spcPct val="0"/>
              </a:spcBef>
              <a:spcAft>
                <a:spcPct val="0"/>
              </a:spcAft>
            </a:pPr>
            <a:r>
              <a:rPr lang="en-US" altLang="en-US" sz="2800" dirty="0">
                <a:latin typeface="Calibir"/>
              </a:rPr>
              <a:t>B) open("</a:t>
            </a:r>
            <a:r>
              <a:rPr lang="en-US" altLang="en-US" sz="2800" dirty="0" err="1">
                <a:latin typeface="Calibir"/>
              </a:rPr>
              <a:t>file.bin</a:t>
            </a:r>
            <a:r>
              <a:rPr lang="en-US" altLang="en-US" sz="2800" dirty="0">
                <a:latin typeface="Calibir"/>
              </a:rPr>
              <a:t>", "</a:t>
            </a:r>
            <a:r>
              <a:rPr lang="en-US" altLang="en-US" sz="2800" dirty="0" err="1">
                <a:latin typeface="Calibir"/>
              </a:rPr>
              <a:t>wb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open("</a:t>
            </a:r>
            <a:r>
              <a:rPr lang="en-US" altLang="en-US" sz="2800" dirty="0" err="1">
                <a:latin typeface="Calibir"/>
              </a:rPr>
              <a:t>file.bin</a:t>
            </a:r>
            <a:r>
              <a:rPr lang="en-US" altLang="en-US" sz="2800" dirty="0">
                <a:latin typeface="Calibir"/>
              </a:rPr>
              <a:t>", "</a:t>
            </a:r>
            <a:r>
              <a:rPr lang="en-US" altLang="en-US" sz="2800" dirty="0" err="1">
                <a:latin typeface="Calibir"/>
              </a:rPr>
              <a:t>rb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open("</a:t>
            </a:r>
            <a:r>
              <a:rPr lang="en-US" altLang="en-US" sz="2800" dirty="0" err="1">
                <a:latin typeface="Calibir"/>
              </a:rPr>
              <a:t>file.bin</a:t>
            </a:r>
            <a:r>
              <a:rPr lang="en-US" altLang="en-US" sz="2800" dirty="0">
                <a:latin typeface="Calibir"/>
              </a:rPr>
              <a:t>", "a")</a:t>
            </a:r>
          </a:p>
        </p:txBody>
      </p:sp>
      <p:sp>
        <p:nvSpPr>
          <p:cNvPr id="9" name="TextBox 8">
            <a:extLst>
              <a:ext uri="{FF2B5EF4-FFF2-40B4-BE49-F238E27FC236}">
                <a16:creationId xmlns:a16="http://schemas.microsoft.com/office/drawing/2014/main" id="{68E8CCDD-F41C-3EE4-1128-18790162E5CA}"/>
              </a:ext>
            </a:extLst>
          </p:cNvPr>
          <p:cNvSpPr txBox="1"/>
          <p:nvPr/>
        </p:nvSpPr>
        <p:spPr>
          <a:xfrm>
            <a:off x="0" y="5450017"/>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a:t>
            </a:r>
            <a:r>
              <a:rPr lang="en-US" sz="2800" dirty="0" err="1">
                <a:latin typeface="Calibir"/>
              </a:rPr>
              <a:t>wb</a:t>
            </a:r>
            <a:r>
              <a:rPr lang="en-US" sz="2800" dirty="0">
                <a:latin typeface="Calibir"/>
              </a:rPr>
              <a:t>" means write in binary mode. "</a:t>
            </a:r>
            <a:r>
              <a:rPr lang="en-US" sz="2800" dirty="0" err="1">
                <a:latin typeface="Calibir"/>
              </a:rPr>
              <a:t>rb</a:t>
            </a:r>
            <a:r>
              <a:rPr lang="en-US" sz="2800" dirty="0">
                <a:latin typeface="Calibir"/>
              </a:rPr>
              <a:t>" is read binary.</a:t>
            </a:r>
          </a:p>
        </p:txBody>
      </p:sp>
    </p:spTree>
    <p:extLst>
      <p:ext uri="{BB962C8B-B14F-4D97-AF65-F5344CB8AC3E}">
        <p14:creationId xmlns:p14="http://schemas.microsoft.com/office/powerpoint/2010/main" val="56038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F8F99-D853-4996-5D35-75658A2ED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B28DA-045B-201C-237B-3821349D112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794C49B-BFFA-FC9B-C41C-911CE28CD665}"/>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Q4.</a:t>
            </a:r>
            <a:br>
              <a:rPr lang="en-US" sz="2800" dirty="0">
                <a:latin typeface="Calibir"/>
              </a:rPr>
            </a:br>
            <a:r>
              <a:rPr lang="en-US" sz="2800" dirty="0">
                <a:latin typeface="Calibir"/>
              </a:rPr>
              <a:t>Which is missing in this test?</a:t>
            </a:r>
          </a:p>
        </p:txBody>
      </p:sp>
      <p:sp>
        <p:nvSpPr>
          <p:cNvPr id="9" name="TextBox 8">
            <a:extLst>
              <a:ext uri="{FF2B5EF4-FFF2-40B4-BE49-F238E27FC236}">
                <a16:creationId xmlns:a16="http://schemas.microsoft.com/office/drawing/2014/main" id="{F0187799-709A-2A20-826A-C153F09C303D}"/>
              </a:ext>
            </a:extLst>
          </p:cNvPr>
          <p:cNvSpPr txBox="1"/>
          <p:nvPr/>
        </p:nvSpPr>
        <p:spPr>
          <a:xfrm>
            <a:off x="0" y="4861652"/>
            <a:ext cx="12192000" cy="1321772"/>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To use </a:t>
            </a:r>
            <a:r>
              <a:rPr lang="en-US" sz="2800" dirty="0" err="1">
                <a:latin typeface="Calibir"/>
              </a:rPr>
              <a:t>unittest’s</a:t>
            </a:r>
            <a:r>
              <a:rPr lang="en-US" sz="2800" dirty="0">
                <a:latin typeface="Calibir"/>
              </a:rPr>
              <a:t> assertions, class must inherit </a:t>
            </a:r>
            <a:r>
              <a:rPr lang="en-US" sz="2800" dirty="0" err="1">
                <a:latin typeface="Calibir"/>
              </a:rPr>
              <a:t>unittest.TestCase</a:t>
            </a:r>
            <a:r>
              <a:rPr lang="en-US" sz="2800" dirty="0">
                <a:latin typeface="Calibir"/>
              </a:rPr>
              <a:t>.</a:t>
            </a:r>
          </a:p>
        </p:txBody>
      </p:sp>
      <p:sp>
        <p:nvSpPr>
          <p:cNvPr id="4" name="TextBox 3">
            <a:extLst>
              <a:ext uri="{FF2B5EF4-FFF2-40B4-BE49-F238E27FC236}">
                <a16:creationId xmlns:a16="http://schemas.microsoft.com/office/drawing/2014/main" id="{29F856CB-67EB-72BB-5560-F59D7CB86A7D}"/>
              </a:ext>
            </a:extLst>
          </p:cNvPr>
          <p:cNvSpPr txBox="1"/>
          <p:nvPr/>
        </p:nvSpPr>
        <p:spPr>
          <a:xfrm>
            <a:off x="0" y="2648290"/>
            <a:ext cx="9085455" cy="181588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unittest</a:t>
            </a:r>
          </a:p>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MyTest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test_sum</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.assertEqual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2A8448D1-1E21-0A0E-434D-6F1D80AEA3C8}"/>
              </a:ext>
            </a:extLst>
          </p:cNvPr>
          <p:cNvSpPr>
            <a:spLocks noChangeArrowheads="1"/>
          </p:cNvSpPr>
          <p:nvPr/>
        </p:nvSpPr>
        <p:spPr bwMode="auto">
          <a:xfrm>
            <a:off x="6512312" y="225080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Must import </a:t>
            </a:r>
            <a:r>
              <a:rPr kumimoji="0" lang="en-US" altLang="en-US" sz="2800" b="0" i="0" u="none" strike="noStrike" cap="none" normalizeH="0" baseline="0" dirty="0" err="1">
                <a:ln>
                  <a:noFill/>
                </a:ln>
                <a:solidFill>
                  <a:schemeClr val="tx1"/>
                </a:solidFill>
                <a:effectLst/>
                <a:latin typeface="Calibir"/>
              </a:rPr>
              <a:t>pytest</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Class must extend </a:t>
            </a:r>
            <a:r>
              <a:rPr kumimoji="0" lang="en-US" altLang="en-US" sz="2800" b="0" i="0" u="none" strike="noStrike" cap="none" normalizeH="0" baseline="0" dirty="0" err="1">
                <a:ln>
                  <a:noFill/>
                </a:ln>
                <a:solidFill>
                  <a:schemeClr val="tx1"/>
                </a:solidFill>
                <a:effectLst/>
                <a:latin typeface="Calibir"/>
              </a:rPr>
              <a:t>unittest.TestCase</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Use == instead of </a:t>
            </a:r>
            <a:r>
              <a:rPr kumimoji="0" lang="en-US" altLang="en-US" sz="2800" b="0" i="0" u="none" strike="noStrike" cap="none" normalizeH="0" baseline="0" dirty="0" err="1">
                <a:ln>
                  <a:noFill/>
                </a:ln>
                <a:solidFill>
                  <a:schemeClr val="tx1"/>
                </a:solidFill>
                <a:effectLst/>
                <a:latin typeface="Calibir"/>
              </a:rPr>
              <a:t>assertEqual</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Test method must return True</a:t>
            </a:r>
          </a:p>
        </p:txBody>
      </p:sp>
    </p:spTree>
    <p:extLst>
      <p:ext uri="{BB962C8B-B14F-4D97-AF65-F5344CB8AC3E}">
        <p14:creationId xmlns:p14="http://schemas.microsoft.com/office/powerpoint/2010/main" val="319125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0DD4-A0DD-E3E4-3E51-6CB68FF88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40E62-5FE6-7E8F-2A7A-7E75EE05AE2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DD5AE9CA-7711-D742-AD68-5670700B01B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Q5.</a:t>
            </a:r>
            <a:br>
              <a:rPr lang="en-US" sz="2800" dirty="0">
                <a:latin typeface="Calibir"/>
              </a:rPr>
            </a:br>
            <a:r>
              <a:rPr lang="en-US" sz="2800" dirty="0">
                <a:latin typeface="Calibir"/>
              </a:rPr>
              <a:t>Which method reads the entire file into a string?</a:t>
            </a:r>
          </a:p>
        </p:txBody>
      </p:sp>
      <p:sp>
        <p:nvSpPr>
          <p:cNvPr id="9" name="TextBox 8">
            <a:extLst>
              <a:ext uri="{FF2B5EF4-FFF2-40B4-BE49-F238E27FC236}">
                <a16:creationId xmlns:a16="http://schemas.microsoft.com/office/drawing/2014/main" id="{E0A7938F-34EC-15EE-02F9-74742EF818D0}"/>
              </a:ext>
            </a:extLst>
          </p:cNvPr>
          <p:cNvSpPr txBox="1"/>
          <p:nvPr/>
        </p:nvSpPr>
        <p:spPr>
          <a:xfrm>
            <a:off x="0" y="5028920"/>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C, Reason</a:t>
            </a:r>
            <a:r>
              <a:rPr lang="en-US" sz="2800" dirty="0">
                <a:latin typeface="Calibir"/>
              </a:rPr>
              <a:t>: </a:t>
            </a:r>
            <a:r>
              <a:rPr lang="en-US" sz="2800" dirty="0" err="1">
                <a:latin typeface="Calibir"/>
              </a:rPr>
              <a:t>f.read</a:t>
            </a:r>
            <a:r>
              <a:rPr lang="en-US" sz="2800" dirty="0">
                <a:latin typeface="Calibir"/>
              </a:rPr>
              <a:t>() returns the full file as one string.</a:t>
            </a:r>
          </a:p>
        </p:txBody>
      </p:sp>
      <p:sp>
        <p:nvSpPr>
          <p:cNvPr id="5" name="Rectangle 1">
            <a:extLst>
              <a:ext uri="{FF2B5EF4-FFF2-40B4-BE49-F238E27FC236}">
                <a16:creationId xmlns:a16="http://schemas.microsoft.com/office/drawing/2014/main" id="{73856141-82C5-2917-3A7C-4C7C97D7D3F9}"/>
              </a:ext>
            </a:extLst>
          </p:cNvPr>
          <p:cNvSpPr>
            <a:spLocks noChangeArrowheads="1"/>
          </p:cNvSpPr>
          <p:nvPr/>
        </p:nvSpPr>
        <p:spPr bwMode="auto">
          <a:xfrm>
            <a:off x="0" y="232231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a:t>
            </a:r>
            <a:r>
              <a:rPr lang="en-US" altLang="en-US" sz="2800" dirty="0" err="1">
                <a:latin typeface="Calibir"/>
              </a:rPr>
              <a:t>f.readline</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B) </a:t>
            </a:r>
            <a:r>
              <a:rPr lang="en-US" altLang="en-US" sz="2800" dirty="0" err="1">
                <a:latin typeface="Calibir"/>
              </a:rPr>
              <a:t>f.readlines</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a:t>
            </a:r>
            <a:r>
              <a:rPr lang="en-US" altLang="en-US" sz="2800" dirty="0" err="1">
                <a:latin typeface="Calibir"/>
              </a:rPr>
              <a:t>f.read</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a:t>
            </a:r>
            <a:r>
              <a:rPr lang="en-US" altLang="en-US" sz="2800" dirty="0" err="1">
                <a:latin typeface="Calibir"/>
              </a:rPr>
              <a:t>f.next</a:t>
            </a:r>
            <a:r>
              <a:rPr lang="en-US" altLang="en-US" sz="2800" dirty="0">
                <a:latin typeface="Calibir"/>
              </a:rPr>
              <a:t>()</a:t>
            </a:r>
          </a:p>
        </p:txBody>
      </p:sp>
    </p:spTree>
    <p:extLst>
      <p:ext uri="{BB962C8B-B14F-4D97-AF65-F5344CB8AC3E}">
        <p14:creationId xmlns:p14="http://schemas.microsoft.com/office/powerpoint/2010/main" val="3101847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3431</TotalTime>
  <Words>4834</Words>
  <Application>Microsoft Office PowerPoint</Application>
  <PresentationFormat>Widescreen</PresentationFormat>
  <Paragraphs>557</Paragraphs>
  <Slides>85</Slides>
  <Notes>0</Notes>
  <HiddenSlides>0</HiddenSlides>
  <MMClips>4</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85</vt:i4>
      </vt:variant>
    </vt:vector>
  </HeadingPairs>
  <TitlesOfParts>
    <vt:vector size="94"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9</vt:lpstr>
      <vt:lpstr>Week 9 Outline</vt:lpstr>
      <vt:lpstr>Exceptions</vt:lpstr>
      <vt:lpstr>Exceptions</vt:lpstr>
      <vt:lpstr>Exceptions</vt:lpstr>
      <vt:lpstr>Exceptions</vt:lpstr>
      <vt:lpstr>Exceptions</vt:lpstr>
      <vt:lpstr>Example 1 – Python Exception</vt:lpstr>
      <vt:lpstr>Example 1 – Python Exception</vt:lpstr>
      <vt:lpstr>Example 1 – Python Exception</vt:lpstr>
      <vt:lpstr>Activity 1 – (Python – Division Safety)</vt:lpstr>
      <vt:lpstr>Activity 1 – (Python – Division Safety)</vt:lpstr>
      <vt:lpstr>Activity 2 – (Python – File Error)</vt:lpstr>
      <vt:lpstr>PowerPoint Presentation</vt:lpstr>
      <vt:lpstr>Errors vs Exceptions</vt:lpstr>
      <vt:lpstr>Errors vs Exceptions</vt:lpstr>
      <vt:lpstr>Errors vs Exceptions</vt:lpstr>
      <vt:lpstr>Errors vs Exceptions</vt:lpstr>
      <vt:lpstr>Errors vs Exceptions</vt:lpstr>
      <vt:lpstr>Example 2 – Java Exception</vt:lpstr>
      <vt:lpstr>Example 2 – Java Exception</vt:lpstr>
      <vt:lpstr>Example 2 – Java Exception</vt:lpstr>
      <vt:lpstr>Example 2 – Java Exception</vt:lpstr>
      <vt:lpstr>Activity 3 (Java – Read File)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4 (Python and Java – Custom Exception)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File Handling Basics (Python)</vt:lpstr>
      <vt:lpstr>File Handling Basics (Python)</vt:lpstr>
      <vt:lpstr>File Handling Basics (Python)</vt:lpstr>
      <vt:lpstr>File Handling Basics (Python)</vt:lpstr>
      <vt:lpstr>File Handling Basics (Python)</vt:lpstr>
      <vt:lpstr>File Handling Basics (Python)</vt:lpstr>
      <vt:lpstr>File Handling Basics (Java)</vt:lpstr>
      <vt:lpstr>File Handling Basics (Java)</vt:lpstr>
      <vt:lpstr>File Handling Basics (Java)</vt:lpstr>
      <vt:lpstr>File Handling Basics (Java)</vt:lpstr>
      <vt:lpstr>File Handling Basics (Java)</vt:lpstr>
      <vt:lpstr>File Handling Basics (Java)</vt:lpstr>
      <vt:lpstr>Files &amp; Directories (Python with os module)</vt:lpstr>
      <vt:lpstr>Files &amp; Directories (Python with os module)</vt:lpstr>
      <vt:lpstr>Files &amp; Directories (Java using File class)</vt:lpstr>
      <vt:lpstr>Files &amp; Directories (Java using File class)</vt:lpstr>
      <vt:lpstr>Files &amp; Directories</vt:lpstr>
      <vt:lpstr>Unit Testing</vt:lpstr>
      <vt:lpstr>Unit Testing</vt:lpstr>
      <vt:lpstr>Unit Testing</vt:lpstr>
      <vt:lpstr>Unit Testing</vt:lpstr>
      <vt:lpstr>Unit Testing</vt:lpstr>
      <vt:lpstr>Unit Testing</vt:lpstr>
      <vt:lpstr>Unit Testing</vt:lpstr>
      <vt:lpstr>PowerPoint Presentation</vt:lpstr>
      <vt:lpstr>PowerPoint Presentation</vt:lpstr>
      <vt:lpstr>PowerPoint Presentation</vt:lpstr>
      <vt:lpstr>PowerPoint Presentation</vt:lpstr>
      <vt:lpstr>PowerPoint Presentation</vt:lpstr>
      <vt:lpstr>Why Exceptions? Where Do We See Testing?</vt:lpstr>
      <vt:lpstr>Role-Playing Debate Questions</vt:lpstr>
      <vt:lpstr>Quiz 2 Preparation &amp; Guideline</vt:lpstr>
      <vt:lpstr>Quiz 2 Preparation &amp; Guideline</vt:lpstr>
      <vt:lpstr>Quiz 2 Preparation &amp; Guideline</vt:lpstr>
      <vt:lpstr>MQs designed in Week 9 (Files, Exceptions, Testing)</vt:lpstr>
      <vt:lpstr>MQs designed in Week 9 (Files, Exceptions, Testing)</vt:lpstr>
      <vt:lpstr>MQs designed in Week 9 (Files, Exceptions, Testing)</vt:lpstr>
      <vt:lpstr>MQs designed in Week 9 (Files, Exceptions, Testing)</vt:lpstr>
      <vt:lpstr>MQs designed in Week 9 (Files, Exceptions, Testing)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1073</cp:revision>
  <dcterms:created xsi:type="dcterms:W3CDTF">2025-07-28T16:39:25Z</dcterms:created>
  <dcterms:modified xsi:type="dcterms:W3CDTF">2025-09-30T07:56:50Z</dcterms:modified>
</cp:coreProperties>
</file>