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68"/>
  </p:notesMasterIdLst>
  <p:sldIdLst>
    <p:sldId id="256" r:id="rId3"/>
    <p:sldId id="2467" r:id="rId4"/>
    <p:sldId id="2634" r:id="rId5"/>
    <p:sldId id="3051" r:id="rId6"/>
    <p:sldId id="3052" r:id="rId7"/>
    <p:sldId id="3054" r:id="rId8"/>
    <p:sldId id="3055" r:id="rId9"/>
    <p:sldId id="3073" r:id="rId10"/>
    <p:sldId id="3074" r:id="rId11"/>
    <p:sldId id="3075" r:id="rId12"/>
    <p:sldId id="3076" r:id="rId13"/>
    <p:sldId id="3077" r:id="rId14"/>
    <p:sldId id="3078" r:id="rId15"/>
    <p:sldId id="3079" r:id="rId16"/>
    <p:sldId id="3056" r:id="rId17"/>
    <p:sldId id="3057" r:id="rId18"/>
    <p:sldId id="3058" r:id="rId19"/>
    <p:sldId id="3080" r:id="rId20"/>
    <p:sldId id="3081" r:id="rId21"/>
    <p:sldId id="3082" r:id="rId22"/>
    <p:sldId id="3083" r:id="rId23"/>
    <p:sldId id="3084" r:id="rId24"/>
    <p:sldId id="3085" r:id="rId25"/>
    <p:sldId id="3086" r:id="rId26"/>
    <p:sldId id="3087" r:id="rId27"/>
    <p:sldId id="3088" r:id="rId28"/>
    <p:sldId id="3089" r:id="rId29"/>
    <p:sldId id="3090" r:id="rId30"/>
    <p:sldId id="3091" r:id="rId31"/>
    <p:sldId id="3092" r:id="rId32"/>
    <p:sldId id="3093" r:id="rId33"/>
    <p:sldId id="3094" r:id="rId34"/>
    <p:sldId id="3095" r:id="rId35"/>
    <p:sldId id="3096" r:id="rId36"/>
    <p:sldId id="3097" r:id="rId37"/>
    <p:sldId id="3098" r:id="rId38"/>
    <p:sldId id="3099" r:id="rId39"/>
    <p:sldId id="3100" r:id="rId40"/>
    <p:sldId id="3101" r:id="rId41"/>
    <p:sldId id="3059" r:id="rId42"/>
    <p:sldId id="3060" r:id="rId43"/>
    <p:sldId id="3061" r:id="rId44"/>
    <p:sldId id="3103" r:id="rId45"/>
    <p:sldId id="3104" r:id="rId46"/>
    <p:sldId id="3105" r:id="rId47"/>
    <p:sldId id="3062" r:id="rId48"/>
    <p:sldId id="3063" r:id="rId49"/>
    <p:sldId id="3064" r:id="rId50"/>
    <p:sldId id="3065" r:id="rId51"/>
    <p:sldId id="3066" r:id="rId52"/>
    <p:sldId id="3067" r:id="rId53"/>
    <p:sldId id="3068" r:id="rId54"/>
    <p:sldId id="3069" r:id="rId55"/>
    <p:sldId id="3070" r:id="rId56"/>
    <p:sldId id="3071" r:id="rId57"/>
    <p:sldId id="3072" r:id="rId58"/>
    <p:sldId id="3050" r:id="rId59"/>
    <p:sldId id="3048" r:id="rId60"/>
    <p:sldId id="3049" r:id="rId61"/>
    <p:sldId id="3047" r:id="rId62"/>
    <p:sldId id="3043" r:id="rId63"/>
    <p:sldId id="3044" r:id="rId64"/>
    <p:sldId id="3045" r:id="rId65"/>
    <p:sldId id="3046" r:id="rId66"/>
    <p:sldId id="749"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50" d="100"/>
          <a:sy n="50" d="100"/>
        </p:scale>
        <p:origin x="1023"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30/09/2025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30/09/2025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30/09/2025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11.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9</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9 Outline</a:t>
            </a:r>
            <a:endParaRPr lang="en-AU" sz="4000" b="1" dirty="0">
              <a:latin typeface="Calibir"/>
            </a:endParaRPr>
          </a:p>
        </p:txBody>
      </p:sp>
      <p:sp>
        <p:nvSpPr>
          <p:cNvPr id="4" name="TextBox 3">
            <a:extLst>
              <a:ext uri="{FF2B5EF4-FFF2-40B4-BE49-F238E27FC236}">
                <a16:creationId xmlns:a16="http://schemas.microsoft.com/office/drawing/2014/main" id="{2F0128F9-B18A-0AC2-A696-92165ABAB1BE}"/>
              </a:ext>
            </a:extLst>
          </p:cNvPr>
          <p:cNvSpPr txBox="1"/>
          <p:nvPr/>
        </p:nvSpPr>
        <p:spPr>
          <a:xfrm>
            <a:off x="0" y="856356"/>
            <a:ext cx="12192000" cy="6001643"/>
          </a:xfrm>
          <a:prstGeom prst="rect">
            <a:avLst/>
          </a:prstGeom>
          <a:noFill/>
        </p:spPr>
        <p:txBody>
          <a:bodyPr wrap="square">
            <a:spAutoFit/>
          </a:bodyPr>
          <a:lstStyle/>
          <a:p>
            <a:pPr marL="342900" indent="-342900">
              <a:buFont typeface="+mj-lt"/>
              <a:buAutoNum type="arabicPeriod"/>
            </a:pPr>
            <a:r>
              <a:rPr lang="en-US" sz="2400" dirty="0">
                <a:latin typeface="Calibir"/>
              </a:rPr>
              <a:t>Exceptions</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Example 1 – Python Exception (try/except/finally).</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Activity 1 (Python – Division Safety)</a:t>
            </a:r>
          </a:p>
          <a:p>
            <a:pPr marL="800100" lvl="1" indent="-342900" eaLnBrk="0" fontAlgn="base" hangingPunct="0">
              <a:spcBef>
                <a:spcPct val="0"/>
              </a:spcBef>
              <a:spcAft>
                <a:spcPct val="0"/>
              </a:spcAft>
              <a:buFont typeface="Arial" panose="020B0604020202020204" pitchFamily="34" charset="0"/>
              <a:buChar char="•"/>
            </a:pPr>
            <a:r>
              <a:rPr lang="en-US" altLang="en-US" sz="2400" dirty="0">
                <a:latin typeface="Calibir"/>
              </a:rPr>
              <a:t>Activity 2 (Python – File Error)</a:t>
            </a:r>
          </a:p>
          <a:p>
            <a:pPr marL="342900" indent="-342900">
              <a:buFont typeface="+mj-lt"/>
              <a:buAutoNum type="arabicPeriod"/>
            </a:pPr>
            <a:r>
              <a:rPr lang="en-US" sz="2400" dirty="0">
                <a:latin typeface="Calibir"/>
              </a:rPr>
              <a:t>Errors vs Exceptions</a:t>
            </a:r>
          </a:p>
          <a:p>
            <a:pPr marL="800100" lvl="1" indent="-342900">
              <a:buFont typeface="Arial" panose="020B0604020202020204" pitchFamily="34" charset="0"/>
              <a:buChar char="•"/>
            </a:pPr>
            <a:r>
              <a:rPr lang="en-US" sz="2400" dirty="0">
                <a:latin typeface="Calibir"/>
              </a:rPr>
              <a:t>Java Example 2 – Exception Handling (divide by zero, number format)</a:t>
            </a:r>
          </a:p>
          <a:p>
            <a:pPr marL="800100" lvl="1" indent="-342900">
              <a:buFont typeface="Arial" panose="020B0604020202020204" pitchFamily="34" charset="0"/>
              <a:buChar char="•"/>
            </a:pPr>
            <a:r>
              <a:rPr lang="en-US" sz="2400" dirty="0">
                <a:latin typeface="Calibir"/>
              </a:rPr>
              <a:t>Activity 3 (Java – Read File)</a:t>
            </a:r>
          </a:p>
          <a:p>
            <a:pPr marL="800100" lvl="1" indent="-342900">
              <a:buFont typeface="Arial" panose="020B0604020202020204" pitchFamily="34" charset="0"/>
              <a:buChar char="•"/>
            </a:pPr>
            <a:r>
              <a:rPr lang="en-US" sz="2400" dirty="0">
                <a:latin typeface="Calibir"/>
              </a:rPr>
              <a:t>Activity 4 (Java – Custom Exception: </a:t>
            </a:r>
            <a:r>
              <a:rPr lang="en-US" sz="2400" dirty="0" err="1">
                <a:latin typeface="Calibir"/>
              </a:rPr>
              <a:t>InvalidMarkException</a:t>
            </a:r>
            <a:r>
              <a:rPr lang="en-US" sz="2400" dirty="0">
                <a:latin typeface="Calibir"/>
              </a:rPr>
              <a:t>)</a:t>
            </a:r>
          </a:p>
          <a:p>
            <a:pPr marL="342900" indent="-342900">
              <a:buFont typeface="+mj-lt"/>
              <a:buAutoNum type="arabicPeriod"/>
            </a:pPr>
            <a:r>
              <a:rPr lang="en-US" sz="2400" dirty="0">
                <a:latin typeface="Calibir"/>
              </a:rPr>
              <a:t>File Handling Basics (Python)</a:t>
            </a:r>
          </a:p>
          <a:p>
            <a:pPr marL="342900" indent="-342900">
              <a:buFont typeface="+mj-lt"/>
              <a:buAutoNum type="arabicPeriod"/>
            </a:pPr>
            <a:r>
              <a:rPr lang="en-US" sz="2400" dirty="0">
                <a:latin typeface="Calibir"/>
              </a:rPr>
              <a:t>File Handling Basics (Java)</a:t>
            </a:r>
          </a:p>
          <a:p>
            <a:pPr marL="342900" indent="-342900">
              <a:buFont typeface="+mj-lt"/>
              <a:buAutoNum type="arabicPeriod"/>
            </a:pPr>
            <a:r>
              <a:rPr lang="en-US" sz="2400" dirty="0">
                <a:latin typeface="Calibir"/>
              </a:rPr>
              <a:t>Files &amp; Directories</a:t>
            </a:r>
          </a:p>
          <a:p>
            <a:pPr marL="342900" indent="-342900">
              <a:buFont typeface="+mj-lt"/>
              <a:buAutoNum type="arabicPeriod"/>
            </a:pPr>
            <a:r>
              <a:rPr lang="en-US" sz="2400" dirty="0">
                <a:latin typeface="Calibir"/>
              </a:rPr>
              <a:t>Unit Testing</a:t>
            </a:r>
          </a:p>
          <a:p>
            <a:pPr marL="342900" indent="-342900">
              <a:buFont typeface="+mj-lt"/>
              <a:buAutoNum type="arabicPeriod"/>
            </a:pPr>
            <a:r>
              <a:rPr lang="en-US" sz="2400" dirty="0">
                <a:latin typeface="Calibir"/>
              </a:rPr>
              <a:t>Why Exceptions? Where Do We See Testing?</a:t>
            </a:r>
          </a:p>
          <a:p>
            <a:pPr marL="342900" indent="-342900">
              <a:buFont typeface="+mj-lt"/>
              <a:buAutoNum type="arabicPeriod"/>
            </a:pPr>
            <a:r>
              <a:rPr lang="en-US" sz="2400" dirty="0">
                <a:latin typeface="Calibir"/>
              </a:rPr>
              <a:t>Role-Playing Debate Questions</a:t>
            </a:r>
          </a:p>
          <a:p>
            <a:pPr marL="342900" indent="-342900">
              <a:buFont typeface="+mj-lt"/>
              <a:buAutoNum type="arabicPeriod"/>
            </a:pPr>
            <a:r>
              <a:rPr lang="en-US" sz="2400" dirty="0">
                <a:latin typeface="Calibir"/>
              </a:rPr>
              <a:t>Quiz 2 Preparation &amp; Guideline</a:t>
            </a:r>
          </a:p>
          <a:p>
            <a:pPr marL="342900" indent="-342900">
              <a:buFont typeface="+mj-lt"/>
              <a:buAutoNum type="arabicPeriod"/>
            </a:pPr>
            <a:r>
              <a:rPr lang="en-US" sz="2400" dirty="0">
                <a:latin typeface="Calibir"/>
              </a:rPr>
              <a:t>MQs designed in Week 9 (Files, Exceptions, Testing)</a:t>
            </a: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F4F9A395-3E0E-FE9C-949A-E4964EFA0B3B}"/>
              </a:ext>
            </a:extLst>
          </p:cNvPr>
          <p:cNvSpPr txBox="1"/>
          <p:nvPr/>
        </p:nvSpPr>
        <p:spPr>
          <a:xfrm>
            <a:off x="0" y="1072057"/>
            <a:ext cx="11971282" cy="390350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What are exceptions?</a:t>
            </a:r>
            <a:br>
              <a:rPr lang="en-US" altLang="en-US" sz="2800" dirty="0">
                <a:latin typeface="Calibir"/>
              </a:rPr>
            </a:br>
            <a:r>
              <a:rPr lang="en-US" altLang="en-US" sz="2800" dirty="0">
                <a:latin typeface="Calibir"/>
              </a:rPr>
              <a:t>Special objects that appear when something goes wrong in a program.</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b="1" dirty="0">
                <a:latin typeface="Calibir"/>
              </a:rPr>
              <a:t>Analogy:</a:t>
            </a:r>
            <a:br>
              <a:rPr lang="en-US" altLang="en-US" sz="2800" dirty="0">
                <a:latin typeface="Calibir"/>
              </a:rPr>
            </a:br>
            <a:r>
              <a:rPr lang="en-US" altLang="en-US" sz="2800" dirty="0">
                <a:latin typeface="Calibir"/>
              </a:rPr>
              <a:t>Think of it like a fire alarm in a building.</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Normal life (program flow) stops.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Emergency plan (error handling) starts.</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67D00-0EB0-10B3-1113-CB8EC3415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33800D-0DAD-2223-E244-B3608ED6F730}"/>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AF5281CF-4426-2FB0-26E9-A2786124A593}"/>
              </a:ext>
            </a:extLst>
          </p:cNvPr>
          <p:cNvSpPr txBox="1"/>
          <p:nvPr/>
        </p:nvSpPr>
        <p:spPr>
          <a:xfrm>
            <a:off x="0" y="1072057"/>
            <a:ext cx="11971282" cy="1964512"/>
          </a:xfrm>
          <a:prstGeom prst="rect">
            <a:avLst/>
          </a:prstGeom>
          <a:noFill/>
        </p:spPr>
        <p:txBody>
          <a:bodyPr wrap="square">
            <a:spAutoFit/>
          </a:bodyPr>
          <a:lstStyle/>
          <a:p>
            <a:pPr>
              <a:lnSpc>
                <a:spcPct val="150000"/>
              </a:lnSpc>
            </a:pPr>
            <a:r>
              <a:rPr lang="en-US" sz="2800" b="1" dirty="0">
                <a:latin typeface="Calibir"/>
              </a:rPr>
              <a:t>How we handle them</a:t>
            </a:r>
          </a:p>
          <a:p>
            <a:pPr marL="914400" lvl="1" indent="-457200">
              <a:lnSpc>
                <a:spcPct val="150000"/>
              </a:lnSpc>
              <a:buFont typeface="Arial" panose="020B0604020202020204" pitchFamily="34" charset="0"/>
              <a:buChar char="•"/>
            </a:pPr>
            <a:r>
              <a:rPr lang="en-US" sz="2800" b="1" dirty="0">
                <a:latin typeface="Calibir"/>
              </a:rPr>
              <a:t>Java</a:t>
            </a:r>
            <a:r>
              <a:rPr lang="en-US" sz="2800" dirty="0">
                <a:latin typeface="Calibir"/>
              </a:rPr>
              <a:t> → try – catch – finally</a:t>
            </a:r>
          </a:p>
          <a:p>
            <a:pPr marL="914400" lvl="1" indent="-457200">
              <a:lnSpc>
                <a:spcPct val="150000"/>
              </a:lnSpc>
              <a:buFont typeface="Arial" panose="020B0604020202020204" pitchFamily="34" charset="0"/>
              <a:buChar char="•"/>
            </a:pPr>
            <a:r>
              <a:rPr lang="en-US" sz="2800" b="1" dirty="0">
                <a:latin typeface="Calibir"/>
              </a:rPr>
              <a:t>Python</a:t>
            </a:r>
            <a:r>
              <a:rPr lang="en-US" sz="2800" dirty="0">
                <a:latin typeface="Calibir"/>
              </a:rPr>
              <a:t> → try – except – else – finally</a:t>
            </a:r>
          </a:p>
        </p:txBody>
      </p:sp>
    </p:spTree>
    <p:extLst>
      <p:ext uri="{BB962C8B-B14F-4D97-AF65-F5344CB8AC3E}">
        <p14:creationId xmlns:p14="http://schemas.microsoft.com/office/powerpoint/2010/main" val="1195793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DE401-86E6-EAE1-0A35-84453896E2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1E89F-DCE7-FD0E-BF5A-EE15BE194BF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337CF21B-A671-895B-00AC-7E0AD96CD50E}"/>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3AD55106-35CA-9D02-7377-7F91FDD9E86D}"/>
              </a:ext>
            </a:extLst>
          </p:cNvPr>
          <p:cNvGraphicFramePr>
            <a:graphicFrameLocks noGrp="1"/>
          </p:cNvGraphicFramePr>
          <p:nvPr>
            <p:extLst>
              <p:ext uri="{D42A27DB-BD31-4B8C-83A1-F6EECF244321}">
                <p14:modId xmlns:p14="http://schemas.microsoft.com/office/powerpoint/2010/main" val="438074614"/>
              </p:ext>
            </p:extLst>
          </p:nvPr>
        </p:nvGraphicFramePr>
        <p:xfrm>
          <a:off x="838200" y="1269919"/>
          <a:ext cx="10515600" cy="2661412"/>
        </p:xfrm>
        <a:graphic>
          <a:graphicData uri="http://schemas.openxmlformats.org/drawingml/2006/table">
            <a:tbl>
              <a:tblPr>
                <a:tableStyleId>{ED083AE6-46FA-4A59-8FB0-9F97EB10719F}</a:tableStyleId>
              </a:tblPr>
              <a:tblGrid>
                <a:gridCol w="3505200">
                  <a:extLst>
                    <a:ext uri="{9D8B030D-6E8A-4147-A177-3AD203B41FA5}">
                      <a16:colId xmlns:a16="http://schemas.microsoft.com/office/drawing/2014/main" val="1393283062"/>
                    </a:ext>
                  </a:extLst>
                </a:gridCol>
                <a:gridCol w="3505200">
                  <a:extLst>
                    <a:ext uri="{9D8B030D-6E8A-4147-A177-3AD203B41FA5}">
                      <a16:colId xmlns:a16="http://schemas.microsoft.com/office/drawing/2014/main" val="2370097554"/>
                    </a:ext>
                  </a:extLst>
                </a:gridCol>
                <a:gridCol w="3505200">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dirty="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dirty="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dirty="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7" name="TextBox 6">
            <a:extLst>
              <a:ext uri="{FF2B5EF4-FFF2-40B4-BE49-F238E27FC236}">
                <a16:creationId xmlns:a16="http://schemas.microsoft.com/office/drawing/2014/main" id="{4B4FC65A-89FC-7C17-1006-01F577F61207}"/>
              </a:ext>
            </a:extLst>
          </p:cNvPr>
          <p:cNvSpPr txBox="1"/>
          <p:nvPr/>
        </p:nvSpPr>
        <p:spPr>
          <a:xfrm>
            <a:off x="0" y="5249512"/>
            <a:ext cx="12088851" cy="523220"/>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throw</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new</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Exception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"Something went wrong"</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E0DA05DB-B02D-218B-A4A8-36DDD05809C2}"/>
              </a:ext>
            </a:extLst>
          </p:cNvPr>
          <p:cNvSpPr txBox="1"/>
          <p:nvPr/>
        </p:nvSpPr>
        <p:spPr>
          <a:xfrm>
            <a:off x="-1" y="3931331"/>
            <a:ext cx="12191999" cy="2430922"/>
          </a:xfrm>
          <a:prstGeom prst="rect">
            <a:avLst/>
          </a:prstGeom>
          <a:noFill/>
        </p:spPr>
        <p:txBody>
          <a:bodyPr wrap="square">
            <a:spAutoFit/>
          </a:bodyPr>
          <a:lstStyle/>
          <a:p>
            <a:pPr marL="514350" indent="-514350">
              <a:lnSpc>
                <a:spcPct val="150000"/>
              </a:lnSpc>
              <a:buAutoNum type="arabicPeriod"/>
            </a:pPr>
            <a:r>
              <a:rPr lang="en-US" sz="2500" dirty="0">
                <a:latin typeface="Calibir"/>
              </a:rPr>
              <a:t>Raise error</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10" name="TextBox 9">
            <a:extLst>
              <a:ext uri="{FF2B5EF4-FFF2-40B4-BE49-F238E27FC236}">
                <a16:creationId xmlns:a16="http://schemas.microsoft.com/office/drawing/2014/main" id="{A7FEC54E-379F-7CB4-2610-CFFCB909CD60}"/>
              </a:ext>
            </a:extLst>
          </p:cNvPr>
          <p:cNvSpPr txBox="1"/>
          <p:nvPr/>
        </p:nvSpPr>
        <p:spPr>
          <a:xfrm>
            <a:off x="0" y="6195171"/>
            <a:ext cx="12192000" cy="523220"/>
          </a:xfrm>
          <a:prstGeom prst="rect">
            <a:avLst/>
          </a:prstGeom>
          <a:solidFill>
            <a:schemeClr val="tx1"/>
          </a:solidFill>
        </p:spPr>
        <p:txBody>
          <a:bodyPr wrap="square">
            <a:spAutoFit/>
          </a:bodyPr>
          <a:lstStyle/>
          <a:p>
            <a:pPr>
              <a:buNone/>
            </a:pPr>
            <a:r>
              <a:rPr lang="en-US" sz="2800" b="0" dirty="0">
                <a:solidFill>
                  <a:srgbClr val="CCCCCC"/>
                </a:solidFill>
                <a:effectLst/>
                <a:latin typeface="Consolas" panose="020B0609020204030204" pitchFamily="49" charset="0"/>
              </a:rPr>
              <a:t>raise </a:t>
            </a:r>
            <a:r>
              <a:rPr lang="en-US" sz="2800" b="0" dirty="0">
                <a:solidFill>
                  <a:srgbClr val="DCDCAA"/>
                </a:solidFill>
                <a:effectLst/>
                <a:latin typeface="Consolas" panose="020B0609020204030204" pitchFamily="49" charset="0"/>
              </a:rPr>
              <a:t>Exception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"Something went wrong"</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749126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28CE2-B20E-A465-0CB6-2C4BC6B43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31607C-2C02-5231-709A-CC6CBEC2BB9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47FAA503-03F1-94E2-275F-DF1206BC0563}"/>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F6433434-4D5B-E119-CE3F-CB92ABD9268C}"/>
              </a:ext>
            </a:extLst>
          </p:cNvPr>
          <p:cNvGraphicFramePr>
            <a:graphicFrameLocks noGrp="1"/>
          </p:cNvGraphicFramePr>
          <p:nvPr>
            <p:extLst>
              <p:ext uri="{D42A27DB-BD31-4B8C-83A1-F6EECF244321}">
                <p14:modId xmlns:p14="http://schemas.microsoft.com/office/powerpoint/2010/main" val="3435346679"/>
              </p:ext>
            </p:extLst>
          </p:nvPr>
        </p:nvGraphicFramePr>
        <p:xfrm>
          <a:off x="4047893" y="28661"/>
          <a:ext cx="8144105" cy="2661412"/>
        </p:xfrm>
        <a:graphic>
          <a:graphicData uri="http://schemas.openxmlformats.org/drawingml/2006/table">
            <a:tbl>
              <a:tblPr>
                <a:tableStyleId>{ED083AE6-46FA-4A59-8FB0-9F97EB10719F}</a:tableStyleId>
              </a:tblPr>
              <a:tblGrid>
                <a:gridCol w="1810213">
                  <a:extLst>
                    <a:ext uri="{9D8B030D-6E8A-4147-A177-3AD203B41FA5}">
                      <a16:colId xmlns:a16="http://schemas.microsoft.com/office/drawing/2014/main" val="1393283062"/>
                    </a:ext>
                  </a:extLst>
                </a:gridCol>
                <a:gridCol w="2932770">
                  <a:extLst>
                    <a:ext uri="{9D8B030D-6E8A-4147-A177-3AD203B41FA5}">
                      <a16:colId xmlns:a16="http://schemas.microsoft.com/office/drawing/2014/main" val="2370097554"/>
                    </a:ext>
                  </a:extLst>
                </a:gridCol>
                <a:gridCol w="3401122">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8" name="TextBox 7">
            <a:extLst>
              <a:ext uri="{FF2B5EF4-FFF2-40B4-BE49-F238E27FC236}">
                <a16:creationId xmlns:a16="http://schemas.microsoft.com/office/drawing/2014/main" id="{8743C353-31A7-9900-093E-7009E2E8C2FA}"/>
              </a:ext>
            </a:extLst>
          </p:cNvPr>
          <p:cNvSpPr txBox="1"/>
          <p:nvPr/>
        </p:nvSpPr>
        <p:spPr>
          <a:xfrm>
            <a:off x="100360" y="1838246"/>
            <a:ext cx="12191999" cy="3495188"/>
          </a:xfrm>
          <a:prstGeom prst="rect">
            <a:avLst/>
          </a:prstGeom>
          <a:noFill/>
        </p:spPr>
        <p:txBody>
          <a:bodyPr wrap="square">
            <a:spAutoFit/>
          </a:bodyPr>
          <a:lstStyle/>
          <a:p>
            <a:pPr marL="514350" indent="-514350">
              <a:lnSpc>
                <a:spcPct val="150000"/>
              </a:lnSpc>
              <a:buFont typeface="+mj-lt"/>
              <a:buAutoNum type="arabicPeriod" startAt="2"/>
            </a:pPr>
            <a:r>
              <a:rPr lang="en-US" sz="2500" dirty="0">
                <a:latin typeface="Calibir"/>
              </a:rPr>
              <a:t>Catch error</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5" name="TextBox 4">
            <a:extLst>
              <a:ext uri="{FF2B5EF4-FFF2-40B4-BE49-F238E27FC236}">
                <a16:creationId xmlns:a16="http://schemas.microsoft.com/office/drawing/2014/main" id="{618368FA-7CAD-400D-FD67-8BD45A6656FD}"/>
              </a:ext>
            </a:extLst>
          </p:cNvPr>
          <p:cNvSpPr txBox="1"/>
          <p:nvPr/>
        </p:nvSpPr>
        <p:spPr>
          <a:xfrm>
            <a:off x="1673611" y="2772861"/>
            <a:ext cx="9246220" cy="201593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int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x</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0</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catch</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Exception</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e</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"Error: "</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e</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getMessage</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6385F649-4F9E-889D-2601-432ABB1CCD3D}"/>
              </a:ext>
            </a:extLst>
          </p:cNvPr>
          <p:cNvSpPr txBox="1"/>
          <p:nvPr/>
        </p:nvSpPr>
        <p:spPr>
          <a:xfrm>
            <a:off x="1673611" y="4863585"/>
            <a:ext cx="9246220"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x = 5 / 0</a:t>
            </a:r>
          </a:p>
          <a:p>
            <a:pPr>
              <a:buNone/>
            </a:pPr>
            <a:r>
              <a:rPr lang="en-US" sz="2500" b="0" dirty="0">
                <a:solidFill>
                  <a:srgbClr val="CCCCCC"/>
                </a:solidFill>
                <a:effectLst/>
                <a:latin typeface="Consolas" panose="020B0609020204030204" pitchFamily="49" charset="0"/>
              </a:rPr>
              <a:t>except Exception as e:</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"Error:"</a:t>
            </a:r>
            <a:r>
              <a:rPr lang="en-US" sz="2500" b="0" dirty="0">
                <a:solidFill>
                  <a:srgbClr val="CCCCCC"/>
                </a:solidFill>
                <a:effectLst/>
                <a:latin typeface="Consolas" panose="020B0609020204030204" pitchFamily="49" charset="0"/>
              </a:rPr>
              <a:t>, e)</a:t>
            </a:r>
          </a:p>
        </p:txBody>
      </p:sp>
    </p:spTree>
    <p:extLst>
      <p:ext uri="{BB962C8B-B14F-4D97-AF65-F5344CB8AC3E}">
        <p14:creationId xmlns:p14="http://schemas.microsoft.com/office/powerpoint/2010/main" val="16945762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CB0A7-D5FE-6625-37BC-0C6A27F0ED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32EE73-42BD-67EA-F55C-5E40CE9F984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Exceptions</a:t>
            </a:r>
          </a:p>
        </p:txBody>
      </p:sp>
      <p:sp>
        <p:nvSpPr>
          <p:cNvPr id="6" name="TextBox 5">
            <a:extLst>
              <a:ext uri="{FF2B5EF4-FFF2-40B4-BE49-F238E27FC236}">
                <a16:creationId xmlns:a16="http://schemas.microsoft.com/office/drawing/2014/main" id="{910D0EAB-C79B-B3DE-D097-50B0D4A71140}"/>
              </a:ext>
            </a:extLst>
          </p:cNvPr>
          <p:cNvSpPr txBox="1"/>
          <p:nvPr/>
        </p:nvSpPr>
        <p:spPr>
          <a:xfrm>
            <a:off x="0" y="581403"/>
            <a:ext cx="11971282" cy="675441"/>
          </a:xfrm>
          <a:prstGeom prst="rect">
            <a:avLst/>
          </a:prstGeom>
          <a:noFill/>
        </p:spPr>
        <p:txBody>
          <a:bodyPr wrap="square">
            <a:spAutoFit/>
          </a:bodyPr>
          <a:lstStyle/>
          <a:p>
            <a:pPr>
              <a:lnSpc>
                <a:spcPct val="150000"/>
              </a:lnSpc>
            </a:pPr>
            <a:r>
              <a:rPr lang="en-US" sz="2800" dirty="0"/>
              <a:t>Concepts with Examples</a:t>
            </a:r>
            <a:endParaRPr lang="en-US" sz="2800" dirty="0">
              <a:latin typeface="Calibir"/>
            </a:endParaRPr>
          </a:p>
        </p:txBody>
      </p:sp>
      <p:graphicFrame>
        <p:nvGraphicFramePr>
          <p:cNvPr id="3" name="Table 2">
            <a:extLst>
              <a:ext uri="{FF2B5EF4-FFF2-40B4-BE49-F238E27FC236}">
                <a16:creationId xmlns:a16="http://schemas.microsoft.com/office/drawing/2014/main" id="{9E21E046-D35A-BBE8-2659-0F5E9BF1838B}"/>
              </a:ext>
            </a:extLst>
          </p:cNvPr>
          <p:cNvGraphicFramePr>
            <a:graphicFrameLocks noGrp="1"/>
          </p:cNvGraphicFramePr>
          <p:nvPr/>
        </p:nvGraphicFramePr>
        <p:xfrm>
          <a:off x="4047893" y="28661"/>
          <a:ext cx="8144105" cy="2661412"/>
        </p:xfrm>
        <a:graphic>
          <a:graphicData uri="http://schemas.openxmlformats.org/drawingml/2006/table">
            <a:tbl>
              <a:tblPr>
                <a:tableStyleId>{ED083AE6-46FA-4A59-8FB0-9F97EB10719F}</a:tableStyleId>
              </a:tblPr>
              <a:tblGrid>
                <a:gridCol w="1810213">
                  <a:extLst>
                    <a:ext uri="{9D8B030D-6E8A-4147-A177-3AD203B41FA5}">
                      <a16:colId xmlns:a16="http://schemas.microsoft.com/office/drawing/2014/main" val="1393283062"/>
                    </a:ext>
                  </a:extLst>
                </a:gridCol>
                <a:gridCol w="2932770">
                  <a:extLst>
                    <a:ext uri="{9D8B030D-6E8A-4147-A177-3AD203B41FA5}">
                      <a16:colId xmlns:a16="http://schemas.microsoft.com/office/drawing/2014/main" val="2370097554"/>
                    </a:ext>
                  </a:extLst>
                </a:gridCol>
                <a:gridCol w="3401122">
                  <a:extLst>
                    <a:ext uri="{9D8B030D-6E8A-4147-A177-3AD203B41FA5}">
                      <a16:colId xmlns:a16="http://schemas.microsoft.com/office/drawing/2014/main" val="3531350266"/>
                    </a:ext>
                  </a:extLst>
                </a:gridCol>
              </a:tblGrid>
              <a:tr h="0">
                <a:tc>
                  <a:txBody>
                    <a:bodyPr/>
                    <a:lstStyle/>
                    <a:p>
                      <a:pPr>
                        <a:lnSpc>
                          <a:spcPct val="150000"/>
                        </a:lnSpc>
                        <a:buNone/>
                      </a:pPr>
                      <a:r>
                        <a:rPr lang="en-US" sz="2800" dirty="0">
                          <a:latin typeface="Calibir"/>
                        </a:rPr>
                        <a:t>Concept</a:t>
                      </a:r>
                    </a:p>
                  </a:txBody>
                  <a:tcPr anchor="ctr">
                    <a:solidFill>
                      <a:schemeClr val="accent4">
                        <a:lumMod val="20000"/>
                        <a:lumOff val="80000"/>
                      </a:schemeClr>
                    </a:solidFill>
                  </a:tcPr>
                </a:tc>
                <a:tc>
                  <a:txBody>
                    <a:bodyPr/>
                    <a:lstStyle/>
                    <a:p>
                      <a:pPr>
                        <a:lnSpc>
                          <a:spcPct val="150000"/>
                        </a:lnSpc>
                        <a:buNone/>
                      </a:pPr>
                      <a:r>
                        <a:rPr lang="en-US" sz="2800" dirty="0">
                          <a:latin typeface="Calibir"/>
                        </a:rPr>
                        <a:t>Java</a:t>
                      </a:r>
                    </a:p>
                  </a:txBody>
                  <a:tcPr anchor="ctr">
                    <a:solidFill>
                      <a:schemeClr val="accent4">
                        <a:lumMod val="20000"/>
                        <a:lumOff val="80000"/>
                      </a:schemeClr>
                    </a:solidFill>
                  </a:tcPr>
                </a:tc>
                <a:tc>
                  <a:txBody>
                    <a:bodyPr/>
                    <a:lstStyle/>
                    <a:p>
                      <a:pPr>
                        <a:lnSpc>
                          <a:spcPct val="150000"/>
                        </a:lnSpc>
                        <a:buNone/>
                      </a:pPr>
                      <a:r>
                        <a:rPr lang="en-US" sz="2800" dirty="0">
                          <a:latin typeface="Calibir"/>
                        </a:rPr>
                        <a:t>Python</a:t>
                      </a:r>
                    </a:p>
                  </a:txBody>
                  <a:tcPr anchor="ctr">
                    <a:solidFill>
                      <a:schemeClr val="accent4">
                        <a:lumMod val="20000"/>
                        <a:lumOff val="80000"/>
                      </a:schemeClr>
                    </a:solidFill>
                  </a:tcPr>
                </a:tc>
                <a:extLst>
                  <a:ext uri="{0D108BD9-81ED-4DB2-BD59-A6C34878D82A}">
                    <a16:rowId xmlns:a16="http://schemas.microsoft.com/office/drawing/2014/main" val="3463850196"/>
                  </a:ext>
                </a:extLst>
              </a:tr>
              <a:tr h="0">
                <a:tc>
                  <a:txBody>
                    <a:bodyPr/>
                    <a:lstStyle/>
                    <a:p>
                      <a:pPr>
                        <a:lnSpc>
                          <a:spcPct val="150000"/>
                        </a:lnSpc>
                        <a:buNone/>
                      </a:pPr>
                      <a:r>
                        <a:rPr lang="en-US" sz="2800" dirty="0">
                          <a:latin typeface="Calibir"/>
                        </a:rPr>
                        <a:t>Raise error</a:t>
                      </a:r>
                    </a:p>
                  </a:txBody>
                  <a:tcPr anchor="ctr"/>
                </a:tc>
                <a:tc>
                  <a:txBody>
                    <a:bodyPr/>
                    <a:lstStyle/>
                    <a:p>
                      <a:pPr>
                        <a:lnSpc>
                          <a:spcPct val="150000"/>
                        </a:lnSpc>
                        <a:buNone/>
                      </a:pPr>
                      <a:r>
                        <a:rPr lang="en-US" sz="2800">
                          <a:latin typeface="Calibir"/>
                        </a:rPr>
                        <a:t>throw, throws</a:t>
                      </a:r>
                    </a:p>
                  </a:txBody>
                  <a:tcPr anchor="ctr"/>
                </a:tc>
                <a:tc>
                  <a:txBody>
                    <a:bodyPr/>
                    <a:lstStyle/>
                    <a:p>
                      <a:pPr>
                        <a:lnSpc>
                          <a:spcPct val="150000"/>
                        </a:lnSpc>
                        <a:buNone/>
                      </a:pPr>
                      <a:r>
                        <a:rPr lang="en-US" sz="2800">
                          <a:latin typeface="Calibir"/>
                        </a:rPr>
                        <a:t>raise</a:t>
                      </a:r>
                    </a:p>
                  </a:txBody>
                  <a:tcPr anchor="ctr"/>
                </a:tc>
                <a:extLst>
                  <a:ext uri="{0D108BD9-81ED-4DB2-BD59-A6C34878D82A}">
                    <a16:rowId xmlns:a16="http://schemas.microsoft.com/office/drawing/2014/main" val="2274014256"/>
                  </a:ext>
                </a:extLst>
              </a:tr>
              <a:tr h="0">
                <a:tc>
                  <a:txBody>
                    <a:bodyPr/>
                    <a:lstStyle/>
                    <a:p>
                      <a:pPr>
                        <a:lnSpc>
                          <a:spcPct val="150000"/>
                        </a:lnSpc>
                        <a:buNone/>
                      </a:pPr>
                      <a:r>
                        <a:rPr lang="en-US" sz="2800">
                          <a:latin typeface="Calibir"/>
                        </a:rPr>
                        <a:t>Catch error</a:t>
                      </a:r>
                    </a:p>
                  </a:txBody>
                  <a:tcPr anchor="ctr"/>
                </a:tc>
                <a:tc>
                  <a:txBody>
                    <a:bodyPr/>
                    <a:lstStyle/>
                    <a:p>
                      <a:pPr>
                        <a:lnSpc>
                          <a:spcPct val="150000"/>
                        </a:lnSpc>
                        <a:buNone/>
                      </a:pPr>
                      <a:r>
                        <a:rPr lang="en-US" sz="2800">
                          <a:latin typeface="Calibir"/>
                        </a:rPr>
                        <a:t>catch(Exception e)</a:t>
                      </a:r>
                    </a:p>
                  </a:txBody>
                  <a:tcPr anchor="ctr"/>
                </a:tc>
                <a:tc>
                  <a:txBody>
                    <a:bodyPr/>
                    <a:lstStyle/>
                    <a:p>
                      <a:pPr>
                        <a:lnSpc>
                          <a:spcPct val="150000"/>
                        </a:lnSpc>
                        <a:buNone/>
                      </a:pPr>
                      <a:r>
                        <a:rPr lang="en-US" sz="2800">
                          <a:latin typeface="Calibir"/>
                        </a:rPr>
                        <a:t>except Exception as e:</a:t>
                      </a:r>
                    </a:p>
                  </a:txBody>
                  <a:tcPr anchor="ctr"/>
                </a:tc>
                <a:extLst>
                  <a:ext uri="{0D108BD9-81ED-4DB2-BD59-A6C34878D82A}">
                    <a16:rowId xmlns:a16="http://schemas.microsoft.com/office/drawing/2014/main" val="1833778645"/>
                  </a:ext>
                </a:extLst>
              </a:tr>
              <a:tr h="0">
                <a:tc>
                  <a:txBody>
                    <a:bodyPr/>
                    <a:lstStyle/>
                    <a:p>
                      <a:pPr>
                        <a:lnSpc>
                          <a:spcPct val="150000"/>
                        </a:lnSpc>
                        <a:buNone/>
                      </a:pPr>
                      <a:r>
                        <a:rPr lang="en-US" sz="2800">
                          <a:latin typeface="Calibir"/>
                        </a:rPr>
                        <a:t>Finally</a:t>
                      </a:r>
                    </a:p>
                  </a:txBody>
                  <a:tcPr anchor="ctr"/>
                </a:tc>
                <a:tc>
                  <a:txBody>
                    <a:bodyPr/>
                    <a:lstStyle/>
                    <a:p>
                      <a:pPr>
                        <a:lnSpc>
                          <a:spcPct val="150000"/>
                        </a:lnSpc>
                        <a:buNone/>
                      </a:pPr>
                      <a:r>
                        <a:rPr lang="en-US" sz="2800">
                          <a:latin typeface="Calibir"/>
                        </a:rPr>
                        <a:t>Runs every time</a:t>
                      </a:r>
                    </a:p>
                  </a:txBody>
                  <a:tcPr anchor="ctr"/>
                </a:tc>
                <a:tc>
                  <a:txBody>
                    <a:bodyPr/>
                    <a:lstStyle/>
                    <a:p>
                      <a:pPr>
                        <a:lnSpc>
                          <a:spcPct val="150000"/>
                        </a:lnSpc>
                        <a:buNone/>
                      </a:pPr>
                      <a:r>
                        <a:rPr lang="en-US" sz="2800" dirty="0">
                          <a:latin typeface="Calibir"/>
                        </a:rPr>
                        <a:t>Runs every time</a:t>
                      </a:r>
                    </a:p>
                  </a:txBody>
                  <a:tcPr anchor="ctr"/>
                </a:tc>
                <a:extLst>
                  <a:ext uri="{0D108BD9-81ED-4DB2-BD59-A6C34878D82A}">
                    <a16:rowId xmlns:a16="http://schemas.microsoft.com/office/drawing/2014/main" val="960848600"/>
                  </a:ext>
                </a:extLst>
              </a:tr>
            </a:tbl>
          </a:graphicData>
        </a:graphic>
      </p:graphicFrame>
      <p:sp>
        <p:nvSpPr>
          <p:cNvPr id="8" name="TextBox 7">
            <a:extLst>
              <a:ext uri="{FF2B5EF4-FFF2-40B4-BE49-F238E27FC236}">
                <a16:creationId xmlns:a16="http://schemas.microsoft.com/office/drawing/2014/main" id="{39854D65-3E96-2E4F-5AF4-6E1D90507F17}"/>
              </a:ext>
            </a:extLst>
          </p:cNvPr>
          <p:cNvSpPr txBox="1"/>
          <p:nvPr/>
        </p:nvSpPr>
        <p:spPr>
          <a:xfrm>
            <a:off x="100360" y="1838246"/>
            <a:ext cx="12191999" cy="3495188"/>
          </a:xfrm>
          <a:prstGeom prst="rect">
            <a:avLst/>
          </a:prstGeom>
          <a:noFill/>
        </p:spPr>
        <p:txBody>
          <a:bodyPr wrap="square">
            <a:spAutoFit/>
          </a:bodyPr>
          <a:lstStyle/>
          <a:p>
            <a:pPr marL="514350" indent="-514350">
              <a:lnSpc>
                <a:spcPct val="150000"/>
              </a:lnSpc>
              <a:buFont typeface="+mj-lt"/>
              <a:buAutoNum type="arabicPeriod" startAt="3"/>
            </a:pPr>
            <a:r>
              <a:rPr lang="en-US" sz="2500" dirty="0">
                <a:latin typeface="Calibir"/>
              </a:rPr>
              <a:t>Finally (Always runs)</a:t>
            </a:r>
          </a:p>
          <a:p>
            <a:pPr marL="457200" indent="-457200">
              <a:lnSpc>
                <a:spcPct val="150000"/>
              </a:lnSpc>
              <a:buFont typeface="Arial" panose="020B0604020202020204" pitchFamily="34" charset="0"/>
              <a:buChar char="•"/>
            </a:pPr>
            <a:r>
              <a:rPr lang="en-US" sz="2500" dirty="0">
                <a:latin typeface="Calibir"/>
              </a:rPr>
              <a:t>Java</a:t>
            </a: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endParaRPr lang="en-US" sz="2500" dirty="0">
              <a:latin typeface="Calibir"/>
            </a:endParaRPr>
          </a:p>
          <a:p>
            <a:pPr marL="457200" indent="-457200">
              <a:lnSpc>
                <a:spcPct val="150000"/>
              </a:lnSpc>
              <a:buFont typeface="Arial" panose="020B0604020202020204" pitchFamily="34" charset="0"/>
              <a:buChar char="•"/>
            </a:pPr>
            <a:r>
              <a:rPr lang="en-US" sz="2500" dirty="0">
                <a:latin typeface="Calibir"/>
              </a:rPr>
              <a:t>Python</a:t>
            </a:r>
          </a:p>
        </p:txBody>
      </p:sp>
      <p:sp>
        <p:nvSpPr>
          <p:cNvPr id="7" name="TextBox 6">
            <a:extLst>
              <a:ext uri="{FF2B5EF4-FFF2-40B4-BE49-F238E27FC236}">
                <a16:creationId xmlns:a16="http://schemas.microsoft.com/office/drawing/2014/main" id="{262C64DB-E1BA-7528-B64F-7F18F1B5EF3F}"/>
              </a:ext>
            </a:extLst>
          </p:cNvPr>
          <p:cNvSpPr txBox="1"/>
          <p:nvPr/>
        </p:nvSpPr>
        <p:spPr>
          <a:xfrm>
            <a:off x="1673612" y="2713757"/>
            <a:ext cx="10477500" cy="201593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"Try block"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finally</a:t>
            </a:r>
            <a:r>
              <a:rPr lang="en-US" sz="2500" b="0" dirty="0">
                <a:solidFill>
                  <a:srgbClr val="CCCCCC"/>
                </a:solidFill>
                <a:effectLst/>
                <a:latin typeface="Consolas" panose="020B0609020204030204" pitchFamily="49" charset="0"/>
              </a:rPr>
              <a:t> {</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System</a:t>
            </a:r>
            <a:r>
              <a:rPr lang="en-US" sz="2500" b="0" dirty="0" err="1">
                <a:solidFill>
                  <a:srgbClr val="CCCCCC"/>
                </a:solidFill>
                <a:effectLst/>
                <a:latin typeface="Consolas" panose="020B0609020204030204" pitchFamily="49" charset="0"/>
              </a:rPr>
              <a:t>.</a:t>
            </a:r>
            <a:r>
              <a:rPr lang="en-US" sz="2500" b="0" dirty="0" err="1">
                <a:solidFill>
                  <a:srgbClr val="9CDCFE"/>
                </a:solidFill>
                <a:effectLst/>
                <a:latin typeface="Consolas" panose="020B0609020204030204" pitchFamily="49" charset="0"/>
              </a:rPr>
              <a:t>out</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println</a:t>
            </a:r>
            <a:r>
              <a:rPr lang="en-US" sz="2500" b="0" dirty="0">
                <a:solidFill>
                  <a:srgbClr val="CCCCCC"/>
                </a:solidFill>
                <a:effectLst/>
                <a:latin typeface="Consolas" panose="020B0609020204030204" pitchFamily="49" charset="0"/>
              </a:rPr>
              <a:t>(</a:t>
            </a:r>
            <a:r>
              <a:rPr lang="en-US" sz="2500" b="0" dirty="0">
                <a:solidFill>
                  <a:srgbClr val="CE9178"/>
                </a:solidFill>
                <a:effectLst/>
                <a:latin typeface="Consolas" panose="020B0609020204030204" pitchFamily="49" charset="0"/>
              </a:rPr>
              <a:t>"This always runs"</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2C48FCFB-73F5-7813-1FCA-6C83B1888BC8}"/>
              </a:ext>
            </a:extLst>
          </p:cNvPr>
          <p:cNvSpPr txBox="1"/>
          <p:nvPr/>
        </p:nvSpPr>
        <p:spPr>
          <a:xfrm>
            <a:off x="1673612" y="5008616"/>
            <a:ext cx="10477500"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"Try block"</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finally:</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"This always runs"</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775391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CE5AD-F983-45A7-092F-4480CD7CF5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8FAA96-5859-4407-B731-A8BFAB15CD06}"/>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2EC50FE9-76D6-FFC6-0C0C-15E3D25EA565}"/>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CC4045C8-5941-C0D4-7DB3-74DD1F116C98}"/>
              </a:ext>
            </a:extLst>
          </p:cNvPr>
          <p:cNvSpPr>
            <a:spLocks noChangeArrowheads="1"/>
          </p:cNvSpPr>
          <p:nvPr/>
        </p:nvSpPr>
        <p:spPr bwMode="auto">
          <a:xfrm>
            <a:off x="0" y="4727063"/>
            <a:ext cx="6753259" cy="1964512"/>
          </a:xfrm>
          <a:prstGeom prst="rect">
            <a:avLst/>
          </a:prstGeom>
          <a:solidFill>
            <a:schemeClr val="bg1"/>
          </a:solidFill>
          <a:ln>
            <a:noFill/>
          </a:ln>
          <a:effec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try: → test some code that might fail.</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a = int(input(...)) → ask user for a number.</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10/a → divide 10 by that number.</a:t>
            </a:r>
          </a:p>
        </p:txBody>
      </p:sp>
      <p:sp>
        <p:nvSpPr>
          <p:cNvPr id="11" name="Rectangle: Rounded Corners 10">
            <a:extLst>
              <a:ext uri="{FF2B5EF4-FFF2-40B4-BE49-F238E27FC236}">
                <a16:creationId xmlns:a16="http://schemas.microsoft.com/office/drawing/2014/main" id="{C0938916-1F26-0B3A-01DE-D3C8842D3E8F}"/>
              </a:ext>
            </a:extLst>
          </p:cNvPr>
          <p:cNvSpPr/>
          <p:nvPr/>
        </p:nvSpPr>
        <p:spPr>
          <a:xfrm>
            <a:off x="0" y="756745"/>
            <a:ext cx="9188245" cy="135227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76115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4B8C4-EE9B-0D88-E034-02D163BE55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C305D7-48A5-1903-3573-E8FB9A995D13}"/>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0C26CF1C-FE1C-2BE7-08F7-B664030DDDB0}"/>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DF375DE2-55C8-A789-5F53-2A0756C331A2}"/>
              </a:ext>
            </a:extLst>
          </p:cNvPr>
          <p:cNvSpPr>
            <a:spLocks noChangeArrowheads="1"/>
          </p:cNvSpPr>
          <p:nvPr/>
        </p:nvSpPr>
        <p:spPr bwMode="auto">
          <a:xfrm>
            <a:off x="0" y="4727063"/>
            <a:ext cx="9924768" cy="1964512"/>
          </a:xfrm>
          <a:prstGeom prst="rect">
            <a:avLst/>
          </a:prstGeom>
          <a:solidFill>
            <a:schemeClr val="bg1"/>
          </a:solidFill>
          <a:ln>
            <a:noFill/>
          </a:ln>
          <a:effectLst/>
        </p:spPr>
        <p:txBody>
          <a:bodyPr vert="horz" wrap="non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 </a:t>
            </a:r>
            <a:r>
              <a:rPr lang="en-US" altLang="en-US" sz="2800" dirty="0" err="1">
                <a:latin typeface="Calibir"/>
              </a:rPr>
              <a:t>ZeroDivisionError</a:t>
            </a:r>
            <a:r>
              <a:rPr lang="en-US" altLang="en-US" sz="2800" dirty="0">
                <a:latin typeface="Calibir"/>
              </a:rPr>
              <a:t>: → if user types 0, show a clear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except </a:t>
            </a:r>
            <a:r>
              <a:rPr lang="en-US" altLang="en-US" sz="2800" dirty="0" err="1">
                <a:latin typeface="Calibir"/>
              </a:rPr>
              <a:t>ValueError</a:t>
            </a:r>
            <a:r>
              <a:rPr lang="en-US" altLang="en-US" sz="2800" dirty="0">
                <a:latin typeface="Calibir"/>
              </a:rPr>
              <a:t>: → if user types a word, show a clear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finally: → always runs at the end (like “cleanup”), prints “Done”.</a:t>
            </a:r>
          </a:p>
        </p:txBody>
      </p:sp>
      <p:sp>
        <p:nvSpPr>
          <p:cNvPr id="11" name="Rectangle: Rounded Corners 10">
            <a:extLst>
              <a:ext uri="{FF2B5EF4-FFF2-40B4-BE49-F238E27FC236}">
                <a16:creationId xmlns:a16="http://schemas.microsoft.com/office/drawing/2014/main" id="{CD5DB7E8-1518-523F-1B0B-605E45BF222E}"/>
              </a:ext>
            </a:extLst>
          </p:cNvPr>
          <p:cNvSpPr/>
          <p:nvPr/>
        </p:nvSpPr>
        <p:spPr>
          <a:xfrm>
            <a:off x="0" y="2076725"/>
            <a:ext cx="9188245" cy="265033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7624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43749-A7CB-DFF5-0500-FB8D93009B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A30EB6-DF91-B79D-2DDA-23EFF1367E8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1 – Python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69E4955-BDBB-BC85-E3C5-647E258F0BCE}"/>
              </a:ext>
            </a:extLst>
          </p:cNvPr>
          <p:cNvSpPr txBox="1"/>
          <p:nvPr/>
        </p:nvSpPr>
        <p:spPr>
          <a:xfrm>
            <a:off x="0" y="756745"/>
            <a:ext cx="12192000" cy="3970318"/>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D4D4D4"/>
                </a:solidFill>
                <a:effectLst/>
                <a:latin typeface="Consolas" panose="020B0609020204030204" pitchFamily="49" charset="0"/>
              </a:rPr>
              <a:t>/</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ValueError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"Please enter a valid integer"</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9" name="Rectangle 1">
            <a:extLst>
              <a:ext uri="{FF2B5EF4-FFF2-40B4-BE49-F238E27FC236}">
                <a16:creationId xmlns:a16="http://schemas.microsoft.com/office/drawing/2014/main" id="{50A4FB50-348A-E6B4-9F31-316FCD78E0FB}"/>
              </a:ext>
            </a:extLst>
          </p:cNvPr>
          <p:cNvSpPr>
            <a:spLocks noChangeArrowheads="1"/>
          </p:cNvSpPr>
          <p:nvPr/>
        </p:nvSpPr>
        <p:spPr bwMode="auto">
          <a:xfrm>
            <a:off x="0" y="4727063"/>
            <a:ext cx="12192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Analogy: </a:t>
            </a:r>
            <a:r>
              <a:rPr lang="en-US" sz="2800" dirty="0">
                <a:latin typeface="Calibir"/>
              </a:rPr>
              <a:t>Like Woolworths checkout → if card declines (error), cashier gives a polite message, not crash.</a:t>
            </a:r>
            <a:endParaRPr lang="en-US" altLang="en-US" sz="2800" dirty="0">
              <a:latin typeface="Calibir"/>
            </a:endParaRPr>
          </a:p>
        </p:txBody>
      </p:sp>
    </p:spTree>
    <p:extLst>
      <p:ext uri="{BB962C8B-B14F-4D97-AF65-F5344CB8AC3E}">
        <p14:creationId xmlns:p14="http://schemas.microsoft.com/office/powerpoint/2010/main" val="1351330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4254-A31E-1015-2CDC-7D333B5A3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8544-42B8-1263-3EED-E1CF682C7A08}"/>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1 – (Python – Division Safety)</a:t>
            </a:r>
            <a:endParaRPr lang="en-US" sz="4000" kern="100" dirty="0">
              <a:latin typeface="Calibir"/>
              <a:ea typeface="Aptos" panose="020B0004020202020204" pitchFamily="34" charset="0"/>
              <a:cs typeface="Arial" panose="020B0604020202020204" pitchFamily="34" charset="0"/>
            </a:endParaRPr>
          </a:p>
        </p:txBody>
      </p:sp>
      <p:sp>
        <p:nvSpPr>
          <p:cNvPr id="9" name="Rectangle 1">
            <a:extLst>
              <a:ext uri="{FF2B5EF4-FFF2-40B4-BE49-F238E27FC236}">
                <a16:creationId xmlns:a16="http://schemas.microsoft.com/office/drawing/2014/main" id="{C1C71996-2BC2-636D-B835-9D18F2573C1A}"/>
              </a:ext>
            </a:extLst>
          </p:cNvPr>
          <p:cNvSpPr>
            <a:spLocks noChangeArrowheads="1"/>
          </p:cNvSpPr>
          <p:nvPr/>
        </p:nvSpPr>
        <p:spPr bwMode="auto">
          <a:xfrm>
            <a:off x="0" y="756745"/>
            <a:ext cx="12192000" cy="1318181"/>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Write code that divides 10 by user input, handle division by zero with try-except.</a:t>
            </a:r>
            <a:endParaRPr lang="en-US" altLang="en-US" sz="2800" dirty="0">
              <a:latin typeface="Calibir"/>
            </a:endParaRPr>
          </a:p>
        </p:txBody>
      </p:sp>
      <p:pic>
        <p:nvPicPr>
          <p:cNvPr id="3" name="Timer">
            <a:hlinkClick r:id="" action="ppaction://media"/>
            <a:extLst>
              <a:ext uri="{FF2B5EF4-FFF2-40B4-BE49-F238E27FC236}">
                <a16:creationId xmlns:a16="http://schemas.microsoft.com/office/drawing/2014/main" id="{1DEFA54C-460A-82D6-76C1-F152BF3159EC}"/>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731" r="40476" b="40430"/>
          <a:stretch>
            <a:fillRect/>
          </a:stretch>
        </p:blipFill>
        <p:spPr>
          <a:xfrm>
            <a:off x="4952999" y="2920181"/>
            <a:ext cx="2286001" cy="1017638"/>
          </a:xfrm>
          <a:prstGeom prst="rect">
            <a:avLst/>
          </a:prstGeom>
          <a:ln w="38100">
            <a:solidFill>
              <a:srgbClr val="FF0000"/>
            </a:solidFill>
          </a:ln>
        </p:spPr>
      </p:pic>
    </p:spTree>
    <p:extLst>
      <p:ext uri="{BB962C8B-B14F-4D97-AF65-F5344CB8AC3E}">
        <p14:creationId xmlns:p14="http://schemas.microsoft.com/office/powerpoint/2010/main" val="1057911003"/>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4254-A31E-1015-2CDC-7D333B5A37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8544-42B8-1263-3EED-E1CF682C7A08}"/>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1 – (Python – Division Safety)</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EF4C13BB-1609-5F3D-695F-DB8F29755256}"/>
              </a:ext>
            </a:extLst>
          </p:cNvPr>
          <p:cNvSpPr txBox="1"/>
          <p:nvPr/>
        </p:nvSpPr>
        <p:spPr>
          <a:xfrm>
            <a:off x="108155" y="2305615"/>
            <a:ext cx="11975690" cy="2246769"/>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num</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a:t>
            </a:r>
            <a:r>
              <a:rPr lang="en-US" sz="2800" b="0" dirty="0">
                <a:solidFill>
                  <a:srgbClr val="DCDCAA"/>
                </a:solidFill>
                <a:effectLst/>
                <a:latin typeface="Consolas" panose="020B0609020204030204" pitchFamily="49" charset="0"/>
              </a:rPr>
              <a:t>input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"Enter a number: "</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num</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ZeroDivisionError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"Oops, cannot divide by zero"</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268426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45CDF-6DC8-7B83-0A13-23B2935EB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75D539-0F97-02BB-47DA-F0DFD0D2D12F}"/>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2 – (Python – File Error)</a:t>
            </a:r>
            <a:endParaRPr lang="en-US" sz="4000" kern="100" dirty="0">
              <a:latin typeface="Calibir"/>
              <a:ea typeface="Aptos" panose="020B0004020202020204" pitchFamily="34" charset="0"/>
              <a:cs typeface="Arial" panose="020B0604020202020204" pitchFamily="34" charset="0"/>
            </a:endParaRPr>
          </a:p>
        </p:txBody>
      </p:sp>
      <p:sp>
        <p:nvSpPr>
          <p:cNvPr id="9" name="Rectangle 1">
            <a:extLst>
              <a:ext uri="{FF2B5EF4-FFF2-40B4-BE49-F238E27FC236}">
                <a16:creationId xmlns:a16="http://schemas.microsoft.com/office/drawing/2014/main" id="{6EC3ABF4-6466-9B54-0AE5-E108187975DE}"/>
              </a:ext>
            </a:extLst>
          </p:cNvPr>
          <p:cNvSpPr>
            <a:spLocks noChangeArrowheads="1"/>
          </p:cNvSpPr>
          <p:nvPr/>
        </p:nvSpPr>
        <p:spPr bwMode="auto">
          <a:xfrm>
            <a:off x="0" y="754949"/>
            <a:ext cx="12192000" cy="1321772"/>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b="1" dirty="0">
                <a:latin typeface="Calibir"/>
              </a:rPr>
              <a:t>Task:</a:t>
            </a:r>
            <a:r>
              <a:rPr lang="en-US" sz="2800" dirty="0">
                <a:latin typeface="Calibir"/>
              </a:rPr>
              <a:t> Modify Example 1 to also try reading hello.txt. If file missing → show “File not found”.</a:t>
            </a:r>
            <a:endParaRPr lang="en-US" altLang="en-US" sz="2800" dirty="0">
              <a:latin typeface="Calibir"/>
            </a:endParaRPr>
          </a:p>
        </p:txBody>
      </p:sp>
      <p:pic>
        <p:nvPicPr>
          <p:cNvPr id="3" name="Timer">
            <a:hlinkClick r:id="" action="ppaction://media"/>
            <a:extLst>
              <a:ext uri="{FF2B5EF4-FFF2-40B4-BE49-F238E27FC236}">
                <a16:creationId xmlns:a16="http://schemas.microsoft.com/office/drawing/2014/main" id="{B499F608-EBA7-8D93-408E-288FCCB84F7E}"/>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771" t="44731" r="40476" b="40430"/>
          <a:stretch>
            <a:fillRect/>
          </a:stretch>
        </p:blipFill>
        <p:spPr>
          <a:xfrm>
            <a:off x="4952999" y="1814031"/>
            <a:ext cx="2286001" cy="1017638"/>
          </a:xfrm>
          <a:prstGeom prst="rect">
            <a:avLst/>
          </a:prstGeom>
          <a:ln w="38100">
            <a:solidFill>
              <a:srgbClr val="FF0000"/>
            </a:solidFill>
          </a:ln>
        </p:spPr>
      </p:pic>
      <p:pic>
        <p:nvPicPr>
          <p:cNvPr id="5" name="Picture 4">
            <a:extLst>
              <a:ext uri="{FF2B5EF4-FFF2-40B4-BE49-F238E27FC236}">
                <a16:creationId xmlns:a16="http://schemas.microsoft.com/office/drawing/2014/main" id="{61DD15B5-509E-522A-2A5E-20EE21BD2863}"/>
              </a:ext>
            </a:extLst>
          </p:cNvPr>
          <p:cNvPicPr>
            <a:picLocks noChangeAspect="1"/>
          </p:cNvPicPr>
          <p:nvPr/>
        </p:nvPicPr>
        <p:blipFill>
          <a:blip r:embed="rId5"/>
          <a:srcRect t="8386" b="39356"/>
          <a:stretch>
            <a:fillRect/>
          </a:stretch>
        </p:blipFill>
        <p:spPr>
          <a:xfrm>
            <a:off x="0" y="3274141"/>
            <a:ext cx="12192000" cy="3583858"/>
          </a:xfrm>
          <a:prstGeom prst="rect">
            <a:avLst/>
          </a:prstGeom>
        </p:spPr>
      </p:pic>
    </p:spTree>
    <p:extLst>
      <p:ext uri="{BB962C8B-B14F-4D97-AF65-F5344CB8AC3E}">
        <p14:creationId xmlns:p14="http://schemas.microsoft.com/office/powerpoint/2010/main" val="4055345020"/>
      </p:ext>
    </p:extLst>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45CDF-6DC8-7B83-0A13-23B2935EB36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FF04254-B68A-A892-AEB8-AA57ABDC440F}"/>
              </a:ext>
            </a:extLst>
          </p:cNvPr>
          <p:cNvSpPr txBox="1"/>
          <p:nvPr/>
        </p:nvSpPr>
        <p:spPr>
          <a:xfrm>
            <a:off x="24582" y="0"/>
            <a:ext cx="12167418" cy="2677656"/>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f</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read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f</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close</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FileNotFoundError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"File not found"</a:t>
            </a: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A5C4C65-19C8-2BF5-9F1E-A2CCE0962346}"/>
              </a:ext>
            </a:extLst>
          </p:cNvPr>
          <p:cNvSpPr>
            <a:spLocks noChangeArrowheads="1"/>
          </p:cNvSpPr>
          <p:nvPr/>
        </p:nvSpPr>
        <p:spPr bwMode="auto">
          <a:xfrm>
            <a:off x="0" y="2874923"/>
            <a:ext cx="11825673"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hello.txt is in the same folder as your .</a:t>
            </a:r>
            <a:r>
              <a:rPr kumimoji="0" lang="en-US" altLang="en-US" sz="2800" i="0" u="none" strike="noStrike" cap="none" normalizeH="0" baseline="0" dirty="0" err="1">
                <a:ln>
                  <a:noFill/>
                </a:ln>
                <a:solidFill>
                  <a:schemeClr val="tx1"/>
                </a:solidFill>
                <a:effectLst/>
                <a:latin typeface="Calibir"/>
              </a:rPr>
              <a:t>py</a:t>
            </a:r>
            <a:r>
              <a:rPr kumimoji="0" lang="en-US" altLang="en-US" sz="2800" i="0" u="none" strike="noStrike" cap="none" normalizeH="0" baseline="0" dirty="0">
                <a:ln>
                  <a:noFill/>
                </a:ln>
                <a:solidFill>
                  <a:schemeClr val="tx1"/>
                </a:solidFill>
                <a:effectLst/>
                <a:latin typeface="Calibir"/>
              </a:rPr>
              <a:t> script or notebook → code works.</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If it’s in another folder → you must give the full path, e.g.: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endParaRPr lang="en-US" altLang="en-US" sz="2800" dirty="0">
              <a:latin typeface="Calibir"/>
            </a:endParaRP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Or on Mac/Linux:</a:t>
            </a:r>
          </a:p>
        </p:txBody>
      </p:sp>
      <p:sp>
        <p:nvSpPr>
          <p:cNvPr id="11" name="TextBox 10">
            <a:extLst>
              <a:ext uri="{FF2B5EF4-FFF2-40B4-BE49-F238E27FC236}">
                <a16:creationId xmlns:a16="http://schemas.microsoft.com/office/drawing/2014/main" id="{D602C6D2-796B-E514-8634-85C43129634E}"/>
              </a:ext>
            </a:extLst>
          </p:cNvPr>
          <p:cNvSpPr txBox="1"/>
          <p:nvPr/>
        </p:nvSpPr>
        <p:spPr>
          <a:xfrm>
            <a:off x="0" y="4319002"/>
            <a:ext cx="12192000" cy="523220"/>
          </a:xfrm>
          <a:prstGeom prst="rect">
            <a:avLst/>
          </a:prstGeom>
          <a:solidFill>
            <a:schemeClr val="tx1"/>
          </a:solidFill>
        </p:spPr>
        <p:txBody>
          <a:bodyPr wrap="square">
            <a:spAutoFit/>
          </a:bodyPr>
          <a:lstStyle/>
          <a:p>
            <a:pPr>
              <a:buNone/>
            </a:pP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"C:/Users/Student/Documents/hello.txt"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B0C8A21C-18FF-640F-7CEA-2FA7C204FC68}"/>
              </a:ext>
            </a:extLst>
          </p:cNvPr>
          <p:cNvSpPr txBox="1"/>
          <p:nvPr/>
        </p:nvSpPr>
        <p:spPr>
          <a:xfrm>
            <a:off x="0" y="5485766"/>
            <a:ext cx="12192000" cy="523220"/>
          </a:xfrm>
          <a:prstGeom prst="rect">
            <a:avLst/>
          </a:prstGeom>
          <a:solidFill>
            <a:schemeClr val="tx1"/>
          </a:solidFill>
        </p:spPr>
        <p:txBody>
          <a:bodyPr wrap="square">
            <a:spAutoFit/>
          </a:bodyPr>
          <a:lstStyle/>
          <a:p>
            <a:pPr>
              <a:buNone/>
            </a:pPr>
            <a:r>
              <a:rPr lang="en-US" sz="2800" b="0" dirty="0">
                <a:solidFill>
                  <a:srgbClr val="9CDCFE"/>
                </a:solidFill>
                <a:effectLst/>
                <a:latin typeface="Consolas" panose="020B0609020204030204" pitchFamily="49" charset="0"/>
              </a:rPr>
              <a:t>f</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"/home/student/hello.txt"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F730BD0D-E7ED-E2EC-138A-26B3AC0C5020}"/>
              </a:ext>
            </a:extLst>
          </p:cNvPr>
          <p:cNvSpPr txBox="1"/>
          <p:nvPr/>
        </p:nvSpPr>
        <p:spPr>
          <a:xfrm>
            <a:off x="6504039" y="0"/>
            <a:ext cx="5687961" cy="2341025"/>
          </a:xfrm>
          <a:prstGeom prst="rect">
            <a:avLst/>
          </a:prstGeom>
          <a:solidFill>
            <a:schemeClr val="bg1"/>
          </a:solidFill>
        </p:spPr>
        <p:txBody>
          <a:bodyPr wrap="square">
            <a:spAutoFit/>
          </a:bodyPr>
          <a:lstStyle/>
          <a:p>
            <a:pPr>
              <a:lnSpc>
                <a:spcPct val="150000"/>
              </a:lnSpc>
            </a:pPr>
            <a:r>
              <a:rPr lang="en-US" sz="2500" dirty="0">
                <a:latin typeface="Calibir"/>
              </a:rPr>
              <a:t>Save hello.txt in the same folder as your .</a:t>
            </a:r>
            <a:r>
              <a:rPr lang="en-US" sz="2500" dirty="0" err="1">
                <a:latin typeface="Calibir"/>
              </a:rPr>
              <a:t>py</a:t>
            </a:r>
            <a:r>
              <a:rPr lang="en-US" sz="2500" dirty="0">
                <a:latin typeface="Calibir"/>
              </a:rPr>
              <a:t> file. Otherwise, Python can’t find it — just like putting your Woolworths shopping list in the wrong drawer!</a:t>
            </a:r>
          </a:p>
        </p:txBody>
      </p:sp>
    </p:spTree>
    <p:extLst>
      <p:ext uri="{BB962C8B-B14F-4D97-AF65-F5344CB8AC3E}">
        <p14:creationId xmlns:p14="http://schemas.microsoft.com/office/powerpoint/2010/main" val="33864906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F1194-F44E-1474-5DFF-975160E5EE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F36459-F01A-620C-7521-D676045FA43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5CC5AA88-3CB6-7DC4-2AF3-C9D2FB521CD4}"/>
              </a:ext>
            </a:extLst>
          </p:cNvPr>
          <p:cNvSpPr txBox="1"/>
          <p:nvPr/>
        </p:nvSpPr>
        <p:spPr>
          <a:xfrm>
            <a:off x="0" y="756745"/>
            <a:ext cx="11965258" cy="5196166"/>
          </a:xfrm>
          <a:prstGeom prst="rect">
            <a:avLst/>
          </a:prstGeom>
          <a:noFill/>
        </p:spPr>
        <p:txBody>
          <a:bodyPr wrap="square">
            <a:spAutoFit/>
          </a:bodyPr>
          <a:lstStyle/>
          <a:p>
            <a:pPr>
              <a:lnSpc>
                <a:spcPct val="150000"/>
              </a:lnSpc>
              <a:buNone/>
            </a:pPr>
            <a:r>
              <a:rPr lang="en-US" sz="2800" dirty="0">
                <a:latin typeface="Calibir"/>
              </a:rPr>
              <a:t>What’s the difference?</a:t>
            </a:r>
          </a:p>
          <a:p>
            <a:pPr>
              <a:lnSpc>
                <a:spcPct val="150000"/>
              </a:lnSpc>
              <a:buNone/>
            </a:pPr>
            <a:r>
              <a:rPr lang="en-US" sz="2800" dirty="0">
                <a:latin typeface="Calibir"/>
              </a:rPr>
              <a:t>Errors</a:t>
            </a:r>
          </a:p>
          <a:p>
            <a:pPr marL="914400" lvl="1" indent="-457200">
              <a:lnSpc>
                <a:spcPct val="150000"/>
              </a:lnSpc>
              <a:buFont typeface="Arial" panose="020B0604020202020204" pitchFamily="34" charset="0"/>
              <a:buChar char="•"/>
            </a:pPr>
            <a:r>
              <a:rPr lang="en-US" sz="2800" dirty="0">
                <a:latin typeface="Calibir"/>
              </a:rPr>
              <a:t>Big system crashes.</a:t>
            </a:r>
          </a:p>
          <a:p>
            <a:pPr marL="914400" lvl="1" indent="-457200">
              <a:lnSpc>
                <a:spcPct val="150000"/>
              </a:lnSpc>
              <a:buFont typeface="Arial" panose="020B0604020202020204" pitchFamily="34" charset="0"/>
              <a:buChar char="•"/>
            </a:pPr>
            <a:r>
              <a:rPr lang="en-US" sz="2800" dirty="0">
                <a:latin typeface="Calibir"/>
              </a:rPr>
              <a:t>Program usually cannot recover.</a:t>
            </a:r>
          </a:p>
          <a:p>
            <a:pPr marL="914400" lvl="1" indent="-457200">
              <a:lnSpc>
                <a:spcPct val="150000"/>
              </a:lnSpc>
              <a:buFont typeface="Arial" panose="020B0604020202020204" pitchFamily="34" charset="0"/>
              <a:buChar char="•"/>
            </a:pPr>
            <a:r>
              <a:rPr lang="en-US" sz="2800" dirty="0">
                <a:latin typeface="Calibir"/>
              </a:rPr>
              <a:t>Example: </a:t>
            </a:r>
            <a:r>
              <a:rPr lang="en-US" sz="2800" dirty="0" err="1">
                <a:latin typeface="Calibir"/>
              </a:rPr>
              <a:t>OutOfMemoryError</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Analogy: A train network shuts down because of a storm → no trains can run.</a:t>
            </a:r>
          </a:p>
          <a:p>
            <a:pPr marL="914400" lvl="1" indent="-457200">
              <a:lnSpc>
                <a:spcPct val="150000"/>
              </a:lnSpc>
              <a:buFont typeface="Arial" panose="020B0604020202020204" pitchFamily="34" charset="0"/>
              <a:buChar char="•"/>
            </a:pPr>
            <a:r>
              <a:rPr lang="en-US" sz="2800" dirty="0">
                <a:latin typeface="Calibir"/>
              </a:rPr>
              <a:t>Java Example:</a:t>
            </a:r>
          </a:p>
        </p:txBody>
      </p:sp>
      <p:sp>
        <p:nvSpPr>
          <p:cNvPr id="11" name="TextBox 10">
            <a:extLst>
              <a:ext uri="{FF2B5EF4-FFF2-40B4-BE49-F238E27FC236}">
                <a16:creationId xmlns:a16="http://schemas.microsoft.com/office/drawing/2014/main" id="{BBA46109-4B10-7633-C731-09640FEC17F1}"/>
              </a:ext>
            </a:extLst>
          </p:cNvPr>
          <p:cNvSpPr txBox="1"/>
          <p:nvPr/>
        </p:nvSpPr>
        <p:spPr>
          <a:xfrm>
            <a:off x="1460345" y="5952911"/>
            <a:ext cx="9044567" cy="861774"/>
          </a:xfrm>
          <a:prstGeom prst="rect">
            <a:avLst/>
          </a:prstGeom>
          <a:solidFill>
            <a:schemeClr val="tx1"/>
          </a:solidFill>
        </p:spPr>
        <p:txBody>
          <a:bodyPr wrap="square">
            <a:spAutoFit/>
          </a:bodyPr>
          <a:lstStyle/>
          <a:p>
            <a:pPr>
              <a:buNone/>
            </a:pPr>
            <a:r>
              <a:rPr lang="en-US" sz="2500" b="0" dirty="0">
                <a:solidFill>
                  <a:srgbClr val="6A9955"/>
                </a:solidFill>
                <a:effectLst/>
                <a:latin typeface="Consolas" panose="020B0609020204030204" pitchFamily="49" charset="0"/>
              </a:rPr>
              <a:t>// This will throw an Error (not handled easily)</a:t>
            </a:r>
            <a:endParaRPr lang="en-US" sz="2500" b="0" dirty="0">
              <a:solidFill>
                <a:srgbClr val="CCCCCC"/>
              </a:solidFill>
              <a:effectLst/>
              <a:latin typeface="Consolas" panose="020B0609020204030204" pitchFamily="49" charset="0"/>
            </a:endParaRPr>
          </a:p>
          <a:p>
            <a:pPr>
              <a:buNone/>
            </a:pPr>
            <a:r>
              <a:rPr lang="en-US" sz="2500" b="0" dirty="0">
                <a:solidFill>
                  <a:srgbClr val="4EC9B0"/>
                </a:solidFill>
                <a:effectLst/>
                <a:latin typeface="Consolas" panose="020B0609020204030204" pitchFamily="49" charset="0"/>
              </a:rPr>
              <a:t>int</a:t>
            </a: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arr</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new</a:t>
            </a:r>
            <a:r>
              <a:rPr lang="en-US" sz="2500" b="0" dirty="0">
                <a:solidFill>
                  <a:srgbClr val="CCCCCC"/>
                </a:solidFill>
                <a:effectLst/>
                <a:latin typeface="Consolas" panose="020B0609020204030204" pitchFamily="49" charset="0"/>
              </a:rPr>
              <a:t> </a:t>
            </a:r>
            <a:r>
              <a:rPr lang="en-US" sz="2500" b="0" dirty="0">
                <a:solidFill>
                  <a:srgbClr val="4EC9B0"/>
                </a:solidFill>
                <a:effectLst/>
                <a:latin typeface="Consolas" panose="020B0609020204030204" pitchFamily="49" charset="0"/>
              </a:rPr>
              <a:t>int</a:t>
            </a:r>
            <a:r>
              <a:rPr lang="en-US" sz="2500" b="0" dirty="0">
                <a:solidFill>
                  <a:srgbClr val="CCCCCC"/>
                </a:solidFill>
                <a:effectLst/>
                <a:latin typeface="Consolas" panose="020B0609020204030204" pitchFamily="49" charset="0"/>
              </a:rPr>
              <a:t>[</a:t>
            </a:r>
            <a:r>
              <a:rPr lang="en-US" sz="2500" b="0" dirty="0">
                <a:solidFill>
                  <a:srgbClr val="B5CEA8"/>
                </a:solidFill>
                <a:effectLst/>
                <a:latin typeface="Consolas" panose="020B0609020204030204" pitchFamily="49" charset="0"/>
              </a:rPr>
              <a:t>999999999</a:t>
            </a:r>
            <a:r>
              <a:rPr lang="en-US" sz="2500" b="0" dirty="0">
                <a:solidFill>
                  <a:srgbClr val="CCCCCC"/>
                </a:solidFill>
                <a:effectLst/>
                <a:latin typeface="Consolas" panose="020B0609020204030204" pitchFamily="49" charset="0"/>
              </a:rPr>
              <a:t>]; </a:t>
            </a:r>
          </a:p>
        </p:txBody>
      </p:sp>
    </p:spTree>
    <p:extLst>
      <p:ext uri="{BB962C8B-B14F-4D97-AF65-F5344CB8AC3E}">
        <p14:creationId xmlns:p14="http://schemas.microsoft.com/office/powerpoint/2010/main" val="42610015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69320-F2D7-49B8-D6CC-58C1E28C7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07F1D5-E655-03DC-2B52-10E29919E86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DFFA733C-9945-393C-8DDB-78BCE173C945}"/>
              </a:ext>
            </a:extLst>
          </p:cNvPr>
          <p:cNvSpPr txBox="1"/>
          <p:nvPr/>
        </p:nvSpPr>
        <p:spPr>
          <a:xfrm>
            <a:off x="0" y="756745"/>
            <a:ext cx="11965258" cy="4549835"/>
          </a:xfrm>
          <a:prstGeom prst="rect">
            <a:avLst/>
          </a:prstGeom>
          <a:noFill/>
        </p:spPr>
        <p:txBody>
          <a:bodyPr wrap="square">
            <a:spAutoFit/>
          </a:bodyPr>
          <a:lstStyle/>
          <a:p>
            <a:pPr>
              <a:lnSpc>
                <a:spcPct val="150000"/>
              </a:lnSpc>
            </a:pPr>
            <a:r>
              <a:rPr lang="en-US" sz="2800" dirty="0">
                <a:latin typeface="Calibir"/>
              </a:rPr>
              <a:t>Exceptions</a:t>
            </a:r>
          </a:p>
          <a:p>
            <a:pPr marL="914400" lvl="1" indent="-457200">
              <a:lnSpc>
                <a:spcPct val="150000"/>
              </a:lnSpc>
              <a:buFont typeface="Arial" panose="020B0604020202020204" pitchFamily="34" charset="0"/>
              <a:buChar char="•"/>
            </a:pPr>
            <a:r>
              <a:rPr lang="en-US" sz="2800" dirty="0">
                <a:latin typeface="Calibir"/>
              </a:rPr>
              <a:t>Smaller problems.</a:t>
            </a:r>
          </a:p>
          <a:p>
            <a:pPr marL="914400" lvl="1" indent="-457200">
              <a:lnSpc>
                <a:spcPct val="150000"/>
              </a:lnSpc>
              <a:buFont typeface="Arial" panose="020B0604020202020204" pitchFamily="34" charset="0"/>
              <a:buChar char="•"/>
            </a:pPr>
            <a:r>
              <a:rPr lang="en-US" sz="2800" dirty="0">
                <a:latin typeface="Calibir"/>
              </a:rPr>
              <a:t>Program can recover if handled by the programmer.</a:t>
            </a:r>
          </a:p>
          <a:p>
            <a:pPr marL="914400" lvl="1" indent="-457200">
              <a:lnSpc>
                <a:spcPct val="150000"/>
              </a:lnSpc>
              <a:buFont typeface="Arial" panose="020B0604020202020204" pitchFamily="34" charset="0"/>
              <a:buChar char="•"/>
            </a:pPr>
            <a:r>
              <a:rPr lang="en-US" sz="2800" dirty="0">
                <a:latin typeface="Calibir"/>
              </a:rPr>
              <a:t>Example: invalid input or dividing by zero.</a:t>
            </a:r>
          </a:p>
          <a:p>
            <a:pPr marL="914400" lvl="1" indent="-457200">
              <a:lnSpc>
                <a:spcPct val="150000"/>
              </a:lnSpc>
              <a:buFont typeface="Arial" panose="020B0604020202020204" pitchFamily="34" charset="0"/>
              <a:buChar char="•"/>
            </a:pPr>
            <a:r>
              <a:rPr lang="en-US" sz="2800" dirty="0">
                <a:latin typeface="Calibir"/>
              </a:rPr>
              <a:t>Analogy: An Opal card machine rejects an invalid card → shows a message, but trains keep running.</a:t>
            </a:r>
          </a:p>
          <a:p>
            <a:pPr marL="914400" lvl="1" indent="-457200">
              <a:lnSpc>
                <a:spcPct val="150000"/>
              </a:lnSpc>
              <a:buFont typeface="Arial" panose="020B0604020202020204" pitchFamily="34" charset="0"/>
              <a:buChar char="•"/>
            </a:pPr>
            <a:r>
              <a:rPr lang="en-US" sz="2800" dirty="0">
                <a:latin typeface="Calibir"/>
              </a:rPr>
              <a:t>Python example:</a:t>
            </a:r>
          </a:p>
        </p:txBody>
      </p:sp>
      <p:sp>
        <p:nvSpPr>
          <p:cNvPr id="4" name="TextBox 3">
            <a:extLst>
              <a:ext uri="{FF2B5EF4-FFF2-40B4-BE49-F238E27FC236}">
                <a16:creationId xmlns:a16="http://schemas.microsoft.com/office/drawing/2014/main" id="{48F4C747-F15E-9C62-5B41-C88C887C0800}"/>
              </a:ext>
            </a:extLst>
          </p:cNvPr>
          <p:cNvSpPr txBox="1"/>
          <p:nvPr/>
        </p:nvSpPr>
        <p:spPr>
          <a:xfrm>
            <a:off x="1005469" y="5226783"/>
            <a:ext cx="10181062" cy="1631216"/>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try</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x = int(</a:t>
            </a:r>
            <a:r>
              <a:rPr lang="en-US" sz="2500" b="0" dirty="0">
                <a:solidFill>
                  <a:srgbClr val="CE9178"/>
                </a:solidFill>
                <a:effectLst/>
                <a:latin typeface="Consolas" panose="020B0609020204030204" pitchFamily="49" charset="0"/>
              </a:rPr>
              <a:t>"</a:t>
            </a:r>
            <a:r>
              <a:rPr lang="en-US" sz="2500" b="0" dirty="0" err="1">
                <a:solidFill>
                  <a:srgbClr val="CE9178"/>
                </a:solidFill>
                <a:effectLst/>
                <a:latin typeface="Consolas" panose="020B0609020204030204" pitchFamily="49" charset="0"/>
              </a:rPr>
              <a:t>abc</a:t>
            </a:r>
            <a:r>
              <a:rPr lang="en-US" sz="2500" b="0" dirty="0">
                <a:solidFill>
                  <a:srgbClr val="CE9178"/>
                </a:solidFill>
                <a:effectLst/>
                <a:latin typeface="Consolas" panose="020B0609020204030204" pitchFamily="49" charset="0"/>
              </a:rPr>
              <a:t>"</a:t>
            </a:r>
            <a:r>
              <a:rPr lang="en-US" sz="2500" b="0" dirty="0">
                <a:solidFill>
                  <a:srgbClr val="CCCCCC"/>
                </a:solidFill>
                <a:effectLst/>
                <a:latin typeface="Consolas" panose="020B0609020204030204" pitchFamily="49" charset="0"/>
              </a:rPr>
              <a:t>)  # invalid input</a:t>
            </a:r>
          </a:p>
          <a:p>
            <a:pPr>
              <a:buNone/>
            </a:pPr>
            <a:r>
              <a:rPr lang="en-US" sz="2500" b="0" dirty="0">
                <a:solidFill>
                  <a:srgbClr val="CCCCCC"/>
                </a:solidFill>
                <a:effectLst/>
                <a:latin typeface="Consolas" panose="020B0609020204030204" pitchFamily="49" charset="0"/>
              </a:rPr>
              <a:t>except </a:t>
            </a:r>
            <a:r>
              <a:rPr lang="en-US" sz="2500" b="0" dirty="0" err="1">
                <a:solidFill>
                  <a:srgbClr val="CCCCCC"/>
                </a:solidFill>
                <a:effectLst/>
                <a:latin typeface="Consolas" panose="020B0609020204030204" pitchFamily="49" charset="0"/>
              </a:rPr>
              <a:t>ValueError</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print(</a:t>
            </a:r>
            <a:r>
              <a:rPr lang="en-US" sz="2500" b="0" dirty="0">
                <a:solidFill>
                  <a:srgbClr val="CE9178"/>
                </a:solidFill>
                <a:effectLst/>
                <a:latin typeface="Consolas" panose="020B0609020204030204" pitchFamily="49" charset="0"/>
              </a:rPr>
              <a:t>"Please enter a valid number"</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2383867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11328-976F-E5FB-206C-5B396C22C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59BAD3-6187-C327-1A34-5635CDDEC9D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Errors vs Exceptions</a:t>
            </a:r>
          </a:p>
        </p:txBody>
      </p:sp>
      <p:sp>
        <p:nvSpPr>
          <p:cNvPr id="5" name="TextBox 4">
            <a:extLst>
              <a:ext uri="{FF2B5EF4-FFF2-40B4-BE49-F238E27FC236}">
                <a16:creationId xmlns:a16="http://schemas.microsoft.com/office/drawing/2014/main" id="{8F462484-DD36-8F6A-F701-9C50C5773F33}"/>
              </a:ext>
            </a:extLst>
          </p:cNvPr>
          <p:cNvSpPr txBox="1"/>
          <p:nvPr/>
        </p:nvSpPr>
        <p:spPr>
          <a:xfrm>
            <a:off x="0" y="756745"/>
            <a:ext cx="11965258" cy="1318823"/>
          </a:xfrm>
          <a:prstGeom prst="rect">
            <a:avLst/>
          </a:prstGeom>
          <a:noFill/>
        </p:spPr>
        <p:txBody>
          <a:bodyPr wrap="square">
            <a:spAutoFit/>
          </a:bodyPr>
          <a:lstStyle/>
          <a:p>
            <a:pPr>
              <a:lnSpc>
                <a:spcPct val="150000"/>
              </a:lnSpc>
            </a:pPr>
            <a:r>
              <a:rPr lang="en-US" sz="2800" dirty="0">
                <a:latin typeface="Calibir"/>
              </a:rPr>
              <a:t>Errors = system failure.</a:t>
            </a:r>
            <a:br>
              <a:rPr lang="en-US" sz="2800" dirty="0">
                <a:latin typeface="Calibir"/>
              </a:rPr>
            </a:br>
            <a:r>
              <a:rPr lang="en-US" sz="2800" dirty="0">
                <a:latin typeface="Calibir"/>
              </a:rPr>
              <a:t>Exceptions = programmer can catch and fix.</a:t>
            </a:r>
          </a:p>
        </p:txBody>
      </p:sp>
    </p:spTree>
    <p:extLst>
      <p:ext uri="{BB962C8B-B14F-4D97-AF65-F5344CB8AC3E}">
        <p14:creationId xmlns:p14="http://schemas.microsoft.com/office/powerpoint/2010/main" val="14187581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0A6A-F325-0C63-9FE5-FEEC419DB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5B3253-DEB5-252D-0D6A-D5148DAB10B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4B53EB-5F36-DC10-CCE0-E50D82192143}"/>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CDC3EB4-57E2-F4D7-AEBC-726412FF326D}"/>
              </a:ext>
            </a:extLst>
          </p:cNvPr>
          <p:cNvSpPr>
            <a:spLocks noChangeArrowheads="1"/>
          </p:cNvSpPr>
          <p:nvPr/>
        </p:nvSpPr>
        <p:spPr bwMode="auto">
          <a:xfrm>
            <a:off x="3967316" y="5539819"/>
            <a:ext cx="8224683"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try { ... } → test risky code.</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err="1">
                <a:ln>
                  <a:noFill/>
                </a:ln>
                <a:solidFill>
                  <a:schemeClr val="tx1"/>
                </a:solidFill>
                <a:effectLst/>
                <a:latin typeface="Calibir"/>
              </a:rPr>
              <a:t>Integer.parseInt</a:t>
            </a:r>
            <a:r>
              <a:rPr kumimoji="0" lang="en-US" altLang="en-US" sz="2800" b="0" i="0" u="none" strike="noStrike" cap="none" normalizeH="0" baseline="0" dirty="0">
                <a:ln>
                  <a:noFill/>
                </a:ln>
                <a:solidFill>
                  <a:schemeClr val="tx1"/>
                </a:solidFill>
                <a:effectLst/>
                <a:latin typeface="Calibir"/>
              </a:rPr>
              <a:t>("0") → turn text "0" into number 0.</a:t>
            </a:r>
          </a:p>
        </p:txBody>
      </p:sp>
      <p:sp>
        <p:nvSpPr>
          <p:cNvPr id="7" name="Rectangle: Rounded Corners 6">
            <a:extLst>
              <a:ext uri="{FF2B5EF4-FFF2-40B4-BE49-F238E27FC236}">
                <a16:creationId xmlns:a16="http://schemas.microsoft.com/office/drawing/2014/main" id="{D9D0341A-6F55-BF63-7DA8-9530826BE851}"/>
              </a:ext>
            </a:extLst>
          </p:cNvPr>
          <p:cNvSpPr/>
          <p:nvPr/>
        </p:nvSpPr>
        <p:spPr>
          <a:xfrm>
            <a:off x="1460090" y="1622324"/>
            <a:ext cx="8760542" cy="91440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550603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6BD31-FD9B-4503-6639-37641D4B6D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D21C0-3FBA-36F3-2DE7-723B667BA616}"/>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E5E4940E-ED87-0E83-0324-3F87A28FBA71}"/>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E1BB2808-05AA-AD1B-E0D7-17342D6BE93D}"/>
              </a:ext>
            </a:extLst>
          </p:cNvPr>
          <p:cNvSpPr>
            <a:spLocks noChangeArrowheads="1"/>
          </p:cNvSpPr>
          <p:nvPr/>
        </p:nvSpPr>
        <p:spPr bwMode="auto">
          <a:xfrm>
            <a:off x="2418736" y="5539818"/>
            <a:ext cx="9773264"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10 / a → dividing by zero → error.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catch (</a:t>
            </a:r>
            <a:r>
              <a:rPr lang="en-US" altLang="en-US" sz="2800" dirty="0" err="1">
                <a:latin typeface="Calibir"/>
              </a:rPr>
              <a:t>ArithmeticException</a:t>
            </a:r>
            <a:r>
              <a:rPr lang="en-US" altLang="en-US" sz="2800" dirty="0">
                <a:latin typeface="Calibir"/>
              </a:rPr>
              <a:t> e) → catches divide-by-zero.</a:t>
            </a:r>
          </a:p>
        </p:txBody>
      </p:sp>
      <p:sp>
        <p:nvSpPr>
          <p:cNvPr id="7" name="Rectangle: Rounded Corners 6">
            <a:extLst>
              <a:ext uri="{FF2B5EF4-FFF2-40B4-BE49-F238E27FC236}">
                <a16:creationId xmlns:a16="http://schemas.microsoft.com/office/drawing/2014/main" id="{1ADCC08F-EEF2-630D-1D2E-9BE574A014A0}"/>
              </a:ext>
            </a:extLst>
          </p:cNvPr>
          <p:cNvSpPr/>
          <p:nvPr/>
        </p:nvSpPr>
        <p:spPr>
          <a:xfrm>
            <a:off x="1415845" y="2435772"/>
            <a:ext cx="8760542" cy="91440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012060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7A8F5-AC1A-162A-9EB1-010DE5FEFD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C95A0C-D64C-8381-C72E-9ED2D52B4592}"/>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361CF163-D574-071A-E019-F97CF86ED532}"/>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D206CC94-32C5-35FC-510A-1E8CFF2F5D4D}"/>
              </a:ext>
            </a:extLst>
          </p:cNvPr>
          <p:cNvSpPr>
            <a:spLocks noChangeArrowheads="1"/>
          </p:cNvSpPr>
          <p:nvPr/>
        </p:nvSpPr>
        <p:spPr bwMode="auto">
          <a:xfrm>
            <a:off x="2418736" y="5539817"/>
            <a:ext cx="9773264" cy="1318181"/>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catch (</a:t>
            </a:r>
            <a:r>
              <a:rPr lang="en-US" altLang="en-US" sz="2800" dirty="0" err="1">
                <a:latin typeface="Calibir"/>
              </a:rPr>
              <a:t>NumberFormatException</a:t>
            </a:r>
            <a:r>
              <a:rPr lang="en-US" altLang="en-US" sz="2800" dirty="0">
                <a:latin typeface="Calibir"/>
              </a:rPr>
              <a:t> e) → catches text like "</a:t>
            </a:r>
            <a:r>
              <a:rPr lang="en-US" altLang="en-US" sz="2800" dirty="0" err="1">
                <a:latin typeface="Calibir"/>
              </a:rPr>
              <a:t>abc</a:t>
            </a:r>
            <a:r>
              <a:rPr lang="en-US" altLang="en-US" sz="28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finally → always runs → prints “Done”.</a:t>
            </a:r>
          </a:p>
        </p:txBody>
      </p:sp>
      <p:sp>
        <p:nvSpPr>
          <p:cNvPr id="7" name="Rectangle: Rounded Corners 6">
            <a:extLst>
              <a:ext uri="{FF2B5EF4-FFF2-40B4-BE49-F238E27FC236}">
                <a16:creationId xmlns:a16="http://schemas.microsoft.com/office/drawing/2014/main" id="{DAB42812-CAD9-F46B-5DAF-B9BC6C8B8A45}"/>
              </a:ext>
            </a:extLst>
          </p:cNvPr>
          <p:cNvSpPr/>
          <p:nvPr/>
        </p:nvSpPr>
        <p:spPr>
          <a:xfrm>
            <a:off x="1342103" y="3772098"/>
            <a:ext cx="8760542" cy="13181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099627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19891-B04F-6780-31A0-458A5A4C2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D8A646-3FCB-2752-1CC6-21295F17D509}"/>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Example 2 – Java Exception</a:t>
            </a:r>
            <a:endParaRPr lang="en-US" sz="4000" kern="100" dirty="0">
              <a:latin typeface="Calibir"/>
              <a:ea typeface="Aptos" panose="020B00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4E8A5EAD-8DC0-8A0A-94D1-73558F976976}"/>
              </a:ext>
            </a:extLst>
          </p:cNvPr>
          <p:cNvSpPr txBox="1"/>
          <p:nvPr/>
        </p:nvSpPr>
        <p:spPr>
          <a:xfrm>
            <a:off x="0" y="733245"/>
            <a:ext cx="12192000" cy="6124754"/>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main</a:t>
            </a:r>
            <a:r>
              <a:rPr lang="en-US" sz="2800" b="0" dirty="0">
                <a:solidFill>
                  <a:srgbClr val="CCCCCC"/>
                </a:solidFill>
                <a:effectLst/>
                <a:latin typeface="Consolas" panose="020B0609020204030204" pitchFamily="49" charset="0"/>
              </a:rPr>
              <a:t>(</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args</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Integer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parseInt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"0"</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10</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a</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ArithmeticException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"Cannot divide by zero"</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catch</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NumberFormatException</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e</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"Invalid number"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 </a:t>
            </a: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4FC1FF"/>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6" name="Rectangle 1">
            <a:extLst>
              <a:ext uri="{FF2B5EF4-FFF2-40B4-BE49-F238E27FC236}">
                <a16:creationId xmlns:a16="http://schemas.microsoft.com/office/drawing/2014/main" id="{795D12C6-66D9-4271-0A33-B6E9AA9E8A5D}"/>
              </a:ext>
            </a:extLst>
          </p:cNvPr>
          <p:cNvSpPr>
            <a:spLocks noChangeArrowheads="1"/>
          </p:cNvSpPr>
          <p:nvPr/>
        </p:nvSpPr>
        <p:spPr bwMode="auto">
          <a:xfrm>
            <a:off x="2418736" y="5538021"/>
            <a:ext cx="9773264" cy="1321772"/>
          </a:xfrm>
          <a:prstGeom prst="rect">
            <a:avLst/>
          </a:prstGeom>
          <a:solidFill>
            <a:schemeClr val="bg1"/>
          </a:solidFill>
          <a:ln>
            <a:solidFill>
              <a:srgbClr val="FF0000"/>
            </a:solid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sz="2800" dirty="0">
                <a:latin typeface="Calibir"/>
              </a:rPr>
              <a:t>Analogy: Like Sydney Trains → if one line fails (error), system re-routes (catch) but still closes gates at night (finally).</a:t>
            </a:r>
            <a:endParaRPr lang="en-US" altLang="en-US" sz="2800" dirty="0">
              <a:latin typeface="Calibir"/>
            </a:endParaRPr>
          </a:p>
        </p:txBody>
      </p:sp>
    </p:spTree>
    <p:extLst>
      <p:ext uri="{BB962C8B-B14F-4D97-AF65-F5344CB8AC3E}">
        <p14:creationId xmlns:p14="http://schemas.microsoft.com/office/powerpoint/2010/main" val="12724389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5C30F-EA59-1D4F-FE7C-74D129211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9A712-004C-042B-1A3F-368CF7A48F10}"/>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3 (Java – Read File)</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C394B423-7620-7A45-1AD6-0FCC9FB98E1D}"/>
              </a:ext>
            </a:extLst>
          </p:cNvPr>
          <p:cNvSpPr txBox="1"/>
          <p:nvPr/>
        </p:nvSpPr>
        <p:spPr>
          <a:xfrm>
            <a:off x="0" y="756745"/>
            <a:ext cx="11990438" cy="67185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Read a file hello.txt with </a:t>
            </a:r>
            <a:r>
              <a:rPr lang="en-US" sz="2800" dirty="0" err="1">
                <a:latin typeface="Calibir"/>
              </a:rPr>
              <a:t>FileReader</a:t>
            </a:r>
            <a:r>
              <a:rPr lang="en-US" sz="2800" dirty="0">
                <a:latin typeface="Calibir"/>
              </a:rPr>
              <a:t>, print its content.</a:t>
            </a:r>
          </a:p>
        </p:txBody>
      </p:sp>
      <p:pic>
        <p:nvPicPr>
          <p:cNvPr id="9" name="Timer">
            <a:hlinkClick r:id="" action="ppaction://media"/>
            <a:extLst>
              <a:ext uri="{FF2B5EF4-FFF2-40B4-BE49-F238E27FC236}">
                <a16:creationId xmlns:a16="http://schemas.microsoft.com/office/drawing/2014/main" id="{6CD3C876-D15B-0BF0-1897-7F8C668C3F77}"/>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1013" t="45377" r="41323" b="41290"/>
          <a:stretch>
            <a:fillRect/>
          </a:stretch>
        </p:blipFill>
        <p:spPr>
          <a:xfrm>
            <a:off x="4918586" y="2637964"/>
            <a:ext cx="2153266" cy="914400"/>
          </a:xfrm>
          <a:prstGeom prst="rect">
            <a:avLst/>
          </a:prstGeom>
          <a:ln w="38100">
            <a:solidFill>
              <a:srgbClr val="FF0000"/>
            </a:solidFill>
          </a:ln>
        </p:spPr>
      </p:pic>
    </p:spTree>
    <p:extLst>
      <p:ext uri="{BB962C8B-B14F-4D97-AF65-F5344CB8AC3E}">
        <p14:creationId xmlns:p14="http://schemas.microsoft.com/office/powerpoint/2010/main" val="255386400"/>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95C30F-EA59-1D4F-FE7C-74D129211AFA}"/>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5207FDA0-06C1-B282-B18D-9BD6708B4A62}"/>
              </a:ext>
            </a:extLst>
          </p:cNvPr>
          <p:cNvSpPr txBox="1"/>
          <p:nvPr/>
        </p:nvSpPr>
        <p:spPr>
          <a:xfrm>
            <a:off x="0" y="0"/>
            <a:ext cx="12192000" cy="5170646"/>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import</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java</a:t>
            </a:r>
            <a:r>
              <a:rPr lang="en-US" sz="2200" b="0" dirty="0">
                <a:solidFill>
                  <a:srgbClr val="D4D4D4"/>
                </a:solidFill>
                <a:effectLst/>
                <a:latin typeface="Consolas" panose="020B0609020204030204" pitchFamily="49" charset="0"/>
              </a:rPr>
              <a:t>.</a:t>
            </a:r>
            <a:r>
              <a:rPr lang="en-US" sz="2200" b="0" dirty="0">
                <a:solidFill>
                  <a:srgbClr val="4EC9B0"/>
                </a:solidFill>
                <a:effectLst/>
                <a:latin typeface="Consolas" panose="020B0609020204030204" pitchFamily="49" charset="0"/>
              </a:rPr>
              <a:t>io</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FileReadExample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"hello.txt"</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while</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read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char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close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IOException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"File not found or error reading file"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3629B524-3DB2-DFC6-FC12-A6D82F6668CC}"/>
              </a:ext>
            </a:extLst>
          </p:cNvPr>
          <p:cNvSpPr txBox="1"/>
          <p:nvPr/>
        </p:nvSpPr>
        <p:spPr>
          <a:xfrm>
            <a:off x="0" y="5171945"/>
            <a:ext cx="12108426" cy="131818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This line tells Java we want to use </a:t>
            </a:r>
            <a:r>
              <a:rPr lang="en-US" sz="2800" b="1" dirty="0">
                <a:latin typeface="Calibir"/>
              </a:rPr>
              <a:t>input/output (I/O)</a:t>
            </a:r>
            <a:r>
              <a:rPr lang="en-US" sz="2800" dirty="0">
                <a:latin typeface="Calibir"/>
              </a:rPr>
              <a:t> classes, like </a:t>
            </a:r>
            <a:r>
              <a:rPr lang="en-US" sz="2800" dirty="0" err="1">
                <a:latin typeface="Calibir"/>
              </a:rPr>
              <a:t>FileReader</a:t>
            </a:r>
            <a:r>
              <a:rPr lang="en-US" sz="2800" dirty="0">
                <a:latin typeface="Calibir"/>
              </a:rPr>
              <a:t> for reading files.</a:t>
            </a:r>
          </a:p>
        </p:txBody>
      </p:sp>
      <p:sp>
        <p:nvSpPr>
          <p:cNvPr id="10" name="Rectangle: Rounded Corners 9">
            <a:extLst>
              <a:ext uri="{FF2B5EF4-FFF2-40B4-BE49-F238E27FC236}">
                <a16:creationId xmlns:a16="http://schemas.microsoft.com/office/drawing/2014/main" id="{E66429A4-60FE-2E44-2F0A-10881ED7F662}"/>
              </a:ext>
            </a:extLst>
          </p:cNvPr>
          <p:cNvSpPr/>
          <p:nvPr/>
        </p:nvSpPr>
        <p:spPr>
          <a:xfrm>
            <a:off x="0" y="0"/>
            <a:ext cx="2949677" cy="3687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49069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6E0D1-6DCE-F396-EAFB-73139F8C27A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44B982BD-A4A7-FEFC-6286-FE8531CA9EDD}"/>
              </a:ext>
            </a:extLst>
          </p:cNvPr>
          <p:cNvSpPr txBox="1"/>
          <p:nvPr/>
        </p:nvSpPr>
        <p:spPr>
          <a:xfrm>
            <a:off x="0" y="0"/>
            <a:ext cx="12192000" cy="5170646"/>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import</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java</a:t>
            </a:r>
            <a:r>
              <a:rPr lang="en-US" sz="2200" b="0" dirty="0">
                <a:solidFill>
                  <a:srgbClr val="D4D4D4"/>
                </a:solidFill>
                <a:effectLst/>
                <a:latin typeface="Consolas" panose="020B0609020204030204" pitchFamily="49" charset="0"/>
              </a:rPr>
              <a:t>.</a:t>
            </a:r>
            <a:r>
              <a:rPr lang="en-US" sz="2200" b="0" dirty="0">
                <a:solidFill>
                  <a:srgbClr val="4EC9B0"/>
                </a:solidFill>
                <a:effectLst/>
                <a:latin typeface="Consolas" panose="020B0609020204030204" pitchFamily="49" charset="0"/>
              </a:rPr>
              <a:t>io</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FileReadExample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"hello.txt"</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while</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read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char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close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IOException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"File not found or error reading file"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F7D02216-DBC0-1891-70D5-3C30DAE3763E}"/>
              </a:ext>
            </a:extLst>
          </p:cNvPr>
          <p:cNvSpPr txBox="1"/>
          <p:nvPr/>
        </p:nvSpPr>
        <p:spPr>
          <a:xfrm>
            <a:off x="0" y="5171945"/>
            <a:ext cx="12108426" cy="132177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Defines a class (container for the code) named </a:t>
            </a:r>
            <a:r>
              <a:rPr lang="en-US" sz="2800" b="1" dirty="0" err="1">
                <a:latin typeface="Calibir"/>
              </a:rPr>
              <a:t>FileReadExample</a:t>
            </a:r>
            <a:r>
              <a:rPr lang="en-US" sz="2800" dirty="0">
                <a:latin typeface="Calibir"/>
              </a:rPr>
              <a:t>. Every Java program needs at least one class.</a:t>
            </a:r>
          </a:p>
        </p:txBody>
      </p:sp>
      <p:sp>
        <p:nvSpPr>
          <p:cNvPr id="10" name="Rectangle: Rounded Corners 9">
            <a:extLst>
              <a:ext uri="{FF2B5EF4-FFF2-40B4-BE49-F238E27FC236}">
                <a16:creationId xmlns:a16="http://schemas.microsoft.com/office/drawing/2014/main" id="{942782F2-D6E4-90B3-A180-43CE78B00387}"/>
              </a:ext>
            </a:extLst>
          </p:cNvPr>
          <p:cNvSpPr/>
          <p:nvPr/>
        </p:nvSpPr>
        <p:spPr>
          <a:xfrm>
            <a:off x="14748" y="364283"/>
            <a:ext cx="5471652" cy="35838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325818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4A0C2-770D-9E7B-86AE-A0551B5F736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D4580FE1-472B-77C9-6679-90408D1A2DBD}"/>
              </a:ext>
            </a:extLst>
          </p:cNvPr>
          <p:cNvSpPr txBox="1"/>
          <p:nvPr/>
        </p:nvSpPr>
        <p:spPr>
          <a:xfrm>
            <a:off x="0" y="0"/>
            <a:ext cx="12192000" cy="5170646"/>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import</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java</a:t>
            </a:r>
            <a:r>
              <a:rPr lang="en-US" sz="2200" b="0" dirty="0">
                <a:solidFill>
                  <a:srgbClr val="D4D4D4"/>
                </a:solidFill>
                <a:effectLst/>
                <a:latin typeface="Consolas" panose="020B0609020204030204" pitchFamily="49" charset="0"/>
              </a:rPr>
              <a:t>.</a:t>
            </a:r>
            <a:r>
              <a:rPr lang="en-US" sz="2200" b="0" dirty="0">
                <a:solidFill>
                  <a:srgbClr val="4EC9B0"/>
                </a:solidFill>
                <a:effectLst/>
                <a:latin typeface="Consolas" panose="020B0609020204030204" pitchFamily="49" charset="0"/>
              </a:rPr>
              <a:t>io</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FileReadExample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"hello.txt"</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while</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read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char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close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IOException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"File not found or error reading file"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37F46480-972C-CC84-E164-DC7A41D742FD}"/>
              </a:ext>
            </a:extLst>
          </p:cNvPr>
          <p:cNvSpPr txBox="1"/>
          <p:nvPr/>
        </p:nvSpPr>
        <p:spPr>
          <a:xfrm>
            <a:off x="0" y="5171945"/>
            <a:ext cx="12108426" cy="675441"/>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The main method. This is where the program starts running.</a:t>
            </a:r>
          </a:p>
        </p:txBody>
      </p:sp>
      <p:sp>
        <p:nvSpPr>
          <p:cNvPr id="10" name="Rectangle: Rounded Corners 9">
            <a:extLst>
              <a:ext uri="{FF2B5EF4-FFF2-40B4-BE49-F238E27FC236}">
                <a16:creationId xmlns:a16="http://schemas.microsoft.com/office/drawing/2014/main" id="{D44DBBD0-BF1D-9618-C497-075274DCEBEC}"/>
              </a:ext>
            </a:extLst>
          </p:cNvPr>
          <p:cNvSpPr/>
          <p:nvPr/>
        </p:nvSpPr>
        <p:spPr>
          <a:xfrm>
            <a:off x="0" y="696470"/>
            <a:ext cx="7551174" cy="35838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03474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1C393A-FF04-5A68-100A-99DC930DD66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95A1DDEC-3BF6-C42E-2AA8-41795CA4BC5E}"/>
              </a:ext>
            </a:extLst>
          </p:cNvPr>
          <p:cNvSpPr txBox="1"/>
          <p:nvPr/>
        </p:nvSpPr>
        <p:spPr>
          <a:xfrm>
            <a:off x="0" y="0"/>
            <a:ext cx="12192000" cy="5170646"/>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import</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java</a:t>
            </a:r>
            <a:r>
              <a:rPr lang="en-US" sz="2200" b="0" dirty="0">
                <a:solidFill>
                  <a:srgbClr val="D4D4D4"/>
                </a:solidFill>
                <a:effectLst/>
                <a:latin typeface="Consolas" panose="020B0609020204030204" pitchFamily="49" charset="0"/>
              </a:rPr>
              <a:t>.</a:t>
            </a:r>
            <a:r>
              <a:rPr lang="en-US" sz="2200" b="0" dirty="0">
                <a:solidFill>
                  <a:srgbClr val="4EC9B0"/>
                </a:solidFill>
                <a:effectLst/>
                <a:latin typeface="Consolas" panose="020B0609020204030204" pitchFamily="49" charset="0"/>
              </a:rPr>
              <a:t>io</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FileReadExample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"hello.txt"</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while</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read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char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close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IOException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"File not found or error reading file"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513D4A42-4641-A8B9-33B9-92E8E35D73AD}"/>
              </a:ext>
            </a:extLst>
          </p:cNvPr>
          <p:cNvSpPr txBox="1"/>
          <p:nvPr/>
        </p:nvSpPr>
        <p:spPr>
          <a:xfrm>
            <a:off x="1764890" y="4271952"/>
            <a:ext cx="10427110" cy="2610843"/>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try means “try to do this, but if something goes wrong, handle it later.”</a:t>
            </a:r>
          </a:p>
          <a:p>
            <a:pPr marL="457200" indent="-457200">
              <a:lnSpc>
                <a:spcPct val="150000"/>
              </a:lnSpc>
              <a:buFont typeface="Arial" panose="020B0604020202020204" pitchFamily="34" charset="0"/>
              <a:buChar char="•"/>
            </a:pPr>
            <a:r>
              <a:rPr lang="en-US" sz="2800" dirty="0" err="1">
                <a:latin typeface="Calibir"/>
              </a:rPr>
              <a:t>FileReader</a:t>
            </a:r>
            <a:r>
              <a:rPr lang="en-US" sz="2800" dirty="0">
                <a:latin typeface="Calibir"/>
              </a:rPr>
              <a:t> </a:t>
            </a:r>
            <a:r>
              <a:rPr lang="en-US" sz="2800" dirty="0" err="1">
                <a:latin typeface="Calibir"/>
              </a:rPr>
              <a:t>fr</a:t>
            </a:r>
            <a:r>
              <a:rPr lang="en-US" sz="2800" dirty="0">
                <a:latin typeface="Calibir"/>
              </a:rPr>
              <a:t> = new </a:t>
            </a:r>
            <a:r>
              <a:rPr lang="en-US" sz="2800" dirty="0" err="1">
                <a:latin typeface="Calibir"/>
              </a:rPr>
              <a:t>FileReader</a:t>
            </a:r>
            <a:r>
              <a:rPr lang="en-US" sz="2800" dirty="0">
                <a:latin typeface="Calibir"/>
              </a:rPr>
              <a:t>("hello.txt");</a:t>
            </a:r>
            <a:br>
              <a:rPr lang="en-US" sz="2800" dirty="0">
                <a:latin typeface="Calibir"/>
              </a:rPr>
            </a:br>
            <a:r>
              <a:rPr lang="en-US" sz="2800" dirty="0">
                <a:latin typeface="Calibir"/>
              </a:rPr>
              <a:t>This line opens a file called </a:t>
            </a:r>
            <a:r>
              <a:rPr lang="en-US" sz="2800" b="1" dirty="0">
                <a:latin typeface="Calibir"/>
              </a:rPr>
              <a:t>hello.txt</a:t>
            </a:r>
            <a:r>
              <a:rPr lang="en-US" sz="2800" dirty="0">
                <a:latin typeface="Calibir"/>
              </a:rPr>
              <a:t> for reading.</a:t>
            </a:r>
          </a:p>
        </p:txBody>
      </p:sp>
      <p:sp>
        <p:nvSpPr>
          <p:cNvPr id="10" name="Rectangle: Rounded Corners 9">
            <a:extLst>
              <a:ext uri="{FF2B5EF4-FFF2-40B4-BE49-F238E27FC236}">
                <a16:creationId xmlns:a16="http://schemas.microsoft.com/office/drawing/2014/main" id="{B21201F6-C3C4-F598-5874-8588B640646C}"/>
              </a:ext>
            </a:extLst>
          </p:cNvPr>
          <p:cNvSpPr/>
          <p:nvPr/>
        </p:nvSpPr>
        <p:spPr>
          <a:xfrm>
            <a:off x="0" y="1069606"/>
            <a:ext cx="9837174" cy="67674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073965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2AF28-69A0-4437-29FA-1F72F77A7AD4}"/>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1759B09-E84C-6489-9A35-C36587D20BCD}"/>
              </a:ext>
            </a:extLst>
          </p:cNvPr>
          <p:cNvSpPr txBox="1"/>
          <p:nvPr/>
        </p:nvSpPr>
        <p:spPr>
          <a:xfrm>
            <a:off x="0" y="0"/>
            <a:ext cx="12192000" cy="5170646"/>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import</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java</a:t>
            </a:r>
            <a:r>
              <a:rPr lang="en-US" sz="2200" b="0" dirty="0">
                <a:solidFill>
                  <a:srgbClr val="D4D4D4"/>
                </a:solidFill>
                <a:effectLst/>
                <a:latin typeface="Consolas" panose="020B0609020204030204" pitchFamily="49" charset="0"/>
              </a:rPr>
              <a:t>.</a:t>
            </a:r>
            <a:r>
              <a:rPr lang="en-US" sz="2200" b="0" dirty="0">
                <a:solidFill>
                  <a:srgbClr val="4EC9B0"/>
                </a:solidFill>
                <a:effectLst/>
                <a:latin typeface="Consolas" panose="020B0609020204030204" pitchFamily="49" charset="0"/>
              </a:rPr>
              <a:t>io</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FileReadExample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"hello.txt"</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while</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read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char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close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IOException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"File not found or error reading file"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5A9AF3E8-EDDB-4261-0A13-BCD6F9639D95}"/>
              </a:ext>
            </a:extLst>
          </p:cNvPr>
          <p:cNvSpPr txBox="1"/>
          <p:nvPr/>
        </p:nvSpPr>
        <p:spPr>
          <a:xfrm>
            <a:off x="1764890" y="4271952"/>
            <a:ext cx="10427110" cy="2576796"/>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200" dirty="0">
                <a:latin typeface="Calibir"/>
              </a:rPr>
              <a:t>int </a:t>
            </a:r>
            <a:r>
              <a:rPr lang="en-US" sz="2200" dirty="0" err="1">
                <a:latin typeface="Calibir"/>
              </a:rPr>
              <a:t>ch</a:t>
            </a:r>
            <a:r>
              <a:rPr lang="en-US" sz="2200" dirty="0">
                <a:latin typeface="Calibir"/>
              </a:rPr>
              <a:t>; → a variable to store one character at a time (Java reads as numbers first).</a:t>
            </a:r>
          </a:p>
          <a:p>
            <a:pPr marL="457200" indent="-457200">
              <a:lnSpc>
                <a:spcPct val="150000"/>
              </a:lnSpc>
              <a:buFont typeface="Arial" panose="020B0604020202020204" pitchFamily="34" charset="0"/>
              <a:buChar char="•"/>
            </a:pPr>
            <a:r>
              <a:rPr lang="en-US" sz="2200" dirty="0" err="1">
                <a:latin typeface="Calibir"/>
              </a:rPr>
              <a:t>fr.read</a:t>
            </a:r>
            <a:r>
              <a:rPr lang="en-US" sz="2200" dirty="0">
                <a:latin typeface="Calibir"/>
              </a:rPr>
              <a:t>() → reads one character from the file.</a:t>
            </a:r>
          </a:p>
          <a:p>
            <a:pPr marL="457200" indent="-457200">
              <a:lnSpc>
                <a:spcPct val="150000"/>
              </a:lnSpc>
              <a:buFont typeface="Arial" panose="020B0604020202020204" pitchFamily="34" charset="0"/>
              <a:buChar char="•"/>
            </a:pPr>
            <a:r>
              <a:rPr lang="en-US" sz="2200" dirty="0">
                <a:latin typeface="Calibir"/>
              </a:rPr>
              <a:t>!= -1 → means “keep going until the end of the file” (-1 = no more characters).</a:t>
            </a:r>
          </a:p>
          <a:p>
            <a:pPr marL="457200" indent="-457200">
              <a:lnSpc>
                <a:spcPct val="150000"/>
              </a:lnSpc>
              <a:buFont typeface="Arial" panose="020B0604020202020204" pitchFamily="34" charset="0"/>
              <a:buChar char="•"/>
            </a:pPr>
            <a:r>
              <a:rPr lang="en-US" sz="2200" dirty="0">
                <a:latin typeface="Calibir"/>
              </a:rPr>
              <a:t>(char) </a:t>
            </a:r>
            <a:r>
              <a:rPr lang="en-US" sz="2200" dirty="0" err="1">
                <a:latin typeface="Calibir"/>
              </a:rPr>
              <a:t>ch</a:t>
            </a:r>
            <a:r>
              <a:rPr lang="en-US" sz="2200" dirty="0">
                <a:latin typeface="Calibir"/>
              </a:rPr>
              <a:t> → converts the number into the actual character (e.g., 72 → 'H’).</a:t>
            </a:r>
          </a:p>
          <a:p>
            <a:pPr marL="457200" indent="-457200">
              <a:lnSpc>
                <a:spcPct val="150000"/>
              </a:lnSpc>
              <a:buFont typeface="Arial" panose="020B0604020202020204" pitchFamily="34" charset="0"/>
              <a:buChar char="•"/>
            </a:pPr>
            <a:r>
              <a:rPr lang="en-US" sz="2200" dirty="0" err="1">
                <a:latin typeface="Calibir"/>
              </a:rPr>
              <a:t>System.out.print</a:t>
            </a:r>
            <a:r>
              <a:rPr lang="en-US" sz="2200" dirty="0">
                <a:latin typeface="Calibir"/>
              </a:rPr>
              <a:t>(...) → prints each character on the screen.</a:t>
            </a:r>
          </a:p>
        </p:txBody>
      </p:sp>
      <p:sp>
        <p:nvSpPr>
          <p:cNvPr id="10" name="Rectangle: Rounded Corners 9">
            <a:extLst>
              <a:ext uri="{FF2B5EF4-FFF2-40B4-BE49-F238E27FC236}">
                <a16:creationId xmlns:a16="http://schemas.microsoft.com/office/drawing/2014/main" id="{4030F9A6-244D-D155-59B7-95822BB386D9}"/>
              </a:ext>
            </a:extLst>
          </p:cNvPr>
          <p:cNvSpPr/>
          <p:nvPr/>
        </p:nvSpPr>
        <p:spPr>
          <a:xfrm>
            <a:off x="0" y="1797606"/>
            <a:ext cx="9837174" cy="125531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441922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F1EBF-A1E1-CF03-9C8D-FAA05F8C758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2F4ABE6-FF06-2740-9E0C-7FA238FAA3B6}"/>
              </a:ext>
            </a:extLst>
          </p:cNvPr>
          <p:cNvSpPr txBox="1"/>
          <p:nvPr/>
        </p:nvSpPr>
        <p:spPr>
          <a:xfrm>
            <a:off x="0" y="0"/>
            <a:ext cx="12192000" cy="5170646"/>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import</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java</a:t>
            </a:r>
            <a:r>
              <a:rPr lang="en-US" sz="2200" b="0" dirty="0">
                <a:solidFill>
                  <a:srgbClr val="D4D4D4"/>
                </a:solidFill>
                <a:effectLst/>
                <a:latin typeface="Consolas" panose="020B0609020204030204" pitchFamily="49" charset="0"/>
              </a:rPr>
              <a:t>.</a:t>
            </a:r>
            <a:r>
              <a:rPr lang="en-US" sz="2200" b="0" dirty="0">
                <a:solidFill>
                  <a:srgbClr val="4EC9B0"/>
                </a:solidFill>
                <a:effectLst/>
                <a:latin typeface="Consolas" panose="020B0609020204030204" pitchFamily="49" charset="0"/>
              </a:rPr>
              <a:t>io</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FileReadExample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"hello.txt"</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while</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read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char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close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IOException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"File not found or error reading file"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ABEAECFC-D113-4233-0B4F-07F8F9DBBDFF}"/>
              </a:ext>
            </a:extLst>
          </p:cNvPr>
          <p:cNvSpPr txBox="1"/>
          <p:nvPr/>
        </p:nvSpPr>
        <p:spPr>
          <a:xfrm>
            <a:off x="0" y="5170646"/>
            <a:ext cx="12192000" cy="1318181"/>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Closes the file after finishing. (Always a good habit, like returning a library book after reading.)</a:t>
            </a:r>
          </a:p>
        </p:txBody>
      </p:sp>
      <p:sp>
        <p:nvSpPr>
          <p:cNvPr id="10" name="Rectangle: Rounded Corners 9">
            <a:extLst>
              <a:ext uri="{FF2B5EF4-FFF2-40B4-BE49-F238E27FC236}">
                <a16:creationId xmlns:a16="http://schemas.microsoft.com/office/drawing/2014/main" id="{59C15DC6-44E4-E8BC-A61E-B623DC4E8480}"/>
              </a:ext>
            </a:extLst>
          </p:cNvPr>
          <p:cNvSpPr/>
          <p:nvPr/>
        </p:nvSpPr>
        <p:spPr>
          <a:xfrm>
            <a:off x="0" y="3023418"/>
            <a:ext cx="9837174" cy="40558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30497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8A203-334E-8C85-6645-D337D401F713}"/>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8450E66-6063-CF83-7A95-C0A6D4B07042}"/>
              </a:ext>
            </a:extLst>
          </p:cNvPr>
          <p:cNvSpPr txBox="1"/>
          <p:nvPr/>
        </p:nvSpPr>
        <p:spPr>
          <a:xfrm>
            <a:off x="0" y="0"/>
            <a:ext cx="12192000" cy="5170646"/>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import</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java</a:t>
            </a:r>
            <a:r>
              <a:rPr lang="en-US" sz="2200" b="0" dirty="0">
                <a:solidFill>
                  <a:srgbClr val="D4D4D4"/>
                </a:solidFill>
                <a:effectLst/>
                <a:latin typeface="Consolas" panose="020B0609020204030204" pitchFamily="49" charset="0"/>
              </a:rPr>
              <a:t>.</a:t>
            </a:r>
            <a:r>
              <a:rPr lang="en-US" sz="2200" b="0" dirty="0">
                <a:solidFill>
                  <a:srgbClr val="4EC9B0"/>
                </a:solidFill>
                <a:effectLst/>
                <a:latin typeface="Consolas" panose="020B0609020204030204" pitchFamily="49" charset="0"/>
              </a:rPr>
              <a:t>io</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FileReadExample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"hello.txt"</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while</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read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char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close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IOException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"File not found or error reading file"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D2536558-1702-8C78-ED97-7575E55A0BE2}"/>
              </a:ext>
            </a:extLst>
          </p:cNvPr>
          <p:cNvSpPr txBox="1"/>
          <p:nvPr/>
        </p:nvSpPr>
        <p:spPr>
          <a:xfrm>
            <a:off x="0" y="5170646"/>
            <a:ext cx="12192000" cy="1321772"/>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If something goes wrong (like file missing or unreadable), the program catches the error and shows a friendly message instead of crashing.</a:t>
            </a:r>
          </a:p>
        </p:txBody>
      </p:sp>
      <p:sp>
        <p:nvSpPr>
          <p:cNvPr id="10" name="Rectangle: Rounded Corners 9">
            <a:extLst>
              <a:ext uri="{FF2B5EF4-FFF2-40B4-BE49-F238E27FC236}">
                <a16:creationId xmlns:a16="http://schemas.microsoft.com/office/drawing/2014/main" id="{F09DC854-1038-01A5-E3C4-36B1311726BC}"/>
              </a:ext>
            </a:extLst>
          </p:cNvPr>
          <p:cNvSpPr/>
          <p:nvPr/>
        </p:nvSpPr>
        <p:spPr>
          <a:xfrm>
            <a:off x="0" y="3399504"/>
            <a:ext cx="9837174" cy="101026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599962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25836-E2F3-AA5F-A3BD-6A16F9823216}"/>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92F55F4E-7762-DE52-9822-89CF5100ADED}"/>
              </a:ext>
            </a:extLst>
          </p:cNvPr>
          <p:cNvSpPr txBox="1"/>
          <p:nvPr/>
        </p:nvSpPr>
        <p:spPr>
          <a:xfrm>
            <a:off x="0" y="0"/>
            <a:ext cx="12192000" cy="5170646"/>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import</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java</a:t>
            </a:r>
            <a:r>
              <a:rPr lang="en-US" sz="2200" b="0" dirty="0">
                <a:solidFill>
                  <a:srgbClr val="D4D4D4"/>
                </a:solidFill>
                <a:effectLst/>
                <a:latin typeface="Consolas" panose="020B0609020204030204" pitchFamily="49" charset="0"/>
              </a:rPr>
              <a:t>.</a:t>
            </a:r>
            <a:r>
              <a:rPr lang="en-US" sz="2200" b="0" dirty="0">
                <a:solidFill>
                  <a:srgbClr val="4EC9B0"/>
                </a:solidFill>
                <a:effectLst/>
                <a:latin typeface="Consolas" panose="020B0609020204030204" pitchFamily="49" charset="0"/>
              </a:rPr>
              <a:t>io</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a:t>
            </a: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FileReadExample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FileReader</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"hello.txt"</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while</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read</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B5CEA8"/>
                </a:solidFill>
                <a:effectLst/>
                <a:latin typeface="Consolas" panose="020B0609020204030204" pitchFamily="49" charset="0"/>
              </a:rPr>
              <a:t>1</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char</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ch</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fr</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close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IOException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"File not found or error reading file"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683AEEFD-849C-C5EE-7BCC-71570DB01ACC}"/>
              </a:ext>
            </a:extLst>
          </p:cNvPr>
          <p:cNvSpPr txBox="1"/>
          <p:nvPr/>
        </p:nvSpPr>
        <p:spPr>
          <a:xfrm>
            <a:off x="294968" y="4893488"/>
            <a:ext cx="11897032" cy="1964512"/>
          </a:xfrm>
          <a:prstGeom prst="rect">
            <a:avLst/>
          </a:prstGeom>
          <a:solidFill>
            <a:schemeClr val="bg1"/>
          </a:solidFill>
          <a:ln>
            <a:solidFill>
              <a:srgbClr val="FF0000"/>
            </a:solidFill>
          </a:ln>
        </p:spPr>
        <p:txBody>
          <a:bodyPr wrap="square">
            <a:spAutoFit/>
          </a:bodyPr>
          <a:lstStyle/>
          <a:p>
            <a:pPr>
              <a:lnSpc>
                <a:spcPct val="150000"/>
              </a:lnSpc>
            </a:pPr>
            <a:r>
              <a:rPr lang="en-US" sz="2800" dirty="0">
                <a:latin typeface="Calibir"/>
              </a:rPr>
              <a:t>In short, this program opens a file called </a:t>
            </a:r>
            <a:r>
              <a:rPr lang="en-US" sz="2800" i="1" dirty="0">
                <a:latin typeface="Calibir"/>
              </a:rPr>
              <a:t>hello.txt</a:t>
            </a:r>
            <a:r>
              <a:rPr lang="en-US" sz="2800" dirty="0">
                <a:latin typeface="Calibir"/>
              </a:rPr>
              <a:t>, reads it one character at a time, prints everything on the screen, and closes the file. If the file isn’t there, it prints an error message.</a:t>
            </a:r>
          </a:p>
        </p:txBody>
      </p:sp>
    </p:spTree>
    <p:extLst>
      <p:ext uri="{BB962C8B-B14F-4D97-AF65-F5344CB8AC3E}">
        <p14:creationId xmlns:p14="http://schemas.microsoft.com/office/powerpoint/2010/main" val="29862457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7C87D1-6A48-1253-33ED-B8AE260225FB}"/>
              </a:ext>
            </a:extLst>
          </p:cNvPr>
          <p:cNvSpPr>
            <a:spLocks noGrp="1"/>
          </p:cNvSpPr>
          <p:nvPr>
            <p:ph type="title"/>
          </p:nvPr>
        </p:nvSpPr>
        <p:spPr>
          <a:xfrm>
            <a:off x="0" y="1"/>
            <a:ext cx="12192000" cy="756744"/>
          </a:xfrm>
        </p:spPr>
        <p:txBody>
          <a:bodyPr anchor="b">
            <a:normAutofit/>
          </a:bodyPr>
          <a:lstStyle/>
          <a:p>
            <a:pPr>
              <a:spcAft>
                <a:spcPts val="800"/>
              </a:spcAft>
            </a:pPr>
            <a:r>
              <a:rPr lang="en-US" sz="4000" dirty="0">
                <a:latin typeface="Calibir"/>
              </a:rPr>
              <a:t>Activity 4 (Java – Custom Exception)</a:t>
            </a:r>
            <a:endParaRPr lang="en-US" sz="4000" kern="100" dirty="0">
              <a:latin typeface="Calibir"/>
              <a:ea typeface="Aptos" panose="020B00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508EEEF1-C4AB-8ECA-A523-4748366F8F9F}"/>
              </a:ext>
            </a:extLst>
          </p:cNvPr>
          <p:cNvSpPr txBox="1"/>
          <p:nvPr/>
        </p:nvSpPr>
        <p:spPr>
          <a:xfrm>
            <a:off x="0" y="756745"/>
            <a:ext cx="11990438" cy="1318181"/>
          </a:xfrm>
          <a:prstGeom prst="rect">
            <a:avLst/>
          </a:prstGeom>
          <a:noFill/>
        </p:spPr>
        <p:txBody>
          <a:bodyPr wrap="square">
            <a:spAutoFit/>
          </a:bodyPr>
          <a:lstStyle/>
          <a:p>
            <a:pPr>
              <a:lnSpc>
                <a:spcPct val="150000"/>
              </a:lnSpc>
            </a:pPr>
            <a:r>
              <a:rPr lang="en-US" sz="2800" b="1" dirty="0">
                <a:latin typeface="Calibir"/>
              </a:rPr>
              <a:t>Task:</a:t>
            </a:r>
            <a:r>
              <a:rPr lang="en-US" sz="2800" dirty="0">
                <a:latin typeface="Calibir"/>
              </a:rPr>
              <a:t> Create custom exception </a:t>
            </a:r>
            <a:r>
              <a:rPr lang="en-US" sz="2800" dirty="0" err="1">
                <a:latin typeface="Calibir"/>
              </a:rPr>
              <a:t>InvalidMarkException</a:t>
            </a:r>
            <a:r>
              <a:rPr lang="en-US" sz="2800" dirty="0">
                <a:latin typeface="Calibir"/>
              </a:rPr>
              <a:t> for student marks &lt;0 or &gt;100.</a:t>
            </a:r>
          </a:p>
        </p:txBody>
      </p:sp>
      <p:pic>
        <p:nvPicPr>
          <p:cNvPr id="9" name="Timer">
            <a:hlinkClick r:id="" action="ppaction://media"/>
            <a:extLst>
              <a:ext uri="{FF2B5EF4-FFF2-40B4-BE49-F238E27FC236}">
                <a16:creationId xmlns:a16="http://schemas.microsoft.com/office/drawing/2014/main" id="{E787FB58-AA84-8113-2450-B8D3100A2C16}"/>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1013" t="45377" r="41323" b="41290"/>
          <a:stretch>
            <a:fillRect/>
          </a:stretch>
        </p:blipFill>
        <p:spPr>
          <a:xfrm>
            <a:off x="4918586" y="2637964"/>
            <a:ext cx="2153266" cy="914400"/>
          </a:xfrm>
          <a:prstGeom prst="rect">
            <a:avLst/>
          </a:prstGeom>
          <a:ln w="38100">
            <a:solidFill>
              <a:srgbClr val="FF0000"/>
            </a:solidFill>
          </a:ln>
        </p:spPr>
      </p:pic>
    </p:spTree>
    <p:extLst>
      <p:ext uri="{BB962C8B-B14F-4D97-AF65-F5344CB8AC3E}">
        <p14:creationId xmlns:p14="http://schemas.microsoft.com/office/powerpoint/2010/main" val="3035715777"/>
      </p:ext>
    </p:extLst>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90E8D-906B-CE08-06C2-473C2B507CE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271C665-33AD-F1D7-3FC5-6765BFAE606B}"/>
              </a:ext>
            </a:extLst>
          </p:cNvPr>
          <p:cNvSpPr txBox="1"/>
          <p:nvPr/>
        </p:nvSpPr>
        <p:spPr>
          <a:xfrm>
            <a:off x="0" y="0"/>
            <a:ext cx="12192000" cy="6524863"/>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extends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Exception</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super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a:p>
            <a:pPr>
              <a:buNone/>
            </a:pP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TestMarks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120</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&lt;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&gt;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100</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throw</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"Mark out of range!"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"Valid mark: "</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getMessage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B5A3BFEF-1CF6-FA2A-1EB4-8938F3D7989B}"/>
              </a:ext>
            </a:extLst>
          </p:cNvPr>
          <p:cNvSpPr txBox="1"/>
          <p:nvPr/>
        </p:nvSpPr>
        <p:spPr>
          <a:xfrm>
            <a:off x="7449015" y="-73739"/>
            <a:ext cx="4742985" cy="6957674"/>
          </a:xfrm>
          <a:prstGeom prst="rect">
            <a:avLst/>
          </a:prstGeom>
          <a:solidFill>
            <a:schemeClr val="bg1"/>
          </a:solidFill>
          <a:ln>
            <a:solidFill>
              <a:srgbClr val="FF0000"/>
            </a:solidFill>
          </a:ln>
        </p:spPr>
        <p:txBody>
          <a:bodyPr wrap="square">
            <a:spAutoFit/>
          </a:bodyPr>
          <a:lstStyle/>
          <a:p>
            <a:pPr>
              <a:lnSpc>
                <a:spcPct val="150000"/>
              </a:lnSpc>
              <a:buNone/>
            </a:pPr>
            <a:r>
              <a:rPr lang="en-US" sz="2500" dirty="0">
                <a:latin typeface="Calibir"/>
              </a:rPr>
              <a:t>This creates a custom exception called </a:t>
            </a:r>
            <a:r>
              <a:rPr lang="en-US" sz="2500" dirty="0" err="1">
                <a:latin typeface="Calibir"/>
              </a:rPr>
              <a:t>InvalidMarkException</a:t>
            </a:r>
            <a:r>
              <a:rPr lang="en-US" sz="2500" dirty="0">
                <a:latin typeface="Calibir"/>
              </a:rPr>
              <a:t>.</a:t>
            </a:r>
          </a:p>
          <a:p>
            <a:pPr marL="342900" indent="-342900">
              <a:lnSpc>
                <a:spcPct val="150000"/>
              </a:lnSpc>
              <a:buFont typeface="Arial" panose="020B0604020202020204" pitchFamily="34" charset="0"/>
              <a:buChar char="•"/>
            </a:pPr>
            <a:r>
              <a:rPr lang="en-US" sz="2500" dirty="0">
                <a:latin typeface="Calibir"/>
              </a:rPr>
              <a:t>extends Exception → means this is a special type of error (inherits from Java’s built-in Exception).</a:t>
            </a:r>
          </a:p>
          <a:p>
            <a:pPr marL="342900" indent="-342900">
              <a:lnSpc>
                <a:spcPct val="150000"/>
              </a:lnSpc>
              <a:buFont typeface="Arial" panose="020B0604020202020204" pitchFamily="34" charset="0"/>
              <a:buChar char="•"/>
            </a:pPr>
            <a:r>
              <a:rPr lang="en-US" sz="2500" dirty="0">
                <a:latin typeface="Calibir"/>
              </a:rPr>
              <a:t>The constructor (public </a:t>
            </a:r>
            <a:r>
              <a:rPr lang="en-US" sz="2500" dirty="0" err="1">
                <a:latin typeface="Calibir"/>
              </a:rPr>
              <a:t>InvalidMarkException</a:t>
            </a:r>
            <a:r>
              <a:rPr lang="en-US" sz="2500" dirty="0">
                <a:latin typeface="Calibir"/>
              </a:rPr>
              <a:t>(String msg)) lets us send an error message to the parent Exception class using super(msg).</a:t>
            </a:r>
          </a:p>
        </p:txBody>
      </p:sp>
      <p:sp>
        <p:nvSpPr>
          <p:cNvPr id="11" name="Rectangle: Rounded Corners 10">
            <a:extLst>
              <a:ext uri="{FF2B5EF4-FFF2-40B4-BE49-F238E27FC236}">
                <a16:creationId xmlns:a16="http://schemas.microsoft.com/office/drawing/2014/main" id="{91297299-7510-3A6F-FB70-40C78ACF2401}"/>
              </a:ext>
            </a:extLst>
          </p:cNvPr>
          <p:cNvSpPr/>
          <p:nvPr/>
        </p:nvSpPr>
        <p:spPr>
          <a:xfrm>
            <a:off x="0" y="0"/>
            <a:ext cx="7449015" cy="191729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43514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A0751-E46E-92F2-5377-D9AA9534A36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821972F-ABB9-477C-4165-2A864F9571A4}"/>
              </a:ext>
            </a:extLst>
          </p:cNvPr>
          <p:cNvSpPr txBox="1"/>
          <p:nvPr/>
        </p:nvSpPr>
        <p:spPr>
          <a:xfrm>
            <a:off x="0" y="0"/>
            <a:ext cx="12192000" cy="6524863"/>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extends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Exception</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super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a:p>
            <a:pPr>
              <a:buNone/>
            </a:pP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TestMarks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120</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&lt;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&gt;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100</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throw</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"Mark out of range!"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"Valid mark: "</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getMessage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EF9B308E-8A54-A802-C7B2-A3D541255A0C}"/>
              </a:ext>
            </a:extLst>
          </p:cNvPr>
          <p:cNvSpPr txBox="1"/>
          <p:nvPr/>
        </p:nvSpPr>
        <p:spPr>
          <a:xfrm>
            <a:off x="8023123" y="1"/>
            <a:ext cx="4168877" cy="1964512"/>
          </a:xfrm>
          <a:prstGeom prst="rect">
            <a:avLst/>
          </a:prstGeom>
          <a:solidFill>
            <a:schemeClr val="bg1"/>
          </a:solidFill>
          <a:ln>
            <a:solidFill>
              <a:srgbClr val="FF0000"/>
            </a:solidFill>
          </a:ln>
        </p:spPr>
        <p:txBody>
          <a:bodyPr wrap="square">
            <a:spAutoFit/>
          </a:bodyPr>
          <a:lstStyle/>
          <a:p>
            <a:pPr>
              <a:lnSpc>
                <a:spcPct val="150000"/>
              </a:lnSpc>
              <a:buNone/>
            </a:pPr>
            <a:r>
              <a:rPr lang="en-US" sz="2800" dirty="0">
                <a:latin typeface="Calibir"/>
              </a:rPr>
              <a:t>Defines a class named </a:t>
            </a:r>
            <a:r>
              <a:rPr lang="en-US" sz="2800" dirty="0" err="1">
                <a:latin typeface="Calibir"/>
              </a:rPr>
              <a:t>TestMarks</a:t>
            </a:r>
            <a:r>
              <a:rPr lang="en-US" sz="2800" dirty="0">
                <a:latin typeface="Calibir"/>
              </a:rPr>
              <a:t>. This is where we test the marks.</a:t>
            </a:r>
          </a:p>
        </p:txBody>
      </p:sp>
      <p:sp>
        <p:nvSpPr>
          <p:cNvPr id="11" name="Rectangle: Rounded Corners 10">
            <a:extLst>
              <a:ext uri="{FF2B5EF4-FFF2-40B4-BE49-F238E27FC236}">
                <a16:creationId xmlns:a16="http://schemas.microsoft.com/office/drawing/2014/main" id="{276576E2-B6DF-DEC0-E0FC-C0FD205A8FA4}"/>
              </a:ext>
            </a:extLst>
          </p:cNvPr>
          <p:cNvSpPr/>
          <p:nvPr/>
        </p:nvSpPr>
        <p:spPr>
          <a:xfrm>
            <a:off x="0" y="1873047"/>
            <a:ext cx="7449015" cy="56806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95618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5B1CB-E7E4-25E6-8E30-F464A3DA42F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C5F0382-9A29-C0CB-389B-B83D4DB1F4F3}"/>
              </a:ext>
            </a:extLst>
          </p:cNvPr>
          <p:cNvSpPr txBox="1"/>
          <p:nvPr/>
        </p:nvSpPr>
        <p:spPr>
          <a:xfrm>
            <a:off x="0" y="0"/>
            <a:ext cx="12192000" cy="6524863"/>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extends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Exception</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super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a:p>
            <a:pPr>
              <a:buNone/>
            </a:pP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TestMarks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120</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&lt;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&gt;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100</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throw</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"Mark out of range!"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"Valid mark: "</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getMessage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1A967BDA-DCCB-B447-2C5C-7ECF945E8846}"/>
              </a:ext>
            </a:extLst>
          </p:cNvPr>
          <p:cNvSpPr txBox="1"/>
          <p:nvPr/>
        </p:nvSpPr>
        <p:spPr>
          <a:xfrm>
            <a:off x="8023123" y="1"/>
            <a:ext cx="4168877" cy="675441"/>
          </a:xfrm>
          <a:prstGeom prst="rect">
            <a:avLst/>
          </a:prstGeom>
          <a:solidFill>
            <a:schemeClr val="bg1"/>
          </a:solidFill>
          <a:ln>
            <a:solidFill>
              <a:srgbClr val="FF0000"/>
            </a:solidFill>
          </a:ln>
        </p:spPr>
        <p:txBody>
          <a:bodyPr wrap="square">
            <a:spAutoFit/>
          </a:bodyPr>
          <a:lstStyle/>
          <a:p>
            <a:pPr>
              <a:lnSpc>
                <a:spcPct val="150000"/>
              </a:lnSpc>
              <a:buNone/>
            </a:pPr>
            <a:r>
              <a:rPr lang="en-US" sz="2800" dirty="0">
                <a:latin typeface="Calibir"/>
              </a:rPr>
              <a:t>Program starts here.</a:t>
            </a:r>
          </a:p>
        </p:txBody>
      </p:sp>
      <p:sp>
        <p:nvSpPr>
          <p:cNvPr id="11" name="Rectangle: Rounded Corners 10">
            <a:extLst>
              <a:ext uri="{FF2B5EF4-FFF2-40B4-BE49-F238E27FC236}">
                <a16:creationId xmlns:a16="http://schemas.microsoft.com/office/drawing/2014/main" id="{8D0E705E-3933-CC47-95B9-4C1A955C0611}"/>
              </a:ext>
            </a:extLst>
          </p:cNvPr>
          <p:cNvSpPr/>
          <p:nvPr/>
        </p:nvSpPr>
        <p:spPr>
          <a:xfrm>
            <a:off x="0" y="2359743"/>
            <a:ext cx="7449015" cy="39820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46609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5495D-C463-3481-0085-51948B09B5C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28E3D5F-79AB-2A6C-8343-784FBD9289C0}"/>
              </a:ext>
            </a:extLst>
          </p:cNvPr>
          <p:cNvSpPr txBox="1"/>
          <p:nvPr/>
        </p:nvSpPr>
        <p:spPr>
          <a:xfrm>
            <a:off x="0" y="0"/>
            <a:ext cx="12192000" cy="6524863"/>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extends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Exception</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super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a:p>
            <a:pPr>
              <a:buNone/>
            </a:pP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TestMarks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120</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&lt;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&gt;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100</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throw</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"Mark out of range!"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"Valid mark: "</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getMessage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E9414786-ED94-A13A-223B-5658B6C4CCFF}"/>
              </a:ext>
            </a:extLst>
          </p:cNvPr>
          <p:cNvSpPr txBox="1"/>
          <p:nvPr/>
        </p:nvSpPr>
        <p:spPr>
          <a:xfrm>
            <a:off x="8023123" y="1"/>
            <a:ext cx="4168877" cy="4553426"/>
          </a:xfrm>
          <a:prstGeom prst="rect">
            <a:avLst/>
          </a:prstGeom>
          <a:solidFill>
            <a:schemeClr val="bg1"/>
          </a:solidFill>
          <a:ln>
            <a:solidFill>
              <a:srgbClr val="FF0000"/>
            </a:solidFill>
          </a:ln>
        </p:spPr>
        <p:txBody>
          <a:bodyPr wrap="square">
            <a:spAutoFit/>
          </a:bodyPr>
          <a:lstStyle/>
          <a:p>
            <a:pPr marL="457200" indent="-457200">
              <a:lnSpc>
                <a:spcPct val="150000"/>
              </a:lnSpc>
              <a:buFont typeface="Arial" panose="020B0604020202020204" pitchFamily="34" charset="0"/>
              <a:buChar char="•"/>
            </a:pPr>
            <a:r>
              <a:rPr lang="en-US" sz="2800" dirty="0">
                <a:latin typeface="Calibir"/>
              </a:rPr>
              <a:t>Inside the try block, we test code that might cause an error.</a:t>
            </a:r>
          </a:p>
          <a:p>
            <a:pPr marL="457200" indent="-457200">
              <a:lnSpc>
                <a:spcPct val="150000"/>
              </a:lnSpc>
              <a:buFont typeface="Arial" panose="020B0604020202020204" pitchFamily="34" charset="0"/>
              <a:buChar char="•"/>
            </a:pPr>
            <a:r>
              <a:rPr lang="en-US" sz="2800" dirty="0">
                <a:latin typeface="Calibir"/>
              </a:rPr>
              <a:t>Here, the mark is set to 120 (which is invalid, since marks should be between 0–100).</a:t>
            </a:r>
          </a:p>
        </p:txBody>
      </p:sp>
      <p:sp>
        <p:nvSpPr>
          <p:cNvPr id="11" name="Rectangle: Rounded Corners 10">
            <a:extLst>
              <a:ext uri="{FF2B5EF4-FFF2-40B4-BE49-F238E27FC236}">
                <a16:creationId xmlns:a16="http://schemas.microsoft.com/office/drawing/2014/main" id="{A8AF3C62-3846-FC69-DAF2-AA06DE1524E8}"/>
              </a:ext>
            </a:extLst>
          </p:cNvPr>
          <p:cNvSpPr/>
          <p:nvPr/>
        </p:nvSpPr>
        <p:spPr>
          <a:xfrm>
            <a:off x="0" y="2684208"/>
            <a:ext cx="7449015" cy="74479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936567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E13A7-58E0-0DEB-2EC0-44023E33753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7399A47-DE6D-FEB0-189E-1B4EFB15EC95}"/>
              </a:ext>
            </a:extLst>
          </p:cNvPr>
          <p:cNvSpPr txBox="1"/>
          <p:nvPr/>
        </p:nvSpPr>
        <p:spPr>
          <a:xfrm>
            <a:off x="0" y="0"/>
            <a:ext cx="12192000" cy="6524863"/>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extends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Exception</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super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a:p>
            <a:pPr>
              <a:buNone/>
            </a:pP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TestMarks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120</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&lt;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&gt;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100</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throw</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"Mark out of range!"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"Valid mark: "</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getMessage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11" name="Rectangle: Rounded Corners 10">
            <a:extLst>
              <a:ext uri="{FF2B5EF4-FFF2-40B4-BE49-F238E27FC236}">
                <a16:creationId xmlns:a16="http://schemas.microsoft.com/office/drawing/2014/main" id="{E4512087-B0AE-A793-80BE-D162F8625B3A}"/>
              </a:ext>
            </a:extLst>
          </p:cNvPr>
          <p:cNvSpPr/>
          <p:nvPr/>
        </p:nvSpPr>
        <p:spPr>
          <a:xfrm>
            <a:off x="-1" y="3392130"/>
            <a:ext cx="10928555" cy="1002890"/>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7423713-2DB3-2F54-8542-8D3DB913C40B}"/>
              </a:ext>
            </a:extLst>
          </p:cNvPr>
          <p:cNvSpPr txBox="1"/>
          <p:nvPr/>
        </p:nvSpPr>
        <p:spPr>
          <a:xfrm>
            <a:off x="1802991" y="5579424"/>
            <a:ext cx="10389009" cy="1055545"/>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200" dirty="0">
                <a:latin typeface="Calibir"/>
              </a:rPr>
              <a:t>If the mark is less than 0 or more than 100 → throw our custom exception.</a:t>
            </a:r>
          </a:p>
          <a:p>
            <a:pPr marL="285750" indent="-285750">
              <a:lnSpc>
                <a:spcPct val="150000"/>
              </a:lnSpc>
              <a:buFont typeface="Arial" panose="020B0604020202020204" pitchFamily="34" charset="0"/>
              <a:buChar char="•"/>
            </a:pPr>
            <a:r>
              <a:rPr lang="en-US" sz="2200" dirty="0">
                <a:latin typeface="Calibir"/>
              </a:rPr>
              <a:t>"Mark out of range!" is the error message that goes with it.</a:t>
            </a:r>
          </a:p>
        </p:txBody>
      </p:sp>
    </p:spTree>
    <p:extLst>
      <p:ext uri="{BB962C8B-B14F-4D97-AF65-F5344CB8AC3E}">
        <p14:creationId xmlns:p14="http://schemas.microsoft.com/office/powerpoint/2010/main" val="7043559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7429E-1078-33FA-6BB6-A742E34183EA}"/>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BCA3F94-1C10-516C-A3C7-78C62DCD3FC4}"/>
              </a:ext>
            </a:extLst>
          </p:cNvPr>
          <p:cNvSpPr txBox="1"/>
          <p:nvPr/>
        </p:nvSpPr>
        <p:spPr>
          <a:xfrm>
            <a:off x="0" y="0"/>
            <a:ext cx="12192000" cy="6524863"/>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extends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Exception</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super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a:p>
            <a:pPr>
              <a:buNone/>
            </a:pP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TestMarks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120</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&lt;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&gt;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100</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throw</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"Mark out of range!"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"Valid mark: "</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getMessage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11" name="Rectangle: Rounded Corners 10">
            <a:extLst>
              <a:ext uri="{FF2B5EF4-FFF2-40B4-BE49-F238E27FC236}">
                <a16:creationId xmlns:a16="http://schemas.microsoft.com/office/drawing/2014/main" id="{700D652C-0F14-A26C-1CFD-2E4BACCE346F}"/>
              </a:ext>
            </a:extLst>
          </p:cNvPr>
          <p:cNvSpPr/>
          <p:nvPr/>
        </p:nvSpPr>
        <p:spPr>
          <a:xfrm>
            <a:off x="0" y="4409767"/>
            <a:ext cx="10928555" cy="33921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AC9AA47-1939-EF21-E2A8-3851EAB775E4}"/>
              </a:ext>
            </a:extLst>
          </p:cNvPr>
          <p:cNvSpPr txBox="1"/>
          <p:nvPr/>
        </p:nvSpPr>
        <p:spPr>
          <a:xfrm>
            <a:off x="1802991" y="5579424"/>
            <a:ext cx="10389009" cy="114358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400" dirty="0">
                <a:latin typeface="Calibir"/>
              </a:rPr>
              <a:t>If the mark is valid, print it.</a:t>
            </a:r>
          </a:p>
          <a:p>
            <a:pPr marL="285750" indent="-285750">
              <a:lnSpc>
                <a:spcPct val="150000"/>
              </a:lnSpc>
              <a:buFont typeface="Arial" panose="020B0604020202020204" pitchFamily="34" charset="0"/>
              <a:buChar char="•"/>
            </a:pPr>
            <a:r>
              <a:rPr lang="en-US" sz="2400" dirty="0">
                <a:latin typeface="Calibir"/>
              </a:rPr>
              <a:t>(This line won’t run here, because the mark is invalid.)</a:t>
            </a:r>
            <a:endParaRPr lang="en-US" sz="2200" dirty="0">
              <a:latin typeface="Calibir"/>
            </a:endParaRPr>
          </a:p>
        </p:txBody>
      </p:sp>
    </p:spTree>
    <p:extLst>
      <p:ext uri="{BB962C8B-B14F-4D97-AF65-F5344CB8AC3E}">
        <p14:creationId xmlns:p14="http://schemas.microsoft.com/office/powerpoint/2010/main" val="33918584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B1E34-58C5-6882-0B20-B5630F32FC4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E48F8AB-AD20-6FD5-AABC-3B313B0D7726}"/>
              </a:ext>
            </a:extLst>
          </p:cNvPr>
          <p:cNvSpPr txBox="1"/>
          <p:nvPr/>
        </p:nvSpPr>
        <p:spPr>
          <a:xfrm>
            <a:off x="0" y="0"/>
            <a:ext cx="12192000" cy="6524863"/>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extends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Exception</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super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a:p>
            <a:pPr>
              <a:buNone/>
            </a:pP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TestMarks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120</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&lt;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&gt;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100</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throw</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"Mark out of range!"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"Valid mark: "</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getMessage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11" name="Rectangle: Rounded Corners 10">
            <a:extLst>
              <a:ext uri="{FF2B5EF4-FFF2-40B4-BE49-F238E27FC236}">
                <a16:creationId xmlns:a16="http://schemas.microsoft.com/office/drawing/2014/main" id="{79018237-6C8D-13F2-2940-BCF2B7681DE9}"/>
              </a:ext>
            </a:extLst>
          </p:cNvPr>
          <p:cNvSpPr/>
          <p:nvPr/>
        </p:nvSpPr>
        <p:spPr>
          <a:xfrm>
            <a:off x="0" y="4719483"/>
            <a:ext cx="10928555" cy="109138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BC2A4719-9BED-A924-1789-D91EE0451D75}"/>
              </a:ext>
            </a:extLst>
          </p:cNvPr>
          <p:cNvSpPr txBox="1"/>
          <p:nvPr/>
        </p:nvSpPr>
        <p:spPr>
          <a:xfrm>
            <a:off x="1802991" y="5579424"/>
            <a:ext cx="10389009" cy="1186863"/>
          </a:xfrm>
          <a:prstGeom prst="rect">
            <a:avLst/>
          </a:prstGeom>
          <a:solidFill>
            <a:schemeClr val="bg1"/>
          </a:solidFill>
          <a:ln>
            <a:solidFill>
              <a:srgbClr val="FF0000"/>
            </a:solidFill>
          </a:ln>
        </p:spPr>
        <p:txBody>
          <a:bodyPr wrap="square">
            <a:spAutoFit/>
          </a:bodyPr>
          <a:lstStyle/>
          <a:p>
            <a:pPr marL="285750" indent="-285750">
              <a:lnSpc>
                <a:spcPct val="150000"/>
              </a:lnSpc>
              <a:buFont typeface="Arial" panose="020B0604020202020204" pitchFamily="34" charset="0"/>
              <a:buChar char="•"/>
            </a:pPr>
            <a:r>
              <a:rPr lang="en-US" sz="2500" dirty="0">
                <a:latin typeface="Calibir"/>
              </a:rPr>
              <a:t>If an </a:t>
            </a:r>
            <a:r>
              <a:rPr lang="en-US" sz="2500" dirty="0" err="1">
                <a:latin typeface="Calibir"/>
              </a:rPr>
              <a:t>InvalidMarkException</a:t>
            </a:r>
            <a:r>
              <a:rPr lang="en-US" sz="2500" dirty="0">
                <a:latin typeface="Calibir"/>
              </a:rPr>
              <a:t> happens, we catch it and print the error message instead of crashing.</a:t>
            </a:r>
          </a:p>
        </p:txBody>
      </p:sp>
    </p:spTree>
    <p:extLst>
      <p:ext uri="{BB962C8B-B14F-4D97-AF65-F5344CB8AC3E}">
        <p14:creationId xmlns:p14="http://schemas.microsoft.com/office/powerpoint/2010/main" val="40568481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1B520-CCB6-13FC-50BE-FF6182884A5B}"/>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8854FC5-871E-4C71-29CB-E1D1A86E0274}"/>
              </a:ext>
            </a:extLst>
          </p:cNvPr>
          <p:cNvSpPr txBox="1"/>
          <p:nvPr/>
        </p:nvSpPr>
        <p:spPr>
          <a:xfrm>
            <a:off x="0" y="0"/>
            <a:ext cx="12192000" cy="6524863"/>
          </a:xfrm>
          <a:prstGeom prst="rect">
            <a:avLst/>
          </a:prstGeom>
          <a:solidFill>
            <a:schemeClr val="tx1"/>
          </a:solidFill>
        </p:spPr>
        <p:txBody>
          <a:bodyPr wrap="square">
            <a:spAutoFit/>
          </a:bodyPr>
          <a:lstStyle/>
          <a:p>
            <a:pPr>
              <a:buNone/>
            </a:pP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extends</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Exception</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super</a:t>
            </a:r>
            <a:r>
              <a:rPr lang="en-US" sz="2200" b="0" dirty="0">
                <a:solidFill>
                  <a:srgbClr val="CCCCCC"/>
                </a:solidFill>
                <a:effectLst/>
                <a:latin typeface="Consolas" panose="020B0609020204030204" pitchFamily="49" charset="0"/>
              </a:rPr>
              <a:t>(</a:t>
            </a:r>
            <a:r>
              <a:rPr lang="en-US" sz="2200" b="0" dirty="0">
                <a:solidFill>
                  <a:srgbClr val="9CDCFE"/>
                </a:solidFill>
                <a:effectLst/>
                <a:latin typeface="Consolas" panose="020B0609020204030204" pitchFamily="49" charset="0"/>
              </a:rPr>
              <a:t>msg</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a:p>
            <a:pPr>
              <a:buNone/>
            </a:pP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class</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TestMarks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public</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static</a:t>
            </a: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void</a:t>
            </a:r>
            <a:r>
              <a:rPr lang="en-US" sz="2200" b="0" dirty="0">
                <a:solidFill>
                  <a:srgbClr val="CCCCCC"/>
                </a:solidFill>
                <a:effectLst/>
                <a:latin typeface="Consolas" panose="020B0609020204030204" pitchFamily="49" charset="0"/>
              </a:rPr>
              <a:t> </a:t>
            </a:r>
            <a:r>
              <a:rPr lang="en-US" sz="2200" b="0" dirty="0">
                <a:solidFill>
                  <a:srgbClr val="DCDCAA"/>
                </a:solidFill>
                <a:effectLst/>
                <a:latin typeface="Consolas" panose="020B0609020204030204" pitchFamily="49" charset="0"/>
              </a:rPr>
              <a:t>main</a:t>
            </a:r>
            <a:r>
              <a:rPr lang="en-US" sz="2200" b="0" dirty="0">
                <a:solidFill>
                  <a:srgbClr val="CCCCCC"/>
                </a:solidFill>
                <a:effectLst/>
                <a:latin typeface="Consolas" panose="020B0609020204030204" pitchFamily="49" charset="0"/>
              </a:rPr>
              <a:t>(</a:t>
            </a:r>
            <a:r>
              <a:rPr lang="en-US" sz="2200" b="0" dirty="0">
                <a:solidFill>
                  <a:srgbClr val="4EC9B0"/>
                </a:solidFill>
                <a:effectLst/>
                <a:latin typeface="Consolas" panose="020B0609020204030204" pitchFamily="49" charset="0"/>
              </a:rPr>
              <a:t>String</a:t>
            </a:r>
            <a:r>
              <a:rPr lang="en-US" sz="2200" b="0" dirty="0">
                <a:solidFill>
                  <a:srgbClr val="CCCCCC"/>
                </a:solidFill>
                <a:effectLst/>
                <a:latin typeface="Consolas" panose="020B0609020204030204" pitchFamily="49" charset="0"/>
              </a:rPr>
              <a:t>[] </a:t>
            </a:r>
            <a:r>
              <a:rPr lang="en-US" sz="2200" b="0" dirty="0" err="1">
                <a:solidFill>
                  <a:srgbClr val="9CDCFE"/>
                </a:solidFill>
                <a:effectLst/>
                <a:latin typeface="Consolas" panose="020B0609020204030204" pitchFamily="49" charset="0"/>
              </a:rPr>
              <a:t>args</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try</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4EC9B0"/>
                </a:solidFill>
                <a:effectLst/>
                <a:latin typeface="Consolas" panose="020B0609020204030204" pitchFamily="49" charset="0"/>
              </a:rPr>
              <a:t>int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120</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if</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&lt;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0</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&gt;</a:t>
            </a:r>
            <a:r>
              <a:rPr lang="en-US" sz="2200" b="0" dirty="0">
                <a:solidFill>
                  <a:srgbClr val="CCCCCC"/>
                </a:solidFill>
                <a:effectLst/>
                <a:latin typeface="Consolas" panose="020B0609020204030204" pitchFamily="49" charset="0"/>
              </a:rPr>
              <a:t> </a:t>
            </a:r>
            <a:r>
              <a:rPr lang="en-US" sz="2200" b="0" dirty="0">
                <a:solidFill>
                  <a:srgbClr val="B5CEA8"/>
                </a:solidFill>
                <a:effectLst/>
                <a:latin typeface="Consolas" panose="020B0609020204030204" pitchFamily="49" charset="0"/>
              </a:rPr>
              <a:t>100</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throw</a:t>
            </a:r>
            <a:r>
              <a:rPr lang="en-US" sz="2200" b="0" dirty="0">
                <a:solidFill>
                  <a:srgbClr val="CCCCCC"/>
                </a:solidFill>
                <a:effectLst/>
                <a:latin typeface="Consolas" panose="020B0609020204030204" pitchFamily="49" charset="0"/>
              </a:rPr>
              <a:t> </a:t>
            </a:r>
            <a:r>
              <a:rPr lang="en-US" sz="2200" b="0" dirty="0">
                <a:solidFill>
                  <a:srgbClr val="C586C0"/>
                </a:solidFill>
                <a:effectLst/>
                <a:latin typeface="Consolas" panose="020B0609020204030204" pitchFamily="49" charset="0"/>
              </a:rPr>
              <a:t>new</a:t>
            </a:r>
            <a:r>
              <a:rPr lang="en-US" sz="2200" b="0" dirty="0">
                <a:solidFill>
                  <a:srgbClr val="CCCCCC"/>
                </a:solidFill>
                <a:effectLst/>
                <a:latin typeface="Consolas" panose="020B0609020204030204" pitchFamily="49" charset="0"/>
              </a:rPr>
              <a:t> </a:t>
            </a:r>
            <a:r>
              <a:rPr lang="en-US" sz="2200" b="0" dirty="0" err="1">
                <a:solidFill>
                  <a:srgbClr val="DCDCAA"/>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"Mark out of range!"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a:solidFill>
                  <a:srgbClr val="CE9178"/>
                </a:solidFill>
                <a:effectLst/>
                <a:latin typeface="Consolas" panose="020B0609020204030204" pitchFamily="49" charset="0"/>
              </a:rPr>
              <a:t>"Valid mark: "</a:t>
            </a:r>
            <a:r>
              <a:rPr lang="en-US" sz="2200" b="0" dirty="0">
                <a:solidFill>
                  <a:srgbClr val="CCCCCC"/>
                </a:solidFill>
                <a:effectLst/>
                <a:latin typeface="Consolas" panose="020B0609020204030204" pitchFamily="49" charset="0"/>
              </a:rPr>
              <a:t> </a:t>
            </a:r>
            <a:r>
              <a:rPr lang="en-US" sz="2200" b="0" dirty="0">
                <a:solidFill>
                  <a:srgbClr val="D4D4D4"/>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mark</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 </a:t>
            </a:r>
            <a:r>
              <a:rPr lang="en-US" sz="2200" b="0" dirty="0">
                <a:solidFill>
                  <a:srgbClr val="C586C0"/>
                </a:solidFill>
                <a:effectLst/>
                <a:latin typeface="Consolas" panose="020B0609020204030204" pitchFamily="49" charset="0"/>
              </a:rPr>
              <a:t>catch</a:t>
            </a: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InvalidMarkException</a:t>
            </a:r>
            <a:r>
              <a:rPr lang="en-US" sz="2200" b="0" dirty="0">
                <a:solidFill>
                  <a:srgbClr val="CCCCCC"/>
                </a:solidFill>
                <a:effectLst/>
                <a:latin typeface="Consolas" panose="020B0609020204030204" pitchFamily="49" charset="0"/>
              </a:rPr>
              <a:t> </a:t>
            </a:r>
            <a:r>
              <a:rPr lang="en-US" sz="2200" b="0" dirty="0">
                <a:solidFill>
                  <a:srgbClr val="9CDCFE"/>
                </a:solidFill>
                <a:effectLst/>
                <a:latin typeface="Consolas" panose="020B0609020204030204" pitchFamily="49" charset="0"/>
              </a:rPr>
              <a:t>e</a:t>
            </a: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r>
              <a:rPr lang="en-US" sz="2200" b="0" dirty="0" err="1">
                <a:solidFill>
                  <a:srgbClr val="4EC9B0"/>
                </a:solidFill>
                <a:effectLst/>
                <a:latin typeface="Consolas" panose="020B0609020204030204" pitchFamily="49" charset="0"/>
              </a:rPr>
              <a:t>System</a:t>
            </a:r>
            <a:r>
              <a:rPr lang="en-US" sz="2200" b="0" dirty="0" err="1">
                <a:solidFill>
                  <a:srgbClr val="CCCCCC"/>
                </a:solidFill>
                <a:effectLst/>
                <a:latin typeface="Consolas" panose="020B0609020204030204" pitchFamily="49" charset="0"/>
              </a:rPr>
              <a:t>.</a:t>
            </a:r>
            <a:r>
              <a:rPr lang="en-US" sz="2200" b="0" dirty="0" err="1">
                <a:solidFill>
                  <a:srgbClr val="4FC1FF"/>
                </a:solidFill>
                <a:effectLst/>
                <a:latin typeface="Consolas" panose="020B0609020204030204" pitchFamily="49" charset="0"/>
              </a:rPr>
              <a:t>out</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println</a:t>
            </a:r>
            <a:r>
              <a:rPr lang="en-US" sz="2200" b="0" dirty="0">
                <a:solidFill>
                  <a:srgbClr val="CCCCCC"/>
                </a:solidFill>
                <a:effectLst/>
                <a:latin typeface="Consolas" panose="020B0609020204030204" pitchFamily="49" charset="0"/>
              </a:rPr>
              <a:t>(</a:t>
            </a:r>
            <a:r>
              <a:rPr lang="en-US" sz="2200" b="0" dirty="0" err="1">
                <a:solidFill>
                  <a:srgbClr val="9CDCFE"/>
                </a:solidFill>
                <a:effectLst/>
                <a:latin typeface="Consolas" panose="020B0609020204030204" pitchFamily="49" charset="0"/>
              </a:rPr>
              <a:t>e</a:t>
            </a:r>
            <a:r>
              <a:rPr lang="en-US" sz="2200" b="0" dirty="0" err="1">
                <a:solidFill>
                  <a:srgbClr val="CCCCCC"/>
                </a:solidFill>
                <a:effectLst/>
                <a:latin typeface="Consolas" panose="020B0609020204030204" pitchFamily="49" charset="0"/>
              </a:rPr>
              <a:t>.</a:t>
            </a:r>
            <a:r>
              <a:rPr lang="en-US" sz="2200" b="0" dirty="0" err="1">
                <a:solidFill>
                  <a:srgbClr val="DCDCAA"/>
                </a:solidFill>
                <a:effectLst/>
                <a:latin typeface="Consolas" panose="020B0609020204030204" pitchFamily="49" charset="0"/>
              </a:rPr>
              <a:t>getMessage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    }</a:t>
            </a:r>
          </a:p>
          <a:p>
            <a:pPr>
              <a:buNone/>
            </a:pPr>
            <a:r>
              <a:rPr lang="en-US" sz="2200" b="0" dirty="0">
                <a:solidFill>
                  <a:srgbClr val="CCCCCC"/>
                </a:solidFill>
                <a:effectLst/>
                <a:latin typeface="Consolas" panose="020B0609020204030204" pitchFamily="49" charset="0"/>
              </a:rPr>
              <a:t>}</a:t>
            </a:r>
          </a:p>
        </p:txBody>
      </p:sp>
      <p:sp>
        <p:nvSpPr>
          <p:cNvPr id="3" name="TextBox 2">
            <a:extLst>
              <a:ext uri="{FF2B5EF4-FFF2-40B4-BE49-F238E27FC236}">
                <a16:creationId xmlns:a16="http://schemas.microsoft.com/office/drawing/2014/main" id="{E7477C8A-9A55-45CC-33EB-C4F41EDD2F5E}"/>
              </a:ext>
            </a:extLst>
          </p:cNvPr>
          <p:cNvSpPr txBox="1"/>
          <p:nvPr/>
        </p:nvSpPr>
        <p:spPr>
          <a:xfrm>
            <a:off x="0" y="5802455"/>
            <a:ext cx="12192000" cy="1055545"/>
          </a:xfrm>
          <a:prstGeom prst="rect">
            <a:avLst/>
          </a:prstGeom>
          <a:solidFill>
            <a:schemeClr val="bg1"/>
          </a:solidFill>
          <a:ln>
            <a:solidFill>
              <a:srgbClr val="FF0000"/>
            </a:solidFill>
          </a:ln>
        </p:spPr>
        <p:txBody>
          <a:bodyPr wrap="square">
            <a:spAutoFit/>
          </a:bodyPr>
          <a:lstStyle/>
          <a:p>
            <a:pPr>
              <a:lnSpc>
                <a:spcPct val="150000"/>
              </a:lnSpc>
            </a:pPr>
            <a:r>
              <a:rPr lang="en-US" sz="2200" dirty="0">
                <a:latin typeface="Calibir"/>
              </a:rPr>
              <a:t>In short, this program shows how to make your own exception for a special rule (marks must be between 0–100). If someone tries an invalid mark, the program throws an error and prints a friendly message.</a:t>
            </a:r>
          </a:p>
        </p:txBody>
      </p:sp>
    </p:spTree>
    <p:extLst>
      <p:ext uri="{BB962C8B-B14F-4D97-AF65-F5344CB8AC3E}">
        <p14:creationId xmlns:p14="http://schemas.microsoft.com/office/powerpoint/2010/main" val="39204024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1A5D-F184-0A33-0EB8-5A6FB6C534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B3850C-F505-7F5A-631E-5D3D7738871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AFA7F200-50B2-60C5-5817-4C045993A659}"/>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1. open(filename, mode) → open a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Opens a file so you can read/write.</a:t>
            </a:r>
          </a:p>
          <a:p>
            <a:pPr marL="457200" indent="-457200">
              <a:lnSpc>
                <a:spcPct val="150000"/>
              </a:lnSpc>
              <a:buFont typeface="Arial" panose="020B0604020202020204" pitchFamily="34" charset="0"/>
              <a:buChar char="•"/>
            </a:pPr>
            <a:r>
              <a:rPr lang="en-US" sz="2800" dirty="0">
                <a:latin typeface="Calibir"/>
              </a:rPr>
              <a:t>Example:</a:t>
            </a:r>
          </a:p>
        </p:txBody>
      </p:sp>
      <p:pic>
        <p:nvPicPr>
          <p:cNvPr id="7" name="Picture 6">
            <a:extLst>
              <a:ext uri="{FF2B5EF4-FFF2-40B4-BE49-F238E27FC236}">
                <a16:creationId xmlns:a16="http://schemas.microsoft.com/office/drawing/2014/main" id="{6FCF5AE2-585F-4C74-DB9A-58884B4A4713}"/>
              </a:ext>
            </a:extLst>
          </p:cNvPr>
          <p:cNvPicPr>
            <a:picLocks noChangeAspect="1"/>
          </p:cNvPicPr>
          <p:nvPr/>
        </p:nvPicPr>
        <p:blipFill>
          <a:blip r:embed="rId2"/>
          <a:srcRect t="9033" b="41935"/>
          <a:stretch>
            <a:fillRect/>
          </a:stretch>
        </p:blipFill>
        <p:spPr>
          <a:xfrm>
            <a:off x="1406012" y="4270941"/>
            <a:ext cx="9379975" cy="2587058"/>
          </a:xfrm>
          <a:prstGeom prst="rect">
            <a:avLst/>
          </a:prstGeom>
        </p:spPr>
      </p:pic>
      <p:sp>
        <p:nvSpPr>
          <p:cNvPr id="9" name="TextBox 8">
            <a:extLst>
              <a:ext uri="{FF2B5EF4-FFF2-40B4-BE49-F238E27FC236}">
                <a16:creationId xmlns:a16="http://schemas.microsoft.com/office/drawing/2014/main" id="{FB1382C0-FB38-E315-C4AC-8431042FF86A}"/>
              </a:ext>
            </a:extLst>
          </p:cNvPr>
          <p:cNvSpPr txBox="1"/>
          <p:nvPr/>
        </p:nvSpPr>
        <p:spPr>
          <a:xfrm>
            <a:off x="7020233" y="1084744"/>
            <a:ext cx="5171767" cy="1763944"/>
          </a:xfrm>
          <a:prstGeom prst="rect">
            <a:avLst/>
          </a:prstGeom>
          <a:solidFill>
            <a:schemeClr val="bg1"/>
          </a:solidFill>
          <a:ln>
            <a:solidFill>
              <a:srgbClr val="FF0000"/>
            </a:solidFill>
          </a:ln>
        </p:spPr>
        <p:txBody>
          <a:bodyPr wrap="square">
            <a:spAutoFit/>
          </a:bodyPr>
          <a:lstStyle/>
          <a:p>
            <a:pPr>
              <a:lnSpc>
                <a:spcPct val="150000"/>
              </a:lnSpc>
            </a:pPr>
            <a:r>
              <a:rPr lang="en-US" sz="2500" dirty="0">
                <a:latin typeface="Calibir"/>
              </a:rPr>
              <a:t>Make sure this Python file and data.txt are in the same folder, otherwise Python will not find the file.</a:t>
            </a:r>
          </a:p>
        </p:txBody>
      </p:sp>
      <p:pic>
        <p:nvPicPr>
          <p:cNvPr id="11" name="Picture 10">
            <a:extLst>
              <a:ext uri="{FF2B5EF4-FFF2-40B4-BE49-F238E27FC236}">
                <a16:creationId xmlns:a16="http://schemas.microsoft.com/office/drawing/2014/main" id="{46465C0A-AA54-B97B-F897-6C00885D166F}"/>
              </a:ext>
            </a:extLst>
          </p:cNvPr>
          <p:cNvPicPr>
            <a:picLocks noChangeAspect="1"/>
          </p:cNvPicPr>
          <p:nvPr/>
        </p:nvPicPr>
        <p:blipFill>
          <a:blip r:embed="rId3"/>
          <a:srcRect l="8830" t="35699" r="8791" b="48387"/>
          <a:stretch>
            <a:fillRect/>
          </a:stretch>
        </p:blipFill>
        <p:spPr>
          <a:xfrm>
            <a:off x="0" y="2848688"/>
            <a:ext cx="12192000" cy="1324829"/>
          </a:xfrm>
          <a:prstGeom prst="rect">
            <a:avLst/>
          </a:prstGeom>
        </p:spPr>
      </p:pic>
    </p:spTree>
    <p:extLst>
      <p:ext uri="{BB962C8B-B14F-4D97-AF65-F5344CB8AC3E}">
        <p14:creationId xmlns:p14="http://schemas.microsoft.com/office/powerpoint/2010/main" val="337885442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98CC5-76C8-4CA3-2384-3705BB23E8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5320A6-37E7-6FA8-7FD6-25705D5575D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4FBD29D8-A55E-E18F-A672-3D927A7B0911}"/>
              </a:ext>
            </a:extLst>
          </p:cNvPr>
          <p:cNvSpPr txBox="1"/>
          <p:nvPr/>
        </p:nvSpPr>
        <p:spPr>
          <a:xfrm>
            <a:off x="0" y="756745"/>
            <a:ext cx="11965258" cy="4549835"/>
          </a:xfrm>
          <a:prstGeom prst="rect">
            <a:avLst/>
          </a:prstGeom>
          <a:noFill/>
        </p:spPr>
        <p:txBody>
          <a:bodyPr wrap="square">
            <a:spAutoFit/>
          </a:bodyPr>
          <a:lstStyle/>
          <a:p>
            <a:pPr>
              <a:lnSpc>
                <a:spcPct val="150000"/>
              </a:lnSpc>
            </a:pPr>
            <a:r>
              <a:rPr lang="en-US" sz="2800" b="1" dirty="0">
                <a:latin typeface="Calibir"/>
              </a:rPr>
              <a:t>2. Modes (r, w, a, b, t)</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r → read</a:t>
            </a:r>
          </a:p>
          <a:p>
            <a:pPr marL="914400" lvl="1" indent="-457200">
              <a:lnSpc>
                <a:spcPct val="150000"/>
              </a:lnSpc>
              <a:buFont typeface="Arial" panose="020B0604020202020204" pitchFamily="34" charset="0"/>
              <a:buChar char="•"/>
            </a:pPr>
            <a:r>
              <a:rPr lang="en-US" sz="2800" dirty="0">
                <a:latin typeface="Calibir"/>
              </a:rPr>
              <a:t>w → write (overwrite file)</a:t>
            </a:r>
          </a:p>
          <a:p>
            <a:pPr marL="914400" lvl="1" indent="-457200">
              <a:lnSpc>
                <a:spcPct val="150000"/>
              </a:lnSpc>
              <a:buFont typeface="Arial" panose="020B0604020202020204" pitchFamily="34" charset="0"/>
              <a:buChar char="•"/>
            </a:pPr>
            <a:r>
              <a:rPr lang="en-US" sz="2800" dirty="0">
                <a:latin typeface="Calibir"/>
              </a:rPr>
              <a:t>a → append (add to file)</a:t>
            </a:r>
          </a:p>
          <a:p>
            <a:pPr marL="914400" lvl="1" indent="-457200">
              <a:lnSpc>
                <a:spcPct val="150000"/>
              </a:lnSpc>
              <a:buFont typeface="Arial" panose="020B0604020202020204" pitchFamily="34" charset="0"/>
              <a:buChar char="•"/>
            </a:pPr>
            <a:r>
              <a:rPr lang="en-US" sz="2800" dirty="0">
                <a:latin typeface="Calibir"/>
              </a:rPr>
              <a:t>b → binary mode</a:t>
            </a:r>
          </a:p>
          <a:p>
            <a:pPr marL="914400" lvl="1" indent="-457200">
              <a:lnSpc>
                <a:spcPct val="150000"/>
              </a:lnSpc>
              <a:buFont typeface="Arial" panose="020B0604020202020204" pitchFamily="34" charset="0"/>
              <a:buChar char="•"/>
            </a:pPr>
            <a:r>
              <a:rPr lang="en-US" sz="2800" dirty="0">
                <a:latin typeface="Calibir"/>
              </a:rPr>
              <a:t>t → text mode (default)</a:t>
            </a:r>
          </a:p>
          <a:p>
            <a:pPr>
              <a:lnSpc>
                <a:spcPct val="150000"/>
              </a:lnSpc>
            </a:pPr>
            <a:r>
              <a:rPr lang="en-US" sz="2800" dirty="0">
                <a:latin typeface="Calibir"/>
              </a:rPr>
              <a:t>Example:</a:t>
            </a:r>
          </a:p>
        </p:txBody>
      </p:sp>
      <p:pic>
        <p:nvPicPr>
          <p:cNvPr id="8" name="Picture 7">
            <a:extLst>
              <a:ext uri="{FF2B5EF4-FFF2-40B4-BE49-F238E27FC236}">
                <a16:creationId xmlns:a16="http://schemas.microsoft.com/office/drawing/2014/main" id="{2E85C458-BEFA-A35E-1F33-88AF8476B02B}"/>
              </a:ext>
            </a:extLst>
          </p:cNvPr>
          <p:cNvPicPr>
            <a:picLocks noChangeAspect="1"/>
          </p:cNvPicPr>
          <p:nvPr/>
        </p:nvPicPr>
        <p:blipFill>
          <a:blip r:embed="rId2"/>
          <a:srcRect l="7984" t="65161" r="27903" b="16990"/>
          <a:stretch>
            <a:fillRect/>
          </a:stretch>
        </p:blipFill>
        <p:spPr>
          <a:xfrm>
            <a:off x="0" y="5191431"/>
            <a:ext cx="10943303" cy="1713764"/>
          </a:xfrm>
          <a:prstGeom prst="rect">
            <a:avLst/>
          </a:prstGeom>
        </p:spPr>
      </p:pic>
    </p:spTree>
    <p:extLst>
      <p:ext uri="{BB962C8B-B14F-4D97-AF65-F5344CB8AC3E}">
        <p14:creationId xmlns:p14="http://schemas.microsoft.com/office/powerpoint/2010/main" val="3444035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F035D-2291-67B9-8601-F43CD33C8B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658342-5A02-9C60-8D11-73E7B1DC637B}"/>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FDC13B90-2330-27A2-173C-557B10DB3915}"/>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0951123D-E63A-9ED4-B757-7F30F0185AF0}"/>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12" name="TextBox 11">
            <a:extLst>
              <a:ext uri="{FF2B5EF4-FFF2-40B4-BE49-F238E27FC236}">
                <a16:creationId xmlns:a16="http://schemas.microsoft.com/office/drawing/2014/main" id="{E549B4D8-DFB5-3395-FD53-1421D21F54A8}"/>
              </a:ext>
            </a:extLst>
          </p:cNvPr>
          <p:cNvSpPr txBox="1"/>
          <p:nvPr/>
        </p:nvSpPr>
        <p:spPr>
          <a:xfrm>
            <a:off x="-10432" y="3717522"/>
            <a:ext cx="12192000" cy="1318181"/>
          </a:xfrm>
          <a:prstGeom prst="rect">
            <a:avLst/>
          </a:prstGeom>
          <a:noFill/>
        </p:spPr>
        <p:txBody>
          <a:bodyPr wrap="square">
            <a:spAutoFit/>
          </a:bodyPr>
          <a:lstStyle/>
          <a:p>
            <a:pPr>
              <a:lnSpc>
                <a:spcPct val="150000"/>
              </a:lnSpc>
            </a:pPr>
            <a:r>
              <a:rPr lang="en-US" sz="2800" dirty="0">
                <a:latin typeface="Calibir"/>
              </a:rPr>
              <a:t>In this example (with open("data.txt", "r") as f:), the file closes automatically because of Python’s context manager (with statement).</a:t>
            </a:r>
          </a:p>
        </p:txBody>
      </p:sp>
    </p:spTree>
    <p:extLst>
      <p:ext uri="{BB962C8B-B14F-4D97-AF65-F5344CB8AC3E}">
        <p14:creationId xmlns:p14="http://schemas.microsoft.com/office/powerpoint/2010/main" val="8927026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8E0A0-37E5-4991-8AD9-3469E6F86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B62DA6-CE01-51A6-776C-00AFEE8527E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8E17E552-BC43-2E61-B19A-A9E82ED669F6}"/>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34B3B2C1-721C-775F-17B8-F88D922C096A}"/>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83611B28-9905-AD55-DEBC-2F68D75E63DA}"/>
              </a:ext>
            </a:extLst>
          </p:cNvPr>
          <p:cNvSpPr txBox="1"/>
          <p:nvPr/>
        </p:nvSpPr>
        <p:spPr>
          <a:xfrm>
            <a:off x="0" y="3722387"/>
            <a:ext cx="12192000" cy="3031086"/>
          </a:xfrm>
          <a:prstGeom prst="rect">
            <a:avLst/>
          </a:prstGeom>
          <a:noFill/>
        </p:spPr>
        <p:txBody>
          <a:bodyPr wrap="square">
            <a:spAutoFit/>
          </a:bodyPr>
          <a:lstStyle/>
          <a:p>
            <a:pPr>
              <a:lnSpc>
                <a:spcPct val="150000"/>
              </a:lnSpc>
              <a:buNone/>
            </a:pPr>
            <a:r>
              <a:rPr lang="en-US" sz="2600" b="1" dirty="0">
                <a:latin typeface="Calibir"/>
              </a:rPr>
              <a:t>How it works</a:t>
            </a:r>
          </a:p>
          <a:p>
            <a:pPr marL="800100" lvl="1" indent="-342900">
              <a:lnSpc>
                <a:spcPct val="150000"/>
              </a:lnSpc>
              <a:buFont typeface="Arial" panose="020B0604020202020204" pitchFamily="34" charset="0"/>
              <a:buChar char="•"/>
            </a:pPr>
            <a:r>
              <a:rPr lang="en-US" sz="2600" dirty="0">
                <a:latin typeface="Calibir"/>
              </a:rPr>
              <a:t>with statement creates a </a:t>
            </a:r>
            <a:r>
              <a:rPr lang="en-US" sz="2600" i="1" dirty="0">
                <a:latin typeface="Calibir"/>
              </a:rPr>
              <a:t>temporary context</a:t>
            </a:r>
            <a:r>
              <a:rPr lang="en-US" sz="2600" dirty="0">
                <a:latin typeface="Calibir"/>
              </a:rPr>
              <a:t> (a safe block).</a:t>
            </a:r>
          </a:p>
          <a:p>
            <a:pPr marL="800100" lvl="1" indent="-342900">
              <a:lnSpc>
                <a:spcPct val="150000"/>
              </a:lnSpc>
              <a:buFont typeface="Arial" panose="020B0604020202020204" pitchFamily="34" charset="0"/>
              <a:buChar char="•"/>
            </a:pPr>
            <a:r>
              <a:rPr lang="en-US" sz="2600" dirty="0">
                <a:latin typeface="Calibir"/>
              </a:rPr>
              <a:t>When you enter the block → Python opens the file and assigns it to f.</a:t>
            </a:r>
          </a:p>
          <a:p>
            <a:pPr marL="800100" lvl="1" indent="-342900">
              <a:lnSpc>
                <a:spcPct val="150000"/>
              </a:lnSpc>
              <a:buFont typeface="Arial" panose="020B0604020202020204" pitchFamily="34" charset="0"/>
              <a:buChar char="•"/>
            </a:pPr>
            <a:r>
              <a:rPr lang="en-US" sz="2600" dirty="0">
                <a:latin typeface="Calibir"/>
              </a:rPr>
              <a:t>When you leave the block (after the indented lines finish) → Python automatically calls f.close() behind the scenes, even if an error happens.</a:t>
            </a:r>
          </a:p>
        </p:txBody>
      </p:sp>
    </p:spTree>
    <p:extLst>
      <p:ext uri="{BB962C8B-B14F-4D97-AF65-F5344CB8AC3E}">
        <p14:creationId xmlns:p14="http://schemas.microsoft.com/office/powerpoint/2010/main" val="21084297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C595A-8926-A944-D2FE-D1BBE396D8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696163-9213-2EC0-07A0-7AD60DDAABC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F1689A0C-19A4-70C9-1C62-F4836D6D9FDA}"/>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702CA895-8FB1-7E63-8F9B-E4269E91C2D2}"/>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13F08D7E-112D-0599-6366-F6360EA0566F}"/>
              </a:ext>
            </a:extLst>
          </p:cNvPr>
          <p:cNvSpPr txBox="1"/>
          <p:nvPr/>
        </p:nvSpPr>
        <p:spPr>
          <a:xfrm>
            <a:off x="0" y="3722387"/>
            <a:ext cx="12192000" cy="2610843"/>
          </a:xfrm>
          <a:prstGeom prst="rect">
            <a:avLst/>
          </a:prstGeom>
          <a:noFill/>
        </p:spPr>
        <p:txBody>
          <a:bodyPr wrap="square">
            <a:spAutoFit/>
          </a:bodyPr>
          <a:lstStyle/>
          <a:p>
            <a:pPr>
              <a:lnSpc>
                <a:spcPct val="150000"/>
              </a:lnSpc>
            </a:pPr>
            <a:r>
              <a:rPr lang="en-US" sz="2800" b="1" dirty="0">
                <a:latin typeface="Calibir"/>
              </a:rPr>
              <a:t>Why it’s safer</a:t>
            </a:r>
          </a:p>
          <a:p>
            <a:pPr marL="914400" lvl="1" indent="-457200">
              <a:lnSpc>
                <a:spcPct val="150000"/>
              </a:lnSpc>
              <a:buFont typeface="Arial" panose="020B0604020202020204" pitchFamily="34" charset="0"/>
              <a:buChar char="•"/>
            </a:pPr>
            <a:r>
              <a:rPr lang="en-US" sz="2800" dirty="0">
                <a:latin typeface="Calibir"/>
              </a:rPr>
              <a:t>You don’t have to remember to call f.close().</a:t>
            </a:r>
          </a:p>
          <a:p>
            <a:pPr marL="914400" lvl="1" indent="-457200">
              <a:lnSpc>
                <a:spcPct val="150000"/>
              </a:lnSpc>
              <a:buFont typeface="Arial" panose="020B0604020202020204" pitchFamily="34" charset="0"/>
              <a:buChar char="•"/>
            </a:pPr>
            <a:r>
              <a:rPr lang="en-US" sz="2800" dirty="0">
                <a:latin typeface="Calibir"/>
              </a:rPr>
              <a:t>Prevents memory leaks or locked files.</a:t>
            </a:r>
          </a:p>
          <a:p>
            <a:pPr marL="914400" lvl="1" indent="-457200">
              <a:lnSpc>
                <a:spcPct val="150000"/>
              </a:lnSpc>
              <a:buFont typeface="Arial" panose="020B0604020202020204" pitchFamily="34" charset="0"/>
              <a:buChar char="•"/>
            </a:pPr>
            <a:r>
              <a:rPr lang="en-US" sz="2800" dirty="0">
                <a:latin typeface="Calibir"/>
              </a:rPr>
              <a:t>Good habit in real projects (always use with).</a:t>
            </a:r>
          </a:p>
        </p:txBody>
      </p:sp>
    </p:spTree>
    <p:extLst>
      <p:ext uri="{BB962C8B-B14F-4D97-AF65-F5344CB8AC3E}">
        <p14:creationId xmlns:p14="http://schemas.microsoft.com/office/powerpoint/2010/main" val="28489154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3F03D-952E-04EC-C608-4B3278C62B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0E3286-485B-64B5-8B2F-8D0C6E16177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(Python)</a:t>
            </a:r>
          </a:p>
        </p:txBody>
      </p:sp>
      <p:sp>
        <p:nvSpPr>
          <p:cNvPr id="5" name="TextBox 4">
            <a:extLst>
              <a:ext uri="{FF2B5EF4-FFF2-40B4-BE49-F238E27FC236}">
                <a16:creationId xmlns:a16="http://schemas.microsoft.com/office/drawing/2014/main" id="{1AFF7F29-3337-0EBD-46CF-8334E7401887}"/>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with open() → auto close file</a:t>
            </a:r>
            <a:endParaRPr lang="en-US" sz="2800" dirty="0">
              <a:latin typeface="Calibir"/>
            </a:endParaRPr>
          </a:p>
          <a:p>
            <a:pPr marL="457200" indent="-457200">
              <a:lnSpc>
                <a:spcPct val="150000"/>
              </a:lnSpc>
              <a:buFont typeface="Arial" panose="020B0604020202020204" pitchFamily="34" charset="0"/>
              <a:buChar char="•"/>
            </a:pPr>
            <a:r>
              <a:rPr lang="en-US" sz="2800" dirty="0">
                <a:latin typeface="Calibir"/>
              </a:rPr>
              <a:t>File closes by itself, safer.</a:t>
            </a:r>
          </a:p>
          <a:p>
            <a:pPr marL="457200" indent="-457200">
              <a:lnSpc>
                <a:spcPct val="150000"/>
              </a:lnSpc>
              <a:buFont typeface="Arial" panose="020B0604020202020204" pitchFamily="34" charset="0"/>
              <a:buChar char="•"/>
            </a:pPr>
            <a:r>
              <a:rPr lang="en-US" sz="2800" dirty="0">
                <a:latin typeface="Calibir"/>
              </a:rPr>
              <a:t>Example:</a:t>
            </a:r>
          </a:p>
        </p:txBody>
      </p:sp>
      <p:pic>
        <p:nvPicPr>
          <p:cNvPr id="10" name="Picture 9">
            <a:extLst>
              <a:ext uri="{FF2B5EF4-FFF2-40B4-BE49-F238E27FC236}">
                <a16:creationId xmlns:a16="http://schemas.microsoft.com/office/drawing/2014/main" id="{832DDB65-E37B-EE85-0AF3-23B045035AF9}"/>
              </a:ext>
            </a:extLst>
          </p:cNvPr>
          <p:cNvPicPr>
            <a:picLocks noChangeAspect="1"/>
          </p:cNvPicPr>
          <p:nvPr/>
        </p:nvPicPr>
        <p:blipFill>
          <a:blip r:embed="rId2"/>
          <a:srcRect l="7742" t="33548" r="10242" b="55395"/>
          <a:stretch>
            <a:fillRect/>
          </a:stretch>
        </p:blipFill>
        <p:spPr>
          <a:xfrm>
            <a:off x="0" y="2797861"/>
            <a:ext cx="12192000" cy="924526"/>
          </a:xfrm>
          <a:prstGeom prst="rect">
            <a:avLst/>
          </a:prstGeom>
        </p:spPr>
      </p:pic>
      <p:sp>
        <p:nvSpPr>
          <p:cNvPr id="3" name="TextBox 2">
            <a:extLst>
              <a:ext uri="{FF2B5EF4-FFF2-40B4-BE49-F238E27FC236}">
                <a16:creationId xmlns:a16="http://schemas.microsoft.com/office/drawing/2014/main" id="{7A017F1B-CBB3-CE1C-50B3-38F9A99893DA}"/>
              </a:ext>
            </a:extLst>
          </p:cNvPr>
          <p:cNvSpPr txBox="1"/>
          <p:nvPr/>
        </p:nvSpPr>
        <p:spPr>
          <a:xfrm>
            <a:off x="0" y="3722387"/>
            <a:ext cx="12192000" cy="3257174"/>
          </a:xfrm>
          <a:prstGeom prst="rect">
            <a:avLst/>
          </a:prstGeom>
          <a:noFill/>
        </p:spPr>
        <p:txBody>
          <a:bodyPr wrap="square">
            <a:spAutoFit/>
          </a:bodyPr>
          <a:lstStyle/>
          <a:p>
            <a:pPr>
              <a:lnSpc>
                <a:spcPct val="150000"/>
              </a:lnSpc>
            </a:pPr>
            <a:r>
              <a:rPr lang="en-US" sz="2800" b="1" dirty="0">
                <a:latin typeface="Calibir"/>
              </a:rPr>
              <a:t>Analogy (UTS Library):</a:t>
            </a:r>
          </a:p>
          <a:p>
            <a:pPr>
              <a:lnSpc>
                <a:spcPct val="150000"/>
              </a:lnSpc>
            </a:pPr>
            <a:r>
              <a:rPr lang="en-US" sz="2800" dirty="0">
                <a:latin typeface="Calibir"/>
              </a:rPr>
              <a:t>It’s like using a library study room with auto-lock.</a:t>
            </a:r>
          </a:p>
          <a:p>
            <a:pPr marL="914400" lvl="1" indent="-457200">
              <a:lnSpc>
                <a:spcPct val="150000"/>
              </a:lnSpc>
              <a:buFont typeface="Arial" panose="020B0604020202020204" pitchFamily="34" charset="0"/>
              <a:buChar char="•"/>
            </a:pPr>
            <a:r>
              <a:rPr lang="en-US" sz="2800" dirty="0">
                <a:latin typeface="Calibir"/>
              </a:rPr>
              <a:t>You borrow the book (open).</a:t>
            </a:r>
          </a:p>
          <a:p>
            <a:pPr marL="914400" lvl="1" indent="-457200">
              <a:lnSpc>
                <a:spcPct val="150000"/>
              </a:lnSpc>
              <a:buFont typeface="Arial" panose="020B0604020202020204" pitchFamily="34" charset="0"/>
              <a:buChar char="•"/>
            </a:pPr>
            <a:r>
              <a:rPr lang="en-US" sz="2800" dirty="0">
                <a:latin typeface="Calibir"/>
              </a:rPr>
              <a:t>You use it (read/write).</a:t>
            </a:r>
          </a:p>
          <a:p>
            <a:pPr marL="914400" lvl="1" indent="-457200">
              <a:lnSpc>
                <a:spcPct val="150000"/>
              </a:lnSpc>
              <a:buFont typeface="Arial" panose="020B0604020202020204" pitchFamily="34" charset="0"/>
              <a:buChar char="•"/>
            </a:pPr>
            <a:r>
              <a:rPr lang="en-US" sz="2800" dirty="0">
                <a:latin typeface="Calibir"/>
              </a:rPr>
              <a:t>When you leave the room, the door auto-locks (Python auto-closes file).</a:t>
            </a:r>
          </a:p>
        </p:txBody>
      </p:sp>
    </p:spTree>
    <p:extLst>
      <p:ext uri="{BB962C8B-B14F-4D97-AF65-F5344CB8AC3E}">
        <p14:creationId xmlns:p14="http://schemas.microsoft.com/office/powerpoint/2010/main" val="32995739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51072-3452-300A-C240-BB641EE54A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C38081-463D-9CCC-383D-67CBA172BD91}"/>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EAD30917-3739-22E8-6436-81CC602053F0}"/>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1. Streams → byte-based data flows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Handle raw bytes (good for images, audio, etc.).</a:t>
            </a:r>
          </a:p>
          <a:p>
            <a:pPr marL="914400" lvl="1" indent="-457200">
              <a:lnSpc>
                <a:spcPct val="150000"/>
              </a:lnSpc>
              <a:buFont typeface="Arial" panose="020B0604020202020204" pitchFamily="34" charset="0"/>
              <a:buChar char="•"/>
            </a:pPr>
            <a:r>
              <a:rPr lang="en-US" sz="2800" dirty="0">
                <a:latin typeface="Calibir"/>
              </a:rPr>
              <a:t>Example:</a:t>
            </a:r>
          </a:p>
        </p:txBody>
      </p:sp>
      <p:pic>
        <p:nvPicPr>
          <p:cNvPr id="9" name="Picture 8">
            <a:extLst>
              <a:ext uri="{FF2B5EF4-FFF2-40B4-BE49-F238E27FC236}">
                <a16:creationId xmlns:a16="http://schemas.microsoft.com/office/drawing/2014/main" id="{44FF83E4-8C16-DDA4-136B-8666A38C4CE5}"/>
              </a:ext>
            </a:extLst>
          </p:cNvPr>
          <p:cNvPicPr>
            <a:picLocks noChangeAspect="1"/>
          </p:cNvPicPr>
          <p:nvPr/>
        </p:nvPicPr>
        <p:blipFill>
          <a:blip r:embed="rId2"/>
          <a:srcRect l="8347" t="35269" r="8306" b="47312"/>
          <a:stretch>
            <a:fillRect/>
          </a:stretch>
        </p:blipFill>
        <p:spPr>
          <a:xfrm>
            <a:off x="0" y="2942123"/>
            <a:ext cx="12192000" cy="1433313"/>
          </a:xfrm>
          <a:prstGeom prst="rect">
            <a:avLst/>
          </a:prstGeom>
        </p:spPr>
      </p:pic>
    </p:spTree>
    <p:extLst>
      <p:ext uri="{BB962C8B-B14F-4D97-AF65-F5344CB8AC3E}">
        <p14:creationId xmlns:p14="http://schemas.microsoft.com/office/powerpoint/2010/main" val="21609372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6C90E8-3E50-EE86-0A80-FECC40431F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75080-3925-60CE-179E-061605D4569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1FD1A52E-2AC7-712D-EDCA-36892B0BFAA6}"/>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2. </a:t>
            </a:r>
            <a:r>
              <a:rPr lang="en-US" sz="2800" b="1" dirty="0" err="1">
                <a:latin typeface="Calibir"/>
              </a:rPr>
              <a:t>InputStream</a:t>
            </a:r>
            <a:r>
              <a:rPr lang="en-US" sz="2800" b="1" dirty="0">
                <a:latin typeface="Calibir"/>
              </a:rPr>
              <a:t> (read), </a:t>
            </a:r>
            <a:r>
              <a:rPr lang="en-US" sz="2800" b="1" dirty="0" err="1">
                <a:latin typeface="Calibir"/>
              </a:rPr>
              <a:t>OutputStream</a:t>
            </a:r>
            <a:r>
              <a:rPr lang="en-US" sz="2800" b="1" dirty="0">
                <a:latin typeface="Calibir"/>
              </a:rPr>
              <a:t> (write)</a:t>
            </a:r>
            <a:endParaRPr lang="en-US" sz="2800" dirty="0">
              <a:latin typeface="Calibir"/>
            </a:endParaRPr>
          </a:p>
          <a:p>
            <a:pPr marL="914400" lvl="1" indent="-457200">
              <a:lnSpc>
                <a:spcPct val="150000"/>
              </a:lnSpc>
              <a:buFont typeface="Arial" panose="020B0604020202020204" pitchFamily="34" charset="0"/>
              <a:buChar char="•"/>
            </a:pPr>
            <a:r>
              <a:rPr lang="en-US" sz="2800" b="1" dirty="0" err="1">
                <a:latin typeface="Calibir"/>
              </a:rPr>
              <a:t>InputStream</a:t>
            </a:r>
            <a:r>
              <a:rPr lang="en-US" sz="2800" dirty="0">
                <a:latin typeface="Calibir"/>
              </a:rPr>
              <a:t> → bring data </a:t>
            </a:r>
            <a:r>
              <a:rPr lang="en-US" sz="2800" i="1" dirty="0">
                <a:latin typeface="Calibir"/>
              </a:rPr>
              <a:t>in</a:t>
            </a:r>
            <a:r>
              <a:rPr lang="en-US" sz="2800" dirty="0">
                <a:latin typeface="Calibir"/>
              </a:rPr>
              <a:t>.</a:t>
            </a:r>
          </a:p>
          <a:p>
            <a:pPr marL="914400" lvl="1" indent="-457200">
              <a:lnSpc>
                <a:spcPct val="150000"/>
              </a:lnSpc>
              <a:buFont typeface="Arial" panose="020B0604020202020204" pitchFamily="34" charset="0"/>
              <a:buChar char="•"/>
            </a:pPr>
            <a:r>
              <a:rPr lang="en-US" sz="2800" b="1" dirty="0" err="1">
                <a:latin typeface="Calibir"/>
              </a:rPr>
              <a:t>OutputStream</a:t>
            </a:r>
            <a:r>
              <a:rPr lang="en-US" sz="2800" dirty="0">
                <a:latin typeface="Calibir"/>
              </a:rPr>
              <a:t> → send data </a:t>
            </a:r>
            <a:r>
              <a:rPr lang="en-US" sz="2800" i="1" dirty="0">
                <a:latin typeface="Calibir"/>
              </a:rPr>
              <a:t>out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Example:</a:t>
            </a:r>
          </a:p>
        </p:txBody>
      </p:sp>
      <p:pic>
        <p:nvPicPr>
          <p:cNvPr id="8" name="Picture 7">
            <a:extLst>
              <a:ext uri="{FF2B5EF4-FFF2-40B4-BE49-F238E27FC236}">
                <a16:creationId xmlns:a16="http://schemas.microsoft.com/office/drawing/2014/main" id="{D2BFDD76-2353-5EC0-63BA-B7950F814900}"/>
              </a:ext>
            </a:extLst>
          </p:cNvPr>
          <p:cNvPicPr>
            <a:picLocks noChangeAspect="1"/>
          </p:cNvPicPr>
          <p:nvPr/>
        </p:nvPicPr>
        <p:blipFill>
          <a:blip r:embed="rId2"/>
          <a:srcRect l="7863" t="41720" r="14839" b="39785"/>
          <a:stretch>
            <a:fillRect/>
          </a:stretch>
        </p:blipFill>
        <p:spPr>
          <a:xfrm>
            <a:off x="-1" y="3367588"/>
            <a:ext cx="12191999" cy="1640863"/>
          </a:xfrm>
          <a:prstGeom prst="rect">
            <a:avLst/>
          </a:prstGeom>
        </p:spPr>
      </p:pic>
    </p:spTree>
    <p:extLst>
      <p:ext uri="{BB962C8B-B14F-4D97-AF65-F5344CB8AC3E}">
        <p14:creationId xmlns:p14="http://schemas.microsoft.com/office/powerpoint/2010/main" val="41159357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B96A0-B7C8-E53A-4677-9C1E3866DF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4AB443-5043-0BCA-BC63-71AB9D65BC8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BFC0A191-88AA-337D-D3F8-0E0273704922}"/>
              </a:ext>
            </a:extLst>
          </p:cNvPr>
          <p:cNvSpPr txBox="1"/>
          <p:nvPr/>
        </p:nvSpPr>
        <p:spPr>
          <a:xfrm>
            <a:off x="0" y="756745"/>
            <a:ext cx="11965258" cy="1964512"/>
          </a:xfrm>
          <a:prstGeom prst="rect">
            <a:avLst/>
          </a:prstGeom>
          <a:noFill/>
        </p:spPr>
        <p:txBody>
          <a:bodyPr wrap="square">
            <a:spAutoFit/>
          </a:bodyPr>
          <a:lstStyle/>
          <a:p>
            <a:pPr>
              <a:lnSpc>
                <a:spcPct val="150000"/>
              </a:lnSpc>
            </a:pPr>
            <a:r>
              <a:rPr lang="en-US" sz="2800" b="1" dirty="0">
                <a:latin typeface="Calibir"/>
              </a:rPr>
              <a:t>3. Readers/Writers → for text (characters)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Easier for plain text files.</a:t>
            </a:r>
          </a:p>
          <a:p>
            <a:pPr marL="914400" lvl="1" indent="-457200">
              <a:lnSpc>
                <a:spcPct val="150000"/>
              </a:lnSpc>
              <a:buFont typeface="Arial" panose="020B0604020202020204" pitchFamily="34" charset="0"/>
              <a:buChar char="•"/>
            </a:pPr>
            <a:r>
              <a:rPr lang="en-US" sz="2800" dirty="0">
                <a:latin typeface="Calibir"/>
              </a:rPr>
              <a:t>Example:</a:t>
            </a:r>
          </a:p>
        </p:txBody>
      </p:sp>
      <p:pic>
        <p:nvPicPr>
          <p:cNvPr id="16" name="Picture 15">
            <a:extLst>
              <a:ext uri="{FF2B5EF4-FFF2-40B4-BE49-F238E27FC236}">
                <a16:creationId xmlns:a16="http://schemas.microsoft.com/office/drawing/2014/main" id="{B2A1C9B1-8166-D178-5503-8239CE86567C}"/>
              </a:ext>
            </a:extLst>
          </p:cNvPr>
          <p:cNvPicPr>
            <a:picLocks noChangeAspect="1"/>
          </p:cNvPicPr>
          <p:nvPr/>
        </p:nvPicPr>
        <p:blipFill>
          <a:blip r:embed="rId2"/>
          <a:srcRect l="7258" t="35914" r="23428" b="39680"/>
          <a:stretch>
            <a:fillRect/>
          </a:stretch>
        </p:blipFill>
        <p:spPr>
          <a:xfrm>
            <a:off x="0" y="2949676"/>
            <a:ext cx="12192000" cy="2414737"/>
          </a:xfrm>
          <a:prstGeom prst="rect">
            <a:avLst/>
          </a:prstGeom>
        </p:spPr>
      </p:pic>
    </p:spTree>
    <p:extLst>
      <p:ext uri="{BB962C8B-B14F-4D97-AF65-F5344CB8AC3E}">
        <p14:creationId xmlns:p14="http://schemas.microsoft.com/office/powerpoint/2010/main" val="23890687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0B261-17D6-5B82-19B5-31662DA07B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026399-0495-56D0-98B2-19408BF17FB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 Handling Basics (Java)</a:t>
            </a:r>
          </a:p>
        </p:txBody>
      </p:sp>
      <p:sp>
        <p:nvSpPr>
          <p:cNvPr id="5" name="TextBox 4">
            <a:extLst>
              <a:ext uri="{FF2B5EF4-FFF2-40B4-BE49-F238E27FC236}">
                <a16:creationId xmlns:a16="http://schemas.microsoft.com/office/drawing/2014/main" id="{447A1990-5E2B-7394-99A7-B49E2A86A04C}"/>
              </a:ext>
            </a:extLst>
          </p:cNvPr>
          <p:cNvSpPr txBox="1"/>
          <p:nvPr/>
        </p:nvSpPr>
        <p:spPr>
          <a:xfrm>
            <a:off x="0" y="756745"/>
            <a:ext cx="11965258" cy="3257174"/>
          </a:xfrm>
          <a:prstGeom prst="rect">
            <a:avLst/>
          </a:prstGeom>
          <a:noFill/>
        </p:spPr>
        <p:txBody>
          <a:bodyPr wrap="square">
            <a:spAutoFit/>
          </a:bodyPr>
          <a:lstStyle/>
          <a:p>
            <a:pPr>
              <a:lnSpc>
                <a:spcPct val="150000"/>
              </a:lnSpc>
            </a:pPr>
            <a:r>
              <a:rPr lang="en-US" sz="2800" b="1" dirty="0">
                <a:latin typeface="Calibir"/>
              </a:rPr>
              <a:t>Analogy (Sydney Water):</a:t>
            </a:r>
            <a:endParaRPr lang="en-US" sz="2800" dirty="0">
              <a:latin typeface="Calibir"/>
            </a:endParaRPr>
          </a:p>
          <a:p>
            <a:pPr marL="914400" lvl="1" indent="-457200">
              <a:lnSpc>
                <a:spcPct val="150000"/>
              </a:lnSpc>
              <a:buFont typeface="Arial" panose="020B0604020202020204" pitchFamily="34" charset="0"/>
              <a:buChar char="•"/>
            </a:pPr>
            <a:r>
              <a:rPr lang="en-US" sz="2800" b="1" dirty="0" err="1">
                <a:latin typeface="Calibir"/>
              </a:rPr>
              <a:t>InputStream</a:t>
            </a:r>
            <a:r>
              <a:rPr lang="en-US" sz="2800" dirty="0">
                <a:latin typeface="Calibir"/>
              </a:rPr>
              <a:t> = water flowing </a:t>
            </a:r>
            <a:r>
              <a:rPr lang="en-US" sz="2800" i="1" dirty="0">
                <a:latin typeface="Calibir"/>
              </a:rPr>
              <a:t>into</a:t>
            </a:r>
            <a:r>
              <a:rPr lang="en-US" sz="2800" dirty="0">
                <a:latin typeface="Calibir"/>
              </a:rPr>
              <a:t> your house.</a:t>
            </a:r>
          </a:p>
          <a:p>
            <a:pPr marL="914400" lvl="1" indent="-457200">
              <a:lnSpc>
                <a:spcPct val="150000"/>
              </a:lnSpc>
              <a:buFont typeface="Arial" panose="020B0604020202020204" pitchFamily="34" charset="0"/>
              <a:buChar char="•"/>
            </a:pPr>
            <a:r>
              <a:rPr lang="en-US" sz="2800" b="1" dirty="0" err="1">
                <a:latin typeface="Calibir"/>
              </a:rPr>
              <a:t>OutputStream</a:t>
            </a:r>
            <a:r>
              <a:rPr lang="en-US" sz="2800" dirty="0">
                <a:latin typeface="Calibir"/>
              </a:rPr>
              <a:t> = water flowing </a:t>
            </a:r>
            <a:r>
              <a:rPr lang="en-US" sz="2800" i="1" dirty="0">
                <a:latin typeface="Calibir"/>
              </a:rPr>
              <a:t>out</a:t>
            </a:r>
            <a:r>
              <a:rPr lang="en-US" sz="2800" dirty="0">
                <a:latin typeface="Calibir"/>
              </a:rPr>
              <a:t>.</a:t>
            </a:r>
          </a:p>
          <a:p>
            <a:pPr marL="914400" lvl="1" indent="-457200">
              <a:lnSpc>
                <a:spcPct val="150000"/>
              </a:lnSpc>
              <a:buFont typeface="Arial" panose="020B0604020202020204" pitchFamily="34" charset="0"/>
              <a:buChar char="•"/>
            </a:pPr>
            <a:r>
              <a:rPr lang="en-US" sz="2800" b="1" dirty="0">
                <a:latin typeface="Calibir"/>
              </a:rPr>
              <a:t>Readers/Writers</a:t>
            </a:r>
            <a:r>
              <a:rPr lang="en-US" sz="2800" dirty="0">
                <a:latin typeface="Calibir"/>
              </a:rPr>
              <a:t> = filter that makes it easy to handle text instead of raw water.</a:t>
            </a:r>
          </a:p>
        </p:txBody>
      </p:sp>
    </p:spTree>
    <p:extLst>
      <p:ext uri="{BB962C8B-B14F-4D97-AF65-F5344CB8AC3E}">
        <p14:creationId xmlns:p14="http://schemas.microsoft.com/office/powerpoint/2010/main" val="38771823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FD835-799C-B181-9BBD-15C4D3C45D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971499-0659-8E10-7F4D-1A3602139F0D}"/>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a:t>
            </a:r>
          </a:p>
        </p:txBody>
      </p:sp>
      <p:sp>
        <p:nvSpPr>
          <p:cNvPr id="5" name="TextBox 4">
            <a:extLst>
              <a:ext uri="{FF2B5EF4-FFF2-40B4-BE49-F238E27FC236}">
                <a16:creationId xmlns:a16="http://schemas.microsoft.com/office/drawing/2014/main" id="{1F5B93DC-30DB-0821-8A4C-E80CA9FC8E69}"/>
              </a:ext>
            </a:extLst>
          </p:cNvPr>
          <p:cNvSpPr txBox="1"/>
          <p:nvPr/>
        </p:nvSpPr>
        <p:spPr>
          <a:xfrm>
            <a:off x="0" y="756745"/>
            <a:ext cx="11965258" cy="3257174"/>
          </a:xfrm>
          <a:prstGeom prst="rect">
            <a:avLst/>
          </a:prstGeom>
          <a:noFill/>
        </p:spPr>
        <p:txBody>
          <a:bodyPr wrap="square">
            <a:spAutoFit/>
          </a:bodyPr>
          <a:lstStyle/>
          <a:p>
            <a:pPr>
              <a:lnSpc>
                <a:spcPct val="150000"/>
              </a:lnSpc>
            </a:pPr>
            <a:r>
              <a:rPr lang="en-US" sz="2800" b="1" dirty="0">
                <a:latin typeface="Calibir"/>
              </a:rPr>
              <a:t>Python (using </a:t>
            </a:r>
            <a:r>
              <a:rPr lang="en-US" sz="2800" b="1" dirty="0" err="1">
                <a:latin typeface="Calibir"/>
              </a:rPr>
              <a:t>os</a:t>
            </a:r>
            <a:r>
              <a:rPr lang="en-US" sz="2800" b="1" dirty="0">
                <a:latin typeface="Calibir"/>
              </a:rPr>
              <a:t> module)</a:t>
            </a:r>
            <a:endParaRPr lang="en-US" sz="2800" dirty="0">
              <a:latin typeface="Calibir"/>
            </a:endParaRPr>
          </a:p>
          <a:p>
            <a:pPr marL="914400" lvl="1" indent="-457200">
              <a:lnSpc>
                <a:spcPct val="150000"/>
              </a:lnSpc>
              <a:buFont typeface="Arial" panose="020B0604020202020204" pitchFamily="34" charset="0"/>
              <a:buChar char="•"/>
            </a:pPr>
            <a:r>
              <a:rPr lang="en-US" sz="2800" dirty="0" err="1">
                <a:latin typeface="Calibir"/>
              </a:rPr>
              <a:t>os.path.exists</a:t>
            </a:r>
            <a:r>
              <a:rPr lang="en-US" sz="2800" dirty="0">
                <a:latin typeface="Calibir"/>
              </a:rPr>
              <a:t>("file.txt") → check if file exists</a:t>
            </a:r>
          </a:p>
          <a:p>
            <a:pPr marL="914400" lvl="1" indent="-457200">
              <a:lnSpc>
                <a:spcPct val="150000"/>
              </a:lnSpc>
              <a:buFont typeface="Arial" panose="020B0604020202020204" pitchFamily="34" charset="0"/>
              <a:buChar char="•"/>
            </a:pPr>
            <a:r>
              <a:rPr lang="en-US" sz="2800" dirty="0" err="1">
                <a:latin typeface="Calibir"/>
              </a:rPr>
              <a:t>os.remove</a:t>
            </a:r>
            <a:r>
              <a:rPr lang="en-US" sz="2800" dirty="0">
                <a:latin typeface="Calibir"/>
              </a:rPr>
              <a:t>("file.txt") → delete file</a:t>
            </a:r>
          </a:p>
          <a:p>
            <a:pPr marL="914400" lvl="1" indent="-457200">
              <a:lnSpc>
                <a:spcPct val="150000"/>
              </a:lnSpc>
              <a:buFont typeface="Arial" panose="020B0604020202020204" pitchFamily="34" charset="0"/>
              <a:buChar char="•"/>
            </a:pPr>
            <a:r>
              <a:rPr lang="en-US" sz="2800" dirty="0" err="1">
                <a:latin typeface="Calibir"/>
              </a:rPr>
              <a:t>os.mkdir</a:t>
            </a:r>
            <a:r>
              <a:rPr lang="en-US" sz="2800" dirty="0">
                <a:latin typeface="Calibir"/>
              </a:rPr>
              <a:t>("</a:t>
            </a:r>
            <a:r>
              <a:rPr lang="en-US" sz="2800" dirty="0" err="1">
                <a:latin typeface="Calibir"/>
              </a:rPr>
              <a:t>new_folder</a:t>
            </a:r>
            <a:r>
              <a:rPr lang="en-US" sz="2800" dirty="0">
                <a:latin typeface="Calibir"/>
              </a:rPr>
              <a:t>") → make new folder</a:t>
            </a:r>
          </a:p>
          <a:p>
            <a:pPr marL="914400" lvl="1" indent="-457200">
              <a:lnSpc>
                <a:spcPct val="150000"/>
              </a:lnSpc>
              <a:buFont typeface="Arial" panose="020B0604020202020204" pitchFamily="34" charset="0"/>
              <a:buChar char="•"/>
            </a:pPr>
            <a:r>
              <a:rPr lang="en-US" sz="2800" dirty="0">
                <a:latin typeface="Calibir"/>
              </a:rPr>
              <a:t>Example:</a:t>
            </a:r>
          </a:p>
        </p:txBody>
      </p:sp>
      <p:sp>
        <p:nvSpPr>
          <p:cNvPr id="4" name="TextBox 3">
            <a:extLst>
              <a:ext uri="{FF2B5EF4-FFF2-40B4-BE49-F238E27FC236}">
                <a16:creationId xmlns:a16="http://schemas.microsoft.com/office/drawing/2014/main" id="{6E3E218A-1243-B71F-FB96-E57DC254F7F4}"/>
              </a:ext>
            </a:extLst>
          </p:cNvPr>
          <p:cNvSpPr txBox="1"/>
          <p:nvPr/>
        </p:nvSpPr>
        <p:spPr>
          <a:xfrm>
            <a:off x="0" y="4013919"/>
            <a:ext cx="12192000" cy="2677656"/>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os</a:t>
            </a:r>
            <a:endParaRPr lang="en-US" sz="2800" b="0" dirty="0">
              <a:solidFill>
                <a:srgbClr val="CCCCCC"/>
              </a:solidFill>
              <a:effectLst/>
              <a:latin typeface="Consolas" panose="020B0609020204030204" pitchFamily="49" charset="0"/>
            </a:endParaRPr>
          </a:p>
          <a:p>
            <a:pPr>
              <a:buNone/>
            </a:pPr>
            <a:endParaRPr lang="en-US" sz="2800" b="0" dirty="0">
              <a:solidFill>
                <a:srgbClr val="CCCCCC"/>
              </a:solidFill>
              <a:effectLst/>
              <a:latin typeface="Consolas" panose="020B0609020204030204" pitchFamily="49" charset="0"/>
            </a:endParaRPr>
          </a:p>
          <a:p>
            <a:pPr>
              <a:buNone/>
            </a:pP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os</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path</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exists</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"data.txt"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os</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remove</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"data.txt"</a:t>
            </a:r>
            <a:r>
              <a:rPr lang="en-US" sz="2800" b="0" dirty="0">
                <a:solidFill>
                  <a:srgbClr val="CCCCCC"/>
                </a:solidFill>
                <a:effectLst/>
                <a:latin typeface="Consolas" panose="020B0609020204030204" pitchFamily="49" charset="0"/>
              </a:rPr>
              <a:t>)</a:t>
            </a:r>
          </a:p>
          <a:p>
            <a:pPr>
              <a:buNone/>
            </a:pPr>
            <a:endParaRPr lang="en-US" sz="2800" b="0" dirty="0">
              <a:solidFill>
                <a:srgbClr val="CCCCCC"/>
              </a:solidFill>
              <a:effectLst/>
              <a:latin typeface="Consolas" panose="020B0609020204030204" pitchFamily="49" charset="0"/>
            </a:endParaRPr>
          </a:p>
          <a:p>
            <a:pPr>
              <a:buNone/>
            </a:pPr>
            <a:r>
              <a:rPr lang="en-US" sz="2800" b="0" dirty="0" err="1">
                <a:solidFill>
                  <a:srgbClr val="4EC9B0"/>
                </a:solidFill>
                <a:effectLst/>
                <a:latin typeface="Consolas" panose="020B0609020204030204" pitchFamily="49" charset="0"/>
              </a:rPr>
              <a:t>os</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mkdir</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"assignments"</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38415986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70A2A2-9566-B180-019C-592353BD11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10B169-0A01-2DA9-8D2D-F788CB9D27F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a:t>
            </a:r>
          </a:p>
        </p:txBody>
      </p:sp>
      <p:sp>
        <p:nvSpPr>
          <p:cNvPr id="5" name="TextBox 4">
            <a:extLst>
              <a:ext uri="{FF2B5EF4-FFF2-40B4-BE49-F238E27FC236}">
                <a16:creationId xmlns:a16="http://schemas.microsoft.com/office/drawing/2014/main" id="{654FFC3D-D977-5889-886F-25206F5BC602}"/>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Java (using File class)</a:t>
            </a:r>
            <a:endParaRPr lang="en-US" sz="2800" dirty="0">
              <a:latin typeface="Calibir"/>
            </a:endParaRPr>
          </a:p>
          <a:p>
            <a:pPr marL="914400" lvl="1" indent="-457200">
              <a:lnSpc>
                <a:spcPct val="150000"/>
              </a:lnSpc>
              <a:buFont typeface="Arial" panose="020B0604020202020204" pitchFamily="34" charset="0"/>
              <a:buChar char="•"/>
            </a:pPr>
            <a:r>
              <a:rPr lang="en-US" sz="2800" dirty="0" err="1">
                <a:latin typeface="Calibir"/>
              </a:rPr>
              <a:t>mkdir</a:t>
            </a:r>
            <a:r>
              <a:rPr lang="en-US" sz="2800" dirty="0">
                <a:latin typeface="Calibir"/>
              </a:rPr>
              <a:t>() → make new folder</a:t>
            </a:r>
          </a:p>
          <a:p>
            <a:pPr marL="914400" lvl="1" indent="-457200">
              <a:lnSpc>
                <a:spcPct val="150000"/>
              </a:lnSpc>
              <a:buFont typeface="Arial" panose="020B0604020202020204" pitchFamily="34" charset="0"/>
              <a:buChar char="•"/>
            </a:pPr>
            <a:r>
              <a:rPr lang="en-US" sz="2800" dirty="0">
                <a:latin typeface="Calibir"/>
              </a:rPr>
              <a:t>list() → list files/folders</a:t>
            </a:r>
          </a:p>
          <a:p>
            <a:pPr marL="914400" lvl="1" indent="-457200">
              <a:lnSpc>
                <a:spcPct val="150000"/>
              </a:lnSpc>
              <a:buFont typeface="Arial" panose="020B0604020202020204" pitchFamily="34" charset="0"/>
              <a:buChar char="•"/>
            </a:pPr>
            <a:r>
              <a:rPr lang="en-US" sz="2800" dirty="0">
                <a:latin typeface="Calibir"/>
              </a:rPr>
              <a:t>Example:</a:t>
            </a:r>
          </a:p>
        </p:txBody>
      </p:sp>
      <p:sp>
        <p:nvSpPr>
          <p:cNvPr id="6" name="TextBox 5">
            <a:extLst>
              <a:ext uri="{FF2B5EF4-FFF2-40B4-BE49-F238E27FC236}">
                <a16:creationId xmlns:a16="http://schemas.microsoft.com/office/drawing/2014/main" id="{1A1A4020-18AB-4782-B736-0083CA2AB96B}"/>
              </a:ext>
            </a:extLst>
          </p:cNvPr>
          <p:cNvSpPr txBox="1"/>
          <p:nvPr/>
        </p:nvSpPr>
        <p:spPr>
          <a:xfrm>
            <a:off x="1" y="3318569"/>
            <a:ext cx="12191999" cy="3539430"/>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a:t>
            </a:r>
            <a:r>
              <a:rPr lang="en-US" sz="2800" b="0" dirty="0" err="1">
                <a:solidFill>
                  <a:srgbClr val="D4D4D4"/>
                </a:solidFill>
                <a:effectLst/>
                <a:latin typeface="Consolas" panose="020B0609020204030204" pitchFamily="49" charset="0"/>
              </a:rPr>
              <a:t>java.io.File</a:t>
            </a:r>
            <a:r>
              <a:rPr lang="en-US" sz="2800" b="0" dirty="0">
                <a:solidFill>
                  <a:srgbClr val="CCCCCC"/>
                </a:solidFill>
                <a:effectLst/>
                <a:latin typeface="Consolas" panose="020B0609020204030204" pitchFamily="49" charset="0"/>
              </a:rPr>
              <a:t>;</a:t>
            </a:r>
          </a:p>
          <a:p>
            <a:pPr>
              <a:buNone/>
            </a:pPr>
            <a:br>
              <a:rPr lang="en-US" sz="2800" b="0" dirty="0">
                <a:solidFill>
                  <a:srgbClr val="CCCCCC"/>
                </a:solidFill>
                <a:effectLst/>
                <a:latin typeface="Consolas" panose="020B0609020204030204" pitchFamily="49" charset="0"/>
              </a:rPr>
            </a:br>
            <a:r>
              <a:rPr lang="en-US" sz="2800" b="0" dirty="0">
                <a:solidFill>
                  <a:srgbClr val="4EC9B0"/>
                </a:solidFill>
                <a:effectLst/>
                <a:latin typeface="Consolas" panose="020B0609020204030204" pitchFamily="49" charset="0"/>
              </a:rPr>
              <a:t>File</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folder</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new</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File</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"assignments"</a:t>
            </a:r>
            <a:r>
              <a:rPr lang="en-US" sz="2800" b="0" dirty="0">
                <a:solidFill>
                  <a:srgbClr val="CCCCCC"/>
                </a:solidFill>
                <a:effectLst/>
                <a:latin typeface="Consolas" panose="020B0609020204030204" pitchFamily="49" charset="0"/>
              </a:rPr>
              <a:t>);</a:t>
            </a:r>
          </a:p>
          <a:p>
            <a:pPr>
              <a:buNone/>
            </a:pPr>
            <a:r>
              <a:rPr lang="en-US" sz="2800" b="0" dirty="0" err="1">
                <a:solidFill>
                  <a:srgbClr val="9CDCFE"/>
                </a:solidFill>
                <a:effectLst/>
                <a:latin typeface="Consolas" panose="020B0609020204030204" pitchFamily="49" charset="0"/>
              </a:rPr>
              <a:t>folder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mkdir</a:t>
            </a:r>
            <a:r>
              <a:rPr lang="en-US" sz="2800" b="0" dirty="0">
                <a:solidFill>
                  <a:srgbClr val="CCCCCC"/>
                </a:solidFill>
                <a:effectLst/>
                <a:latin typeface="Consolas" panose="020B0609020204030204" pitchFamily="49" charset="0"/>
              </a:rPr>
              <a:t>();   </a:t>
            </a:r>
            <a:r>
              <a:rPr lang="en-US" sz="2800" b="0" dirty="0">
                <a:solidFill>
                  <a:srgbClr val="6A9955"/>
                </a:solidFill>
                <a:effectLst/>
                <a:latin typeface="Consolas" panose="020B0609020204030204" pitchFamily="49" charset="0"/>
              </a:rPr>
              <a:t>// create folder</a:t>
            </a:r>
            <a:endParaRPr lang="en-US" sz="2800" b="0" dirty="0">
              <a:solidFill>
                <a:srgbClr val="CCCCCC"/>
              </a:solidFill>
              <a:effectLst/>
              <a:latin typeface="Consolas" panose="020B0609020204030204" pitchFamily="49" charset="0"/>
            </a:endParaRPr>
          </a:p>
          <a:p>
            <a:pPr>
              <a:buNone/>
            </a:pPr>
            <a:br>
              <a:rPr lang="en-US" sz="2800" b="0" dirty="0">
                <a:solidFill>
                  <a:srgbClr val="CCCCCC"/>
                </a:solidFill>
                <a:effectLst/>
                <a:latin typeface="Consolas" panose="020B0609020204030204" pitchFamily="49" charset="0"/>
              </a:rPr>
            </a:br>
            <a:r>
              <a:rPr lang="en-US" sz="2800" b="0" dirty="0">
                <a:solidFill>
                  <a:srgbClr val="C586C0"/>
                </a:solidFill>
                <a:effectLst/>
                <a:latin typeface="Consolas" panose="020B0609020204030204" pitchFamily="49" charset="0"/>
              </a:rPr>
              <a:t>for</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String</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name</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folder</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list</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System</a:t>
            </a:r>
            <a:r>
              <a:rPr lang="en-US" sz="2800" b="0" dirty="0" err="1">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out</a:t>
            </a:r>
            <a:r>
              <a:rPr lang="en-US" sz="2800" b="0" dirty="0" err="1">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println</a:t>
            </a:r>
            <a:r>
              <a:rPr lang="en-US" sz="2800" b="0" dirty="0">
                <a:solidFill>
                  <a:srgbClr val="CCCCCC"/>
                </a:solidFill>
                <a:effectLst/>
                <a:latin typeface="Consolas" panose="020B0609020204030204" pitchFamily="49" charset="0"/>
              </a:rPr>
              <a:t>(name);</a:t>
            </a:r>
          </a:p>
          <a:p>
            <a:pPr>
              <a:buNone/>
            </a:pP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14366012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622BB-B543-7816-0938-4C3D1310F7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9A60D8-3382-E7A9-E4A6-189E2C135A2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Files &amp; Directories</a:t>
            </a:r>
          </a:p>
        </p:txBody>
      </p:sp>
      <p:sp>
        <p:nvSpPr>
          <p:cNvPr id="5" name="TextBox 4">
            <a:extLst>
              <a:ext uri="{FF2B5EF4-FFF2-40B4-BE49-F238E27FC236}">
                <a16:creationId xmlns:a16="http://schemas.microsoft.com/office/drawing/2014/main" id="{EB61202B-AF15-FE72-76FF-257EDA8641C4}"/>
              </a:ext>
            </a:extLst>
          </p:cNvPr>
          <p:cNvSpPr txBox="1"/>
          <p:nvPr/>
        </p:nvSpPr>
        <p:spPr>
          <a:xfrm>
            <a:off x="0" y="756745"/>
            <a:ext cx="11965258" cy="2610843"/>
          </a:xfrm>
          <a:prstGeom prst="rect">
            <a:avLst/>
          </a:prstGeom>
          <a:noFill/>
        </p:spPr>
        <p:txBody>
          <a:bodyPr wrap="square">
            <a:spAutoFit/>
          </a:bodyPr>
          <a:lstStyle/>
          <a:p>
            <a:pPr>
              <a:lnSpc>
                <a:spcPct val="150000"/>
              </a:lnSpc>
            </a:pPr>
            <a:r>
              <a:rPr lang="en-US" sz="2800" b="1" dirty="0">
                <a:latin typeface="Calibir"/>
              </a:rPr>
              <a:t>Analogy (Macquarie Uni Moodle):</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Create</a:t>
            </a:r>
            <a:r>
              <a:rPr lang="en-US" sz="2800" dirty="0">
                <a:latin typeface="Calibir"/>
              </a:rPr>
              <a:t> = add new folder for a subject.</a:t>
            </a:r>
          </a:p>
          <a:p>
            <a:pPr marL="914400" lvl="1" indent="-457200">
              <a:lnSpc>
                <a:spcPct val="150000"/>
              </a:lnSpc>
              <a:buFont typeface="Arial" panose="020B0604020202020204" pitchFamily="34" charset="0"/>
              <a:buChar char="•"/>
            </a:pPr>
            <a:r>
              <a:rPr lang="en-US" sz="2800" b="1" dirty="0">
                <a:latin typeface="Calibir"/>
              </a:rPr>
              <a:t>Delete</a:t>
            </a:r>
            <a:r>
              <a:rPr lang="en-US" sz="2800" dirty="0">
                <a:latin typeface="Calibir"/>
              </a:rPr>
              <a:t> = remove old files.</a:t>
            </a:r>
          </a:p>
          <a:p>
            <a:pPr marL="914400" lvl="1" indent="-457200">
              <a:lnSpc>
                <a:spcPct val="150000"/>
              </a:lnSpc>
              <a:buFont typeface="Arial" panose="020B0604020202020204" pitchFamily="34" charset="0"/>
              <a:buChar char="•"/>
            </a:pPr>
            <a:r>
              <a:rPr lang="en-US" sz="2800" b="1" dirty="0">
                <a:latin typeface="Calibir"/>
              </a:rPr>
              <a:t>List</a:t>
            </a:r>
            <a:r>
              <a:rPr lang="en-US" sz="2800" dirty="0">
                <a:latin typeface="Calibir"/>
              </a:rPr>
              <a:t> = see what files are uploaded.</a:t>
            </a:r>
          </a:p>
        </p:txBody>
      </p:sp>
    </p:spTree>
    <p:extLst>
      <p:ext uri="{BB962C8B-B14F-4D97-AF65-F5344CB8AC3E}">
        <p14:creationId xmlns:p14="http://schemas.microsoft.com/office/powerpoint/2010/main" val="391213580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34D11-A954-5E7F-138E-F9F4E7665D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EA186E-3545-3F5A-6F8F-B8776DCE162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EA69248A-5676-03D3-C84F-68D57D5F11B2}"/>
              </a:ext>
            </a:extLst>
          </p:cNvPr>
          <p:cNvSpPr txBox="1"/>
          <p:nvPr/>
        </p:nvSpPr>
        <p:spPr>
          <a:xfrm>
            <a:off x="0" y="756745"/>
            <a:ext cx="11965258" cy="5196166"/>
          </a:xfrm>
          <a:prstGeom prst="rect">
            <a:avLst/>
          </a:prstGeom>
          <a:noFill/>
        </p:spPr>
        <p:txBody>
          <a:bodyPr wrap="square">
            <a:spAutoFit/>
          </a:bodyPr>
          <a:lstStyle/>
          <a:p>
            <a:pPr>
              <a:lnSpc>
                <a:spcPct val="150000"/>
              </a:lnSpc>
            </a:pPr>
            <a:r>
              <a:rPr lang="en-US" sz="2800" b="1" dirty="0">
                <a:latin typeface="Calibir"/>
              </a:rPr>
              <a:t>Purpose</a:t>
            </a:r>
          </a:p>
          <a:p>
            <a:pPr marL="914400" lvl="1" indent="-457200">
              <a:lnSpc>
                <a:spcPct val="150000"/>
              </a:lnSpc>
              <a:buFont typeface="Arial" panose="020B0604020202020204" pitchFamily="34" charset="0"/>
              <a:buChar char="•"/>
            </a:pPr>
            <a:r>
              <a:rPr lang="en-US" sz="2800" dirty="0">
                <a:latin typeface="Calibir"/>
              </a:rPr>
              <a:t>Test the smallest parts of a program (functions/methods).</a:t>
            </a:r>
          </a:p>
          <a:p>
            <a:pPr marL="914400" lvl="1" indent="-457200">
              <a:lnSpc>
                <a:spcPct val="150000"/>
              </a:lnSpc>
              <a:buFont typeface="Arial" panose="020B0604020202020204" pitchFamily="34" charset="0"/>
              <a:buChar char="•"/>
            </a:pPr>
            <a:r>
              <a:rPr lang="en-US" sz="2800" dirty="0">
                <a:latin typeface="Calibir"/>
              </a:rPr>
              <a:t>Makes sure each piece works correctly.</a:t>
            </a:r>
          </a:p>
          <a:p>
            <a:pPr>
              <a:lnSpc>
                <a:spcPct val="150000"/>
              </a:lnSpc>
            </a:pPr>
            <a:r>
              <a:rPr lang="en-US" sz="2800" dirty="0">
                <a:latin typeface="Calibir"/>
              </a:rPr>
              <a:t>Analogy (Australia):</a:t>
            </a:r>
            <a:br>
              <a:rPr lang="en-US" sz="2800" dirty="0">
                <a:latin typeface="Calibir"/>
              </a:rPr>
            </a:br>
            <a:r>
              <a:rPr lang="en-US" sz="2800" dirty="0">
                <a:latin typeface="Calibir"/>
              </a:rPr>
              <a:t>Like NAPLAN exams → check </a:t>
            </a:r>
            <a:br>
              <a:rPr lang="en-US" sz="2800" dirty="0">
                <a:latin typeface="Calibir"/>
              </a:rPr>
            </a:br>
            <a:r>
              <a:rPr lang="en-US" sz="2800" dirty="0">
                <a:latin typeface="Calibir"/>
              </a:rPr>
              <a:t>individual student skills, not the</a:t>
            </a:r>
            <a:br>
              <a:rPr lang="en-US" sz="2800" dirty="0">
                <a:latin typeface="Calibir"/>
              </a:rPr>
            </a:br>
            <a:r>
              <a:rPr lang="en-US" sz="2800" dirty="0">
                <a:latin typeface="Calibir"/>
              </a:rPr>
              <a:t> whole school.</a:t>
            </a:r>
          </a:p>
          <a:p>
            <a:pPr>
              <a:lnSpc>
                <a:spcPct val="150000"/>
              </a:lnSpc>
            </a:pPr>
            <a:r>
              <a:rPr lang="en-US" sz="2800" dirty="0">
                <a:latin typeface="Calibir"/>
              </a:rPr>
              <a:t>Python – </a:t>
            </a:r>
            <a:r>
              <a:rPr lang="en-US" sz="2800" dirty="0" err="1">
                <a:latin typeface="Calibir"/>
              </a:rPr>
              <a:t>unittest</a:t>
            </a:r>
            <a:r>
              <a:rPr lang="en-US" sz="2800" dirty="0">
                <a:latin typeface="Calibir"/>
              </a:rPr>
              <a:t> / </a:t>
            </a:r>
            <a:r>
              <a:rPr lang="en-US" sz="2800" dirty="0" err="1">
                <a:latin typeface="Calibir"/>
              </a:rPr>
              <a:t>pytest</a:t>
            </a:r>
            <a:endParaRPr lang="en-US" sz="2800" dirty="0">
              <a:latin typeface="Calibir"/>
            </a:endParaRPr>
          </a:p>
        </p:txBody>
      </p:sp>
      <p:sp>
        <p:nvSpPr>
          <p:cNvPr id="4" name="TextBox 3">
            <a:extLst>
              <a:ext uri="{FF2B5EF4-FFF2-40B4-BE49-F238E27FC236}">
                <a16:creationId xmlns:a16="http://schemas.microsoft.com/office/drawing/2014/main" id="{C0888EDB-E9D6-2FC4-2D50-1E0093FED5E7}"/>
              </a:ext>
            </a:extLst>
          </p:cNvPr>
          <p:cNvSpPr txBox="1"/>
          <p:nvPr/>
        </p:nvSpPr>
        <p:spPr>
          <a:xfrm>
            <a:off x="4739268" y="2918459"/>
            <a:ext cx="7452732" cy="3939540"/>
          </a:xfrm>
          <a:prstGeom prst="rect">
            <a:avLst/>
          </a:prstGeom>
          <a:solidFill>
            <a:schemeClr val="tx1"/>
          </a:solidFill>
        </p:spPr>
        <p:txBody>
          <a:bodyPr wrap="square">
            <a:spAutoFit/>
          </a:bodyPr>
          <a:lstStyle/>
          <a:p>
            <a:pPr>
              <a:buNone/>
            </a:pPr>
            <a:r>
              <a:rPr lang="en-US" sz="2500" b="0" dirty="0">
                <a:solidFill>
                  <a:srgbClr val="C586C0"/>
                </a:solidFill>
                <a:effectLst/>
                <a:latin typeface="Consolas" panose="020B0609020204030204" pitchFamily="49" charset="0"/>
              </a:rPr>
              <a:t>import</a:t>
            </a:r>
            <a:r>
              <a:rPr lang="en-US" sz="2500" b="0" dirty="0">
                <a:solidFill>
                  <a:srgbClr val="CCCCCC"/>
                </a:solidFill>
                <a:effectLst/>
                <a:latin typeface="Consolas" panose="020B0609020204030204" pitchFamily="49" charset="0"/>
              </a:rPr>
              <a:t> </a:t>
            </a:r>
            <a:r>
              <a:rPr lang="en-US" sz="2500" b="0" dirty="0" err="1">
                <a:solidFill>
                  <a:srgbClr val="4EC9B0"/>
                </a:solidFill>
                <a:effectLst/>
                <a:latin typeface="Consolas" panose="020B0609020204030204" pitchFamily="49" charset="0"/>
              </a:rPr>
              <a:t>unittest</a:t>
            </a:r>
            <a:endParaRPr lang="en-US" sz="2500" b="0" dirty="0">
              <a:solidFill>
                <a:srgbClr val="CCCCCC"/>
              </a:solidFill>
              <a:effectLst/>
              <a:latin typeface="Consolas" panose="020B0609020204030204" pitchFamily="49" charset="0"/>
            </a:endParaRPr>
          </a:p>
          <a:p>
            <a:pPr>
              <a:buNone/>
            </a:pPr>
            <a:br>
              <a:rPr lang="en-US" sz="2500" b="0" dirty="0">
                <a:solidFill>
                  <a:srgbClr val="CCCCCC"/>
                </a:solidFill>
                <a:effectLst/>
                <a:latin typeface="Consolas" panose="020B0609020204030204" pitchFamily="49" charset="0"/>
              </a:rPr>
            </a:br>
            <a:r>
              <a:rPr lang="en-US" sz="2500" b="0" dirty="0">
                <a:solidFill>
                  <a:srgbClr val="569CD6"/>
                </a:solidFill>
                <a:effectLst/>
                <a:latin typeface="Consolas" panose="020B0609020204030204" pitchFamily="49" charset="0"/>
              </a:rPr>
              <a:t>def</a:t>
            </a:r>
            <a:r>
              <a:rPr lang="en-US" sz="2500" b="0" dirty="0">
                <a:solidFill>
                  <a:srgbClr val="CCCCCC"/>
                </a:solidFill>
                <a:effectLst/>
                <a:latin typeface="Consolas" panose="020B0609020204030204" pitchFamily="49" charset="0"/>
              </a:rPr>
              <a:t> </a:t>
            </a:r>
            <a:r>
              <a:rPr lang="en-US" sz="2500" b="0" dirty="0">
                <a:solidFill>
                  <a:srgbClr val="DCDCAA"/>
                </a:solidFill>
                <a:effectLst/>
                <a:latin typeface="Consolas" panose="020B0609020204030204" pitchFamily="49" charset="0"/>
              </a:rPr>
              <a:t>add</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a</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b</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C586C0"/>
                </a:solidFill>
                <a:effectLst/>
                <a:latin typeface="Consolas" panose="020B0609020204030204" pitchFamily="49" charset="0"/>
              </a:rPr>
              <a:t>return</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a</a:t>
            </a:r>
            <a:r>
              <a:rPr lang="en-US" sz="2500" b="0" dirty="0">
                <a:solidFill>
                  <a:srgbClr val="CCCCCC"/>
                </a:solidFill>
                <a:effectLst/>
                <a:latin typeface="Consolas" panose="020B0609020204030204" pitchFamily="49" charset="0"/>
              </a:rPr>
              <a:t> </a:t>
            </a:r>
            <a:r>
              <a:rPr lang="en-US" sz="2500" b="0" dirty="0">
                <a:solidFill>
                  <a:srgbClr val="D4D4D4"/>
                </a:solidFill>
                <a:effectLst/>
                <a:latin typeface="Consolas" panose="020B0609020204030204" pitchFamily="49" charset="0"/>
              </a:rPr>
              <a:t>+</a:t>
            </a:r>
            <a:r>
              <a:rPr lang="en-US" sz="2500" b="0" dirty="0">
                <a:solidFill>
                  <a:srgbClr val="CCCCCC"/>
                </a:solidFill>
                <a:effectLst/>
                <a:latin typeface="Consolas" panose="020B0609020204030204" pitchFamily="49" charset="0"/>
              </a:rPr>
              <a:t> </a:t>
            </a:r>
            <a:r>
              <a:rPr lang="en-US" sz="2500" b="0" dirty="0">
                <a:solidFill>
                  <a:srgbClr val="9CDCFE"/>
                </a:solidFill>
                <a:effectLst/>
                <a:latin typeface="Consolas" panose="020B0609020204030204" pitchFamily="49" charset="0"/>
              </a:rPr>
              <a:t>b</a:t>
            </a:r>
            <a:endParaRPr lang="en-US" sz="2500" b="0" dirty="0">
              <a:solidFill>
                <a:srgbClr val="CCCCCC"/>
              </a:solidFill>
              <a:effectLst/>
              <a:latin typeface="Consolas" panose="020B0609020204030204" pitchFamily="49" charset="0"/>
            </a:endParaRPr>
          </a:p>
          <a:p>
            <a:pPr>
              <a:buNone/>
            </a:pP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class</a:t>
            </a:r>
            <a:r>
              <a:rPr lang="en-US" sz="2500" b="0" dirty="0">
                <a:solidFill>
                  <a:srgbClr val="CCCCCC"/>
                </a:solidFill>
                <a:effectLst/>
                <a:latin typeface="Consolas" panose="020B0609020204030204" pitchFamily="49" charset="0"/>
              </a:rPr>
              <a:t> </a:t>
            </a:r>
            <a:r>
              <a:rPr lang="en-US" sz="2500" b="0" dirty="0" err="1">
                <a:solidFill>
                  <a:srgbClr val="4EC9B0"/>
                </a:solidFill>
                <a:effectLst/>
                <a:latin typeface="Consolas" panose="020B0609020204030204" pitchFamily="49" charset="0"/>
              </a:rPr>
              <a:t>TestMath</a:t>
            </a:r>
            <a:r>
              <a:rPr lang="en-US" sz="2500" b="0" dirty="0">
                <a:solidFill>
                  <a:srgbClr val="CCCCCC"/>
                </a:solidFill>
                <a:effectLst/>
                <a:latin typeface="Consolas" panose="020B0609020204030204" pitchFamily="49" charset="0"/>
              </a:rPr>
              <a:t>(</a:t>
            </a:r>
            <a:r>
              <a:rPr lang="en-US" sz="2500" b="0" dirty="0" err="1">
                <a:solidFill>
                  <a:srgbClr val="4EC9B0"/>
                </a:solidFill>
                <a:effectLst/>
                <a:latin typeface="Consolas" panose="020B0609020204030204" pitchFamily="49" charset="0"/>
              </a:rPr>
              <a:t>unittest</a:t>
            </a:r>
            <a:r>
              <a:rPr lang="en-US" sz="2500" b="0" dirty="0" err="1">
                <a:solidFill>
                  <a:srgbClr val="CCCCCC"/>
                </a:solidFill>
                <a:effectLst/>
                <a:latin typeface="Consolas" panose="020B0609020204030204" pitchFamily="49" charset="0"/>
              </a:rPr>
              <a:t>.</a:t>
            </a:r>
            <a:r>
              <a:rPr lang="en-US" sz="2500" b="0" dirty="0" err="1">
                <a:solidFill>
                  <a:srgbClr val="4EC9B0"/>
                </a:solidFill>
                <a:effectLst/>
                <a:latin typeface="Consolas" panose="020B0609020204030204" pitchFamily="49" charset="0"/>
              </a:rPr>
              <a:t>TestCase</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def</a:t>
            </a:r>
            <a:r>
              <a:rPr lang="en-US" sz="2500" b="0" dirty="0">
                <a:solidFill>
                  <a:srgbClr val="CCCCCC"/>
                </a:solidFill>
                <a:effectLst/>
                <a:latin typeface="Consolas" panose="020B0609020204030204" pitchFamily="49" charset="0"/>
              </a:rPr>
              <a:t> </a:t>
            </a:r>
            <a:r>
              <a:rPr lang="en-US" sz="2500" b="0" dirty="0" err="1">
                <a:solidFill>
                  <a:srgbClr val="DCDCAA"/>
                </a:solidFill>
                <a:effectLst/>
                <a:latin typeface="Consolas" panose="020B0609020204030204" pitchFamily="49" charset="0"/>
              </a:rPr>
              <a:t>test_add</a:t>
            </a:r>
            <a:r>
              <a:rPr lang="en-US" sz="2500" b="0" dirty="0">
                <a:solidFill>
                  <a:srgbClr val="CCCCCC"/>
                </a:solidFill>
                <a:effectLst/>
                <a:latin typeface="Consolas" panose="020B0609020204030204" pitchFamily="49" charset="0"/>
              </a:rPr>
              <a:t>(</a:t>
            </a:r>
            <a:r>
              <a:rPr lang="en-US" sz="2500" b="0" dirty="0">
                <a:solidFill>
                  <a:srgbClr val="9CDCFE"/>
                </a:solidFill>
                <a:effectLst/>
                <a:latin typeface="Consolas" panose="020B0609020204030204" pitchFamily="49" charset="0"/>
              </a:rPr>
              <a:t>self</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a:t>
            </a:r>
            <a:r>
              <a:rPr lang="en-US" sz="2500" b="0" dirty="0" err="1">
                <a:solidFill>
                  <a:srgbClr val="9CDCFE"/>
                </a:solidFill>
                <a:effectLst/>
                <a:latin typeface="Consolas" panose="020B0609020204030204" pitchFamily="49" charset="0"/>
              </a:rPr>
              <a:t>self</a:t>
            </a:r>
            <a:r>
              <a:rPr lang="en-US" sz="2500" b="0" dirty="0" err="1">
                <a:solidFill>
                  <a:srgbClr val="CCCCCC"/>
                </a:solidFill>
                <a:effectLst/>
                <a:latin typeface="Consolas" panose="020B0609020204030204" pitchFamily="49" charset="0"/>
              </a:rPr>
              <a:t>.</a:t>
            </a:r>
            <a:r>
              <a:rPr lang="en-US" sz="2500" b="0" dirty="0" err="1">
                <a:solidFill>
                  <a:srgbClr val="DCDCAA"/>
                </a:solidFill>
                <a:effectLst/>
                <a:latin typeface="Consolas" panose="020B0609020204030204" pitchFamily="49" charset="0"/>
              </a:rPr>
              <a:t>assertEqual</a:t>
            </a:r>
            <a:r>
              <a:rPr lang="en-US" sz="2500" b="0" dirty="0">
                <a:solidFill>
                  <a:srgbClr val="CCCCCC"/>
                </a:solidFill>
                <a:effectLst/>
                <a:latin typeface="Consolas" panose="020B0609020204030204" pitchFamily="49" charset="0"/>
              </a:rPr>
              <a:t>(</a:t>
            </a:r>
            <a:r>
              <a:rPr lang="en-US" sz="2500" b="0" dirty="0">
                <a:solidFill>
                  <a:srgbClr val="DCDCAA"/>
                </a:solidFill>
                <a:effectLst/>
                <a:latin typeface="Consolas" panose="020B0609020204030204" pitchFamily="49" charset="0"/>
              </a:rPr>
              <a:t>add</a:t>
            </a:r>
            <a:r>
              <a:rPr lang="en-US" sz="2500" b="0" dirty="0">
                <a:solidFill>
                  <a:srgbClr val="CCCCCC"/>
                </a:solidFill>
                <a:effectLst/>
                <a:latin typeface="Consolas" panose="020B0609020204030204" pitchFamily="49" charset="0"/>
              </a:rPr>
              <a:t>(</a:t>
            </a:r>
            <a:r>
              <a:rPr lang="en-US" sz="2500" b="0" dirty="0">
                <a:solidFill>
                  <a:srgbClr val="B5CEA8"/>
                </a:solidFill>
                <a:effectLst/>
                <a:latin typeface="Consolas" panose="020B0609020204030204" pitchFamily="49" charset="0"/>
              </a:rPr>
              <a:t>2</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3</a:t>
            </a:r>
            <a:r>
              <a:rPr lang="en-US" sz="2500" b="0" dirty="0">
                <a:solidFill>
                  <a:srgbClr val="CCCCCC"/>
                </a:solidFill>
                <a:effectLst/>
                <a:latin typeface="Consolas" panose="020B0609020204030204" pitchFamily="49" charset="0"/>
              </a:rPr>
              <a:t>),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a:t>
            </a:r>
          </a:p>
          <a:p>
            <a:pPr>
              <a:buNone/>
            </a:pPr>
            <a:br>
              <a:rPr lang="en-US" sz="2500" b="0" dirty="0">
                <a:solidFill>
                  <a:srgbClr val="CCCCCC"/>
                </a:solidFill>
                <a:effectLst/>
                <a:latin typeface="Consolas" panose="020B0609020204030204" pitchFamily="49" charset="0"/>
              </a:rPr>
            </a:br>
            <a:r>
              <a:rPr lang="en-US" sz="2500" b="0" dirty="0" err="1">
                <a:solidFill>
                  <a:srgbClr val="4EC9B0"/>
                </a:solidFill>
                <a:effectLst/>
                <a:latin typeface="Consolas" panose="020B0609020204030204" pitchFamily="49" charset="0"/>
              </a:rPr>
              <a:t>unittest</a:t>
            </a:r>
            <a:r>
              <a:rPr lang="en-US" sz="2500" b="0" dirty="0" err="1">
                <a:solidFill>
                  <a:srgbClr val="CCCCCC"/>
                </a:solidFill>
                <a:effectLst/>
                <a:latin typeface="Consolas" panose="020B0609020204030204" pitchFamily="49" charset="0"/>
              </a:rPr>
              <a:t>.</a:t>
            </a:r>
            <a:r>
              <a:rPr lang="en-US" sz="2500" b="0" dirty="0" err="1">
                <a:solidFill>
                  <a:srgbClr val="4EC9B0"/>
                </a:solidFill>
                <a:effectLst/>
                <a:latin typeface="Consolas" panose="020B0609020204030204" pitchFamily="49" charset="0"/>
              </a:rPr>
              <a:t>main</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9515621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CAAB8-4D64-2301-4B3C-8121C9A68A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B600B2-5188-7FFF-4A42-EA56F00A9B67}"/>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Unit Testing</a:t>
            </a:r>
          </a:p>
        </p:txBody>
      </p:sp>
      <p:sp>
        <p:nvSpPr>
          <p:cNvPr id="5" name="TextBox 4">
            <a:extLst>
              <a:ext uri="{FF2B5EF4-FFF2-40B4-BE49-F238E27FC236}">
                <a16:creationId xmlns:a16="http://schemas.microsoft.com/office/drawing/2014/main" id="{AE9B29B3-A6A9-EC32-435F-3B6E8BA0DD1D}"/>
              </a:ext>
            </a:extLst>
          </p:cNvPr>
          <p:cNvSpPr txBox="1"/>
          <p:nvPr/>
        </p:nvSpPr>
        <p:spPr>
          <a:xfrm>
            <a:off x="0" y="756745"/>
            <a:ext cx="11965258" cy="675441"/>
          </a:xfrm>
          <a:prstGeom prst="rect">
            <a:avLst/>
          </a:prstGeom>
          <a:noFill/>
        </p:spPr>
        <p:txBody>
          <a:bodyPr wrap="square">
            <a:spAutoFit/>
          </a:bodyPr>
          <a:lstStyle/>
          <a:p>
            <a:pPr>
              <a:lnSpc>
                <a:spcPct val="150000"/>
              </a:lnSpc>
            </a:pPr>
            <a:r>
              <a:rPr lang="en-US" sz="2800" dirty="0">
                <a:latin typeface="Calibir"/>
              </a:rPr>
              <a:t>Java – JUnit</a:t>
            </a:r>
          </a:p>
        </p:txBody>
      </p:sp>
      <p:sp>
        <p:nvSpPr>
          <p:cNvPr id="6" name="TextBox 5">
            <a:extLst>
              <a:ext uri="{FF2B5EF4-FFF2-40B4-BE49-F238E27FC236}">
                <a16:creationId xmlns:a16="http://schemas.microsoft.com/office/drawing/2014/main" id="{D272A53D-829B-CCD1-7E29-06A76C062F25}"/>
              </a:ext>
            </a:extLst>
          </p:cNvPr>
          <p:cNvSpPr txBox="1"/>
          <p:nvPr/>
        </p:nvSpPr>
        <p:spPr>
          <a:xfrm>
            <a:off x="862360" y="1513489"/>
            <a:ext cx="10240537" cy="4401205"/>
          </a:xfrm>
          <a:prstGeom prst="rect">
            <a:avLst/>
          </a:prstGeom>
          <a:solidFill>
            <a:schemeClr val="tx1"/>
          </a:solidFill>
        </p:spPr>
        <p:txBody>
          <a:bodyPr wrap="square">
            <a:spAutoFit/>
          </a:bodyPr>
          <a:lstStyle/>
          <a:p>
            <a:pPr>
              <a:buNone/>
            </a:pPr>
            <a:r>
              <a:rPr lang="en-US" sz="2800" b="0" dirty="0">
                <a:solidFill>
                  <a:srgbClr val="569CD6"/>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static</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org</a:t>
            </a:r>
            <a:r>
              <a:rPr lang="en-US" sz="2800" b="0" dirty="0" err="1">
                <a:solidFill>
                  <a:srgbClr val="D4D4D4"/>
                </a:solidFill>
                <a:effectLst/>
                <a:latin typeface="Consolas" panose="020B0609020204030204" pitchFamily="49" charset="0"/>
              </a:rPr>
              <a:t>.</a:t>
            </a:r>
            <a:r>
              <a:rPr lang="en-US" sz="2800" b="0" dirty="0" err="1">
                <a:solidFill>
                  <a:srgbClr val="4EC9B0"/>
                </a:solidFill>
                <a:effectLst/>
                <a:latin typeface="Consolas" panose="020B0609020204030204" pitchFamily="49" charset="0"/>
              </a:rPr>
              <a:t>junit</a:t>
            </a:r>
            <a:r>
              <a:rPr lang="en-US" sz="2800" b="0" dirty="0" err="1">
                <a:solidFill>
                  <a:srgbClr val="D4D4D4"/>
                </a:solidFill>
                <a:effectLst/>
                <a:latin typeface="Consolas" panose="020B0609020204030204" pitchFamily="49" charset="0"/>
              </a:rPr>
              <a:t>.</a:t>
            </a:r>
            <a:r>
              <a:rPr lang="en-US" sz="2800" b="0" dirty="0" err="1">
                <a:solidFill>
                  <a:srgbClr val="4EC9B0"/>
                </a:solidFill>
                <a:effectLst/>
                <a:latin typeface="Consolas" panose="020B0609020204030204" pitchFamily="49" charset="0"/>
              </a:rPr>
              <a:t>Assert</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a:t>
            </a:r>
          </a:p>
          <a:p>
            <a:pPr>
              <a:buNone/>
            </a:pPr>
            <a:r>
              <a:rPr lang="en-US" sz="2800" b="0" dirty="0">
                <a:solidFill>
                  <a:srgbClr val="569CD6"/>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org</a:t>
            </a:r>
            <a:r>
              <a:rPr lang="en-US" sz="2800" b="0" dirty="0" err="1">
                <a:solidFill>
                  <a:srgbClr val="D4D4D4"/>
                </a:solidFill>
                <a:effectLst/>
                <a:latin typeface="Consolas" panose="020B0609020204030204" pitchFamily="49" charset="0"/>
              </a:rPr>
              <a:t>.</a:t>
            </a:r>
            <a:r>
              <a:rPr lang="en-US" sz="2800" b="0" dirty="0" err="1">
                <a:solidFill>
                  <a:srgbClr val="4EC9B0"/>
                </a:solidFill>
                <a:effectLst/>
                <a:latin typeface="Consolas" panose="020B0609020204030204" pitchFamily="49" charset="0"/>
              </a:rPr>
              <a:t>junit</a:t>
            </a:r>
            <a:r>
              <a:rPr lang="en-US" sz="2800" b="0" dirty="0" err="1">
                <a:solidFill>
                  <a:srgbClr val="D4D4D4"/>
                </a:solidFill>
                <a:effectLst/>
                <a:latin typeface="Consolas" panose="020B0609020204030204" pitchFamily="49" charset="0"/>
              </a:rPr>
              <a:t>.</a:t>
            </a:r>
            <a:r>
              <a:rPr lang="en-US" sz="2800" b="0" dirty="0" err="1">
                <a:solidFill>
                  <a:srgbClr val="4EC9B0"/>
                </a:solidFill>
                <a:effectLst/>
                <a:latin typeface="Consolas" panose="020B0609020204030204" pitchFamily="49" charset="0"/>
              </a:rPr>
              <a:t>Test</a:t>
            </a:r>
            <a:r>
              <a:rPr lang="en-US" sz="2800" b="0" dirty="0">
                <a:solidFill>
                  <a:srgbClr val="CCCCCC"/>
                </a:solidFill>
                <a:effectLst/>
                <a:latin typeface="Consolas" panose="020B0609020204030204" pitchFamily="49" charset="0"/>
              </a:rPr>
              <a:t>;</a:t>
            </a:r>
          </a:p>
          <a:p>
            <a:pPr>
              <a:buNone/>
            </a:pPr>
            <a:br>
              <a:rPr lang="en-US" sz="2800" b="0" dirty="0">
                <a:solidFill>
                  <a:srgbClr val="CCCCCC"/>
                </a:solidFill>
                <a:effectLst/>
                <a:latin typeface="Consolas" panose="020B0609020204030204" pitchFamily="49" charset="0"/>
              </a:rPr>
            </a:b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MathTest</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Test</a:t>
            </a:r>
            <a:endParaRPr lang="en-US" sz="2800" b="0" dirty="0">
              <a:solidFill>
                <a:srgbClr val="CCCCCC"/>
              </a:solidFill>
              <a:effectLst/>
              <a:latin typeface="Consolas" panose="020B0609020204030204" pitchFamily="49" charset="0"/>
            </a:endParaRP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public</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void</a:t>
            </a:r>
            <a:r>
              <a:rPr lang="en-US" sz="2800" b="0" dirty="0">
                <a:solidFill>
                  <a:srgbClr val="CCCCCC"/>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testAdd</a:t>
            </a: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assertEquals</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5</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2</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3</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p>
          <a:p>
            <a:pPr>
              <a:buNone/>
            </a:pP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D9FF352D-9083-452F-C1FD-26D1CD3B8F91}"/>
              </a:ext>
            </a:extLst>
          </p:cNvPr>
          <p:cNvSpPr txBox="1"/>
          <p:nvPr/>
        </p:nvSpPr>
        <p:spPr>
          <a:xfrm>
            <a:off x="0" y="5995997"/>
            <a:ext cx="11965258" cy="671851"/>
          </a:xfrm>
          <a:prstGeom prst="rect">
            <a:avLst/>
          </a:prstGeom>
          <a:noFill/>
        </p:spPr>
        <p:txBody>
          <a:bodyPr wrap="square">
            <a:spAutoFit/>
          </a:bodyPr>
          <a:lstStyle/>
          <a:p>
            <a:pPr>
              <a:lnSpc>
                <a:spcPct val="150000"/>
              </a:lnSpc>
            </a:pPr>
            <a:r>
              <a:rPr lang="en-US" sz="2800" dirty="0">
                <a:latin typeface="Calibir"/>
              </a:rPr>
              <a:t>Unit tests = small checks that keep big programs reliable.</a:t>
            </a:r>
          </a:p>
        </p:txBody>
      </p:sp>
    </p:spTree>
    <p:extLst>
      <p:ext uri="{BB962C8B-B14F-4D97-AF65-F5344CB8AC3E}">
        <p14:creationId xmlns:p14="http://schemas.microsoft.com/office/powerpoint/2010/main" val="1839005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FB676-EE6C-6055-E738-E875F0507E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9F2E2-DA24-29AF-B4F2-90F923B1D09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Why Exceptions? Where Do We See Testing?</a:t>
            </a:r>
          </a:p>
        </p:txBody>
      </p:sp>
      <p:sp>
        <p:nvSpPr>
          <p:cNvPr id="3" name="Rectangle 1">
            <a:extLst>
              <a:ext uri="{FF2B5EF4-FFF2-40B4-BE49-F238E27FC236}">
                <a16:creationId xmlns:a16="http://schemas.microsoft.com/office/drawing/2014/main" id="{FD37AA05-9363-EA3A-3D9D-D1FEFFB14D91}"/>
              </a:ext>
            </a:extLst>
          </p:cNvPr>
          <p:cNvSpPr>
            <a:spLocks noChangeArrowheads="1"/>
          </p:cNvSpPr>
          <p:nvPr/>
        </p:nvSpPr>
        <p:spPr bwMode="auto">
          <a:xfrm>
            <a:off x="0" y="1800413"/>
            <a:ext cx="12192000"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514350" marR="0" lvl="0" indent="-514350" algn="l" defTabSz="914400" rtl="0" eaLnBrk="0" fontAlgn="base" latinLnBrk="0" hangingPunct="0">
              <a:lnSpc>
                <a:spcPct val="150000"/>
              </a:lnSpc>
              <a:spcBef>
                <a:spcPct val="0"/>
              </a:spcBef>
              <a:spcAft>
                <a:spcPct val="0"/>
              </a:spcAft>
              <a:buClrTx/>
              <a:buSzTx/>
              <a:buFont typeface="+mj-lt"/>
              <a:buAutoNum type="arabicPeriod"/>
              <a:tabLst/>
            </a:pPr>
            <a:r>
              <a:rPr kumimoji="0" lang="en-US" altLang="en-US" sz="2800" b="0" i="0" u="none" strike="noStrike" cap="none" normalizeH="0" baseline="0" dirty="0">
                <a:ln>
                  <a:noFill/>
                </a:ln>
                <a:solidFill>
                  <a:schemeClr val="tx1"/>
                </a:solidFill>
                <a:effectLst/>
                <a:latin typeface="Calibir"/>
              </a:rPr>
              <a:t>Why do we need exceptions if we already check conditions with if?</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Exceptions handle unexpected issues (e.g., file missing) that we can’t predict.</a:t>
            </a:r>
          </a:p>
          <a:p>
            <a:pPr marL="514350" marR="0" lvl="0" indent="-514350" algn="l" defTabSz="914400" rtl="0" eaLnBrk="0" fontAlgn="base" latinLnBrk="0" hangingPunct="0">
              <a:lnSpc>
                <a:spcPct val="150000"/>
              </a:lnSpc>
              <a:spcBef>
                <a:spcPct val="0"/>
              </a:spcBef>
              <a:spcAft>
                <a:spcPct val="0"/>
              </a:spcAft>
              <a:buClrTx/>
              <a:buSzTx/>
              <a:buFont typeface="+mj-lt"/>
              <a:buAutoNum type="arabicPeriod" startAt="2"/>
              <a:tabLst/>
            </a:pPr>
            <a:r>
              <a:rPr kumimoji="0" lang="en-US" altLang="en-US" sz="2800" b="0" i="0" u="none" strike="noStrike" cap="none" normalizeH="0" baseline="0" dirty="0">
                <a:ln>
                  <a:noFill/>
                </a:ln>
                <a:solidFill>
                  <a:schemeClr val="tx1"/>
                </a:solidFill>
                <a:effectLst/>
                <a:latin typeface="Calibir"/>
              </a:rPr>
              <a:t>Where in real life do we see “unit testing”?</a:t>
            </a:r>
          </a:p>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Quality checks in Woolworths (test one pack of strawberries to approve the batch).</a:t>
            </a:r>
          </a:p>
        </p:txBody>
      </p:sp>
    </p:spTree>
    <p:extLst>
      <p:ext uri="{BB962C8B-B14F-4D97-AF65-F5344CB8AC3E}">
        <p14:creationId xmlns:p14="http://schemas.microsoft.com/office/powerpoint/2010/main" val="2684553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EEE30-5EB9-B2C5-19D3-2066754BFE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856F0D-2512-03F5-4614-6D90A28F6778}"/>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Role-Playing Debate Questions</a:t>
            </a:r>
          </a:p>
        </p:txBody>
      </p:sp>
      <p:sp>
        <p:nvSpPr>
          <p:cNvPr id="3" name="Rectangle 1">
            <a:extLst>
              <a:ext uri="{FF2B5EF4-FFF2-40B4-BE49-F238E27FC236}">
                <a16:creationId xmlns:a16="http://schemas.microsoft.com/office/drawing/2014/main" id="{367A63BA-0A71-1973-F2D1-45AB84EDB2D8}"/>
              </a:ext>
            </a:extLst>
          </p:cNvPr>
          <p:cNvSpPr>
            <a:spLocks noChangeArrowheads="1"/>
          </p:cNvSpPr>
          <p:nvPr/>
        </p:nvSpPr>
        <p:spPr bwMode="auto">
          <a:xfrm>
            <a:off x="0" y="1154083"/>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Q1: Should we always use exceptions instead of checking conditions?</a:t>
            </a:r>
          </a:p>
          <a:p>
            <a:pPr>
              <a:lnSpc>
                <a:spcPct val="150000"/>
              </a:lnSpc>
            </a:pPr>
            <a:r>
              <a:rPr lang="en-US" sz="2800" dirty="0">
                <a:latin typeface="Calibir"/>
              </a:rPr>
              <a:t>Answer: No. Exceptions are for unexpected problems (like a file missing). Routine checks (like if a number is positive) should use simple if conditions.</a:t>
            </a:r>
          </a:p>
          <a:p>
            <a:pPr>
              <a:lnSpc>
                <a:spcPct val="150000"/>
              </a:lnSpc>
            </a:pPr>
            <a:r>
              <a:rPr lang="en-US" sz="2800" b="1" dirty="0">
                <a:latin typeface="Calibir"/>
              </a:rPr>
              <a:t>Q2: Is automated testing more important than manual testing?</a:t>
            </a:r>
          </a:p>
          <a:p>
            <a:pPr>
              <a:lnSpc>
                <a:spcPct val="150000"/>
              </a:lnSpc>
            </a:pPr>
            <a:r>
              <a:rPr lang="en-US" sz="2800" dirty="0">
                <a:latin typeface="Calibir"/>
              </a:rPr>
              <a:t>Answer: Automated tests are great for catching repeat mistakes quickly (like rerunning hundreds of test cases). But manual testing is still needed for things like user experience (how the app feels to use).</a:t>
            </a:r>
          </a:p>
        </p:txBody>
      </p:sp>
    </p:spTree>
    <p:extLst>
      <p:ext uri="{BB962C8B-B14F-4D97-AF65-F5344CB8AC3E}">
        <p14:creationId xmlns:p14="http://schemas.microsoft.com/office/powerpoint/2010/main" val="1400436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1000"/>
                                        <p:tgtEl>
                                          <p:spTgt spid="3">
                                            <p:txEl>
                                              <p:pRg st="1" end="1"/>
                                            </p:txEl>
                                          </p:spTgt>
                                        </p:tgtEl>
                                      </p:cBhvr>
                                    </p:animEffect>
                                    <p:anim calcmode="lin" valueType="num">
                                      <p:cBhvr>
                                        <p:cTn id="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3" end="3"/>
                                            </p:txEl>
                                          </p:spTgt>
                                        </p:tgtEl>
                                        <p:attrNameLst>
                                          <p:attrName>style.visibility</p:attrName>
                                        </p:attrNameLst>
                                      </p:cBhvr>
                                      <p:to>
                                        <p:strVal val="visible"/>
                                      </p:to>
                                    </p:set>
                                    <p:animEffect transition="in" filter="fade">
                                      <p:cBhvr>
                                        <p:cTn id="12" dur="1000"/>
                                        <p:tgtEl>
                                          <p:spTgt spid="3">
                                            <p:txEl>
                                              <p:pRg st="3" end="3"/>
                                            </p:txEl>
                                          </p:spTgt>
                                        </p:tgtEl>
                                      </p:cBhvr>
                                    </p:animEffect>
                                    <p:anim calcmode="lin" valueType="num">
                                      <p:cBhvr>
                                        <p:cTn id="1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9F877-8580-BABB-1E3C-9AEAAFFD7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2BB175-7E90-230A-C969-A9C0DE59BB7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03C040F0-00A9-9739-0F80-00D9378A4B21}"/>
              </a:ext>
            </a:extLst>
          </p:cNvPr>
          <p:cNvSpPr txBox="1"/>
          <p:nvPr/>
        </p:nvSpPr>
        <p:spPr>
          <a:xfrm>
            <a:off x="0" y="1072057"/>
            <a:ext cx="11971282" cy="4549835"/>
          </a:xfrm>
          <a:prstGeom prst="rect">
            <a:avLst/>
          </a:prstGeom>
          <a:noFill/>
        </p:spPr>
        <p:txBody>
          <a:bodyPr wrap="square">
            <a:spAutoFit/>
          </a:bodyPr>
          <a:lstStyle/>
          <a:p>
            <a:pPr>
              <a:lnSpc>
                <a:spcPct val="150000"/>
              </a:lnSpc>
            </a:pPr>
            <a:r>
              <a:rPr lang="en-US" sz="2800" b="1" dirty="0">
                <a:latin typeface="Calibir"/>
              </a:rPr>
              <a:t>General Rules</a:t>
            </a:r>
          </a:p>
          <a:p>
            <a:pPr marL="914400" lvl="1" indent="-457200">
              <a:lnSpc>
                <a:spcPct val="150000"/>
              </a:lnSpc>
              <a:buFont typeface="Arial" panose="020B0604020202020204" pitchFamily="34" charset="0"/>
              <a:buChar char="•"/>
            </a:pPr>
            <a:r>
              <a:rPr lang="en-US" sz="2800" dirty="0">
                <a:latin typeface="Calibir"/>
              </a:rPr>
              <a:t>8 questions, worth 2 points each → total 16 points.</a:t>
            </a:r>
          </a:p>
          <a:p>
            <a:pPr marL="914400" lvl="1" indent="-457200">
              <a:lnSpc>
                <a:spcPct val="150000"/>
              </a:lnSpc>
              <a:buFont typeface="Arial" panose="020B0604020202020204" pitchFamily="34" charset="0"/>
              <a:buChar char="•"/>
            </a:pPr>
            <a:r>
              <a:rPr lang="en-US" sz="2800" dirty="0">
                <a:latin typeface="Calibir"/>
              </a:rPr>
              <a:t>Restricted open-book: You can use lecture slides, lab notes, and printed subject materials only.</a:t>
            </a:r>
          </a:p>
          <a:p>
            <a:pPr marL="914400" lvl="1" indent="-457200">
              <a:lnSpc>
                <a:spcPct val="150000"/>
              </a:lnSpc>
              <a:buFont typeface="Arial" panose="020B0604020202020204" pitchFamily="34" charset="0"/>
              <a:buChar char="•"/>
            </a:pPr>
            <a:r>
              <a:rPr lang="en-US" sz="2800" dirty="0">
                <a:latin typeface="Calibir"/>
              </a:rPr>
              <a:t>No running code: You must read and reason through the code.</a:t>
            </a:r>
          </a:p>
          <a:p>
            <a:pPr marL="914400" lvl="1" indent="-457200">
              <a:lnSpc>
                <a:spcPct val="150000"/>
              </a:lnSpc>
              <a:buFont typeface="Arial" panose="020B0604020202020204" pitchFamily="34" charset="0"/>
              <a:buChar char="•"/>
            </a:pPr>
            <a:r>
              <a:rPr lang="en-US" sz="2800" dirty="0">
                <a:latin typeface="Calibir"/>
              </a:rPr>
              <a:t>One attempt only, 30 minutes limit.</a:t>
            </a:r>
          </a:p>
          <a:p>
            <a:pPr marL="914400" lvl="1" indent="-457200">
              <a:lnSpc>
                <a:spcPct val="150000"/>
              </a:lnSpc>
              <a:buFont typeface="Arial" panose="020B0604020202020204" pitchFamily="34" charset="0"/>
              <a:buChar char="•"/>
            </a:pPr>
            <a:r>
              <a:rPr lang="en-US" sz="2800" dirty="0">
                <a:latin typeface="Calibir"/>
              </a:rPr>
              <a:t>Quiz will be done in Week 12 lab under supervision.</a:t>
            </a:r>
          </a:p>
        </p:txBody>
      </p:sp>
    </p:spTree>
    <p:extLst>
      <p:ext uri="{BB962C8B-B14F-4D97-AF65-F5344CB8AC3E}">
        <p14:creationId xmlns:p14="http://schemas.microsoft.com/office/powerpoint/2010/main" val="38973493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F7376-3FEB-300E-7D77-20DCCE258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E1EE26-B9BE-0EED-0FB7-D8F2C807C66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E308C3C8-3DE7-654D-59FB-2162633A1D57}"/>
              </a:ext>
            </a:extLst>
          </p:cNvPr>
          <p:cNvSpPr txBox="1"/>
          <p:nvPr/>
        </p:nvSpPr>
        <p:spPr>
          <a:xfrm>
            <a:off x="0" y="1072057"/>
            <a:ext cx="11971282" cy="5842497"/>
          </a:xfrm>
          <a:prstGeom prst="rect">
            <a:avLst/>
          </a:prstGeom>
          <a:noFill/>
        </p:spPr>
        <p:txBody>
          <a:bodyPr wrap="square">
            <a:spAutoFit/>
          </a:bodyPr>
          <a:lstStyle/>
          <a:p>
            <a:pPr>
              <a:lnSpc>
                <a:spcPct val="150000"/>
              </a:lnSpc>
            </a:pPr>
            <a:r>
              <a:rPr lang="en-US" sz="2800" b="1" dirty="0">
                <a:latin typeface="Calibir"/>
              </a:rPr>
              <a:t>How to Prepare</a:t>
            </a:r>
          </a:p>
          <a:p>
            <a:pPr marL="514350" indent="-514350">
              <a:lnSpc>
                <a:spcPct val="150000"/>
              </a:lnSpc>
              <a:buFont typeface="+mj-lt"/>
              <a:buAutoNum type="arabicPeriod"/>
            </a:pPr>
            <a:r>
              <a:rPr lang="en-US" sz="2800" b="1" dirty="0">
                <a:latin typeface="Calibir"/>
              </a:rPr>
              <a:t>Revise by weeks:</a:t>
            </a:r>
            <a:endParaRPr lang="en-US" sz="2800" dirty="0">
              <a:latin typeface="Calibir"/>
            </a:endParaRPr>
          </a:p>
          <a:p>
            <a:pPr marL="914400" lvl="1" indent="-457200">
              <a:lnSpc>
                <a:spcPct val="150000"/>
              </a:lnSpc>
              <a:buFont typeface="Arial" panose="020B0604020202020204" pitchFamily="34" charset="0"/>
              <a:buChar char="•"/>
            </a:pPr>
            <a:r>
              <a:rPr lang="en-US" sz="2800" b="1" dirty="0">
                <a:latin typeface="Calibir"/>
              </a:rPr>
              <a:t>Week 9</a:t>
            </a:r>
            <a:r>
              <a:rPr lang="en-US" sz="2800" dirty="0">
                <a:latin typeface="Calibir"/>
              </a:rPr>
              <a:t> → Files, Exceptions, and Unit Testing (Python + Java)</a:t>
            </a:r>
          </a:p>
          <a:p>
            <a:pPr marL="914400" lvl="1" indent="-457200">
              <a:lnSpc>
                <a:spcPct val="150000"/>
              </a:lnSpc>
              <a:buFont typeface="Arial" panose="020B0604020202020204" pitchFamily="34" charset="0"/>
              <a:buChar char="•"/>
            </a:pPr>
            <a:r>
              <a:rPr lang="en-US" sz="2800" b="1" dirty="0">
                <a:latin typeface="Calibir"/>
              </a:rPr>
              <a:t>Week 10</a:t>
            </a:r>
            <a:r>
              <a:rPr lang="en-US" sz="2800" dirty="0">
                <a:latin typeface="Calibir"/>
              </a:rPr>
              <a:t> → GUI basics in Python (</a:t>
            </a:r>
            <a:r>
              <a:rPr lang="en-US" sz="2800" dirty="0" err="1">
                <a:latin typeface="Calibir"/>
              </a:rPr>
              <a:t>Tkinter</a:t>
            </a:r>
            <a:r>
              <a:rPr lang="en-US" sz="2800" dirty="0">
                <a:latin typeface="Calibir"/>
              </a:rPr>
              <a:t>)</a:t>
            </a:r>
          </a:p>
          <a:p>
            <a:pPr marL="914400" lvl="1" indent="-457200">
              <a:lnSpc>
                <a:spcPct val="150000"/>
              </a:lnSpc>
              <a:buFont typeface="Arial" panose="020B0604020202020204" pitchFamily="34" charset="0"/>
              <a:buChar char="•"/>
            </a:pPr>
            <a:r>
              <a:rPr lang="en-US" sz="2800" b="1" dirty="0">
                <a:latin typeface="Calibir"/>
              </a:rPr>
              <a:t>Week 11</a:t>
            </a:r>
            <a:r>
              <a:rPr lang="en-US" sz="2800" dirty="0">
                <a:latin typeface="Calibir"/>
              </a:rPr>
              <a:t> → GUI basics in JavaFX</a:t>
            </a:r>
          </a:p>
          <a:p>
            <a:pPr marL="514350" indent="-514350">
              <a:lnSpc>
                <a:spcPct val="150000"/>
              </a:lnSpc>
              <a:buFont typeface="+mj-lt"/>
              <a:buAutoNum type="arabicPeriod"/>
            </a:pPr>
            <a:r>
              <a:rPr lang="en-US" sz="2800" b="1" dirty="0">
                <a:latin typeface="Calibir"/>
              </a:rPr>
              <a:t>Practice short examples</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File reading/writing functions.</a:t>
            </a:r>
          </a:p>
          <a:p>
            <a:pPr marL="914400" lvl="1" indent="-457200">
              <a:lnSpc>
                <a:spcPct val="150000"/>
              </a:lnSpc>
              <a:buFont typeface="Arial" panose="020B0604020202020204" pitchFamily="34" charset="0"/>
              <a:buChar char="•"/>
            </a:pPr>
            <a:r>
              <a:rPr lang="en-US" sz="2800" dirty="0">
                <a:latin typeface="Calibir"/>
              </a:rPr>
              <a:t>How exceptions flow and how to handle errors.</a:t>
            </a:r>
          </a:p>
          <a:p>
            <a:pPr marL="914400" lvl="1" indent="-457200">
              <a:lnSpc>
                <a:spcPct val="150000"/>
              </a:lnSpc>
              <a:buFont typeface="Arial" panose="020B0604020202020204" pitchFamily="34" charset="0"/>
              <a:buChar char="•"/>
            </a:pPr>
            <a:r>
              <a:rPr lang="en-US" sz="2800" dirty="0">
                <a:latin typeface="Calibir"/>
              </a:rPr>
              <a:t>Basic GUI components and their purpose.</a:t>
            </a:r>
          </a:p>
        </p:txBody>
      </p:sp>
    </p:spTree>
    <p:extLst>
      <p:ext uri="{BB962C8B-B14F-4D97-AF65-F5344CB8AC3E}">
        <p14:creationId xmlns:p14="http://schemas.microsoft.com/office/powerpoint/2010/main" val="43848917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B5D40-33F8-5160-5DC7-1BB59CE72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1AEB0-48B8-D66D-D2BB-05CAAC5E594E}"/>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Quiz 2 Preparation &amp; Guideline</a:t>
            </a:r>
          </a:p>
        </p:txBody>
      </p:sp>
      <p:sp>
        <p:nvSpPr>
          <p:cNvPr id="6" name="TextBox 5">
            <a:extLst>
              <a:ext uri="{FF2B5EF4-FFF2-40B4-BE49-F238E27FC236}">
                <a16:creationId xmlns:a16="http://schemas.microsoft.com/office/drawing/2014/main" id="{0D413B29-A46F-6D52-F43B-CB196CC60BA6}"/>
              </a:ext>
            </a:extLst>
          </p:cNvPr>
          <p:cNvSpPr txBox="1"/>
          <p:nvPr/>
        </p:nvSpPr>
        <p:spPr>
          <a:xfrm>
            <a:off x="0" y="1072057"/>
            <a:ext cx="11971282" cy="5842497"/>
          </a:xfrm>
          <a:prstGeom prst="rect">
            <a:avLst/>
          </a:prstGeom>
          <a:noFill/>
        </p:spPr>
        <p:txBody>
          <a:bodyPr wrap="square">
            <a:spAutoFit/>
          </a:bodyPr>
          <a:lstStyle/>
          <a:p>
            <a:pPr marL="514350" lvl="0" indent="-514350" eaLnBrk="0" fontAlgn="base" hangingPunct="0">
              <a:lnSpc>
                <a:spcPct val="150000"/>
              </a:lnSpc>
              <a:spcBef>
                <a:spcPct val="0"/>
              </a:spcBef>
              <a:spcAft>
                <a:spcPct val="0"/>
              </a:spcAft>
              <a:buFont typeface="+mj-lt"/>
              <a:buAutoNum type="arabicPeriod" startAt="3"/>
            </a:pPr>
            <a:r>
              <a:rPr lang="en-US" altLang="en-US" sz="2800" b="1" dirty="0">
                <a:latin typeface="Calibir"/>
              </a:rPr>
              <a:t>Watch out for tricky areas</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Immutability (things that cannot change).</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Differences in error-handling between Python and Java.</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Missing superclass or inheritance errors.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Object vs. reference comparison.</a:t>
            </a:r>
          </a:p>
          <a:p>
            <a:pPr marL="514350" lvl="0" indent="-514350" eaLnBrk="0" fontAlgn="base" hangingPunct="0">
              <a:lnSpc>
                <a:spcPct val="150000"/>
              </a:lnSpc>
              <a:spcBef>
                <a:spcPct val="0"/>
              </a:spcBef>
              <a:spcAft>
                <a:spcPct val="0"/>
              </a:spcAft>
              <a:buFont typeface="+mj-lt"/>
              <a:buAutoNum type="arabicPeriod" startAt="4"/>
            </a:pPr>
            <a:r>
              <a:rPr lang="en-US" altLang="en-US" sz="2800" b="1" dirty="0">
                <a:latin typeface="Calibir"/>
              </a:rPr>
              <a:t>Expect real situations</a:t>
            </a:r>
            <a:r>
              <a:rPr lang="en-US" altLang="en-US" sz="28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Some questions will be about code that works.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Some questions will be about code that looks fine but fails for small reasons.</a:t>
            </a:r>
          </a:p>
        </p:txBody>
      </p:sp>
    </p:spTree>
    <p:extLst>
      <p:ext uri="{BB962C8B-B14F-4D97-AF65-F5344CB8AC3E}">
        <p14:creationId xmlns:p14="http://schemas.microsoft.com/office/powerpoint/2010/main" val="12644519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74865-1DFA-130B-3250-240B311EAA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62275F-5821-1C3C-37CB-AF4F099926A2}"/>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4A0CF6DC-427B-3379-AEB4-4D1DED55FB06}"/>
              </a:ext>
            </a:extLst>
          </p:cNvPr>
          <p:cNvSpPr txBox="1"/>
          <p:nvPr/>
        </p:nvSpPr>
        <p:spPr>
          <a:xfrm>
            <a:off x="0" y="1072057"/>
            <a:ext cx="11971282" cy="3903504"/>
          </a:xfrm>
          <a:prstGeom prst="rect">
            <a:avLst/>
          </a:prstGeom>
          <a:noFill/>
        </p:spPr>
        <p:txBody>
          <a:bodyPr wrap="square">
            <a:spAutoFit/>
          </a:bodyPr>
          <a:lstStyle/>
          <a:p>
            <a:pPr>
              <a:lnSpc>
                <a:spcPct val="150000"/>
              </a:lnSpc>
            </a:pPr>
            <a:r>
              <a:rPr lang="en-US" sz="2800" b="1" dirty="0">
                <a:latin typeface="Calibir"/>
              </a:rPr>
              <a:t>Q1.</a:t>
            </a:r>
            <a:br>
              <a:rPr lang="en-US" sz="2800" dirty="0">
                <a:latin typeface="Calibir"/>
              </a:rPr>
            </a:br>
            <a:r>
              <a:rPr lang="en-US" sz="2800" dirty="0">
                <a:latin typeface="Calibir"/>
              </a:rPr>
              <a:t>Which statement about Python exception handling is </a:t>
            </a:r>
            <a:r>
              <a:rPr lang="en-US" sz="2800" b="1" dirty="0">
                <a:latin typeface="Calibir"/>
              </a:rPr>
              <a:t>incorrect</a:t>
            </a:r>
            <a:r>
              <a:rPr lang="en-US" sz="2800" dirty="0">
                <a:latin typeface="Calibir"/>
              </a:rPr>
              <a:t>?</a:t>
            </a:r>
          </a:p>
          <a:p>
            <a:pPr>
              <a:lnSpc>
                <a:spcPct val="150000"/>
              </a:lnSpc>
            </a:pPr>
            <a:r>
              <a:rPr lang="en-US" sz="2800" dirty="0">
                <a:latin typeface="Calibir"/>
              </a:rPr>
              <a:t>A) try can have multiple except blocks</a:t>
            </a:r>
          </a:p>
          <a:p>
            <a:pPr>
              <a:lnSpc>
                <a:spcPct val="150000"/>
              </a:lnSpc>
            </a:pPr>
            <a:r>
              <a:rPr lang="en-US" sz="2800" dirty="0">
                <a:latin typeface="Calibir"/>
              </a:rPr>
              <a:t>B) finally always runs, even if there’s a return inside try</a:t>
            </a:r>
          </a:p>
          <a:p>
            <a:pPr>
              <a:lnSpc>
                <a:spcPct val="150000"/>
              </a:lnSpc>
            </a:pPr>
            <a:r>
              <a:rPr lang="en-US" sz="2800" dirty="0">
                <a:latin typeface="Calibir"/>
              </a:rPr>
              <a:t>C) Python automatically ignores runtime errors without try-except</a:t>
            </a:r>
          </a:p>
          <a:p>
            <a:pPr>
              <a:lnSpc>
                <a:spcPct val="150000"/>
              </a:lnSpc>
            </a:pPr>
            <a:r>
              <a:rPr lang="en-US" sz="2800" dirty="0">
                <a:latin typeface="Calibir"/>
              </a:rPr>
              <a:t>D) else runs only if no exception occurs</a:t>
            </a:r>
          </a:p>
        </p:txBody>
      </p:sp>
      <p:sp>
        <p:nvSpPr>
          <p:cNvPr id="4" name="TextBox 3">
            <a:extLst>
              <a:ext uri="{FF2B5EF4-FFF2-40B4-BE49-F238E27FC236}">
                <a16:creationId xmlns:a16="http://schemas.microsoft.com/office/drawing/2014/main" id="{C15B5833-C03A-B007-937D-3596F9ECA4A2}"/>
              </a:ext>
            </a:extLst>
          </p:cNvPr>
          <p:cNvSpPr txBox="1"/>
          <p:nvPr/>
        </p:nvSpPr>
        <p:spPr>
          <a:xfrm>
            <a:off x="0" y="4893487"/>
            <a:ext cx="12192000" cy="1964512"/>
          </a:xfrm>
          <a:prstGeom prst="rect">
            <a:avLst/>
          </a:prstGeom>
          <a:noFill/>
        </p:spPr>
        <p:txBody>
          <a:bodyPr wrap="square">
            <a:spAutoFit/>
          </a:bodyPr>
          <a:lstStyle/>
          <a:p>
            <a:pPr>
              <a:lnSpc>
                <a:spcPct val="150000"/>
              </a:lnSpc>
            </a:pPr>
            <a:r>
              <a:rPr lang="en-US" sz="2800" b="1" dirty="0">
                <a:latin typeface="Calibir"/>
              </a:rPr>
              <a:t>Answer: C</a:t>
            </a:r>
            <a:br>
              <a:rPr lang="en-US" sz="2800" b="1" dirty="0">
                <a:latin typeface="Calibir"/>
              </a:rPr>
            </a:br>
            <a:r>
              <a:rPr lang="en-US" sz="2800" b="1" dirty="0">
                <a:latin typeface="Calibir"/>
              </a:rPr>
              <a:t>Reason</a:t>
            </a:r>
            <a:r>
              <a:rPr lang="en-US" sz="2800" dirty="0">
                <a:latin typeface="Calibir"/>
              </a:rPr>
              <a:t>: Python does not </a:t>
            </a:r>
            <a:r>
              <a:rPr lang="en-US" sz="2800" i="1" dirty="0">
                <a:latin typeface="Calibir"/>
              </a:rPr>
              <a:t>ignore</a:t>
            </a:r>
            <a:r>
              <a:rPr lang="en-US" sz="2800" dirty="0">
                <a:latin typeface="Calibir"/>
              </a:rPr>
              <a:t> runtime errors—without try-except, they terminate the program.</a:t>
            </a:r>
          </a:p>
        </p:txBody>
      </p:sp>
    </p:spTree>
    <p:extLst>
      <p:ext uri="{BB962C8B-B14F-4D97-AF65-F5344CB8AC3E}">
        <p14:creationId xmlns:p14="http://schemas.microsoft.com/office/powerpoint/2010/main" val="213659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C051-7A66-EDA9-E7AF-DE547854FF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D79F88-919D-8998-2E1D-EC4E6FBB9B46}"/>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FE6EC1EC-C88C-D63D-9D7D-F32F492EF72A}"/>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Q2.</a:t>
            </a:r>
            <a:br>
              <a:rPr lang="en-US" sz="2800" dirty="0">
                <a:latin typeface="Calibir"/>
              </a:rPr>
            </a:br>
            <a:r>
              <a:rPr lang="en-US" sz="2800" dirty="0">
                <a:latin typeface="Calibir"/>
              </a:rPr>
              <a:t>What will this code output?</a:t>
            </a:r>
          </a:p>
        </p:txBody>
      </p:sp>
      <p:sp>
        <p:nvSpPr>
          <p:cNvPr id="5" name="TextBox 4">
            <a:extLst>
              <a:ext uri="{FF2B5EF4-FFF2-40B4-BE49-F238E27FC236}">
                <a16:creationId xmlns:a16="http://schemas.microsoft.com/office/drawing/2014/main" id="{DC530AB0-17E9-6C00-0972-2B08448ADFE3}"/>
              </a:ext>
            </a:extLst>
          </p:cNvPr>
          <p:cNvSpPr txBox="1"/>
          <p:nvPr/>
        </p:nvSpPr>
        <p:spPr>
          <a:xfrm>
            <a:off x="0" y="2412552"/>
            <a:ext cx="12192000" cy="3108543"/>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try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f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open</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"data.txt"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err="1">
                <a:solidFill>
                  <a:srgbClr val="CCCCCC"/>
                </a:solidFill>
                <a:effectLst/>
                <a:latin typeface="Consolas" panose="020B0609020204030204" pitchFamily="49" charset="0"/>
              </a:rPr>
              <a:t>f.readline</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except</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FileNotFoundError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"File missing"</a:t>
            </a:r>
            <a:r>
              <a:rPr lang="en-US" sz="2800" b="0" dirty="0">
                <a:solidFill>
                  <a:srgbClr val="CCCCCC"/>
                </a:solidFill>
                <a:effectLst/>
                <a:latin typeface="Consolas" panose="020B0609020204030204" pitchFamily="49" charset="0"/>
              </a:rPr>
              <a:t>)</a:t>
            </a:r>
          </a:p>
          <a:p>
            <a:pPr>
              <a:buNone/>
            </a:pPr>
            <a:r>
              <a:rPr lang="en-US" sz="2800" b="0" dirty="0">
                <a:solidFill>
                  <a:srgbClr val="C586C0"/>
                </a:solidFill>
                <a:effectLst/>
                <a:latin typeface="Consolas" panose="020B0609020204030204" pitchFamily="49" charset="0"/>
              </a:rPr>
              <a:t>finally</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CE9178"/>
                </a:solidFill>
                <a:effectLst/>
                <a:latin typeface="Consolas" panose="020B0609020204030204" pitchFamily="49" charset="0"/>
              </a:rPr>
              <a:t>"Done"</a:t>
            </a:r>
            <a:r>
              <a:rPr lang="en-US" sz="2800" b="0" dirty="0">
                <a:solidFill>
                  <a:srgbClr val="CCCCCC"/>
                </a:solidFill>
                <a:effectLst/>
                <a:latin typeface="Consolas" panose="020B0609020204030204" pitchFamily="49" charset="0"/>
              </a:rPr>
              <a:t>)</a:t>
            </a:r>
          </a:p>
        </p:txBody>
      </p:sp>
      <p:sp>
        <p:nvSpPr>
          <p:cNvPr id="7" name="Rectangle 1">
            <a:extLst>
              <a:ext uri="{FF2B5EF4-FFF2-40B4-BE49-F238E27FC236}">
                <a16:creationId xmlns:a16="http://schemas.microsoft.com/office/drawing/2014/main" id="{02E8FE9F-7CEC-A249-B9E5-54B75131646A}"/>
              </a:ext>
            </a:extLst>
          </p:cNvPr>
          <p:cNvSpPr>
            <a:spLocks noChangeArrowheads="1"/>
          </p:cNvSpPr>
          <p:nvPr/>
        </p:nvSpPr>
        <p:spPr bwMode="auto">
          <a:xfrm>
            <a:off x="6926318" y="2627995"/>
            <a:ext cx="5265682"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A) File missing \n Done</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B) Done \n File missing</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C) Only File missing</a:t>
            </a: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D) Only Done</a:t>
            </a:r>
          </a:p>
        </p:txBody>
      </p:sp>
      <p:sp>
        <p:nvSpPr>
          <p:cNvPr id="9" name="TextBox 8">
            <a:extLst>
              <a:ext uri="{FF2B5EF4-FFF2-40B4-BE49-F238E27FC236}">
                <a16:creationId xmlns:a16="http://schemas.microsoft.com/office/drawing/2014/main" id="{AA4044F2-0493-52B3-E43C-24F33ADE723F}"/>
              </a:ext>
            </a:extLst>
          </p:cNvPr>
          <p:cNvSpPr txBox="1"/>
          <p:nvPr/>
        </p:nvSpPr>
        <p:spPr>
          <a:xfrm>
            <a:off x="0" y="5539819"/>
            <a:ext cx="12192000" cy="1318181"/>
          </a:xfrm>
          <a:prstGeom prst="rect">
            <a:avLst/>
          </a:prstGeom>
          <a:solidFill>
            <a:schemeClr val="bg1"/>
          </a:solidFill>
        </p:spPr>
        <p:txBody>
          <a:bodyPr wrap="square">
            <a:spAutoFit/>
          </a:bodyPr>
          <a:lstStyle/>
          <a:p>
            <a:pPr>
              <a:lnSpc>
                <a:spcPct val="150000"/>
              </a:lnSpc>
            </a:pPr>
            <a:r>
              <a:rPr lang="en-US" sz="2800" b="1" dirty="0">
                <a:latin typeface="Calibir"/>
              </a:rPr>
              <a:t>Answer A, Reason</a:t>
            </a:r>
            <a:r>
              <a:rPr lang="en-US" sz="2800" dirty="0">
                <a:latin typeface="Calibir"/>
              </a:rPr>
              <a:t>: </a:t>
            </a:r>
            <a:r>
              <a:rPr lang="en-US" sz="2800" dirty="0" err="1">
                <a:latin typeface="Calibir"/>
              </a:rPr>
              <a:t>FileNotFoundError</a:t>
            </a:r>
            <a:r>
              <a:rPr lang="en-US" sz="2800" dirty="0">
                <a:latin typeface="Calibir"/>
              </a:rPr>
              <a:t> triggers → prints “File missing” → finally block runs “Done”.</a:t>
            </a:r>
          </a:p>
        </p:txBody>
      </p:sp>
    </p:spTree>
    <p:extLst>
      <p:ext uri="{BB962C8B-B14F-4D97-AF65-F5344CB8AC3E}">
        <p14:creationId xmlns:p14="http://schemas.microsoft.com/office/powerpoint/2010/main" val="206462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A0B49-E6F8-F358-F682-2C92BDEF31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938EF6-EB2D-7402-1C94-D18F03E45FC3}"/>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5DD9C2FA-24DF-4DFB-B448-D63D303AB579}"/>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Q3.</a:t>
            </a:r>
            <a:br>
              <a:rPr lang="en-US" sz="2800" dirty="0">
                <a:latin typeface="Calibir"/>
              </a:rPr>
            </a:br>
            <a:r>
              <a:rPr lang="en-US" sz="2800" dirty="0">
                <a:latin typeface="Calibir"/>
              </a:rPr>
              <a:t>Which function is correct for writing binary data in Python?</a:t>
            </a:r>
          </a:p>
        </p:txBody>
      </p:sp>
      <p:sp>
        <p:nvSpPr>
          <p:cNvPr id="7" name="Rectangle 1">
            <a:extLst>
              <a:ext uri="{FF2B5EF4-FFF2-40B4-BE49-F238E27FC236}">
                <a16:creationId xmlns:a16="http://schemas.microsoft.com/office/drawing/2014/main" id="{656343BB-1869-F738-8B44-10B5EC0BA5BD}"/>
              </a:ext>
            </a:extLst>
          </p:cNvPr>
          <p:cNvSpPr>
            <a:spLocks noChangeArrowheads="1"/>
          </p:cNvSpPr>
          <p:nvPr/>
        </p:nvSpPr>
        <p:spPr bwMode="auto">
          <a:xfrm>
            <a:off x="0" y="2627996"/>
            <a:ext cx="12192000"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 open("</a:t>
            </a:r>
            <a:r>
              <a:rPr lang="en-US" altLang="en-US" sz="2800" dirty="0" err="1">
                <a:latin typeface="Calibir"/>
              </a:rPr>
              <a:t>file.bin</a:t>
            </a:r>
            <a:r>
              <a:rPr lang="en-US" altLang="en-US" sz="2800" dirty="0">
                <a:latin typeface="Calibir"/>
              </a:rPr>
              <a:t>", "w")</a:t>
            </a:r>
          </a:p>
          <a:p>
            <a:pPr lvl="0" eaLnBrk="0" fontAlgn="base" hangingPunct="0">
              <a:lnSpc>
                <a:spcPct val="150000"/>
              </a:lnSpc>
              <a:spcBef>
                <a:spcPct val="0"/>
              </a:spcBef>
              <a:spcAft>
                <a:spcPct val="0"/>
              </a:spcAft>
            </a:pPr>
            <a:r>
              <a:rPr lang="en-US" altLang="en-US" sz="2800" dirty="0">
                <a:latin typeface="Calibir"/>
              </a:rPr>
              <a:t>B) open("</a:t>
            </a:r>
            <a:r>
              <a:rPr lang="en-US" altLang="en-US" sz="2800" dirty="0" err="1">
                <a:latin typeface="Calibir"/>
              </a:rPr>
              <a:t>file.bin</a:t>
            </a:r>
            <a:r>
              <a:rPr lang="en-US" altLang="en-US" sz="2800" dirty="0">
                <a:latin typeface="Calibir"/>
              </a:rPr>
              <a:t>", "</a:t>
            </a:r>
            <a:r>
              <a:rPr lang="en-US" altLang="en-US" sz="2800" dirty="0" err="1">
                <a:latin typeface="Calibir"/>
              </a:rPr>
              <a:t>wb</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C) open("</a:t>
            </a:r>
            <a:r>
              <a:rPr lang="en-US" altLang="en-US" sz="2800" dirty="0" err="1">
                <a:latin typeface="Calibir"/>
              </a:rPr>
              <a:t>file.bin</a:t>
            </a:r>
            <a:r>
              <a:rPr lang="en-US" altLang="en-US" sz="2800" dirty="0">
                <a:latin typeface="Calibir"/>
              </a:rPr>
              <a:t>", "</a:t>
            </a:r>
            <a:r>
              <a:rPr lang="en-US" altLang="en-US" sz="2800" dirty="0" err="1">
                <a:latin typeface="Calibir"/>
              </a:rPr>
              <a:t>rb</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D) open("</a:t>
            </a:r>
            <a:r>
              <a:rPr lang="en-US" altLang="en-US" sz="2800" dirty="0" err="1">
                <a:latin typeface="Calibir"/>
              </a:rPr>
              <a:t>file.bin</a:t>
            </a:r>
            <a:r>
              <a:rPr lang="en-US" altLang="en-US" sz="2800" dirty="0">
                <a:latin typeface="Calibir"/>
              </a:rPr>
              <a:t>", "a")</a:t>
            </a:r>
          </a:p>
        </p:txBody>
      </p:sp>
      <p:sp>
        <p:nvSpPr>
          <p:cNvPr id="9" name="TextBox 8">
            <a:extLst>
              <a:ext uri="{FF2B5EF4-FFF2-40B4-BE49-F238E27FC236}">
                <a16:creationId xmlns:a16="http://schemas.microsoft.com/office/drawing/2014/main" id="{68E8CCDD-F41C-3EE4-1128-18790162E5CA}"/>
              </a:ext>
            </a:extLst>
          </p:cNvPr>
          <p:cNvSpPr txBox="1"/>
          <p:nvPr/>
        </p:nvSpPr>
        <p:spPr>
          <a:xfrm>
            <a:off x="0" y="5450017"/>
            <a:ext cx="12192000" cy="671851"/>
          </a:xfrm>
          <a:prstGeom prst="rect">
            <a:avLst/>
          </a:prstGeom>
          <a:solidFill>
            <a:schemeClr val="bg1"/>
          </a:solidFill>
        </p:spPr>
        <p:txBody>
          <a:bodyPr wrap="square">
            <a:spAutoFit/>
          </a:bodyPr>
          <a:lstStyle/>
          <a:p>
            <a:pPr>
              <a:lnSpc>
                <a:spcPct val="150000"/>
              </a:lnSpc>
            </a:pPr>
            <a:r>
              <a:rPr lang="en-US" sz="2800" b="1" dirty="0">
                <a:latin typeface="Calibir"/>
              </a:rPr>
              <a:t>Answer B ,Reason</a:t>
            </a:r>
            <a:r>
              <a:rPr lang="en-US" sz="2800" dirty="0">
                <a:latin typeface="Calibir"/>
              </a:rPr>
              <a:t>: "</a:t>
            </a:r>
            <a:r>
              <a:rPr lang="en-US" sz="2800" dirty="0" err="1">
                <a:latin typeface="Calibir"/>
              </a:rPr>
              <a:t>wb</a:t>
            </a:r>
            <a:r>
              <a:rPr lang="en-US" sz="2800" dirty="0">
                <a:latin typeface="Calibir"/>
              </a:rPr>
              <a:t>" means write in binary mode. "</a:t>
            </a:r>
            <a:r>
              <a:rPr lang="en-US" sz="2800" dirty="0" err="1">
                <a:latin typeface="Calibir"/>
              </a:rPr>
              <a:t>rb</a:t>
            </a:r>
            <a:r>
              <a:rPr lang="en-US" sz="2800" dirty="0">
                <a:latin typeface="Calibir"/>
              </a:rPr>
              <a:t>" is read binary.</a:t>
            </a:r>
          </a:p>
        </p:txBody>
      </p:sp>
    </p:spTree>
    <p:extLst>
      <p:ext uri="{BB962C8B-B14F-4D97-AF65-F5344CB8AC3E}">
        <p14:creationId xmlns:p14="http://schemas.microsoft.com/office/powerpoint/2010/main" val="560386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F8F99-D853-4996-5D35-75658A2ED0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0B28DA-045B-201C-237B-3821349D1129}"/>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5794C49B-BFFA-FC9B-C41C-911CE28CD665}"/>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Q4.</a:t>
            </a:r>
            <a:br>
              <a:rPr lang="en-US" sz="2800" dirty="0">
                <a:latin typeface="Calibir"/>
              </a:rPr>
            </a:br>
            <a:r>
              <a:rPr lang="en-US" sz="2800" dirty="0">
                <a:latin typeface="Calibir"/>
              </a:rPr>
              <a:t>Which is missing in this test?</a:t>
            </a:r>
          </a:p>
        </p:txBody>
      </p:sp>
      <p:sp>
        <p:nvSpPr>
          <p:cNvPr id="9" name="TextBox 8">
            <a:extLst>
              <a:ext uri="{FF2B5EF4-FFF2-40B4-BE49-F238E27FC236}">
                <a16:creationId xmlns:a16="http://schemas.microsoft.com/office/drawing/2014/main" id="{F0187799-709A-2A20-826A-C153F09C303D}"/>
              </a:ext>
            </a:extLst>
          </p:cNvPr>
          <p:cNvSpPr txBox="1"/>
          <p:nvPr/>
        </p:nvSpPr>
        <p:spPr>
          <a:xfrm>
            <a:off x="0" y="4861652"/>
            <a:ext cx="12192000" cy="1321772"/>
          </a:xfrm>
          <a:prstGeom prst="rect">
            <a:avLst/>
          </a:prstGeom>
          <a:solidFill>
            <a:schemeClr val="bg1"/>
          </a:solidFill>
        </p:spPr>
        <p:txBody>
          <a:bodyPr wrap="square">
            <a:spAutoFit/>
          </a:bodyPr>
          <a:lstStyle/>
          <a:p>
            <a:pPr>
              <a:lnSpc>
                <a:spcPct val="150000"/>
              </a:lnSpc>
            </a:pPr>
            <a:r>
              <a:rPr lang="en-US" sz="2800" b="1" dirty="0">
                <a:latin typeface="Calibir"/>
              </a:rPr>
              <a:t>Answer: B, Reason</a:t>
            </a:r>
            <a:r>
              <a:rPr lang="en-US" sz="2800" dirty="0">
                <a:latin typeface="Calibir"/>
              </a:rPr>
              <a:t>: To use </a:t>
            </a:r>
            <a:r>
              <a:rPr lang="en-US" sz="2800" dirty="0" err="1">
                <a:latin typeface="Calibir"/>
              </a:rPr>
              <a:t>unittest’s</a:t>
            </a:r>
            <a:r>
              <a:rPr lang="en-US" sz="2800" dirty="0">
                <a:latin typeface="Calibir"/>
              </a:rPr>
              <a:t> assertions, class must inherit </a:t>
            </a:r>
            <a:r>
              <a:rPr lang="en-US" sz="2800" dirty="0" err="1">
                <a:latin typeface="Calibir"/>
              </a:rPr>
              <a:t>unittest.TestCase</a:t>
            </a:r>
            <a:r>
              <a:rPr lang="en-US" sz="2800" dirty="0">
                <a:latin typeface="Calibir"/>
              </a:rPr>
              <a:t>.</a:t>
            </a:r>
          </a:p>
        </p:txBody>
      </p:sp>
      <p:sp>
        <p:nvSpPr>
          <p:cNvPr id="4" name="TextBox 3">
            <a:extLst>
              <a:ext uri="{FF2B5EF4-FFF2-40B4-BE49-F238E27FC236}">
                <a16:creationId xmlns:a16="http://schemas.microsoft.com/office/drawing/2014/main" id="{29F856CB-67EB-72BB-5560-F59D7CB86A7D}"/>
              </a:ext>
            </a:extLst>
          </p:cNvPr>
          <p:cNvSpPr txBox="1"/>
          <p:nvPr/>
        </p:nvSpPr>
        <p:spPr>
          <a:xfrm>
            <a:off x="0" y="2648290"/>
            <a:ext cx="9085455" cy="1815882"/>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unittest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class</a:t>
            </a:r>
            <a:r>
              <a:rPr lang="en-US" sz="2800" b="0" dirty="0">
                <a:solidFill>
                  <a:srgbClr val="CCCCCC"/>
                </a:solidFill>
                <a:effectLst/>
                <a:latin typeface="Consolas" panose="020B0609020204030204" pitchFamily="49" charset="0"/>
              </a:rPr>
              <a:t> </a:t>
            </a:r>
            <a:r>
              <a:rPr lang="en-US" sz="2800" b="0" dirty="0" err="1">
                <a:solidFill>
                  <a:srgbClr val="4EC9B0"/>
                </a:solidFill>
                <a:effectLst/>
                <a:latin typeface="Consolas" panose="020B0609020204030204" pitchFamily="49" charset="0"/>
              </a:rPr>
              <a:t>MyTest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err="1">
                <a:solidFill>
                  <a:srgbClr val="DCDCAA"/>
                </a:solidFill>
                <a:effectLst/>
                <a:latin typeface="Consolas" panose="020B0609020204030204" pitchFamily="49" charset="0"/>
              </a:rPr>
              <a:t>test_sum</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self</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err="1">
                <a:solidFill>
                  <a:srgbClr val="569CD6"/>
                </a:solidFill>
                <a:effectLst/>
                <a:latin typeface="Consolas" panose="020B0609020204030204" pitchFamily="49" charset="0"/>
              </a:rPr>
              <a:t>self</a:t>
            </a:r>
            <a:r>
              <a:rPr lang="en-US" sz="2800" b="0" dirty="0" err="1">
                <a:solidFill>
                  <a:srgbClr val="CCCCCC"/>
                </a:solidFill>
                <a:effectLst/>
                <a:latin typeface="Consolas" panose="020B0609020204030204" pitchFamily="49" charset="0"/>
              </a:rPr>
              <a:t>.assertEqual</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2</a:t>
            </a:r>
            <a:r>
              <a:rPr lang="en-US" sz="2800" b="0" dirty="0">
                <a:solidFill>
                  <a:srgbClr val="D4D4D4"/>
                </a:solidFill>
                <a:effectLst/>
                <a:latin typeface="Consolas" panose="020B0609020204030204" pitchFamily="49" charset="0"/>
              </a:rPr>
              <a:t>+</a:t>
            </a:r>
            <a:r>
              <a:rPr lang="en-US" sz="2800" b="0" dirty="0">
                <a:solidFill>
                  <a:srgbClr val="B5CEA8"/>
                </a:solidFill>
                <a:effectLst/>
                <a:latin typeface="Consolas" panose="020B0609020204030204" pitchFamily="49" charset="0"/>
              </a:rPr>
              <a:t>3</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5</a:t>
            </a:r>
            <a:r>
              <a:rPr lang="en-US" sz="2800" b="0" dirty="0">
                <a:solidFill>
                  <a:srgbClr val="CCCCCC"/>
                </a:solidFill>
                <a:effectLst/>
                <a:latin typeface="Consolas" panose="020B0609020204030204" pitchFamily="49" charset="0"/>
              </a:rPr>
              <a:t>)</a:t>
            </a:r>
          </a:p>
        </p:txBody>
      </p:sp>
      <p:sp>
        <p:nvSpPr>
          <p:cNvPr id="5" name="Rectangle 1">
            <a:extLst>
              <a:ext uri="{FF2B5EF4-FFF2-40B4-BE49-F238E27FC236}">
                <a16:creationId xmlns:a16="http://schemas.microsoft.com/office/drawing/2014/main" id="{2A8448D1-1E21-0A0E-434D-6F1D80AEA3C8}"/>
              </a:ext>
            </a:extLst>
          </p:cNvPr>
          <p:cNvSpPr>
            <a:spLocks noChangeArrowheads="1"/>
          </p:cNvSpPr>
          <p:nvPr/>
        </p:nvSpPr>
        <p:spPr bwMode="auto">
          <a:xfrm>
            <a:off x="6512312" y="2250809"/>
            <a:ext cx="5679688"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A) Must import </a:t>
            </a:r>
            <a:r>
              <a:rPr kumimoji="0" lang="en-US" altLang="en-US" sz="2800" b="0" i="0" u="none" strike="noStrike" cap="none" normalizeH="0" baseline="0" dirty="0" err="1">
                <a:ln>
                  <a:noFill/>
                </a:ln>
                <a:solidFill>
                  <a:schemeClr val="tx1"/>
                </a:solidFill>
                <a:effectLst/>
                <a:latin typeface="Calibir"/>
              </a:rPr>
              <a:t>pytest</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B) Class must extend </a:t>
            </a:r>
            <a:r>
              <a:rPr kumimoji="0" lang="en-US" altLang="en-US" sz="2800" b="0" i="0" u="none" strike="noStrike" cap="none" normalizeH="0" baseline="0" dirty="0" err="1">
                <a:ln>
                  <a:noFill/>
                </a:ln>
                <a:solidFill>
                  <a:schemeClr val="tx1"/>
                </a:solidFill>
                <a:effectLst/>
                <a:latin typeface="Calibir"/>
              </a:rPr>
              <a:t>unittest.TestCase</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C) Use == instead of </a:t>
            </a:r>
            <a:r>
              <a:rPr kumimoji="0" lang="en-US" altLang="en-US" sz="2800" b="0" i="0" u="none" strike="noStrike" cap="none" normalizeH="0" baseline="0" dirty="0" err="1">
                <a:ln>
                  <a:noFill/>
                </a:ln>
                <a:solidFill>
                  <a:schemeClr val="tx1"/>
                </a:solidFill>
                <a:effectLst/>
                <a:latin typeface="Calibir"/>
              </a:rPr>
              <a:t>assertEqual</a:t>
            </a:r>
            <a:endParaRPr kumimoji="0" lang="en-US" altLang="en-US" sz="2800" b="0" i="0" u="none" strike="noStrike" cap="none" normalizeH="0" baseline="0" dirty="0">
              <a:ln>
                <a:noFill/>
              </a:ln>
              <a:solidFill>
                <a:schemeClr val="tx1"/>
              </a:solidFill>
              <a:effectLst/>
              <a:latin typeface="Calibir"/>
            </a:endParaRPr>
          </a:p>
          <a:p>
            <a:pPr marL="0" marR="0" lvl="0" indent="0" algn="l" defTabSz="914400" rtl="0" eaLnBrk="0" fontAlgn="base" latinLnBrk="0" hangingPunct="0">
              <a:lnSpc>
                <a:spcPct val="150000"/>
              </a:lnSpc>
              <a:spcBef>
                <a:spcPct val="0"/>
              </a:spcBef>
              <a:spcAft>
                <a:spcPct val="0"/>
              </a:spcAft>
              <a:buClrTx/>
              <a:buSzTx/>
              <a:tabLst/>
            </a:pPr>
            <a:r>
              <a:rPr kumimoji="0" lang="en-US" altLang="en-US" sz="2800" b="0" i="0" u="none" strike="noStrike" cap="none" normalizeH="0" baseline="0" dirty="0">
                <a:ln>
                  <a:noFill/>
                </a:ln>
                <a:solidFill>
                  <a:schemeClr val="tx1"/>
                </a:solidFill>
                <a:effectLst/>
                <a:latin typeface="Calibir"/>
              </a:rPr>
              <a:t>D) Test method must return True</a:t>
            </a:r>
          </a:p>
        </p:txBody>
      </p:sp>
    </p:spTree>
    <p:extLst>
      <p:ext uri="{BB962C8B-B14F-4D97-AF65-F5344CB8AC3E}">
        <p14:creationId xmlns:p14="http://schemas.microsoft.com/office/powerpoint/2010/main" val="3191252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70DD4-A0DD-E3E4-3E51-6CB68FF882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40E62-5FE6-7E8F-2A7A-7E75EE05AE24}"/>
              </a:ext>
            </a:extLst>
          </p:cNvPr>
          <p:cNvSpPr>
            <a:spLocks noGrp="1"/>
          </p:cNvSpPr>
          <p:nvPr>
            <p:ph type="title"/>
          </p:nvPr>
        </p:nvSpPr>
        <p:spPr>
          <a:xfrm>
            <a:off x="0" y="1"/>
            <a:ext cx="12192000" cy="756744"/>
          </a:xfrm>
        </p:spPr>
        <p:txBody>
          <a:bodyPr anchor="b">
            <a:normAutofit/>
          </a:bodyPr>
          <a:lstStyle/>
          <a:p>
            <a:pPr>
              <a:spcAft>
                <a:spcPts val="800"/>
              </a:spcAft>
            </a:pPr>
            <a:r>
              <a:rPr lang="en-US" sz="4000" kern="100" dirty="0">
                <a:latin typeface="Calibir"/>
                <a:ea typeface="Aptos" panose="020B0004020202020204" pitchFamily="34" charset="0"/>
                <a:cs typeface="Arial" panose="020B0604020202020204" pitchFamily="34" charset="0"/>
              </a:rPr>
              <a:t>MQs designed in Week 9 (Files, Exceptions, Testing)</a:t>
            </a:r>
          </a:p>
        </p:txBody>
      </p:sp>
      <p:sp>
        <p:nvSpPr>
          <p:cNvPr id="6" name="TextBox 5">
            <a:extLst>
              <a:ext uri="{FF2B5EF4-FFF2-40B4-BE49-F238E27FC236}">
                <a16:creationId xmlns:a16="http://schemas.microsoft.com/office/drawing/2014/main" id="{DD5AE9CA-7711-D742-AD68-5670700B01B9}"/>
              </a:ext>
            </a:extLst>
          </p:cNvPr>
          <p:cNvSpPr txBox="1"/>
          <p:nvPr/>
        </p:nvSpPr>
        <p:spPr>
          <a:xfrm>
            <a:off x="0" y="1072057"/>
            <a:ext cx="11971282" cy="1321772"/>
          </a:xfrm>
          <a:prstGeom prst="rect">
            <a:avLst/>
          </a:prstGeom>
          <a:noFill/>
        </p:spPr>
        <p:txBody>
          <a:bodyPr wrap="square">
            <a:spAutoFit/>
          </a:bodyPr>
          <a:lstStyle/>
          <a:p>
            <a:pPr>
              <a:lnSpc>
                <a:spcPct val="150000"/>
              </a:lnSpc>
            </a:pPr>
            <a:r>
              <a:rPr lang="en-US" sz="2800" b="1" dirty="0">
                <a:latin typeface="Calibir"/>
              </a:rPr>
              <a:t>Q5.</a:t>
            </a:r>
            <a:br>
              <a:rPr lang="en-US" sz="2800" dirty="0">
                <a:latin typeface="Calibir"/>
              </a:rPr>
            </a:br>
            <a:r>
              <a:rPr lang="en-US" sz="2800" dirty="0">
                <a:latin typeface="Calibir"/>
              </a:rPr>
              <a:t>Which method reads the entire file into a string?</a:t>
            </a:r>
          </a:p>
        </p:txBody>
      </p:sp>
      <p:sp>
        <p:nvSpPr>
          <p:cNvPr id="9" name="TextBox 8">
            <a:extLst>
              <a:ext uri="{FF2B5EF4-FFF2-40B4-BE49-F238E27FC236}">
                <a16:creationId xmlns:a16="http://schemas.microsoft.com/office/drawing/2014/main" id="{E0A7938F-34EC-15EE-02F9-74742EF818D0}"/>
              </a:ext>
            </a:extLst>
          </p:cNvPr>
          <p:cNvSpPr txBox="1"/>
          <p:nvPr/>
        </p:nvSpPr>
        <p:spPr>
          <a:xfrm>
            <a:off x="0" y="5028920"/>
            <a:ext cx="12192000" cy="671851"/>
          </a:xfrm>
          <a:prstGeom prst="rect">
            <a:avLst/>
          </a:prstGeom>
          <a:solidFill>
            <a:schemeClr val="bg1"/>
          </a:solidFill>
        </p:spPr>
        <p:txBody>
          <a:bodyPr wrap="square">
            <a:spAutoFit/>
          </a:bodyPr>
          <a:lstStyle/>
          <a:p>
            <a:pPr>
              <a:lnSpc>
                <a:spcPct val="150000"/>
              </a:lnSpc>
            </a:pPr>
            <a:r>
              <a:rPr lang="en-US" sz="2800" b="1" dirty="0">
                <a:latin typeface="Calibir"/>
              </a:rPr>
              <a:t>Answer: C, Reason</a:t>
            </a:r>
            <a:r>
              <a:rPr lang="en-US" sz="2800" dirty="0">
                <a:latin typeface="Calibir"/>
              </a:rPr>
              <a:t>: </a:t>
            </a:r>
            <a:r>
              <a:rPr lang="en-US" sz="2800" dirty="0" err="1">
                <a:latin typeface="Calibir"/>
              </a:rPr>
              <a:t>f.read</a:t>
            </a:r>
            <a:r>
              <a:rPr lang="en-US" sz="2800" dirty="0">
                <a:latin typeface="Calibir"/>
              </a:rPr>
              <a:t>() returns the full file as one string.</a:t>
            </a:r>
          </a:p>
        </p:txBody>
      </p:sp>
      <p:sp>
        <p:nvSpPr>
          <p:cNvPr id="5" name="Rectangle 1">
            <a:extLst>
              <a:ext uri="{FF2B5EF4-FFF2-40B4-BE49-F238E27FC236}">
                <a16:creationId xmlns:a16="http://schemas.microsoft.com/office/drawing/2014/main" id="{73856141-82C5-2917-3A7C-4C7C97D7D3F9}"/>
              </a:ext>
            </a:extLst>
          </p:cNvPr>
          <p:cNvSpPr>
            <a:spLocks noChangeArrowheads="1"/>
          </p:cNvSpPr>
          <p:nvPr/>
        </p:nvSpPr>
        <p:spPr bwMode="auto">
          <a:xfrm>
            <a:off x="0" y="2322319"/>
            <a:ext cx="5679688" cy="2610843"/>
          </a:xfrm>
          <a:prstGeom prst="rect">
            <a:avLst/>
          </a:prstGeom>
          <a:solidFill>
            <a:schemeClr val="bg1"/>
          </a:solidFill>
          <a:ln>
            <a:noFill/>
          </a:ln>
          <a:effec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A) </a:t>
            </a:r>
            <a:r>
              <a:rPr lang="en-US" altLang="en-US" sz="2800" dirty="0" err="1">
                <a:latin typeface="Calibir"/>
              </a:rPr>
              <a:t>f.readline</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B) </a:t>
            </a:r>
            <a:r>
              <a:rPr lang="en-US" altLang="en-US" sz="2800" dirty="0" err="1">
                <a:latin typeface="Calibir"/>
              </a:rPr>
              <a:t>f.readlines</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C) </a:t>
            </a:r>
            <a:r>
              <a:rPr lang="en-US" altLang="en-US" sz="2800" dirty="0" err="1">
                <a:latin typeface="Calibir"/>
              </a:rPr>
              <a:t>f.read</a:t>
            </a:r>
            <a:r>
              <a:rPr lang="en-US" altLang="en-US" sz="2800" dirty="0">
                <a:latin typeface="Calibir"/>
              </a:rPr>
              <a:t>()</a:t>
            </a:r>
          </a:p>
          <a:p>
            <a:pPr lvl="0" eaLnBrk="0" fontAlgn="base" hangingPunct="0">
              <a:lnSpc>
                <a:spcPct val="150000"/>
              </a:lnSpc>
              <a:spcBef>
                <a:spcPct val="0"/>
              </a:spcBef>
              <a:spcAft>
                <a:spcPct val="0"/>
              </a:spcAft>
            </a:pPr>
            <a:r>
              <a:rPr lang="en-US" altLang="en-US" sz="2800" dirty="0">
                <a:latin typeface="Calibir"/>
              </a:rPr>
              <a:t>D) </a:t>
            </a:r>
            <a:r>
              <a:rPr lang="en-US" altLang="en-US" sz="2800" dirty="0" err="1">
                <a:latin typeface="Calibir"/>
              </a:rPr>
              <a:t>f.next</a:t>
            </a:r>
            <a:r>
              <a:rPr lang="en-US" altLang="en-US" sz="2800" dirty="0">
                <a:latin typeface="Calibir"/>
              </a:rPr>
              <a:t>()</a:t>
            </a:r>
          </a:p>
        </p:txBody>
      </p:sp>
    </p:spTree>
    <p:extLst>
      <p:ext uri="{BB962C8B-B14F-4D97-AF65-F5344CB8AC3E}">
        <p14:creationId xmlns:p14="http://schemas.microsoft.com/office/powerpoint/2010/main" val="3101847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bg/>
                                          </p:spTgt>
                                        </p:tgtEl>
                                        <p:attrNameLst>
                                          <p:attrName>style.visibility</p:attrName>
                                        </p:attrNameLst>
                                      </p:cBhvr>
                                      <p:to>
                                        <p:strVal val="visible"/>
                                      </p:to>
                                    </p:set>
                                    <p:animEffect transition="in" filter="fade">
                                      <p:cBhvr>
                                        <p:cTn id="7" dur="500"/>
                                        <p:tgtEl>
                                          <p:spTgt spid="9">
                                            <p:bg/>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fade">
                                      <p:cBhvr>
                                        <p:cTn id="10" dur="5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allAtOnce" animBg="1"/>
    </p:bldLst>
  </p:timing>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3157</TotalTime>
  <Words>5412</Words>
  <Application>Microsoft Office PowerPoint</Application>
  <PresentationFormat>Widescreen</PresentationFormat>
  <Paragraphs>756</Paragraphs>
  <Slides>65</Slides>
  <Notes>0</Notes>
  <HiddenSlides>0</HiddenSlides>
  <MMClips>4</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65</vt:i4>
      </vt:variant>
    </vt:vector>
  </HeadingPairs>
  <TitlesOfParts>
    <vt:vector size="74"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9</vt:lpstr>
      <vt:lpstr>Week 9 Outline</vt:lpstr>
      <vt:lpstr>Exceptions</vt:lpstr>
      <vt:lpstr>Exceptions</vt:lpstr>
      <vt:lpstr>Exceptions</vt:lpstr>
      <vt:lpstr>Exceptions</vt:lpstr>
      <vt:lpstr>Exceptions</vt:lpstr>
      <vt:lpstr>Example 1 – Python Exception</vt:lpstr>
      <vt:lpstr>Example 1 – Python Exception</vt:lpstr>
      <vt:lpstr>Example 1 – Python Exception</vt:lpstr>
      <vt:lpstr>Activity 1 – (Python – Division Safety)</vt:lpstr>
      <vt:lpstr>Activity 1 – (Python – Division Safety)</vt:lpstr>
      <vt:lpstr>Activity 2 – (Python – File Error)</vt:lpstr>
      <vt:lpstr>PowerPoint Presentation</vt:lpstr>
      <vt:lpstr>Errors vs Exceptions</vt:lpstr>
      <vt:lpstr>Errors vs Exceptions</vt:lpstr>
      <vt:lpstr>Errors vs Exceptions</vt:lpstr>
      <vt:lpstr>Example 2 – Java Exception</vt:lpstr>
      <vt:lpstr>Example 2 – Java Exception</vt:lpstr>
      <vt:lpstr>Example 2 – Java Exception</vt:lpstr>
      <vt:lpstr>Example 2 – Java Exception</vt:lpstr>
      <vt:lpstr>Activity 3 (Java – Read File)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Activity 4 (Java – Custom Exception)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File Handling Basics (Python)</vt:lpstr>
      <vt:lpstr>File Handling Basics (Python)</vt:lpstr>
      <vt:lpstr>File Handling Basics (Python)</vt:lpstr>
      <vt:lpstr>File Handling Basics (Python)</vt:lpstr>
      <vt:lpstr>File Handling Basics (Python)</vt:lpstr>
      <vt:lpstr>File Handling Basics (Python)</vt:lpstr>
      <vt:lpstr>File Handling Basics (Java)</vt:lpstr>
      <vt:lpstr>File Handling Basics (Java)</vt:lpstr>
      <vt:lpstr>File Handling Basics (Java)</vt:lpstr>
      <vt:lpstr>File Handling Basics (Java)</vt:lpstr>
      <vt:lpstr>Files &amp; Directories</vt:lpstr>
      <vt:lpstr>Files &amp; Directories</vt:lpstr>
      <vt:lpstr>Files &amp; Directories</vt:lpstr>
      <vt:lpstr>Unit Testing</vt:lpstr>
      <vt:lpstr>Unit Testing</vt:lpstr>
      <vt:lpstr>Why Exceptions? Where Do We See Testing?</vt:lpstr>
      <vt:lpstr>Role-Playing Debate Questions</vt:lpstr>
      <vt:lpstr>Quiz 2 Preparation &amp; Guideline</vt:lpstr>
      <vt:lpstr>Quiz 2 Preparation &amp; Guideline</vt:lpstr>
      <vt:lpstr>Quiz 2 Preparation &amp; Guideline</vt:lpstr>
      <vt:lpstr>MQs designed in Week 9 (Files, Exceptions, Testing)</vt:lpstr>
      <vt:lpstr>MQs designed in Week 9 (Files, Exceptions, Testing)</vt:lpstr>
      <vt:lpstr>MQs designed in Week 9 (Files, Exceptions, Testing)</vt:lpstr>
      <vt:lpstr>MQs designed in Week 9 (Files, Exceptions, Testing)</vt:lpstr>
      <vt:lpstr>MQs designed in Week 9 (Files, Exceptions, Testing)</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999</cp:revision>
  <dcterms:created xsi:type="dcterms:W3CDTF">2025-07-28T16:39:25Z</dcterms:created>
  <dcterms:modified xsi:type="dcterms:W3CDTF">2025-09-30T00:07:05Z</dcterms:modified>
</cp:coreProperties>
</file>