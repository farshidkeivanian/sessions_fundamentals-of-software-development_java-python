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8"/>
  </p:notesMasterIdLst>
  <p:sldIdLst>
    <p:sldId id="2522" r:id="rId3"/>
    <p:sldId id="2443" r:id="rId4"/>
    <p:sldId id="2633" r:id="rId5"/>
    <p:sldId id="3044" r:id="rId6"/>
    <p:sldId id="3045" r:id="rId7"/>
    <p:sldId id="2634" r:id="rId8"/>
    <p:sldId id="2941" r:id="rId9"/>
    <p:sldId id="2943" r:id="rId10"/>
    <p:sldId id="2944" r:id="rId11"/>
    <p:sldId id="2945" r:id="rId12"/>
    <p:sldId id="2946" r:id="rId13"/>
    <p:sldId id="2947" r:id="rId14"/>
    <p:sldId id="2948" r:id="rId15"/>
    <p:sldId id="2949" r:id="rId16"/>
    <p:sldId id="2950" r:id="rId17"/>
    <p:sldId id="2951" r:id="rId18"/>
    <p:sldId id="2952" r:id="rId19"/>
    <p:sldId id="2953" r:id="rId20"/>
    <p:sldId id="2954" r:id="rId21"/>
    <p:sldId id="2955" r:id="rId22"/>
    <p:sldId id="2956" r:id="rId23"/>
    <p:sldId id="2957" r:id="rId24"/>
    <p:sldId id="2958" r:id="rId25"/>
    <p:sldId id="2959" r:id="rId26"/>
    <p:sldId id="2960" r:id="rId27"/>
    <p:sldId id="2961" r:id="rId28"/>
    <p:sldId id="2963" r:id="rId29"/>
    <p:sldId id="2964" r:id="rId30"/>
    <p:sldId id="2965" r:id="rId31"/>
    <p:sldId id="2966" r:id="rId32"/>
    <p:sldId id="2962" r:id="rId33"/>
    <p:sldId id="2967" r:id="rId34"/>
    <p:sldId id="2968" r:id="rId35"/>
    <p:sldId id="2969" r:id="rId36"/>
    <p:sldId id="2970" r:id="rId37"/>
    <p:sldId id="2971" r:id="rId38"/>
    <p:sldId id="2973" r:id="rId39"/>
    <p:sldId id="2974" r:id="rId40"/>
    <p:sldId id="2975" r:id="rId41"/>
    <p:sldId id="2972" r:id="rId42"/>
    <p:sldId id="2976" r:id="rId43"/>
    <p:sldId id="2977" r:id="rId44"/>
    <p:sldId id="2978" r:id="rId45"/>
    <p:sldId id="2979" r:id="rId46"/>
    <p:sldId id="2981" r:id="rId47"/>
    <p:sldId id="2982" r:id="rId48"/>
    <p:sldId id="2983" r:id="rId49"/>
    <p:sldId id="2984" r:id="rId50"/>
    <p:sldId id="2985" r:id="rId51"/>
    <p:sldId id="2980" r:id="rId52"/>
    <p:sldId id="2986" r:id="rId53"/>
    <p:sldId id="2987" r:id="rId54"/>
    <p:sldId id="2988" r:id="rId55"/>
    <p:sldId id="2990" r:id="rId56"/>
    <p:sldId id="2991" r:id="rId57"/>
    <p:sldId id="2992" r:id="rId58"/>
    <p:sldId id="2993" r:id="rId59"/>
    <p:sldId id="2994" r:id="rId60"/>
    <p:sldId id="2996" r:id="rId61"/>
    <p:sldId id="2997" r:id="rId62"/>
    <p:sldId id="2998" r:id="rId63"/>
    <p:sldId id="2999" r:id="rId64"/>
    <p:sldId id="3000" r:id="rId65"/>
    <p:sldId id="3001" r:id="rId66"/>
    <p:sldId id="3002" r:id="rId67"/>
    <p:sldId id="3003" r:id="rId68"/>
    <p:sldId id="3004" r:id="rId69"/>
    <p:sldId id="3005" r:id="rId70"/>
    <p:sldId id="3006" r:id="rId71"/>
    <p:sldId id="3007" r:id="rId72"/>
    <p:sldId id="3008" r:id="rId73"/>
    <p:sldId id="3009" r:id="rId74"/>
    <p:sldId id="3010" r:id="rId75"/>
    <p:sldId id="3011" r:id="rId76"/>
    <p:sldId id="3012" r:id="rId77"/>
    <p:sldId id="3014" r:id="rId78"/>
    <p:sldId id="3013" r:id="rId79"/>
    <p:sldId id="3015" r:id="rId80"/>
    <p:sldId id="3016" r:id="rId81"/>
    <p:sldId id="3017" r:id="rId82"/>
    <p:sldId id="3018" r:id="rId83"/>
    <p:sldId id="3019" r:id="rId84"/>
    <p:sldId id="3021" r:id="rId85"/>
    <p:sldId id="3022" r:id="rId86"/>
    <p:sldId id="3023" r:id="rId87"/>
    <p:sldId id="3024" r:id="rId88"/>
    <p:sldId id="3025" r:id="rId89"/>
    <p:sldId id="2995" r:id="rId90"/>
    <p:sldId id="3026" r:id="rId91"/>
    <p:sldId id="3027" r:id="rId92"/>
    <p:sldId id="3028" r:id="rId93"/>
    <p:sldId id="3029" r:id="rId94"/>
    <p:sldId id="3030" r:id="rId95"/>
    <p:sldId id="3031" r:id="rId96"/>
    <p:sldId id="3032" r:id="rId97"/>
    <p:sldId id="3033" r:id="rId98"/>
    <p:sldId id="3034" r:id="rId99"/>
    <p:sldId id="3035" r:id="rId100"/>
    <p:sldId id="3036" r:id="rId101"/>
    <p:sldId id="3037" r:id="rId102"/>
    <p:sldId id="3038" r:id="rId103"/>
    <p:sldId id="3039" r:id="rId104"/>
    <p:sldId id="3040" r:id="rId105"/>
    <p:sldId id="3041" r:id="rId106"/>
    <p:sldId id="3043" r:id="rId1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presProps" Target="pres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8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128F9-B18A-0AC2-A696-92165ABAB1BE}"/>
              </a:ext>
            </a:extLst>
          </p:cNvPr>
          <p:cNvSpPr txBox="1"/>
          <p:nvPr/>
        </p:nvSpPr>
        <p:spPr>
          <a:xfrm>
            <a:off x="0" y="856356"/>
            <a:ext cx="12192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Lab 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What is OOP?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Why use OOP?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1: Creating a BankAccount Class (Objects = Data + Actions)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Java Example 1: Creating a BankAccount Class (Data + Actions Together)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Encapsulation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2: Encapsulation in BankAccount (Hiding Data with Getters &amp; Setters)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Java Example 2: Encapsulation in BankAccount (Using Private Fields and Getters/Setters)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1 - Python: Try calling withdraw(2000) and see how the program prevents overdrawing.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Inheritance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3: Inheritance with SavingsAccount (Child Reuses Parent Code)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Java Example 3: Inheritance with SavingsAccount (Child Reuses Parent Code)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2 (Python): Create a CheckingAccount Subclass with Overdraft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2 (Java): Create a CheckingAccount Subclass with Overdraft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Polymorphism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4: Polymorphism with BankAccount (Same Method, Different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408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40B6-46E6-9CB1-0605-3CABB208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3F30-8211-A94B-84FE-3AC0C501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8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C6F29-7DAE-DBBB-D8FE-BC84E814643C}"/>
              </a:ext>
            </a:extLst>
          </p:cNvPr>
          <p:cNvSpPr txBox="1"/>
          <p:nvPr/>
        </p:nvSpPr>
        <p:spPr>
          <a:xfrm>
            <a:off x="0" y="672662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Java Example 4: Polymorphism with </a:t>
            </a:r>
            <a:r>
              <a:rPr lang="en-US" sz="2200" dirty="0" err="1">
                <a:latin typeface="Calibir"/>
              </a:rPr>
              <a:t>BankAccount</a:t>
            </a:r>
            <a:r>
              <a:rPr lang="en-US" sz="2200" dirty="0">
                <a:latin typeface="Calibir"/>
              </a:rPr>
              <a:t> (Same Method, Different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Hands-On Activity 3 (Python): Adding a </a:t>
            </a:r>
            <a:r>
              <a:rPr lang="en-US" sz="2200" dirty="0" err="1">
                <a:latin typeface="Calibir"/>
              </a:rPr>
              <a:t>get_balance</a:t>
            </a:r>
            <a:r>
              <a:rPr lang="en-US" sz="2200" dirty="0">
                <a:latin typeface="Calibir"/>
              </a:rPr>
              <a:t>() Method (Encapsulation + Polymorphism)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Hands-On Activity 3 (Java): Adding a </a:t>
            </a:r>
            <a:r>
              <a:rPr lang="en-US" sz="2200" dirty="0" err="1">
                <a:latin typeface="Calibir"/>
              </a:rPr>
              <a:t>get_balance</a:t>
            </a:r>
            <a:r>
              <a:rPr lang="en-US" sz="2200" dirty="0">
                <a:latin typeface="Calibir"/>
              </a:rPr>
              <a:t>() Method (Encapsulation + Polymorphism)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Abstraction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Python Example 5: Abstraction with </a:t>
            </a:r>
            <a:r>
              <a:rPr lang="en-US" sz="2200" dirty="0" err="1">
                <a:latin typeface="Calibir"/>
              </a:rPr>
              <a:t>BankAccount</a:t>
            </a:r>
            <a:r>
              <a:rPr lang="en-US" sz="2200" dirty="0">
                <a:latin typeface="Calibir"/>
              </a:rPr>
              <a:t> (Using Abstract Class)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5: Abstraction with BankAccount (Using Abstract Class)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4 (Python): Creating a BusinessAccount Subclass (Abstraction + Polymorphism)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Python Example 6: Combining All OOP Concepts (Encapsulation, Inheritance, Polymorphism, Abstraction)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6: Combining All OOP Concepts (Encapsulation, Inheritance, Polymorphism, Abstraction)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OOP Design Rules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5 (Python): Adding </a:t>
            </a:r>
            <a:r>
              <a:rPr lang="en-US" sz="2200" dirty="0" err="1">
                <a:latin typeface="Calibir"/>
              </a:rPr>
              <a:t>add_interest</a:t>
            </a:r>
            <a:r>
              <a:rPr lang="en-US" sz="2200" dirty="0">
                <a:latin typeface="Calibir"/>
              </a:rPr>
              <a:t>() to </a:t>
            </a:r>
            <a:r>
              <a:rPr lang="en-US" sz="2200" dirty="0" err="1">
                <a:latin typeface="Calibir"/>
              </a:rPr>
              <a:t>SavingsAccount</a:t>
            </a:r>
            <a:endParaRPr lang="en-US" sz="2200" dirty="0">
              <a:latin typeface="Calibir"/>
            </a:endParaRP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The Menu Pattern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Python Example 7: Full OOP Program with Menu (Encapsulation, Inheritance, Abstraction, Polymorphism, Design Rules)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7: Full OOP Program with Menu (Encapsulation, Inheritance, Abstraction, Polymorphism, Design Rules)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6 (Python): Extend the Full OOP Program with Menu</a:t>
            </a:r>
          </a:p>
        </p:txBody>
      </p:sp>
    </p:spTree>
    <p:extLst>
      <p:ext uri="{BB962C8B-B14F-4D97-AF65-F5344CB8AC3E}">
        <p14:creationId xmlns:p14="http://schemas.microsoft.com/office/powerpoint/2010/main" val="110668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47C-18A7-9AFC-9593-71D435A2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82E7-E32D-573D-8C2B-4E48BC067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What is OOP?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9A395-3E0E-FE9C-949A-E4964EFA0B3B}"/>
              </a:ext>
            </a:extLst>
          </p:cNvPr>
          <p:cNvSpPr txBox="1"/>
          <p:nvPr/>
        </p:nvSpPr>
        <p:spPr>
          <a:xfrm>
            <a:off x="0" y="1072057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 </a:t>
            </a:r>
            <a:r>
              <a:rPr lang="en-US" sz="2800" dirty="0">
                <a:latin typeface="Calibir"/>
              </a:rPr>
              <a:t>Programs are built using objects → each object has data (information) and actions (things it can do).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Like a bank →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Customers = people’s details (data) + things they do (withdraw, deposit)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Accounts = balance (data) + update balance (actions)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ATMs = machine info (data) + give/receive money (actions)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All these objects work together to make the bank system run.</a:t>
            </a:r>
          </a:p>
        </p:txBody>
      </p:sp>
    </p:spTree>
    <p:extLst>
      <p:ext uri="{BB962C8B-B14F-4D97-AF65-F5344CB8AC3E}">
        <p14:creationId xmlns:p14="http://schemas.microsoft.com/office/powerpoint/2010/main" val="274633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3EB2-434A-A74D-C11C-49AF9B07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7BA9-291F-E615-DA04-8FCA892B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Why use OOP?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7270C-2BBD-5C34-AA08-F65A9120F06E}"/>
              </a:ext>
            </a:extLst>
          </p:cNvPr>
          <p:cNvSpPr txBox="1"/>
          <p:nvPr/>
        </p:nvSpPr>
        <p:spPr>
          <a:xfrm>
            <a:off x="0" y="1072057"/>
            <a:ext cx="119712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Code is reusable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Easier to maintain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Helps programs grow (scalable)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CC9D1-3F41-0E41-9AC2-A77E78A74907}"/>
              </a:ext>
            </a:extLst>
          </p:cNvPr>
          <p:cNvSpPr txBox="1"/>
          <p:nvPr/>
        </p:nvSpPr>
        <p:spPr>
          <a:xfrm>
            <a:off x="110359" y="3410294"/>
            <a:ext cx="1197128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Analogy (Australia):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a university: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Students, Lecturers, and Courses are objects.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They interact with each other, just like objects do in a program.</a:t>
            </a:r>
          </a:p>
        </p:txBody>
      </p:sp>
    </p:spTree>
    <p:extLst>
      <p:ext uri="{BB962C8B-B14F-4D97-AF65-F5344CB8AC3E}">
        <p14:creationId xmlns:p14="http://schemas.microsoft.com/office/powerpoint/2010/main" val="168291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830-54B4-20D4-0E79-DF106B4E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37AF-E77E-1D7A-29B6-8FF798B4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1: Creating a BankAccount Class (Objects = Data + Actions)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46C54F-AFCA-DCF8-0936-02D6EEDEE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00" t="13793" r="8448" b="17395"/>
          <a:stretch>
            <a:fillRect/>
          </a:stretch>
        </p:blipFill>
        <p:spPr>
          <a:xfrm>
            <a:off x="0" y="1072057"/>
            <a:ext cx="12192000" cy="566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5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C329-1A27-6C9C-3A38-6621F625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864A-4727-55A2-B386-21216E96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1: Creating a BankAccount Class (Data + Actions Together)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92CE4-D28F-32F5-7975-E47EAD03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3" t="15632" r="8276" b="16168"/>
          <a:stretch>
            <a:fillRect/>
          </a:stretch>
        </p:blipFill>
        <p:spPr>
          <a:xfrm>
            <a:off x="0" y="1072057"/>
            <a:ext cx="12192000" cy="55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46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09F7-1D20-39EC-CE46-73F61A6B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6434-3AAE-6DA4-22B4-AA846F98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4192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Encapsulation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2835C-1021-E2B5-3449-DBDD207CF6D8}"/>
              </a:ext>
            </a:extLst>
          </p:cNvPr>
          <p:cNvSpPr txBox="1"/>
          <p:nvPr/>
        </p:nvSpPr>
        <p:spPr>
          <a:xfrm>
            <a:off x="0" y="1093076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Idea: Keep data and actions together, but hide sensitive details.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Only allow safe access through getters and setters.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Java: use private, public, protected.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Python: no strict rule → but _name means “for internal use”.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 (Australia): Like an ATM → you don’t see the whole bank system, only your balance.</a:t>
            </a:r>
          </a:p>
        </p:txBody>
      </p:sp>
    </p:spTree>
    <p:extLst>
      <p:ext uri="{BB962C8B-B14F-4D97-AF65-F5344CB8AC3E}">
        <p14:creationId xmlns:p14="http://schemas.microsoft.com/office/powerpoint/2010/main" val="393993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8760-E1AD-A185-623A-910967F5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A82B-BE70-D89E-C5AF-726C65FC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2: Encapsulation in BankAccount (Hiding Data with Getters &amp; Setters)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50A65B-EC0E-79A1-D0FC-8872C81C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13496" r="9908" b="18374"/>
          <a:stretch>
            <a:fillRect/>
          </a:stretch>
        </p:blipFill>
        <p:spPr>
          <a:xfrm>
            <a:off x="0" y="1092819"/>
            <a:ext cx="12192000" cy="5682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D42467-B7B5-EE74-39B6-2033955D5E7B}"/>
              </a:ext>
            </a:extLst>
          </p:cNvPr>
          <p:cNvSpPr txBox="1"/>
          <p:nvPr/>
        </p:nvSpPr>
        <p:spPr>
          <a:xfrm>
            <a:off x="6423102" y="2352236"/>
            <a:ext cx="5768897" cy="39035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Fields made “hidden”</a:t>
            </a:r>
            <a:r>
              <a:rPr lang="en-US" sz="2800" dirty="0">
                <a:latin typeface="Calibir"/>
              </a:rPr>
              <a:t> with underscore prefix: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latin typeface="Calibir"/>
              </a:rPr>
              <a:t>was </a:t>
            </a:r>
            <a:r>
              <a:rPr lang="en-US" sz="2800" dirty="0" err="1">
                <a:latin typeface="Calibir"/>
              </a:rPr>
              <a:t>self.account_number</a:t>
            </a:r>
            <a:endParaRPr lang="en-US" sz="2800" dirty="0">
              <a:latin typeface="Calibir"/>
            </a:endParaRPr>
          </a:p>
          <a:p>
            <a:pPr lvl="2">
              <a:lnSpc>
                <a:spcPct val="150000"/>
              </a:lnSpc>
            </a:pPr>
            <a:r>
              <a:rPr lang="en-US" sz="2800" dirty="0">
                <a:latin typeface="Calibir"/>
              </a:rPr>
              <a:t>was </a:t>
            </a:r>
            <a:r>
              <a:rPr lang="en-US" sz="2800" dirty="0" err="1">
                <a:latin typeface="Calibir"/>
              </a:rPr>
              <a:t>self.balance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Removed</a:t>
            </a:r>
            <a:r>
              <a:rPr lang="en-US" sz="2800" dirty="0">
                <a:latin typeface="Calibir"/>
              </a:rPr>
              <a:t> the direct display() method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60AD48-AB47-0ABA-119F-0B42F931100F}"/>
              </a:ext>
            </a:extLst>
          </p:cNvPr>
          <p:cNvSpPr/>
          <p:nvPr/>
        </p:nvSpPr>
        <p:spPr>
          <a:xfrm>
            <a:off x="1048215" y="1683835"/>
            <a:ext cx="7136780" cy="5798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0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A06B-854D-3930-D9A0-12BBEE68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0BBC-D1B7-858C-6C7E-C12CB3BF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2: Encapsulation in BankAccount (Hiding Data with Getters &amp; Setters)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7A3ACE-CE9C-F78A-B8C4-B3D349A0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13496" r="9908" b="18374"/>
          <a:stretch>
            <a:fillRect/>
          </a:stretch>
        </p:blipFill>
        <p:spPr>
          <a:xfrm>
            <a:off x="0" y="1092819"/>
            <a:ext cx="12192000" cy="5682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855DB6-6E41-9C68-6199-79CC60F3224A}"/>
              </a:ext>
            </a:extLst>
          </p:cNvPr>
          <p:cNvSpPr txBox="1"/>
          <p:nvPr/>
        </p:nvSpPr>
        <p:spPr>
          <a:xfrm>
            <a:off x="6096000" y="2352236"/>
            <a:ext cx="6095999" cy="19645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Added encapsulation methods</a:t>
            </a:r>
            <a:r>
              <a:rPr lang="en-US" sz="2800" dirty="0">
                <a:latin typeface="Calibir"/>
              </a:rPr>
              <a:t> to safely access and update balance: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087BDE-D997-CB32-A2C6-9347DB08D1E1}"/>
              </a:ext>
            </a:extLst>
          </p:cNvPr>
          <p:cNvSpPr/>
          <p:nvPr/>
        </p:nvSpPr>
        <p:spPr>
          <a:xfrm>
            <a:off x="434897" y="2363388"/>
            <a:ext cx="5207620" cy="32456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2CBB93-DA2C-8F39-BEE4-4098C7B5A99D}"/>
              </a:ext>
            </a:extLst>
          </p:cNvPr>
          <p:cNvCxnSpPr>
            <a:cxnSpLocks/>
          </p:cNvCxnSpPr>
          <p:nvPr/>
        </p:nvCxnSpPr>
        <p:spPr>
          <a:xfrm flipH="1" flipV="1">
            <a:off x="4003288" y="2910468"/>
            <a:ext cx="2092711" cy="1092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C152AD-C829-7D79-DB0E-157C5E5D4856}"/>
              </a:ext>
            </a:extLst>
          </p:cNvPr>
          <p:cNvCxnSpPr>
            <a:cxnSpLocks/>
          </p:cNvCxnSpPr>
          <p:nvPr/>
        </p:nvCxnSpPr>
        <p:spPr>
          <a:xfrm flipH="1" flipV="1">
            <a:off x="4155688" y="3858322"/>
            <a:ext cx="1940311" cy="144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332330-4F0D-B691-510F-0C34942BC8AB}"/>
              </a:ext>
            </a:extLst>
          </p:cNvPr>
          <p:cNvCxnSpPr>
            <a:cxnSpLocks/>
          </p:cNvCxnSpPr>
          <p:nvPr/>
        </p:nvCxnSpPr>
        <p:spPr>
          <a:xfrm flipH="1">
            <a:off x="4728117" y="4003288"/>
            <a:ext cx="1367882" cy="791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37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AFC7-7C0F-5CBF-9F1B-0F9B07AE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6D89-11D5-6E4B-16F9-D0630C83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2: Encapsulation in BankAccount (Hiding Data with Getters &amp; Setters)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531BF-B169-A00E-D0ED-E3C42C8C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6" t="13496" r="9908" b="18374"/>
          <a:stretch>
            <a:fillRect/>
          </a:stretch>
        </p:blipFill>
        <p:spPr>
          <a:xfrm>
            <a:off x="0" y="1092819"/>
            <a:ext cx="12192000" cy="56823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C6A9AD-B867-50CD-2A62-4C36388E1710}"/>
              </a:ext>
            </a:extLst>
          </p:cNvPr>
          <p:cNvSpPr txBox="1"/>
          <p:nvPr/>
        </p:nvSpPr>
        <p:spPr>
          <a:xfrm>
            <a:off x="6096000" y="2169273"/>
            <a:ext cx="6095999" cy="19645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Usage updated: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Original: </a:t>
            </a:r>
            <a:r>
              <a:rPr lang="en-US" sz="2800" dirty="0">
                <a:latin typeface="Calibir"/>
              </a:rPr>
              <a:t>acc1.display()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New:</a:t>
            </a:r>
            <a:endParaRPr lang="en-US" sz="2800" dirty="0">
              <a:latin typeface="Calibir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6FA76F-EB05-82DA-8A80-175429C8505F}"/>
              </a:ext>
            </a:extLst>
          </p:cNvPr>
          <p:cNvSpPr/>
          <p:nvPr/>
        </p:nvSpPr>
        <p:spPr>
          <a:xfrm>
            <a:off x="0" y="5887844"/>
            <a:ext cx="7259444" cy="8873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61CCD9-8ED1-B463-6876-00DFE3184EE8}"/>
              </a:ext>
            </a:extLst>
          </p:cNvPr>
          <p:cNvCxnSpPr>
            <a:cxnSpLocks/>
          </p:cNvCxnSpPr>
          <p:nvPr/>
        </p:nvCxnSpPr>
        <p:spPr>
          <a:xfrm flipH="1">
            <a:off x="5174166" y="4036741"/>
            <a:ext cx="1014761" cy="1728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12D8EE04-FAF6-D9D9-E6A7-AD895621A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2466" y="4256448"/>
            <a:ext cx="4709533" cy="257903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Python Example 1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Objects = Data + Actions.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Python Example 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Encapsulation = Hide sensitive fields, use getters &amp; setters for control.</a:t>
            </a:r>
          </a:p>
        </p:txBody>
      </p:sp>
    </p:spTree>
    <p:extLst>
      <p:ext uri="{BB962C8B-B14F-4D97-AF65-F5344CB8AC3E}">
        <p14:creationId xmlns:p14="http://schemas.microsoft.com/office/powerpoint/2010/main" val="302223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A549-9288-FC01-4EEF-3606721E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1D65-A5D4-5BCB-4A9D-99F7BDF1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2: Encapsulation in BankAccount (Using Private Fields and Getters/Setters)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5A98A-B72F-B1FE-E474-9AE3FCE22829}"/>
              </a:ext>
            </a:extLst>
          </p:cNvPr>
          <p:cNvSpPr txBox="1"/>
          <p:nvPr/>
        </p:nvSpPr>
        <p:spPr>
          <a:xfrm>
            <a:off x="73742" y="1072057"/>
            <a:ext cx="12192000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Fields are private (hidden)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Constructor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Getter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Deposit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Withdraw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71E5F-43A7-838B-AF4B-C0AB318D97EE}"/>
              </a:ext>
            </a:extLst>
          </p:cNvPr>
          <p:cNvSpPr txBox="1"/>
          <p:nvPr/>
        </p:nvSpPr>
        <p:spPr>
          <a:xfrm>
            <a:off x="6096000" y="2352236"/>
            <a:ext cx="6095999" cy="196810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Fields hidden</a:t>
            </a:r>
            <a:r>
              <a:rPr lang="en-US" sz="2800" dirty="0">
                <a:latin typeface="Calibir"/>
              </a:rPr>
              <a:t> with private: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Getter &amp; setters (methods) added</a:t>
            </a:r>
            <a:r>
              <a:rPr lang="en-US" sz="2800" dirty="0">
                <a:latin typeface="Calibir"/>
              </a:rPr>
              <a:t> instead of direct access.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3DFADA-30A4-2130-D9C4-0103E2B966BB}"/>
              </a:ext>
            </a:extLst>
          </p:cNvPr>
          <p:cNvSpPr/>
          <p:nvPr/>
        </p:nvSpPr>
        <p:spPr>
          <a:xfrm>
            <a:off x="468351" y="1304693"/>
            <a:ext cx="3122342" cy="6579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DD1D77-B2BF-931E-DB25-03FEB2DDF4A9}"/>
              </a:ext>
            </a:extLst>
          </p:cNvPr>
          <p:cNvCxnSpPr>
            <a:cxnSpLocks/>
          </p:cNvCxnSpPr>
          <p:nvPr/>
        </p:nvCxnSpPr>
        <p:spPr>
          <a:xfrm flipH="1" flipV="1">
            <a:off x="3664435" y="1628078"/>
            <a:ext cx="2357822" cy="1061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314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5E2E-97AE-3CEC-936C-79BA9C76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09BB-6805-19CA-3822-0707B168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2: Encapsulation in BankAccount (Using Private Fields and Getters/Setters)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90680-7D61-82D9-22FA-DE944E5AAAC0}"/>
              </a:ext>
            </a:extLst>
          </p:cNvPr>
          <p:cNvSpPr txBox="1"/>
          <p:nvPr/>
        </p:nvSpPr>
        <p:spPr>
          <a:xfrm>
            <a:off x="107195" y="1072057"/>
            <a:ext cx="12084804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BankAccount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deposit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 after deposit: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69D66-4AAC-BE2B-F2AC-F977A48C3EFB}"/>
              </a:ext>
            </a:extLst>
          </p:cNvPr>
          <p:cNvSpPr txBox="1"/>
          <p:nvPr/>
        </p:nvSpPr>
        <p:spPr>
          <a:xfrm>
            <a:off x="6096000" y="2887939"/>
            <a:ext cx="6095999" cy="67185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Usage Updated:</a:t>
            </a:r>
            <a:endParaRPr lang="en-US" sz="2800" dirty="0">
              <a:latin typeface="Calibir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4ED3F3-731B-C8CD-B6FE-7DFE6A7F3F90}"/>
              </a:ext>
            </a:extLst>
          </p:cNvPr>
          <p:cNvSpPr/>
          <p:nvPr/>
        </p:nvSpPr>
        <p:spPr>
          <a:xfrm>
            <a:off x="880946" y="1770548"/>
            <a:ext cx="5296830" cy="3958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037EA5-F330-0DF4-2070-B2B0F73AA06D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296829" y="2430966"/>
            <a:ext cx="799171" cy="792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34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AC62-8502-BA0F-1212-B63C413B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F977-0225-F697-E7D5-47F0F123F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2: Encapsulation in BankAccount (Using Private Fields and Getters/Setters)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FDC5E-F83B-0848-93B5-7A5DD40C82CD}"/>
              </a:ext>
            </a:extLst>
          </p:cNvPr>
          <p:cNvSpPr txBox="1"/>
          <p:nvPr/>
        </p:nvSpPr>
        <p:spPr>
          <a:xfrm>
            <a:off x="73742" y="1072057"/>
            <a:ext cx="12192000" cy="569386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Fields are private (hidden)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Constructor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Getter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Deposit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Withdraw method (controlled update)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EAD71-30A9-6C8F-3248-A7B169F5FF14}"/>
              </a:ext>
            </a:extLst>
          </p:cNvPr>
          <p:cNvSpPr txBox="1"/>
          <p:nvPr/>
        </p:nvSpPr>
        <p:spPr>
          <a:xfrm>
            <a:off x="6096000" y="2352236"/>
            <a:ext cx="6095999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Java Example 1</a:t>
            </a:r>
            <a:r>
              <a:rPr lang="en-US" altLang="en-US" sz="2800" dirty="0">
                <a:latin typeface="Calibir"/>
              </a:rPr>
              <a:t> = Data + Actions.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Java Example 2</a:t>
            </a:r>
            <a:r>
              <a:rPr lang="en-US" altLang="en-US" sz="2800" dirty="0">
                <a:latin typeface="Calibir"/>
              </a:rPr>
              <a:t> = Encapsulation (hiding sensitive fields + getters/setters).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17C1A5-17CD-FF9C-D153-C3433B079EC1}"/>
              </a:ext>
            </a:extLst>
          </p:cNvPr>
          <p:cNvSpPr/>
          <p:nvPr/>
        </p:nvSpPr>
        <p:spPr>
          <a:xfrm>
            <a:off x="468351" y="1304693"/>
            <a:ext cx="3122342" cy="6579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8544E2-EE44-8113-615D-CE11B18F2220}"/>
              </a:ext>
            </a:extLst>
          </p:cNvPr>
          <p:cNvCxnSpPr>
            <a:cxnSpLocks/>
          </p:cNvCxnSpPr>
          <p:nvPr/>
        </p:nvCxnSpPr>
        <p:spPr>
          <a:xfrm flipH="1" flipV="1">
            <a:off x="3664435" y="1628078"/>
            <a:ext cx="2357822" cy="1061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180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9D0B-35F7-D0E0-AADA-8543DFF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82B28DC-A467-4263-C172-A886F8CE7D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31" t="29268" r="7988" b="17720"/>
          <a:stretch>
            <a:fillRect/>
          </a:stretch>
        </p:blipFill>
        <p:spPr>
          <a:xfrm>
            <a:off x="50181" y="2464421"/>
            <a:ext cx="12091638" cy="4303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ECF29-7477-3B73-3476-A0FD56DF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1 - Python: Try calling withdraw(2000) and see how the program prevents overdrawing.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9938441B-FF90-D4AF-6557-737F9E58BF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341" t="45366" r="40632" b="40488"/>
          <a:stretch>
            <a:fillRect/>
          </a:stretch>
        </p:blipFill>
        <p:spPr>
          <a:xfrm>
            <a:off x="5025482" y="128316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6180429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9D0B-35F7-D0E0-AADA-8543DFF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CF29-7477-3B73-3476-A0FD56DF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DD6C7-C5A8-D557-4944-5CD3EAF94C84}"/>
              </a:ext>
            </a:extLst>
          </p:cNvPr>
          <p:cNvSpPr txBox="1"/>
          <p:nvPr/>
        </p:nvSpPr>
        <p:spPr>
          <a:xfrm>
            <a:off x="0" y="1159728"/>
            <a:ext cx="1196525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Idea: A child class can reuse code from a parent class.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Parent = Superclass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Child = Subclass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 (Australia): A Student Opal card gets all the travel features of a normal Opal card, plus a concession discount.</a:t>
            </a:r>
          </a:p>
        </p:txBody>
      </p:sp>
    </p:spTree>
    <p:extLst>
      <p:ext uri="{BB962C8B-B14F-4D97-AF65-F5344CB8AC3E}">
        <p14:creationId xmlns:p14="http://schemas.microsoft.com/office/powerpoint/2010/main" val="4029188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ECD1-F38B-EAFA-7000-395D9AE0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4F1C-1734-4F21-2771-46699B0E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6EFF3-0EB5-41D9-B997-8F641A36E172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CF171-6ED8-45D0-75C7-0962775977D2}"/>
              </a:ext>
            </a:extLst>
          </p:cNvPr>
          <p:cNvSpPr txBox="1"/>
          <p:nvPr/>
        </p:nvSpPr>
        <p:spPr>
          <a:xfrm>
            <a:off x="7988709" y="1159728"/>
            <a:ext cx="4183626" cy="569386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To keep code simpler and focus on inheritance: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removed withdraw() method</a:t>
            </a:r>
          </a:p>
          <a:p>
            <a:pPr lvl="1"/>
            <a:r>
              <a:rPr lang="en-US" sz="2800" dirty="0">
                <a:latin typeface="Calibir"/>
              </a:rPr>
              <a:t>def withdraw(self, amount):</a:t>
            </a:r>
          </a:p>
          <a:p>
            <a:pPr lvl="1"/>
            <a:r>
              <a:rPr lang="en-US" sz="2800" dirty="0">
                <a:latin typeface="Calibir"/>
              </a:rPr>
              <a:t>    if amount &lt;= self._balance:</a:t>
            </a:r>
          </a:p>
          <a:p>
            <a:pPr lvl="1"/>
            <a:r>
              <a:rPr lang="en-US" sz="2800" dirty="0">
                <a:latin typeface="Calibir"/>
              </a:rPr>
              <a:t>        self._balance -= amount</a:t>
            </a:r>
          </a:p>
          <a:p>
            <a:pPr lvl="1"/>
            <a:r>
              <a:rPr lang="en-US" sz="2800" dirty="0">
                <a:latin typeface="Calibir"/>
              </a:rPr>
              <a:t>    else:</a:t>
            </a:r>
          </a:p>
          <a:p>
            <a:pPr lvl="1"/>
            <a:r>
              <a:rPr lang="en-US" sz="2800" dirty="0">
                <a:latin typeface="Calibir"/>
              </a:rPr>
              <a:t>        print("Insufficient funds!")</a:t>
            </a:r>
          </a:p>
        </p:txBody>
      </p:sp>
    </p:spTree>
    <p:extLst>
      <p:ext uri="{BB962C8B-B14F-4D97-AF65-F5344CB8AC3E}">
        <p14:creationId xmlns:p14="http://schemas.microsoft.com/office/powerpoint/2010/main" val="2324777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6675-39FE-9BBB-2187-8CF00D10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5F58-BBFC-C210-A671-F5E363E3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98E0D-4EFB-0D7F-92D2-57DF8BC814B7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C75C3-2FE0-A3C8-7CDC-4A4454B92D5F}"/>
              </a:ext>
            </a:extLst>
          </p:cNvPr>
          <p:cNvSpPr txBox="1"/>
          <p:nvPr/>
        </p:nvSpPr>
        <p:spPr>
          <a:xfrm>
            <a:off x="8003458" y="1225689"/>
            <a:ext cx="4183626" cy="390350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We kept encapsulation</a:t>
            </a:r>
            <a:r>
              <a:rPr lang="en-US" sz="2800" dirty="0">
                <a:latin typeface="Calibir"/>
              </a:rPr>
              <a:t> (hidden fields _account_number, _balance, controlled access via deposit() and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()).</a:t>
            </a:r>
          </a:p>
        </p:txBody>
      </p:sp>
    </p:spTree>
    <p:extLst>
      <p:ext uri="{BB962C8B-B14F-4D97-AF65-F5344CB8AC3E}">
        <p14:creationId xmlns:p14="http://schemas.microsoft.com/office/powerpoint/2010/main" val="857843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52F5-26B3-7748-C9F2-8E1B8F25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1712-30CB-63B6-02B7-29091D93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C7B69-91EE-788C-0A00-EDDAF7C0F7EA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EDDAF-17B8-FAB9-632F-F89688B88E6F}"/>
              </a:ext>
            </a:extLst>
          </p:cNvPr>
          <p:cNvSpPr txBox="1"/>
          <p:nvPr/>
        </p:nvSpPr>
        <p:spPr>
          <a:xfrm>
            <a:off x="8003458" y="1225689"/>
            <a:ext cx="4183626" cy="261443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Additions in Example 3: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Child Class (SavingsAccount)</a:t>
            </a:r>
            <a:r>
              <a:rPr lang="en-US" sz="2800" dirty="0">
                <a:latin typeface="Calibir"/>
              </a:rPr>
              <a:t> inherits from BankAccount: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4E8287-5A40-4405-AB9A-2A808DCD8480}"/>
              </a:ext>
            </a:extLst>
          </p:cNvPr>
          <p:cNvSpPr/>
          <p:nvPr/>
        </p:nvSpPr>
        <p:spPr>
          <a:xfrm>
            <a:off x="0" y="3958684"/>
            <a:ext cx="5029200" cy="3791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1404C7-7AF9-10CC-58F6-DD8EF6F7451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029200" y="2532906"/>
            <a:ext cx="2974258" cy="1425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178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B9BF-502E-8F75-619E-C28D7FA2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9B14-0D7F-9FC8-CC13-4B73A4EAD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EE590-9FA2-7E7C-8BBD-22D58C426499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reuses parent init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adds new field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0DC54-D7E7-66A2-210F-CFE567D0FB89}"/>
              </a:ext>
            </a:extLst>
          </p:cNvPr>
          <p:cNvSpPr txBox="1"/>
          <p:nvPr/>
        </p:nvSpPr>
        <p:spPr>
          <a:xfrm>
            <a:off x="8003458" y="1225689"/>
            <a:ext cx="4183626" cy="196451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Child constructor calls parent constructor</a:t>
            </a:r>
            <a:r>
              <a:rPr lang="en-US" sz="2800" dirty="0">
                <a:latin typeface="Calibir"/>
              </a:rPr>
              <a:t> using super():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140511-20F5-65FA-9842-A25EF2CAEFD7}"/>
              </a:ext>
            </a:extLst>
          </p:cNvPr>
          <p:cNvSpPr/>
          <p:nvPr/>
        </p:nvSpPr>
        <p:spPr>
          <a:xfrm>
            <a:off x="0" y="4270919"/>
            <a:ext cx="8003458" cy="8920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219DBC-EA11-EE5E-19FC-D900384E363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040351" y="2207945"/>
            <a:ext cx="2963107" cy="19970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341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82AC-53CC-4906-9732-B9DF5EB7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A8B7-3626-DA3F-794A-05C2247D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BF117-6BD5-1BFA-DA29-2A960DACB7EF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0B0A8-E1C6-CA33-DBDE-53A005CBC1BE}"/>
              </a:ext>
            </a:extLst>
          </p:cNvPr>
          <p:cNvSpPr txBox="1"/>
          <p:nvPr/>
        </p:nvSpPr>
        <p:spPr>
          <a:xfrm>
            <a:off x="8003458" y="1225689"/>
            <a:ext cx="4183626" cy="67185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method in child class</a:t>
            </a:r>
            <a:r>
              <a:rPr lang="en-US" sz="2800" dirty="0">
                <a:latin typeface="Calibir"/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F5CF10-8549-F405-E434-EDFCEA8040F1}"/>
              </a:ext>
            </a:extLst>
          </p:cNvPr>
          <p:cNvSpPr/>
          <p:nvPr/>
        </p:nvSpPr>
        <p:spPr>
          <a:xfrm>
            <a:off x="0" y="5296384"/>
            <a:ext cx="8003458" cy="682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A976E5-1B2F-1906-1803-C8F7FF161C5F}"/>
              </a:ext>
            </a:extLst>
          </p:cNvPr>
          <p:cNvCxnSpPr>
            <a:cxnSpLocks/>
          </p:cNvCxnSpPr>
          <p:nvPr/>
        </p:nvCxnSpPr>
        <p:spPr>
          <a:xfrm flipH="1">
            <a:off x="8003458" y="1963501"/>
            <a:ext cx="2123768" cy="33328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207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E2C9-4FD4-9842-DDD7-95112614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A414-6EBF-71E5-B5F8-97E9294D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F6D84-C459-0EDF-6180-BB801E63EACC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Child class used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New child method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E12A3-D377-D459-B410-51492FE9E4E0}"/>
              </a:ext>
            </a:extLst>
          </p:cNvPr>
          <p:cNvSpPr txBox="1"/>
          <p:nvPr/>
        </p:nvSpPr>
        <p:spPr>
          <a:xfrm>
            <a:off x="8003458" y="1225689"/>
            <a:ext cx="4183626" cy="543174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Changes in the main/test code: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Example 2: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acc1 = BankAccount("12345", 1000)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acc1.deposit(500)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print("Balance after deposit:", acc1.get_balance())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D690AD-4B22-4643-A4E3-6ED15FC798E1}"/>
              </a:ext>
            </a:extLst>
          </p:cNvPr>
          <p:cNvSpPr/>
          <p:nvPr/>
        </p:nvSpPr>
        <p:spPr>
          <a:xfrm>
            <a:off x="-4916" y="5963749"/>
            <a:ext cx="6940975" cy="7819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42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3566-0A61-30D6-7ED5-0CC51A93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8BA3-1D00-C0D8-0F09-5BF6EA30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3: Inheritance with SavingsAccount (Child Reuses Parent Code)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8334B-974C-1923-94C9-02378C0F8266}"/>
              </a:ext>
            </a:extLst>
          </p:cNvPr>
          <p:cNvSpPr txBox="1"/>
          <p:nvPr/>
        </p:nvSpPr>
        <p:spPr>
          <a:xfrm>
            <a:off x="0" y="1225689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class inherits BankAccount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interest_rate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Child class used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add_interest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# New child method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 with interest:"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B6D54-D13F-6440-0B5E-6A544560C2C0}"/>
              </a:ext>
            </a:extLst>
          </p:cNvPr>
          <p:cNvSpPr txBox="1"/>
          <p:nvPr/>
        </p:nvSpPr>
        <p:spPr>
          <a:xfrm>
            <a:off x="8003458" y="1225689"/>
            <a:ext cx="4183626" cy="557505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ir"/>
              </a:rPr>
              <a:t>Example 2 (Encapsulation):</a:t>
            </a:r>
            <a:r>
              <a:rPr lang="en-US" altLang="en-US" sz="2400" dirty="0">
                <a:latin typeface="Calibir"/>
              </a:rPr>
              <a:t> Hide data, control access with getters/setters, add withdraw check.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ir"/>
              </a:rPr>
              <a:t>Example 3 (Encapsulation + Inheritance):</a:t>
            </a:r>
            <a:r>
              <a:rPr lang="en-US" altLang="en-US" sz="2400" dirty="0">
                <a:latin typeface="Calibir"/>
              </a:rPr>
              <a:t> Reuses parent (BankAccount), creates child (SavingsAccount) that adds new behavior (</a:t>
            </a:r>
            <a:r>
              <a:rPr lang="en-US" altLang="en-US" sz="2400" dirty="0" err="1">
                <a:latin typeface="Calibir"/>
              </a:rPr>
              <a:t>add_interest</a:t>
            </a:r>
            <a:r>
              <a:rPr lang="en-US" altLang="en-US" sz="2400" dirty="0">
                <a:latin typeface="Calibir"/>
              </a:rPr>
              <a:t>).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12CB85-DDEC-DF02-4006-4F1B53D3FF09}"/>
              </a:ext>
            </a:extLst>
          </p:cNvPr>
          <p:cNvSpPr/>
          <p:nvPr/>
        </p:nvSpPr>
        <p:spPr>
          <a:xfrm>
            <a:off x="-4916" y="5963749"/>
            <a:ext cx="6940975" cy="7819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91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3C94-5D1B-DF66-B815-3BD95CFC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641A-B4D4-E73F-4B05-90ED4FA1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A7B32-D471-DBF0-3600-317473458E79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6488C-73C8-E99E-2C4A-CF1673E9409E}"/>
              </a:ext>
            </a:extLst>
          </p:cNvPr>
          <p:cNvSpPr txBox="1"/>
          <p:nvPr/>
        </p:nvSpPr>
        <p:spPr>
          <a:xfrm>
            <a:off x="8071945" y="1159728"/>
            <a:ext cx="4120055" cy="425052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Changes in BankAccount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  Field visibility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// Example 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private String </a:t>
            </a:r>
            <a:r>
              <a:rPr lang="en-US" dirty="0" err="1">
                <a:latin typeface="Calibir"/>
              </a:rPr>
              <a:t>accountNumber</a:t>
            </a:r>
            <a:r>
              <a:rPr lang="en-US" dirty="0">
                <a:latin typeface="Calibir"/>
              </a:rPr>
              <a:t>;  // hidden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private double balance;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// Example 3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protected String </a:t>
            </a:r>
            <a:r>
              <a:rPr lang="en-US" dirty="0" err="1">
                <a:latin typeface="Calibir"/>
              </a:rPr>
              <a:t>accountNumber</a:t>
            </a:r>
            <a:r>
              <a:rPr lang="en-US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protected double balance;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3D31E-2029-EE87-64B0-152A820ED9CB}"/>
              </a:ext>
            </a:extLst>
          </p:cNvPr>
          <p:cNvSpPr txBox="1"/>
          <p:nvPr/>
        </p:nvSpPr>
        <p:spPr>
          <a:xfrm>
            <a:off x="5990898" y="5410251"/>
            <a:ext cx="6201102" cy="131818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Changed from private → protected so child classes can access the fields.</a:t>
            </a:r>
          </a:p>
        </p:txBody>
      </p:sp>
    </p:spTree>
    <p:extLst>
      <p:ext uri="{BB962C8B-B14F-4D97-AF65-F5344CB8AC3E}">
        <p14:creationId xmlns:p14="http://schemas.microsoft.com/office/powerpoint/2010/main" val="2835332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E8A1-C4BB-EF19-85FE-CA7FF9CB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03C1-8F12-8301-31A1-C03692C3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69E52-D422-5654-7C56-A7B195672D34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77F11-AADE-8834-7491-6BB9512DC194}"/>
              </a:ext>
            </a:extLst>
          </p:cNvPr>
          <p:cNvSpPr txBox="1"/>
          <p:nvPr/>
        </p:nvSpPr>
        <p:spPr>
          <a:xfrm>
            <a:off x="8071945" y="1159728"/>
            <a:ext cx="4120055" cy="480452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Removed withdraw() method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// Example 2 had: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public void withdraw(double amount)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if (amount &lt;= balance)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    balance -= amount;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} else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System.out.println</a:t>
            </a:r>
            <a:r>
              <a:rPr lang="en-US" sz="1600" dirty="0">
                <a:latin typeface="Calibir"/>
              </a:rPr>
              <a:t>("Insufficient funds!");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591CD-CB75-704D-3F55-5ED8D3145C78}"/>
              </a:ext>
            </a:extLst>
          </p:cNvPr>
          <p:cNvSpPr txBox="1"/>
          <p:nvPr/>
        </p:nvSpPr>
        <p:spPr>
          <a:xfrm>
            <a:off x="5990898" y="5536227"/>
            <a:ext cx="6201102" cy="132177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Not present in Example 3, to keep focus on inheritance.</a:t>
            </a:r>
          </a:p>
        </p:txBody>
      </p:sp>
    </p:spTree>
    <p:extLst>
      <p:ext uri="{BB962C8B-B14F-4D97-AF65-F5344CB8AC3E}">
        <p14:creationId xmlns:p14="http://schemas.microsoft.com/office/powerpoint/2010/main" val="3426123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7D95-6A46-DF0D-707A-A515F695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6844-21ED-9062-B93B-18B3142B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74F33-1175-E400-57B2-8679C7B081C7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AE1B1-C7F1-4449-A152-4E4CAC1FC989}"/>
              </a:ext>
            </a:extLst>
          </p:cNvPr>
          <p:cNvSpPr txBox="1"/>
          <p:nvPr/>
        </p:nvSpPr>
        <p:spPr>
          <a:xfrm>
            <a:off x="8071945" y="1159728"/>
            <a:ext cx="4120055" cy="2610843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Additions in Example 3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Child Class SavingsAccount</a:t>
            </a:r>
            <a:r>
              <a:rPr lang="en-US" sz="2800" dirty="0">
                <a:latin typeface="Calibir"/>
              </a:rPr>
              <a:t> extends BankAccount: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8092F9-0A8B-8E33-51F2-97C160824991}"/>
              </a:ext>
            </a:extLst>
          </p:cNvPr>
          <p:cNvSpPr/>
          <p:nvPr/>
        </p:nvSpPr>
        <p:spPr>
          <a:xfrm>
            <a:off x="0" y="4172607"/>
            <a:ext cx="5023945" cy="4939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0D11E1-269E-6D5E-E62D-61AABFE4860D}"/>
              </a:ext>
            </a:extLst>
          </p:cNvPr>
          <p:cNvCxnSpPr/>
          <p:nvPr/>
        </p:nvCxnSpPr>
        <p:spPr>
          <a:xfrm flipH="1">
            <a:off x="5129048" y="2827283"/>
            <a:ext cx="2869324" cy="13453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038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8BBA-4295-1FED-FAB1-56D2D503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77CD-41EA-F957-0D4B-AF682E5B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0047C-6925-0820-25F8-D9E113C9B563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BA65D-5982-2DFF-84DF-403163355417}"/>
              </a:ext>
            </a:extLst>
          </p:cNvPr>
          <p:cNvSpPr txBox="1"/>
          <p:nvPr/>
        </p:nvSpPr>
        <p:spPr>
          <a:xfrm>
            <a:off x="6611007" y="1159728"/>
            <a:ext cx="5580993" cy="131818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Child constructor calls parent constructor</a:t>
            </a:r>
            <a:r>
              <a:rPr lang="en-US" sz="2800" dirty="0">
                <a:latin typeface="Calibir"/>
              </a:rPr>
              <a:t> using super():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22C614-D0C5-DA08-0AF2-0851FB2E94BD}"/>
              </a:ext>
            </a:extLst>
          </p:cNvPr>
          <p:cNvSpPr/>
          <p:nvPr/>
        </p:nvSpPr>
        <p:spPr>
          <a:xfrm>
            <a:off x="0" y="4837426"/>
            <a:ext cx="8261131" cy="9028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5D80A3-AAD0-02A5-3E90-6C29E8386915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4130566" y="2477909"/>
            <a:ext cx="2480441" cy="2359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39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AC72-3686-42D8-9427-993CE44F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8489-D9C8-6A7D-4A60-E0A0B88E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91F82-81FE-B809-3A29-D8AE4F2AF62B}"/>
              </a:ext>
            </a:extLst>
          </p:cNvPr>
          <p:cNvSpPr txBox="1"/>
          <p:nvPr/>
        </p:nvSpPr>
        <p:spPr>
          <a:xfrm>
            <a:off x="0" y="1159728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class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addInterest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interestRate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A7952-194E-9AF8-D1EC-11D55973439B}"/>
              </a:ext>
            </a:extLst>
          </p:cNvPr>
          <p:cNvSpPr txBox="1"/>
          <p:nvPr/>
        </p:nvSpPr>
        <p:spPr>
          <a:xfrm>
            <a:off x="6611007" y="1159728"/>
            <a:ext cx="5580993" cy="67544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New method</a:t>
            </a:r>
            <a:r>
              <a:rPr lang="en-US" sz="2800" dirty="0">
                <a:latin typeface="Calibir"/>
              </a:rPr>
              <a:t> in child class: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F7A7B5-5F37-5791-68CB-FD4B32221CB4}"/>
              </a:ext>
            </a:extLst>
          </p:cNvPr>
          <p:cNvSpPr/>
          <p:nvPr/>
        </p:nvSpPr>
        <p:spPr>
          <a:xfrm>
            <a:off x="0" y="5698272"/>
            <a:ext cx="8261131" cy="9028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EAA8E9-AA60-2BE2-55BC-AC82A8750FDA}"/>
              </a:ext>
            </a:extLst>
          </p:cNvPr>
          <p:cNvCxnSpPr>
            <a:cxnSpLocks/>
          </p:cNvCxnSpPr>
          <p:nvPr/>
        </p:nvCxnSpPr>
        <p:spPr>
          <a:xfrm flipH="1">
            <a:off x="7693573" y="1911521"/>
            <a:ext cx="3258206" cy="37497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758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EA3E-9118-6681-A012-7EEB9E95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3BB3-E479-288F-BAD1-C2AF0BD6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555B6-9335-B914-3CBC-1F6F4E67A98C}"/>
              </a:ext>
            </a:extLst>
          </p:cNvPr>
          <p:cNvSpPr txBox="1"/>
          <p:nvPr/>
        </p:nvSpPr>
        <p:spPr>
          <a:xfrm>
            <a:off x="0" y="1159728"/>
            <a:ext cx="121920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addInterest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 with interest: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8A2C1-669D-1937-A643-A462163BF51E}"/>
              </a:ext>
            </a:extLst>
          </p:cNvPr>
          <p:cNvSpPr txBox="1"/>
          <p:nvPr/>
        </p:nvSpPr>
        <p:spPr>
          <a:xfrm>
            <a:off x="0" y="2862404"/>
            <a:ext cx="12192000" cy="334950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Changes in Main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2 (using parent only):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BankAccount acc1 = new BankAccount("12345", 1000);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acc1.deposit(500);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System.out.println("Balance after deposit: " + acc1.getBalance());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3 (using child class):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4C0057-C81B-06D4-FBBD-B21980BF4C04}"/>
              </a:ext>
            </a:extLst>
          </p:cNvPr>
          <p:cNvSpPr/>
          <p:nvPr/>
        </p:nvSpPr>
        <p:spPr>
          <a:xfrm>
            <a:off x="252248" y="1636562"/>
            <a:ext cx="8261131" cy="9028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E47CE0-46A6-0238-28CA-4ECE4822637E}"/>
              </a:ext>
            </a:extLst>
          </p:cNvPr>
          <p:cNvCxnSpPr>
            <a:cxnSpLocks/>
          </p:cNvCxnSpPr>
          <p:nvPr/>
        </p:nvCxnSpPr>
        <p:spPr>
          <a:xfrm flipV="1">
            <a:off x="6936828" y="2539448"/>
            <a:ext cx="231227" cy="476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169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AFE2-0E9B-F572-A82C-3A470FAB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A17E-46AD-48E5-48DB-61622655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3: Inheritance with SavingsAccount (Child Reuses Parent 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EEA1D-59B3-8E6F-38BB-799807F897FC}"/>
              </a:ext>
            </a:extLst>
          </p:cNvPr>
          <p:cNvSpPr txBox="1"/>
          <p:nvPr/>
        </p:nvSpPr>
        <p:spPr>
          <a:xfrm>
            <a:off x="0" y="1159728"/>
            <a:ext cx="121920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"12345"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1000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addInterest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"Balance with interest: "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acc1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getBalance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EF4A3-7C8A-8CF2-2608-DD44D27B68E7}"/>
              </a:ext>
            </a:extLst>
          </p:cNvPr>
          <p:cNvSpPr txBox="1"/>
          <p:nvPr/>
        </p:nvSpPr>
        <p:spPr>
          <a:xfrm>
            <a:off x="0" y="2862404"/>
            <a:ext cx="12192000" cy="325717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2 (Encapsulation):</a:t>
            </a:r>
            <a:r>
              <a:rPr lang="en-US" altLang="en-US" sz="2800" dirty="0">
                <a:latin typeface="Calibir"/>
              </a:rPr>
              <a:t> Focus on hiding fields with private, controlling access via getters/setters, and preventing overdrawing with withdraw().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3 (Encapsulation + Inheritance):</a:t>
            </a:r>
            <a:r>
              <a:rPr lang="en-US" altLang="en-US" sz="2800" dirty="0">
                <a:latin typeface="Calibir"/>
              </a:rPr>
              <a:t> Reuses parent BankAccount via extends, makes fields accessible with protected, adds a child class SavingsAccount with new behavior (</a:t>
            </a:r>
            <a:r>
              <a:rPr lang="en-US" altLang="en-US" sz="2800" dirty="0" err="1">
                <a:latin typeface="Calibir"/>
              </a:rPr>
              <a:t>addInterest</a:t>
            </a:r>
            <a:r>
              <a:rPr lang="en-US" altLang="en-US" sz="2800" dirty="0">
                <a:latin typeface="Calibir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34763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A7B9-8F90-C656-C642-2F130D65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86EB-22FA-5174-75FA-83F3E945E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2 (Python): Create a CheckingAccount Subclass with Overdraft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C5E6CB22-C427-0224-D6F5-734D23ECF1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9597482" y="536029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70FF6-F522-B7C2-01BB-884FE4E05A34}"/>
              </a:ext>
            </a:extLst>
          </p:cNvPr>
          <p:cNvSpPr txBox="1"/>
          <p:nvPr/>
        </p:nvSpPr>
        <p:spPr>
          <a:xfrm>
            <a:off x="0" y="818157"/>
            <a:ext cx="793966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 Activity Instructions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Task: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Add another subclass CheckingAccount that allows a one-time overdraft of $100.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7D908-78ED-DC9C-512F-F5ECB1A8CC30}"/>
              </a:ext>
            </a:extLst>
          </p:cNvPr>
          <p:cNvSpPr txBox="1"/>
          <p:nvPr/>
        </p:nvSpPr>
        <p:spPr>
          <a:xfrm>
            <a:off x="-2" y="3238639"/>
            <a:ext cx="12097407" cy="375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300" b="1" dirty="0">
                <a:latin typeface="Calibir"/>
              </a:rPr>
              <a:t>Hint for Python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Define class CheckingAccount(BankAccount):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Use super().__init__(account_number, balance) in the constructor.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Add a method withdraw(amount) that: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Allows withdrawal if amount &lt;= balance + 100.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Deducts from balance if allowed.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Prints a message if overdraft is exceeded.</a:t>
            </a:r>
          </a:p>
        </p:txBody>
      </p:sp>
    </p:spTree>
    <p:extLst>
      <p:ext uri="{BB962C8B-B14F-4D97-AF65-F5344CB8AC3E}">
        <p14:creationId xmlns:p14="http://schemas.microsoft.com/office/powerpoint/2010/main" val="134466933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A7B9-8F90-C656-C642-2F130D65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86EB-22FA-5174-75FA-83F3E945E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2 (Java): Create a CheckingAccount Subclass with Overdraft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C5E6CB22-C427-0224-D6F5-734D23ECF1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5025482" y="128316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170FF6-F522-B7C2-01BB-884FE4E05A34}"/>
              </a:ext>
            </a:extLst>
          </p:cNvPr>
          <p:cNvSpPr txBox="1"/>
          <p:nvPr/>
        </p:nvSpPr>
        <p:spPr>
          <a:xfrm>
            <a:off x="0" y="859723"/>
            <a:ext cx="1200281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Activity Instructions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Add another subclass CheckingAccount that allows a one-time overdraft of $100.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7D908-78ED-DC9C-512F-F5ECB1A8CC30}"/>
              </a:ext>
            </a:extLst>
          </p:cNvPr>
          <p:cNvSpPr txBox="1"/>
          <p:nvPr/>
        </p:nvSpPr>
        <p:spPr>
          <a:xfrm>
            <a:off x="-1" y="2707338"/>
            <a:ext cx="12097407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Hint for Java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Define class CheckingAccount extends BankAccount { ... }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Create a constructor that calls super(</a:t>
            </a:r>
            <a:r>
              <a:rPr lang="en-US" sz="2600" dirty="0" err="1">
                <a:latin typeface="Calibir"/>
              </a:rPr>
              <a:t>accountNumber</a:t>
            </a:r>
            <a:r>
              <a:rPr lang="en-US" sz="2600" dirty="0">
                <a:latin typeface="Calibir"/>
              </a:rPr>
              <a:t>, balance).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Add a method withdraw(double amount) that: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Allows withdrawal if amount &lt;= balance + 100.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Deducts from balance if allowed.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Prints "Overdraft limit exceeded!" otherwise.</a:t>
            </a:r>
          </a:p>
        </p:txBody>
      </p:sp>
    </p:spTree>
    <p:extLst>
      <p:ext uri="{BB962C8B-B14F-4D97-AF65-F5344CB8AC3E}">
        <p14:creationId xmlns:p14="http://schemas.microsoft.com/office/powerpoint/2010/main" val="86298788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8E17-8ADE-5334-23EC-7C4B40BF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F36A-D7DB-847B-BC43-32328BF5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Polymorphism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7462F-7987-AF4D-376B-F3144EBF562B}"/>
              </a:ext>
            </a:extLst>
          </p:cNvPr>
          <p:cNvSpPr txBox="1"/>
          <p:nvPr/>
        </p:nvSpPr>
        <p:spPr>
          <a:xfrm>
            <a:off x="0" y="1159728"/>
            <a:ext cx="1196525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</a:t>
            </a:r>
            <a:r>
              <a:rPr lang="en-US" sz="2800" dirty="0">
                <a:latin typeface="Calibir"/>
              </a:rPr>
              <a:t> One parent type can have many child forms.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Same method name → but each child does it in its own way.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A vehicle in Sydney transport could be a Bus, Train, or Ferry → all can move(), but each moves differently.</a:t>
            </a:r>
          </a:p>
        </p:txBody>
      </p:sp>
    </p:spTree>
    <p:extLst>
      <p:ext uri="{BB962C8B-B14F-4D97-AF65-F5344CB8AC3E}">
        <p14:creationId xmlns:p14="http://schemas.microsoft.com/office/powerpoint/2010/main" val="3918615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162C9-D500-CE1F-597E-6BF10593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CD90-001F-257D-3E35-30BCC324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F4178-4C20-4144-484D-6F2CDC502BEB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13F917-1038-37BF-6EC6-C9E8E764A0F4}"/>
              </a:ext>
            </a:extLst>
          </p:cNvPr>
          <p:cNvSpPr/>
          <p:nvPr/>
        </p:nvSpPr>
        <p:spPr>
          <a:xfrm>
            <a:off x="1" y="3077737"/>
            <a:ext cx="6568068" cy="17284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84CF9-F1A2-9D80-70CC-E24F4B2F44E5}"/>
              </a:ext>
            </a:extLst>
          </p:cNvPr>
          <p:cNvSpPr txBox="1"/>
          <p:nvPr/>
        </p:nvSpPr>
        <p:spPr>
          <a:xfrm>
            <a:off x="6975989" y="724141"/>
            <a:ext cx="5216012" cy="585923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100" b="1" dirty="0">
                <a:latin typeface="Calibir"/>
              </a:rPr>
              <a:t>Change &amp; Explanation: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Removed constructor (__init__), deposit(), and </a:t>
            </a:r>
            <a:r>
              <a:rPr lang="en-US" sz="2100" dirty="0" err="1">
                <a:latin typeface="Calibir"/>
              </a:rPr>
              <a:t>get_balance</a:t>
            </a:r>
            <a:r>
              <a:rPr lang="en-US" sz="2100" dirty="0">
                <a:latin typeface="Calibir"/>
              </a:rPr>
              <a:t>() from example 3→ these were useful for encapsulation but not needed to demonstrate polymorphism.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Added a placeholder withdraw() method → acts as a common parent method to be overridden by child classes.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This sets the stage for polymorphism: </a:t>
            </a:r>
            <a:r>
              <a:rPr lang="en-US" sz="2100" i="1" dirty="0">
                <a:latin typeface="Calibir"/>
              </a:rPr>
              <a:t>same method name, different child </a:t>
            </a:r>
            <a:r>
              <a:rPr lang="en-US" sz="2100" i="1" dirty="0" err="1">
                <a:latin typeface="Calibir"/>
              </a:rPr>
              <a:t>behaviours</a:t>
            </a:r>
            <a:r>
              <a:rPr lang="en-US" sz="21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201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62015-4449-220D-EDE7-04C5F771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3B7-FF27-0207-53EA-726689C7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E3F6A-102A-DF99-AD35-D0C41188A2E7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294D16-B9BB-D4B1-A513-0ABE3729F67D}"/>
              </a:ext>
            </a:extLst>
          </p:cNvPr>
          <p:cNvSpPr/>
          <p:nvPr/>
        </p:nvSpPr>
        <p:spPr>
          <a:xfrm>
            <a:off x="-14749" y="4760312"/>
            <a:ext cx="7138219" cy="19579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BDE7E-B03A-E8BB-6DAB-C41854DD7AC2}"/>
              </a:ext>
            </a:extLst>
          </p:cNvPr>
          <p:cNvSpPr txBox="1"/>
          <p:nvPr/>
        </p:nvSpPr>
        <p:spPr>
          <a:xfrm>
            <a:off x="7270955" y="1159728"/>
            <a:ext cx="4935795" cy="454983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SavingsAccount class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Example 3: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Constructor with super().__init__ to reuse parent fields.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Extra method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for interest calculation.</a:t>
            </a:r>
          </a:p>
        </p:txBody>
      </p:sp>
    </p:spTree>
    <p:extLst>
      <p:ext uri="{BB962C8B-B14F-4D97-AF65-F5344CB8AC3E}">
        <p14:creationId xmlns:p14="http://schemas.microsoft.com/office/powerpoint/2010/main" val="164125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D244-0B77-0BAF-0C7B-C4390AC6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4136-25E2-E6A2-4C61-C4FA6297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3D385-657A-EDBD-7A57-924C32778CE1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9D2B9C-3464-561F-F168-A09DE9AD8FF2}"/>
              </a:ext>
            </a:extLst>
          </p:cNvPr>
          <p:cNvSpPr/>
          <p:nvPr/>
        </p:nvSpPr>
        <p:spPr>
          <a:xfrm>
            <a:off x="-14749" y="4760312"/>
            <a:ext cx="7138219" cy="19579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208AE5-E8DA-E803-A730-FDB4233DE3DB}"/>
              </a:ext>
            </a:extLst>
          </p:cNvPr>
          <p:cNvSpPr txBox="1"/>
          <p:nvPr/>
        </p:nvSpPr>
        <p:spPr>
          <a:xfrm>
            <a:off x="7256205" y="724141"/>
            <a:ext cx="4935795" cy="613385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Change &amp; Explanation:</a:t>
            </a:r>
            <a:endParaRPr lang="en-US" sz="22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Constructor simplified (no account_number, no super() call) → keeps focus only on balance for withdraw testing.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add_interest</a:t>
            </a:r>
            <a:r>
              <a:rPr lang="en-US" sz="2200" dirty="0">
                <a:latin typeface="Calibir"/>
              </a:rPr>
              <a:t>() removed.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Overrides the withdraw() method → savings account blocks overdrawing.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Shows </a:t>
            </a:r>
            <a:r>
              <a:rPr lang="en-US" sz="2200" i="1" dirty="0">
                <a:latin typeface="Calibir"/>
              </a:rPr>
              <a:t>encapsulation (hidden _balance)</a:t>
            </a:r>
            <a:r>
              <a:rPr lang="en-US" sz="2200" dirty="0">
                <a:latin typeface="Calibir"/>
              </a:rPr>
              <a:t> + </a:t>
            </a:r>
            <a:r>
              <a:rPr lang="en-US" sz="2200" i="1" dirty="0">
                <a:latin typeface="Calibir"/>
              </a:rPr>
              <a:t>inheritance (extends BankAccount)</a:t>
            </a:r>
            <a:r>
              <a:rPr lang="en-US" sz="2200" dirty="0">
                <a:latin typeface="Calibir"/>
              </a:rPr>
              <a:t> + </a:t>
            </a:r>
            <a:r>
              <a:rPr lang="en-US" sz="2200" i="1" dirty="0">
                <a:latin typeface="Calibir"/>
              </a:rPr>
              <a:t>polymorphism (its own withdraw() logic)</a:t>
            </a:r>
            <a:r>
              <a:rPr lang="en-US" sz="22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801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ADBA-B2F1-8B65-8A5D-9DD79115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86AA-8334-C503-B32F-592496F9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89FA5-4119-D591-6FFE-D76DC60E7826}"/>
              </a:ext>
            </a:extLst>
          </p:cNvPr>
          <p:cNvSpPr txBox="1"/>
          <p:nvPr/>
        </p:nvSpPr>
        <p:spPr>
          <a:xfrm>
            <a:off x="1" y="1159728"/>
            <a:ext cx="1219199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parent method placeholder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FD0C2-A50B-52BA-46A0-29D06A46D457}"/>
              </a:ext>
            </a:extLst>
          </p:cNvPr>
          <p:cNvSpPr/>
          <p:nvPr/>
        </p:nvSpPr>
        <p:spPr>
          <a:xfrm>
            <a:off x="-14749" y="4760312"/>
            <a:ext cx="7138219" cy="19579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2CAF-F430-34BE-02EC-EB5EE303632D}"/>
              </a:ext>
            </a:extLst>
          </p:cNvPr>
          <p:cNvSpPr txBox="1"/>
          <p:nvPr/>
        </p:nvSpPr>
        <p:spPr>
          <a:xfrm>
            <a:off x="7256205" y="1054488"/>
            <a:ext cx="4935795" cy="58035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3. CheckingAccount class</a:t>
            </a:r>
          </a:p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New in Example 4: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New subclass to contrast with SavingsAccount.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withdraw() allows overdraft (balance can go negative).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Demonstrates polymorphism by having the same method name as SavingsAccount, but different </a:t>
            </a:r>
            <a:r>
              <a:rPr lang="en-US" sz="2500" dirty="0" err="1">
                <a:latin typeface="Calibir"/>
              </a:rPr>
              <a:t>behaviour</a:t>
            </a:r>
            <a:r>
              <a:rPr lang="en-US" sz="25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197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F993-3CED-5F30-94AF-EC1E2702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EB0DF-E928-4F02-7012-92CEF631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B1763-C5C7-6355-80DF-4877A597D62D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A3947-B4A8-9544-56D6-0E5154DA6381}"/>
              </a:ext>
            </a:extLst>
          </p:cNvPr>
          <p:cNvSpPr txBox="1"/>
          <p:nvPr/>
        </p:nvSpPr>
        <p:spPr>
          <a:xfrm>
            <a:off x="0" y="3068964"/>
            <a:ext cx="749218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4. Main / Test Code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Example 3: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acc1 = SavingsAccount("12345", 1000, 0.05)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acc1.add_interest()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print("Balance with interest:", acc1.get_balance())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B5D92-6757-C3F4-730D-15BBCCA2DD30}"/>
              </a:ext>
            </a:extLst>
          </p:cNvPr>
          <p:cNvSpPr txBox="1"/>
          <p:nvPr/>
        </p:nvSpPr>
        <p:spPr>
          <a:xfrm>
            <a:off x="7344697" y="2975610"/>
            <a:ext cx="484730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Change &amp; Explanation: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Instead of testing just one object, Example 4 tests multiple account types in a list.</a:t>
            </a:r>
          </a:p>
        </p:txBody>
      </p:sp>
    </p:spTree>
    <p:extLst>
      <p:ext uri="{BB962C8B-B14F-4D97-AF65-F5344CB8AC3E}">
        <p14:creationId xmlns:p14="http://schemas.microsoft.com/office/powerpoint/2010/main" val="877103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3249-659A-619D-AF2F-8229EB75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D8E9-F8C0-8787-A17C-C4BF1435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BC7FF-7097-84E9-CE8D-8D0DC86AE75F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F41A1-AA48-8949-BFF8-0FC482417192}"/>
              </a:ext>
            </a:extLst>
          </p:cNvPr>
          <p:cNvSpPr txBox="1"/>
          <p:nvPr/>
        </p:nvSpPr>
        <p:spPr>
          <a:xfrm>
            <a:off x="1" y="2975610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Calls the same method withdraw() on both.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Output differs depending on the object type → this is polymorphism in action.</a:t>
            </a:r>
          </a:p>
        </p:txBody>
      </p:sp>
    </p:spTree>
    <p:extLst>
      <p:ext uri="{BB962C8B-B14F-4D97-AF65-F5344CB8AC3E}">
        <p14:creationId xmlns:p14="http://schemas.microsoft.com/office/powerpoint/2010/main" val="36282689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68E6-A499-355A-C8CB-FA167A42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04EA-0C12-B801-3D49-88C29285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72297-387C-9269-6E8A-86702091B754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C3EC5-4358-8CAA-17A1-F39B383979B9}"/>
              </a:ext>
            </a:extLst>
          </p:cNvPr>
          <p:cNvSpPr txBox="1"/>
          <p:nvPr/>
        </p:nvSpPr>
        <p:spPr>
          <a:xfrm>
            <a:off x="1" y="2975610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Does Example 4 cover all OOP concepts?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Encapsulation: Yes → _balance is kept “internal”.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Inheritance: Yes → SavingsAccount and CheckingAccount inherit from BankAccount.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Polymorphism: Yes → both subclasses override the same method withdraw(), but with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921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9AF2-0DF9-4B70-54C1-8FA3C8A3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54DC-2749-0C50-8B92-0B3E321A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B90B6-5F9C-A8DC-AE22-DCA221DAD77A}"/>
              </a:ext>
            </a:extLst>
          </p:cNvPr>
          <p:cNvSpPr txBox="1"/>
          <p:nvPr/>
        </p:nvSpPr>
        <p:spPr>
          <a:xfrm>
            <a:off x="1" y="1159728"/>
            <a:ext cx="12191999" cy="181588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sz="2800" dirty="0" err="1">
                <a:solidFill>
                  <a:srgbClr val="CCCCCC"/>
                </a:solidFill>
                <a:latin typeface="Consolas" panose="020B0609020204030204" pitchFamily="49" charset="0"/>
              </a:rPr>
              <a:t>.withdraw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sz="2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# different </a:t>
            </a:r>
            <a:r>
              <a:rPr lang="en-US" sz="2800" dirty="0" err="1">
                <a:solidFill>
                  <a:srgbClr val="6A9955"/>
                </a:solidFill>
                <a:latin typeface="Consolas" panose="020B0609020204030204" pitchFamily="49" charset="0"/>
              </a:rPr>
              <a:t>behaviour</a:t>
            </a:r>
            <a:r>
              <a:rPr lang="en-US" sz="2800" dirty="0">
                <a:solidFill>
                  <a:srgbClr val="6A9955"/>
                </a:solidFill>
                <a:latin typeface="Consolas" panose="020B0609020204030204" pitchFamily="49" charset="0"/>
              </a:rPr>
              <a:t>, same method</a:t>
            </a:r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965BF-0C66-BD69-03DB-5B173159A131}"/>
              </a:ext>
            </a:extLst>
          </p:cNvPr>
          <p:cNvSpPr txBox="1"/>
          <p:nvPr/>
        </p:nvSpPr>
        <p:spPr>
          <a:xfrm>
            <a:off x="1" y="2975610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3:</a:t>
            </a:r>
            <a:r>
              <a:rPr lang="en-US" altLang="en-US" sz="2800" dirty="0">
                <a:latin typeface="Calibir"/>
              </a:rPr>
              <a:t> Encapsulation + Inheritance.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Example 4:</a:t>
            </a:r>
            <a:r>
              <a:rPr lang="en-US" altLang="en-US" sz="2800" dirty="0">
                <a:latin typeface="Calibir"/>
              </a:rPr>
              <a:t> Builds further → Encapsulation + Inheritance +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982729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27EE-61A8-FFA0-EB62-CEDEACC0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98ED-BF1A-88E2-0832-5DA95D3D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358AF-9625-357E-17DD-84D1799ADCA6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482F06-A536-4870-59E4-F08E75C59983}"/>
              </a:ext>
            </a:extLst>
          </p:cNvPr>
          <p:cNvSpPr/>
          <p:nvPr/>
        </p:nvSpPr>
        <p:spPr>
          <a:xfrm>
            <a:off x="0" y="1283110"/>
            <a:ext cx="6238568" cy="6931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0C5F8-E1E3-3823-E75E-BD449ADF373A}"/>
              </a:ext>
            </a:extLst>
          </p:cNvPr>
          <p:cNvSpPr txBox="1"/>
          <p:nvPr/>
        </p:nvSpPr>
        <p:spPr>
          <a:xfrm>
            <a:off x="7418439" y="724140"/>
            <a:ext cx="4773561" cy="6129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400" b="1" dirty="0">
                <a:latin typeface="Calibir"/>
              </a:rPr>
              <a:t>BankAccount class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Changes:</a:t>
            </a:r>
            <a:endParaRPr lang="en-US" sz="24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Removed fields (</a:t>
            </a:r>
            <a:r>
              <a:rPr lang="en-US" sz="2400" dirty="0" err="1">
                <a:latin typeface="Calibir"/>
              </a:rPr>
              <a:t>accountNumber</a:t>
            </a:r>
            <a:r>
              <a:rPr lang="en-US" sz="2400" dirty="0">
                <a:latin typeface="Calibir"/>
              </a:rPr>
              <a:t>, balance) and their constructor.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Removed deposit() and getBalance().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Added a generic withdraw() method as a placeholder → this allows child classes to override it.</a:t>
            </a:r>
          </a:p>
        </p:txBody>
      </p:sp>
    </p:spTree>
    <p:extLst>
      <p:ext uri="{BB962C8B-B14F-4D97-AF65-F5344CB8AC3E}">
        <p14:creationId xmlns:p14="http://schemas.microsoft.com/office/powerpoint/2010/main" val="41490981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7BAD-4855-6646-94C5-DAD19352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3508-DA6A-D6BC-ECBA-027CC2DB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D250A-A2B0-508C-6CEB-2585CABF8F2A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EC9180-B389-3944-3DC2-8C2461504385}"/>
              </a:ext>
            </a:extLst>
          </p:cNvPr>
          <p:cNvSpPr/>
          <p:nvPr/>
        </p:nvSpPr>
        <p:spPr>
          <a:xfrm>
            <a:off x="0" y="1283110"/>
            <a:ext cx="6238568" cy="6931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AC750-89B3-0F4D-5EC1-CC342C4B12DF}"/>
              </a:ext>
            </a:extLst>
          </p:cNvPr>
          <p:cNvSpPr txBox="1"/>
          <p:nvPr/>
        </p:nvSpPr>
        <p:spPr>
          <a:xfrm>
            <a:off x="7418439" y="994856"/>
            <a:ext cx="4773561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In polymorphism, the parent only defines the </a:t>
            </a:r>
            <a:r>
              <a:rPr lang="en-US" sz="2800" i="1" dirty="0">
                <a:latin typeface="Calibir"/>
              </a:rPr>
              <a:t>common interface</a:t>
            </a:r>
            <a:r>
              <a:rPr lang="en-US" sz="2800" dirty="0">
                <a:latin typeface="Calibir"/>
              </a:rPr>
              <a:t> (method name), while child classes provide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5713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26F6-919C-DCF4-50D9-B65CC2DC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52D5-6DA2-1E79-B520-100C0443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2F779-227B-E8A8-F02B-A85848269D88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E092EF-3DCD-37AA-AF1C-7996E55F59C2}"/>
              </a:ext>
            </a:extLst>
          </p:cNvPr>
          <p:cNvSpPr/>
          <p:nvPr/>
        </p:nvSpPr>
        <p:spPr>
          <a:xfrm>
            <a:off x="-1" y="2184079"/>
            <a:ext cx="7049729" cy="27861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544AC-D3F9-8997-D900-DB4F604ECF00}"/>
              </a:ext>
            </a:extLst>
          </p:cNvPr>
          <p:cNvSpPr txBox="1"/>
          <p:nvPr/>
        </p:nvSpPr>
        <p:spPr>
          <a:xfrm>
            <a:off x="7418439" y="994856"/>
            <a:ext cx="4773561" cy="502105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2. SavingsAccount class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Changes: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Removed constructor and interest-related code (</a:t>
            </a:r>
            <a:r>
              <a:rPr lang="en-US" sz="2400" dirty="0" err="1">
                <a:latin typeface="Calibir"/>
              </a:rPr>
              <a:t>interestRate</a:t>
            </a:r>
            <a:r>
              <a:rPr lang="en-US" sz="2400" dirty="0">
                <a:latin typeface="Calibir"/>
              </a:rPr>
              <a:t>, </a:t>
            </a:r>
            <a:r>
              <a:rPr lang="en-US" sz="2400" dirty="0" err="1">
                <a:latin typeface="Calibir"/>
              </a:rPr>
              <a:t>addInterest</a:t>
            </a:r>
            <a:r>
              <a:rPr lang="en-US" sz="2400" dirty="0">
                <a:latin typeface="Calibir"/>
              </a:rPr>
              <a:t>()).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Added its own balance field (starting at 500).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Overrides withdraw() with stricter rules (no overdraft allowed).</a:t>
            </a:r>
          </a:p>
        </p:txBody>
      </p:sp>
    </p:spTree>
    <p:extLst>
      <p:ext uri="{BB962C8B-B14F-4D97-AF65-F5344CB8AC3E}">
        <p14:creationId xmlns:p14="http://schemas.microsoft.com/office/powerpoint/2010/main" val="16920468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D2E5-66ED-5F18-6C8B-74CBA21B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C65C-30A9-DFA3-2AD4-8EE8CB34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26EA3-C747-64FA-250A-AABDBF59693A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C433AD-A28A-669A-F7EB-6D9A4C3C9D05}"/>
              </a:ext>
            </a:extLst>
          </p:cNvPr>
          <p:cNvSpPr/>
          <p:nvPr/>
        </p:nvSpPr>
        <p:spPr>
          <a:xfrm>
            <a:off x="-1" y="2184079"/>
            <a:ext cx="7049729" cy="27861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026AD-BC75-0F08-7AAF-DCF1F07B916B}"/>
              </a:ext>
            </a:extLst>
          </p:cNvPr>
          <p:cNvSpPr txBox="1"/>
          <p:nvPr/>
        </p:nvSpPr>
        <p:spPr>
          <a:xfrm>
            <a:off x="7418439" y="994856"/>
            <a:ext cx="4773561" cy="22510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Reason</a:t>
            </a:r>
            <a:r>
              <a:rPr lang="en-US" sz="2400" dirty="0">
                <a:latin typeface="Calibir"/>
              </a:rPr>
              <a:t>: Shifts focus from </a:t>
            </a:r>
            <a:r>
              <a:rPr lang="en-US" sz="2400" i="1" dirty="0">
                <a:latin typeface="Calibir"/>
              </a:rPr>
              <a:t>interest</a:t>
            </a:r>
            <a:r>
              <a:rPr lang="en-US" sz="2400" dirty="0">
                <a:latin typeface="Calibir"/>
              </a:rPr>
              <a:t> to </a:t>
            </a:r>
            <a:r>
              <a:rPr lang="en-US" sz="2400" i="1" dirty="0">
                <a:latin typeface="Calibir"/>
              </a:rPr>
              <a:t>withdrawal </a:t>
            </a:r>
            <a:r>
              <a:rPr lang="en-US" sz="2400" i="1" dirty="0" err="1">
                <a:latin typeface="Calibir"/>
              </a:rPr>
              <a:t>behaviour</a:t>
            </a:r>
            <a:r>
              <a:rPr lang="en-US" sz="2400" dirty="0">
                <a:latin typeface="Calibir"/>
              </a:rPr>
              <a:t>. This demonstrates method overriding, a key part of polymorphism.</a:t>
            </a:r>
          </a:p>
        </p:txBody>
      </p:sp>
    </p:spTree>
    <p:extLst>
      <p:ext uri="{BB962C8B-B14F-4D97-AF65-F5344CB8AC3E}">
        <p14:creationId xmlns:p14="http://schemas.microsoft.com/office/powerpoint/2010/main" val="3737491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D4C4-B01F-B332-DD08-88E2B07B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1C07-12EF-33C8-AB37-E7BF6688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D3B4F-4CC3-D160-A8BB-4A0A386F8CEB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9056DB-D1E2-0AAE-9CB9-53BAB1EF2F97}"/>
              </a:ext>
            </a:extLst>
          </p:cNvPr>
          <p:cNvSpPr/>
          <p:nvPr/>
        </p:nvSpPr>
        <p:spPr>
          <a:xfrm>
            <a:off x="0" y="4911213"/>
            <a:ext cx="7418439" cy="19615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381B4-E254-946A-7CCA-874386E315E4}"/>
              </a:ext>
            </a:extLst>
          </p:cNvPr>
          <p:cNvSpPr txBox="1"/>
          <p:nvPr/>
        </p:nvSpPr>
        <p:spPr>
          <a:xfrm>
            <a:off x="7418439" y="994856"/>
            <a:ext cx="4773561" cy="563712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3. CheckingAccount class</a:t>
            </a:r>
          </a:p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Example 3</a:t>
            </a:r>
            <a:endParaRPr lang="en-US" sz="27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Not present.</a:t>
            </a:r>
          </a:p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Addition:</a:t>
            </a:r>
            <a:endParaRPr lang="en-US" sz="2700" dirty="0">
              <a:latin typeface="Calibi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Introduced a new child class CheckingAccount.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Overrides withdraw() differently → allows overdraft (balance may go negative).</a:t>
            </a:r>
          </a:p>
        </p:txBody>
      </p:sp>
    </p:spTree>
    <p:extLst>
      <p:ext uri="{BB962C8B-B14F-4D97-AF65-F5344CB8AC3E}">
        <p14:creationId xmlns:p14="http://schemas.microsoft.com/office/powerpoint/2010/main" val="635098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63C3-80B4-FC80-96C8-ACFBA5DC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FBD0-46C2-44E2-6388-D581C5CC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9C6D3-923A-B389-935C-6AEC47E0F979}"/>
              </a:ext>
            </a:extLst>
          </p:cNvPr>
          <p:cNvSpPr txBox="1"/>
          <p:nvPr/>
        </p:nvSpPr>
        <p:spPr>
          <a:xfrm>
            <a:off x="0" y="994856"/>
            <a:ext cx="12192000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"Generic withdrawal"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"Insufficient funds in savings!"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5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5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3FC65-B592-1DC0-369C-7CA341933F49}"/>
              </a:ext>
            </a:extLst>
          </p:cNvPr>
          <p:cNvSpPr txBox="1"/>
          <p:nvPr/>
        </p:nvSpPr>
        <p:spPr>
          <a:xfrm>
            <a:off x="7418439" y="994856"/>
            <a:ext cx="4773561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Having at least two subclasses makes polymorphism visible: </a:t>
            </a:r>
            <a:r>
              <a:rPr lang="en-US" sz="2800" i="1" dirty="0">
                <a:latin typeface="Calibir"/>
              </a:rPr>
              <a:t>same method name, different results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FC5EF2-EE6F-F406-897B-FE59F1FE9542}"/>
              </a:ext>
            </a:extLst>
          </p:cNvPr>
          <p:cNvSpPr/>
          <p:nvPr/>
        </p:nvSpPr>
        <p:spPr>
          <a:xfrm>
            <a:off x="0" y="4911213"/>
            <a:ext cx="7418439" cy="196153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578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77CC-66CA-FB06-6E7E-35BE638A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476B-101F-6560-C20D-D96F3D18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CCA57-0448-6CB4-0D7E-192A77D4CC13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762BAB-D7A2-BC3A-D726-C6A205832C2F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923FA-4B01-93F6-46B0-A6C73016AB27}"/>
              </a:ext>
            </a:extLst>
          </p:cNvPr>
          <p:cNvSpPr txBox="1"/>
          <p:nvPr/>
        </p:nvSpPr>
        <p:spPr>
          <a:xfrm>
            <a:off x="0" y="3468052"/>
            <a:ext cx="1203468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4. Main Method: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Changes:</a:t>
            </a:r>
            <a:endParaRPr lang="en-US" sz="28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Instead of working with one SavingsAccount, Example 4 creates an array of different account types.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Calls the same method (withdraw()) on both objects in a loop.</a:t>
            </a:r>
          </a:p>
        </p:txBody>
      </p:sp>
    </p:spTree>
    <p:extLst>
      <p:ext uri="{BB962C8B-B14F-4D97-AF65-F5344CB8AC3E}">
        <p14:creationId xmlns:p14="http://schemas.microsoft.com/office/powerpoint/2010/main" val="14569905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2CE2-B721-8774-7F10-68ADAF05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9C78-B30C-5983-1BA0-D3EB6189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5F859-FE68-D7A4-DA78-E05750A2A721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C58598-AC2F-176F-F97B-53DA396A64BD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DDB74-313D-883D-EA3E-F01B9D102B56}"/>
              </a:ext>
            </a:extLst>
          </p:cNvPr>
          <p:cNvSpPr txBox="1"/>
          <p:nvPr/>
        </p:nvSpPr>
        <p:spPr>
          <a:xfrm>
            <a:off x="0" y="3468052"/>
            <a:ext cx="12034684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Reason: </a:t>
            </a:r>
            <a:r>
              <a:rPr lang="en-US" sz="2800" dirty="0">
                <a:latin typeface="Calibir"/>
              </a:rPr>
              <a:t>This demonstrates polymorphism in action — the method call depends on the object type, not the variable type.</a:t>
            </a:r>
          </a:p>
        </p:txBody>
      </p:sp>
    </p:spTree>
    <p:extLst>
      <p:ext uri="{BB962C8B-B14F-4D97-AF65-F5344CB8AC3E}">
        <p14:creationId xmlns:p14="http://schemas.microsoft.com/office/powerpoint/2010/main" val="1103787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5938-68D2-8579-B6B2-04786FBB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C855-987C-E14E-72EF-99A9D257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4474B-A1CC-39F6-CCDD-08678852E7BD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0DF47A-5A19-4638-59ED-534C63C018CF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EBB64-D07E-6AF7-8120-5E8125A0DD26}"/>
              </a:ext>
            </a:extLst>
          </p:cNvPr>
          <p:cNvSpPr txBox="1"/>
          <p:nvPr/>
        </p:nvSpPr>
        <p:spPr>
          <a:xfrm>
            <a:off x="0" y="3468052"/>
            <a:ext cx="12034684" cy="3031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Does Example 4 include Encapsulation, Inheritance, and Polymorphism?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Encapsulation:</a:t>
            </a:r>
            <a:r>
              <a:rPr lang="en-US" sz="2600" dirty="0">
                <a:latin typeface="Calibir"/>
              </a:rPr>
              <a:t>  Yes — balance is still private in child classes.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Inheritance:</a:t>
            </a:r>
            <a:r>
              <a:rPr lang="en-US" sz="2600" dirty="0">
                <a:latin typeface="Calibir"/>
              </a:rPr>
              <a:t>  Yes — both SavingsAccount and CheckingAccount extend BankAccount.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Polymorphism:</a:t>
            </a:r>
            <a:r>
              <a:rPr lang="en-US" sz="2600" dirty="0">
                <a:latin typeface="Calibir"/>
              </a:rPr>
              <a:t>  Yes — withdraw() behaves differently depending on whether the object is a savings or checking account.</a:t>
            </a:r>
          </a:p>
        </p:txBody>
      </p:sp>
    </p:spTree>
    <p:extLst>
      <p:ext uri="{BB962C8B-B14F-4D97-AF65-F5344CB8AC3E}">
        <p14:creationId xmlns:p14="http://schemas.microsoft.com/office/powerpoint/2010/main" val="168020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EF5A-62FB-EC8D-879B-333F0DFC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2329-3DF7-09E4-43E3-F47F9DA9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4: Polymorphism with BankAccount (Same Method, Different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37C6E-DC12-6686-2F41-65C645C48AD4}"/>
              </a:ext>
            </a:extLst>
          </p:cNvPr>
          <p:cNvSpPr txBox="1"/>
          <p:nvPr/>
        </p:nvSpPr>
        <p:spPr>
          <a:xfrm>
            <a:off x="0" y="1159728"/>
            <a:ext cx="12192000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different outcomes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774E8E-6F80-E7CE-91C4-DEE9F1424AFA}"/>
              </a:ext>
            </a:extLst>
          </p:cNvPr>
          <p:cNvSpPr/>
          <p:nvPr/>
        </p:nvSpPr>
        <p:spPr>
          <a:xfrm>
            <a:off x="0" y="1159728"/>
            <a:ext cx="12192000" cy="2308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CAB05-0C6F-B449-41A2-0F96D603C7BF}"/>
              </a:ext>
            </a:extLst>
          </p:cNvPr>
          <p:cNvSpPr txBox="1"/>
          <p:nvPr/>
        </p:nvSpPr>
        <p:spPr>
          <a:xfrm>
            <a:off x="0" y="3468052"/>
            <a:ext cx="1203468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Summary: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3:</a:t>
            </a:r>
            <a:r>
              <a:rPr lang="en-US" sz="2800" dirty="0">
                <a:latin typeface="Calibir"/>
              </a:rPr>
              <a:t> Encapsulation + Inheritance (focus on reusing parent code, interest calculation).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4:</a:t>
            </a:r>
            <a:r>
              <a:rPr lang="en-US" sz="2800" dirty="0">
                <a:latin typeface="Calibir"/>
              </a:rPr>
              <a:t> Encapsulation + Inheritance + Polymorphism (focus on overriding the same method in different subclasses).</a:t>
            </a:r>
          </a:p>
        </p:txBody>
      </p:sp>
    </p:spTree>
    <p:extLst>
      <p:ext uri="{BB962C8B-B14F-4D97-AF65-F5344CB8AC3E}">
        <p14:creationId xmlns:p14="http://schemas.microsoft.com/office/powerpoint/2010/main" val="30842217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37A6-7BBA-B095-0D07-AC25A41F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6E32-F834-2929-875B-FEFC3BB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(Python):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F45F2-83EA-1D74-5A7F-037BB3E456EE}"/>
              </a:ext>
            </a:extLst>
          </p:cNvPr>
          <p:cNvSpPr txBox="1"/>
          <p:nvPr/>
        </p:nvSpPr>
        <p:spPr>
          <a:xfrm>
            <a:off x="94593" y="1477248"/>
            <a:ext cx="1200281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 </a:t>
            </a:r>
            <a:r>
              <a:rPr lang="en-US" sz="2800" dirty="0">
                <a:latin typeface="Calibir"/>
              </a:rPr>
              <a:t>Add a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 method to both SavingsAccount and CheckingAccount classes.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Implement the method so it returns the current balance.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After performing withdrawals, call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 for each account.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Print the balances to verify the results (Savings should block overdraft, Checking may go negative).</a:t>
            </a:r>
          </a:p>
        </p:txBody>
      </p:sp>
    </p:spTree>
    <p:extLst>
      <p:ext uri="{BB962C8B-B14F-4D97-AF65-F5344CB8AC3E}">
        <p14:creationId xmlns:p14="http://schemas.microsoft.com/office/powerpoint/2010/main" val="30001450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37A6-7BBA-B095-0D07-AC25A41F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6E32-F834-2929-875B-FEFC3BB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(Python):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99C56B5F-718D-86AD-17F0-A911085F94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4936273" y="1294312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2AA2B2-987B-06C1-B05C-AD83ED5F9D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15" t="30731" r="8993" b="18873"/>
          <a:stretch>
            <a:fillRect/>
          </a:stretch>
        </p:blipFill>
        <p:spPr>
          <a:xfrm>
            <a:off x="167268" y="2620537"/>
            <a:ext cx="11474605" cy="3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9256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37A6-7BBA-B095-0D07-AC25A41F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6E32-F834-2929-875B-FEFC3BB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(Java):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362E7D-FFFE-DD2C-786A-04557EC4C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8" t="13334" r="8628" b="17724"/>
          <a:stretch>
            <a:fillRect/>
          </a:stretch>
        </p:blipFill>
        <p:spPr>
          <a:xfrm>
            <a:off x="0" y="1064941"/>
            <a:ext cx="12192000" cy="57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885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3A88-9B4D-146B-5F4C-B93B04A9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E023-A992-B4A9-E931-1EE6B021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 (Java): Adding a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get_balance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Method (Encapsulation + Polymorphism)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6F4D8-648F-850A-EAFD-5CAE18400611}"/>
              </a:ext>
            </a:extLst>
          </p:cNvPr>
          <p:cNvSpPr txBox="1"/>
          <p:nvPr/>
        </p:nvSpPr>
        <p:spPr>
          <a:xfrm>
            <a:off x="0" y="1683835"/>
            <a:ext cx="1199871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task reinforces: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</a:t>
            </a:r>
            <a:r>
              <a:rPr lang="en-US" sz="2800" dirty="0">
                <a:latin typeface="Calibir"/>
              </a:rPr>
              <a:t> → balance is private/hidden, accessed only through a getter.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 → different withdraw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 still lead to correct balance reporting.</a:t>
            </a:r>
          </a:p>
        </p:txBody>
      </p:sp>
    </p:spTree>
    <p:extLst>
      <p:ext uri="{BB962C8B-B14F-4D97-AF65-F5344CB8AC3E}">
        <p14:creationId xmlns:p14="http://schemas.microsoft.com/office/powerpoint/2010/main" val="29477896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CC75-4803-2F3E-56F8-91354DE4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559C-8816-BB8A-0734-62094A0E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Abstraction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1765F-4526-DCF6-43A8-E9DB1300D550}"/>
              </a:ext>
            </a:extLst>
          </p:cNvPr>
          <p:cNvSpPr txBox="1"/>
          <p:nvPr/>
        </p:nvSpPr>
        <p:spPr>
          <a:xfrm>
            <a:off x="0" y="1159728"/>
            <a:ext cx="1196525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 </a:t>
            </a:r>
            <a:r>
              <a:rPr lang="en-US" sz="2800" dirty="0">
                <a:latin typeface="Calibir"/>
              </a:rPr>
              <a:t>Show what to do, hide how it’s done.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an abstract class or interface → it defines methods, but no details.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Child classes then provide the actual code.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Driving a car → you just use the steering wheel and pedals, but you don’t see how the engine works inside.</a:t>
            </a:r>
          </a:p>
        </p:txBody>
      </p:sp>
    </p:spTree>
    <p:extLst>
      <p:ext uri="{BB962C8B-B14F-4D97-AF65-F5344CB8AC3E}">
        <p14:creationId xmlns:p14="http://schemas.microsoft.com/office/powerpoint/2010/main" val="10259596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C421-0F7C-2ECB-23C3-7B870D0B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FDD9-B513-A66F-2E78-3CFE3719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8584F-7D6A-C575-2A20-60D850918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DC96C5-8D0B-CB84-2F50-3B2E3ED70DFC}"/>
              </a:ext>
            </a:extLst>
          </p:cNvPr>
          <p:cNvSpPr txBox="1"/>
          <p:nvPr/>
        </p:nvSpPr>
        <p:spPr>
          <a:xfrm>
            <a:off x="6001408" y="1111468"/>
            <a:ext cx="6190592" cy="40722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b="1" dirty="0">
                <a:latin typeface="Calibir"/>
              </a:rPr>
              <a:t>1. Parent Class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Example 4: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class BankAccount: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    def withdraw(self, amount):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        pass  # parent method placeholder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→ Regular class, withdraw() is just a placeholder but can still be called directly.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9196AE-0DC0-495E-312E-2F95FF5CA437}"/>
              </a:ext>
            </a:extLst>
          </p:cNvPr>
          <p:cNvSpPr/>
          <p:nvPr/>
        </p:nvSpPr>
        <p:spPr>
          <a:xfrm>
            <a:off x="1" y="1111468"/>
            <a:ext cx="5202620" cy="20311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71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0B87-D9E7-6EF7-A084-A2FC644F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C748-91BA-461D-5708-EB4CB6B6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9379F8-B8CE-A47A-977A-050FBD68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3AE133-124A-CED0-4C25-EE1050929788}"/>
              </a:ext>
            </a:extLst>
          </p:cNvPr>
          <p:cNvSpPr txBox="1"/>
          <p:nvPr/>
        </p:nvSpPr>
        <p:spPr>
          <a:xfrm>
            <a:off x="5276193" y="867675"/>
            <a:ext cx="6915807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1113" indent="-11113">
              <a:lnSpc>
                <a:spcPct val="150000"/>
              </a:lnSpc>
            </a:pPr>
            <a:r>
              <a:rPr lang="en-US" sz="2700" dirty="0">
                <a:latin typeface="Calibir"/>
              </a:rPr>
              <a:t>Example 5:</a:t>
            </a:r>
            <a:br>
              <a:rPr lang="en-US" sz="2700" dirty="0">
                <a:latin typeface="Calibir"/>
              </a:rPr>
            </a:br>
            <a:r>
              <a:rPr lang="en-US" sz="2700" dirty="0">
                <a:latin typeface="Calibir"/>
              </a:rPr>
              <a:t>→ Becomes an abstract class using ABC and @abstractmethod.</a:t>
            </a:r>
            <a:br>
              <a:rPr lang="en-US" sz="2700" dirty="0">
                <a:latin typeface="Calibir"/>
              </a:rPr>
            </a:br>
            <a:r>
              <a:rPr lang="en-US" sz="2700" dirty="0">
                <a:latin typeface="Calibir"/>
              </a:rPr>
              <a:t>→ Cannot create objects of BankAccount directly.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Why: Abstraction forces child classes to provide their own withdraw() method.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39F409-32D1-CA19-E062-493852723191}"/>
              </a:ext>
            </a:extLst>
          </p:cNvPr>
          <p:cNvSpPr/>
          <p:nvPr/>
        </p:nvSpPr>
        <p:spPr>
          <a:xfrm>
            <a:off x="1" y="1111468"/>
            <a:ext cx="5202620" cy="20311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382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2026-94CF-8897-2D3D-59436BC5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9D27-4FF1-3C4B-E07B-7C3C9A63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4917A8-BBB4-9D47-A786-4D2CA726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476718-7C62-1924-F16F-6F835B9F8E92}"/>
              </a:ext>
            </a:extLst>
          </p:cNvPr>
          <p:cNvSpPr txBox="1"/>
          <p:nvPr/>
        </p:nvSpPr>
        <p:spPr>
          <a:xfrm>
            <a:off x="5276193" y="869730"/>
            <a:ext cx="6915807" cy="46493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2. Child Classes</a:t>
            </a:r>
          </a:p>
          <a:p>
            <a:pPr marL="4524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Example 4: Had two child classes (SavingsAccount, CheckingAccount) that overrode withdraw().</a:t>
            </a:r>
          </a:p>
          <a:p>
            <a:pPr marL="45243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Example 5: Only defines one child class (SavingsAccount) so far.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Why: Focus is on showing how abstraction works, not polymorphism yet.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854EF2-44A6-C8B6-1099-283665627194}"/>
              </a:ext>
            </a:extLst>
          </p:cNvPr>
          <p:cNvSpPr/>
          <p:nvPr/>
        </p:nvSpPr>
        <p:spPr>
          <a:xfrm>
            <a:off x="0" y="3375875"/>
            <a:ext cx="5192110" cy="25099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814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9816-8741-B24D-5B95-CE0F4BA1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05C4-3C6F-82D5-3A92-C03EAC51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25DF1-3D2A-A781-4C23-D0639C86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DCBC4E-A056-E1A6-8848-643B22C4D8C7}"/>
              </a:ext>
            </a:extLst>
          </p:cNvPr>
          <p:cNvSpPr txBox="1"/>
          <p:nvPr/>
        </p:nvSpPr>
        <p:spPr>
          <a:xfrm>
            <a:off x="5276193" y="869730"/>
            <a:ext cx="6915807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3. Method </a:t>
            </a:r>
            <a:r>
              <a:rPr lang="en-US" sz="2800" b="1" dirty="0" err="1">
                <a:latin typeface="Calibir"/>
              </a:rPr>
              <a:t>Behaviour</a:t>
            </a:r>
            <a:endParaRPr lang="en-US" sz="2800" b="1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 4 (SavingsAccount):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print("Savings withdrawal successful")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 5 (SavingsAccount):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print("Withdrawn from Savings")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Simpler wording, but both show that the child must provide its own logic.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46289F-DB0D-726A-938F-27DCF69D64C8}"/>
              </a:ext>
            </a:extLst>
          </p:cNvPr>
          <p:cNvSpPr/>
          <p:nvPr/>
        </p:nvSpPr>
        <p:spPr>
          <a:xfrm>
            <a:off x="-1" y="5519080"/>
            <a:ext cx="5759669" cy="4008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396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E04F-B4CF-8E16-1844-322E8848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AAA2-23EB-50D1-FB01-2C39F042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E953D6-23CB-1796-7023-B73A81A08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A4CFC-F8F9-D7B1-B00A-E32FD802C698}"/>
              </a:ext>
            </a:extLst>
          </p:cNvPr>
          <p:cNvSpPr txBox="1"/>
          <p:nvPr/>
        </p:nvSpPr>
        <p:spPr>
          <a:xfrm>
            <a:off x="5276193" y="869730"/>
            <a:ext cx="6915807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4. Usage / Execution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4: </a:t>
            </a:r>
            <a:r>
              <a:rPr lang="en-US" sz="2800" dirty="0">
                <a:latin typeface="Calibir"/>
              </a:rPr>
              <a:t>Created a list of different account types → showed polymorphism in action.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Example 5: </a:t>
            </a:r>
            <a:r>
              <a:rPr lang="en-US" sz="2800" dirty="0">
                <a:latin typeface="Calibir"/>
              </a:rPr>
              <a:t>Only defines the abstract structure and one subclass → focuses on abstraction, not polymorphic testing.</a:t>
            </a:r>
          </a:p>
        </p:txBody>
      </p:sp>
    </p:spTree>
    <p:extLst>
      <p:ext uri="{BB962C8B-B14F-4D97-AF65-F5344CB8AC3E}">
        <p14:creationId xmlns:p14="http://schemas.microsoft.com/office/powerpoint/2010/main" val="40828722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BE215-1027-0713-32B0-AB4B683E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8C33-AFF6-51FE-2D1E-07628B72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5: Abstraction with BankAccount (Using Abstract Class)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F1AF43-5DAA-16DC-B5DB-2B296A063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14406" r="8878" b="18008"/>
          <a:stretch>
            <a:fillRect/>
          </a:stretch>
        </p:blipFill>
        <p:spPr>
          <a:xfrm>
            <a:off x="0" y="1111468"/>
            <a:ext cx="12192000" cy="5542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E7D872-E9DC-3474-1FCA-AF6A040183F2}"/>
              </a:ext>
            </a:extLst>
          </p:cNvPr>
          <p:cNvSpPr txBox="1"/>
          <p:nvPr/>
        </p:nvSpPr>
        <p:spPr>
          <a:xfrm>
            <a:off x="4614041" y="579864"/>
            <a:ext cx="7577959" cy="50138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Summary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Calibir"/>
              </a:rPr>
              <a:t>Example 4 (Polymorphism):</a:t>
            </a:r>
            <a:r>
              <a:rPr lang="en-US" sz="2700" dirty="0">
                <a:latin typeface="Calibir"/>
              </a:rPr>
              <a:t> Same method name (withdraw) → different </a:t>
            </a:r>
            <a:r>
              <a:rPr lang="en-US" sz="2700" dirty="0" err="1">
                <a:latin typeface="Calibir"/>
              </a:rPr>
              <a:t>behaviours</a:t>
            </a:r>
            <a:r>
              <a:rPr lang="en-US" sz="2700" dirty="0">
                <a:latin typeface="Calibir"/>
              </a:rPr>
              <a:t> depending on account type.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Calibir"/>
              </a:rPr>
              <a:t>Example 5 (Abstraction):</a:t>
            </a:r>
            <a:r>
              <a:rPr lang="en-US" sz="2700" dirty="0">
                <a:latin typeface="Calibir"/>
              </a:rPr>
              <a:t> Parent class only defines what must exist (withdraw) but hides how it </a:t>
            </a:r>
            <a:r>
              <a:rPr lang="en-US" sz="2700" b="1" dirty="0">
                <a:latin typeface="Calibir"/>
              </a:rPr>
              <a:t>works</a:t>
            </a:r>
            <a:r>
              <a:rPr lang="en-US" sz="2700" dirty="0">
                <a:latin typeface="Calibir"/>
              </a:rPr>
              <a:t>. Child classes must implement the details.</a:t>
            </a:r>
          </a:p>
        </p:txBody>
      </p:sp>
    </p:spTree>
    <p:extLst>
      <p:ext uri="{BB962C8B-B14F-4D97-AF65-F5344CB8AC3E}">
        <p14:creationId xmlns:p14="http://schemas.microsoft.com/office/powerpoint/2010/main" val="20873703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F201-1F2D-45A9-9DFF-9B08E499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EA14-874B-C6E6-6B9C-7D5F0A71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275B2-814E-79FB-F794-3E288D73E9A5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34E4E-2C54-7C01-F253-406DB60AE76D}"/>
              </a:ext>
            </a:extLst>
          </p:cNvPr>
          <p:cNvSpPr txBox="1"/>
          <p:nvPr/>
        </p:nvSpPr>
        <p:spPr>
          <a:xfrm>
            <a:off x="7168054" y="1159728"/>
            <a:ext cx="5023945" cy="51181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1. Parent Class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Calibir"/>
              </a:rPr>
              <a:t>Example 4: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class BankAccount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public void withdraw(double amount)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System.out.println</a:t>
            </a:r>
            <a:r>
              <a:rPr lang="en-US" sz="2200" dirty="0">
                <a:latin typeface="Calibir"/>
              </a:rPr>
              <a:t>("Generic withdrawal");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→ Regular class, withdraw() has a default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E7B70F-903B-74C6-F37E-01F46300A4B8}"/>
              </a:ext>
            </a:extLst>
          </p:cNvPr>
          <p:cNvSpPr/>
          <p:nvPr/>
        </p:nvSpPr>
        <p:spPr>
          <a:xfrm>
            <a:off x="0" y="1159728"/>
            <a:ext cx="6611007" cy="11597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373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FEB55-1410-1AE5-AF81-D19BCBE2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95C6-C604-AEC4-1DA6-0F2AD759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9F60B-31EF-D0D1-CB72-B64BA6F56A74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FF7EF-6A36-AC1C-02EF-C0A83211733E}"/>
              </a:ext>
            </a:extLst>
          </p:cNvPr>
          <p:cNvSpPr txBox="1"/>
          <p:nvPr/>
        </p:nvSpPr>
        <p:spPr>
          <a:xfrm>
            <a:off x="7168054" y="1159728"/>
            <a:ext cx="5023945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Example 5: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→ Now declared abstract.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withdraw() is an abstract method → no body.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Why: Abstract parent enforces that all subclasses must implement withdraw().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FDE90A-EC1F-F0A7-D985-D31BB1318E35}"/>
              </a:ext>
            </a:extLst>
          </p:cNvPr>
          <p:cNvSpPr/>
          <p:nvPr/>
        </p:nvSpPr>
        <p:spPr>
          <a:xfrm>
            <a:off x="0" y="1159728"/>
            <a:ext cx="6611007" cy="11597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17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112E-7BB8-9E2B-BEAB-7A4212A8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CC64-1BE6-719F-B0AA-662136D1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FF45E-1320-BC47-04A5-88EA8DEED8C4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00C61-A7B8-ED71-08A8-52A69928B413}"/>
              </a:ext>
            </a:extLst>
          </p:cNvPr>
          <p:cNvSpPr txBox="1"/>
          <p:nvPr/>
        </p:nvSpPr>
        <p:spPr>
          <a:xfrm>
            <a:off x="7168055" y="1231972"/>
            <a:ext cx="5023945" cy="56260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2. Child Classes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Example 4:</a:t>
            </a:r>
            <a:endParaRPr lang="en-US" sz="2200" dirty="0">
              <a:latin typeface="Calibir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SavingsAccount (with withdraw logic)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CheckingAccount (with different withdraw logic)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Example 5:</a:t>
            </a:r>
            <a:endParaRPr lang="en-US" sz="2200" dirty="0">
              <a:latin typeface="Calibir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Only SavingsAccount remains.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ir"/>
              </a:rPr>
              <a:t>- Implements the required withdraw() method.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Why:</a:t>
            </a:r>
            <a:r>
              <a:rPr lang="en-US" sz="2200" dirty="0">
                <a:latin typeface="Calibir"/>
              </a:rPr>
              <a:t> Focus shifts to showing abstraction, not polymorphism.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2EFC7A-9F05-C6A3-92C5-6A1312CB00B1}"/>
              </a:ext>
            </a:extLst>
          </p:cNvPr>
          <p:cNvSpPr/>
          <p:nvPr/>
        </p:nvSpPr>
        <p:spPr>
          <a:xfrm>
            <a:off x="0" y="2269273"/>
            <a:ext cx="6611007" cy="19874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054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B65F-E944-FC75-F95D-808E456A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5363-94F7-F4A3-CB4C-2994E898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168055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3F1C6-54E0-0014-C7F8-82D4D89D6D50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1D46C-10DB-9C15-4515-93831DAD519A}"/>
              </a:ext>
            </a:extLst>
          </p:cNvPr>
          <p:cNvSpPr txBox="1"/>
          <p:nvPr/>
        </p:nvSpPr>
        <p:spPr>
          <a:xfrm>
            <a:off x="7168055" y="233193"/>
            <a:ext cx="5023945" cy="62818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3. Main Method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Example 4: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public static void main(String[] args)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BankAccount[] accounts = {new SavingsAccount(), new CheckingAccount()};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for (BankAccount acc : accounts)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acc.withdraw</a:t>
            </a:r>
            <a:r>
              <a:rPr lang="en-US" dirty="0">
                <a:latin typeface="Calibir"/>
              </a:rPr>
              <a:t>(600); // different outcomes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→ Tests polymorphism across multiple account types.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Example 5:</a:t>
            </a:r>
            <a:br>
              <a:rPr lang="en-US" dirty="0">
                <a:latin typeface="Calibir"/>
              </a:rPr>
            </a:br>
            <a:r>
              <a:rPr lang="en-US" dirty="0">
                <a:latin typeface="Calibir"/>
              </a:rPr>
              <a:t>→ No main class provided yet.</a:t>
            </a:r>
            <a:br>
              <a:rPr lang="en-US" dirty="0">
                <a:latin typeface="Calibir"/>
              </a:rPr>
            </a:br>
            <a:r>
              <a:rPr lang="en-US" dirty="0">
                <a:latin typeface="Calibir"/>
              </a:rPr>
              <a:t>→ Example just demonstrates that BankAccount is abstract and must be extended.</a:t>
            </a:r>
          </a:p>
        </p:txBody>
      </p:sp>
    </p:spTree>
    <p:extLst>
      <p:ext uri="{BB962C8B-B14F-4D97-AF65-F5344CB8AC3E}">
        <p14:creationId xmlns:p14="http://schemas.microsoft.com/office/powerpoint/2010/main" val="24108894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227D-6E28-310F-A770-81551F9C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CBDF-5427-410C-019E-E9B3C8CC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168055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E46A4-1C7E-71B1-F781-2F32ADFE5478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90823-B285-0EDB-1126-259F324E7BDB}"/>
              </a:ext>
            </a:extLst>
          </p:cNvPr>
          <p:cNvSpPr txBox="1"/>
          <p:nvPr/>
        </p:nvSpPr>
        <p:spPr>
          <a:xfrm>
            <a:off x="7168055" y="-111601"/>
            <a:ext cx="5023945" cy="69696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ir"/>
              </a:rPr>
              <a:t>Does Example 5 (Python) cover all OOP concepts?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Encapsulation:</a:t>
            </a:r>
            <a:r>
              <a:rPr lang="en-US" sz="2000" dirty="0">
                <a:latin typeface="Calibir"/>
              </a:rPr>
              <a:t>  Not covered (balance is directly stored in _balance, but no </a:t>
            </a:r>
            <a:r>
              <a:rPr lang="en-US" sz="2000" dirty="0" err="1">
                <a:latin typeface="Calibir"/>
              </a:rPr>
              <a:t>get_balance</a:t>
            </a:r>
            <a:r>
              <a:rPr lang="en-US" sz="2000" dirty="0">
                <a:latin typeface="Calibir"/>
              </a:rPr>
              <a:t>() or other controlled access method).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Inheritance:</a:t>
            </a:r>
            <a:r>
              <a:rPr lang="en-US" sz="2000" dirty="0">
                <a:latin typeface="Calibir"/>
              </a:rPr>
              <a:t>  Covered (child class SavingsAccount inherits from BankAccount).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Polymorphism:</a:t>
            </a:r>
            <a:r>
              <a:rPr lang="en-US" sz="2000" dirty="0">
                <a:latin typeface="Calibir"/>
              </a:rPr>
              <a:t>  Not shown (only one subclass, so no “same method, different </a:t>
            </a:r>
            <a:r>
              <a:rPr lang="en-US" sz="2000" dirty="0" err="1">
                <a:latin typeface="Calibir"/>
              </a:rPr>
              <a:t>behaviours</a:t>
            </a:r>
            <a:r>
              <a:rPr lang="en-US" sz="2000" dirty="0">
                <a:latin typeface="Calibir"/>
              </a:rPr>
              <a:t>”).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ir"/>
              </a:rPr>
              <a:t>Abstraction:</a:t>
            </a:r>
            <a:r>
              <a:rPr lang="en-US" sz="2000" dirty="0">
                <a:latin typeface="Calibir"/>
              </a:rPr>
              <a:t>  Covered (abstract class BankAccount with abstract method withdraw).</a:t>
            </a:r>
          </a:p>
        </p:txBody>
      </p:sp>
    </p:spTree>
    <p:extLst>
      <p:ext uri="{BB962C8B-B14F-4D97-AF65-F5344CB8AC3E}">
        <p14:creationId xmlns:p14="http://schemas.microsoft.com/office/powerpoint/2010/main" val="26366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D633A-F9B7-711C-EAF7-1FF0631A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83B1-D558-4657-976A-E11B027E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168055" cy="1159727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5: Abstraction with BankAccount (Using Abstract Class)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2ACC1-B4F6-6634-4846-D42E43917326}"/>
              </a:ext>
            </a:extLst>
          </p:cNvPr>
          <p:cNvSpPr txBox="1"/>
          <p:nvPr/>
        </p:nvSpPr>
        <p:spPr>
          <a:xfrm>
            <a:off x="0" y="1159729"/>
            <a:ext cx="12192000" cy="53553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"Withdrawn from Savings"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8D30A-AAC9-24DC-BA53-8660E783E2F4}"/>
              </a:ext>
            </a:extLst>
          </p:cNvPr>
          <p:cNvSpPr txBox="1"/>
          <p:nvPr/>
        </p:nvSpPr>
        <p:spPr>
          <a:xfrm>
            <a:off x="7168055" y="0"/>
            <a:ext cx="5023945" cy="64084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Calibir"/>
              </a:rPr>
              <a:t>Summary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Python Example 5: Focuses purely on abstraction.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Missing encapsulation (no getters/setters).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Missing polymorphism (needs multiple subclasses with different withdraw() </a:t>
            </a:r>
            <a:r>
              <a:rPr lang="en-US" sz="2300" dirty="0" err="1">
                <a:latin typeface="Calibir"/>
              </a:rPr>
              <a:t>behaviours</a:t>
            </a:r>
            <a:r>
              <a:rPr lang="en-US" sz="2300" dirty="0">
                <a:latin typeface="Calibir"/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Java Example 5: Same as Python — shows abstraction, but does not yet demonstrate encapsulation or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47091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EF06D-6F97-AE85-2E5C-15F27B355B24}"/>
              </a:ext>
            </a:extLst>
          </p:cNvPr>
          <p:cNvSpPr txBox="1"/>
          <p:nvPr/>
        </p:nvSpPr>
        <p:spPr>
          <a:xfrm>
            <a:off x="0" y="1427356"/>
            <a:ext cx="1199871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Create another subclass BusinessAccount that inherits from BankAccount and must implement the withdraw() method.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your own logic for how a business account should handle withdrawals (e.g., allow larger overdrafts, block certain withdrawals, or simply deduct the balance).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Then, test the new BusinessAccount by creating an object and calling withdraw()</a:t>
            </a:r>
          </a:p>
        </p:txBody>
      </p:sp>
    </p:spTree>
    <p:extLst>
      <p:ext uri="{BB962C8B-B14F-4D97-AF65-F5344CB8AC3E}">
        <p14:creationId xmlns:p14="http://schemas.microsoft.com/office/powerpoint/2010/main" val="9932618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EF06D-6F97-AE85-2E5C-15F27B355B24}"/>
              </a:ext>
            </a:extLst>
          </p:cNvPr>
          <p:cNvSpPr txBox="1"/>
          <p:nvPr/>
        </p:nvSpPr>
        <p:spPr>
          <a:xfrm>
            <a:off x="0" y="945852"/>
            <a:ext cx="119987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for 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Define a new class extending the abstract parent: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283BA26D-6E3E-924C-90DC-DB5D4ECCBE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8616177" y="85228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024B4E-EFA6-87E7-DF28-1DF38392F9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57" t="26573" r="8628" b="16261"/>
          <a:stretch>
            <a:fillRect/>
          </a:stretch>
        </p:blipFill>
        <p:spPr>
          <a:xfrm>
            <a:off x="-1" y="2264033"/>
            <a:ext cx="11917085" cy="459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5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EF06D-6F97-AE85-2E5C-15F27B355B24}"/>
              </a:ext>
            </a:extLst>
          </p:cNvPr>
          <p:cNvSpPr txBox="1"/>
          <p:nvPr/>
        </p:nvSpPr>
        <p:spPr>
          <a:xfrm>
            <a:off x="0" y="852281"/>
            <a:ext cx="11998712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for 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Define a new subclass: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283BA26D-6E3E-924C-90DC-DB5D4ECCBE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8616177" y="852281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DA7A46-9080-A69D-1999-3F450E2359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40" t="26574" r="8811" b="16586"/>
          <a:stretch>
            <a:fillRect/>
          </a:stretch>
        </p:blipFill>
        <p:spPr>
          <a:xfrm>
            <a:off x="0" y="2174053"/>
            <a:ext cx="12192000" cy="469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6394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D9DC-F87D-3A14-1AC0-1FAEEC3C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7818-9B78-0998-A49F-EDF396C2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4 (Python): Creating a BusinessAccount Subclass (Abstraction + Polymorphism)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FC0DC-EF04-FD9F-9EC3-74125648D0D2}"/>
              </a:ext>
            </a:extLst>
          </p:cNvPr>
          <p:cNvSpPr txBox="1"/>
          <p:nvPr/>
        </p:nvSpPr>
        <p:spPr>
          <a:xfrm>
            <a:off x="0" y="1694986"/>
            <a:ext cx="1199871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reinforces: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</a:t>
            </a:r>
            <a:r>
              <a:rPr lang="en-US" sz="2800" dirty="0">
                <a:latin typeface="Calibir"/>
              </a:rPr>
              <a:t> → subclass must implement the abstract method.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</a:t>
            </a:r>
            <a:r>
              <a:rPr lang="en-US" sz="2800" dirty="0">
                <a:latin typeface="Calibir"/>
              </a:rPr>
              <a:t> → BusinessAccount extends BankAccount.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 → withdraw() behaves differently depending on account type.</a:t>
            </a:r>
          </a:p>
        </p:txBody>
      </p:sp>
    </p:spTree>
    <p:extLst>
      <p:ext uri="{BB962C8B-B14F-4D97-AF65-F5344CB8AC3E}">
        <p14:creationId xmlns:p14="http://schemas.microsoft.com/office/powerpoint/2010/main" val="29526368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C377-CB19-01F0-0771-59B7B1DD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2992-2B57-A1E9-3E9A-BF828C95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EDF8C-930E-7242-3A07-B14850DDCACB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4A947-9098-7087-C0D7-8CB5C2F600AC}"/>
              </a:ext>
            </a:extLst>
          </p:cNvPr>
          <p:cNvSpPr txBox="1"/>
          <p:nvPr/>
        </p:nvSpPr>
        <p:spPr>
          <a:xfrm>
            <a:off x="8244348" y="1072057"/>
            <a:ext cx="3947651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Abstraction:</a:t>
            </a:r>
            <a:r>
              <a:rPr lang="en-US" sz="2800" dirty="0">
                <a:latin typeface="Calibir"/>
              </a:rPr>
              <a:t> The parent class BankAccount only defines </a:t>
            </a:r>
            <a:r>
              <a:rPr lang="en-US" sz="2800" i="1" dirty="0">
                <a:latin typeface="Calibir"/>
              </a:rPr>
              <a:t>what must exist</a:t>
            </a:r>
            <a:r>
              <a:rPr lang="en-US" sz="2800" dirty="0">
                <a:latin typeface="Calibir"/>
              </a:rPr>
              <a:t> (withdraw), but not </a:t>
            </a:r>
            <a:r>
              <a:rPr lang="en-US" sz="2800" i="1" dirty="0">
                <a:latin typeface="Calibir"/>
              </a:rPr>
              <a:t>how it works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1D900D-B201-7599-9614-05A00A71A9FB}"/>
              </a:ext>
            </a:extLst>
          </p:cNvPr>
          <p:cNvSpPr/>
          <p:nvPr/>
        </p:nvSpPr>
        <p:spPr>
          <a:xfrm>
            <a:off x="0" y="1072058"/>
            <a:ext cx="8244347" cy="22463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54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8AF1-7584-1E2A-4567-5B7F0CFA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9888-879F-3D45-5E25-13946488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05F73-890C-C3FB-5DB4-252A8A57DC65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F856A-A6BF-D445-D90F-124EECF8F78E}"/>
              </a:ext>
            </a:extLst>
          </p:cNvPr>
          <p:cNvSpPr txBox="1"/>
          <p:nvPr/>
        </p:nvSpPr>
        <p:spPr>
          <a:xfrm>
            <a:off x="8244348" y="1072057"/>
            <a:ext cx="3947651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Inheritance:</a:t>
            </a:r>
            <a:r>
              <a:rPr lang="en-US" sz="2800" dirty="0">
                <a:latin typeface="Calibir"/>
              </a:rPr>
              <a:t> Child classes SavingsAccount and CheckingAccount reuse the parent’s structure.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FF996B-7196-3FC4-F044-28F455CD6D6A}"/>
              </a:ext>
            </a:extLst>
          </p:cNvPr>
          <p:cNvSpPr/>
          <p:nvPr/>
        </p:nvSpPr>
        <p:spPr>
          <a:xfrm>
            <a:off x="0" y="4173794"/>
            <a:ext cx="8244347" cy="2507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03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CB182-17AF-F35F-F0E0-8075D0E4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3F36-3CD4-AE49-D7C1-94677BD9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7B91F-0D7A-D6FC-F3B9-413C558115FD}"/>
              </a:ext>
            </a:extLst>
          </p:cNvPr>
          <p:cNvSpPr txBox="1"/>
          <p:nvPr/>
        </p:nvSpPr>
        <p:spPr>
          <a:xfrm>
            <a:off x="0" y="1072057"/>
            <a:ext cx="121920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Child 2: CheckingAccount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may go negative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"Checking withdrawal (may go negative)."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.withdraw(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"Final balance:"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.get_balance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48727-BEDA-F588-3021-26430591F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66" t="25161" r="13629" b="32043"/>
          <a:stretch>
            <a:fillRect/>
          </a:stretch>
        </p:blipFill>
        <p:spPr>
          <a:xfrm>
            <a:off x="6631858" y="3923070"/>
            <a:ext cx="5560142" cy="293492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5B92DD-AA87-52AF-86A2-CFB0C86AB72D}"/>
              </a:ext>
            </a:extLst>
          </p:cNvPr>
          <p:cNvSpPr txBox="1"/>
          <p:nvPr/>
        </p:nvSpPr>
        <p:spPr>
          <a:xfrm>
            <a:off x="189271" y="4085112"/>
            <a:ext cx="6253316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short: We hide details (abstraction + encapsulation), reuse code (inheritance), and allow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 with the same method name (polymorphism).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72A597-832F-BDBF-79CC-7EF62E79215B}"/>
              </a:ext>
            </a:extLst>
          </p:cNvPr>
          <p:cNvSpPr/>
          <p:nvPr/>
        </p:nvSpPr>
        <p:spPr>
          <a:xfrm>
            <a:off x="0" y="1415845"/>
            <a:ext cx="8244347" cy="2507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243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146A-33D3-A1C3-0B55-A521E6C5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5AD2-721C-3570-4928-9201E202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A7234-2E51-750E-F69F-87EDCD8147A3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4230D-3E1F-F566-1B40-46E0D314E04E}"/>
              </a:ext>
            </a:extLst>
          </p:cNvPr>
          <p:cNvSpPr txBox="1"/>
          <p:nvPr/>
        </p:nvSpPr>
        <p:spPr>
          <a:xfrm>
            <a:off x="8244348" y="1072057"/>
            <a:ext cx="3947651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Encapsulation:</a:t>
            </a:r>
            <a:r>
              <a:rPr lang="en-US" sz="2800" dirty="0">
                <a:latin typeface="Calibir"/>
              </a:rPr>
              <a:t> The balance is hidden (_balance) and only accessed safely through </a:t>
            </a:r>
            <a:r>
              <a:rPr lang="en-US" sz="2800" dirty="0" err="1">
                <a:latin typeface="Calibir"/>
              </a:rPr>
              <a:t>get_balance</a:t>
            </a:r>
            <a:r>
              <a:rPr lang="en-US" sz="2800" dirty="0">
                <a:latin typeface="Calibir"/>
              </a:rPr>
              <a:t>().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E5306F-86C3-BD9E-804A-F51FBC462EAA}"/>
              </a:ext>
            </a:extLst>
          </p:cNvPr>
          <p:cNvSpPr/>
          <p:nvPr/>
        </p:nvSpPr>
        <p:spPr>
          <a:xfrm>
            <a:off x="0" y="1893390"/>
            <a:ext cx="8244347" cy="599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7516D6-A921-6C87-6D49-D38B1579A33A}"/>
              </a:ext>
            </a:extLst>
          </p:cNvPr>
          <p:cNvSpPr/>
          <p:nvPr/>
        </p:nvSpPr>
        <p:spPr>
          <a:xfrm>
            <a:off x="-1" y="3264989"/>
            <a:ext cx="8244347" cy="599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602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CF06-F55F-4E1A-3956-4AA014F6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3A20-2A28-29A4-4DFB-F056373D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EEE9C-8403-1308-D634-6BF2CDF37751}"/>
              </a:ext>
            </a:extLst>
          </p:cNvPr>
          <p:cNvSpPr txBox="1"/>
          <p:nvPr/>
        </p:nvSpPr>
        <p:spPr>
          <a:xfrm>
            <a:off x="0" y="1072057"/>
            <a:ext cx="1219200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Abstract Parent Class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(hidden field)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@abstractmethod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Encapsulation (getter)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Child 1: SavingsAccount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D33D2-2961-7DE0-D2CD-0C4713E0C6A2}"/>
              </a:ext>
            </a:extLst>
          </p:cNvPr>
          <p:cNvSpPr txBox="1"/>
          <p:nvPr/>
        </p:nvSpPr>
        <p:spPr>
          <a:xfrm>
            <a:off x="7610168" y="1072057"/>
            <a:ext cx="4581831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Polymorphism:</a:t>
            </a:r>
            <a:r>
              <a:rPr lang="en-US" sz="2800" dirty="0">
                <a:latin typeface="Calibir"/>
              </a:rPr>
              <a:t> Both accounts share the same method name withdraw(), but behave differently —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Savings</a:t>
            </a:r>
            <a:r>
              <a:rPr lang="en-US" sz="2800" dirty="0">
                <a:latin typeface="Calibir"/>
              </a:rPr>
              <a:t>: blocks overdrafts.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Checking</a:t>
            </a:r>
            <a:r>
              <a:rPr lang="en-US" sz="2800" dirty="0">
                <a:latin typeface="Calibir"/>
              </a:rPr>
              <a:t>: allows overdrafts.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D550BD-9A50-7DD1-F03C-D75790C021C1}"/>
              </a:ext>
            </a:extLst>
          </p:cNvPr>
          <p:cNvSpPr/>
          <p:nvPr/>
        </p:nvSpPr>
        <p:spPr>
          <a:xfrm>
            <a:off x="0" y="4395020"/>
            <a:ext cx="7610167" cy="1755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301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D962-0502-8F0A-3C91-802A82A8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44A0-CBFA-A9A5-5869-DE8B08257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3432B-9FCA-2417-F800-8334963BC329}"/>
              </a:ext>
            </a:extLst>
          </p:cNvPr>
          <p:cNvSpPr txBox="1"/>
          <p:nvPr/>
        </p:nvSpPr>
        <p:spPr>
          <a:xfrm>
            <a:off x="0" y="1072057"/>
            <a:ext cx="121920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Child 2: CheckingAccount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may go negative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"Checking withdrawal (may go negative)."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.withdraw(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"Final balance:"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.get_balance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5D2660-6A66-B857-AF7F-4A1CDE77109D}"/>
              </a:ext>
            </a:extLst>
          </p:cNvPr>
          <p:cNvSpPr/>
          <p:nvPr/>
        </p:nvSpPr>
        <p:spPr>
          <a:xfrm>
            <a:off x="0" y="1651818"/>
            <a:ext cx="7610167" cy="8701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0891E-56BA-625B-40B9-3EEA1B818DCF}"/>
              </a:ext>
            </a:extLst>
          </p:cNvPr>
          <p:cNvSpPr txBox="1"/>
          <p:nvPr/>
        </p:nvSpPr>
        <p:spPr>
          <a:xfrm>
            <a:off x="7610168" y="1072057"/>
            <a:ext cx="4581831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Polymorphism:</a:t>
            </a:r>
            <a:r>
              <a:rPr lang="en-US" sz="2800" dirty="0">
                <a:latin typeface="Calibir"/>
              </a:rPr>
              <a:t> Both accounts share the same method name withdraw(), but behave differently —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Savings</a:t>
            </a:r>
            <a:r>
              <a:rPr lang="en-US" sz="2800" dirty="0">
                <a:latin typeface="Calibir"/>
              </a:rPr>
              <a:t>: blocks overdrafts.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Checking</a:t>
            </a:r>
            <a:r>
              <a:rPr lang="en-US" sz="2800" dirty="0">
                <a:latin typeface="Calibir"/>
              </a:rPr>
              <a:t>: allows overdrafts.</a:t>
            </a:r>
          </a:p>
        </p:txBody>
      </p:sp>
    </p:spTree>
    <p:extLst>
      <p:ext uri="{BB962C8B-B14F-4D97-AF65-F5344CB8AC3E}">
        <p14:creationId xmlns:p14="http://schemas.microsoft.com/office/powerpoint/2010/main" val="8350413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16BB-6504-112D-265B-D759186E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F007-A4F1-704D-04B5-4001C1CD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6: Combining All OOP Concepts (Encapsulation, Inheritance, Polymorphism, Abstraction)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17A67-1B68-02C1-67BD-48324A816071}"/>
              </a:ext>
            </a:extLst>
          </p:cNvPr>
          <p:cNvSpPr txBox="1"/>
          <p:nvPr/>
        </p:nvSpPr>
        <p:spPr>
          <a:xfrm>
            <a:off x="0" y="1072057"/>
            <a:ext cx="1219200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Child 2: CheckingAccount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BankAccount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withdraw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-=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amount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may go negative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"Checking withdrawal (may go negative)."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Polymorphism in action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SavingsAccount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CheckingAccount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buNone/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accounts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.withdraw(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"Final balance:"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acc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.get_balance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798C5-D44E-7893-600D-0BC88D43B2D8}"/>
              </a:ext>
            </a:extLst>
          </p:cNvPr>
          <p:cNvSpPr txBox="1"/>
          <p:nvPr/>
        </p:nvSpPr>
        <p:spPr>
          <a:xfrm>
            <a:off x="0" y="3988797"/>
            <a:ext cx="12191999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short: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hide details → </a:t>
            </a:r>
            <a:r>
              <a:rPr lang="en-US" sz="2800" i="1" dirty="0">
                <a:latin typeface="Calibir"/>
              </a:rPr>
              <a:t>abstraction + encapsulation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reuse code → </a:t>
            </a:r>
            <a:r>
              <a:rPr lang="en-US" sz="2800" i="1" dirty="0">
                <a:latin typeface="Calibir"/>
              </a:rPr>
              <a:t>inheritance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allow different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 with the same method name → </a:t>
            </a:r>
            <a:r>
              <a:rPr lang="en-US" sz="2800" i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42188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2411-4A78-20B7-54B7-336E989C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DFB5D6-3F36-B55A-E986-B6AE65627834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02A8B6-492A-46E2-2010-58F0275F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67C6E-B2FC-ED89-8712-3AA93D8BCFA0}"/>
              </a:ext>
            </a:extLst>
          </p:cNvPr>
          <p:cNvSpPr txBox="1"/>
          <p:nvPr/>
        </p:nvSpPr>
        <p:spPr>
          <a:xfrm>
            <a:off x="7079226" y="1485122"/>
            <a:ext cx="5112774" cy="26149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Abstraction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 parent BankAccount is abstract — it defines withdraw() but doesn’t say how it works: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286673-9D2F-13B1-B840-F1BDBABBB4BA}"/>
              </a:ext>
            </a:extLst>
          </p:cNvPr>
          <p:cNvSpPr/>
          <p:nvPr/>
        </p:nvSpPr>
        <p:spPr>
          <a:xfrm>
            <a:off x="0" y="1072057"/>
            <a:ext cx="3141406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4DACE1-3FA0-945A-B623-BD156C4A9807}"/>
              </a:ext>
            </a:extLst>
          </p:cNvPr>
          <p:cNvSpPr/>
          <p:nvPr/>
        </p:nvSpPr>
        <p:spPr>
          <a:xfrm>
            <a:off x="-1" y="2129365"/>
            <a:ext cx="5309419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7177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A91B-A516-C275-5BE9-C4E70CE6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5707E6-6E9B-C07F-D104-4E53438070E9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F0F20C-1F17-EE61-7387-0FA5E4FF4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CD6CC-ACC2-6DF6-C12F-75CE30F2E42A}"/>
              </a:ext>
            </a:extLst>
          </p:cNvPr>
          <p:cNvSpPr txBox="1"/>
          <p:nvPr/>
        </p:nvSpPr>
        <p:spPr>
          <a:xfrm>
            <a:off x="7079226" y="1485122"/>
            <a:ext cx="5112774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Inheritance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Child classes (SavingsAccount, CheckingAccount) extend the parent and reuse its structure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D60D47-221F-5CD1-B263-9169E1E7A32E}"/>
              </a:ext>
            </a:extLst>
          </p:cNvPr>
          <p:cNvSpPr/>
          <p:nvPr/>
        </p:nvSpPr>
        <p:spPr>
          <a:xfrm>
            <a:off x="0" y="3249732"/>
            <a:ext cx="5309419" cy="10720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6BE28-C6C4-A1F8-A836-EDF2E806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2" t="11648" r="41935" b="61877"/>
          <a:stretch>
            <a:fillRect/>
          </a:stretch>
        </p:blipFill>
        <p:spPr>
          <a:xfrm>
            <a:off x="6309877" y="4512621"/>
            <a:ext cx="5882124" cy="174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919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3985-DC5F-96D2-0562-0AB0DB74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C522AB-7F58-F5AF-7688-2CD6AC4CDFC2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B8247-523E-D5BB-816C-C4D5ECBB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EC4FB-F356-3C41-2227-A6D7A2DF30B6}"/>
              </a:ext>
            </a:extLst>
          </p:cNvPr>
          <p:cNvSpPr txBox="1"/>
          <p:nvPr/>
        </p:nvSpPr>
        <p:spPr>
          <a:xfrm>
            <a:off x="7079226" y="1485122"/>
            <a:ext cx="5112774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Encapsulation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 balance field is protected (hidden from outside). Access is controlled by a getter: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A94CEB-A693-9458-1779-A53114D16297}"/>
              </a:ext>
            </a:extLst>
          </p:cNvPr>
          <p:cNvSpPr/>
          <p:nvPr/>
        </p:nvSpPr>
        <p:spPr>
          <a:xfrm>
            <a:off x="0" y="1293794"/>
            <a:ext cx="6799006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939D79-DD5D-8AD7-CAA9-A3CA2A96D55A}"/>
              </a:ext>
            </a:extLst>
          </p:cNvPr>
          <p:cNvSpPr/>
          <p:nvPr/>
        </p:nvSpPr>
        <p:spPr>
          <a:xfrm>
            <a:off x="0" y="2365850"/>
            <a:ext cx="6799006" cy="2995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183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8CED-4763-0FA9-4EC9-05AF1303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350B36-BEFB-074D-6557-877200FFA2DF}"/>
              </a:ext>
            </a:extLst>
          </p:cNvPr>
          <p:cNvSpPr txBox="1"/>
          <p:nvPr/>
        </p:nvSpPr>
        <p:spPr>
          <a:xfrm>
            <a:off x="0" y="1072057"/>
            <a:ext cx="121920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(hidden from outside)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Encapsulation (getter)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1: SavingsAccount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"Savings withdrawal successful"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enough funds in savings!"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588609-6943-97A0-B5AC-3FC7E362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4C6FD1-F63C-D504-09B3-1279659CA36F}"/>
              </a:ext>
            </a:extLst>
          </p:cNvPr>
          <p:cNvSpPr/>
          <p:nvPr/>
        </p:nvSpPr>
        <p:spPr>
          <a:xfrm>
            <a:off x="0" y="4308393"/>
            <a:ext cx="6799006" cy="2242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EDC95-D0BF-3C3A-B7E8-96C2E0A40F20}"/>
              </a:ext>
            </a:extLst>
          </p:cNvPr>
          <p:cNvSpPr txBox="1"/>
          <p:nvPr/>
        </p:nvSpPr>
        <p:spPr>
          <a:xfrm>
            <a:off x="7978876" y="1485122"/>
            <a:ext cx="4213123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Polymorphism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Both child classes implement the same method (withdraw())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27863470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1A29D-B518-A19B-F70F-14522E90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204914-3E33-F25A-A55C-61086F657154}"/>
              </a:ext>
            </a:extLst>
          </p:cNvPr>
          <p:cNvSpPr txBox="1"/>
          <p:nvPr/>
        </p:nvSpPr>
        <p:spPr>
          <a:xfrm>
            <a:off x="0" y="1102578"/>
            <a:ext cx="12192000" cy="57554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2: CheckingAccount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"Final balance: 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8BD12F-D1B5-C41C-0337-212AFDF0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C9BB23-BFB3-27BA-A0FA-D8216CA68E38}"/>
              </a:ext>
            </a:extLst>
          </p:cNvPr>
          <p:cNvSpPr/>
          <p:nvPr/>
        </p:nvSpPr>
        <p:spPr>
          <a:xfrm>
            <a:off x="-1" y="2307956"/>
            <a:ext cx="7801897" cy="15413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0BD67-6283-F3D7-CA2E-E7A883FA0801}"/>
              </a:ext>
            </a:extLst>
          </p:cNvPr>
          <p:cNvSpPr txBox="1"/>
          <p:nvPr/>
        </p:nvSpPr>
        <p:spPr>
          <a:xfrm>
            <a:off x="7978876" y="1485122"/>
            <a:ext cx="4213123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Polymorphism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Both child classes implement the same method (withdraw())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11812749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7ED9A-0159-1CF2-E764-7B30EB40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6160AC-C65E-691E-6D21-82FEDFDB5AA5}"/>
              </a:ext>
            </a:extLst>
          </p:cNvPr>
          <p:cNvSpPr txBox="1"/>
          <p:nvPr/>
        </p:nvSpPr>
        <p:spPr>
          <a:xfrm>
            <a:off x="0" y="1102578"/>
            <a:ext cx="12192000" cy="57554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Child 2: CheckingAccount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SavingsAccount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"Final balance: 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44236B-CECE-F6F5-78C6-8290522C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6: Combining All OOP Concepts (Encapsulation, Inheritance, Polymorphism, Abstraction)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A86418-DB08-37C0-ADD0-512E253A8AEC}"/>
              </a:ext>
            </a:extLst>
          </p:cNvPr>
          <p:cNvSpPr/>
          <p:nvPr/>
        </p:nvSpPr>
        <p:spPr>
          <a:xfrm>
            <a:off x="0" y="3827040"/>
            <a:ext cx="7801897" cy="30309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B64C9-AA59-3692-3CD1-E7A1A779D6D9}"/>
              </a:ext>
            </a:extLst>
          </p:cNvPr>
          <p:cNvSpPr txBox="1"/>
          <p:nvPr/>
        </p:nvSpPr>
        <p:spPr>
          <a:xfrm>
            <a:off x="7978876" y="1485122"/>
            <a:ext cx="4213123" cy="39070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main(), polymorphism is visible: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same method call (withdraw) behaves differently depending on the object type.</a:t>
            </a:r>
          </a:p>
        </p:txBody>
      </p:sp>
    </p:spTree>
    <p:extLst>
      <p:ext uri="{BB962C8B-B14F-4D97-AF65-F5344CB8AC3E}">
        <p14:creationId xmlns:p14="http://schemas.microsoft.com/office/powerpoint/2010/main" val="16896318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9FF5-FE8C-9CF6-83DE-06294E8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FD2D-FADF-6A15-83BF-EB89A53A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5189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OOP Design 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3BF9B-007B-8EF7-7C35-A3CF6B005272}"/>
              </a:ext>
            </a:extLst>
          </p:cNvPr>
          <p:cNvSpPr txBox="1"/>
          <p:nvPr/>
        </p:nvSpPr>
        <p:spPr>
          <a:xfrm>
            <a:off x="0" y="1159728"/>
            <a:ext cx="11965258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</a:t>
            </a:r>
            <a:r>
              <a:rPr lang="en-US" sz="2800" dirty="0">
                <a:latin typeface="Calibir"/>
              </a:rPr>
              <a:t> Good rules for writing clean OOP code.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Encapsulate</a:t>
            </a:r>
            <a:r>
              <a:rPr lang="en-US" sz="2800" dirty="0">
                <a:latin typeface="Calibir"/>
              </a:rPr>
              <a:t> → keep fields hidden.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Right place</a:t>
            </a:r>
            <a:r>
              <a:rPr lang="en-US" sz="2800" dirty="0">
                <a:latin typeface="Calibir"/>
              </a:rPr>
              <a:t> → put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in the correct class.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Divide responsibility</a:t>
            </a:r>
            <a:r>
              <a:rPr lang="en-US" sz="2800" dirty="0">
                <a:latin typeface="Calibir"/>
              </a:rPr>
              <a:t> → spread work across classes.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Hide by default</a:t>
            </a:r>
            <a:r>
              <a:rPr lang="en-US" sz="2800" dirty="0">
                <a:latin typeface="Calibir"/>
              </a:rPr>
              <a:t> → only show what’s really needed.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Clear names</a:t>
            </a:r>
            <a:r>
              <a:rPr lang="en-US" sz="2800" dirty="0">
                <a:latin typeface="Calibir"/>
              </a:rPr>
              <a:t> → follow naming conventions.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</a:t>
            </a:r>
            <a:r>
              <a:rPr lang="en-US" sz="2800" dirty="0">
                <a:latin typeface="Calibir"/>
              </a:rPr>
              <a:t> Like government departments in Canberra → each has its own job, clear rules, and boundaries.</a:t>
            </a:r>
          </a:p>
        </p:txBody>
      </p:sp>
    </p:spTree>
    <p:extLst>
      <p:ext uri="{BB962C8B-B14F-4D97-AF65-F5344CB8AC3E}">
        <p14:creationId xmlns:p14="http://schemas.microsoft.com/office/powerpoint/2010/main" val="33826791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CA38-55E4-4FE7-972C-79591EA0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CC61-3D9D-7860-B106-7BC60FA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75243-62D0-01EA-0F4C-32EDB2EE6DEF}"/>
              </a:ext>
            </a:extLst>
          </p:cNvPr>
          <p:cNvSpPr txBox="1"/>
          <p:nvPr/>
        </p:nvSpPr>
        <p:spPr>
          <a:xfrm>
            <a:off x="96644" y="2123578"/>
            <a:ext cx="1199871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Add an </a:t>
            </a:r>
            <a:r>
              <a:rPr lang="en-US" altLang="en-US" sz="2800" dirty="0" err="1">
                <a:latin typeface="Calibir"/>
              </a:rPr>
              <a:t>add_interest</a:t>
            </a:r>
            <a:r>
              <a:rPr lang="en-US" altLang="en-US" sz="2800" dirty="0">
                <a:latin typeface="Calibir"/>
              </a:rPr>
              <a:t>() method only to SavingsAccount (not in BankAccount).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method should increase the balance by 5% (or a chosen rate).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Create a SavingsAccount object, call </a:t>
            </a:r>
            <a:r>
              <a:rPr lang="en-US" altLang="en-US" sz="2800" dirty="0" err="1">
                <a:latin typeface="Calibir"/>
              </a:rPr>
              <a:t>add_interest</a:t>
            </a:r>
            <a:r>
              <a:rPr lang="en-US" altLang="en-US" sz="2800" dirty="0">
                <a:latin typeface="Calibir"/>
              </a:rPr>
              <a:t>(), then print the new balance using </a:t>
            </a:r>
            <a:r>
              <a:rPr lang="en-US" altLang="en-US" sz="2800" dirty="0" err="1">
                <a:latin typeface="Calibir"/>
              </a:rPr>
              <a:t>get_balance</a:t>
            </a:r>
            <a:r>
              <a:rPr lang="en-US" altLang="en-US" sz="2800" dirty="0">
                <a:latin typeface="Calibir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922168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CA38-55E4-4FE7-972C-79591EA0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CC61-3D9D-7860-B106-7BC60FA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75243-62D0-01EA-0F4C-32EDB2EE6DEF}"/>
              </a:ext>
            </a:extLst>
          </p:cNvPr>
          <p:cNvSpPr txBox="1"/>
          <p:nvPr/>
        </p:nvSpPr>
        <p:spPr>
          <a:xfrm>
            <a:off x="0" y="1072057"/>
            <a:ext cx="11998712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Where to add the method</a:t>
            </a:r>
            <a:endParaRPr lang="en-US" altLang="en-US" sz="2200" dirty="0">
              <a:latin typeface="Calibir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Don’t put it in BankAccount (parent).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Add the method inside </a:t>
            </a:r>
            <a:r>
              <a:rPr lang="en-US" altLang="en-US" sz="2200" b="1" dirty="0">
                <a:latin typeface="Calibir"/>
              </a:rPr>
              <a:t>SavingsAccount only</a:t>
            </a:r>
            <a:r>
              <a:rPr lang="en-US" altLang="en-US" sz="2200" dirty="0">
                <a:latin typeface="Calibir"/>
              </a:rPr>
              <a:t>, because interest is unique to savings.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How to calculate interest</a:t>
            </a:r>
            <a:endParaRPr lang="en-US" altLang="en-US" sz="2200" dirty="0">
              <a:latin typeface="Calibir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Use the current balance (self._balance).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Increase it by 5%.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Formula: self._balance += self._balance * 0.05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How to test it</a:t>
            </a:r>
            <a:endParaRPr lang="en-US" altLang="en-US" sz="2200" dirty="0">
              <a:latin typeface="Calibir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Create a new SavingsAccount object with some starting balance.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Call the new </a:t>
            </a:r>
            <a:r>
              <a:rPr lang="en-US" altLang="en-US" sz="2200" dirty="0" err="1">
                <a:latin typeface="Calibir"/>
              </a:rPr>
              <a:t>add_interest</a:t>
            </a:r>
            <a:r>
              <a:rPr lang="en-US" altLang="en-US" sz="2200" dirty="0">
                <a:latin typeface="Calibir"/>
              </a:rPr>
              <a:t>() method.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Print the updated balance using the existing </a:t>
            </a:r>
            <a:r>
              <a:rPr lang="en-US" altLang="en-US" sz="2200" dirty="0" err="1">
                <a:latin typeface="Calibir"/>
              </a:rPr>
              <a:t>get_balance</a:t>
            </a:r>
            <a:r>
              <a:rPr lang="en-US" altLang="en-US" sz="2200" dirty="0">
                <a:latin typeface="Calibir"/>
              </a:rPr>
              <a:t>() method.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743713ED-3E21-5CCA-B468-B59FAAC665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7302610" y="3696310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5874253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CA38-55E4-4FE7-972C-79591EA0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CC61-3D9D-7860-B106-7BC60FA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75243-62D0-01EA-0F4C-32EDB2EE6DEF}"/>
              </a:ext>
            </a:extLst>
          </p:cNvPr>
          <p:cNvSpPr txBox="1"/>
          <p:nvPr/>
        </p:nvSpPr>
        <p:spPr>
          <a:xfrm>
            <a:off x="0" y="826091"/>
            <a:ext cx="11998712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dirty="0">
                <a:latin typeface="Calibir"/>
              </a:rPr>
              <a:t>Encapsulate → keep fields hidden</a:t>
            </a:r>
            <a:endParaRPr lang="en-US" altLang="en-US" sz="26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The balance is already hidden as _balance and accessed only through </a:t>
            </a:r>
            <a:r>
              <a:rPr lang="en-US" altLang="en-US" sz="2600" dirty="0" err="1">
                <a:latin typeface="Calibir"/>
              </a:rPr>
              <a:t>get_balance</a:t>
            </a:r>
            <a:r>
              <a:rPr lang="en-US" altLang="en-US" sz="2600" dirty="0">
                <a:latin typeface="Calibir"/>
              </a:rPr>
              <a:t>().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dirty="0">
                <a:latin typeface="Calibir"/>
              </a:rPr>
              <a:t>Right place → put </a:t>
            </a:r>
            <a:r>
              <a:rPr lang="en-US" altLang="en-US" sz="2600" b="1" dirty="0" err="1">
                <a:latin typeface="Calibir"/>
              </a:rPr>
              <a:t>behaviour</a:t>
            </a:r>
            <a:r>
              <a:rPr lang="en-US" altLang="en-US" sz="2600" b="1" dirty="0">
                <a:latin typeface="Calibir"/>
              </a:rPr>
              <a:t> in the correct class</a:t>
            </a:r>
            <a:endParaRPr lang="en-US" altLang="en-US" sz="26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 err="1">
                <a:latin typeface="Calibir"/>
              </a:rPr>
              <a:t>add_interest</a:t>
            </a:r>
            <a:r>
              <a:rPr lang="en-US" altLang="en-US" sz="2600" dirty="0">
                <a:latin typeface="Calibir"/>
              </a:rPr>
              <a:t>() belongs only in SavingsAccount (not in BankAccount), because interest is a savings-specific </a:t>
            </a:r>
            <a:r>
              <a:rPr lang="en-US" altLang="en-US" sz="2600" dirty="0" err="1">
                <a:latin typeface="Calibir"/>
              </a:rPr>
              <a:t>behaviour</a:t>
            </a:r>
            <a:r>
              <a:rPr lang="en-US" altLang="en-US" sz="2600" dirty="0">
                <a:latin typeface="Calibir"/>
              </a:rPr>
              <a:t>. This follows the “right place” principle.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dirty="0">
                <a:latin typeface="Calibir"/>
              </a:rPr>
              <a:t>Divide responsibility → spread work across classes</a:t>
            </a:r>
            <a:endParaRPr lang="en-US" altLang="en-US" sz="26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BankAccount handles common account features, while SavingsAccount handles savings-specific logic (interest).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This prevents one class from doing too much.</a:t>
            </a:r>
          </a:p>
        </p:txBody>
      </p:sp>
    </p:spTree>
    <p:extLst>
      <p:ext uri="{BB962C8B-B14F-4D97-AF65-F5344CB8AC3E}">
        <p14:creationId xmlns:p14="http://schemas.microsoft.com/office/powerpoint/2010/main" val="2777982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9333-0271-1D8C-F824-D43CE726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DE04-A7E7-76E8-AF45-F13E6D9E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1ECE6-4DDA-90A4-B4BF-56C6B3541EF9}"/>
              </a:ext>
            </a:extLst>
          </p:cNvPr>
          <p:cNvSpPr txBox="1"/>
          <p:nvPr/>
        </p:nvSpPr>
        <p:spPr>
          <a:xfrm>
            <a:off x="0" y="1072057"/>
            <a:ext cx="119987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Hide by default → only show what’s really needed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Balance stays private/hidden. Only controlled updates (like deposits, withdrawals, or interest) affect it.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Clear names → follow naming conventions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method </a:t>
            </a:r>
            <a:r>
              <a:rPr lang="en-US" altLang="en-US" sz="2800" dirty="0" err="1">
                <a:latin typeface="Calibir"/>
              </a:rPr>
              <a:t>add_interest</a:t>
            </a:r>
            <a:r>
              <a:rPr lang="en-US" altLang="en-US" sz="2800" dirty="0">
                <a:latin typeface="Calibir"/>
              </a:rPr>
              <a:t>() clearly says what it does, making the code readable and self-explanatory.</a:t>
            </a:r>
          </a:p>
        </p:txBody>
      </p:sp>
    </p:spTree>
    <p:extLst>
      <p:ext uri="{BB962C8B-B14F-4D97-AF65-F5344CB8AC3E}">
        <p14:creationId xmlns:p14="http://schemas.microsoft.com/office/powerpoint/2010/main" val="20911495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16E2-D530-CAF2-8CD8-E1BF7A3F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713E-C453-10C3-4747-967152E7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5 (Python): Adding </a:t>
            </a:r>
            <a:r>
              <a:rPr lang="en-US" sz="4000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add_interest</a:t>
            </a: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() to SavingsAccount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8B249-E2DC-29CD-74F9-0FBBF0CB04BA}"/>
              </a:ext>
            </a:extLst>
          </p:cNvPr>
          <p:cNvSpPr txBox="1"/>
          <p:nvPr/>
        </p:nvSpPr>
        <p:spPr>
          <a:xfrm>
            <a:off x="0" y="1072057"/>
            <a:ext cx="119987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Like government departments in Canberra →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Treasury Department manages taxes/finance (like SavingsAccount managing interest).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Other departments (like Health or </a:t>
            </a:r>
            <a:r>
              <a:rPr lang="en-US" sz="2800" dirty="0" err="1">
                <a:latin typeface="Calibir"/>
              </a:rPr>
              <a:t>Defence</a:t>
            </a:r>
            <a:r>
              <a:rPr lang="en-US" sz="2800" dirty="0">
                <a:latin typeface="Calibir"/>
              </a:rPr>
              <a:t>) have different jobs.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 department tries to do everything → same with classes in OOP.</a:t>
            </a:r>
          </a:p>
        </p:txBody>
      </p:sp>
    </p:spTree>
    <p:extLst>
      <p:ext uri="{BB962C8B-B14F-4D97-AF65-F5344CB8AC3E}">
        <p14:creationId xmlns:p14="http://schemas.microsoft.com/office/powerpoint/2010/main" val="18024047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9520-E752-8CBC-5679-3DD99979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C885-C29A-5DDE-45E0-3667A456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19431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The Menu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8BA9F-8714-1E28-F58C-3DFF60A75D62}"/>
              </a:ext>
            </a:extLst>
          </p:cNvPr>
          <p:cNvSpPr txBox="1"/>
          <p:nvPr/>
        </p:nvSpPr>
        <p:spPr>
          <a:xfrm>
            <a:off x="0" y="1072057"/>
            <a:ext cx="1199871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Idea: </a:t>
            </a:r>
            <a:r>
              <a:rPr lang="en-US" sz="2800" dirty="0">
                <a:latin typeface="Calibir"/>
              </a:rPr>
              <a:t>Use a central menu() method to handle user choices.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loop keeps showing options.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switch / if decides what to do.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 </a:t>
            </a:r>
            <a:r>
              <a:rPr lang="en-US" sz="2800" dirty="0">
                <a:latin typeface="Calibir"/>
              </a:rPr>
              <a:t>Like a restaurant menu → you choose a meal, and the chef prepares it.</a:t>
            </a:r>
          </a:p>
        </p:txBody>
      </p:sp>
    </p:spTree>
    <p:extLst>
      <p:ext uri="{BB962C8B-B14F-4D97-AF65-F5344CB8AC3E}">
        <p14:creationId xmlns:p14="http://schemas.microsoft.com/office/powerpoint/2010/main" val="4823473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64695-08FA-7242-1ADB-6E09F56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1B4E-F981-9B22-00BB-C0A0A587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7: Full OOP Program with Menu (Encapsulation, Inheritance, Abstraction, Polymorphism, Design Rules)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9C7E9-AE9B-4B62-872D-6AC9869AFE90}"/>
              </a:ext>
            </a:extLst>
          </p:cNvPr>
          <p:cNvSpPr txBox="1"/>
          <p:nvPr/>
        </p:nvSpPr>
        <p:spPr>
          <a:xfrm>
            <a:off x="0" y="1072057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program brings everything together: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Encapsulation:</a:t>
            </a:r>
            <a:r>
              <a:rPr lang="en-US" sz="2800" dirty="0">
                <a:latin typeface="Calibir"/>
              </a:rPr>
              <a:t> Balance is hidden, updated only through methods (deposit, withdraw,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Inheritance:</a:t>
            </a:r>
            <a:r>
              <a:rPr lang="en-US" sz="2800" dirty="0">
                <a:latin typeface="Calibir"/>
              </a:rPr>
              <a:t> SavingsAccount reuses code from BankAccount.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Abstraction:</a:t>
            </a:r>
            <a:r>
              <a:rPr lang="en-US" sz="2800" dirty="0">
                <a:latin typeface="Calibir"/>
              </a:rPr>
              <a:t> The parent BankAccount defines </a:t>
            </a:r>
            <a:r>
              <a:rPr lang="en-US" sz="2800" i="1" dirty="0">
                <a:latin typeface="Calibir"/>
              </a:rPr>
              <a:t>what must exist</a:t>
            </a:r>
            <a:r>
              <a:rPr lang="en-US" sz="2800" dirty="0">
                <a:latin typeface="Calibir"/>
              </a:rPr>
              <a:t> (withdraw) without saying </a:t>
            </a:r>
            <a:r>
              <a:rPr lang="en-US" sz="2800" i="1" dirty="0">
                <a:latin typeface="Calibir"/>
              </a:rPr>
              <a:t>how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Polymorphism:</a:t>
            </a:r>
            <a:r>
              <a:rPr lang="en-US" sz="2800" dirty="0">
                <a:latin typeface="Calibir"/>
              </a:rPr>
              <a:t> withdraw() could behave differently if other account types (like CheckingAccount) were added.</a:t>
            </a:r>
          </a:p>
        </p:txBody>
      </p:sp>
    </p:spTree>
    <p:extLst>
      <p:ext uri="{BB962C8B-B14F-4D97-AF65-F5344CB8AC3E}">
        <p14:creationId xmlns:p14="http://schemas.microsoft.com/office/powerpoint/2010/main" val="6957892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77DE0-1F2C-2568-3E3F-976CAA8D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352E-D862-C6B6-26B8-0F681DDD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7: Full OOP Program with Menu (Encapsulation, Inheritance, Abstraction, Polymorphism, Design Rules)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F8A4A-48E7-00A7-6FA6-903490E28C42}"/>
              </a:ext>
            </a:extLst>
          </p:cNvPr>
          <p:cNvSpPr txBox="1"/>
          <p:nvPr/>
        </p:nvSpPr>
        <p:spPr>
          <a:xfrm>
            <a:off x="0" y="107205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Design Rules:</a:t>
            </a:r>
            <a:r>
              <a:rPr lang="en-US" sz="2800" dirty="0">
                <a:latin typeface="Calibir"/>
              </a:rPr>
              <a:t> Each class has its own job, and the menu is a central place for user choices.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Menu Pattern:</a:t>
            </a:r>
            <a:r>
              <a:rPr lang="en-US" sz="2800" dirty="0">
                <a:latin typeface="Calibir"/>
              </a:rPr>
              <a:t> Like a restaurant — you see the menu, pick an option, and the program executes it.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short: This is a complete OOP application showing how all the concepts work together in a real program.</a:t>
            </a:r>
          </a:p>
        </p:txBody>
      </p:sp>
    </p:spTree>
    <p:extLst>
      <p:ext uri="{BB962C8B-B14F-4D97-AF65-F5344CB8AC3E}">
        <p14:creationId xmlns:p14="http://schemas.microsoft.com/office/powerpoint/2010/main" val="30361342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0E2B-3D5D-ACCA-63FA-529EA537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91FD-210F-2735-9732-22A216D2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Python Example 7: Full OOP Program with Menu (Encapsulation, Inheritance, Abstraction, Polymorphism, Design Rules)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16D32-9C8C-292E-8859-EEE63E26FC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959"/>
          <a:stretch>
            <a:fillRect/>
          </a:stretch>
        </p:blipFill>
        <p:spPr>
          <a:xfrm>
            <a:off x="0" y="1198756"/>
            <a:ext cx="12192000" cy="4460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69695F-BBD3-BE32-FB2D-860F4FA57CAB}"/>
              </a:ext>
            </a:extLst>
          </p:cNvPr>
          <p:cNvSpPr txBox="1"/>
          <p:nvPr/>
        </p:nvSpPr>
        <p:spPr>
          <a:xfrm>
            <a:off x="0" y="5785943"/>
            <a:ext cx="6300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1F2328"/>
                </a:solidFill>
                <a:effectLst/>
                <a:highlight>
                  <a:srgbClr val="FFFF00"/>
                </a:highlight>
                <a:latin typeface="Calibir"/>
              </a:rPr>
              <a:t>Full OOP Program with Menu_Python.py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4247069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54A6-519D-50C8-F552-DF404915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D182-63C4-E496-3342-130286DC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Java Example 7: Full OOP Program with Menu (Encapsulation, Inheritance, Abstraction, Polymorphism, Design Rules)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F5DC4-C9C0-4088-DDC1-88F9EC7B9ED5}"/>
              </a:ext>
            </a:extLst>
          </p:cNvPr>
          <p:cNvSpPr txBox="1"/>
          <p:nvPr/>
        </p:nvSpPr>
        <p:spPr>
          <a:xfrm>
            <a:off x="0" y="5785943"/>
            <a:ext cx="6300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highlight>
                  <a:srgbClr val="FFFF00"/>
                </a:highlight>
                <a:latin typeface="Calibir"/>
              </a:rPr>
              <a:t>Full OOP Program with Menu_Java.java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150C1-F1E9-E82A-AF75-8A452DD4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376"/>
          <a:stretch>
            <a:fillRect/>
          </a:stretch>
        </p:blipFill>
        <p:spPr>
          <a:xfrm>
            <a:off x="0" y="1078324"/>
            <a:ext cx="10869561" cy="456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812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7738F-6363-5877-B44D-8C72C157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365A-E388-4037-8CE3-7935A16B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E5B5B-D106-52F8-0450-106CEBD1820B}"/>
              </a:ext>
            </a:extLst>
          </p:cNvPr>
          <p:cNvSpPr txBox="1"/>
          <p:nvPr/>
        </p:nvSpPr>
        <p:spPr>
          <a:xfrm>
            <a:off x="0" y="1072057"/>
            <a:ext cx="1199871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Extend the Bank Menu system so the user can choose between creating a SavingsAccount or a CheckingAccount at the start.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Both accounts must support deposit, withdraw, and show balance.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Only SavingsAccount should have the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option.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deposit/withdraw on both account types from the menu.</a:t>
            </a:r>
          </a:p>
        </p:txBody>
      </p:sp>
    </p:spTree>
    <p:extLst>
      <p:ext uri="{BB962C8B-B14F-4D97-AF65-F5344CB8AC3E}">
        <p14:creationId xmlns:p14="http://schemas.microsoft.com/office/powerpoint/2010/main" val="364610685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3D72-0A59-85E2-BE7E-494F11D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4722-573D-98A8-4175-2D4AF13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AA08-4FE1-F073-F022-F934E44A4ADD}"/>
              </a:ext>
            </a:extLst>
          </p:cNvPr>
          <p:cNvSpPr txBox="1"/>
          <p:nvPr/>
        </p:nvSpPr>
        <p:spPr>
          <a:xfrm>
            <a:off x="0" y="1072057"/>
            <a:ext cx="119987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Hints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 CheckingAccount class</a:t>
            </a:r>
            <a:endParaRPr lang="en-US" sz="2800" dirty="0">
              <a:latin typeface="Calibir"/>
            </a:endParaRP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FC9FA669-C132-2706-3624-06D8D30B53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4839629" y="5887843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3BB5A9-88B8-EB69-7DF4-4773203E6AEE}"/>
              </a:ext>
            </a:extLst>
          </p:cNvPr>
          <p:cNvSpPr txBox="1"/>
          <p:nvPr/>
        </p:nvSpPr>
        <p:spPr>
          <a:xfrm>
            <a:off x="0" y="2390238"/>
            <a:ext cx="12191999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account_number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_balance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may go negative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626737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3D72-0A59-85E2-BE7E-494F11D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4722-573D-98A8-4175-2D4AF13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AA08-4FE1-F073-F022-F934E44A4ADD}"/>
              </a:ext>
            </a:extLst>
          </p:cNvPr>
          <p:cNvSpPr txBox="1"/>
          <p:nvPr/>
        </p:nvSpPr>
        <p:spPr>
          <a:xfrm>
            <a:off x="0" y="1072057"/>
            <a:ext cx="1199871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Modify the menu() function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Ask the user: </a:t>
            </a:r>
            <a:r>
              <a:rPr lang="en-US" sz="2800" i="1" dirty="0">
                <a:latin typeface="Calibir"/>
              </a:rPr>
              <a:t>Do you want Savings or Checking?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the chosen account type.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the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option only if it’s a SavingsAccount.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Test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Try deposit and withdraw with both account types.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Check the balance after each action.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FC9FA669-C132-2706-3624-06D8D30B53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341" t="45366" r="40632" b="40488"/>
          <a:stretch>
            <a:fillRect/>
          </a:stretch>
        </p:blipFill>
        <p:spPr>
          <a:xfrm>
            <a:off x="4839629" y="5887843"/>
            <a:ext cx="2319453" cy="97015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1333617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3D72-0A59-85E2-BE7E-494F11D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4722-573D-98A8-4175-2D4AF13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AA08-4FE1-F073-F022-F934E44A4ADD}"/>
              </a:ext>
            </a:extLst>
          </p:cNvPr>
          <p:cNvSpPr txBox="1"/>
          <p:nvPr/>
        </p:nvSpPr>
        <p:spPr>
          <a:xfrm>
            <a:off x="0" y="1072057"/>
            <a:ext cx="119987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Hints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 CheckingAccount class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9FC0F-BF04-3865-1F20-47B827A6FB32}"/>
              </a:ext>
            </a:extLst>
          </p:cNvPr>
          <p:cNvSpPr txBox="1"/>
          <p:nvPr/>
        </p:nvSpPr>
        <p:spPr>
          <a:xfrm>
            <a:off x="0" y="2390238"/>
            <a:ext cx="12191999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CheckingAccount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withdraw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may go negative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"Checking withdrawal (may go negative)."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accountNumber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276815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60AC-F282-13BF-98E9-6FDFEEFB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4C36-62F1-5E91-FA3B-17895780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98412-C244-E18A-9C38-E59B5B82C04D}"/>
              </a:ext>
            </a:extLst>
          </p:cNvPr>
          <p:cNvSpPr txBox="1"/>
          <p:nvPr/>
        </p:nvSpPr>
        <p:spPr>
          <a:xfrm>
            <a:off x="0" y="1072057"/>
            <a:ext cx="1199871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Modify the Main menu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Ask the user which type of account to create.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if or switch to create either a SavingsAccount or CheckingAccount.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an extra option for interest only when using SavingsAccount.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Test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 the menu, choose Savings → try deposit, withdraw, add interest.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 again, choose Checking → try deposit, withdraw (balance may go negative).</a:t>
            </a:r>
          </a:p>
        </p:txBody>
      </p:sp>
    </p:spTree>
    <p:extLst>
      <p:ext uri="{BB962C8B-B14F-4D97-AF65-F5344CB8AC3E}">
        <p14:creationId xmlns:p14="http://schemas.microsoft.com/office/powerpoint/2010/main" val="309211498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E6D5B-896E-90CD-9940-E587B751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2D52-9774-735F-A24F-62898E4F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6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6 (Python): Extend the Full OOP Program with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6D5D7-52C3-95E0-3E2D-0C1A455C7F0D}"/>
              </a:ext>
            </a:extLst>
          </p:cNvPr>
          <p:cNvSpPr txBox="1"/>
          <p:nvPr/>
        </p:nvSpPr>
        <p:spPr>
          <a:xfrm>
            <a:off x="0" y="1072057"/>
            <a:ext cx="1199871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activity reinforces: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Encapsulation</a:t>
            </a:r>
            <a:r>
              <a:rPr lang="en-US" sz="2800" dirty="0">
                <a:latin typeface="Calibir"/>
              </a:rPr>
              <a:t> (balance stays hidden).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Inheritance</a:t>
            </a:r>
            <a:r>
              <a:rPr lang="en-US" sz="2800" dirty="0">
                <a:latin typeface="Calibir"/>
              </a:rPr>
              <a:t> (both account types reuse BankAccount).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Abstraction</a:t>
            </a:r>
            <a:r>
              <a:rPr lang="en-US" sz="2800" dirty="0">
                <a:latin typeface="Calibir"/>
              </a:rPr>
              <a:t> (withdraw must be implemented).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Polymorphism</a:t>
            </a:r>
            <a:r>
              <a:rPr lang="en-US" sz="2800" dirty="0">
                <a:latin typeface="Calibir"/>
              </a:rPr>
              <a:t> (withdraw behaves differently).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Design Rules</a:t>
            </a:r>
            <a:r>
              <a:rPr lang="en-US" sz="2800" dirty="0">
                <a:latin typeface="Calibir"/>
              </a:rPr>
              <a:t> (put </a:t>
            </a:r>
            <a:r>
              <a:rPr lang="en-US" sz="2800" dirty="0" err="1">
                <a:latin typeface="Calibir"/>
              </a:rPr>
              <a:t>add_interest</a:t>
            </a:r>
            <a:r>
              <a:rPr lang="en-US" sz="2800" dirty="0">
                <a:latin typeface="Calibir"/>
              </a:rPr>
              <a:t>() only in SavingsAccount).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Menu Pattern</a:t>
            </a:r>
            <a:r>
              <a:rPr lang="en-US" sz="2800" dirty="0">
                <a:latin typeface="Calibir"/>
              </a:rPr>
              <a:t> (central user interaction).</a:t>
            </a:r>
          </a:p>
        </p:txBody>
      </p:sp>
    </p:spTree>
    <p:extLst>
      <p:ext uri="{BB962C8B-B14F-4D97-AF65-F5344CB8AC3E}">
        <p14:creationId xmlns:p14="http://schemas.microsoft.com/office/powerpoint/2010/main" val="297700442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27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2936</TotalTime>
  <Words>11710</Words>
  <Application>Microsoft Office PowerPoint</Application>
  <PresentationFormat>Widescreen</PresentationFormat>
  <Paragraphs>1517</Paragraphs>
  <Slides>105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105</vt:i4>
      </vt:variant>
    </vt:vector>
  </HeadingPairs>
  <TitlesOfParts>
    <vt:vector size="114" baseType="lpstr">
      <vt:lpstr>Aptos</vt:lpstr>
      <vt:lpstr>Aptos Display</vt:lpstr>
      <vt:lpstr>Arial</vt:lpstr>
      <vt:lpstr>Calibir</vt:lpstr>
      <vt:lpstr>Calibri</vt:lpstr>
      <vt:lpstr>Calibri Light</vt:lpstr>
      <vt:lpstr>Consolas</vt:lpstr>
      <vt:lpstr>Office Theme</vt:lpstr>
      <vt:lpstr>1_Office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Week 8 Outline</vt:lpstr>
      <vt:lpstr>Week 8 Outline</vt:lpstr>
      <vt:lpstr>What is OOP?</vt:lpstr>
      <vt:lpstr>Why use OOP?</vt:lpstr>
      <vt:lpstr>Python Example 1: Creating a BankAccount Class (Objects = Data + Actions)</vt:lpstr>
      <vt:lpstr>Java Example 1: Creating a BankAccount Class (Data + Actions Together)</vt:lpstr>
      <vt:lpstr>Encapsulation</vt:lpstr>
      <vt:lpstr>Python Example 2: Encapsulation in BankAccount (Hiding Data with Getters &amp; Setters)</vt:lpstr>
      <vt:lpstr>Python Example 2: Encapsulation in BankAccount (Hiding Data with Getters &amp; Setters)</vt:lpstr>
      <vt:lpstr>Python Example 2: Encapsulation in BankAccount (Hiding Data with Getters &amp; Setters)</vt:lpstr>
      <vt:lpstr>Java Example 2: Encapsulation in BankAccount (Using Private Fields and Getters/Setters)</vt:lpstr>
      <vt:lpstr>Java Example 2: Encapsulation in BankAccount (Using Private Fields and Getters/Setters)</vt:lpstr>
      <vt:lpstr>Java Example 2: Encapsulation in BankAccount (Using Private Fields and Getters/Setters)</vt:lpstr>
      <vt:lpstr>Hands-On Activity 1 - Python: Try calling withdraw(2000) and see how the program prevents overdrawing.</vt:lpstr>
      <vt:lpstr>Inheritance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Python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Java Example 3: Inheritance with SavingsAccount (Child Reuses Parent Code)</vt:lpstr>
      <vt:lpstr>Hands-On Activity 2 (Python): Create a CheckingAccount Subclass with Overdraft</vt:lpstr>
      <vt:lpstr>Hands-On Activity 2 (Java): Create a CheckingAccount Subclass with Overdraft</vt:lpstr>
      <vt:lpstr>Polymorphism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Python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Java Example 4: Polymorphism with BankAccount (Same Method, Different Behaviour)</vt:lpstr>
      <vt:lpstr>Hands-On Activity 3 (Python): Adding a get_balance() Method (Encapsulation + Polymorphism)</vt:lpstr>
      <vt:lpstr>Hands-On Activity 3 (Python): Adding a get_balance() Method (Encapsulation + Polymorphism)</vt:lpstr>
      <vt:lpstr>Hands-On Activity 3 (Java): Adding a get_balance() Method (Encapsulation + Polymorphism)</vt:lpstr>
      <vt:lpstr>Hands-On Activity 3 (Java): Adding a get_balance() Method (Encapsulation + Polymorphism)</vt:lpstr>
      <vt:lpstr>Abstraction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Python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Java Example 5: Abstraction with BankAccount (Using Abstract Class)</vt:lpstr>
      <vt:lpstr>Hands-On Activity 4 (Python): Creating a BusinessAccount Subclass (Abstraction + Polymorphism)</vt:lpstr>
      <vt:lpstr>Hands-On Activity 4 (Python): Creating a BusinessAccount Subclass (Abstraction + Polymorphism)</vt:lpstr>
      <vt:lpstr>Hands-On Activity 4 (Python): Creating a BusinessAccount Subclass (Abstraction + Polymorphism)</vt:lpstr>
      <vt:lpstr>Hands-On Activity 4 (Python): Creating a BusinessAccount Subclass (Abstraction + Polymorphism)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Python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Java Example 6: Combining All OOP Concepts (Encapsulation, Inheritance, Polymorphism, Abstraction)</vt:lpstr>
      <vt:lpstr>OOP Design Rules</vt:lpstr>
      <vt:lpstr>Hands-On Activity 5 (Python): Adding add_interest() to SavingsAccount</vt:lpstr>
      <vt:lpstr>Hands-On Activity 5 (Python): Adding add_interest() to SavingsAccount</vt:lpstr>
      <vt:lpstr>Hands-On Activity 5 (Python): Adding add_interest() to SavingsAccount</vt:lpstr>
      <vt:lpstr>Hands-On Activity 5 (Python): Adding add_interest() to SavingsAccount</vt:lpstr>
      <vt:lpstr>Hands-On Activity 5 (Python): Adding add_interest() to SavingsAccount</vt:lpstr>
      <vt:lpstr>The Menu Pattern</vt:lpstr>
      <vt:lpstr>Python Example 7: Full OOP Program with Menu (Encapsulation, Inheritance, Abstraction, Polymorphism, Design Rules)</vt:lpstr>
      <vt:lpstr>Python Example 7: Full OOP Program with Menu (Encapsulation, Inheritance, Abstraction, Polymorphism, Design Rules)</vt:lpstr>
      <vt:lpstr>Python Example 7: Full OOP Program with Menu (Encapsulation, Inheritance, Abstraction, Polymorphism, Design Rules)</vt:lpstr>
      <vt:lpstr>Java Example 7: Full OOP Program with Menu (Encapsulation, Inheritance, Abstraction, Polymorphism, Design Rules)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Hands-On Activity 6 (Python): Extend the Full OOP Program with Menu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933</cp:revision>
  <dcterms:created xsi:type="dcterms:W3CDTF">2025-07-28T16:39:25Z</dcterms:created>
  <dcterms:modified xsi:type="dcterms:W3CDTF">2026-09-14T10:46:19Z</dcterms:modified>
</cp:coreProperties>
</file>