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2"/>
  </p:notesMasterIdLst>
  <p:sldIdLst>
    <p:sldId id="256" r:id="rId3"/>
    <p:sldId id="2467" r:id="rId4"/>
    <p:sldId id="3254" r:id="rId5"/>
    <p:sldId id="3255" r:id="rId6"/>
    <p:sldId id="3256" r:id="rId7"/>
    <p:sldId id="3257" r:id="rId8"/>
    <p:sldId id="3258" r:id="rId9"/>
    <p:sldId id="3259" r:id="rId10"/>
    <p:sldId id="3260" r:id="rId11"/>
    <p:sldId id="3261" r:id="rId12"/>
    <p:sldId id="3272" r:id="rId13"/>
    <p:sldId id="3273" r:id="rId14"/>
    <p:sldId id="3286" r:id="rId15"/>
    <p:sldId id="3287" r:id="rId16"/>
    <p:sldId id="3288" r:id="rId17"/>
    <p:sldId id="3289" r:id="rId18"/>
    <p:sldId id="3262" r:id="rId19"/>
    <p:sldId id="3263" r:id="rId20"/>
    <p:sldId id="3264" r:id="rId21"/>
    <p:sldId id="3265" r:id="rId22"/>
    <p:sldId id="3266" r:id="rId23"/>
    <p:sldId id="3267" r:id="rId24"/>
    <p:sldId id="3268" r:id="rId25"/>
    <p:sldId id="3269" r:id="rId26"/>
    <p:sldId id="3270" r:id="rId27"/>
    <p:sldId id="3271" r:id="rId28"/>
    <p:sldId id="3274" r:id="rId29"/>
    <p:sldId id="3275" r:id="rId30"/>
    <p:sldId id="3290" r:id="rId31"/>
    <p:sldId id="3291" r:id="rId32"/>
    <p:sldId id="3292" r:id="rId33"/>
    <p:sldId id="3239" r:id="rId34"/>
    <p:sldId id="3285" r:id="rId35"/>
    <p:sldId id="3277" r:id="rId36"/>
    <p:sldId id="3278" r:id="rId37"/>
    <p:sldId id="3279" r:id="rId38"/>
    <p:sldId id="3280" r:id="rId39"/>
    <p:sldId id="3281" r:id="rId40"/>
    <p:sldId id="3282" r:id="rId41"/>
    <p:sldId id="3283" r:id="rId42"/>
    <p:sldId id="3276" r:id="rId43"/>
    <p:sldId id="3284" r:id="rId44"/>
    <p:sldId id="3294" r:id="rId45"/>
    <p:sldId id="3295" r:id="rId46"/>
    <p:sldId id="3296" r:id="rId47"/>
    <p:sldId id="3297" r:id="rId48"/>
    <p:sldId id="3298" r:id="rId49"/>
    <p:sldId id="3293" r:id="rId50"/>
    <p:sldId id="749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253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21/10/2025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3992" y="1407171"/>
            <a:ext cx="8737863" cy="3105506"/>
          </a:xfrm>
        </p:spPr>
        <p:txBody>
          <a:bodyPr anchor="b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4800" dirty="0">
                <a:latin typeface="Calibir"/>
              </a:rPr>
              <a:t>Introduction to Software Engineering (ISE102)</a:t>
            </a:r>
            <a:br>
              <a:rPr lang="en-US" sz="4800" dirty="0">
                <a:latin typeface="Calibir"/>
              </a:rPr>
            </a:br>
            <a:r>
              <a:rPr lang="en-US" sz="4800" dirty="0">
                <a:latin typeface="Calibir"/>
              </a:rPr>
              <a:t>Tutorial Week 12</a:t>
            </a:r>
            <a:endParaRPr lang="en-AU" sz="4800" dirty="0">
              <a:latin typeface="Calibir"/>
            </a:endParaRPr>
          </a:p>
        </p:txBody>
      </p:sp>
      <p:pic>
        <p:nvPicPr>
          <p:cNvPr id="6" name="Picture 5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6073E74C-6F0F-4134-F922-9D911600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90145" y="1199407"/>
            <a:ext cx="2673847" cy="352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12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27E07D-3152-877C-5DB6-99289A67CE5B}"/>
              </a:ext>
            </a:extLst>
          </p:cNvPr>
          <p:cNvSpPr txBox="1"/>
          <p:nvPr/>
        </p:nvSpPr>
        <p:spPr>
          <a:xfrm>
            <a:off x="-1" y="138736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(Java)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You Learned (Selfie &amp; Celebration)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Presentation Scheduling &amp; </a:t>
            </a:r>
            <a:r>
              <a:rPr lang="en-US" sz="2800" kern="10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Student Communication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Quiz </a:t>
            </a: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Time (Second Half of the Class)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5BDA7-0D0C-161A-B5A9-7678BB08E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E84EE-1F2D-82A4-1346-637499CD8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CC2F80-31AB-4993-813F-7BD5A913667E}"/>
              </a:ext>
            </a:extLst>
          </p:cNvPr>
          <p:cNvSpPr txBox="1"/>
          <p:nvPr/>
        </p:nvSpPr>
        <p:spPr>
          <a:xfrm>
            <a:off x="110359" y="756745"/>
            <a:ext cx="119712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Week 9 – Files, Exceptions &amp; Testing </a:t>
            </a:r>
          </a:p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happens when you open a file using open("data.txt", "r") if the file doesn’t exist?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It creates a new file automatically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It returns an empty string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It raises a </a:t>
            </a:r>
            <a:r>
              <a:rPr lang="en-US" sz="2800" dirty="0" err="1">
                <a:latin typeface="Calibir"/>
              </a:rPr>
              <a:t>FileNotFoundError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It ignores the error and continues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BF3A6-FCCB-9107-2BC1-71F1B1AD88B9}"/>
              </a:ext>
            </a:extLst>
          </p:cNvPr>
          <p:cNvSpPr txBox="1"/>
          <p:nvPr/>
        </p:nvSpPr>
        <p:spPr>
          <a:xfrm>
            <a:off x="6096001" y="3283020"/>
            <a:ext cx="6040820" cy="2669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In read mode "r", Python raises a </a:t>
            </a:r>
            <a:r>
              <a:rPr lang="en-US" sz="2800" dirty="0" err="1">
                <a:latin typeface="Calibir"/>
              </a:rPr>
              <a:t>FileNotFoundError</a:t>
            </a:r>
            <a:r>
              <a:rPr lang="en-US" sz="2800" dirty="0">
                <a:latin typeface="Calibir"/>
              </a:rPr>
              <a:t> if the file doesn’t exist.</a:t>
            </a:r>
          </a:p>
        </p:txBody>
      </p:sp>
    </p:spTree>
    <p:extLst>
      <p:ext uri="{BB962C8B-B14F-4D97-AF65-F5344CB8AC3E}">
        <p14:creationId xmlns:p14="http://schemas.microsoft.com/office/powerpoint/2010/main" val="414414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E282E-62F0-6CF6-7FE5-537072B99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DFBAA-C3FD-0050-33FE-9E8A05A30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233107-D51C-160D-F65A-6D8D221BD732}"/>
              </a:ext>
            </a:extLst>
          </p:cNvPr>
          <p:cNvSpPr txBox="1"/>
          <p:nvPr/>
        </p:nvSpPr>
        <p:spPr>
          <a:xfrm>
            <a:off x="110359" y="756745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Q2.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is the purpose of the finally block in Python’s exception handling?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To handle specific errors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To execute only if no exception occurs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To run code that must always execute (like closing files)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To stop the program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8B967D-3554-FC83-FBC0-B792FB08EEC1}"/>
              </a:ext>
            </a:extLst>
          </p:cNvPr>
          <p:cNvSpPr txBox="1"/>
          <p:nvPr/>
        </p:nvSpPr>
        <p:spPr>
          <a:xfrm>
            <a:off x="6151180" y="4889896"/>
            <a:ext cx="6040820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finally runs </a:t>
            </a:r>
            <a:r>
              <a:rPr lang="en-US" sz="2800" i="1" dirty="0">
                <a:latin typeface="Calibir"/>
              </a:rPr>
              <a:t>no matter what</a:t>
            </a:r>
            <a:r>
              <a:rPr lang="en-US" sz="2800" dirty="0">
                <a:latin typeface="Calibir"/>
              </a:rPr>
              <a:t>, even if an exception or return occurs.</a:t>
            </a:r>
          </a:p>
        </p:txBody>
      </p:sp>
    </p:spTree>
    <p:extLst>
      <p:ext uri="{BB962C8B-B14F-4D97-AF65-F5344CB8AC3E}">
        <p14:creationId xmlns:p14="http://schemas.microsoft.com/office/powerpoint/2010/main" val="3658353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F3EA5-96BF-544F-8496-84805327F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24572-3A28-9219-D1D8-159A550A4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441C94-098A-AB05-70E8-4BD7DDD51D1A}"/>
              </a:ext>
            </a:extLst>
          </p:cNvPr>
          <p:cNvSpPr txBox="1"/>
          <p:nvPr/>
        </p:nvSpPr>
        <p:spPr>
          <a:xfrm>
            <a:off x="0" y="840662"/>
            <a:ext cx="620635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b="1">
                <a:latin typeface="Calibir"/>
              </a:rPr>
              <a:t>Q3.</a:t>
            </a:r>
            <a:br>
              <a:rPr lang="en-US" sz="2800">
                <a:latin typeface="Calibir"/>
              </a:rPr>
            </a:br>
            <a:r>
              <a:rPr lang="en-US" sz="2800">
                <a:latin typeface="Calibir"/>
              </a:rPr>
              <a:t>Given the code below, what is printed?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969E03-2130-2A7D-3AEF-E3DF03547764}"/>
              </a:ext>
            </a:extLst>
          </p:cNvPr>
          <p:cNvSpPr txBox="1"/>
          <p:nvPr/>
        </p:nvSpPr>
        <p:spPr>
          <a:xfrm>
            <a:off x="6151180" y="4889896"/>
            <a:ext cx="604082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The </a:t>
            </a:r>
            <a:r>
              <a:rPr lang="en-US" sz="2800" dirty="0" err="1">
                <a:latin typeface="Calibir"/>
              </a:rPr>
              <a:t>ZeroDivisionError</a:t>
            </a:r>
            <a:r>
              <a:rPr lang="en-US" sz="2800" dirty="0">
                <a:latin typeface="Calibir"/>
              </a:rPr>
              <a:t> runs the except block and then the finally block.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DB84C-2ECF-30E8-02AE-07ACE8684D31}"/>
              </a:ext>
            </a:extLst>
          </p:cNvPr>
          <p:cNvSpPr txBox="1"/>
          <p:nvPr/>
        </p:nvSpPr>
        <p:spPr>
          <a:xfrm>
            <a:off x="6206358" y="2279053"/>
            <a:ext cx="321353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A) Error End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No Error End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End 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Only 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A6F9D54-DA8E-1E73-1C97-045D48F984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30406" r="49512" b="26504"/>
          <a:stretch>
            <a:fillRect/>
          </a:stretch>
        </p:blipFill>
        <p:spPr>
          <a:xfrm>
            <a:off x="0" y="2279053"/>
            <a:ext cx="6096000" cy="346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714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EB62F-ADEB-A4BE-F3C2-A41C36684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67389-849F-B615-E478-D25B8AC00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B6CA5B-69AC-6049-CEFD-2CAAD9DF9608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Q4.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statement is correct about Python unit tests using </a:t>
            </a:r>
            <a:r>
              <a:rPr lang="en-US" sz="2800" dirty="0" err="1">
                <a:latin typeface="Calibir"/>
              </a:rPr>
              <a:t>unittest</a:t>
            </a:r>
            <a:r>
              <a:rPr lang="en-US" sz="2800" dirty="0">
                <a:latin typeface="Calibir"/>
              </a:rPr>
              <a:t>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Every test method must start with the word check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Tests are grouped in classes that inherit </a:t>
            </a:r>
            <a:r>
              <a:rPr lang="en-US" sz="2800" dirty="0" err="1">
                <a:latin typeface="Calibir"/>
              </a:rPr>
              <a:t>unittest.TestCase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assertEqual</a:t>
            </a:r>
            <a:r>
              <a:rPr lang="en-US" sz="2800" dirty="0">
                <a:latin typeface="Calibir"/>
              </a:rPr>
              <a:t>() is used only in main() functions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unittest</a:t>
            </a:r>
            <a:r>
              <a:rPr lang="en-US" sz="2800" dirty="0">
                <a:latin typeface="Calibir"/>
              </a:rPr>
              <a:t> can test only one function per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3D481A-CEAE-D112-4330-24B00DCE966D}"/>
              </a:ext>
            </a:extLst>
          </p:cNvPr>
          <p:cNvSpPr txBox="1"/>
          <p:nvPr/>
        </p:nvSpPr>
        <p:spPr>
          <a:xfrm>
            <a:off x="0" y="4889896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Each test class must inherit from </a:t>
            </a:r>
            <a:r>
              <a:rPr lang="en-US" sz="2800" dirty="0" err="1">
                <a:latin typeface="Calibir"/>
              </a:rPr>
              <a:t>unittest.TestCase</a:t>
            </a:r>
            <a:r>
              <a:rPr lang="en-US" sz="2800" dirty="0">
                <a:latin typeface="Calibir"/>
              </a:rPr>
              <a:t> to use assert methods.</a:t>
            </a:r>
          </a:p>
        </p:txBody>
      </p:sp>
    </p:spTree>
    <p:extLst>
      <p:ext uri="{BB962C8B-B14F-4D97-AF65-F5344CB8AC3E}">
        <p14:creationId xmlns:p14="http://schemas.microsoft.com/office/powerpoint/2010/main" val="2147460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E38F1-FA4A-8374-E23C-9A85F6956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AFBE8-F310-9614-5784-2A8CBDCA8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6F1743-D38C-C7E7-0393-CEB202FF13A2}"/>
              </a:ext>
            </a:extLst>
          </p:cNvPr>
          <p:cNvSpPr txBox="1"/>
          <p:nvPr/>
        </p:nvSpPr>
        <p:spPr>
          <a:xfrm>
            <a:off x="0" y="840662"/>
            <a:ext cx="12192000" cy="39081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Q5.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file mode lets you add data without deleting old content?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"w"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"a"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"r"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"x"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06D4DC-41FA-094C-B964-3021966EC913}"/>
              </a:ext>
            </a:extLst>
          </p:cNvPr>
          <p:cNvSpPr txBox="1"/>
          <p:nvPr/>
        </p:nvSpPr>
        <p:spPr>
          <a:xfrm>
            <a:off x="0" y="4889896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"a" means append mode – it writes at the end without overwriting.</a:t>
            </a:r>
          </a:p>
        </p:txBody>
      </p:sp>
    </p:spTree>
    <p:extLst>
      <p:ext uri="{BB962C8B-B14F-4D97-AF65-F5344CB8AC3E}">
        <p14:creationId xmlns:p14="http://schemas.microsoft.com/office/powerpoint/2010/main" val="316388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7E13C-115F-4D13-6A95-3242195F9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0EF15-0978-D913-63AE-C48B4C5B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3BBC01-7D57-B23B-5150-4D3B1BFB9E5D}"/>
              </a:ext>
            </a:extLst>
          </p:cNvPr>
          <p:cNvSpPr txBox="1"/>
          <p:nvPr/>
        </p:nvSpPr>
        <p:spPr>
          <a:xfrm>
            <a:off x="0" y="84066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Week 10 – </a:t>
            </a:r>
            <a:r>
              <a:rPr lang="en-US" sz="2800" b="1" dirty="0" err="1">
                <a:latin typeface="Calibir"/>
              </a:rPr>
              <a:t>Tkinter</a:t>
            </a:r>
            <a:r>
              <a:rPr lang="en-US" sz="2800" b="1" dirty="0">
                <a:latin typeface="Calibir"/>
              </a:rPr>
              <a:t> GUI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Q6.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widget displays non-editable text to the user?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Entry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Label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Listbox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298A6F-F705-DB96-768D-0FB3F0EA3E71}"/>
              </a:ext>
            </a:extLst>
          </p:cNvPr>
          <p:cNvSpPr txBox="1"/>
          <p:nvPr/>
        </p:nvSpPr>
        <p:spPr>
          <a:xfrm>
            <a:off x="0" y="535645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Label is for showing text, not for user input.</a:t>
            </a:r>
          </a:p>
        </p:txBody>
      </p:sp>
    </p:spTree>
    <p:extLst>
      <p:ext uri="{BB962C8B-B14F-4D97-AF65-F5344CB8AC3E}">
        <p14:creationId xmlns:p14="http://schemas.microsoft.com/office/powerpoint/2010/main" val="649940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74394-F7F7-9D96-21CB-7D236F88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E5C13-10B3-FCA9-82C4-E71994FB5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331797-CF6F-9B88-C9A0-5C6A10B33615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Q7.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does the pack() method in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do?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Destroys the widget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Adds the widget to the window using automatic layout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Creates an event loop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Changes background color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027C5D-81A7-5297-A067-233FBC1154E8}"/>
              </a:ext>
            </a:extLst>
          </p:cNvPr>
          <p:cNvSpPr txBox="1"/>
          <p:nvPr/>
        </p:nvSpPr>
        <p:spPr>
          <a:xfrm>
            <a:off x="0" y="535645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pack() manages widget placement inside the window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859939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93A80-E52D-054E-B64B-94DE5F3EF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7E87F-3B2F-4C40-5586-2AAAB69E4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3AC683-9CD8-1278-E9B1-FA875DFFBA4F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Q8.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widget is best for selecting multiple items from a list?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Radiobutton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Checkbutton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Listbox</a:t>
            </a:r>
            <a:r>
              <a:rPr lang="en-US" sz="2800" dirty="0">
                <a:latin typeface="Calibir"/>
              </a:rPr>
              <a:t> with </a:t>
            </a:r>
            <a:r>
              <a:rPr lang="en-US" sz="2800" dirty="0" err="1">
                <a:latin typeface="Calibir"/>
              </a:rPr>
              <a:t>selectmode</a:t>
            </a:r>
            <a:r>
              <a:rPr lang="en-US" sz="2800" dirty="0">
                <a:latin typeface="Calibir"/>
              </a:rPr>
              <a:t>=MULTIPLE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Entry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16430-3777-B345-4E3B-A96B35722682}"/>
              </a:ext>
            </a:extLst>
          </p:cNvPr>
          <p:cNvSpPr txBox="1"/>
          <p:nvPr/>
        </p:nvSpPr>
        <p:spPr>
          <a:xfrm>
            <a:off x="0" y="535645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Listbox</a:t>
            </a:r>
            <a:r>
              <a:rPr lang="en-US" sz="2800" dirty="0">
                <a:latin typeface="Calibir"/>
              </a:rPr>
              <a:t> can allow multi-selection when </a:t>
            </a:r>
            <a:r>
              <a:rPr lang="en-US" sz="2800" dirty="0" err="1">
                <a:latin typeface="Calibir"/>
              </a:rPr>
              <a:t>selectmode</a:t>
            </a:r>
            <a:r>
              <a:rPr lang="en-US" sz="2800" dirty="0">
                <a:latin typeface="Calibir"/>
              </a:rPr>
              <a:t> is set to MULTIPLE.</a:t>
            </a:r>
          </a:p>
        </p:txBody>
      </p:sp>
    </p:spTree>
    <p:extLst>
      <p:ext uri="{BB962C8B-B14F-4D97-AF65-F5344CB8AC3E}">
        <p14:creationId xmlns:p14="http://schemas.microsoft.com/office/powerpoint/2010/main" val="179753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B30DB-B6D7-A468-9E9B-57F3300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27F6F-C5B6-C6BE-3405-F3F3C48B9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031E8F-18D0-9709-68A7-CF751EF1DFDB}"/>
              </a:ext>
            </a:extLst>
          </p:cNvPr>
          <p:cNvSpPr txBox="1"/>
          <p:nvPr/>
        </p:nvSpPr>
        <p:spPr>
          <a:xfrm>
            <a:off x="0" y="84066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Q9. (2 pts) — File Handling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will be printed by this code?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DC43C7-E7A8-4E50-9816-84DF96FEAD25}"/>
              </a:ext>
            </a:extLst>
          </p:cNvPr>
          <p:cNvSpPr txBox="1"/>
          <p:nvPr/>
        </p:nvSpPr>
        <p:spPr>
          <a:xfrm>
            <a:off x="6325530" y="3179171"/>
            <a:ext cx="586647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Two lines (Hi, Hello) were written; </a:t>
            </a:r>
            <a:r>
              <a:rPr lang="en-US" sz="2800" dirty="0" err="1">
                <a:latin typeface="Calibir"/>
              </a:rPr>
              <a:t>readlines</a:t>
            </a:r>
            <a:r>
              <a:rPr lang="en-US" sz="2800" dirty="0">
                <a:latin typeface="Calibir"/>
              </a:rPr>
              <a:t>() returns a list with 2 items.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C3CEE1-1D77-2254-04BD-57B87476356E}"/>
              </a:ext>
            </a:extLst>
          </p:cNvPr>
          <p:cNvSpPr txBox="1"/>
          <p:nvPr/>
        </p:nvSpPr>
        <p:spPr>
          <a:xfrm>
            <a:off x="6325530" y="2359059"/>
            <a:ext cx="62056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>
                <a:latin typeface="Calibir"/>
              </a:rPr>
              <a:t>A) 0  B) 1  C) 2  D) 3</a:t>
            </a:r>
            <a:endParaRPr lang="en-US" sz="2800" dirty="0">
              <a:latin typeface="Calibi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BD0FB0-206D-9458-5F79-E5243D6E54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29431" r="50000" b="28455"/>
          <a:stretch>
            <a:fillRect/>
          </a:stretch>
        </p:blipFill>
        <p:spPr>
          <a:xfrm>
            <a:off x="0" y="2246350"/>
            <a:ext cx="6302885" cy="3543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153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04F2A-70F7-3FBB-5751-BE83DA2F0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550A6-402E-A769-CA79-D80A927F5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1EBACA-FA2F-9D73-F2B1-F00F688695E8}"/>
              </a:ext>
            </a:extLst>
          </p:cNvPr>
          <p:cNvSpPr txBox="1"/>
          <p:nvPr/>
        </p:nvSpPr>
        <p:spPr>
          <a:xfrm>
            <a:off x="0" y="840662"/>
            <a:ext cx="12192000" cy="1965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Q10. (2 pts) — </a:t>
            </a:r>
            <a:r>
              <a:rPr lang="en-US" sz="2800" b="1" dirty="0" err="1">
                <a:latin typeface="Calibir"/>
              </a:rPr>
              <a:t>Tkinter</a:t>
            </a:r>
            <a:r>
              <a:rPr lang="en-US" sz="2800" b="1" dirty="0">
                <a:latin typeface="Calibir"/>
              </a:rPr>
              <a:t> GUI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widget lets a user scroll through a long text area?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Scrollbar B) Canvas C) </a:t>
            </a:r>
            <a:r>
              <a:rPr lang="en-US" sz="2800" dirty="0" err="1">
                <a:latin typeface="Calibir"/>
              </a:rPr>
              <a:t>Radiobutton</a:t>
            </a:r>
            <a:r>
              <a:rPr lang="en-US" sz="2800" dirty="0">
                <a:latin typeface="Calibir"/>
              </a:rPr>
              <a:t> D) </a:t>
            </a:r>
            <a:r>
              <a:rPr lang="en-US" sz="2800" dirty="0" err="1">
                <a:latin typeface="Calibir"/>
              </a:rPr>
              <a:t>Listbox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79AB2-5AC6-028D-3FC9-CB4F1BA026E3}"/>
              </a:ext>
            </a:extLst>
          </p:cNvPr>
          <p:cNvSpPr txBox="1"/>
          <p:nvPr/>
        </p:nvSpPr>
        <p:spPr>
          <a:xfrm>
            <a:off x="0" y="3179171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Scrollbar is attached to widgets like Text or </a:t>
            </a:r>
            <a:r>
              <a:rPr lang="en-US" sz="2800" dirty="0" err="1">
                <a:latin typeface="Calibir"/>
              </a:rPr>
              <a:t>Listbox</a:t>
            </a:r>
            <a:r>
              <a:rPr lang="en-US" sz="2800" dirty="0">
                <a:latin typeface="Calibir"/>
              </a:rPr>
              <a:t> to navigate long content.</a:t>
            </a:r>
          </a:p>
        </p:txBody>
      </p:sp>
    </p:spTree>
    <p:extLst>
      <p:ext uri="{BB962C8B-B14F-4D97-AF65-F5344CB8AC3E}">
        <p14:creationId xmlns:p14="http://schemas.microsoft.com/office/powerpoint/2010/main" val="65931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0E6A4-B3DD-07E6-C9D7-137030686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5AC44-2C3F-9266-CC90-CFF6B26E9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FC3F28-234C-BCE9-78B6-A23C5DFD2027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Q11. (2 pts) — Files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happens if you open a file using open("log.txt", "x") when it already exists?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It opens the file for writing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It overwrites the file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It raises a </a:t>
            </a:r>
            <a:r>
              <a:rPr lang="en-US" sz="2800" dirty="0" err="1">
                <a:latin typeface="Calibir"/>
              </a:rPr>
              <a:t>FileExistsError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It reads the file content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3537AA-DB79-F015-30D3-9C4E48C0FF86}"/>
              </a:ext>
            </a:extLst>
          </p:cNvPr>
          <p:cNvSpPr txBox="1"/>
          <p:nvPr/>
        </p:nvSpPr>
        <p:spPr>
          <a:xfrm>
            <a:off x="0" y="4893487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Mode "x" creates a new file but fails if the file already exists.</a:t>
            </a:r>
          </a:p>
        </p:txBody>
      </p:sp>
    </p:spTree>
    <p:extLst>
      <p:ext uri="{BB962C8B-B14F-4D97-AF65-F5344CB8AC3E}">
        <p14:creationId xmlns:p14="http://schemas.microsoft.com/office/powerpoint/2010/main" val="158708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7FFFD-8121-D903-DFFB-228AE2CBE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058C0-8A03-1607-6AF1-8F3A1D4BA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6565DB-E603-D2E2-188C-FFD2272CD5AF}"/>
              </a:ext>
            </a:extLst>
          </p:cNvPr>
          <p:cNvSpPr txBox="1"/>
          <p:nvPr/>
        </p:nvSpPr>
        <p:spPr>
          <a:xfrm>
            <a:off x="0" y="84066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Q12. (2 pts) — Exceptions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output will this code produce?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577E03-1C34-0FD5-7A82-9681D13C60CE}"/>
              </a:ext>
            </a:extLst>
          </p:cNvPr>
          <p:cNvSpPr txBox="1"/>
          <p:nvPr/>
        </p:nvSpPr>
        <p:spPr>
          <a:xfrm>
            <a:off x="0" y="5636589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int("ten") raises </a:t>
            </a:r>
            <a:r>
              <a:rPr lang="en-US" sz="2800" dirty="0" err="1">
                <a:latin typeface="Calibir"/>
              </a:rPr>
              <a:t>ValueError</a:t>
            </a:r>
            <a:r>
              <a:rPr lang="en-US" sz="2800" dirty="0">
                <a:latin typeface="Calibir"/>
              </a:rPr>
              <a:t>; the except and finally blocks execute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D2E78F-8539-EC46-3A56-11A7621CB336}"/>
              </a:ext>
            </a:extLst>
          </p:cNvPr>
          <p:cNvSpPr txBox="1"/>
          <p:nvPr/>
        </p:nvSpPr>
        <p:spPr>
          <a:xfrm>
            <a:off x="6205652" y="2220198"/>
            <a:ext cx="3565602" cy="2615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A) Invalid input Done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Valid input Done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Done Invalid input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Only Done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1D247B-D5B6-EEE7-193B-7ADF2CB021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74" t="28130" r="55768" b="29488"/>
          <a:stretch>
            <a:fillRect/>
          </a:stretch>
        </p:blipFill>
        <p:spPr>
          <a:xfrm>
            <a:off x="0" y="2220197"/>
            <a:ext cx="5263376" cy="344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942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0545A-B9FB-EB53-8E17-42F5442C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BD805-9AE1-A014-A9CD-349B764B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4DC452-1A7B-EBDC-C48C-916A2D18A192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Q13. (2 pts) — </a:t>
            </a:r>
            <a:r>
              <a:rPr lang="en-US" sz="2800" b="1" dirty="0" err="1">
                <a:latin typeface="Calibir"/>
              </a:rPr>
              <a:t>Tkinter</a:t>
            </a:r>
            <a:r>
              <a:rPr lang="en-US" sz="2800" b="1" dirty="0">
                <a:latin typeface="Calibir"/>
              </a:rPr>
              <a:t> Layout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method arranges widgets by specifying row and column positions?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place()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pack()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grid()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align()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9D863E-8686-7462-49A3-06E6841EC372}"/>
              </a:ext>
            </a:extLst>
          </p:cNvPr>
          <p:cNvSpPr txBox="1"/>
          <p:nvPr/>
        </p:nvSpPr>
        <p:spPr>
          <a:xfrm>
            <a:off x="0" y="4831674"/>
            <a:ext cx="12192000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grid() lets you organize widgets in a table-like layout with row/column indices.</a:t>
            </a:r>
          </a:p>
        </p:txBody>
      </p:sp>
    </p:spTree>
    <p:extLst>
      <p:ext uri="{BB962C8B-B14F-4D97-AF65-F5344CB8AC3E}">
        <p14:creationId xmlns:p14="http://schemas.microsoft.com/office/powerpoint/2010/main" val="674248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521AD-D4A5-9505-2F76-D587F9FE1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DDBC1-0781-BF45-0E21-5BF88BA4A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(Python)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B4CA3E-2CED-4B6E-499F-C16FEE1469C5}"/>
              </a:ext>
            </a:extLst>
          </p:cNvPr>
          <p:cNvSpPr txBox="1"/>
          <p:nvPr/>
        </p:nvSpPr>
        <p:spPr>
          <a:xfrm>
            <a:off x="0" y="1047196"/>
            <a:ext cx="12192000" cy="4553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Q14. (2 pts) — </a:t>
            </a:r>
            <a:r>
              <a:rPr lang="en-US" sz="2800" b="1" dirty="0" err="1">
                <a:latin typeface="Calibir"/>
              </a:rPr>
              <a:t>Tkinter</a:t>
            </a:r>
            <a:r>
              <a:rPr lang="en-US" sz="2800" b="1" dirty="0">
                <a:latin typeface="Calibir"/>
              </a:rPr>
              <a:t> Events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When binding a button click using </a:t>
            </a:r>
            <a:r>
              <a:rPr lang="en-US" sz="2800" dirty="0" err="1">
                <a:latin typeface="Calibir"/>
              </a:rPr>
              <a:t>button.bind</a:t>
            </a:r>
            <a:r>
              <a:rPr lang="en-US" sz="2800" dirty="0">
                <a:latin typeface="Calibir"/>
              </a:rPr>
              <a:t>("&lt;Button-1&gt;", handler), what does handler represent?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A variable name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A function that runs when the button is clicked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The button text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A widget color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D03262-8CD1-564D-84D7-970349093A9E}"/>
              </a:ext>
            </a:extLst>
          </p:cNvPr>
          <p:cNvSpPr txBox="1"/>
          <p:nvPr/>
        </p:nvSpPr>
        <p:spPr>
          <a:xfrm>
            <a:off x="7917366" y="2553630"/>
            <a:ext cx="427463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handler is a callback function that executes when the left-mouse button is clicked.</a:t>
            </a:r>
          </a:p>
        </p:txBody>
      </p:sp>
    </p:spTree>
    <p:extLst>
      <p:ext uri="{BB962C8B-B14F-4D97-AF65-F5344CB8AC3E}">
        <p14:creationId xmlns:p14="http://schemas.microsoft.com/office/powerpoint/2010/main" val="2224069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E25F3-7D82-8E9E-C9B6-7F7F70320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4518D-3990-00B8-AAF6-02939B4E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3D36A8-8DE9-3E21-2314-27C6BB43C68C}"/>
              </a:ext>
            </a:extLst>
          </p:cNvPr>
          <p:cNvSpPr txBox="1"/>
          <p:nvPr/>
        </p:nvSpPr>
        <p:spPr>
          <a:xfrm>
            <a:off x="0" y="840662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highlight>
                  <a:srgbClr val="FFFF00"/>
                </a:highlight>
                <a:latin typeface="Calibir"/>
              </a:rPr>
              <a:t>Java </a:t>
            </a:r>
            <a:r>
              <a:rPr lang="en-US" sz="2800" b="1" dirty="0">
                <a:latin typeface="Calibir"/>
              </a:rPr>
              <a:t>– New Multiple Choice Questions (Weeks 9 &amp; 11)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Week 9 – Files, Exceptions &amp; Testing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happens when you use </a:t>
            </a:r>
            <a:r>
              <a:rPr lang="en-US" sz="2800" dirty="0" err="1">
                <a:latin typeface="Calibir"/>
              </a:rPr>
              <a:t>FileReader</a:t>
            </a:r>
            <a:r>
              <a:rPr lang="en-US" sz="2800" dirty="0">
                <a:latin typeface="Calibir"/>
              </a:rPr>
              <a:t>("notes.txt") and the file does not exist?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It creates a new empty file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It throws </a:t>
            </a:r>
            <a:r>
              <a:rPr lang="en-US" sz="2800" dirty="0" err="1">
                <a:latin typeface="Calibir"/>
              </a:rPr>
              <a:t>FileNotFoundException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It returns null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It compiles but shows nothing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92008-97A5-027E-151B-95E126156535}"/>
              </a:ext>
            </a:extLst>
          </p:cNvPr>
          <p:cNvSpPr txBox="1"/>
          <p:nvPr/>
        </p:nvSpPr>
        <p:spPr>
          <a:xfrm>
            <a:off x="6169572" y="4189804"/>
            <a:ext cx="602242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Java throws a checked </a:t>
            </a:r>
            <a:r>
              <a:rPr lang="en-US" sz="2800" dirty="0" err="1">
                <a:latin typeface="Calibir"/>
              </a:rPr>
              <a:t>FileNotFoundException</a:t>
            </a:r>
            <a:r>
              <a:rPr lang="en-US" sz="2800" dirty="0">
                <a:latin typeface="Calibir"/>
              </a:rPr>
              <a:t> when the file is missing.</a:t>
            </a:r>
          </a:p>
        </p:txBody>
      </p:sp>
    </p:spTree>
    <p:extLst>
      <p:ext uri="{BB962C8B-B14F-4D97-AF65-F5344CB8AC3E}">
        <p14:creationId xmlns:p14="http://schemas.microsoft.com/office/powerpoint/2010/main" val="259290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21EE2-BCA6-FA63-2A24-BD41ACF1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2002-2942-2BE4-E217-6E6FB1DC7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700032-AC84-30AB-2B42-0AD6C12EDBE9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Q2.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statement is true about try-catch-finally in Java?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finally executes only if catch runs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finally never runs if an error occurs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finally always runs whether exception occurs or not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finally must come before catch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8FE34F-04E9-AD86-22AC-EF33EB6778E2}"/>
              </a:ext>
            </a:extLst>
          </p:cNvPr>
          <p:cNvSpPr txBox="1"/>
          <p:nvPr/>
        </p:nvSpPr>
        <p:spPr>
          <a:xfrm>
            <a:off x="6169572" y="4189804"/>
            <a:ext cx="6022428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finally executes after try and/or catch blocks every time.</a:t>
            </a:r>
          </a:p>
        </p:txBody>
      </p:sp>
    </p:spTree>
    <p:extLst>
      <p:ext uri="{BB962C8B-B14F-4D97-AF65-F5344CB8AC3E}">
        <p14:creationId xmlns:p14="http://schemas.microsoft.com/office/powerpoint/2010/main" val="392986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8E2AC-27CF-6485-D2D8-BC480F425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9B843-F173-51B7-2E2D-2336A5265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BB048D-8518-7ABD-651E-6E9A42ED428F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Q3.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class should you extend to create your own custom exception?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Exception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Throwable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Runtime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6FC9A2-4831-03E0-27B1-40E9637CD48B}"/>
              </a:ext>
            </a:extLst>
          </p:cNvPr>
          <p:cNvSpPr txBox="1"/>
          <p:nvPr/>
        </p:nvSpPr>
        <p:spPr>
          <a:xfrm>
            <a:off x="6169572" y="4189804"/>
            <a:ext cx="602242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User-defined checked exceptions extend Exception.</a:t>
            </a:r>
          </a:p>
        </p:txBody>
      </p:sp>
    </p:spTree>
    <p:extLst>
      <p:ext uri="{BB962C8B-B14F-4D97-AF65-F5344CB8AC3E}">
        <p14:creationId xmlns:p14="http://schemas.microsoft.com/office/powerpoint/2010/main" val="198494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36EBA-61ED-A3BE-2FA8-1F7F9926A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95B2-7851-7DFE-E2E8-8BCBE1655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7FED8-70F0-7677-CB67-DF1B2070035B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Q4.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does </a:t>
            </a:r>
            <a:r>
              <a:rPr lang="en-US" sz="2800" dirty="0" err="1">
                <a:latin typeface="Calibir"/>
              </a:rPr>
              <a:t>assertEquals</a:t>
            </a:r>
            <a:r>
              <a:rPr lang="en-US" sz="2800" dirty="0">
                <a:latin typeface="Calibir"/>
              </a:rPr>
              <a:t>(10, sum(5, 5)) do in JUnit?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Compares two numbers and fails if they’re different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Adds 10 and 5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Prints the result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Stops execution of the program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C6612D-25A5-03AB-AC1D-EDF1A457D70F}"/>
              </a:ext>
            </a:extLst>
          </p:cNvPr>
          <p:cNvSpPr txBox="1"/>
          <p:nvPr/>
        </p:nvSpPr>
        <p:spPr>
          <a:xfrm>
            <a:off x="6169572" y="4189804"/>
            <a:ext cx="6022428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assertEquals</a:t>
            </a:r>
            <a:r>
              <a:rPr lang="en-US" sz="2800" dirty="0">
                <a:latin typeface="Calibir"/>
              </a:rPr>
              <a:t> verifies that expected and actual values match.</a:t>
            </a:r>
          </a:p>
        </p:txBody>
      </p:sp>
    </p:spTree>
    <p:extLst>
      <p:ext uri="{BB962C8B-B14F-4D97-AF65-F5344CB8AC3E}">
        <p14:creationId xmlns:p14="http://schemas.microsoft.com/office/powerpoint/2010/main" val="718342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23AD8-3509-31DF-F39C-63C7DD9A7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9F09A-BA5A-33C4-E670-E122A94FD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01814C-FF88-EDDF-91C8-A045F217A37B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Q5.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stream would you use to write binary data to a file in Java?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BufferedReader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DataOutputStream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PrintWriter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FileReader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76BB8-86C1-4A35-BB34-BD12C2E4FE42}"/>
              </a:ext>
            </a:extLst>
          </p:cNvPr>
          <p:cNvSpPr txBox="1"/>
          <p:nvPr/>
        </p:nvSpPr>
        <p:spPr>
          <a:xfrm>
            <a:off x="6169572" y="4189804"/>
            <a:ext cx="6022428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DataOutputStream</a:t>
            </a:r>
            <a:r>
              <a:rPr lang="en-US" sz="2800" dirty="0">
                <a:latin typeface="Calibir"/>
              </a:rPr>
              <a:t> writes binary (primitives, bytes) to files.</a:t>
            </a:r>
          </a:p>
        </p:txBody>
      </p:sp>
    </p:spTree>
    <p:extLst>
      <p:ext uri="{BB962C8B-B14F-4D97-AF65-F5344CB8AC3E}">
        <p14:creationId xmlns:p14="http://schemas.microsoft.com/office/powerpoint/2010/main" val="188259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6DD0A-31D4-433C-BDA8-D66FC44DF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3D547-C1C1-CCC8-57FE-DD0F6D47E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3F701D-7517-F103-8DF1-531DBD6096A4}"/>
              </a:ext>
            </a:extLst>
          </p:cNvPr>
          <p:cNvSpPr txBox="1"/>
          <p:nvPr/>
        </p:nvSpPr>
        <p:spPr>
          <a:xfrm>
            <a:off x="0" y="84066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Week 11 – JavaFX GUI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Q6.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layout arranges elements in a grid of rows and columns?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BorderPane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HBox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GridPane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VBox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3FE23B-DEB6-9451-F0DF-F33D5A06FA74}"/>
              </a:ext>
            </a:extLst>
          </p:cNvPr>
          <p:cNvSpPr txBox="1"/>
          <p:nvPr/>
        </p:nvSpPr>
        <p:spPr>
          <a:xfrm>
            <a:off x="6169572" y="4189804"/>
            <a:ext cx="602242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GridPane</a:t>
            </a:r>
            <a:r>
              <a:rPr lang="en-US" sz="2800" dirty="0">
                <a:latin typeface="Calibir"/>
              </a:rPr>
              <a:t> positions nodes by row/column coordinates.</a:t>
            </a:r>
          </a:p>
        </p:txBody>
      </p:sp>
    </p:spTree>
    <p:extLst>
      <p:ext uri="{BB962C8B-B14F-4D97-AF65-F5344CB8AC3E}">
        <p14:creationId xmlns:p14="http://schemas.microsoft.com/office/powerpoint/2010/main" val="583389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01E50-113A-D0DC-AB2A-1A5C90D39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A599C-0323-1D84-4C02-3FB5BE07B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B40811-E382-44D1-C274-7565DDC003C8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Q7.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JavaFX node hides user input (such as passwords)?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TextField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PasswordField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Label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TextArea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4511C0-0377-0164-54B8-3648D402BA46}"/>
              </a:ext>
            </a:extLst>
          </p:cNvPr>
          <p:cNvSpPr txBox="1"/>
          <p:nvPr/>
        </p:nvSpPr>
        <p:spPr>
          <a:xfrm>
            <a:off x="6169572" y="4189804"/>
            <a:ext cx="6022428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PasswordField</a:t>
            </a:r>
            <a:r>
              <a:rPr lang="en-US" sz="2800" dirty="0">
                <a:latin typeface="Calibir"/>
              </a:rPr>
              <a:t> masks input with dots or asterisks.</a:t>
            </a:r>
          </a:p>
        </p:txBody>
      </p:sp>
    </p:spTree>
    <p:extLst>
      <p:ext uri="{BB962C8B-B14F-4D97-AF65-F5344CB8AC3E}">
        <p14:creationId xmlns:p14="http://schemas.microsoft.com/office/powerpoint/2010/main" val="4193565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4C7D-2CEE-846F-6726-6177D5472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79CBB-280F-3E9B-9D96-091BF5D7E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17BFB2-DB9A-03FA-FF81-57233E3D5F16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Q8.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In an FXML application, what does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 do?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Defines the button label text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Links a UI component to a controller variable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Creates a new thread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Handles the window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880B17-1514-33AE-906D-CE08CEDFCB45}"/>
              </a:ext>
            </a:extLst>
          </p:cNvPr>
          <p:cNvSpPr txBox="1"/>
          <p:nvPr/>
        </p:nvSpPr>
        <p:spPr>
          <a:xfrm>
            <a:off x="6169572" y="4189804"/>
            <a:ext cx="6022428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 connects an FXML control to its Java controller field.</a:t>
            </a:r>
          </a:p>
        </p:txBody>
      </p:sp>
    </p:spTree>
    <p:extLst>
      <p:ext uri="{BB962C8B-B14F-4D97-AF65-F5344CB8AC3E}">
        <p14:creationId xmlns:p14="http://schemas.microsoft.com/office/powerpoint/2010/main" val="413259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42A01-79EE-FE04-37B0-A5D058D9D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B5287-31D9-0E0E-86A3-D9A903FE2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5B0301-E5F8-FD86-B03C-5B9C258266D0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Q9.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JavaFX method is used to make a window visible on screen?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open()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show()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display()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render()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F66149-7E11-0D66-4260-596359520F16}"/>
              </a:ext>
            </a:extLst>
          </p:cNvPr>
          <p:cNvSpPr txBox="1"/>
          <p:nvPr/>
        </p:nvSpPr>
        <p:spPr>
          <a:xfrm>
            <a:off x="6169572" y="4189804"/>
            <a:ext cx="602242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stage.show</a:t>
            </a:r>
            <a:r>
              <a:rPr lang="en-US" sz="2800" dirty="0">
                <a:latin typeface="Calibir"/>
              </a:rPr>
              <a:t>() renders and displays the window to the user.</a:t>
            </a:r>
          </a:p>
        </p:txBody>
      </p:sp>
    </p:spTree>
    <p:extLst>
      <p:ext uri="{BB962C8B-B14F-4D97-AF65-F5344CB8AC3E}">
        <p14:creationId xmlns:p14="http://schemas.microsoft.com/office/powerpoint/2010/main" val="441966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AF4F6-6358-558E-5EC5-500F4951F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8FF94-0E16-0580-7D7B-13B2D60C1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B20AC0-1A4A-9D4E-0CF3-D6306B720DA3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Q10.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happens if you forget to call </a:t>
            </a:r>
            <a:r>
              <a:rPr lang="en-US" sz="2800" dirty="0" err="1">
                <a:latin typeface="Calibir"/>
              </a:rPr>
              <a:t>Application.launch</a:t>
            </a:r>
            <a:r>
              <a:rPr lang="en-US" sz="2800" dirty="0">
                <a:latin typeface="Calibir"/>
              </a:rPr>
              <a:t>() in a JavaFX program?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The UI still opens automatically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The program compiles but throws an error at runtime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The window opens without controls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Nothing – the main method runs normally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CDDFBB-3C5C-F09D-8B70-398B244FC8AE}"/>
              </a:ext>
            </a:extLst>
          </p:cNvPr>
          <p:cNvSpPr txBox="1"/>
          <p:nvPr/>
        </p:nvSpPr>
        <p:spPr>
          <a:xfrm>
            <a:off x="0" y="4893488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Without launch(), the JavaFX runtime is never started, causing a runtime error.</a:t>
            </a:r>
          </a:p>
        </p:txBody>
      </p:sp>
    </p:spTree>
    <p:extLst>
      <p:ext uri="{BB962C8B-B14F-4D97-AF65-F5344CB8AC3E}">
        <p14:creationId xmlns:p14="http://schemas.microsoft.com/office/powerpoint/2010/main" val="2483531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BE03E-6246-87A3-8480-5C44FC805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7A7E3-D169-E928-C72E-A454E09F3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A6F0E3-A57C-1EA6-8F96-1FC889C844E2}"/>
              </a:ext>
            </a:extLst>
          </p:cNvPr>
          <p:cNvSpPr txBox="1"/>
          <p:nvPr/>
        </p:nvSpPr>
        <p:spPr>
          <a:xfrm>
            <a:off x="0" y="84066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Q11. (2 pts) — Exceptions &amp; Files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is printed by this code fragment?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C0398D-62ED-F60A-55ED-8573B4C87726}"/>
              </a:ext>
            </a:extLst>
          </p:cNvPr>
          <p:cNvSpPr txBox="1"/>
          <p:nvPr/>
        </p:nvSpPr>
        <p:spPr>
          <a:xfrm>
            <a:off x="6958362" y="2162434"/>
            <a:ext cx="523363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If demo.txt is missing, </a:t>
            </a:r>
            <a:r>
              <a:rPr lang="en-US" sz="2800" dirty="0" err="1">
                <a:latin typeface="Calibir"/>
              </a:rPr>
              <a:t>FileReader</a:t>
            </a:r>
            <a:r>
              <a:rPr lang="en-US" sz="2800" dirty="0">
                <a:latin typeface="Calibir"/>
              </a:rPr>
              <a:t> throws </a:t>
            </a:r>
            <a:r>
              <a:rPr lang="en-US" sz="2800" dirty="0" err="1">
                <a:latin typeface="Calibir"/>
              </a:rPr>
              <a:t>IOException</a:t>
            </a:r>
            <a:r>
              <a:rPr lang="en-US" sz="2800" dirty="0">
                <a:latin typeface="Calibir"/>
              </a:rPr>
              <a:t>; the catch runs then finally executes.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9F8EE2-80D5-6D01-DB03-573FE53923ED}"/>
              </a:ext>
            </a:extLst>
          </p:cNvPr>
          <p:cNvSpPr txBox="1"/>
          <p:nvPr/>
        </p:nvSpPr>
        <p:spPr>
          <a:xfrm>
            <a:off x="0" y="6211668"/>
            <a:ext cx="115972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A) Opened Done B) Missing Done C) Only Opened D) Only Done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42ABA71-EF06-14AE-A468-E6D5523696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5" t="27317" r="44299" b="25041"/>
          <a:stretch>
            <a:fillRect/>
          </a:stretch>
        </p:blipFill>
        <p:spPr>
          <a:xfrm>
            <a:off x="0" y="2157368"/>
            <a:ext cx="6738456" cy="3775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124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F61C6-D00D-8641-D080-446A67683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F0303-4CD2-624B-FB70-1D519F606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69EB78-F55D-F94B-40C6-98093F34AC07}"/>
              </a:ext>
            </a:extLst>
          </p:cNvPr>
          <p:cNvSpPr txBox="1"/>
          <p:nvPr/>
        </p:nvSpPr>
        <p:spPr>
          <a:xfrm>
            <a:off x="0" y="840662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Q12. (2 pts) — JavaFX GUI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JavaFX control allows the user to choose one item from a drop-down list?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TextField</a:t>
            </a:r>
            <a:r>
              <a:rPr lang="en-US" sz="2800" dirty="0">
                <a:latin typeface="Calibir"/>
              </a:rPr>
              <a:t> B) </a:t>
            </a:r>
            <a:r>
              <a:rPr lang="en-US" sz="2800" dirty="0" err="1">
                <a:latin typeface="Calibir"/>
              </a:rPr>
              <a:t>ComboBox</a:t>
            </a:r>
            <a:r>
              <a:rPr lang="en-US" sz="2800" dirty="0">
                <a:latin typeface="Calibir"/>
              </a:rPr>
              <a:t> C) </a:t>
            </a:r>
            <a:r>
              <a:rPr lang="en-US" sz="2800" dirty="0" err="1">
                <a:latin typeface="Calibir"/>
              </a:rPr>
              <a:t>ListView</a:t>
            </a:r>
            <a:r>
              <a:rPr lang="en-US" sz="2800" dirty="0">
                <a:latin typeface="Calibir"/>
              </a:rPr>
              <a:t> D) </a:t>
            </a:r>
            <a:r>
              <a:rPr lang="en-US" sz="2800" dirty="0" err="1">
                <a:latin typeface="Calibir"/>
              </a:rPr>
              <a:t>CheckBox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C06AFF-E73A-4704-9FD1-45E4FDE74372}"/>
              </a:ext>
            </a:extLst>
          </p:cNvPr>
          <p:cNvSpPr txBox="1"/>
          <p:nvPr/>
        </p:nvSpPr>
        <p:spPr>
          <a:xfrm>
            <a:off x="0" y="3702643"/>
            <a:ext cx="1159726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ComboBox</a:t>
            </a:r>
            <a:r>
              <a:rPr lang="en-US" sz="2800" dirty="0">
                <a:latin typeface="Calibir"/>
              </a:rPr>
              <a:t> provides a drop-down for selecting a single option.</a:t>
            </a:r>
          </a:p>
        </p:txBody>
      </p:sp>
    </p:spTree>
    <p:extLst>
      <p:ext uri="{BB962C8B-B14F-4D97-AF65-F5344CB8AC3E}">
        <p14:creationId xmlns:p14="http://schemas.microsoft.com/office/powerpoint/2010/main" val="114538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3DDE1-1ACE-5F64-50D3-97E0C91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66F35-33EC-E8DA-F97E-F175841FC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08CCF9-F66E-017E-31AB-E629C3EDFE45}"/>
              </a:ext>
            </a:extLst>
          </p:cNvPr>
          <p:cNvSpPr txBox="1"/>
          <p:nvPr/>
        </p:nvSpPr>
        <p:spPr>
          <a:xfrm>
            <a:off x="0" y="840662"/>
            <a:ext cx="12192000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Q14. (2 pts) — Exceptions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What will this program print?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885491-AE6F-3D35-CC10-0A5E3D4B4F93}"/>
              </a:ext>
            </a:extLst>
          </p:cNvPr>
          <p:cNvSpPr txBox="1"/>
          <p:nvPr/>
        </p:nvSpPr>
        <p:spPr>
          <a:xfrm>
            <a:off x="7025267" y="2246351"/>
            <a:ext cx="256199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A) Error End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End 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Only Error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Only 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24EE1-D9F9-E574-A7E1-24DC82139560}"/>
              </a:ext>
            </a:extLst>
          </p:cNvPr>
          <p:cNvSpPr txBox="1"/>
          <p:nvPr/>
        </p:nvSpPr>
        <p:spPr>
          <a:xfrm>
            <a:off x="0" y="5427590"/>
            <a:ext cx="1219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Division by zero throws </a:t>
            </a:r>
            <a:r>
              <a:rPr lang="en-US" sz="2800" dirty="0" err="1">
                <a:latin typeface="Calibir"/>
              </a:rPr>
              <a:t>ArithmeticException</a:t>
            </a:r>
            <a:r>
              <a:rPr lang="en-US" sz="2800" dirty="0">
                <a:latin typeface="Calibir"/>
              </a:rPr>
              <a:t>; the catch and finally blocks both run.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2DF6E9-1D8A-6D9A-5B4F-8FB141FDB3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27968" r="43659" b="34472"/>
          <a:stretch>
            <a:fillRect/>
          </a:stretch>
        </p:blipFill>
        <p:spPr>
          <a:xfrm>
            <a:off x="0" y="2162434"/>
            <a:ext cx="7025267" cy="311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45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BB3B0-E96A-E673-3071-11F13F083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B4E8D-8499-4D37-E823-95ABD69B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F9CA28-339E-ACE4-4E06-B63DD7A56E08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Q15. (2 pts) — JavaFX Controls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JavaFX control allows a user to select multiple items at once?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ComboBox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ListView</a:t>
            </a:r>
            <a:r>
              <a:rPr lang="en-US" sz="2800" dirty="0">
                <a:latin typeface="Calibir"/>
              </a:rPr>
              <a:t> with </a:t>
            </a:r>
            <a:r>
              <a:rPr lang="en-US" sz="2800" dirty="0" err="1">
                <a:latin typeface="Calibir"/>
              </a:rPr>
              <a:t>SelectionMode.MULTIPLE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RadioButton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TextArea</a:t>
            </a:r>
            <a:endParaRPr lang="en-US" sz="2800" dirty="0">
              <a:latin typeface="Calibir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E2EB9A-3E48-0A26-49FF-8B0B8378149C}"/>
              </a:ext>
            </a:extLst>
          </p:cNvPr>
          <p:cNvSpPr txBox="1"/>
          <p:nvPr/>
        </p:nvSpPr>
        <p:spPr>
          <a:xfrm>
            <a:off x="0" y="4831674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ListView</a:t>
            </a:r>
            <a:r>
              <a:rPr lang="en-US" sz="2800" dirty="0">
                <a:latin typeface="Calibir"/>
              </a:rPr>
              <a:t> can enable multi-selection through its selection model settings.</a:t>
            </a:r>
          </a:p>
        </p:txBody>
      </p:sp>
    </p:spTree>
    <p:extLst>
      <p:ext uri="{BB962C8B-B14F-4D97-AF65-F5344CB8AC3E}">
        <p14:creationId xmlns:p14="http://schemas.microsoft.com/office/powerpoint/2010/main" val="761081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00DF-50CA-11D0-FEFA-FC95200A5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91EFF-8F2D-BDB4-8A5D-26A7781FA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for Quiz 2 (</a:t>
            </a:r>
            <a:r>
              <a:rPr lang="en-US" sz="4000" kern="100" dirty="0">
                <a:highlight>
                  <a:srgbClr val="FFFF00"/>
                </a:highlight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B187C0-78DD-7822-DD69-E627ECFCD7EE}"/>
              </a:ext>
            </a:extLst>
          </p:cNvPr>
          <p:cNvSpPr txBox="1"/>
          <p:nvPr/>
        </p:nvSpPr>
        <p:spPr>
          <a:xfrm>
            <a:off x="0" y="840662"/>
            <a:ext cx="12192000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Q16. (2 pts) — JavaFX Lifecycle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Which JavaFX method is called automatically after </a:t>
            </a:r>
            <a:r>
              <a:rPr lang="en-US" dirty="0">
                <a:latin typeface="Calibir"/>
              </a:rPr>
              <a:t>launch()</a:t>
            </a:r>
            <a:r>
              <a:rPr lang="en-US" sz="2800" dirty="0">
                <a:latin typeface="Calibir"/>
              </a:rPr>
              <a:t> to set up the UI?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main()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init</a:t>
            </a:r>
            <a:r>
              <a:rPr lang="en-US" sz="2800" dirty="0">
                <a:latin typeface="Calibir"/>
              </a:rPr>
              <a:t>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start(Stage </a:t>
            </a:r>
            <a:r>
              <a:rPr lang="en-US" sz="2800" dirty="0" err="1">
                <a:latin typeface="Calibir"/>
              </a:rPr>
              <a:t>primaryStage</a:t>
            </a:r>
            <a:r>
              <a:rPr lang="en-US" sz="2800" dirty="0">
                <a:latin typeface="Calibir"/>
              </a:rPr>
              <a:t>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render()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C65ABF-94B6-ECC7-1AE5-99DC1F49E489}"/>
              </a:ext>
            </a:extLst>
          </p:cNvPr>
          <p:cNvSpPr txBox="1"/>
          <p:nvPr/>
        </p:nvSpPr>
        <p:spPr>
          <a:xfrm>
            <a:off x="0" y="4831674"/>
            <a:ext cx="12192000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start() is the entry point where you build the stage and scene after the JavaFX runtime starts.</a:t>
            </a:r>
          </a:p>
        </p:txBody>
      </p:sp>
    </p:spTree>
    <p:extLst>
      <p:ext uri="{BB962C8B-B14F-4D97-AF65-F5344CB8AC3E}">
        <p14:creationId xmlns:p14="http://schemas.microsoft.com/office/powerpoint/2010/main" val="3851744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C66B-F7AA-3BAF-262C-F4C784778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589FE-FD5F-24B4-81B5-677B11A08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329841-9968-77BE-1FE3-545CAC5F4C96}"/>
              </a:ext>
            </a:extLst>
          </p:cNvPr>
          <p:cNvSpPr txBox="1"/>
          <p:nvPr/>
        </p:nvSpPr>
        <p:spPr>
          <a:xfrm>
            <a:off x="0" y="1477248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As you prepare for your Showcase presentation (Part 3), please review this Sample Question List.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These are the kinds of questions I may ask about your design, logic, testing, and teamwork.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 don’t need to </a:t>
            </a:r>
            <a:r>
              <a:rPr lang="en-US" sz="2800" dirty="0" err="1">
                <a:latin typeface="Calibir"/>
              </a:rPr>
              <a:t>memorise</a:t>
            </a:r>
            <a:r>
              <a:rPr lang="en-US" sz="2800" dirty="0">
                <a:latin typeface="Calibir"/>
              </a:rPr>
              <a:t> answers — just be ready to explain your own code and what you learned.</a:t>
            </a:r>
          </a:p>
        </p:txBody>
      </p:sp>
    </p:spTree>
    <p:extLst>
      <p:ext uri="{BB962C8B-B14F-4D97-AF65-F5344CB8AC3E}">
        <p14:creationId xmlns:p14="http://schemas.microsoft.com/office/powerpoint/2010/main" val="2988043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19C2C-900E-92F3-A16C-414E2CAC6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13EC5-0C28-B9AF-8C13-49E253B45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41C746-E210-8936-3BF3-DBDC0D982CA7}"/>
              </a:ext>
            </a:extLst>
          </p:cNvPr>
          <p:cNvSpPr txBox="1"/>
          <p:nvPr/>
        </p:nvSpPr>
        <p:spPr>
          <a:xfrm>
            <a:off x="110359" y="1477248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By now, each group should demonstrate: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Technical fluency: Writing functional, modular code in Java or Python.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Data handling: Reading/writing to local files (</a:t>
            </a:r>
            <a:r>
              <a:rPr lang="en-US" sz="2800" dirty="0" err="1">
                <a:latin typeface="Calibir"/>
              </a:rPr>
              <a:t>students.data</a:t>
            </a:r>
            <a:r>
              <a:rPr lang="en-US" sz="2800" dirty="0">
                <a:latin typeface="Calibir"/>
              </a:rPr>
              <a:t>), serialization, and validation.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Design understanding: Applying Model–View–Controller (MVC) logic, separating UI logic from backend data handling.</a:t>
            </a:r>
          </a:p>
        </p:txBody>
      </p:sp>
    </p:spTree>
    <p:extLst>
      <p:ext uri="{BB962C8B-B14F-4D97-AF65-F5344CB8AC3E}">
        <p14:creationId xmlns:p14="http://schemas.microsoft.com/office/powerpoint/2010/main" val="40626143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747F-30FC-D92E-C620-BB501FB80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F13D1-712F-4901-6EF2-141A3D1F9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6EB5A9-1F25-9B3D-24A1-6718AB6417D6}"/>
              </a:ext>
            </a:extLst>
          </p:cNvPr>
          <p:cNvSpPr txBox="1"/>
          <p:nvPr/>
        </p:nvSpPr>
        <p:spPr>
          <a:xfrm>
            <a:off x="110359" y="1800413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Regex validation: Implementing correct email and password rules.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Error handling: Managing edge cases (duplicate student, invalid input, subject limit, etc.).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Testing &amp; debugging: Matching outputs to given sample I/O.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Collaboration: Integrating each member’s work into one consistent system.</a:t>
            </a:r>
          </a:p>
        </p:txBody>
      </p:sp>
    </p:spTree>
    <p:extLst>
      <p:ext uri="{BB962C8B-B14F-4D97-AF65-F5344CB8AC3E}">
        <p14:creationId xmlns:p14="http://schemas.microsoft.com/office/powerpoint/2010/main" val="26036227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0A549-9EBF-ACA4-E19C-619FA7C96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44109-49BE-5E01-60A5-A090DDE3C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1245B9-7FBE-CA83-DC4B-6D337774F79F}"/>
              </a:ext>
            </a:extLst>
          </p:cNvPr>
          <p:cNvSpPr txBox="1"/>
          <p:nvPr/>
        </p:nvSpPr>
        <p:spPr>
          <a:xfrm>
            <a:off x="0" y="1236107"/>
            <a:ext cx="119712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Concept &amp; Design (5 examples)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does your implementation follow the MVC structure?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data structures did you use to store subjects and students, and why?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Explain how your program handles persistence — what happens when the system restarts?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 ensure the system remains scalable if more features were added?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Describe one key difference between your CLI and GUI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709187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7D2A-9A6D-955E-2067-750B742F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DD265-B0CB-7C3A-05DC-A7F6C8EA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E58F5A-8B1E-E3C5-34D3-E6A376DF5860}"/>
              </a:ext>
            </a:extLst>
          </p:cNvPr>
          <p:cNvSpPr txBox="1"/>
          <p:nvPr/>
        </p:nvSpPr>
        <p:spPr>
          <a:xfrm>
            <a:off x="0" y="1236107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Coding &amp; Logic (Java / Python variants)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 validate emails and passwords using regex?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method generates unique IDs for students and subjects?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Can you explain how marks and grades are calculated?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does your code prevent enrolment beyond four subjects?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If the </a:t>
            </a:r>
            <a:r>
              <a:rPr lang="en-US" sz="2800" dirty="0" err="1">
                <a:latin typeface="Calibir"/>
              </a:rPr>
              <a:t>students.data</a:t>
            </a:r>
            <a:r>
              <a:rPr lang="en-US" sz="2800" dirty="0">
                <a:latin typeface="Calibir"/>
              </a:rPr>
              <a:t> file doesn’t exist, what happens?</a:t>
            </a:r>
          </a:p>
        </p:txBody>
      </p:sp>
    </p:spTree>
    <p:extLst>
      <p:ext uri="{BB962C8B-B14F-4D97-AF65-F5344CB8AC3E}">
        <p14:creationId xmlns:p14="http://schemas.microsoft.com/office/powerpoint/2010/main" val="34855879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B0421-E6F1-3D0E-9DF1-53AFD5890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79892-EB63-EFF6-CCE7-F881BBED5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49915D-7F30-205F-7C52-0986C737D231}"/>
              </a:ext>
            </a:extLst>
          </p:cNvPr>
          <p:cNvSpPr txBox="1"/>
          <p:nvPr/>
        </p:nvSpPr>
        <p:spPr>
          <a:xfrm>
            <a:off x="0" y="1236107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(Optional follow-ups for each language)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Java:</a:t>
            </a:r>
            <a:r>
              <a:rPr lang="en-US" sz="2800" dirty="0">
                <a:latin typeface="Calibir"/>
              </a:rPr>
              <a:t> How did you use </a:t>
            </a:r>
            <a:r>
              <a:rPr lang="en-US" sz="2800" dirty="0" err="1">
                <a:latin typeface="Calibir"/>
              </a:rPr>
              <a:t>FileOutputStream</a:t>
            </a:r>
            <a:r>
              <a:rPr lang="en-US" sz="2800" dirty="0">
                <a:latin typeface="Calibir"/>
              </a:rPr>
              <a:t>, </a:t>
            </a:r>
            <a:r>
              <a:rPr lang="en-US" sz="2800" dirty="0" err="1">
                <a:latin typeface="Calibir"/>
              </a:rPr>
              <a:t>ObjectOutputStream</a:t>
            </a:r>
            <a:r>
              <a:rPr lang="en-US" sz="2800" dirty="0">
                <a:latin typeface="Calibir"/>
              </a:rPr>
              <a:t>, or Collections?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Python:</a:t>
            </a:r>
            <a:r>
              <a:rPr lang="en-US" sz="2800" dirty="0">
                <a:latin typeface="Calibir"/>
              </a:rPr>
              <a:t> How did you use pickle / </a:t>
            </a:r>
            <a:r>
              <a:rPr lang="en-US" sz="2800" dirty="0" err="1">
                <a:latin typeface="Calibir"/>
              </a:rPr>
              <a:t>json</a:t>
            </a:r>
            <a:r>
              <a:rPr lang="en-US" sz="2800" dirty="0">
                <a:latin typeface="Calibir"/>
              </a:rPr>
              <a:t>, and how did you handle exceptions with try–except?</a:t>
            </a:r>
          </a:p>
        </p:txBody>
      </p:sp>
    </p:spTree>
    <p:extLst>
      <p:ext uri="{BB962C8B-B14F-4D97-AF65-F5344CB8AC3E}">
        <p14:creationId xmlns:p14="http://schemas.microsoft.com/office/powerpoint/2010/main" val="39576251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D2E63-70BC-FC9E-6515-5EF93DBA3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C6A3F-3354-2A1E-6CFF-81EF2588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AFE311-FA38-1800-561A-0DDC787BA9E3}"/>
              </a:ext>
            </a:extLst>
          </p:cNvPr>
          <p:cNvSpPr txBox="1"/>
          <p:nvPr/>
        </p:nvSpPr>
        <p:spPr>
          <a:xfrm>
            <a:off x="0" y="1236107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Error Handling &amp; Testing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exceptions or input errors did you anticipate and handle?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 test your system to confirm all menus and file operations worked?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happens if an admin removes a student currently enrolled in subjects?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 verify data integrity after write/read operations?</a:t>
            </a:r>
          </a:p>
        </p:txBody>
      </p:sp>
    </p:spTree>
    <p:extLst>
      <p:ext uri="{BB962C8B-B14F-4D97-AF65-F5344CB8AC3E}">
        <p14:creationId xmlns:p14="http://schemas.microsoft.com/office/powerpoint/2010/main" val="5939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27CE0-D4F7-725B-B6B9-0C3D51B1B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3ADD2-F611-AE42-8A52-F73AB957D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247349-101E-9ADE-74A6-364F27ED11EC}"/>
              </a:ext>
            </a:extLst>
          </p:cNvPr>
          <p:cNvSpPr txBox="1"/>
          <p:nvPr/>
        </p:nvSpPr>
        <p:spPr>
          <a:xfrm>
            <a:off x="0" y="1236107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GUI (for teams who attempted it)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does your GUI interact with the backend data file?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do you manage window transitions (Login → Enrolment → Subject list)?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Which GUI framework did you use (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/ JavaFX), and why?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 handle empty input or invalid login attempts in the GUI?</a:t>
            </a:r>
          </a:p>
        </p:txBody>
      </p:sp>
    </p:spTree>
    <p:extLst>
      <p:ext uri="{BB962C8B-B14F-4D97-AF65-F5344CB8AC3E}">
        <p14:creationId xmlns:p14="http://schemas.microsoft.com/office/powerpoint/2010/main" val="34862462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D67BF-CC96-97A2-32DD-040E81FBF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B553E-7D1E-3CC5-741E-CCB7A5F2C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6107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Showcase Q&amp;A Preparation (for Java &amp; Python Developer Teams)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6E3E72-8CBB-75D8-877B-84B06F8CE6EA}"/>
              </a:ext>
            </a:extLst>
          </p:cNvPr>
          <p:cNvSpPr txBox="1"/>
          <p:nvPr/>
        </p:nvSpPr>
        <p:spPr>
          <a:xfrm>
            <a:off x="0" y="1236107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Reflection &amp; Teamwork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was your biggest coding or integration challenge, and how did you solve it?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did your group divide and merge tasks effectively?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What new skills or tools did you learn through this project?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If you could redesign one feature, what would it be and why?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How does this project prepare you for real software development roles?</a:t>
            </a:r>
          </a:p>
        </p:txBody>
      </p:sp>
    </p:spTree>
    <p:extLst>
      <p:ext uri="{BB962C8B-B14F-4D97-AF65-F5344CB8AC3E}">
        <p14:creationId xmlns:p14="http://schemas.microsoft.com/office/powerpoint/2010/main" val="18418801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38945-5867-B562-9583-3EED5073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B8A44-8B87-FE58-843F-CB5F054CA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91376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You Learned (Selfie &amp; Celebration)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2EC594-68D8-FC97-5215-C4DBEB9CAA48}"/>
              </a:ext>
            </a:extLst>
          </p:cNvPr>
          <p:cNvSpPr txBox="1"/>
          <p:nvPr/>
        </p:nvSpPr>
        <p:spPr>
          <a:xfrm>
            <a:off x="110359" y="1154082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an incredible journey!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Over the past few weeks, our students transformed an idea into a fully functional Student Management System — designing, coding, debugging, and showcasing their work with pride!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They mastered #Java and #Python, explored #ObjectOrientedDesign, built #GUI apps with JavaFX and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, and learned the true value of #Collaboration and #Agile teamwork.</a:t>
            </a:r>
          </a:p>
        </p:txBody>
      </p:sp>
    </p:spTree>
    <p:extLst>
      <p:ext uri="{BB962C8B-B14F-4D97-AF65-F5344CB8AC3E}">
        <p14:creationId xmlns:p14="http://schemas.microsoft.com/office/powerpoint/2010/main" val="35270837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42B2-2134-3FE0-4AD0-D7BD57C21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5BBD-087E-F13A-0CE9-7B50D6873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You Learned (Selfie &amp; Celebration)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F5694D-4AC8-4047-A0A5-37F5E3DCA746}"/>
              </a:ext>
            </a:extLst>
          </p:cNvPr>
          <p:cNvSpPr txBox="1"/>
          <p:nvPr/>
        </p:nvSpPr>
        <p:spPr>
          <a:xfrm>
            <a:off x="110359" y="1800413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Congratulations to all future developers — you’ve turned ideas into real software! Take a selfie-celebration and share your success with pride!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#FundamentalSoftwareDevelopment #Java #Python #UML #Innovation #TeamWork #LearningByDoing #SoftwareEngineering #StudentSuccess #UTS #FutureDevelopers #CodingCommunity</a:t>
            </a:r>
          </a:p>
        </p:txBody>
      </p:sp>
    </p:spTree>
    <p:extLst>
      <p:ext uri="{BB962C8B-B14F-4D97-AF65-F5344CB8AC3E}">
        <p14:creationId xmlns:p14="http://schemas.microsoft.com/office/powerpoint/2010/main" val="13325852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E3074-76C0-CB93-7280-D2E016098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C35DB-69C1-2E8C-C6C6-6BE840702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24607"/>
          </a:xfrm>
        </p:spPr>
        <p:txBody>
          <a:bodyPr anchor="b">
            <a:no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Showcase Presentation Scheduling &amp; Student Communication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C804EA-21DE-79DF-BF24-5159F7A297A2}"/>
              </a:ext>
            </a:extLst>
          </p:cNvPr>
          <p:cNvSpPr txBox="1"/>
          <p:nvPr/>
        </p:nvSpPr>
        <p:spPr>
          <a:xfrm>
            <a:off x="0" y="1236107"/>
            <a:ext cx="119712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Hi Farshid,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I hope you’re doing well.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I’m writing to confirm the schedule for our Assessment 1 – Part 3 showcase presentation for Group- 3. Our group would like to request that our Assessment 1 – Part 3 showcase presentation be scheduled during Week 13 of our usual class hours. Please let us know if this can be accommodated for updating the registration sheet accordingly.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Kind Regards,</a:t>
            </a:r>
          </a:p>
        </p:txBody>
      </p:sp>
    </p:spTree>
    <p:extLst>
      <p:ext uri="{BB962C8B-B14F-4D97-AF65-F5344CB8AC3E}">
        <p14:creationId xmlns:p14="http://schemas.microsoft.com/office/powerpoint/2010/main" val="38029280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0AF4E-982A-CFA3-1170-F79E0A151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C626882-6C23-6E9E-4CE9-E1E721661827}"/>
              </a:ext>
            </a:extLst>
          </p:cNvPr>
          <p:cNvSpPr txBox="1"/>
          <p:nvPr/>
        </p:nvSpPr>
        <p:spPr>
          <a:xfrm>
            <a:off x="0" y="1015503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Student,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Thank you for your message and for confirming your group’s preference. That works perfectly — since Week 13 begins on 3rd November, we can schedule your showcase during our regular class time.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Please ensure your group is ready to present the working application and that each member explains their own contribution as outlined in the presentation guidelines. I look forward to seeing your project in action!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Kind regards,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Dr. Farshid Keivanian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42F157-80FB-F338-C361-BE2175230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24607"/>
          </a:xfrm>
        </p:spPr>
        <p:txBody>
          <a:bodyPr anchor="b">
            <a:no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Showcase Presentation Scheduling &amp; Student Communication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59089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02D18-FDCA-D6C7-C881-6BCA79FD7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F2E144C-F68C-C080-CA78-F50273EDDAC1}"/>
              </a:ext>
            </a:extLst>
          </p:cNvPr>
          <p:cNvSpPr txBox="1"/>
          <p:nvPr/>
        </p:nvSpPr>
        <p:spPr>
          <a:xfrm>
            <a:off x="0" y="1124607"/>
            <a:ext cx="121920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2800" dirty="0">
                <a:latin typeface="Calibir"/>
              </a:rPr>
              <a:t>Dear Farshid,</a:t>
            </a:r>
          </a:p>
          <a:p>
            <a:pPr fontAlgn="base"/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Thanks for your response. As you have mentioned that you will be available from the 27 October – 2 November.  Our request is that we would like to give the presentation on the 2nd of November as we would like to complete and review our application . We will not be able to present it on the 28th as we have other assignments due while this was scheduled for 7th November according to canvas. </a:t>
            </a:r>
          </a:p>
          <a:p>
            <a:pPr fontAlgn="base"/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To </a:t>
            </a:r>
            <a:r>
              <a:rPr lang="en-US" sz="2800" dirty="0" err="1">
                <a:latin typeface="Calibir"/>
              </a:rPr>
              <a:t>summarise</a:t>
            </a:r>
            <a:r>
              <a:rPr lang="en-US" sz="2800" dirty="0">
                <a:latin typeface="Calibir"/>
              </a:rPr>
              <a:t> we would like to present you our assignment on the 2nd of November with the guidelines mentioned in the previous mail .  If you’re not available as it is a Sunday, we would request to give it as per the dates in canvas i.e. on the 7th of November. Please feel free to let us know your availability accordingly. 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73C59FC-7FAF-F5C9-416A-3EDDA7335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24607"/>
          </a:xfrm>
        </p:spPr>
        <p:txBody>
          <a:bodyPr anchor="b">
            <a:no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Showcase Presentation Scheduling &amp; Student Communication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0378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98D0F-8119-05C5-F34B-B9862F322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CE7E70A-6B71-78C8-EB75-923C4942BB15}"/>
              </a:ext>
            </a:extLst>
          </p:cNvPr>
          <p:cNvSpPr txBox="1"/>
          <p:nvPr/>
        </p:nvSpPr>
        <p:spPr>
          <a:xfrm>
            <a:off x="0" y="1124607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Dear ….,</a:t>
            </a:r>
            <a:endParaRPr lang="en-US" sz="2800" dirty="0">
              <a:latin typeface="Calibir"/>
            </a:endParaRP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Thank you for your message and for confirming your group’s preference. I completely understand your situation and appreciate your proactive communication.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Presenting on Sunday, 2nd November is perfectly fine — I’ll schedule your group for that date during the same 5:15 PM – 7:15 PM online window via Microsoft Teams. A meeting link will be shared closer to the time/date along with your final presentation slot.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589FF67-FEC8-8E1A-66C0-16440D136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24607"/>
          </a:xfrm>
        </p:spPr>
        <p:txBody>
          <a:bodyPr anchor="b">
            <a:no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Showcase Presentation Scheduling &amp; Student Communication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8865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E9F61-593C-3FF1-8CB0-F3CA3CB05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CBEDC73-14AE-7380-B2DE-954988BD17C1}"/>
              </a:ext>
            </a:extLst>
          </p:cNvPr>
          <p:cNvSpPr txBox="1"/>
          <p:nvPr/>
        </p:nvSpPr>
        <p:spPr>
          <a:xfrm>
            <a:off x="0" y="1124607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If any unforeseen issue arises with that timing, we can revisit your request for Week 13 starting 3</a:t>
            </a:r>
            <a:r>
              <a:rPr lang="en-US" sz="2800" baseline="30000" dirty="0">
                <a:latin typeface="Calibir"/>
              </a:rPr>
              <a:t>rd</a:t>
            </a:r>
            <a:r>
              <a:rPr lang="en-US" sz="2800" dirty="0">
                <a:latin typeface="Calibir"/>
              </a:rPr>
              <a:t> Nov (as per regular class) as a backup option.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Please continue refining your project and ensure that each member prepares to present their individual contribution clearly during the session. I look forward to seeing your showcase!</a:t>
            </a:r>
          </a:p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Kind regards,</a:t>
            </a:r>
            <a:endParaRPr lang="en-US" sz="2800" dirty="0">
              <a:latin typeface="Calibir"/>
            </a:endParaRPr>
          </a:p>
          <a:p>
            <a:pPr fontAlgn="base"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Dr. Farshid Keivanian</a:t>
            </a:r>
            <a:endParaRPr lang="en-US" sz="2800" dirty="0">
              <a:latin typeface="Calibir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5F39D2-AE77-DF1D-DC91-968AF0E7A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24607"/>
          </a:xfrm>
        </p:spPr>
        <p:txBody>
          <a:bodyPr anchor="b">
            <a:no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Showcase Presentation Scheduling &amp; Student Communication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99414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AF1C-D15E-9197-B1CA-39FEC8828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CB7F8-FE48-BB10-E3C7-1D630A1D1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Quiz Time (Second Half of the Class)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11C9C0-22A7-626E-9A62-EF5C1B547E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683" t="43089" r="54268" b="50000"/>
          <a:stretch>
            <a:fillRect/>
          </a:stretch>
        </p:blipFill>
        <p:spPr>
          <a:xfrm>
            <a:off x="2062666" y="1494262"/>
            <a:ext cx="8066667" cy="1360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7C0B42-906F-A975-1F02-A8FB71E8DC77}"/>
              </a:ext>
            </a:extLst>
          </p:cNvPr>
          <p:cNvSpPr txBox="1"/>
          <p:nvPr/>
        </p:nvSpPr>
        <p:spPr>
          <a:xfrm>
            <a:off x="110358" y="3429000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Tuesday, Oct 21 and Friday, Oct 24: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Password will be announced during the class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quiz will open during the second half of each class.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You’ll need a password to start — it will be shared live during class.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Please do not share the password outside the session.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Ensure your internet connection is stable before starting.</a:t>
            </a:r>
            <a:endParaRPr 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8942860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4364</TotalTime>
  <Words>3465</Words>
  <Application>Microsoft Office PowerPoint</Application>
  <PresentationFormat>Widescreen</PresentationFormat>
  <Paragraphs>191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Aptos</vt:lpstr>
      <vt:lpstr>Aptos Display</vt:lpstr>
      <vt:lpstr>Arial</vt:lpstr>
      <vt:lpstr>Calibir</vt:lpstr>
      <vt:lpstr>Calibri</vt:lpstr>
      <vt:lpstr>Calibri Light</vt:lpstr>
      <vt:lpstr>Office Theme</vt:lpstr>
      <vt:lpstr>1_Office Theme</vt:lpstr>
      <vt:lpstr>Introduction to Software Engineering (ISE102) Tutorial Week 12</vt:lpstr>
      <vt:lpstr>Week 12 Outline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(Python)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Preparation for Quiz 2 (Java)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Showcase Q&amp;A Preparation (for Java &amp; Python Developer Teams)</vt:lpstr>
      <vt:lpstr>What You Learned (Selfie &amp; Celebration)</vt:lpstr>
      <vt:lpstr>What You Learned (Selfie &amp; Celebration)</vt:lpstr>
      <vt:lpstr>Showcase Presentation Scheduling &amp; Student Communication</vt:lpstr>
      <vt:lpstr>Showcase Presentation Scheduling &amp; Student Communication</vt:lpstr>
      <vt:lpstr>Showcase Presentation Scheduling &amp; Student Communication</vt:lpstr>
      <vt:lpstr>Showcase Presentation Scheduling &amp; Student Communication</vt:lpstr>
      <vt:lpstr>Showcase Presentation Scheduling &amp; Student Communication</vt:lpstr>
      <vt:lpstr>Quiz Time (Second Half of the Class)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1426</cp:revision>
  <dcterms:created xsi:type="dcterms:W3CDTF">2025-07-28T16:39:25Z</dcterms:created>
  <dcterms:modified xsi:type="dcterms:W3CDTF">2025-10-21T01:41:01Z</dcterms:modified>
</cp:coreProperties>
</file>