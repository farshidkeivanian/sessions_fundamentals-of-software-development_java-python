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2"/>
  </p:notesMasterIdLst>
  <p:sldIdLst>
    <p:sldId id="2522" r:id="rId3"/>
    <p:sldId id="2443" r:id="rId4"/>
    <p:sldId id="2633" r:id="rId5"/>
    <p:sldId id="2632" r:id="rId6"/>
    <p:sldId id="2467" r:id="rId7"/>
    <p:sldId id="2634" r:id="rId8"/>
    <p:sldId id="2949" r:id="rId9"/>
    <p:sldId id="2959" r:id="rId10"/>
    <p:sldId id="2950" r:id="rId11"/>
    <p:sldId id="2951" r:id="rId12"/>
    <p:sldId id="2952" r:id="rId13"/>
    <p:sldId id="2953" r:id="rId14"/>
    <p:sldId id="2960" r:id="rId15"/>
    <p:sldId id="2961" r:id="rId16"/>
    <p:sldId id="2962" r:id="rId17"/>
    <p:sldId id="2963" r:id="rId18"/>
    <p:sldId id="2964" r:id="rId19"/>
    <p:sldId id="2965" r:id="rId20"/>
    <p:sldId id="2966" r:id="rId21"/>
    <p:sldId id="2967" r:id="rId22"/>
    <p:sldId id="2968" r:id="rId23"/>
    <p:sldId id="2969" r:id="rId24"/>
    <p:sldId id="2970" r:id="rId25"/>
    <p:sldId id="2971" r:id="rId26"/>
    <p:sldId id="2972" r:id="rId27"/>
    <p:sldId id="2973" r:id="rId28"/>
    <p:sldId id="2974" r:id="rId29"/>
    <p:sldId id="2975" r:id="rId30"/>
    <p:sldId id="2976" r:id="rId31"/>
    <p:sldId id="2977" r:id="rId32"/>
    <p:sldId id="2978" r:id="rId33"/>
    <p:sldId id="2979" r:id="rId34"/>
    <p:sldId id="2981" r:id="rId35"/>
    <p:sldId id="2980" r:id="rId36"/>
    <p:sldId id="2982" r:id="rId37"/>
    <p:sldId id="2983" r:id="rId38"/>
    <p:sldId id="2984" r:id="rId39"/>
    <p:sldId id="2985" r:id="rId40"/>
    <p:sldId id="2986" r:id="rId41"/>
    <p:sldId id="2987" r:id="rId42"/>
    <p:sldId id="2988" r:id="rId43"/>
    <p:sldId id="2989" r:id="rId44"/>
    <p:sldId id="2990" r:id="rId45"/>
    <p:sldId id="2991" r:id="rId46"/>
    <p:sldId id="2992" r:id="rId47"/>
    <p:sldId id="2993" r:id="rId48"/>
    <p:sldId id="2994" r:id="rId49"/>
    <p:sldId id="2995" r:id="rId50"/>
    <p:sldId id="2996" r:id="rId51"/>
    <p:sldId id="2997" r:id="rId52"/>
    <p:sldId id="2998" r:id="rId53"/>
    <p:sldId id="2999" r:id="rId54"/>
    <p:sldId id="3000" r:id="rId55"/>
    <p:sldId id="3001" r:id="rId56"/>
    <p:sldId id="3002" r:id="rId57"/>
    <p:sldId id="3003" r:id="rId58"/>
    <p:sldId id="3004" r:id="rId59"/>
    <p:sldId id="3005" r:id="rId60"/>
    <p:sldId id="3006" r:id="rId61"/>
    <p:sldId id="3007" r:id="rId62"/>
    <p:sldId id="3008" r:id="rId63"/>
    <p:sldId id="3009" r:id="rId64"/>
    <p:sldId id="3010" r:id="rId65"/>
    <p:sldId id="3011" r:id="rId66"/>
    <p:sldId id="3012" r:id="rId67"/>
    <p:sldId id="2954" r:id="rId68"/>
    <p:sldId id="2955" r:id="rId69"/>
    <p:sldId id="2956" r:id="rId70"/>
    <p:sldId id="3013" r:id="rId71"/>
    <p:sldId id="3014" r:id="rId72"/>
    <p:sldId id="3015" r:id="rId73"/>
    <p:sldId id="3016" r:id="rId74"/>
    <p:sldId id="3017" r:id="rId75"/>
    <p:sldId id="3018" r:id="rId76"/>
    <p:sldId id="3019" r:id="rId77"/>
    <p:sldId id="3020" r:id="rId78"/>
    <p:sldId id="3021" r:id="rId79"/>
    <p:sldId id="3022" r:id="rId80"/>
    <p:sldId id="3023" r:id="rId81"/>
    <p:sldId id="3024" r:id="rId82"/>
    <p:sldId id="3025" r:id="rId83"/>
    <p:sldId id="3026" r:id="rId84"/>
    <p:sldId id="3027" r:id="rId85"/>
    <p:sldId id="3028" r:id="rId86"/>
    <p:sldId id="3029" r:id="rId87"/>
    <p:sldId id="3030" r:id="rId88"/>
    <p:sldId id="3031" r:id="rId89"/>
    <p:sldId id="3032" r:id="rId90"/>
    <p:sldId id="3033" r:id="rId91"/>
    <p:sldId id="3034" r:id="rId92"/>
    <p:sldId id="3035" r:id="rId93"/>
    <p:sldId id="3036" r:id="rId94"/>
    <p:sldId id="3037" r:id="rId95"/>
    <p:sldId id="3038" r:id="rId96"/>
    <p:sldId id="3039" r:id="rId97"/>
    <p:sldId id="3040" r:id="rId98"/>
    <p:sldId id="3041" r:id="rId99"/>
    <p:sldId id="3042" r:id="rId100"/>
    <p:sldId id="3043" r:id="rId101"/>
    <p:sldId id="3044" r:id="rId102"/>
    <p:sldId id="3045" r:id="rId103"/>
    <p:sldId id="3046" r:id="rId104"/>
    <p:sldId id="3047" r:id="rId105"/>
    <p:sldId id="3048" r:id="rId106"/>
    <p:sldId id="3049" r:id="rId107"/>
    <p:sldId id="3050" r:id="rId108"/>
    <p:sldId id="2957" r:id="rId109"/>
    <p:sldId id="2958" r:id="rId110"/>
    <p:sldId id="749" r:id="rId1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723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9/09/2026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6ACD-49F2-24CE-AC1F-DDBC965D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A3044B-48C9-B6DF-0C57-B7874504D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22" b="5594"/>
          <a:stretch>
            <a:fillRect/>
          </a:stretch>
        </p:blipFill>
        <p:spPr>
          <a:xfrm>
            <a:off x="0" y="830317"/>
            <a:ext cx="12192000" cy="591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9D3CC2-FAB6-B3F9-8D54-BBEE84C92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Have you attended your enrolled session?</a:t>
            </a:r>
            <a:endParaRPr lang="en-AU" sz="4000" b="1" dirty="0">
              <a:latin typeface="Calibir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A04DA3-19B2-DF1C-9F2D-482521C70A0E}"/>
              </a:ext>
            </a:extLst>
          </p:cNvPr>
          <p:cNvSpPr/>
          <p:nvPr/>
        </p:nvSpPr>
        <p:spPr>
          <a:xfrm>
            <a:off x="772132" y="5404586"/>
            <a:ext cx="531151" cy="2079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DA5A5-F58A-2EDE-C5DC-1E533930C43B}"/>
              </a:ext>
            </a:extLst>
          </p:cNvPr>
          <p:cNvSpPr txBox="1"/>
          <p:nvPr/>
        </p:nvSpPr>
        <p:spPr>
          <a:xfrm>
            <a:off x="5888421" y="3600826"/>
            <a:ext cx="6206358" cy="325717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800" b="0" i="0" dirty="0">
                <a:solidFill>
                  <a:schemeClr val="tx1"/>
                </a:solidFill>
                <a:effectLst/>
                <a:latin typeface="Calibir"/>
              </a:rPr>
              <a:t>Please attend the quiz during your enrolled session. Moving sessions will complicates the quiz set-up.</a:t>
            </a:r>
          </a:p>
          <a:p>
            <a:pPr marL="0" marR="0" indent="0" algn="l" fontAlgn="base">
              <a:lnSpc>
                <a:spcPct val="150000"/>
              </a:lnSpc>
              <a:buNone/>
            </a:pPr>
            <a:r>
              <a:rPr lang="en-US" sz="2800" b="0" i="0" dirty="0">
                <a:solidFill>
                  <a:schemeClr val="tx1"/>
                </a:solidFill>
                <a:effectLst/>
                <a:latin typeface="Calibir"/>
              </a:rPr>
              <a:t>You can continue attending Cmp1# for labs and your project assignment. 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47569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7 Outline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7037C-CC18-B6E2-C69F-FD0450DC4355}"/>
              </a:ext>
            </a:extLst>
          </p:cNvPr>
          <p:cNvSpPr txBox="1"/>
          <p:nvPr/>
        </p:nvSpPr>
        <p:spPr>
          <a:xfrm>
            <a:off x="0" y="811906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800"/>
              </a:spcAft>
              <a:buFont typeface="+mj-lt"/>
              <a:buAutoNum type="arabicPeriod" startAt="19"/>
            </a:pPr>
            <a:r>
              <a:rPr lang="en-US" sz="15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47C-18A7-9AFC-9593-71D435A2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82E7-E32D-573D-8C2B-4E48BC067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4D89C-2E99-BAFD-4C23-A7A5872E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18" t="15686" r="18118" b="15686"/>
          <a:stretch>
            <a:fillRect/>
          </a:stretch>
        </p:blipFill>
        <p:spPr>
          <a:xfrm>
            <a:off x="1177159" y="451150"/>
            <a:ext cx="9837682" cy="59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3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295F0-B1CF-3852-F6D4-B92073F1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718A35-190D-3E58-0604-5A618AAA2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52" y="0"/>
            <a:ext cx="10258096" cy="683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7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25F5-A08F-7A22-BF77-D07780B6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AEAB-5CC8-51A0-C0BD-BED6C3B5B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12270-2067-189E-9433-940B6035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23" t="28406" r="22177" b="14666"/>
          <a:stretch>
            <a:fillRect/>
          </a:stretch>
        </p:blipFill>
        <p:spPr>
          <a:xfrm>
            <a:off x="945931" y="680403"/>
            <a:ext cx="10300138" cy="54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9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4528-F5CB-14C7-9B5A-035812D9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0BBF-59F4-502B-F948-0DAA79C9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3E3A0-3A40-B6EC-F00F-A358D920E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3" t="31216" r="20588" b="16392"/>
          <a:stretch>
            <a:fillRect/>
          </a:stretch>
        </p:blipFill>
        <p:spPr>
          <a:xfrm>
            <a:off x="959224" y="864451"/>
            <a:ext cx="10273552" cy="512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4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F59C-E832-912B-236B-B96061FFE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45BA2-8E6C-1165-9344-657A14A3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8C2D5-4195-2F42-5DA7-B483B495B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7" t="30275" r="20941" b="17176"/>
          <a:stretch>
            <a:fillRect/>
          </a:stretch>
        </p:blipFill>
        <p:spPr>
          <a:xfrm>
            <a:off x="878540" y="788745"/>
            <a:ext cx="10434920" cy="528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5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A442-BD20-225C-4DF1-02075944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3405-FB16-F9C2-8C7D-3A77CD9D0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C182A-77EC-C269-8E84-97EE9A72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7" t="30275" r="18911" b="14196"/>
          <a:stretch>
            <a:fillRect/>
          </a:stretch>
        </p:blipFill>
        <p:spPr>
          <a:xfrm>
            <a:off x="1357255" y="980072"/>
            <a:ext cx="9477490" cy="489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8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ED42-3635-F33E-4F00-D17A47FC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80BF-82AF-87EE-EF3C-DCD3A5C6A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8FD22-F266-650F-DEC7-F7B84529DD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18" t="30117" r="35147" b="15294"/>
          <a:stretch>
            <a:fillRect/>
          </a:stretch>
        </p:blipFill>
        <p:spPr>
          <a:xfrm>
            <a:off x="1927042" y="567466"/>
            <a:ext cx="8337916" cy="572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73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DBF-6C76-97E9-A089-7F192856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4E6C92-A6E6-540A-E1F7-179DA82F2A97}"/>
              </a:ext>
            </a:extLst>
          </p:cNvPr>
          <p:cNvSpPr txBox="1"/>
          <p:nvPr/>
        </p:nvSpPr>
        <p:spPr>
          <a:xfrm>
            <a:off x="0" y="0"/>
            <a:ext cx="11971282" cy="658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Calibir"/>
              </a:rPr>
              <a:t>Lab 7 </a:t>
            </a:r>
            <a:r>
              <a:rPr lang="en-US" sz="3200" b="1" dirty="0" err="1">
                <a:latin typeface="Calibir"/>
              </a:rPr>
              <a:t>DeskBankApp</a:t>
            </a:r>
            <a:r>
              <a:rPr lang="en-US" sz="3200" b="1" dirty="0">
                <a:latin typeface="Calibir"/>
              </a:rPr>
              <a:t> — Fifth Implementation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 — Understand the new design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Lab 6, the Customer had: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name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savings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loan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Lab 7, Customer now has: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name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accounts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where: 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accounts = [Savings Account, Loan Account]</a:t>
            </a:r>
          </a:p>
        </p:txBody>
      </p:sp>
    </p:spTree>
    <p:extLst>
      <p:ext uri="{BB962C8B-B14F-4D97-AF65-F5344CB8AC3E}">
        <p14:creationId xmlns:p14="http://schemas.microsoft.com/office/powerpoint/2010/main" val="629404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75F0-53EC-326F-BA6E-FDCB621F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B6E89D-D312-3480-B92C-0F0F4DA787BD}"/>
              </a:ext>
            </a:extLst>
          </p:cNvPr>
          <p:cNvSpPr txBox="1"/>
          <p:nvPr/>
        </p:nvSpPr>
        <p:spPr>
          <a:xfrm>
            <a:off x="0" y="0"/>
            <a:ext cx="1197128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 instead of: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self.savings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self.loan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start moving toward: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self.accounts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makes the design more flexible.</a:t>
            </a:r>
          </a:p>
        </p:txBody>
      </p:sp>
    </p:spTree>
    <p:extLst>
      <p:ext uri="{BB962C8B-B14F-4D97-AF65-F5344CB8AC3E}">
        <p14:creationId xmlns:p14="http://schemas.microsoft.com/office/powerpoint/2010/main" val="841565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D028-8F51-3455-1CA4-61E9B716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E51C7-03A4-D261-D838-58E22AB18D8F}"/>
              </a:ext>
            </a:extLst>
          </p:cNvPr>
          <p:cNvSpPr txBox="1"/>
          <p:nvPr/>
        </p:nvSpPr>
        <p:spPr>
          <a:xfrm>
            <a:off x="0" y="-103236"/>
            <a:ext cx="12192000" cy="727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Calibir"/>
              </a:rPr>
              <a:t>Step 2 — Update the Account class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According to the Lab 7 slide, Account has: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type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balance 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and methods to: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read balance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match account type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deposit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withdraw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show balance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transfer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return formatted account information</a:t>
            </a:r>
          </a:p>
        </p:txBody>
      </p:sp>
    </p:spTree>
    <p:extLst>
      <p:ext uri="{BB962C8B-B14F-4D97-AF65-F5344CB8AC3E}">
        <p14:creationId xmlns:p14="http://schemas.microsoft.com/office/powerpoint/2010/main" val="2581182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76FC-75EB-C422-8F01-83332011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45A1B-57CD-79D1-8501-AAD1C011D764}"/>
              </a:ext>
            </a:extLst>
          </p:cNvPr>
          <p:cNvSpPr txBox="1"/>
          <p:nvPr/>
        </p:nvSpPr>
        <p:spPr>
          <a:xfrm>
            <a:off x="0" y="0"/>
            <a:ext cx="9147687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2.1 Basic Account structure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class Account: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def __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__(self, </a:t>
            </a:r>
            <a:r>
              <a:rPr lang="en-US" sz="2800" dirty="0" err="1">
                <a:latin typeface="Calibir"/>
              </a:rPr>
              <a:t>account_type</a:t>
            </a:r>
            <a:r>
              <a:rPr lang="en-US" sz="2800" dirty="0">
                <a:latin typeface="Calibir"/>
              </a:rPr>
              <a:t>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self.type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account_type</a:t>
            </a: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self.balance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self.read_balance</a:t>
            </a:r>
            <a:r>
              <a:rPr lang="en-US" sz="28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99805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BF7C-4172-7930-8B74-ACD79AF6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D28A22-B32F-E100-8610-FD8EAA3DDD9E}"/>
              </a:ext>
            </a:extLst>
          </p:cNvPr>
          <p:cNvSpPr txBox="1"/>
          <p:nvPr/>
        </p:nvSpPr>
        <p:spPr>
          <a:xfrm>
            <a:off x="0" y="0"/>
            <a:ext cx="914768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2.2 Read balance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</a:t>
            </a:r>
            <a:r>
              <a:rPr lang="en-US" sz="2800" dirty="0" err="1">
                <a:latin typeface="Calibir"/>
              </a:rPr>
              <a:t>read_balance</a:t>
            </a:r>
            <a:r>
              <a:rPr lang="en-US" sz="2800" dirty="0">
                <a:latin typeface="Calibir"/>
              </a:rPr>
              <a:t>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return float(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input(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    </a:t>
            </a:r>
            <a:r>
              <a:rPr lang="en-US" sz="2800" dirty="0" err="1">
                <a:latin typeface="Calibir"/>
              </a:rPr>
              <a:t>f"Initial</a:t>
            </a:r>
            <a:r>
              <a:rPr lang="en-US" sz="2800" dirty="0">
                <a:latin typeface="Calibir"/>
              </a:rPr>
              <a:t> {</a:t>
            </a:r>
            <a:r>
              <a:rPr lang="en-US" sz="2800" dirty="0" err="1">
                <a:latin typeface="Calibir"/>
              </a:rPr>
              <a:t>self.type</a:t>
            </a:r>
            <a:r>
              <a:rPr lang="en-US" sz="2800" dirty="0">
                <a:latin typeface="Calibir"/>
              </a:rPr>
              <a:t>} balance: $"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071935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D183-E75F-6BE2-E618-B1531B31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411E09-70E2-FA08-BD76-E6802B9434AB}"/>
              </a:ext>
            </a:extLst>
          </p:cNvPr>
          <p:cNvSpPr txBox="1"/>
          <p:nvPr/>
        </p:nvSpPr>
        <p:spPr>
          <a:xfrm>
            <a:off x="0" y="0"/>
            <a:ext cx="9147687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2.3 Match account type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matches(self, </a:t>
            </a:r>
            <a:r>
              <a:rPr lang="en-US" sz="2800" dirty="0" err="1">
                <a:latin typeface="Calibir"/>
              </a:rPr>
              <a:t>target_type</a:t>
            </a:r>
            <a:r>
              <a:rPr lang="en-US" sz="2800" dirty="0">
                <a:latin typeface="Calibir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</a:t>
            </a:r>
            <a:r>
              <a:rPr lang="en-US" sz="2800" dirty="0" err="1">
                <a:latin typeface="Calibir"/>
              </a:rPr>
              <a:t>self.type.lower</a:t>
            </a:r>
            <a:r>
              <a:rPr lang="en-US" sz="2800" dirty="0">
                <a:latin typeface="Calibir"/>
              </a:rPr>
              <a:t>() == </a:t>
            </a:r>
            <a:r>
              <a:rPr lang="en-US" sz="2800" dirty="0" err="1">
                <a:latin typeface="Calibir"/>
              </a:rPr>
              <a:t>target_type.lower</a:t>
            </a:r>
            <a:r>
              <a:rPr lang="en-US" sz="28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meaning: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Return True if this account has the requested type.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savings.matches</a:t>
            </a:r>
            <a:r>
              <a:rPr lang="en-US" sz="2800" dirty="0">
                <a:latin typeface="Calibir"/>
              </a:rPr>
              <a:t>("Savings")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returns: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053984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4D6B-0D3C-DC4E-F74D-0C1D153E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BBCCA4-0941-9D37-4454-BFAE9BFAF4D4}"/>
              </a:ext>
            </a:extLst>
          </p:cNvPr>
          <p:cNvSpPr txBox="1"/>
          <p:nvPr/>
        </p:nvSpPr>
        <p:spPr>
          <a:xfrm>
            <a:off x="0" y="0"/>
            <a:ext cx="9147687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2.4 Deposit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deposit(self, amount):</a:t>
            </a: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self.balance</a:t>
            </a:r>
            <a:r>
              <a:rPr lang="en-US" sz="2800" dirty="0">
                <a:latin typeface="Calibir"/>
              </a:rPr>
              <a:t> += amount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2.5 Check funds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has(self, amount):</a:t>
            </a: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return </a:t>
            </a:r>
            <a:r>
              <a:rPr lang="en-US" sz="2800" dirty="0" err="1">
                <a:latin typeface="Calibir"/>
              </a:rPr>
              <a:t>self.balance</a:t>
            </a:r>
            <a:r>
              <a:rPr lang="en-US" sz="2800" dirty="0">
                <a:latin typeface="Calibir"/>
              </a:rPr>
              <a:t> &gt;= amount</a:t>
            </a:r>
          </a:p>
        </p:txBody>
      </p:sp>
    </p:spTree>
    <p:extLst>
      <p:ext uri="{BB962C8B-B14F-4D97-AF65-F5344CB8AC3E}">
        <p14:creationId xmlns:p14="http://schemas.microsoft.com/office/powerpoint/2010/main" val="1414268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67BA-017A-83AA-C595-ACB00D8B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0D471-4FAE-873B-EB74-08DA2A69A267}"/>
              </a:ext>
            </a:extLst>
          </p:cNvPr>
          <p:cNvSpPr txBox="1"/>
          <p:nvPr/>
        </p:nvSpPr>
        <p:spPr>
          <a:xfrm>
            <a:off x="0" y="0"/>
            <a:ext cx="9147687" cy="693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300" b="1" dirty="0">
                <a:latin typeface="Calibir"/>
              </a:rPr>
              <a:t>2.6 Withdraw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def withdraw(self, amount):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if not </a:t>
            </a:r>
            <a:r>
              <a:rPr lang="en-US" sz="2300" dirty="0" err="1">
                <a:latin typeface="Calibir"/>
              </a:rPr>
              <a:t>self.has</a:t>
            </a:r>
            <a:r>
              <a:rPr lang="en-US" sz="2300" dirty="0">
                <a:latin typeface="Calibir"/>
              </a:rPr>
              <a:t>(amount):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    raise </a:t>
            </a:r>
            <a:r>
              <a:rPr lang="en-US" sz="2300" dirty="0" err="1">
                <a:latin typeface="Calibir"/>
              </a:rPr>
              <a:t>ValueError</a:t>
            </a:r>
            <a:r>
              <a:rPr lang="en-US" sz="2300" dirty="0">
                <a:latin typeface="Calibir"/>
              </a:rPr>
              <a:t>("Insufficient funds")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</a:t>
            </a:r>
            <a:r>
              <a:rPr lang="en-US" sz="2300" dirty="0" err="1">
                <a:latin typeface="Calibir"/>
              </a:rPr>
              <a:t>self.balance</a:t>
            </a:r>
            <a:r>
              <a:rPr lang="en-US" sz="2300" dirty="0">
                <a:latin typeface="Calibir"/>
              </a:rPr>
              <a:t> -= amount</a:t>
            </a:r>
          </a:p>
          <a:p>
            <a:pPr>
              <a:lnSpc>
                <a:spcPct val="150000"/>
              </a:lnSpc>
              <a:buNone/>
            </a:pPr>
            <a:r>
              <a:rPr lang="en-US" sz="2300" b="1" dirty="0">
                <a:latin typeface="Calibir"/>
              </a:rPr>
              <a:t>2.7 Transfer</a:t>
            </a: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The Lab 7 sample continues the earlier interpretation where transferring from Savings to Loan reduces both balances.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def transfer(self, amount, </a:t>
            </a:r>
            <a:r>
              <a:rPr lang="en-US" sz="2300" dirty="0" err="1">
                <a:latin typeface="Calibir"/>
              </a:rPr>
              <a:t>other_account</a:t>
            </a:r>
            <a:r>
              <a:rPr lang="en-US" sz="2300" dirty="0">
                <a:latin typeface="Calibir"/>
              </a:rPr>
              <a:t>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if not </a:t>
            </a:r>
            <a:r>
              <a:rPr lang="en-US" sz="2300" dirty="0" err="1">
                <a:latin typeface="Calibir"/>
              </a:rPr>
              <a:t>self.has</a:t>
            </a:r>
            <a:r>
              <a:rPr lang="en-US" sz="2300" dirty="0">
                <a:latin typeface="Calibir"/>
              </a:rPr>
              <a:t>(amount):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    raise </a:t>
            </a:r>
            <a:r>
              <a:rPr lang="en-US" sz="2300" dirty="0" err="1">
                <a:latin typeface="Calibir"/>
              </a:rPr>
              <a:t>ValueError</a:t>
            </a:r>
            <a:r>
              <a:rPr lang="en-US" sz="2300" dirty="0">
                <a:latin typeface="Calibir"/>
              </a:rPr>
              <a:t>("Insufficient funds")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</a:t>
            </a:r>
            <a:r>
              <a:rPr lang="en-US" sz="2300" dirty="0" err="1">
                <a:latin typeface="Calibir"/>
              </a:rPr>
              <a:t>self.withdraw</a:t>
            </a:r>
            <a:r>
              <a:rPr lang="en-US" sz="2300" dirty="0">
                <a:latin typeface="Calibir"/>
              </a:rPr>
              <a:t>(amount)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    </a:t>
            </a:r>
            <a:r>
              <a:rPr lang="en-US" sz="2300" dirty="0" err="1">
                <a:latin typeface="Calibir"/>
              </a:rPr>
              <a:t>other_account.withdraw</a:t>
            </a:r>
            <a:r>
              <a:rPr lang="en-US" sz="2300" dirty="0">
                <a:latin typeface="Calibir"/>
              </a:rPr>
              <a:t>(amount)</a:t>
            </a:r>
          </a:p>
        </p:txBody>
      </p:sp>
    </p:spTree>
    <p:extLst>
      <p:ext uri="{BB962C8B-B14F-4D97-AF65-F5344CB8AC3E}">
        <p14:creationId xmlns:p14="http://schemas.microsoft.com/office/powerpoint/2010/main" val="3619690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26A4-D406-055F-8B0E-9ECD1F2E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66F5CA-34AE-5D97-5BE3-00DF9006C097}"/>
              </a:ext>
            </a:extLst>
          </p:cNvPr>
          <p:cNvSpPr txBox="1"/>
          <p:nvPr/>
        </p:nvSpPr>
        <p:spPr>
          <a:xfrm>
            <a:off x="0" y="825910"/>
            <a:ext cx="914768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2.8 Return account information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__str__(self):</a:t>
            </a: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return 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f"{</a:t>
            </a:r>
            <a:r>
              <a:rPr lang="en-US" sz="2800" dirty="0" err="1">
                <a:latin typeface="Calibir"/>
              </a:rPr>
              <a:t>self.type</a:t>
            </a:r>
            <a:r>
              <a:rPr lang="en-US" sz="2800" dirty="0">
                <a:latin typeface="Calibir"/>
              </a:rPr>
              <a:t>} account has 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f"${self.balance:,.2f}"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534765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5DF2-1A97-A419-0287-F5128628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F6E2B-D80F-E4CA-2B05-B49D0C0DB420}"/>
              </a:ext>
            </a:extLst>
          </p:cNvPr>
          <p:cNvSpPr txBox="1"/>
          <p:nvPr/>
        </p:nvSpPr>
        <p:spPr>
          <a:xfrm>
            <a:off x="-2458" y="0"/>
            <a:ext cx="6098458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ir"/>
              </a:rPr>
              <a:t>Completed Python Account class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class Account: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__(self,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account_type</a:t>
            </a: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self.read_balance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read_balance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float(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input(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f"Initial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{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} balance: $"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matches(self,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target_type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self.type.lower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==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target_type.lower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deposit(self, amount):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+= amount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has(self, amount):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&gt;= amount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567359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2A28-B954-0605-9071-653D5B9D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48F88-5528-1659-5541-0C1F7DBBA87C}"/>
              </a:ext>
            </a:extLst>
          </p:cNvPr>
          <p:cNvSpPr txBox="1"/>
          <p:nvPr/>
        </p:nvSpPr>
        <p:spPr>
          <a:xfrm>
            <a:off x="-2458" y="0"/>
            <a:ext cx="6098458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def withdraw(self, amount):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if not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self.has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(amount):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raise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"Insufficient funds"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-= amount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def transfer(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self,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amount,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other_account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if not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self.has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(amount):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raise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"Insufficient funds"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self.withdraw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(amount)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other_account.withdraw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(amount)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def __str__(self):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f"{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} account has 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f"${self.balance:,.2f}"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3579152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37B2-C794-6303-AD96-5092FA81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697B91-A2DD-0C57-367D-B17C42448B35}"/>
              </a:ext>
            </a:extLst>
          </p:cNvPr>
          <p:cNvSpPr txBox="1"/>
          <p:nvPr/>
        </p:nvSpPr>
        <p:spPr>
          <a:xfrm>
            <a:off x="0" y="0"/>
            <a:ext cx="9147687" cy="696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 Account 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2.1 Fields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private String type;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private double balance;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2.2 Constructor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public Account(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    String type,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    Scanner input)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this.type</a:t>
            </a:r>
            <a:r>
              <a:rPr lang="en-US" sz="2400" dirty="0">
                <a:latin typeface="Calibir"/>
              </a:rPr>
              <a:t> = type;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this.balance</a:t>
            </a:r>
            <a:r>
              <a:rPr lang="en-US" sz="2400" dirty="0">
                <a:latin typeface="Calibir"/>
              </a:rPr>
              <a:t> =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        </a:t>
            </a:r>
            <a:r>
              <a:rPr lang="en-US" sz="2400" dirty="0" err="1">
                <a:latin typeface="Calibir"/>
              </a:rPr>
              <a:t>readBalance</a:t>
            </a:r>
            <a:r>
              <a:rPr lang="en-US" sz="2400" dirty="0">
                <a:latin typeface="Calibir"/>
              </a:rPr>
              <a:t>(input);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4346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A98B-B031-C3BC-1A4F-6B6DEFAC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7A05BB-29D7-11B4-A259-FB15D5EAFD90}"/>
              </a:ext>
            </a:extLst>
          </p:cNvPr>
          <p:cNvSpPr txBox="1"/>
          <p:nvPr/>
        </p:nvSpPr>
        <p:spPr>
          <a:xfrm>
            <a:off x="0" y="0"/>
            <a:ext cx="914768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2.3 Match type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</a:t>
            </a:r>
            <a:r>
              <a:rPr lang="en-US" sz="2800" dirty="0" err="1">
                <a:latin typeface="Calibir"/>
              </a:rPr>
              <a:t>boolean</a:t>
            </a:r>
            <a:r>
              <a:rPr lang="en-US" sz="2800" dirty="0">
                <a:latin typeface="Calibir"/>
              </a:rPr>
              <a:t> matches(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String </a:t>
            </a:r>
            <a:r>
              <a:rPr lang="en-US" sz="2800" dirty="0" err="1">
                <a:latin typeface="Calibir"/>
              </a:rPr>
              <a:t>targetType</a:t>
            </a:r>
            <a:r>
              <a:rPr lang="en-US" sz="28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</a:t>
            </a:r>
            <a:r>
              <a:rPr lang="en-US" sz="2800" dirty="0" err="1">
                <a:latin typeface="Calibir"/>
              </a:rPr>
              <a:t>type.equalsIgnoreCase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targetType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6993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25F1-3DF3-21D2-50C8-C7591C1D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842F1A-E1E4-E328-D4EE-1789318968BC}"/>
              </a:ext>
            </a:extLst>
          </p:cNvPr>
          <p:cNvSpPr txBox="1"/>
          <p:nvPr/>
        </p:nvSpPr>
        <p:spPr>
          <a:xfrm>
            <a:off x="0" y="0"/>
            <a:ext cx="9147687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2.4 Deposit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void deposit(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double amount)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balance += amount;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2.5 Has enough funds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</a:t>
            </a:r>
            <a:r>
              <a:rPr lang="en-US" sz="2800" dirty="0" err="1">
                <a:latin typeface="Calibir"/>
              </a:rPr>
              <a:t>boolean</a:t>
            </a:r>
            <a:r>
              <a:rPr lang="en-US" sz="2800" dirty="0">
                <a:latin typeface="Calibir"/>
              </a:rPr>
              <a:t> has(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double amount)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balance &gt;= amount;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3228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FE0CC-9053-B7C1-413B-CFE7B8D3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2641C5-C353-D02C-519E-B8F9D906AA2A}"/>
              </a:ext>
            </a:extLst>
          </p:cNvPr>
          <p:cNvSpPr txBox="1"/>
          <p:nvPr/>
        </p:nvSpPr>
        <p:spPr>
          <a:xfrm>
            <a:off x="0" y="0"/>
            <a:ext cx="9147687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2.6 Withdraw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void withdraw(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double amount)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if (!has(amount))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throw new </a:t>
            </a:r>
            <a:r>
              <a:rPr lang="en-US" sz="2800" dirty="0" err="1">
                <a:latin typeface="Calibir"/>
              </a:rPr>
              <a:t>IllegalArgumentException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"Insufficient funds"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balance -= amount;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3383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104F-2661-BD6C-D999-8896862D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40179-0CA7-3563-F2D1-E866CFAF04A0}"/>
              </a:ext>
            </a:extLst>
          </p:cNvPr>
          <p:cNvSpPr txBox="1"/>
          <p:nvPr/>
        </p:nvSpPr>
        <p:spPr>
          <a:xfrm>
            <a:off x="0" y="0"/>
            <a:ext cx="9147687" cy="6775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2.7 Transfer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public void transfer(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double amount,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Account </a:t>
            </a:r>
            <a:r>
              <a:rPr lang="en-US" sz="2400" dirty="0" err="1">
                <a:latin typeface="Calibir"/>
              </a:rPr>
              <a:t>otherAccount</a:t>
            </a:r>
            <a:r>
              <a:rPr lang="en-US" sz="2400" dirty="0">
                <a:latin typeface="Calibir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if (!has(amount))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throw new </a:t>
            </a:r>
            <a:r>
              <a:rPr lang="en-US" sz="2400" dirty="0" err="1">
                <a:latin typeface="Calibir"/>
              </a:rPr>
              <a:t>IllegalArgumentException</a:t>
            </a:r>
            <a:r>
              <a:rPr lang="en-US" sz="24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"Insufficient funds"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withdraw(amount);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otherAccount.withdraw</a:t>
            </a:r>
            <a:r>
              <a:rPr lang="en-US" sz="2400" dirty="0">
                <a:latin typeface="Calibir"/>
              </a:rPr>
              <a:t>(amount);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1661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C35C-B416-7C16-D401-E2F3D39C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3C9541-79EB-AA60-13F1-44F4059AC35A}"/>
              </a:ext>
            </a:extLst>
          </p:cNvPr>
          <p:cNvSpPr txBox="1"/>
          <p:nvPr/>
        </p:nvSpPr>
        <p:spPr>
          <a:xfrm>
            <a:off x="0" y="0"/>
            <a:ext cx="6098458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ir"/>
              </a:rPr>
              <a:t>Completed Java Account.java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import </a:t>
            </a:r>
            <a:r>
              <a:rPr lang="en-US" sz="1200" dirty="0" err="1">
                <a:latin typeface="Calibir"/>
              </a:rPr>
              <a:t>java.util.Scanner</a:t>
            </a:r>
            <a:r>
              <a:rPr lang="en-US" sz="1200" dirty="0">
                <a:latin typeface="Calibir"/>
              </a:rPr>
              <a:t>;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public class Account {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private String type;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private double balance;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public Account(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String type,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Scanner input) {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this.type</a:t>
            </a:r>
            <a:r>
              <a:rPr lang="en-US" sz="1200" dirty="0">
                <a:latin typeface="Calibir"/>
              </a:rPr>
              <a:t> = type;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this.balance</a:t>
            </a:r>
            <a:r>
              <a:rPr lang="en-US" sz="1200" dirty="0">
                <a:latin typeface="Calibir"/>
              </a:rPr>
              <a:t> =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    </a:t>
            </a:r>
            <a:r>
              <a:rPr lang="en-US" sz="1200" dirty="0" err="1">
                <a:latin typeface="Calibir"/>
              </a:rPr>
              <a:t>readBalance</a:t>
            </a:r>
            <a:r>
              <a:rPr lang="en-US" sz="1200" dirty="0">
                <a:latin typeface="Calibir"/>
              </a:rPr>
              <a:t>(input);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}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private double </a:t>
            </a:r>
            <a:r>
              <a:rPr lang="en-US" sz="1200" dirty="0" err="1">
                <a:latin typeface="Calibir"/>
              </a:rPr>
              <a:t>readBalance</a:t>
            </a:r>
            <a:r>
              <a:rPr lang="en-US" sz="12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Scanner input) {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System.out.print</a:t>
            </a:r>
            <a:r>
              <a:rPr lang="en-US" sz="12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"Initial "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+ type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+ " balance: $"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);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return </a:t>
            </a:r>
            <a:r>
              <a:rPr lang="en-US" sz="1200" dirty="0" err="1">
                <a:latin typeface="Calibir"/>
              </a:rPr>
              <a:t>input.nextDouble</a:t>
            </a:r>
            <a:r>
              <a:rPr lang="en-US" sz="1200" dirty="0">
                <a:latin typeface="Calibir"/>
              </a:rPr>
              <a:t>();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}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public </a:t>
            </a:r>
            <a:r>
              <a:rPr lang="en-US" sz="1200" dirty="0" err="1">
                <a:latin typeface="Calibir"/>
              </a:rPr>
              <a:t>boolean</a:t>
            </a:r>
            <a:r>
              <a:rPr lang="en-US" sz="1200" dirty="0">
                <a:latin typeface="Calibir"/>
              </a:rPr>
              <a:t> matches(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String </a:t>
            </a:r>
            <a:r>
              <a:rPr lang="en-US" sz="1200" dirty="0" err="1">
                <a:latin typeface="Calibir"/>
              </a:rPr>
              <a:t>targetType</a:t>
            </a:r>
            <a:r>
              <a:rPr lang="en-US" sz="1200" dirty="0">
                <a:latin typeface="Calibir"/>
              </a:rPr>
              <a:t>) {</a:t>
            </a:r>
          </a:p>
          <a:p>
            <a:pPr rtl="0">
              <a:buNone/>
            </a:pP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return </a:t>
            </a:r>
            <a:r>
              <a:rPr lang="en-US" sz="1200" dirty="0" err="1">
                <a:latin typeface="Calibir"/>
              </a:rPr>
              <a:t>type.equalsIgnoreCase</a:t>
            </a:r>
            <a:r>
              <a:rPr lang="en-US" sz="12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    </a:t>
            </a:r>
            <a:r>
              <a:rPr lang="en-US" sz="1200" dirty="0" err="1">
                <a:latin typeface="Calibir"/>
              </a:rPr>
              <a:t>targetType</a:t>
            </a:r>
            <a:endParaRPr lang="en-US" sz="1200" dirty="0">
              <a:latin typeface="Calibir"/>
            </a:endParaRPr>
          </a:p>
          <a:p>
            <a:pPr rtl="0">
              <a:buNone/>
            </a:pPr>
            <a:r>
              <a:rPr lang="en-US" sz="1200" dirty="0">
                <a:latin typeface="Calibir"/>
              </a:rPr>
              <a:t>        );</a:t>
            </a:r>
          </a:p>
          <a:p>
            <a:pPr rtl="0">
              <a:buNone/>
            </a:pPr>
            <a:r>
              <a:rPr lang="en-US" sz="1200" dirty="0"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393794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09DDC-476E-E8B7-70E1-F6EC61D7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552065-B5E1-1FB8-CB1F-CAF23DA6C68E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ir"/>
              </a:rPr>
              <a:t>    public void deposit(</a:t>
            </a:r>
          </a:p>
          <a:p>
            <a:r>
              <a:rPr lang="en-US" sz="1200" dirty="0">
                <a:latin typeface="Calibir"/>
              </a:rPr>
              <a:t>            double amount) {</a:t>
            </a:r>
          </a:p>
          <a:p>
            <a:r>
              <a:rPr lang="en-US" sz="1200" dirty="0">
                <a:latin typeface="Calibir"/>
              </a:rPr>
              <a:t>        balance += amount;</a:t>
            </a:r>
          </a:p>
          <a:p>
            <a:r>
              <a:rPr lang="en-US" sz="1200" dirty="0">
                <a:latin typeface="Calibir"/>
              </a:rPr>
              <a:t>    }</a:t>
            </a:r>
          </a:p>
          <a:p>
            <a:r>
              <a:rPr lang="en-US" sz="1200" dirty="0">
                <a:latin typeface="Calibir"/>
              </a:rPr>
              <a:t>    public </a:t>
            </a:r>
            <a:r>
              <a:rPr lang="en-US" sz="1200" dirty="0" err="1">
                <a:latin typeface="Calibir"/>
              </a:rPr>
              <a:t>boolean</a:t>
            </a:r>
            <a:r>
              <a:rPr lang="en-US" sz="1200" dirty="0">
                <a:latin typeface="Calibir"/>
              </a:rPr>
              <a:t> has(</a:t>
            </a:r>
          </a:p>
          <a:p>
            <a:r>
              <a:rPr lang="en-US" sz="1200" dirty="0">
                <a:latin typeface="Calibir"/>
              </a:rPr>
              <a:t>            double amount) {</a:t>
            </a:r>
          </a:p>
          <a:p>
            <a:r>
              <a:rPr lang="en-US" sz="1200" dirty="0">
                <a:latin typeface="Calibir"/>
              </a:rPr>
              <a:t>        return balance &gt;= amount;</a:t>
            </a:r>
          </a:p>
          <a:p>
            <a:r>
              <a:rPr lang="en-US" sz="1200" dirty="0">
                <a:latin typeface="Calibir"/>
              </a:rPr>
              <a:t>    }</a:t>
            </a:r>
          </a:p>
          <a:p>
            <a:r>
              <a:rPr lang="en-US" sz="1200" dirty="0">
                <a:latin typeface="Calibir"/>
              </a:rPr>
              <a:t>    public void withdraw(</a:t>
            </a:r>
          </a:p>
          <a:p>
            <a:r>
              <a:rPr lang="en-US" sz="1200" dirty="0">
                <a:latin typeface="Calibir"/>
              </a:rPr>
              <a:t>            double amount) {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if (!has(amount)) {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    throw new </a:t>
            </a:r>
            <a:r>
              <a:rPr lang="en-US" sz="1200" dirty="0" err="1">
                <a:latin typeface="Calibir"/>
              </a:rPr>
              <a:t>IllegalArgumentException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    "Insufficient funds"</a:t>
            </a:r>
          </a:p>
          <a:p>
            <a:r>
              <a:rPr lang="en-US" sz="1200" dirty="0">
                <a:latin typeface="Calibir"/>
              </a:rPr>
              <a:t>            );</a:t>
            </a:r>
          </a:p>
          <a:p>
            <a:r>
              <a:rPr lang="en-US" sz="1200" dirty="0">
                <a:latin typeface="Calibir"/>
              </a:rPr>
              <a:t>        }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balance -= amount;</a:t>
            </a:r>
          </a:p>
          <a:p>
            <a:r>
              <a:rPr lang="en-US" sz="1200" dirty="0">
                <a:latin typeface="Calibir"/>
              </a:rPr>
              <a:t>    }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public void transfer(</a:t>
            </a:r>
          </a:p>
          <a:p>
            <a:r>
              <a:rPr lang="en-US" sz="1200" dirty="0">
                <a:latin typeface="Calibir"/>
              </a:rPr>
              <a:t>            double amount,</a:t>
            </a:r>
          </a:p>
          <a:p>
            <a:r>
              <a:rPr lang="en-US" sz="1200" dirty="0">
                <a:latin typeface="Calibir"/>
              </a:rPr>
              <a:t>            Account </a:t>
            </a:r>
            <a:r>
              <a:rPr lang="en-US" sz="1200" dirty="0" err="1">
                <a:latin typeface="Calibir"/>
              </a:rPr>
              <a:t>otherAccount</a:t>
            </a:r>
            <a:r>
              <a:rPr lang="en-US" sz="1200" dirty="0">
                <a:latin typeface="Calibir"/>
              </a:rPr>
              <a:t>) {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if (!has(amount)) {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    throw new </a:t>
            </a:r>
            <a:r>
              <a:rPr lang="en-US" sz="1200" dirty="0" err="1">
                <a:latin typeface="Calibir"/>
              </a:rPr>
              <a:t>IllegalArgumentException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    "Insufficient funds"</a:t>
            </a:r>
          </a:p>
          <a:p>
            <a:r>
              <a:rPr lang="en-US" sz="1200" dirty="0">
                <a:latin typeface="Calibir"/>
              </a:rPr>
              <a:t>            );</a:t>
            </a:r>
          </a:p>
          <a:p>
            <a:r>
              <a:rPr lang="en-US" sz="1200" dirty="0">
                <a:latin typeface="Calibir"/>
              </a:rPr>
              <a:t>        }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withdraw(amount);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</a:t>
            </a:r>
            <a:r>
              <a:rPr lang="en-US" sz="1200" dirty="0" err="1">
                <a:latin typeface="Calibir"/>
              </a:rPr>
              <a:t>otherAccount.withdraw</a:t>
            </a:r>
            <a:r>
              <a:rPr lang="en-US" sz="1200" dirty="0">
                <a:latin typeface="Calibir"/>
              </a:rPr>
              <a:t>(amount);</a:t>
            </a:r>
          </a:p>
          <a:p>
            <a:r>
              <a:rPr lang="en-US" sz="1200" dirty="0"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49046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D339-1F15-7271-6BC4-AE27E5C5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B09DC-7223-2CB5-F95B-7122ABCA106D}"/>
              </a:ext>
            </a:extLst>
          </p:cNvPr>
          <p:cNvSpPr txBox="1"/>
          <p:nvPr/>
        </p:nvSpPr>
        <p:spPr>
          <a:xfrm>
            <a:off x="0" y="0"/>
            <a:ext cx="60984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@Override</a:t>
            </a:r>
          </a:p>
          <a:p>
            <a:r>
              <a:rPr lang="en-US" sz="1200" dirty="0">
                <a:latin typeface="Calibir"/>
              </a:rPr>
              <a:t>    public String </a:t>
            </a:r>
            <a:r>
              <a:rPr lang="en-US" sz="1200" dirty="0" err="1">
                <a:latin typeface="Calibir"/>
              </a:rPr>
              <a:t>toString</a:t>
            </a:r>
            <a:r>
              <a:rPr lang="en-US" sz="1200" dirty="0">
                <a:latin typeface="Calibir"/>
              </a:rPr>
              <a:t>() {</a:t>
            </a:r>
          </a:p>
          <a:p>
            <a:endParaRPr lang="en-US" sz="1200" dirty="0">
              <a:latin typeface="Calibir"/>
            </a:endParaRPr>
          </a:p>
          <a:p>
            <a:r>
              <a:rPr lang="en-US" sz="1200" dirty="0">
                <a:latin typeface="Calibir"/>
              </a:rPr>
              <a:t>        return </a:t>
            </a:r>
            <a:r>
              <a:rPr lang="en-US" sz="1200" dirty="0" err="1">
                <a:latin typeface="Calibir"/>
              </a:rPr>
              <a:t>String.format</a:t>
            </a:r>
            <a:r>
              <a:rPr lang="en-US" sz="1200" dirty="0">
                <a:latin typeface="Calibir"/>
              </a:rPr>
              <a:t>(</a:t>
            </a:r>
          </a:p>
          <a:p>
            <a:r>
              <a:rPr lang="en-US" sz="1200" dirty="0">
                <a:latin typeface="Calibir"/>
              </a:rPr>
              <a:t>            "%s account has $%,.2f",</a:t>
            </a:r>
          </a:p>
          <a:p>
            <a:r>
              <a:rPr lang="en-US" sz="1200" dirty="0">
                <a:latin typeface="Calibir"/>
              </a:rPr>
              <a:t>            type,</a:t>
            </a:r>
          </a:p>
          <a:p>
            <a:r>
              <a:rPr lang="en-US" sz="1200" dirty="0">
                <a:latin typeface="Calibir"/>
              </a:rPr>
              <a:t>            balance</a:t>
            </a:r>
          </a:p>
          <a:p>
            <a:r>
              <a:rPr lang="en-US" sz="1200" dirty="0">
                <a:latin typeface="Calibir"/>
              </a:rPr>
              <a:t>        );</a:t>
            </a:r>
          </a:p>
          <a:p>
            <a:r>
              <a:rPr lang="en-US" sz="1200" dirty="0">
                <a:latin typeface="Calibir"/>
              </a:rPr>
              <a:t>    }</a:t>
            </a:r>
          </a:p>
          <a:p>
            <a:r>
              <a:rPr lang="en-US" sz="12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4916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7735-A7CA-1DC8-2142-F1CD56EC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B48A78-8FA8-6AC3-2458-02E4D7EF0BA3}"/>
              </a:ext>
            </a:extLst>
          </p:cNvPr>
          <p:cNvSpPr txBox="1"/>
          <p:nvPr/>
        </p:nvSpPr>
        <p:spPr>
          <a:xfrm>
            <a:off x="0" y="0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Update Customer to use a list of Accounts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important new Lab 7 concept is: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Customer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List&lt;Account&gt;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instead of: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├ savings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└── loan</a:t>
            </a:r>
          </a:p>
        </p:txBody>
      </p:sp>
    </p:spTree>
    <p:extLst>
      <p:ext uri="{BB962C8B-B14F-4D97-AF65-F5344CB8AC3E}">
        <p14:creationId xmlns:p14="http://schemas.microsoft.com/office/powerpoint/2010/main" val="673088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9B19-F6E4-6150-8F39-48A068FF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4BB36B-F0D5-BA2E-3378-322A810748C4}"/>
              </a:ext>
            </a:extLst>
          </p:cNvPr>
          <p:cNvSpPr txBox="1"/>
          <p:nvPr/>
        </p:nvSpPr>
        <p:spPr>
          <a:xfrm>
            <a:off x="0" y="-133812"/>
            <a:ext cx="1219200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3.1 Create 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class Customer: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def __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__(self):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self.name = input(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"Enter Customer Name: 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self.accounts</a:t>
            </a:r>
            <a:r>
              <a:rPr lang="en-US" sz="2800" dirty="0">
                <a:latin typeface="Calibir"/>
              </a:rPr>
              <a:t> = [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Account("Savings"),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Account("Loan")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]</a:t>
            </a:r>
          </a:p>
        </p:txBody>
      </p:sp>
    </p:spTree>
    <p:extLst>
      <p:ext uri="{BB962C8B-B14F-4D97-AF65-F5344CB8AC3E}">
        <p14:creationId xmlns:p14="http://schemas.microsoft.com/office/powerpoint/2010/main" val="209784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FA4A-0F23-2C39-27F2-9646B576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7C927-2B84-4DC2-FDBB-627928BB3556}"/>
              </a:ext>
            </a:extLst>
          </p:cNvPr>
          <p:cNvSpPr txBox="1"/>
          <p:nvPr/>
        </p:nvSpPr>
        <p:spPr>
          <a:xfrm>
            <a:off x="0" y="0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3.2 Verify a customer's name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matches(self, </a:t>
            </a:r>
            <a:r>
              <a:rPr lang="en-US" sz="2800" dirty="0" err="1">
                <a:latin typeface="Calibir"/>
              </a:rPr>
              <a:t>target_name</a:t>
            </a:r>
            <a:r>
              <a:rPr lang="en-US" sz="2800" dirty="0">
                <a:latin typeface="Calibir"/>
              </a:rPr>
              <a:t>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return 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self.name.lower</a:t>
            </a:r>
            <a:r>
              <a:rPr lang="en-US" sz="2800" dirty="0"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== </a:t>
            </a:r>
            <a:r>
              <a:rPr lang="en-US" sz="2800" dirty="0" err="1">
                <a:latin typeface="Calibir"/>
              </a:rPr>
              <a:t>target_name.lower</a:t>
            </a:r>
            <a:r>
              <a:rPr lang="en-US" sz="2800" dirty="0"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700970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04E9B-D177-385A-1DEF-5C29210F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883EC6-DCDD-D48A-B9BE-BE61B965821A}"/>
              </a:ext>
            </a:extLst>
          </p:cNvPr>
          <p:cNvSpPr txBox="1"/>
          <p:nvPr/>
        </p:nvSpPr>
        <p:spPr>
          <a:xfrm>
            <a:off x="0" y="0"/>
            <a:ext cx="12192000" cy="651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3.3 Find an account using a search pattern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def account(self, </a:t>
            </a:r>
            <a:r>
              <a:rPr lang="en-US" dirty="0" err="1">
                <a:latin typeface="Calibir"/>
              </a:rPr>
              <a:t>account_type</a:t>
            </a:r>
            <a:r>
              <a:rPr lang="en-US" dirty="0">
                <a:latin typeface="Calibir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return next(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account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for account in </a:t>
            </a:r>
            <a:r>
              <a:rPr lang="en-US" dirty="0" err="1">
                <a:latin typeface="Calibir"/>
              </a:rPr>
              <a:t>self.accounts</a:t>
            </a: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if </a:t>
            </a:r>
            <a:r>
              <a:rPr lang="en-US" dirty="0" err="1">
                <a:latin typeface="Calibir"/>
              </a:rPr>
              <a:t>account.matches</a:t>
            </a:r>
            <a:r>
              <a:rPr lang="en-US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    </a:t>
            </a:r>
            <a:r>
              <a:rPr lang="en-US" dirty="0" err="1">
                <a:latin typeface="Calibir"/>
              </a:rPr>
              <a:t>account_type</a:t>
            </a: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),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None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)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This is the Python equivalent of the slide's </a:t>
            </a:r>
            <a:r>
              <a:rPr lang="en-US" b="1" dirty="0">
                <a:latin typeface="Calibir"/>
              </a:rPr>
              <a:t>any-pattern</a:t>
            </a:r>
            <a:r>
              <a:rPr lang="en-US" dirty="0">
                <a:latin typeface="Calibir"/>
              </a:rPr>
              <a:t> idea.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Simpler explanation: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Search the list and return the first account whose type matches.</a:t>
            </a:r>
          </a:p>
        </p:txBody>
      </p:sp>
    </p:spTree>
    <p:extLst>
      <p:ext uri="{BB962C8B-B14F-4D97-AF65-F5344CB8AC3E}">
        <p14:creationId xmlns:p14="http://schemas.microsoft.com/office/powerpoint/2010/main" val="2392383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0CCF-E625-7A26-3D62-9E6C092A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4AE2F7-68F1-FCBF-B7CD-B3C94F1D8021}"/>
              </a:ext>
            </a:extLst>
          </p:cNvPr>
          <p:cNvSpPr txBox="1"/>
          <p:nvPr/>
        </p:nvSpPr>
        <p:spPr>
          <a:xfrm>
            <a:off x="0" y="0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beginners, this loop is even easier: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account(self, </a:t>
            </a:r>
            <a:r>
              <a:rPr lang="en-US" sz="2800" dirty="0" err="1">
                <a:latin typeface="Calibir"/>
              </a:rPr>
              <a:t>account_type</a:t>
            </a:r>
            <a:r>
              <a:rPr lang="en-US" sz="2800" dirty="0">
                <a:latin typeface="Calibir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for account in </a:t>
            </a:r>
            <a:r>
              <a:rPr lang="en-US" sz="2800" dirty="0" err="1">
                <a:latin typeface="Calibir"/>
              </a:rPr>
              <a:t>self.accounts</a:t>
            </a:r>
            <a:r>
              <a:rPr lang="en-US" sz="2800" dirty="0"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if </a:t>
            </a:r>
            <a:r>
              <a:rPr lang="en-US" sz="2800" dirty="0" err="1">
                <a:latin typeface="Calibir"/>
              </a:rPr>
              <a:t>account.matches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   </a:t>
            </a:r>
            <a:r>
              <a:rPr lang="en-US" sz="2800" dirty="0" err="1">
                <a:latin typeface="Calibir"/>
              </a:rPr>
              <a:t>account_type</a:t>
            </a:r>
            <a:r>
              <a:rPr lang="en-US" sz="2800" dirty="0">
                <a:latin typeface="Calibir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return account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None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 would teach this simpler version first.</a:t>
            </a:r>
            <a:endParaRPr lang="en-US" sz="40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782243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E97F-A88E-5B44-372D-456F4A92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E9A2CF-81CC-C4DA-0F38-4F770F1067F0}"/>
              </a:ext>
            </a:extLst>
          </p:cNvPr>
          <p:cNvSpPr txBox="1"/>
          <p:nvPr/>
        </p:nvSpPr>
        <p:spPr>
          <a:xfrm>
            <a:off x="0" y="0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3.4 Read amount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</a:t>
            </a:r>
            <a:r>
              <a:rPr lang="en-US" sz="2800" dirty="0" err="1">
                <a:latin typeface="Calibir"/>
              </a:rPr>
              <a:t>read_amount</a:t>
            </a:r>
            <a:r>
              <a:rPr lang="en-US" sz="2800" dirty="0">
                <a:latin typeface="Calibir"/>
              </a:rPr>
              <a:t>(self, message):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float(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input(message)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996054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DD1A-C40F-31BD-7937-77EFD3EB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3C95EF-4795-5758-C71D-5FCCB28925AB}"/>
              </a:ext>
            </a:extLst>
          </p:cNvPr>
          <p:cNvSpPr txBox="1"/>
          <p:nvPr/>
        </p:nvSpPr>
        <p:spPr>
          <a:xfrm>
            <a:off x="0" y="0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3.5 Deposit into Savings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deposit(self):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amount = </a:t>
            </a:r>
            <a:r>
              <a:rPr lang="en-US" sz="2800" dirty="0" err="1">
                <a:latin typeface="Calibir"/>
              </a:rPr>
              <a:t>self.read_amount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"Amount to deposit: $"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savings = </a:t>
            </a:r>
            <a:r>
              <a:rPr lang="en-US" sz="2800" dirty="0" err="1">
                <a:latin typeface="Calibir"/>
              </a:rPr>
              <a:t>self.account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"Savings"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savings.deposit</a:t>
            </a:r>
            <a:r>
              <a:rPr lang="en-US" sz="2800" dirty="0">
                <a:latin typeface="Calibir"/>
              </a:rPr>
              <a:t>(amount)</a:t>
            </a:r>
          </a:p>
        </p:txBody>
      </p:sp>
    </p:spTree>
    <p:extLst>
      <p:ext uri="{BB962C8B-B14F-4D97-AF65-F5344CB8AC3E}">
        <p14:creationId xmlns:p14="http://schemas.microsoft.com/office/powerpoint/2010/main" val="2278521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0A5C-1C71-D4CE-C34D-31C32D42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FDD18-6C76-CCE8-43E8-36EED3445B99}"/>
              </a:ext>
            </a:extLst>
          </p:cNvPr>
          <p:cNvSpPr txBox="1"/>
          <p:nvPr/>
        </p:nvSpPr>
        <p:spPr>
          <a:xfrm>
            <a:off x="0" y="0"/>
            <a:ext cx="12192000" cy="6775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3.6 Withdraw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def withdraw(self):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amount = </a:t>
            </a:r>
            <a:r>
              <a:rPr lang="en-US" sz="2400" dirty="0" err="1">
                <a:latin typeface="Calibir"/>
              </a:rPr>
              <a:t>self.read_amount</a:t>
            </a:r>
            <a:r>
              <a:rPr lang="en-US" sz="24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"Amount to withdraw: $"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savings = </a:t>
            </a:r>
            <a:r>
              <a:rPr lang="en-US" sz="2400" dirty="0" err="1">
                <a:latin typeface="Calibir"/>
              </a:rPr>
              <a:t>self.account</a:t>
            </a:r>
            <a:r>
              <a:rPr lang="en-US" sz="24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"Savings"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try: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</a:t>
            </a:r>
            <a:r>
              <a:rPr lang="en-US" sz="2400" dirty="0" err="1">
                <a:latin typeface="Calibir"/>
              </a:rPr>
              <a:t>savings.withdraw</a:t>
            </a:r>
            <a:r>
              <a:rPr lang="en-US" sz="2400" dirty="0">
                <a:latin typeface="Calibir"/>
              </a:rPr>
              <a:t>(amount)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except </a:t>
            </a:r>
            <a:r>
              <a:rPr lang="en-US" sz="2400" dirty="0" err="1">
                <a:latin typeface="Calibir"/>
              </a:rPr>
              <a:t>ValueError</a:t>
            </a:r>
            <a:r>
              <a:rPr lang="en-US" sz="2400" dirty="0">
                <a:latin typeface="Calibir"/>
              </a:rPr>
              <a:t> as error: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print(error)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668021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6399-695F-C5ED-8043-CF18EFDF4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F751FC-4510-0A07-D3D2-DDFD1FCC5CEB}"/>
              </a:ext>
            </a:extLst>
          </p:cNvPr>
          <p:cNvSpPr txBox="1"/>
          <p:nvPr/>
        </p:nvSpPr>
        <p:spPr>
          <a:xfrm>
            <a:off x="0" y="0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3.7 Transfer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transfer(self):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amount = </a:t>
            </a:r>
            <a:r>
              <a:rPr lang="en-US" sz="2800" dirty="0" err="1">
                <a:latin typeface="Calibir"/>
              </a:rPr>
              <a:t>self.read_amount</a:t>
            </a:r>
            <a:r>
              <a:rPr lang="en-US" sz="2800" dirty="0">
                <a:latin typeface="Calibir"/>
              </a:rPr>
              <a:t>("Amount to transfer: $")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savings = </a:t>
            </a:r>
            <a:r>
              <a:rPr lang="en-US" sz="2800" dirty="0" err="1">
                <a:latin typeface="Calibir"/>
              </a:rPr>
              <a:t>self.account</a:t>
            </a:r>
            <a:r>
              <a:rPr lang="en-US" sz="2800" dirty="0">
                <a:latin typeface="Calibir"/>
              </a:rPr>
              <a:t>("Savings")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loan = </a:t>
            </a:r>
            <a:r>
              <a:rPr lang="en-US" sz="2800" dirty="0" err="1">
                <a:latin typeface="Calibir"/>
              </a:rPr>
              <a:t>self.account</a:t>
            </a:r>
            <a:r>
              <a:rPr lang="en-US" sz="2800" dirty="0">
                <a:latin typeface="Calibir"/>
              </a:rPr>
              <a:t>("Loan")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try: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savings.transfer</a:t>
            </a:r>
            <a:r>
              <a:rPr lang="en-US" sz="2800" dirty="0">
                <a:latin typeface="Calibir"/>
              </a:rPr>
              <a:t>(amount, loan)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except </a:t>
            </a:r>
            <a:r>
              <a:rPr lang="en-US" sz="2800" dirty="0" err="1">
                <a:latin typeface="Calibir"/>
              </a:rPr>
              <a:t>ValueError</a:t>
            </a:r>
            <a:r>
              <a:rPr lang="en-US" sz="2800" dirty="0">
                <a:latin typeface="Calibir"/>
              </a:rPr>
              <a:t> as error: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print(error)</a:t>
            </a:r>
          </a:p>
        </p:txBody>
      </p:sp>
    </p:spTree>
    <p:extLst>
      <p:ext uri="{BB962C8B-B14F-4D97-AF65-F5344CB8AC3E}">
        <p14:creationId xmlns:p14="http://schemas.microsoft.com/office/powerpoint/2010/main" val="40546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AC5A-E17D-C4C9-B908-6CF2981C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63E953-D81C-165A-5D01-14AE336D31FE}"/>
              </a:ext>
            </a:extLst>
          </p:cNvPr>
          <p:cNvSpPr txBox="1"/>
          <p:nvPr/>
        </p:nvSpPr>
        <p:spPr>
          <a:xfrm>
            <a:off x="0" y="0"/>
            <a:ext cx="914957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 — Add current date and time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Lab 7 output includes: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Tom bank statement: 22/06/2023 - 14:31:53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from datetime import datetime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now = </a:t>
            </a:r>
            <a:r>
              <a:rPr lang="en-US" sz="2800" dirty="0" err="1">
                <a:latin typeface="Calibir"/>
              </a:rPr>
              <a:t>datetime.now</a:t>
            </a:r>
            <a:r>
              <a:rPr lang="en-US" sz="2800" dirty="0"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formatted_time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now.strftime</a:t>
            </a:r>
            <a:r>
              <a:rPr lang="en-US" sz="2800" dirty="0">
                <a:latin typeface="Calibir"/>
              </a:rPr>
              <a:t>("%d/%m/%Y - %H:%M:%S“)</a:t>
            </a:r>
          </a:p>
        </p:txBody>
      </p:sp>
    </p:spTree>
    <p:extLst>
      <p:ext uri="{BB962C8B-B14F-4D97-AF65-F5344CB8AC3E}">
        <p14:creationId xmlns:p14="http://schemas.microsoft.com/office/powerpoint/2010/main" val="2783598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E768-0197-9D98-764C-0A198B13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795E7A-6E76-8CB2-2170-67CB02802B97}"/>
              </a:ext>
            </a:extLst>
          </p:cNvPr>
          <p:cNvSpPr txBox="1"/>
          <p:nvPr/>
        </p:nvSpPr>
        <p:spPr>
          <a:xfrm>
            <a:off x="0" y="0"/>
            <a:ext cx="10905893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import </a:t>
            </a:r>
            <a:r>
              <a:rPr lang="en-US" sz="2800" dirty="0" err="1">
                <a:latin typeface="Calibir"/>
              </a:rPr>
              <a:t>java.time.LocalDateTime</a:t>
            </a:r>
            <a:r>
              <a:rPr lang="en-US" sz="28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import </a:t>
            </a:r>
            <a:r>
              <a:rPr lang="en-US" sz="2800" dirty="0" err="1">
                <a:latin typeface="Calibir"/>
              </a:rPr>
              <a:t>java.time.format.DateTimeFormatter</a:t>
            </a:r>
            <a:r>
              <a:rPr lang="en-US" sz="28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DateTimeFormatter</a:t>
            </a:r>
            <a:r>
              <a:rPr lang="en-US" sz="2800" dirty="0">
                <a:latin typeface="Calibir"/>
              </a:rPr>
              <a:t> formatter =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DateTimeFormatter.ofPattern</a:t>
            </a:r>
            <a:r>
              <a:rPr lang="en-US" sz="2800" dirty="0">
                <a:latin typeface="Calibir"/>
              </a:rPr>
              <a:t>("dd/MM/</a:t>
            </a:r>
            <a:r>
              <a:rPr lang="en-US" sz="2800" dirty="0" err="1">
                <a:latin typeface="Calibir"/>
              </a:rPr>
              <a:t>yyyy</a:t>
            </a:r>
            <a:r>
              <a:rPr lang="en-US" sz="2800" dirty="0">
                <a:latin typeface="Calibir"/>
              </a:rPr>
              <a:t> - </a:t>
            </a:r>
            <a:r>
              <a:rPr lang="en-US" sz="2800" dirty="0" err="1">
                <a:latin typeface="Calibir"/>
              </a:rPr>
              <a:t>HH:mm:ss</a:t>
            </a:r>
            <a:r>
              <a:rPr lang="en-US" sz="2800" dirty="0">
                <a:latin typeface="Calibir"/>
              </a:rPr>
              <a:t>");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String now =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LocalDateTime.now</a:t>
            </a:r>
            <a:r>
              <a:rPr lang="en-US" sz="28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        .format(formatter);</a:t>
            </a:r>
          </a:p>
        </p:txBody>
      </p:sp>
    </p:spTree>
    <p:extLst>
      <p:ext uri="{BB962C8B-B14F-4D97-AF65-F5344CB8AC3E}">
        <p14:creationId xmlns:p14="http://schemas.microsoft.com/office/powerpoint/2010/main" val="2405656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8F2BB-10AD-1BBA-1B55-856D93DC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51137-E513-792A-2E90-03D797589F9E}"/>
              </a:ext>
            </a:extLst>
          </p:cNvPr>
          <p:cNvSpPr txBox="1"/>
          <p:nvPr/>
        </p:nvSpPr>
        <p:spPr>
          <a:xfrm>
            <a:off x="0" y="-89208"/>
            <a:ext cx="1219200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5 — Show customer statement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show(self):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from datetime import datetime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now = </a:t>
            </a:r>
            <a:r>
              <a:rPr lang="en-US" sz="2800" dirty="0" err="1">
                <a:latin typeface="Calibir"/>
              </a:rPr>
              <a:t>datetime.now</a:t>
            </a:r>
            <a:r>
              <a:rPr lang="en-US" sz="2800" dirty="0">
                <a:latin typeface="Calibir"/>
              </a:rPr>
              <a:t>().</a:t>
            </a:r>
            <a:r>
              <a:rPr lang="en-US" sz="2800" dirty="0" err="1">
                <a:latin typeface="Calibir"/>
              </a:rPr>
              <a:t>strftime</a:t>
            </a:r>
            <a:r>
              <a:rPr lang="en-US" sz="2800" dirty="0">
                <a:latin typeface="Calibir"/>
              </a:rPr>
              <a:t>("%d/%m/%Y - %H:%M:%S")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print(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f"{self.name} bank statement: 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f"{now}"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for account in </a:t>
            </a:r>
            <a:r>
              <a:rPr lang="en-US" sz="2800" dirty="0" err="1">
                <a:latin typeface="Calibir"/>
              </a:rPr>
              <a:t>self.accounts</a:t>
            </a:r>
            <a:r>
              <a:rPr lang="en-US" sz="2800" dirty="0">
                <a:latin typeface="Calibir"/>
              </a:rPr>
              <a:t>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print(account)</a:t>
            </a:r>
          </a:p>
        </p:txBody>
      </p:sp>
    </p:spTree>
    <p:extLst>
      <p:ext uri="{BB962C8B-B14F-4D97-AF65-F5344CB8AC3E}">
        <p14:creationId xmlns:p14="http://schemas.microsoft.com/office/powerpoint/2010/main" val="27815536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E2A5-0DEB-7558-5C7A-02F5AC4C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C83921-EDA9-B910-5254-0756FBF3827E}"/>
              </a:ext>
            </a:extLst>
          </p:cNvPr>
          <p:cNvSpPr txBox="1"/>
          <p:nvPr/>
        </p:nvSpPr>
        <p:spPr>
          <a:xfrm>
            <a:off x="0" y="-89208"/>
            <a:ext cx="1219200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Tom bank statement: 22/06/2023 - 14:31:53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Savings account has $2,000.00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Loan account has $3,000.00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6 — Give Customer its own sub-menu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explicitly stated in the Lab 7 slide.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 = deposit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 = withdraw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 = transfer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 = show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x = back to Bank menu</a:t>
            </a:r>
          </a:p>
        </p:txBody>
      </p:sp>
    </p:spTree>
    <p:extLst>
      <p:ext uri="{BB962C8B-B14F-4D97-AF65-F5344CB8AC3E}">
        <p14:creationId xmlns:p14="http://schemas.microsoft.com/office/powerpoint/2010/main" val="1313256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20AB8-29CD-1662-DE33-ED8BF12F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26FD7-FD24-EE42-2E99-627477C9D92E}"/>
              </a:ext>
            </a:extLst>
          </p:cNvPr>
          <p:cNvSpPr txBox="1"/>
          <p:nvPr/>
        </p:nvSpPr>
        <p:spPr>
          <a:xfrm>
            <a:off x="0" y="-89208"/>
            <a:ext cx="12192000" cy="697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def menu(self):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while True: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choice = input(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"Customer menu "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"(d/w/t/s/x): "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).lower()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if choice == "d":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</a:t>
            </a:r>
            <a:r>
              <a:rPr lang="en-US" sz="1600" dirty="0" err="1">
                <a:latin typeface="Calibir"/>
              </a:rPr>
              <a:t>self.deposit</a:t>
            </a:r>
            <a:r>
              <a:rPr lang="en-US" sz="1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elif</a:t>
            </a:r>
            <a:r>
              <a:rPr lang="en-US" sz="1600" dirty="0">
                <a:latin typeface="Calibir"/>
              </a:rPr>
              <a:t> choice == "w":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</a:t>
            </a:r>
            <a:r>
              <a:rPr lang="en-US" sz="1600" dirty="0" err="1">
                <a:latin typeface="Calibir"/>
              </a:rPr>
              <a:t>self.withdraw</a:t>
            </a:r>
            <a:r>
              <a:rPr lang="en-US" sz="1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elif</a:t>
            </a:r>
            <a:r>
              <a:rPr lang="en-US" sz="1600" dirty="0">
                <a:latin typeface="Calibir"/>
              </a:rPr>
              <a:t> choice == "t":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</a:t>
            </a:r>
            <a:r>
              <a:rPr lang="en-US" sz="1600" dirty="0" err="1">
                <a:latin typeface="Calibir"/>
              </a:rPr>
              <a:t>self.transfer</a:t>
            </a:r>
            <a:r>
              <a:rPr lang="en-US" sz="1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elif</a:t>
            </a:r>
            <a:r>
              <a:rPr lang="en-US" sz="1600" dirty="0">
                <a:latin typeface="Calibir"/>
              </a:rPr>
              <a:t> choice == "s":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</a:t>
            </a:r>
            <a:r>
              <a:rPr lang="en-US" sz="1600" dirty="0" err="1">
                <a:latin typeface="Calibir"/>
              </a:rPr>
              <a:t>self.show</a:t>
            </a:r>
            <a:r>
              <a:rPr lang="en-US" sz="1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elif</a:t>
            </a:r>
            <a:r>
              <a:rPr lang="en-US" sz="1600" dirty="0">
                <a:latin typeface="Calibir"/>
              </a:rPr>
              <a:t> choice == "x":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print("Back to Bank menu")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31890190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0467E-BDC1-6E1B-C5DB-D323F4FB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2343EB-B919-2862-6580-0E65D49C9358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ir"/>
              </a:rPr>
              <a:t>Completed Python Customer class</a:t>
            </a:r>
          </a:p>
          <a:p>
            <a:r>
              <a:rPr lang="en-US" sz="1400" dirty="0">
                <a:latin typeface="Calibir"/>
              </a:rPr>
              <a:t>from datetime import datetime</a:t>
            </a:r>
          </a:p>
          <a:p>
            <a:endParaRPr lang="en-US" sz="1400" dirty="0">
              <a:latin typeface="Calibir"/>
            </a:endParaRP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class Customer: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__</a:t>
            </a:r>
            <a:r>
              <a:rPr lang="en-US" sz="1400" dirty="0" err="1">
                <a:latin typeface="Calibir"/>
              </a:rPr>
              <a:t>init</a:t>
            </a:r>
            <a:r>
              <a:rPr lang="en-US" sz="1400" dirty="0">
                <a:latin typeface="Calibir"/>
              </a:rPr>
              <a:t>__(self):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self.name = input(</a:t>
            </a:r>
          </a:p>
          <a:p>
            <a:r>
              <a:rPr lang="en-US" sz="1400" dirty="0">
                <a:latin typeface="Calibir"/>
              </a:rPr>
              <a:t>            "Enter Customer Name: 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self.accounts</a:t>
            </a:r>
            <a:r>
              <a:rPr lang="en-US" sz="1400" dirty="0">
                <a:latin typeface="Calibir"/>
              </a:rPr>
              <a:t> = [</a:t>
            </a:r>
          </a:p>
          <a:p>
            <a:r>
              <a:rPr lang="en-US" sz="1400" dirty="0">
                <a:latin typeface="Calibir"/>
              </a:rPr>
              <a:t>            Account("Savings"),</a:t>
            </a:r>
          </a:p>
          <a:p>
            <a:r>
              <a:rPr lang="en-US" sz="1400" dirty="0">
                <a:latin typeface="Calibir"/>
              </a:rPr>
              <a:t>            Account("Loan")</a:t>
            </a:r>
          </a:p>
          <a:p>
            <a:r>
              <a:rPr lang="en-US" sz="1400" dirty="0">
                <a:latin typeface="Calibir"/>
              </a:rPr>
              <a:t>        ]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matches(</a:t>
            </a:r>
          </a:p>
          <a:p>
            <a:r>
              <a:rPr lang="en-US" sz="1400" dirty="0">
                <a:latin typeface="Calibir"/>
              </a:rPr>
              <a:t>            self,</a:t>
            </a: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target_name</a:t>
            </a:r>
            <a:r>
              <a:rPr lang="en-US" sz="1400" dirty="0">
                <a:latin typeface="Calibir"/>
              </a:rPr>
              <a:t>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return (</a:t>
            </a: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self.name.lower</a:t>
            </a:r>
            <a:r>
              <a:rPr lang="en-US" sz="1400" dirty="0">
                <a:latin typeface="Calibir"/>
              </a:rPr>
              <a:t>()</a:t>
            </a:r>
          </a:p>
          <a:p>
            <a:r>
              <a:rPr lang="en-US" sz="1400" dirty="0">
                <a:latin typeface="Calibir"/>
              </a:rPr>
              <a:t>            == </a:t>
            </a:r>
            <a:r>
              <a:rPr lang="en-US" sz="1400" dirty="0" err="1">
                <a:latin typeface="Calibir"/>
              </a:rPr>
              <a:t>target_name.lower</a:t>
            </a:r>
            <a:r>
              <a:rPr lang="en-US" sz="1400" dirty="0">
                <a:latin typeface="Calibir"/>
              </a:rPr>
              <a:t>()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account(</a:t>
            </a:r>
          </a:p>
          <a:p>
            <a:r>
              <a:rPr lang="en-US" sz="1400" dirty="0">
                <a:latin typeface="Calibir"/>
              </a:rPr>
              <a:t>            self,</a:t>
            </a: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account_type</a:t>
            </a:r>
            <a:r>
              <a:rPr lang="en-US" sz="1400" dirty="0">
                <a:latin typeface="Calibir"/>
              </a:rPr>
              <a:t>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for account in </a:t>
            </a:r>
            <a:r>
              <a:rPr lang="en-US" sz="1400" dirty="0" err="1">
                <a:latin typeface="Calibir"/>
              </a:rPr>
              <a:t>self.accounts</a:t>
            </a:r>
            <a:r>
              <a:rPr lang="en-US" sz="1400" dirty="0">
                <a:latin typeface="Calibir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19267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7BB55-19AE-9B02-454F-16901285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8387E-41DD-D1D1-FEAF-0EAF20CC3EC0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        if </a:t>
            </a:r>
            <a:r>
              <a:rPr lang="en-US" sz="1400" dirty="0" err="1">
                <a:latin typeface="Calibir"/>
              </a:rPr>
              <a:t>account.matches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        </a:t>
            </a:r>
            <a:r>
              <a:rPr lang="en-US" sz="1400" dirty="0" err="1">
                <a:latin typeface="Calibir"/>
              </a:rPr>
              <a:t>account_type</a:t>
            </a:r>
            <a:r>
              <a:rPr lang="en-US" sz="1400" dirty="0">
                <a:latin typeface="Calibir"/>
              </a:rPr>
              <a:t>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    return account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return None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</a:t>
            </a:r>
            <a:r>
              <a:rPr lang="en-US" sz="1400" dirty="0" err="1">
                <a:latin typeface="Calibir"/>
              </a:rPr>
              <a:t>read_amount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self,</a:t>
            </a:r>
          </a:p>
          <a:p>
            <a:r>
              <a:rPr lang="en-US" sz="1400" dirty="0">
                <a:latin typeface="Calibir"/>
              </a:rPr>
              <a:t>            message):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return float(</a:t>
            </a:r>
          </a:p>
          <a:p>
            <a:r>
              <a:rPr lang="en-US" sz="1400" dirty="0">
                <a:latin typeface="Calibir"/>
              </a:rPr>
              <a:t>            input(message)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deposit(self):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amount = </a:t>
            </a:r>
            <a:r>
              <a:rPr lang="en-US" sz="1400" dirty="0" err="1">
                <a:latin typeface="Calibir"/>
              </a:rPr>
              <a:t>self.read_amount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"Amount to deposit: $"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savings = </a:t>
            </a:r>
            <a:r>
              <a:rPr lang="en-US" sz="1400" dirty="0" err="1">
                <a:latin typeface="Calibir"/>
              </a:rPr>
              <a:t>self.account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"Savings"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savings.deposit</a:t>
            </a:r>
            <a:r>
              <a:rPr lang="en-US" sz="1400" dirty="0">
                <a:latin typeface="Calibir"/>
              </a:rPr>
              <a:t>(amount)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withdraw(self):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amount = </a:t>
            </a:r>
            <a:r>
              <a:rPr lang="en-US" sz="1400" dirty="0" err="1">
                <a:latin typeface="Calibir"/>
              </a:rPr>
              <a:t>self.read_amount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"Amount to withdraw: $"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3575177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D2E8A-3B8F-D655-9128-2AF9B4E3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13A6E0-2816-3399-2515-9311CAA23F48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    savings = </a:t>
            </a:r>
            <a:r>
              <a:rPr lang="en-US" sz="1400" dirty="0" err="1">
                <a:latin typeface="Calibir"/>
              </a:rPr>
              <a:t>self.account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"Savings"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try: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savings.withdraw</a:t>
            </a:r>
            <a:r>
              <a:rPr lang="en-US" sz="1400" dirty="0">
                <a:latin typeface="Calibir"/>
              </a:rPr>
              <a:t>(amount)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except </a:t>
            </a:r>
            <a:r>
              <a:rPr lang="en-US" sz="1400" dirty="0" err="1">
                <a:latin typeface="Calibir"/>
              </a:rPr>
              <a:t>ValueError</a:t>
            </a:r>
            <a:r>
              <a:rPr lang="en-US" sz="1400" dirty="0">
                <a:latin typeface="Calibir"/>
              </a:rPr>
              <a:t> as error: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print(error)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transfer(self):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amount = </a:t>
            </a:r>
            <a:r>
              <a:rPr lang="en-US" sz="1400" dirty="0" err="1">
                <a:latin typeface="Calibir"/>
              </a:rPr>
              <a:t>self.read_amount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"Amount to transfer: $"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savings = </a:t>
            </a:r>
            <a:r>
              <a:rPr lang="en-US" sz="1400" dirty="0" err="1">
                <a:latin typeface="Calibir"/>
              </a:rPr>
              <a:t>self.account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"Savings"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loan = </a:t>
            </a:r>
            <a:r>
              <a:rPr lang="en-US" sz="1400" dirty="0" err="1">
                <a:latin typeface="Calibir"/>
              </a:rPr>
              <a:t>self.account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"Loan"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try: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savings.transfer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    amount,</a:t>
            </a:r>
          </a:p>
          <a:p>
            <a:r>
              <a:rPr lang="en-US" sz="1400" dirty="0">
                <a:latin typeface="Calibir"/>
              </a:rPr>
              <a:t>                loan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</p:txBody>
      </p:sp>
    </p:spTree>
    <p:extLst>
      <p:ext uri="{BB962C8B-B14F-4D97-AF65-F5344CB8AC3E}">
        <p14:creationId xmlns:p14="http://schemas.microsoft.com/office/powerpoint/2010/main" val="5392565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0F911-6E1E-0815-343D-3809AB96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0098-2F18-130E-8E89-67DD6D4E4A64}"/>
              </a:ext>
            </a:extLst>
          </p:cNvPr>
          <p:cNvSpPr txBox="1"/>
          <p:nvPr/>
        </p:nvSpPr>
        <p:spPr>
          <a:xfrm>
            <a:off x="0" y="0"/>
            <a:ext cx="121920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    except </a:t>
            </a:r>
            <a:r>
              <a:rPr lang="en-US" sz="1400" dirty="0" err="1">
                <a:latin typeface="Calibir"/>
              </a:rPr>
              <a:t>ValueError</a:t>
            </a:r>
            <a:r>
              <a:rPr lang="en-US" sz="1400" dirty="0">
                <a:latin typeface="Calibir"/>
              </a:rPr>
              <a:t> as error: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print(error)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show(self):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now = </a:t>
            </a:r>
            <a:r>
              <a:rPr lang="en-US" sz="1400" dirty="0" err="1">
                <a:latin typeface="Calibir"/>
              </a:rPr>
              <a:t>datetime.now</a:t>
            </a:r>
            <a:r>
              <a:rPr lang="en-US" sz="1400" dirty="0">
                <a:latin typeface="Calibir"/>
              </a:rPr>
              <a:t>().</a:t>
            </a:r>
            <a:r>
              <a:rPr lang="en-US" sz="1400" dirty="0" err="1">
                <a:latin typeface="Calibir"/>
              </a:rPr>
              <a:t>strftime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"%d/%m/%Y - %H:%M:%S"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print(</a:t>
            </a:r>
          </a:p>
          <a:p>
            <a:r>
              <a:rPr lang="en-US" sz="1400" dirty="0">
                <a:latin typeface="Calibir"/>
              </a:rPr>
              <a:t>            f"{self.name} "</a:t>
            </a: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f"bank</a:t>
            </a:r>
            <a:r>
              <a:rPr lang="en-US" sz="1400" dirty="0">
                <a:latin typeface="Calibir"/>
              </a:rPr>
              <a:t> statement: {now}"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for account in </a:t>
            </a:r>
            <a:r>
              <a:rPr lang="en-US" sz="1400" dirty="0" err="1">
                <a:latin typeface="Calibir"/>
              </a:rPr>
              <a:t>self.accounts</a:t>
            </a:r>
            <a:r>
              <a:rPr lang="en-US" sz="1400" dirty="0">
                <a:latin typeface="Calibir"/>
              </a:rPr>
              <a:t>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print(account)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menu(self):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while True: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choice = input(</a:t>
            </a:r>
          </a:p>
          <a:p>
            <a:r>
              <a:rPr lang="en-US" sz="1400" dirty="0">
                <a:latin typeface="Calibir"/>
              </a:rPr>
              <a:t>                "Customer menu "</a:t>
            </a:r>
          </a:p>
          <a:p>
            <a:r>
              <a:rPr lang="en-US" sz="1400" dirty="0">
                <a:latin typeface="Calibir"/>
              </a:rPr>
              <a:t>                "(d/w/t/s/x): "</a:t>
            </a:r>
          </a:p>
          <a:p>
            <a:r>
              <a:rPr lang="en-US" sz="1400" dirty="0">
                <a:latin typeface="Calibir"/>
              </a:rPr>
              <a:t>            ).lower()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if choice == "d":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self.deposit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244348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6B76-CA63-0B57-EF4D-3F211CFD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469F5-991D-EFC5-0B0D-85B02CAAEC30}"/>
              </a:ext>
            </a:extLst>
          </p:cNvPr>
          <p:cNvSpPr txBox="1"/>
          <p:nvPr/>
        </p:nvSpPr>
        <p:spPr>
          <a:xfrm>
            <a:off x="0" y="0"/>
            <a:ext cx="1219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"w":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self.withdraw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"t":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self.transfer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"s":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self.show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"x":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    print(</a:t>
            </a:r>
          </a:p>
          <a:p>
            <a:r>
              <a:rPr lang="en-US" sz="1400" dirty="0">
                <a:latin typeface="Calibir"/>
              </a:rPr>
              <a:t>                    "Back to Bank menu"</a:t>
            </a:r>
          </a:p>
          <a:p>
            <a:r>
              <a:rPr lang="en-US" sz="1400" dirty="0">
                <a:latin typeface="Calibir"/>
              </a:rPr>
              <a:t>    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21101766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837D-8F1F-6945-B826-2EEB582A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AB3495-0520-A259-A152-AECA63AF9AF2}"/>
              </a:ext>
            </a:extLst>
          </p:cNvPr>
          <p:cNvSpPr txBox="1"/>
          <p:nvPr/>
        </p:nvSpPr>
        <p:spPr>
          <a:xfrm>
            <a:off x="0" y="-1"/>
            <a:ext cx="12192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7 — Bank now manages multiple 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sample clearly shows: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Tom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Lucy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Jess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So the Bank needs a collection of customers.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class Bank: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def __</a:t>
            </a:r>
            <a:r>
              <a:rPr lang="en-US" sz="2400" dirty="0" err="1">
                <a:latin typeface="Calibir"/>
              </a:rPr>
              <a:t>init</a:t>
            </a:r>
            <a:r>
              <a:rPr lang="en-US" sz="2400" dirty="0">
                <a:latin typeface="Calibir"/>
              </a:rPr>
              <a:t>__(self):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    </a:t>
            </a:r>
            <a:r>
              <a:rPr lang="en-US" sz="2400" dirty="0" err="1">
                <a:latin typeface="Calibir"/>
              </a:rPr>
              <a:t>self.customers</a:t>
            </a:r>
            <a:r>
              <a:rPr lang="en-US" sz="2400" dirty="0">
                <a:latin typeface="Calibir"/>
              </a:rPr>
              <a:t> = []</a:t>
            </a:r>
          </a:p>
        </p:txBody>
      </p:sp>
    </p:spTree>
    <p:extLst>
      <p:ext uri="{BB962C8B-B14F-4D97-AF65-F5344CB8AC3E}">
        <p14:creationId xmlns:p14="http://schemas.microsoft.com/office/powerpoint/2010/main" val="35500110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17ED-F489-3B69-F776-176E8A24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D7265F-D187-0B96-848D-29A03159507F}"/>
              </a:ext>
            </a:extLst>
          </p:cNvPr>
          <p:cNvSpPr txBox="1"/>
          <p:nvPr/>
        </p:nvSpPr>
        <p:spPr>
          <a:xfrm>
            <a:off x="0" y="-1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Add 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the sample, three are created: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for </a:t>
            </a:r>
            <a:r>
              <a:rPr lang="en-US" sz="2400" dirty="0" err="1">
                <a:latin typeface="Calibir"/>
              </a:rPr>
              <a:t>i</a:t>
            </a:r>
            <a:r>
              <a:rPr lang="en-US" sz="2400" dirty="0">
                <a:latin typeface="Calibir"/>
              </a:rPr>
              <a:t> in range(3):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self.customers.append</a:t>
            </a:r>
            <a:r>
              <a:rPr lang="en-US" sz="2400" dirty="0">
                <a:latin typeface="Calibir"/>
              </a:rPr>
              <a:t>(Customer())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Look up a customer by name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def customer(self, name):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for customer in </a:t>
            </a:r>
            <a:r>
              <a:rPr lang="en-US" sz="2400" dirty="0" err="1">
                <a:latin typeface="Calibir"/>
              </a:rPr>
              <a:t>self.customers</a:t>
            </a:r>
            <a:r>
              <a:rPr lang="en-US" sz="2400" dirty="0"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if </a:t>
            </a:r>
            <a:r>
              <a:rPr lang="en-US" sz="2400" dirty="0" err="1">
                <a:latin typeface="Calibir"/>
              </a:rPr>
              <a:t>customer.matches</a:t>
            </a:r>
            <a:r>
              <a:rPr lang="en-US" sz="2400" dirty="0">
                <a:latin typeface="Calibir"/>
              </a:rPr>
              <a:t>(name):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return customer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return None</a:t>
            </a:r>
          </a:p>
        </p:txBody>
      </p:sp>
    </p:spTree>
    <p:extLst>
      <p:ext uri="{BB962C8B-B14F-4D97-AF65-F5344CB8AC3E}">
        <p14:creationId xmlns:p14="http://schemas.microsoft.com/office/powerpoint/2010/main" val="4737487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E67D3-530E-74BD-18B8-B2AD82EC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8CAE77-1906-7DE3-A66C-4DF04A5227EE}"/>
              </a:ext>
            </a:extLst>
          </p:cNvPr>
          <p:cNvSpPr txBox="1"/>
          <p:nvPr/>
        </p:nvSpPr>
        <p:spPr>
          <a:xfrm>
            <a:off x="0" y="-1"/>
            <a:ext cx="12192000" cy="669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8 — Bank view()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sample displays all customers: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Tom  --&gt; Savings ... | Loan ...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Lucy --&gt; Savings ... | Loan ...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Jess --&gt; Savings ... | Loan ...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def view(self):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for customer in </a:t>
            </a:r>
            <a:r>
              <a:rPr lang="en-US" dirty="0" err="1">
                <a:latin typeface="Calibir"/>
              </a:rPr>
              <a:t>self.customers</a:t>
            </a:r>
            <a:r>
              <a:rPr lang="en-US" dirty="0">
                <a:latin typeface="Calibir"/>
              </a:rPr>
              <a:t>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savings = </a:t>
            </a:r>
            <a:r>
              <a:rPr lang="en-US" dirty="0" err="1">
                <a:latin typeface="Calibir"/>
              </a:rPr>
              <a:t>customer.account</a:t>
            </a:r>
            <a:r>
              <a:rPr lang="en-US" dirty="0">
                <a:latin typeface="Calibir"/>
              </a:rPr>
              <a:t>("Savings")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loan = </a:t>
            </a:r>
            <a:r>
              <a:rPr lang="en-US" dirty="0" err="1">
                <a:latin typeface="Calibir"/>
              </a:rPr>
              <a:t>customer.account</a:t>
            </a:r>
            <a:r>
              <a:rPr lang="en-US" dirty="0">
                <a:latin typeface="Calibir"/>
              </a:rPr>
              <a:t>("Loan")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print(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    f"{customer.name:&lt;10}"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    f" --&gt; {savings} | {loan}"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19563636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0A3E-D0BA-B4AB-17C2-7B25A90A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114FDB-D22B-53C2-7500-62F45244B653}"/>
              </a:ext>
            </a:extLst>
          </p:cNvPr>
          <p:cNvSpPr txBox="1"/>
          <p:nvPr/>
        </p:nvSpPr>
        <p:spPr>
          <a:xfrm>
            <a:off x="0" y="-1"/>
            <a:ext cx="12192000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9 — Bank login/select customer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sample uses: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Bank menu (L/V/X): 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Name: Tom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So: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def login(self):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name = input("Name: 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customer = </a:t>
            </a:r>
            <a:r>
              <a:rPr lang="en-US" sz="2400" dirty="0" err="1">
                <a:latin typeface="Calibir"/>
              </a:rPr>
              <a:t>self.customer</a:t>
            </a:r>
            <a:r>
              <a:rPr lang="en-US" sz="2400" dirty="0">
                <a:latin typeface="Calibir"/>
              </a:rPr>
              <a:t>(name)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if customer is None: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print("Customer does not exist")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return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customer.menu</a:t>
            </a:r>
            <a:r>
              <a:rPr lang="en-US" sz="24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475018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996B-6EF6-07A5-9683-AC018C0D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7F7D89-7FDB-B8AD-37A2-F45DBF7F7399}"/>
              </a:ext>
            </a:extLst>
          </p:cNvPr>
          <p:cNvSpPr txBox="1"/>
          <p:nvPr/>
        </p:nvSpPr>
        <p:spPr>
          <a:xfrm>
            <a:off x="0" y="-1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10 — Bank menu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def menu(self):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while True: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choice = input("Bank menu (L/V/X): ").upper()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if choice == "L":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</a:t>
            </a:r>
            <a:r>
              <a:rPr lang="en-US" sz="2400" dirty="0" err="1">
                <a:latin typeface="Calibir"/>
              </a:rPr>
              <a:t>self.login</a:t>
            </a:r>
            <a:r>
              <a:rPr lang="en-US" sz="24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</a:t>
            </a:r>
            <a:r>
              <a:rPr lang="en-US" sz="2400" dirty="0" err="1">
                <a:latin typeface="Calibir"/>
              </a:rPr>
              <a:t>elif</a:t>
            </a:r>
            <a:r>
              <a:rPr lang="en-US" sz="2400" dirty="0">
                <a:latin typeface="Calibir"/>
              </a:rPr>
              <a:t> choice == "V":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</a:t>
            </a:r>
            <a:r>
              <a:rPr lang="en-US" sz="2400" dirty="0" err="1">
                <a:latin typeface="Calibir"/>
              </a:rPr>
              <a:t>self.view</a:t>
            </a:r>
            <a:r>
              <a:rPr lang="en-US" sz="24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</a:t>
            </a:r>
            <a:r>
              <a:rPr lang="en-US" sz="2400" dirty="0" err="1">
                <a:latin typeface="Calibir"/>
              </a:rPr>
              <a:t>elif</a:t>
            </a:r>
            <a:r>
              <a:rPr lang="en-US" sz="2400" dirty="0">
                <a:latin typeface="Calibir"/>
              </a:rPr>
              <a:t> choice == "X":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print("Done")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2541484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F356-840B-9D72-DA5C-599F14F9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A441DD-A35F-C8B7-DCD6-AAE4E208B91C}"/>
              </a:ext>
            </a:extLst>
          </p:cNvPr>
          <p:cNvSpPr txBox="1"/>
          <p:nvPr/>
        </p:nvSpPr>
        <p:spPr>
          <a:xfrm>
            <a:off x="0" y="-1"/>
            <a:ext cx="9149575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ir"/>
              </a:rPr>
              <a:t>Completed Python Bank class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[]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for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in range(3):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self.customers.append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    Customer()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def customer(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self,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name):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for customer in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if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customer.matches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        name):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    return customer</a:t>
            </a:r>
          </a:p>
        </p:txBody>
      </p:sp>
    </p:spTree>
    <p:extLst>
      <p:ext uri="{BB962C8B-B14F-4D97-AF65-F5344CB8AC3E}">
        <p14:creationId xmlns:p14="http://schemas.microsoft.com/office/powerpoint/2010/main" val="29826751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7873-00C0-3AEB-D5C1-B5407799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ACE4C2-34F4-7656-F222-31C6FC8CAE9C}"/>
              </a:ext>
            </a:extLst>
          </p:cNvPr>
          <p:cNvSpPr txBox="1"/>
          <p:nvPr/>
        </p:nvSpPr>
        <p:spPr>
          <a:xfrm>
            <a:off x="0" y="-1"/>
            <a:ext cx="914957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 None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def view(self):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for customer in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savings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customer.account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"Savings"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loan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customer.account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"Loan"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)</a:t>
            </a:r>
          </a:p>
        </p:txBody>
      </p:sp>
    </p:spTree>
    <p:extLst>
      <p:ext uri="{BB962C8B-B14F-4D97-AF65-F5344CB8AC3E}">
        <p14:creationId xmlns:p14="http://schemas.microsoft.com/office/powerpoint/2010/main" val="11984625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014C-51DC-DFF5-9090-58AE2EAC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E5984-F646-3E71-D882-139830358F71}"/>
              </a:ext>
            </a:extLst>
          </p:cNvPr>
          <p:cNvSpPr txBox="1"/>
          <p:nvPr/>
        </p:nvSpPr>
        <p:spPr>
          <a:xfrm>
            <a:off x="0" y="-1"/>
            <a:ext cx="914957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f"{customer.name:&lt;10}"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f" --&gt; 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f"{savings} | {loan}"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def login(self):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name = input(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"Name: 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customer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name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8917662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3F13-79B8-C074-02D1-C532C2E8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B0650D-F031-0C33-7486-192F83501FCA}"/>
              </a:ext>
            </a:extLst>
          </p:cNvPr>
          <p:cNvSpPr txBox="1"/>
          <p:nvPr/>
        </p:nvSpPr>
        <p:spPr>
          <a:xfrm>
            <a:off x="0" y="-1"/>
            <a:ext cx="914957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if customer is None: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return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customer.menu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def menu(self):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while True:</a:t>
            </a:r>
          </a:p>
        </p:txBody>
      </p:sp>
    </p:spTree>
    <p:extLst>
      <p:ext uri="{BB962C8B-B14F-4D97-AF65-F5344CB8AC3E}">
        <p14:creationId xmlns:p14="http://schemas.microsoft.com/office/powerpoint/2010/main" val="24494906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4AF8-ED3C-0BF9-7377-56B932D67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21F2D-5D15-4659-C1D2-B1DE156676C2}"/>
              </a:ext>
            </a:extLst>
          </p:cNvPr>
          <p:cNvSpPr txBox="1"/>
          <p:nvPr/>
        </p:nvSpPr>
        <p:spPr>
          <a:xfrm>
            <a:off x="0" y="-1"/>
            <a:ext cx="914957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choice = input(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"Bank menu 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"(L/V/X): "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).upper()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if choice == "L":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self.login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choice == "V":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self.view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choice == "X":</a:t>
            </a:r>
          </a:p>
        </p:txBody>
      </p:sp>
    </p:spTree>
    <p:extLst>
      <p:ext uri="{BB962C8B-B14F-4D97-AF65-F5344CB8AC3E}">
        <p14:creationId xmlns:p14="http://schemas.microsoft.com/office/powerpoint/2010/main" val="13454546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F470-8486-203A-FA8B-5B96DF25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9DB83-2EAA-B157-E99A-7DB7BBBEA88C}"/>
              </a:ext>
            </a:extLst>
          </p:cNvPr>
          <p:cNvSpPr txBox="1"/>
          <p:nvPr/>
        </p:nvSpPr>
        <p:spPr>
          <a:xfrm>
            <a:off x="0" y="-1"/>
            <a:ext cx="914957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print("Done")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    break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def main():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bank = Bank()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bank.menu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if __name__ == "__main__":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3070096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4655-7BCF-73E9-6C2E-1F5C6B37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A5739-2CBC-05B9-064C-05A89085B82C}"/>
              </a:ext>
            </a:extLst>
          </p:cNvPr>
          <p:cNvSpPr txBox="1"/>
          <p:nvPr/>
        </p:nvSpPr>
        <p:spPr>
          <a:xfrm>
            <a:off x="0" y="0"/>
            <a:ext cx="9149575" cy="692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 Customer — Key Changes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The most important Java change is: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private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&lt;Account&gt; accounts;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instead of separate: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private Account savings;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private Account loan;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Initialize: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accounts =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new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&lt;&gt;();</a:t>
            </a:r>
          </a:p>
          <a:p>
            <a:pPr rtl="0"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dirty="0" err="1">
                <a:latin typeface="Calibir"/>
              </a:rPr>
              <a:t>accounts.add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new Account(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"Savings",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input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482738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9316-AA38-AFC7-14D7-FDC6A5AF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D30178-93C6-CF7A-F267-924F7C5191AF}"/>
              </a:ext>
            </a:extLst>
          </p:cNvPr>
          <p:cNvSpPr txBox="1"/>
          <p:nvPr/>
        </p:nvSpPr>
        <p:spPr>
          <a:xfrm>
            <a:off x="0" y="0"/>
            <a:ext cx="9149575" cy="711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alibir"/>
              </a:rPr>
              <a:t>accounts.add</a:t>
            </a:r>
            <a:r>
              <a:rPr lang="en-US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new Account(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"Loan",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input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Lookup: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public Account account(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String type) {</a:t>
            </a:r>
          </a:p>
          <a:p>
            <a:pPr>
              <a:lnSpc>
                <a:spcPct val="150000"/>
              </a:lnSpc>
            </a:pP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for (Account </a:t>
            </a:r>
            <a:r>
              <a:rPr lang="en-US" dirty="0" err="1">
                <a:latin typeface="Calibir"/>
              </a:rPr>
              <a:t>account</a:t>
            </a:r>
            <a:r>
              <a:rPr lang="en-US" dirty="0">
                <a:latin typeface="Calibir"/>
              </a:rPr>
              <a:t> : accounts) {</a:t>
            </a:r>
          </a:p>
          <a:p>
            <a:pPr>
              <a:lnSpc>
                <a:spcPct val="150000"/>
              </a:lnSpc>
            </a:pP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if (</a:t>
            </a:r>
            <a:r>
              <a:rPr lang="en-US" dirty="0" err="1">
                <a:latin typeface="Calibir"/>
              </a:rPr>
              <a:t>account.matches</a:t>
            </a:r>
            <a:r>
              <a:rPr lang="en-US" dirty="0">
                <a:latin typeface="Calibir"/>
              </a:rPr>
              <a:t>(type)) {</a:t>
            </a:r>
          </a:p>
          <a:p>
            <a:pPr>
              <a:lnSpc>
                <a:spcPct val="150000"/>
              </a:lnSpc>
            </a:pP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return account;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666873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046A-7D93-B13E-73A6-211EAE82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A4F8DF-F9CB-3784-2FA5-FE476D7D7F94}"/>
              </a:ext>
            </a:extLst>
          </p:cNvPr>
          <p:cNvSpPr txBox="1"/>
          <p:nvPr/>
        </p:nvSpPr>
        <p:spPr>
          <a:xfrm>
            <a:off x="0" y="0"/>
            <a:ext cx="9149575" cy="6097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return null;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 Bank — Multiple Customers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private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&lt;Customer&gt; customers;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Initialize: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customers =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new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&lt;&gt;();</a:t>
            </a:r>
          </a:p>
          <a:p>
            <a:pPr>
              <a:lnSpc>
                <a:spcPct val="150000"/>
              </a:lnSpc>
            </a:pP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for (int </a:t>
            </a:r>
            <a:r>
              <a:rPr lang="en-US" dirty="0" err="1">
                <a:latin typeface="Calibir"/>
              </a:rPr>
              <a:t>i</a:t>
            </a:r>
            <a:r>
              <a:rPr lang="en-US" dirty="0">
                <a:latin typeface="Calibir"/>
              </a:rPr>
              <a:t> = 0; </a:t>
            </a:r>
            <a:r>
              <a:rPr lang="en-US" dirty="0" err="1">
                <a:latin typeface="Calibir"/>
              </a:rPr>
              <a:t>i</a:t>
            </a:r>
            <a:r>
              <a:rPr lang="en-US" dirty="0">
                <a:latin typeface="Calibir"/>
              </a:rPr>
              <a:t> &lt; 3; </a:t>
            </a:r>
            <a:r>
              <a:rPr lang="en-US" dirty="0" err="1">
                <a:latin typeface="Calibir"/>
              </a:rPr>
              <a:t>i</a:t>
            </a:r>
            <a:r>
              <a:rPr lang="en-US" dirty="0">
                <a:latin typeface="Calibir"/>
              </a:rPr>
              <a:t>++) {</a:t>
            </a:r>
          </a:p>
          <a:p>
            <a:pPr>
              <a:lnSpc>
                <a:spcPct val="150000"/>
              </a:lnSpc>
            </a:pP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customers.add</a:t>
            </a:r>
            <a:r>
              <a:rPr lang="en-US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new Customer(input)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);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4676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D506-655C-BB57-276A-D64A4695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140B8-8CE6-2F11-2522-7AB77ACC84F8}"/>
              </a:ext>
            </a:extLst>
          </p:cNvPr>
          <p:cNvSpPr txBox="1"/>
          <p:nvPr/>
        </p:nvSpPr>
        <p:spPr>
          <a:xfrm>
            <a:off x="0" y="0"/>
            <a:ext cx="9149575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Lookup: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public Customer customer(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String name)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for (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Customer </a:t>
            </a:r>
            <a:r>
              <a:rPr lang="en-US" dirty="0" err="1">
                <a:latin typeface="Calibir"/>
              </a:rPr>
              <a:t>customer</a:t>
            </a: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: customers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if (</a:t>
            </a:r>
            <a:r>
              <a:rPr lang="en-US" dirty="0" err="1">
                <a:latin typeface="Calibir"/>
              </a:rPr>
              <a:t>customer.matches</a:t>
            </a:r>
            <a:r>
              <a:rPr lang="en-US" dirty="0">
                <a:latin typeface="Calibir"/>
              </a:rPr>
              <a:t>(name)) {</a:t>
            </a:r>
          </a:p>
          <a:p>
            <a:pPr>
              <a:lnSpc>
                <a:spcPct val="150000"/>
              </a:lnSpc>
            </a:pPr>
            <a:endParaRPr lang="en-US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    return customer;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    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    return null;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This is the Java equivalent of searching the list.</a:t>
            </a:r>
          </a:p>
        </p:txBody>
      </p:sp>
    </p:spTree>
    <p:extLst>
      <p:ext uri="{BB962C8B-B14F-4D97-AF65-F5344CB8AC3E}">
        <p14:creationId xmlns:p14="http://schemas.microsoft.com/office/powerpoint/2010/main" val="4152493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69D0-BC7A-7DE4-4C25-6949E323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BC6F-6BA7-F196-2FEC-4366057F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F183F-0F03-8023-6330-D65AE574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4" t="20549" r="38853" b="19059"/>
          <a:stretch>
            <a:fillRect/>
          </a:stretch>
        </p:blipFill>
        <p:spPr>
          <a:xfrm>
            <a:off x="2277784" y="756745"/>
            <a:ext cx="6955114" cy="56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878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7A7BC-783B-1FE5-5C6D-C0724071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4A34-53B5-AFBF-78F0-68E086B4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4A873-44E5-9ABE-1004-212D8BB6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59" t="19138" r="16706" b="13254"/>
          <a:stretch>
            <a:fillRect/>
          </a:stretch>
        </p:blipFill>
        <p:spPr>
          <a:xfrm>
            <a:off x="1570617" y="866611"/>
            <a:ext cx="9337638" cy="552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258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B876B-8B45-D106-63E1-D79D8B53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F436-DDA4-8BDF-DDAD-B8521ADD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5520E-D103-5643-1F4A-95338929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8" t="21176" r="17853" b="14353"/>
          <a:stretch>
            <a:fillRect/>
          </a:stretch>
        </p:blipFill>
        <p:spPr>
          <a:xfrm>
            <a:off x="1645920" y="1096114"/>
            <a:ext cx="8993394" cy="51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861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151D-C3BF-9105-72C4-B8B6B453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68B630A-2458-6F07-175A-20FA85B1EFE2}"/>
              </a:ext>
            </a:extLst>
          </p:cNvPr>
          <p:cNvSpPr txBox="1"/>
          <p:nvPr/>
        </p:nvSpPr>
        <p:spPr>
          <a:xfrm>
            <a:off x="0" y="0"/>
            <a:ext cx="9147687" cy="651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Lab 7 Exercise 1 — Numbers List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This exercise focuses on lists, searching, deleting, updating, and menus.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Step 1 — Create Numbers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class Numbers:</a:t>
            </a:r>
          </a:p>
          <a:p>
            <a:pPr rtl="0"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def __</a:t>
            </a:r>
            <a:r>
              <a:rPr lang="en-US" dirty="0" err="1">
                <a:latin typeface="Calibir"/>
              </a:rPr>
              <a:t>init</a:t>
            </a:r>
            <a:r>
              <a:rPr lang="en-US" dirty="0">
                <a:latin typeface="Calibir"/>
              </a:rPr>
              <a:t>__(self):</a:t>
            </a:r>
          </a:p>
          <a:p>
            <a:pPr rtl="0"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self.numbers</a:t>
            </a:r>
            <a:r>
              <a:rPr lang="en-US" dirty="0">
                <a:latin typeface="Calibir"/>
              </a:rPr>
              <a:t> = []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Use an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&lt;Integer&gt; because the list needs to grow, shrink, and delete elements.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private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&lt;Integer&gt; numbers;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Initialize: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numbers =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new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&lt;&gt;();</a:t>
            </a:r>
          </a:p>
        </p:txBody>
      </p:sp>
    </p:spTree>
    <p:extLst>
      <p:ext uri="{BB962C8B-B14F-4D97-AF65-F5344CB8AC3E}">
        <p14:creationId xmlns:p14="http://schemas.microsoft.com/office/powerpoint/2010/main" val="13668738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8797-360D-C914-BA5A-0C9C6FD9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7234B3-A403-1943-64FC-24C343A54ECB}"/>
              </a:ext>
            </a:extLst>
          </p:cNvPr>
          <p:cNvSpPr txBox="1"/>
          <p:nvPr/>
        </p:nvSpPr>
        <p:spPr>
          <a:xfrm>
            <a:off x="0" y="1"/>
            <a:ext cx="1219691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 — populate()</a:t>
            </a:r>
          </a:p>
          <a:p>
            <a:pPr>
              <a:buNone/>
            </a:pPr>
            <a:r>
              <a:rPr lang="en-US" dirty="0"/>
              <a:t>Requirements: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read list size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generate random integers </a:t>
            </a:r>
            <a:r>
              <a:rPr lang="en-US" dirty="0">
                <a:latin typeface="+mn-lt"/>
              </a:rPr>
              <a:t>0–100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only populate if list is empty </a:t>
            </a:r>
          </a:p>
          <a:p>
            <a:pPr>
              <a:buNone/>
            </a:pPr>
            <a:r>
              <a:rPr lang="en-US" b="1" dirty="0"/>
              <a:t>Python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def populate(self):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if </a:t>
            </a:r>
            <a:r>
              <a:rPr lang="en-US" dirty="0" err="1">
                <a:latin typeface="+mn-lt"/>
              </a:rPr>
              <a:t>self.numbers</a:t>
            </a:r>
            <a:r>
              <a:rPr lang="en-US" dirty="0">
                <a:latin typeface="+mn-lt"/>
              </a:rPr>
              <a:t>: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print(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"List is not empty"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)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return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size = int(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input("List size: ")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)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import random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for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in range(size):</a:t>
            </a:r>
          </a:p>
        </p:txBody>
      </p:sp>
    </p:spTree>
    <p:extLst>
      <p:ext uri="{BB962C8B-B14F-4D97-AF65-F5344CB8AC3E}">
        <p14:creationId xmlns:p14="http://schemas.microsoft.com/office/powerpoint/2010/main" val="19935115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2389-F5DA-8C1A-1073-5D479A24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23BC4C-FE8D-E2BB-25C5-4BEDBFADC214}"/>
              </a:ext>
            </a:extLst>
          </p:cNvPr>
          <p:cNvSpPr txBox="1"/>
          <p:nvPr/>
        </p:nvSpPr>
        <p:spPr>
          <a:xfrm>
            <a:off x="0" y="1"/>
            <a:ext cx="121969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self.numbers.append</a:t>
            </a:r>
            <a:r>
              <a:rPr lang="en-US" dirty="0"/>
              <a:t>(</a:t>
            </a:r>
          </a:p>
          <a:p>
            <a:r>
              <a:rPr lang="en-US" dirty="0"/>
              <a:t>            </a:t>
            </a:r>
            <a:r>
              <a:rPr lang="en-US" dirty="0" err="1"/>
              <a:t>random.randint</a:t>
            </a:r>
            <a:r>
              <a:rPr lang="en-US" dirty="0"/>
              <a:t>(</a:t>
            </a:r>
          </a:p>
          <a:p>
            <a:r>
              <a:rPr lang="en-US" dirty="0"/>
              <a:t>                0,</a:t>
            </a:r>
          </a:p>
          <a:p>
            <a:r>
              <a:rPr lang="en-US" dirty="0"/>
              <a:t>                100</a:t>
            </a:r>
          </a:p>
          <a:p>
            <a:r>
              <a:rPr lang="en-US" dirty="0"/>
              <a:t>            )</a:t>
            </a:r>
          </a:p>
          <a:p>
            <a:r>
              <a:rPr lang="en-US" dirty="0"/>
              <a:t>        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8743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2235-2C29-A124-CD3D-70748436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11C2B1-89DB-CD56-97C5-96EB7565D5B5}"/>
              </a:ext>
            </a:extLst>
          </p:cNvPr>
          <p:cNvSpPr txBox="1"/>
          <p:nvPr/>
        </p:nvSpPr>
        <p:spPr>
          <a:xfrm>
            <a:off x="0" y="1"/>
            <a:ext cx="121969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Java</a:t>
            </a:r>
          </a:p>
          <a:p>
            <a:r>
              <a:rPr lang="en-US" dirty="0"/>
              <a:t>public void populate(</a:t>
            </a:r>
          </a:p>
          <a:p>
            <a:r>
              <a:rPr lang="en-US" dirty="0"/>
              <a:t>        Scanner input) {</a:t>
            </a:r>
          </a:p>
          <a:p>
            <a:endParaRPr lang="en-US" dirty="0"/>
          </a:p>
          <a:p>
            <a:r>
              <a:rPr lang="en-US" dirty="0"/>
              <a:t>    if (!</a:t>
            </a:r>
            <a:r>
              <a:rPr lang="en-US" dirty="0" err="1"/>
              <a:t>numbers.isEmpty</a:t>
            </a:r>
            <a:r>
              <a:rPr lang="en-US" dirty="0"/>
              <a:t>())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"List is not empty"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return;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"List size: "</a:t>
            </a:r>
          </a:p>
          <a:p>
            <a:r>
              <a:rPr lang="en-US" dirty="0"/>
              <a:t>    );</a:t>
            </a:r>
          </a:p>
        </p:txBody>
      </p:sp>
    </p:spTree>
    <p:extLst>
      <p:ext uri="{BB962C8B-B14F-4D97-AF65-F5344CB8AC3E}">
        <p14:creationId xmlns:p14="http://schemas.microsoft.com/office/powerpoint/2010/main" val="4147695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D5AF-6383-EFE0-DEA3-6F4B155C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8EF1B3-938D-882A-199B-92154B9FB39B}"/>
              </a:ext>
            </a:extLst>
          </p:cNvPr>
          <p:cNvSpPr txBox="1"/>
          <p:nvPr/>
        </p:nvSpPr>
        <p:spPr>
          <a:xfrm>
            <a:off x="0" y="1"/>
            <a:ext cx="121969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int size =</a:t>
            </a:r>
          </a:p>
          <a:p>
            <a:r>
              <a:rPr lang="en-US" dirty="0"/>
              <a:t>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Random </a:t>
            </a:r>
            <a:r>
              <a:rPr lang="en-US" dirty="0" err="1"/>
              <a:t>random</a:t>
            </a:r>
            <a:r>
              <a:rPr lang="en-US" dirty="0"/>
              <a:t> =</a:t>
            </a:r>
          </a:p>
          <a:p>
            <a:r>
              <a:rPr lang="en-US" dirty="0"/>
              <a:t>            new Random();</a:t>
            </a:r>
          </a:p>
          <a:p>
            <a:endParaRPr lang="en-US" dirty="0"/>
          </a:p>
          <a:p>
            <a:r>
              <a:rPr lang="en-US" dirty="0"/>
              <a:t>    for (</a:t>
            </a:r>
          </a:p>
          <a:p>
            <a:r>
              <a:rPr lang="en-US" dirty="0"/>
              <a:t>        int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 &lt; size;</a:t>
            </a:r>
          </a:p>
          <a:p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++</a:t>
            </a:r>
          </a:p>
          <a:p>
            <a:r>
              <a:rPr lang="en-US" dirty="0"/>
              <a:t>    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numbers.add</a:t>
            </a:r>
            <a:r>
              <a:rPr lang="en-US" dirty="0"/>
              <a:t>(</a:t>
            </a:r>
          </a:p>
          <a:p>
            <a:r>
              <a:rPr lang="en-US" dirty="0"/>
              <a:t>            </a:t>
            </a:r>
            <a:r>
              <a:rPr lang="en-US" dirty="0" err="1"/>
              <a:t>random.nextInt</a:t>
            </a:r>
            <a:r>
              <a:rPr lang="en-US" dirty="0"/>
              <a:t>(101)</a:t>
            </a:r>
          </a:p>
          <a:p>
            <a:r>
              <a:rPr lang="en-US" dirty="0"/>
              <a:t>        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5261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5148-996E-24CA-CE14-F7EC9003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847AF7-4630-1053-32F1-AD677C452BF7}"/>
              </a:ext>
            </a:extLst>
          </p:cNvPr>
          <p:cNvSpPr txBox="1"/>
          <p:nvPr/>
        </p:nvSpPr>
        <p:spPr>
          <a:xfrm>
            <a:off x="0" y="0"/>
            <a:ext cx="9147687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clear()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clear(self):</a:t>
            </a: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self.numbers.clear</a:t>
            </a:r>
            <a:r>
              <a:rPr lang="en-US" sz="28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public void clear() {</a:t>
            </a:r>
          </a:p>
          <a:p>
            <a:pPr rtl="0">
              <a:lnSpc>
                <a:spcPct val="150000"/>
              </a:lnSpc>
              <a:buNone/>
            </a:pPr>
            <a:endParaRPr lang="en-US" sz="28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numbers.clear</a:t>
            </a:r>
            <a:r>
              <a:rPr lang="en-US" sz="2800" dirty="0">
                <a:latin typeface="Calibir"/>
              </a:rPr>
              <a:t>();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03301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0993-CAD0-6E95-AA6A-3CF28A79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1DE508-2917-3E11-B3E9-91CECF0EC5CF}"/>
              </a:ext>
            </a:extLst>
          </p:cNvPr>
          <p:cNvSpPr txBox="1"/>
          <p:nvPr/>
        </p:nvSpPr>
        <p:spPr>
          <a:xfrm>
            <a:off x="0" y="0"/>
            <a:ext cx="6098458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4 — show()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def show(self):</a:t>
            </a:r>
          </a:p>
          <a:p>
            <a:pPr rtl="0">
              <a:lnSpc>
                <a:spcPct val="150000"/>
              </a:lnSpc>
              <a:buNone/>
            </a:pPr>
            <a:endParaRPr lang="en-US" sz="24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print(</a:t>
            </a:r>
            <a:r>
              <a:rPr lang="en-US" sz="2400" dirty="0" err="1">
                <a:latin typeface="Calibir"/>
              </a:rPr>
              <a:t>self.numbers</a:t>
            </a:r>
            <a:r>
              <a:rPr lang="en-US" sz="2400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public void show() {</a:t>
            </a:r>
          </a:p>
          <a:p>
            <a:pPr rtl="0">
              <a:lnSpc>
                <a:spcPct val="150000"/>
              </a:lnSpc>
              <a:buNone/>
            </a:pPr>
            <a:endParaRPr lang="en-US" sz="2400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System.out.println</a:t>
            </a:r>
            <a:r>
              <a:rPr lang="en-US" sz="2400" dirty="0">
                <a:latin typeface="Calibir"/>
              </a:rPr>
              <a:t>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    numbers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);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86856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D9786-7D12-C22E-733C-17BE7F9E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336BA2-A291-DAA0-03C1-552435AD0188}"/>
              </a:ext>
            </a:extLst>
          </p:cNvPr>
          <p:cNvSpPr txBox="1"/>
          <p:nvPr/>
        </p:nvSpPr>
        <p:spPr>
          <a:xfrm>
            <a:off x="0" y="0"/>
            <a:ext cx="914768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Step 5 — number(target)</a:t>
            </a:r>
          </a:p>
          <a:p>
            <a:pPr>
              <a:buNone/>
            </a:pPr>
            <a:r>
              <a:rPr lang="en-US" dirty="0">
                <a:latin typeface="Calibir"/>
              </a:rPr>
              <a:t>Return index of first match, otherwise -1.</a:t>
            </a:r>
          </a:p>
          <a:p>
            <a:pPr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def number(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self,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target):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for index, value in enumerate(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</a:t>
            </a:r>
            <a:r>
              <a:rPr lang="en-US" dirty="0" err="1">
                <a:latin typeface="Calibir"/>
              </a:rPr>
              <a:t>self.numbers</a:t>
            </a:r>
            <a:r>
              <a:rPr lang="en-US" dirty="0">
                <a:latin typeface="Calibir"/>
              </a:rPr>
              <a:t>):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if value == target: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    return index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return -1</a:t>
            </a:r>
          </a:p>
          <a:p>
            <a:pPr>
              <a:buNone/>
            </a:pPr>
            <a:r>
              <a:rPr lang="en-US" b="1" dirty="0">
                <a:latin typeface="Calibir"/>
              </a:rPr>
              <a:t>Java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public int number(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int target) {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return </a:t>
            </a:r>
            <a:r>
              <a:rPr lang="en-US" dirty="0" err="1">
                <a:latin typeface="Calibir"/>
              </a:rPr>
              <a:t>numbers.indexOf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target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);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}</a:t>
            </a:r>
          </a:p>
          <a:p>
            <a:pPr>
              <a:buNone/>
            </a:pPr>
            <a:r>
              <a:rPr lang="en-US" dirty="0" err="1">
                <a:latin typeface="Calibir"/>
              </a:rPr>
              <a:t>indexOf</a:t>
            </a:r>
            <a:r>
              <a:rPr lang="en-US" dirty="0">
                <a:latin typeface="Calibir"/>
              </a:rPr>
              <a:t>() already returns -1 if not found.</a:t>
            </a:r>
          </a:p>
        </p:txBody>
      </p:sp>
    </p:spTree>
    <p:extLst>
      <p:ext uri="{BB962C8B-B14F-4D97-AF65-F5344CB8AC3E}">
        <p14:creationId xmlns:p14="http://schemas.microsoft.com/office/powerpoint/2010/main" val="19587618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7CE1C-6AE2-2200-E60E-68A169D7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3AEA9F-E42A-C349-8E68-C67DF69FDC69}"/>
              </a:ext>
            </a:extLst>
          </p:cNvPr>
          <p:cNvSpPr txBox="1"/>
          <p:nvPr/>
        </p:nvSpPr>
        <p:spPr>
          <a:xfrm>
            <a:off x="0" y="0"/>
            <a:ext cx="9147687" cy="669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Step 6 — numbers(target)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Return all matching indices.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def </a:t>
            </a:r>
            <a:r>
              <a:rPr lang="en-US" dirty="0" err="1">
                <a:latin typeface="Calibir"/>
              </a:rPr>
              <a:t>numbers_at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self,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target):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matches = []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for index, value in enumerate(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    </a:t>
            </a:r>
            <a:r>
              <a:rPr lang="en-US" dirty="0" err="1">
                <a:latin typeface="Calibir"/>
              </a:rPr>
              <a:t>self.numbers</a:t>
            </a:r>
            <a:r>
              <a:rPr lang="en-US" dirty="0">
                <a:latin typeface="Calibir"/>
              </a:rPr>
              <a:t>):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if value == target:</a:t>
            </a:r>
          </a:p>
          <a:p>
            <a:pPr rtl="0"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    </a:t>
            </a:r>
            <a:r>
              <a:rPr lang="en-US" dirty="0" err="1">
                <a:latin typeface="Calibir"/>
              </a:rPr>
              <a:t>matches.append</a:t>
            </a:r>
            <a:r>
              <a:rPr lang="en-US" dirty="0">
                <a:latin typeface="Calibir"/>
              </a:rPr>
              <a:t>(index)</a:t>
            </a:r>
          </a:p>
          <a:p>
            <a:pPr rtl="0">
              <a:lnSpc>
                <a:spcPct val="150000"/>
              </a:lnSpc>
              <a:buNone/>
            </a:pPr>
            <a:endParaRPr lang="en-US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return matches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I use </a:t>
            </a:r>
            <a:r>
              <a:rPr lang="en-US" dirty="0" err="1">
                <a:latin typeface="Calibir"/>
              </a:rPr>
              <a:t>numbers_at</a:t>
            </a:r>
            <a:r>
              <a:rPr lang="en-US" dirty="0">
                <a:latin typeface="Calibir"/>
              </a:rPr>
              <a:t>() rather than numbers() in Python because </a:t>
            </a:r>
            <a:r>
              <a:rPr lang="en-US" dirty="0" err="1">
                <a:latin typeface="Calibir"/>
              </a:rPr>
              <a:t>self.numbers</a:t>
            </a:r>
            <a:r>
              <a:rPr lang="en-US" dirty="0">
                <a:latin typeface="Calibir"/>
              </a:rPr>
              <a:t> is already the field name.</a:t>
            </a:r>
          </a:p>
        </p:txBody>
      </p:sp>
    </p:spTree>
    <p:extLst>
      <p:ext uri="{BB962C8B-B14F-4D97-AF65-F5344CB8AC3E}">
        <p14:creationId xmlns:p14="http://schemas.microsoft.com/office/powerpoint/2010/main" val="144595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332E-F2D6-D6B5-D3BC-866A633E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3CE921-31AA-B7F6-3DCB-67A9D9E15614}"/>
              </a:ext>
            </a:extLst>
          </p:cNvPr>
          <p:cNvSpPr txBox="1"/>
          <p:nvPr/>
        </p:nvSpPr>
        <p:spPr>
          <a:xfrm>
            <a:off x="3049229" y="58847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Java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public </a:t>
            </a:r>
            <a:r>
              <a:rPr lang="en-US" dirty="0" err="1">
                <a:latin typeface="+mn-lt"/>
              </a:rPr>
              <a:t>ArrayList</a:t>
            </a:r>
            <a:r>
              <a:rPr lang="en-US" dirty="0">
                <a:latin typeface="+mn-lt"/>
              </a:rPr>
              <a:t>&lt;Integer&gt; numbers(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int target)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</a:t>
            </a:r>
            <a:r>
              <a:rPr lang="en-US" dirty="0" err="1">
                <a:latin typeface="+mn-lt"/>
              </a:rPr>
              <a:t>ArrayList</a:t>
            </a:r>
            <a:r>
              <a:rPr lang="en-US" dirty="0">
                <a:latin typeface="+mn-lt"/>
              </a:rPr>
              <a:t>&lt;Integer&gt; matches 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new </a:t>
            </a:r>
            <a:r>
              <a:rPr lang="en-US" dirty="0" err="1">
                <a:latin typeface="+mn-lt"/>
              </a:rPr>
              <a:t>ArrayList</a:t>
            </a:r>
            <a:r>
              <a:rPr lang="en-US" dirty="0">
                <a:latin typeface="+mn-lt"/>
              </a:rPr>
              <a:t>&lt;&gt;();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for 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int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= 0;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&lt; </a:t>
            </a:r>
            <a:r>
              <a:rPr lang="en-US" dirty="0" err="1">
                <a:latin typeface="+mn-lt"/>
              </a:rPr>
              <a:t>numbers.size</a:t>
            </a:r>
            <a:r>
              <a:rPr lang="en-US" dirty="0">
                <a:latin typeface="+mn-lt"/>
              </a:rPr>
              <a:t>();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++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)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if 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</a:t>
            </a:r>
            <a:r>
              <a:rPr lang="en-US" dirty="0" err="1">
                <a:latin typeface="+mn-lt"/>
              </a:rPr>
              <a:t>numbers.get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)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== target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)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    </a:t>
            </a:r>
            <a:r>
              <a:rPr lang="en-US" dirty="0" err="1">
                <a:latin typeface="+mn-lt"/>
              </a:rPr>
              <a:t>matches.add</a:t>
            </a:r>
            <a:r>
              <a:rPr lang="en-US" dirty="0">
                <a:latin typeface="+mn-lt"/>
              </a:rPr>
              <a:t>(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);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}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}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return matches;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}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4656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F59E-9DEF-A2AB-E2EE-E2652E25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02EBF3-6E60-53F7-B94E-F64F16B5A709}"/>
              </a:ext>
            </a:extLst>
          </p:cNvPr>
          <p:cNvSpPr txBox="1"/>
          <p:nvPr/>
        </p:nvSpPr>
        <p:spPr>
          <a:xfrm>
            <a:off x="0" y="1"/>
            <a:ext cx="9147687" cy="679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Step 7 — find()</a:t>
            </a:r>
          </a:p>
          <a:p>
            <a:pPr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def find(self):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target = 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input("Target: ")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position = </a:t>
            </a:r>
            <a:r>
              <a:rPr lang="en-US" dirty="0" err="1">
                <a:latin typeface="Calibir"/>
              </a:rPr>
              <a:t>self.number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target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if position == -1: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print(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f"{target} does not exist"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else: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print(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f"{target} is at position 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f"{position}"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31551555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BB31A-1521-133F-B343-128BB7A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8A56C-8F82-94B3-2628-E79FBDBED05A}"/>
              </a:ext>
            </a:extLst>
          </p:cNvPr>
          <p:cNvSpPr txBox="1"/>
          <p:nvPr/>
        </p:nvSpPr>
        <p:spPr>
          <a:xfrm>
            <a:off x="0" y="1"/>
            <a:ext cx="9147687" cy="679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Step 8 — </a:t>
            </a:r>
            <a:r>
              <a:rPr lang="en-US" b="1" dirty="0" err="1">
                <a:latin typeface="Calibir"/>
              </a:rPr>
              <a:t>findAll</a:t>
            </a:r>
            <a:r>
              <a:rPr lang="en-US" b="1" dirty="0">
                <a:latin typeface="Calibir"/>
              </a:rPr>
              <a:t>()</a:t>
            </a:r>
          </a:p>
          <a:p>
            <a:pPr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def </a:t>
            </a:r>
            <a:r>
              <a:rPr lang="en-US" dirty="0" err="1">
                <a:latin typeface="Calibir"/>
              </a:rPr>
              <a:t>find_all</a:t>
            </a:r>
            <a:r>
              <a:rPr lang="en-US" dirty="0">
                <a:latin typeface="Calibir"/>
              </a:rPr>
              <a:t>(self):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target = 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input("Target: ")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positions = </a:t>
            </a:r>
            <a:r>
              <a:rPr lang="en-US" dirty="0" err="1">
                <a:latin typeface="Calibir"/>
              </a:rPr>
              <a:t>self.numbers_at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target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if not positions: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print(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f"{target} does not exist"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else: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print(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f"{target} is at positions 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f"{positions}"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279201862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1F21-5243-40A4-5F4B-504EE2FD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2266C8-0A34-28DC-0732-C9EED72C7FE6}"/>
              </a:ext>
            </a:extLst>
          </p:cNvPr>
          <p:cNvSpPr txBox="1"/>
          <p:nvPr/>
        </p:nvSpPr>
        <p:spPr>
          <a:xfrm>
            <a:off x="0" y="117988"/>
            <a:ext cx="9147687" cy="640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Step 9 — delete()</a:t>
            </a:r>
          </a:p>
          <a:p>
            <a:pPr>
              <a:buNone/>
            </a:pPr>
            <a:r>
              <a:rPr lang="en-US" dirty="0">
                <a:latin typeface="Calibir"/>
              </a:rPr>
              <a:t>Delete </a:t>
            </a:r>
            <a:r>
              <a:rPr lang="en-US" b="1" dirty="0">
                <a:latin typeface="Calibir"/>
              </a:rPr>
              <a:t>all occurrences</a:t>
            </a:r>
            <a:r>
              <a:rPr lang="en-US" dirty="0">
                <a:latin typeface="Calibir"/>
              </a:rPr>
              <a:t>.</a:t>
            </a:r>
          </a:p>
          <a:p>
            <a:pPr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def delete(self):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target = 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input("Target: ")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if target not in </a:t>
            </a:r>
            <a:r>
              <a:rPr lang="en-US" dirty="0" err="1">
                <a:latin typeface="Calibir"/>
              </a:rPr>
              <a:t>self.numbers</a:t>
            </a:r>
            <a:r>
              <a:rPr lang="en-US" dirty="0">
                <a:latin typeface="Calibir"/>
              </a:rPr>
              <a:t>: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print(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f"{target} does not exist"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)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return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self.numbers</a:t>
            </a:r>
            <a:r>
              <a:rPr lang="en-US" dirty="0">
                <a:latin typeface="Calibir"/>
              </a:rPr>
              <a:t> = [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value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for value in </a:t>
            </a:r>
            <a:r>
              <a:rPr lang="en-US" dirty="0" err="1">
                <a:latin typeface="Calibir"/>
              </a:rPr>
              <a:t>self.numbers</a:t>
            </a: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if value != target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]</a:t>
            </a:r>
          </a:p>
        </p:txBody>
      </p:sp>
    </p:spTree>
    <p:extLst>
      <p:ext uri="{BB962C8B-B14F-4D97-AF65-F5344CB8AC3E}">
        <p14:creationId xmlns:p14="http://schemas.microsoft.com/office/powerpoint/2010/main" val="66285433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C45A-0632-88E2-18CD-1EE2A0F1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AB0C93-05CD-CE87-B939-CE6BAECD5C25}"/>
              </a:ext>
            </a:extLst>
          </p:cNvPr>
          <p:cNvSpPr txBox="1"/>
          <p:nvPr/>
        </p:nvSpPr>
        <p:spPr>
          <a:xfrm>
            <a:off x="0" y="117988"/>
            <a:ext cx="9147687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safe approach: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numbers.removeIf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value -&gt; value == target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But first check if it exists.</a:t>
            </a:r>
          </a:p>
        </p:txBody>
      </p:sp>
    </p:spTree>
    <p:extLst>
      <p:ext uri="{BB962C8B-B14F-4D97-AF65-F5344CB8AC3E}">
        <p14:creationId xmlns:p14="http://schemas.microsoft.com/office/powerpoint/2010/main" val="28192234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9E3CD-3C30-F079-A4A7-9A93E2F5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293C2-5D0B-80EC-C014-2628B20E4FC4}"/>
              </a:ext>
            </a:extLst>
          </p:cNvPr>
          <p:cNvSpPr txBox="1"/>
          <p:nvPr/>
        </p:nvSpPr>
        <p:spPr>
          <a:xfrm>
            <a:off x="0" y="0"/>
            <a:ext cx="914768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Step 10 — update()</a:t>
            </a:r>
          </a:p>
          <a:p>
            <a:pPr>
              <a:buNone/>
            </a:pPr>
            <a:r>
              <a:rPr lang="en-US" dirty="0">
                <a:latin typeface="Calibir"/>
              </a:rPr>
              <a:t>The slide says:</a:t>
            </a:r>
          </a:p>
          <a:p>
            <a:pPr>
              <a:buNone/>
            </a:pPr>
            <a:r>
              <a:rPr lang="en-US" dirty="0">
                <a:latin typeface="Calibir"/>
              </a:rPr>
              <a:t>reads a value and inserts it to a user-specified index</a:t>
            </a:r>
          </a:p>
          <a:p>
            <a:pPr>
              <a:buNone/>
            </a:pPr>
            <a:r>
              <a:rPr lang="en-US" dirty="0">
                <a:latin typeface="Calibir"/>
              </a:rPr>
              <a:t>That means </a:t>
            </a:r>
            <a:r>
              <a:rPr lang="en-US" b="1" dirty="0">
                <a:latin typeface="Calibir"/>
              </a:rPr>
              <a:t>insert</a:t>
            </a:r>
            <a:r>
              <a:rPr lang="en-US" dirty="0">
                <a:latin typeface="Calibir"/>
              </a:rPr>
              <a:t>, not replace.</a:t>
            </a:r>
          </a:p>
          <a:p>
            <a:pPr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def update(self):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value = 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input("Value: ")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index = int(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input("Index: ")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if 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index &lt; 0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or index &gt; </a:t>
            </a:r>
            <a:r>
              <a:rPr lang="en-US" dirty="0" err="1">
                <a:latin typeface="Calibir"/>
              </a:rPr>
              <a:t>len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</a:t>
            </a:r>
            <a:r>
              <a:rPr lang="en-US" dirty="0" err="1">
                <a:latin typeface="Calibir"/>
              </a:rPr>
              <a:t>self.numbers</a:t>
            </a: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):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print("Invalid index")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return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self.numbers.insert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index,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value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E2A33-C618-A36C-1844-5D3903F224CD}"/>
              </a:ext>
            </a:extLst>
          </p:cNvPr>
          <p:cNvSpPr txBox="1"/>
          <p:nvPr/>
        </p:nvSpPr>
        <p:spPr>
          <a:xfrm>
            <a:off x="6064046" y="2551837"/>
            <a:ext cx="61279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Calibir"/>
              </a:rPr>
              <a:t>Java</a:t>
            </a:r>
          </a:p>
          <a:p>
            <a:pPr rtl="0">
              <a:buNone/>
            </a:pPr>
            <a:r>
              <a:rPr lang="en-US" sz="1800" dirty="0" err="1">
                <a:latin typeface="Calibir"/>
              </a:rPr>
              <a:t>numbers.add</a:t>
            </a:r>
            <a:r>
              <a:rPr lang="en-US" sz="18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800" dirty="0">
                <a:latin typeface="Calibir"/>
              </a:rPr>
              <a:t>    index,</a:t>
            </a:r>
          </a:p>
          <a:p>
            <a:pPr rtl="0">
              <a:buNone/>
            </a:pPr>
            <a:r>
              <a:rPr lang="en-US" sz="1800" dirty="0">
                <a:latin typeface="Calibir"/>
              </a:rPr>
              <a:t>    value</a:t>
            </a:r>
          </a:p>
          <a:p>
            <a:pPr rtl="0">
              <a:buNone/>
            </a:pPr>
            <a:r>
              <a:rPr lang="en-US" sz="1800" dirty="0">
                <a:latin typeface="Calibir"/>
              </a:rPr>
              <a:t>);</a:t>
            </a:r>
          </a:p>
          <a:p>
            <a:pPr>
              <a:buNone/>
            </a:pPr>
            <a:r>
              <a:rPr lang="en-US" sz="1800" dirty="0">
                <a:latin typeface="Calibir"/>
              </a:rPr>
              <a:t>Again, this inserts and shifts later values.</a:t>
            </a:r>
          </a:p>
        </p:txBody>
      </p:sp>
    </p:spTree>
    <p:extLst>
      <p:ext uri="{BB962C8B-B14F-4D97-AF65-F5344CB8AC3E}">
        <p14:creationId xmlns:p14="http://schemas.microsoft.com/office/powerpoint/2010/main" val="27213409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B732-07F3-712E-F3F7-EF9D3C15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C264DA-EC0D-107E-4BBE-8409EFAA671D}"/>
              </a:ext>
            </a:extLst>
          </p:cNvPr>
          <p:cNvSpPr txBox="1"/>
          <p:nvPr/>
        </p:nvSpPr>
        <p:spPr>
          <a:xfrm>
            <a:off x="0" y="0"/>
            <a:ext cx="914768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ir"/>
              </a:rPr>
              <a:t>Step 11 — help()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def help(self):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print("p = populate list")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print("c = clear list")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print("f = find one")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print("F = find all")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print("d = delete number")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print("u = update number")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print("s = show list")</a:t>
            </a:r>
          </a:p>
          <a:p>
            <a:pPr rtl="0">
              <a:buNone/>
            </a:pPr>
            <a:r>
              <a:rPr lang="en-US" sz="2800" dirty="0">
                <a:latin typeface="Calibir"/>
              </a:rPr>
              <a:t>    print("x = exit")</a:t>
            </a:r>
          </a:p>
          <a:p>
            <a:pPr>
              <a:buNone/>
            </a:pPr>
            <a:r>
              <a:rPr lang="en-US" sz="2800" dirty="0">
                <a:latin typeface="Calibir"/>
              </a:rPr>
              <a:t>The slide's menu line does not visibly list s, even though Step 1 requires a show() method. I would include s = show list because otherwise students have no menu option for it. If the coordinator expects exactly p/c/f/F/d/u/x, then show() could simply be called after operations instead.</a:t>
            </a:r>
          </a:p>
        </p:txBody>
      </p:sp>
    </p:spTree>
    <p:extLst>
      <p:ext uri="{BB962C8B-B14F-4D97-AF65-F5344CB8AC3E}">
        <p14:creationId xmlns:p14="http://schemas.microsoft.com/office/powerpoint/2010/main" val="37691184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19B3-20EB-1CB7-A175-87985C1F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CC6794-382F-E7A4-A188-D950F435E070}"/>
              </a:ext>
            </a:extLst>
          </p:cNvPr>
          <p:cNvSpPr txBox="1"/>
          <p:nvPr/>
        </p:nvSpPr>
        <p:spPr>
          <a:xfrm>
            <a:off x="0" y="-1"/>
            <a:ext cx="914768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Calibir"/>
              </a:rPr>
              <a:t>Step 12 — menu()</a:t>
            </a:r>
          </a:p>
          <a:p>
            <a:pPr>
              <a:buNone/>
            </a:pPr>
            <a:r>
              <a:rPr lang="en-US" sz="1400" b="1" dirty="0">
                <a:latin typeface="Calibir"/>
              </a:rPr>
              <a:t>Python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def menu(self):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while True: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choice = input(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"Menu "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"(p/c/f/F/d/u/s/x): "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if choice == "p":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self.populate</a:t>
            </a:r>
            <a:r>
              <a:rPr lang="en-US" sz="1400" dirty="0">
                <a:latin typeface="Calibir"/>
              </a:rPr>
              <a:t>()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"c":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self.clear</a:t>
            </a:r>
            <a:r>
              <a:rPr lang="en-US" sz="1400" dirty="0">
                <a:latin typeface="Calibir"/>
              </a:rPr>
              <a:t>()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"f":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self.find</a:t>
            </a:r>
            <a:r>
              <a:rPr lang="en-US" sz="1400" dirty="0">
                <a:latin typeface="Calibir"/>
              </a:rPr>
              <a:t>()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"F":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self.find_all</a:t>
            </a:r>
            <a:r>
              <a:rPr lang="en-US" sz="1400" dirty="0">
                <a:latin typeface="Calibir"/>
              </a:rPr>
              <a:t>()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"d":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self.delete</a:t>
            </a:r>
            <a:r>
              <a:rPr lang="en-US" sz="1400" dirty="0">
                <a:latin typeface="Calibir"/>
              </a:rPr>
              <a:t>()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"u":</a:t>
            </a:r>
          </a:p>
        </p:txBody>
      </p:sp>
    </p:spTree>
    <p:extLst>
      <p:ext uri="{BB962C8B-B14F-4D97-AF65-F5344CB8AC3E}">
        <p14:creationId xmlns:p14="http://schemas.microsoft.com/office/powerpoint/2010/main" val="33379336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2C22-3D12-7B29-37DB-F2C7D9DA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FB42D-FD5E-11C3-D642-80A2CA9209A6}"/>
              </a:ext>
            </a:extLst>
          </p:cNvPr>
          <p:cNvSpPr txBox="1"/>
          <p:nvPr/>
        </p:nvSpPr>
        <p:spPr>
          <a:xfrm>
            <a:off x="0" y="-1"/>
            <a:ext cx="914768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Calibir"/>
            </a:endParaRP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self.update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"s":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self.show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"x":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break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else: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self.help</a:t>
            </a:r>
            <a:r>
              <a:rPr lang="en-US" sz="14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88180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52B1-7EFD-6521-C596-E4EA7187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3F499C-BE36-7CFF-DDA3-FFA5AABDABA5}"/>
              </a:ext>
            </a:extLst>
          </p:cNvPr>
          <p:cNvSpPr txBox="1"/>
          <p:nvPr/>
        </p:nvSpPr>
        <p:spPr>
          <a:xfrm>
            <a:off x="0" y="0"/>
            <a:ext cx="6099716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Calibir"/>
              </a:rPr>
              <a:t>Completed Python — Lab7Exercise1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import random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class Numbers: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def __</a:t>
            </a:r>
            <a:r>
              <a:rPr lang="en-US" sz="1400" dirty="0" err="1">
                <a:latin typeface="Calibir"/>
              </a:rPr>
              <a:t>init</a:t>
            </a:r>
            <a:r>
              <a:rPr lang="en-US" sz="1400" dirty="0">
                <a:latin typeface="Calibir"/>
              </a:rPr>
              <a:t>__(self):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 = []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def populate(self):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if 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print("List is not empty")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return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size = int(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input("List size: ")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)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for </a:t>
            </a:r>
            <a:r>
              <a:rPr lang="en-US" sz="1400" dirty="0" err="1">
                <a:latin typeface="Calibir"/>
              </a:rPr>
              <a:t>i</a:t>
            </a:r>
            <a:r>
              <a:rPr lang="en-US" sz="1400" dirty="0">
                <a:latin typeface="Calibir"/>
              </a:rPr>
              <a:t> in range(size):</a:t>
            </a:r>
          </a:p>
          <a:p>
            <a:pPr rtl="0">
              <a:buNone/>
            </a:pPr>
            <a:endParaRPr lang="en-US" sz="1400" dirty="0">
              <a:latin typeface="Calibir"/>
            </a:endParaRP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self.numbers.append</a:t>
            </a:r>
            <a:r>
              <a:rPr lang="en-US" sz="14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random.randint</a:t>
            </a:r>
            <a:r>
              <a:rPr lang="en-US" sz="14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        0,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        100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    )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    )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def clear(self):</a:t>
            </a:r>
          </a:p>
          <a:p>
            <a:pPr rtl="0">
              <a:buNone/>
            </a:pPr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self.numbers.clear</a:t>
            </a:r>
            <a:r>
              <a:rPr lang="en-US" sz="14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010701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8C52-7461-6140-4467-0D77A191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81403E-AE29-C714-A2C1-8CFB6EB3D920}"/>
              </a:ext>
            </a:extLst>
          </p:cNvPr>
          <p:cNvSpPr txBox="1"/>
          <p:nvPr/>
        </p:nvSpPr>
        <p:spPr>
          <a:xfrm>
            <a:off x="0" y="0"/>
            <a:ext cx="609971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def show(self):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print(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number(</a:t>
            </a:r>
          </a:p>
          <a:p>
            <a:r>
              <a:rPr lang="en-US" sz="1400" dirty="0">
                <a:latin typeface="Calibir"/>
              </a:rPr>
              <a:t>            self,</a:t>
            </a:r>
          </a:p>
          <a:p>
            <a:r>
              <a:rPr lang="en-US" sz="1400" dirty="0">
                <a:latin typeface="Calibir"/>
              </a:rPr>
              <a:t>            target):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for index, value in enumerate(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if value == target: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    return index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return -1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</a:t>
            </a:r>
            <a:r>
              <a:rPr lang="en-US" sz="1400" dirty="0" err="1">
                <a:latin typeface="Calibir"/>
              </a:rPr>
              <a:t>numbers_at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self,</a:t>
            </a:r>
          </a:p>
          <a:p>
            <a:r>
              <a:rPr lang="en-US" sz="1400" dirty="0">
                <a:latin typeface="Calibir"/>
              </a:rPr>
              <a:t>            target):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matches = []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for index, value in enumerate(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if value == target: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matches.append</a:t>
            </a:r>
            <a:r>
              <a:rPr lang="en-US" sz="1400" dirty="0">
                <a:latin typeface="Calibir"/>
              </a:rPr>
              <a:t>(index)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return matches</a:t>
            </a:r>
          </a:p>
        </p:txBody>
      </p:sp>
    </p:spTree>
    <p:extLst>
      <p:ext uri="{BB962C8B-B14F-4D97-AF65-F5344CB8AC3E}">
        <p14:creationId xmlns:p14="http://schemas.microsoft.com/office/powerpoint/2010/main" val="38989933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067E-27C5-5E09-61EE-D3987D11D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93242-688B-175F-E662-05860A6BDB12}"/>
              </a:ext>
            </a:extLst>
          </p:cNvPr>
          <p:cNvSpPr txBox="1"/>
          <p:nvPr/>
        </p:nvSpPr>
        <p:spPr>
          <a:xfrm>
            <a:off x="0" y="0"/>
            <a:ext cx="609971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def find(self):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target = int(</a:t>
            </a:r>
          </a:p>
          <a:p>
            <a:r>
              <a:rPr lang="en-US" sz="1400" dirty="0">
                <a:latin typeface="Calibir"/>
              </a:rPr>
              <a:t>            input("Target: ")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position = </a:t>
            </a:r>
            <a:r>
              <a:rPr lang="en-US" sz="1400" dirty="0" err="1">
                <a:latin typeface="Calibir"/>
              </a:rPr>
              <a:t>self.number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target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if position == -1: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</a:t>
            </a:r>
          </a:p>
          <a:p>
            <a:r>
              <a:rPr lang="en-US" sz="1400" dirty="0">
                <a:latin typeface="Calibir"/>
              </a:rPr>
              <a:t>                f"{target} does not exist"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else: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</a:t>
            </a:r>
          </a:p>
          <a:p>
            <a:r>
              <a:rPr lang="en-US" sz="1400" dirty="0">
                <a:latin typeface="Calibir"/>
              </a:rPr>
              <a:t>                f"{target} is at position "</a:t>
            </a:r>
          </a:p>
          <a:p>
            <a:r>
              <a:rPr lang="en-US" sz="1400" dirty="0">
                <a:latin typeface="Calibir"/>
              </a:rPr>
              <a:t>                f"{position}"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</a:t>
            </a:r>
            <a:r>
              <a:rPr lang="en-US" sz="1400" dirty="0" err="1">
                <a:latin typeface="Calibir"/>
              </a:rPr>
              <a:t>find_all</a:t>
            </a:r>
            <a:r>
              <a:rPr lang="en-US" sz="1400" dirty="0">
                <a:latin typeface="Calibir"/>
              </a:rPr>
              <a:t>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target = int(</a:t>
            </a:r>
          </a:p>
          <a:p>
            <a:r>
              <a:rPr lang="en-US" sz="1400" dirty="0">
                <a:latin typeface="Calibir"/>
              </a:rPr>
              <a:t>            input("Target: ")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2929994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2442-D5F3-ACCD-4614-0417EC2DD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26D52E-D78B-00B9-6ED0-788B2295F109}"/>
              </a:ext>
            </a:extLst>
          </p:cNvPr>
          <p:cNvSpPr txBox="1"/>
          <p:nvPr/>
        </p:nvSpPr>
        <p:spPr>
          <a:xfrm>
            <a:off x="0" y="0"/>
            <a:ext cx="609971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   positions = </a:t>
            </a:r>
            <a:r>
              <a:rPr lang="en-US" sz="1400" dirty="0" err="1">
                <a:latin typeface="Calibir"/>
              </a:rPr>
              <a:t>self.numbers_at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target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if not positions: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</a:t>
            </a:r>
          </a:p>
          <a:p>
            <a:r>
              <a:rPr lang="en-US" sz="1400" dirty="0">
                <a:latin typeface="Calibir"/>
              </a:rPr>
              <a:t>                f"{target} does not exist"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else: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</a:t>
            </a:r>
          </a:p>
          <a:p>
            <a:r>
              <a:rPr lang="en-US" sz="1400" dirty="0">
                <a:latin typeface="Calibir"/>
              </a:rPr>
              <a:t>                f"{target} is at positions "</a:t>
            </a:r>
          </a:p>
          <a:p>
            <a:r>
              <a:rPr lang="en-US" sz="1400" dirty="0">
                <a:latin typeface="Calibir"/>
              </a:rPr>
              <a:t>                f"{positions}"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delete(self):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target = int(</a:t>
            </a:r>
          </a:p>
          <a:p>
            <a:r>
              <a:rPr lang="en-US" sz="1400" dirty="0">
                <a:latin typeface="Calibir"/>
              </a:rPr>
              <a:t>            input("Target: ")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if target not in 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</a:t>
            </a:r>
          </a:p>
          <a:p>
            <a:r>
              <a:rPr lang="en-US" sz="1400" dirty="0">
                <a:latin typeface="Calibir"/>
              </a:rPr>
              <a:t>                f"{target} does not exist"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return</a:t>
            </a:r>
          </a:p>
        </p:txBody>
      </p:sp>
    </p:spTree>
    <p:extLst>
      <p:ext uri="{BB962C8B-B14F-4D97-AF65-F5344CB8AC3E}">
        <p14:creationId xmlns:p14="http://schemas.microsoft.com/office/powerpoint/2010/main" val="10515695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5825-1200-3613-6A33-644FB014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F8EED2-215A-E271-73F2-F9E160C90262}"/>
              </a:ext>
            </a:extLst>
          </p:cNvPr>
          <p:cNvSpPr txBox="1"/>
          <p:nvPr/>
        </p:nvSpPr>
        <p:spPr>
          <a:xfrm>
            <a:off x="0" y="0"/>
            <a:ext cx="609971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   </a:t>
            </a:r>
            <a:r>
              <a:rPr lang="en-US" sz="1400" dirty="0" err="1">
                <a:latin typeface="Calibir"/>
              </a:rPr>
              <a:t>self.numbers</a:t>
            </a:r>
            <a:r>
              <a:rPr lang="en-US" sz="1400" dirty="0">
                <a:latin typeface="Calibir"/>
              </a:rPr>
              <a:t> = [</a:t>
            </a:r>
          </a:p>
          <a:p>
            <a:r>
              <a:rPr lang="en-US" sz="1400" dirty="0">
                <a:latin typeface="Calibir"/>
              </a:rPr>
              <a:t>            value</a:t>
            </a:r>
          </a:p>
          <a:p>
            <a:r>
              <a:rPr lang="en-US" sz="1400" dirty="0">
                <a:latin typeface="Calibir"/>
              </a:rPr>
              <a:t>            for value in </a:t>
            </a:r>
            <a:r>
              <a:rPr lang="en-US" sz="1400" dirty="0" err="1">
                <a:latin typeface="Calibir"/>
              </a:rPr>
              <a:t>self.numbers</a:t>
            </a:r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if value != target</a:t>
            </a:r>
          </a:p>
          <a:p>
            <a:r>
              <a:rPr lang="en-US" sz="1400" dirty="0">
                <a:latin typeface="Calibir"/>
              </a:rPr>
              <a:t>        ]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update(self):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value = int(</a:t>
            </a:r>
          </a:p>
          <a:p>
            <a:r>
              <a:rPr lang="en-US" sz="1400" dirty="0">
                <a:latin typeface="Calibir"/>
              </a:rPr>
              <a:t>            input("Value: ")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index = int(</a:t>
            </a:r>
          </a:p>
          <a:p>
            <a:r>
              <a:rPr lang="en-US" sz="1400" dirty="0">
                <a:latin typeface="Calibir"/>
              </a:rPr>
              <a:t>            input("Index: ")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if (</a:t>
            </a:r>
          </a:p>
          <a:p>
            <a:r>
              <a:rPr lang="en-US" sz="1400" dirty="0">
                <a:latin typeface="Calibir"/>
              </a:rPr>
              <a:t>            index &lt; 0</a:t>
            </a:r>
          </a:p>
          <a:p>
            <a:r>
              <a:rPr lang="en-US" sz="1400" dirty="0">
                <a:latin typeface="Calibir"/>
              </a:rPr>
              <a:t>            or index &gt; </a:t>
            </a:r>
            <a:r>
              <a:rPr lang="en-US" sz="1400" dirty="0" err="1">
                <a:latin typeface="Calibir"/>
              </a:rPr>
              <a:t>len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self.numbers</a:t>
            </a:r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r>
              <a:rPr lang="en-US" sz="1400" dirty="0">
                <a:latin typeface="Calibir"/>
              </a:rPr>
              <a:t>        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print("Invalid index")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return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</a:t>
            </a:r>
            <a:r>
              <a:rPr lang="en-US" sz="1400" dirty="0" err="1">
                <a:latin typeface="Calibir"/>
              </a:rPr>
              <a:t>self.numbers.insert</a:t>
            </a:r>
            <a:r>
              <a:rPr lang="en-US" sz="1400" dirty="0">
                <a:latin typeface="Calibir"/>
              </a:rPr>
              <a:t>(</a:t>
            </a:r>
          </a:p>
          <a:p>
            <a:r>
              <a:rPr lang="en-US" sz="1400" dirty="0">
                <a:latin typeface="Calibir"/>
              </a:rPr>
              <a:t>            index,</a:t>
            </a:r>
          </a:p>
          <a:p>
            <a:r>
              <a:rPr lang="en-US" sz="1400" dirty="0">
                <a:latin typeface="Calibir"/>
              </a:rPr>
              <a:t>            value</a:t>
            </a:r>
          </a:p>
          <a:p>
            <a:r>
              <a:rPr lang="en-US" sz="1400" dirty="0"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31692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17EE-35A7-B115-316F-FCC6B1A3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80EE0C-0BED-A641-465B-BC959FD17C96}"/>
              </a:ext>
            </a:extLst>
          </p:cNvPr>
          <p:cNvSpPr txBox="1"/>
          <p:nvPr/>
        </p:nvSpPr>
        <p:spPr>
          <a:xfrm>
            <a:off x="0" y="0"/>
            <a:ext cx="609971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ir"/>
              </a:rPr>
              <a:t>    def help(self):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print("p = populate list")</a:t>
            </a:r>
          </a:p>
          <a:p>
            <a:r>
              <a:rPr lang="en-US" sz="1400" dirty="0">
                <a:latin typeface="Calibir"/>
              </a:rPr>
              <a:t>        print("c = clear list")</a:t>
            </a:r>
          </a:p>
          <a:p>
            <a:r>
              <a:rPr lang="en-US" sz="1400" dirty="0">
                <a:latin typeface="Calibir"/>
              </a:rPr>
              <a:t>        print("f = find one")</a:t>
            </a:r>
          </a:p>
          <a:p>
            <a:r>
              <a:rPr lang="en-US" sz="1400" dirty="0">
                <a:latin typeface="Calibir"/>
              </a:rPr>
              <a:t>        print("F = find all")</a:t>
            </a:r>
          </a:p>
          <a:p>
            <a:r>
              <a:rPr lang="en-US" sz="1400" dirty="0">
                <a:latin typeface="Calibir"/>
              </a:rPr>
              <a:t>        print("d = delete number")</a:t>
            </a:r>
          </a:p>
          <a:p>
            <a:r>
              <a:rPr lang="en-US" sz="1400" dirty="0">
                <a:latin typeface="Calibir"/>
              </a:rPr>
              <a:t>        print("u = update number")</a:t>
            </a:r>
          </a:p>
          <a:p>
            <a:r>
              <a:rPr lang="en-US" sz="1400" dirty="0">
                <a:latin typeface="Calibir"/>
              </a:rPr>
              <a:t>        print("s = show list")</a:t>
            </a:r>
          </a:p>
          <a:p>
            <a:r>
              <a:rPr lang="en-US" sz="1400" dirty="0">
                <a:latin typeface="Calibir"/>
              </a:rPr>
              <a:t>        print("x = exit")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def menu(self):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while True: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choice = input(</a:t>
            </a:r>
          </a:p>
          <a:p>
            <a:r>
              <a:rPr lang="en-US" sz="1400" dirty="0">
                <a:latin typeface="Calibir"/>
              </a:rPr>
              <a:t>                "Menu "</a:t>
            </a:r>
          </a:p>
          <a:p>
            <a:r>
              <a:rPr lang="en-US" sz="1400" dirty="0">
                <a:latin typeface="Calibir"/>
              </a:rPr>
              <a:t>                "(p/c/f/F/d/u/s/x): "</a:t>
            </a:r>
          </a:p>
          <a:p>
            <a:r>
              <a:rPr lang="en-US" sz="1400" dirty="0">
                <a:latin typeface="Calibir"/>
              </a:rPr>
              <a:t>            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if choice == "p":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self.populate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"c":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self.clear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"f":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self.find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"F":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self.find_all</a:t>
            </a:r>
            <a:r>
              <a:rPr lang="en-US" sz="14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3032341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023E1-9B66-3C35-2AED-7584F9E2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CE0472-D39D-5B44-3125-2354A7C61B86}"/>
              </a:ext>
            </a:extLst>
          </p:cNvPr>
          <p:cNvSpPr txBox="1"/>
          <p:nvPr/>
        </p:nvSpPr>
        <p:spPr>
          <a:xfrm>
            <a:off x="0" y="0"/>
            <a:ext cx="609971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Calibir"/>
            </a:endParaRP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"d":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self.delete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"u":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self.update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"s":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self.show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</a:t>
            </a:r>
            <a:r>
              <a:rPr lang="en-US" sz="1400" dirty="0" err="1">
                <a:latin typeface="Calibir"/>
              </a:rPr>
              <a:t>elif</a:t>
            </a:r>
            <a:r>
              <a:rPr lang="en-US" sz="1400" dirty="0">
                <a:latin typeface="Calibir"/>
              </a:rPr>
              <a:t> choice == "x":</a:t>
            </a:r>
          </a:p>
          <a:p>
            <a:r>
              <a:rPr lang="en-US" sz="1400" dirty="0">
                <a:latin typeface="Calibir"/>
              </a:rPr>
              <a:t>                break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        else:</a:t>
            </a:r>
          </a:p>
          <a:p>
            <a:r>
              <a:rPr lang="en-US" sz="1400" dirty="0">
                <a:latin typeface="Calibir"/>
              </a:rPr>
              <a:t>                </a:t>
            </a:r>
            <a:r>
              <a:rPr lang="en-US" sz="1400" dirty="0" err="1">
                <a:latin typeface="Calibir"/>
              </a:rPr>
              <a:t>self.help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def main():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numbers = Numbers()</a:t>
            </a: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    </a:t>
            </a:r>
            <a:r>
              <a:rPr lang="en-US" sz="1400" dirty="0" err="1">
                <a:latin typeface="Calibir"/>
              </a:rPr>
              <a:t>numbers.menu</a:t>
            </a:r>
            <a:r>
              <a:rPr lang="en-US" sz="1400" dirty="0">
                <a:latin typeface="Calibir"/>
              </a:rPr>
              <a:t>()</a:t>
            </a:r>
          </a:p>
          <a:p>
            <a:endParaRPr lang="en-US" sz="1400" dirty="0">
              <a:latin typeface="Calibir"/>
            </a:endParaRPr>
          </a:p>
          <a:p>
            <a:endParaRPr lang="en-US" sz="1400" dirty="0">
              <a:latin typeface="Calibir"/>
            </a:endParaRPr>
          </a:p>
          <a:p>
            <a:r>
              <a:rPr lang="en-US" sz="1400" dirty="0">
                <a:latin typeface="Calibir"/>
              </a:rPr>
              <a:t>if __name__ == "__main__":</a:t>
            </a:r>
          </a:p>
          <a:p>
            <a:r>
              <a:rPr lang="en-US" sz="1400" dirty="0">
                <a:latin typeface="Calibir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29966715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395A6-3EC1-BDB3-367E-B7342A9C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1826A6-6EBB-2D08-FC0D-92084EF27EAD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Completed Java — Lab7Exercise1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import </a:t>
            </a:r>
            <a:r>
              <a:rPr lang="en-US" dirty="0" err="1">
                <a:latin typeface="+mn-lt"/>
              </a:rPr>
              <a:t>java.util.ArrayList</a:t>
            </a:r>
            <a:r>
              <a:rPr lang="en-US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import </a:t>
            </a:r>
            <a:r>
              <a:rPr lang="en-US" dirty="0" err="1">
                <a:latin typeface="+mn-lt"/>
              </a:rPr>
              <a:t>java.util.Random</a:t>
            </a:r>
            <a:r>
              <a:rPr lang="en-US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import </a:t>
            </a:r>
            <a:r>
              <a:rPr lang="en-US" dirty="0" err="1">
                <a:latin typeface="+mn-lt"/>
              </a:rPr>
              <a:t>java.util.Scanner</a:t>
            </a:r>
            <a:r>
              <a:rPr lang="en-US" dirty="0">
                <a:latin typeface="+mn-lt"/>
              </a:rPr>
              <a:t>;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public class Lab7Exercise1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private </a:t>
            </a:r>
            <a:r>
              <a:rPr lang="en-US" dirty="0" err="1">
                <a:latin typeface="+mn-lt"/>
              </a:rPr>
              <a:t>ArrayList</a:t>
            </a:r>
            <a:r>
              <a:rPr lang="en-US" dirty="0">
                <a:latin typeface="+mn-lt"/>
              </a:rPr>
              <a:t>&lt;Integer&gt; numbers;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public Lab7Exercise1()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numbers 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    new </a:t>
            </a:r>
            <a:r>
              <a:rPr lang="en-US" dirty="0" err="1">
                <a:latin typeface="+mn-lt"/>
              </a:rPr>
              <a:t>ArrayList</a:t>
            </a:r>
            <a:r>
              <a:rPr lang="en-US" dirty="0">
                <a:latin typeface="+mn-lt"/>
              </a:rPr>
              <a:t>&lt;&gt;();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}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public void populate(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Scanner input)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if (!</a:t>
            </a:r>
            <a:r>
              <a:rPr lang="en-US" dirty="0" err="1">
                <a:latin typeface="+mn-lt"/>
              </a:rPr>
              <a:t>numbers.isEmpty</a:t>
            </a:r>
            <a:r>
              <a:rPr lang="en-US" dirty="0">
                <a:latin typeface="+mn-lt"/>
              </a:rPr>
              <a:t>()) {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            </a:t>
            </a:r>
            <a:r>
              <a:rPr lang="en-US" dirty="0" err="1">
                <a:latin typeface="+mn-lt"/>
              </a:rPr>
              <a:t>System.out.println</a:t>
            </a:r>
            <a:r>
              <a:rPr lang="en-US" dirty="0">
                <a:latin typeface="+mn-lt"/>
              </a:rPr>
              <a:t>(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    "List is not empty"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    );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96616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E4E3-EBB1-2903-2685-474F8F0F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2B93DC-C66A-1B09-94FD-1FE229214A9F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"List size: 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int size =</a:t>
            </a:r>
          </a:p>
          <a:p>
            <a:r>
              <a:rPr lang="en-US" dirty="0"/>
              <a:t>    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Random </a:t>
            </a:r>
            <a:r>
              <a:rPr lang="en-US" dirty="0" err="1"/>
              <a:t>random</a:t>
            </a:r>
            <a:r>
              <a:rPr lang="en-US" dirty="0"/>
              <a:t> =</a:t>
            </a:r>
          </a:p>
          <a:p>
            <a:r>
              <a:rPr lang="en-US" dirty="0"/>
              <a:t>                new Random();</a:t>
            </a:r>
          </a:p>
          <a:p>
            <a:endParaRPr lang="en-US" dirty="0"/>
          </a:p>
          <a:p>
            <a:r>
              <a:rPr lang="en-US" dirty="0"/>
              <a:t>        for (</a:t>
            </a:r>
          </a:p>
          <a:p>
            <a:r>
              <a:rPr lang="en-US" dirty="0"/>
              <a:t>            int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 &lt; size;</a:t>
            </a:r>
          </a:p>
          <a:p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++</a:t>
            </a:r>
          </a:p>
          <a:p>
            <a:r>
              <a:rPr lang="en-US" dirty="0"/>
              <a:t>        )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numbers.add</a:t>
            </a:r>
            <a:r>
              <a:rPr lang="en-US" dirty="0"/>
              <a:t>(</a:t>
            </a:r>
          </a:p>
          <a:p>
            <a:r>
              <a:rPr lang="en-US" dirty="0"/>
              <a:t>                </a:t>
            </a:r>
            <a:r>
              <a:rPr lang="en-US" dirty="0" err="1"/>
              <a:t>random.nextInt</a:t>
            </a:r>
            <a:r>
              <a:rPr lang="en-US" dirty="0"/>
              <a:t>(101)</a:t>
            </a:r>
          </a:p>
          <a:p>
            <a:r>
              <a:rPr lang="en-US" dirty="0"/>
              <a:t>            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56354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FC0A-9454-CB4E-2604-732A9690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08E6F6-22A3-039C-3541-C6863ECF376A}"/>
              </a:ext>
            </a:extLst>
          </p:cNvPr>
          <p:cNvSpPr txBox="1"/>
          <p:nvPr/>
        </p:nvSpPr>
        <p:spPr>
          <a:xfrm>
            <a:off x="0" y="0"/>
            <a:ext cx="609845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public void clear()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numbers.clear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show()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numbers</a:t>
            </a:r>
          </a:p>
          <a:p>
            <a:r>
              <a:rPr lang="en-US" dirty="0"/>
              <a:t>        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int number(</a:t>
            </a:r>
          </a:p>
          <a:p>
            <a:r>
              <a:rPr lang="en-US" dirty="0"/>
              <a:t>            int target) {</a:t>
            </a:r>
          </a:p>
          <a:p>
            <a:endParaRPr lang="en-US" dirty="0"/>
          </a:p>
          <a:p>
            <a:r>
              <a:rPr lang="en-US" dirty="0"/>
              <a:t>        return </a:t>
            </a:r>
            <a:r>
              <a:rPr lang="en-US" dirty="0" err="1"/>
              <a:t>numbers.indexOf</a:t>
            </a:r>
            <a:r>
              <a:rPr lang="en-US" dirty="0"/>
              <a:t>(</a:t>
            </a:r>
          </a:p>
          <a:p>
            <a:r>
              <a:rPr lang="en-US" dirty="0"/>
              <a:t>            target</a:t>
            </a:r>
          </a:p>
          <a:p>
            <a:r>
              <a:rPr lang="en-US" dirty="0"/>
              <a:t>        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ArrayList</a:t>
            </a:r>
            <a:r>
              <a:rPr lang="en-US" dirty="0"/>
              <a:t>&lt;Integer&gt; numbers(</a:t>
            </a:r>
          </a:p>
          <a:p>
            <a:r>
              <a:rPr lang="en-US" dirty="0"/>
              <a:t>            int target) {</a:t>
            </a:r>
          </a:p>
        </p:txBody>
      </p:sp>
    </p:spTree>
    <p:extLst>
      <p:ext uri="{BB962C8B-B14F-4D97-AF65-F5344CB8AC3E}">
        <p14:creationId xmlns:p14="http://schemas.microsoft.com/office/powerpoint/2010/main" val="315072978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2E05-EAFE-72E1-C0FF-D383132B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2DE2B2-EEB7-1592-764B-0993033F0C8A}"/>
              </a:ext>
            </a:extLst>
          </p:cNvPr>
          <p:cNvSpPr txBox="1"/>
          <p:nvPr/>
        </p:nvSpPr>
        <p:spPr>
          <a:xfrm>
            <a:off x="0" y="0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</a:t>
            </a:r>
            <a:r>
              <a:rPr lang="en-US" dirty="0" err="1"/>
              <a:t>ArrayList</a:t>
            </a:r>
            <a:r>
              <a:rPr lang="en-US" dirty="0"/>
              <a:t>&lt;Integer&gt; matches =</a:t>
            </a:r>
          </a:p>
          <a:p>
            <a:r>
              <a:rPr lang="en-US" dirty="0"/>
              <a:t>               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/>
              <a:t>        for (</a:t>
            </a:r>
          </a:p>
          <a:p>
            <a:r>
              <a:rPr lang="en-US" dirty="0"/>
              <a:t>            int </a:t>
            </a:r>
            <a:r>
              <a:rPr lang="en-US" dirty="0" err="1"/>
              <a:t>i</a:t>
            </a:r>
            <a:r>
              <a:rPr lang="en-US" dirty="0"/>
              <a:t> = 0;</a:t>
            </a:r>
          </a:p>
          <a:p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numbers.size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++</a:t>
            </a:r>
          </a:p>
          <a:p>
            <a:r>
              <a:rPr lang="en-US" dirty="0"/>
              <a:t>        ) {</a:t>
            </a:r>
          </a:p>
          <a:p>
            <a:endParaRPr lang="en-US" dirty="0"/>
          </a:p>
          <a:p>
            <a:r>
              <a:rPr lang="en-US" dirty="0"/>
              <a:t>            if (</a:t>
            </a:r>
          </a:p>
          <a:p>
            <a:r>
              <a:rPr lang="en-US" dirty="0"/>
              <a:t>                </a:t>
            </a:r>
            <a:r>
              <a:rPr lang="en-US" dirty="0" err="1"/>
              <a:t>numbers.get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                == target</a:t>
            </a:r>
          </a:p>
          <a:p>
            <a:r>
              <a:rPr lang="en-US" dirty="0"/>
              <a:t>            ) {</a:t>
            </a:r>
          </a:p>
          <a:p>
            <a:endParaRPr lang="en-US" dirty="0"/>
          </a:p>
          <a:p>
            <a:r>
              <a:rPr lang="en-US" dirty="0"/>
              <a:t>                </a:t>
            </a:r>
            <a:r>
              <a:rPr lang="en-US" dirty="0" err="1"/>
              <a:t>matches.add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return matches;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find(</a:t>
            </a:r>
          </a:p>
          <a:p>
            <a:r>
              <a:rPr lang="en-US" dirty="0"/>
              <a:t>            Scanner input) {</a:t>
            </a:r>
          </a:p>
        </p:txBody>
      </p:sp>
    </p:spTree>
    <p:extLst>
      <p:ext uri="{BB962C8B-B14F-4D97-AF65-F5344CB8AC3E}">
        <p14:creationId xmlns:p14="http://schemas.microsoft.com/office/powerpoint/2010/main" val="35836923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C8EA-FBF4-1AFC-4697-54A5B41D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3FC33-7CED-1542-BFE6-472D05C6BD00}"/>
              </a:ext>
            </a:extLst>
          </p:cNvPr>
          <p:cNvSpPr txBox="1"/>
          <p:nvPr/>
        </p:nvSpPr>
        <p:spPr>
          <a:xfrm>
            <a:off x="0" y="0"/>
            <a:ext cx="6098458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"Target: 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int target =</a:t>
            </a:r>
          </a:p>
          <a:p>
            <a:r>
              <a:rPr lang="en-US" dirty="0"/>
              <a:t>    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int position =</a:t>
            </a:r>
          </a:p>
          <a:p>
            <a:r>
              <a:rPr lang="en-US" dirty="0"/>
              <a:t>                number(target);</a:t>
            </a:r>
          </a:p>
          <a:p>
            <a:endParaRPr lang="en-US" dirty="0"/>
          </a:p>
          <a:p>
            <a:r>
              <a:rPr lang="en-US" dirty="0"/>
              <a:t>        if (position == -1)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    target</a:t>
            </a:r>
          </a:p>
          <a:p>
            <a:r>
              <a:rPr lang="en-US" dirty="0"/>
              <a:t>                + " does not exist"</a:t>
            </a:r>
          </a:p>
          <a:p>
            <a:r>
              <a:rPr lang="en-US" dirty="0"/>
              <a:t>            );</a:t>
            </a:r>
          </a:p>
          <a:p>
            <a:endParaRPr lang="en-US" dirty="0"/>
          </a:p>
          <a:p>
            <a:r>
              <a:rPr lang="en-US" dirty="0"/>
              <a:t>        } else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    target</a:t>
            </a:r>
          </a:p>
          <a:p>
            <a:r>
              <a:rPr lang="en-US" dirty="0"/>
              <a:t>                + " is at position "</a:t>
            </a:r>
          </a:p>
          <a:p>
            <a:r>
              <a:rPr lang="en-US" dirty="0"/>
              <a:t>                + position</a:t>
            </a:r>
          </a:p>
          <a:p>
            <a:r>
              <a:rPr lang="en-US" dirty="0"/>
              <a:t>            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70358427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E062-1F16-CBD8-4180-3213587E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B6EE27-FDD1-57DF-4628-7C72EA174662}"/>
              </a:ext>
            </a:extLst>
          </p:cNvPr>
          <p:cNvSpPr txBox="1"/>
          <p:nvPr/>
        </p:nvSpPr>
        <p:spPr>
          <a:xfrm>
            <a:off x="0" y="0"/>
            <a:ext cx="60984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public void </a:t>
            </a:r>
            <a:r>
              <a:rPr lang="en-US" dirty="0" err="1"/>
              <a:t>findAll</a:t>
            </a:r>
            <a:r>
              <a:rPr lang="en-US" dirty="0"/>
              <a:t>(</a:t>
            </a:r>
          </a:p>
          <a:p>
            <a:r>
              <a:rPr lang="en-US" dirty="0"/>
              <a:t>            Scanner input)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"Target: 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int target =</a:t>
            </a:r>
          </a:p>
          <a:p>
            <a:r>
              <a:rPr lang="en-US" dirty="0"/>
              <a:t>    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ArrayList</a:t>
            </a:r>
            <a:r>
              <a:rPr lang="en-US" dirty="0"/>
              <a:t>&lt;Integer&gt; positions =</a:t>
            </a:r>
          </a:p>
          <a:p>
            <a:r>
              <a:rPr lang="en-US" dirty="0"/>
              <a:t>                numbers(target);</a:t>
            </a:r>
          </a:p>
          <a:p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positions.isEmpty</a:t>
            </a:r>
            <a:r>
              <a:rPr lang="en-US" dirty="0"/>
              <a:t>())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    target</a:t>
            </a:r>
          </a:p>
          <a:p>
            <a:r>
              <a:rPr lang="en-US" dirty="0"/>
              <a:t>                + " does not exist"</a:t>
            </a:r>
          </a:p>
          <a:p>
            <a:r>
              <a:rPr lang="en-US" dirty="0"/>
              <a:t>            );</a:t>
            </a:r>
          </a:p>
          <a:p>
            <a:endParaRPr lang="en-US" dirty="0"/>
          </a:p>
          <a:p>
            <a:r>
              <a:rPr lang="en-US" dirty="0"/>
              <a:t>        } else {</a:t>
            </a:r>
          </a:p>
        </p:txBody>
      </p:sp>
    </p:spTree>
    <p:extLst>
      <p:ext uri="{BB962C8B-B14F-4D97-AF65-F5344CB8AC3E}">
        <p14:creationId xmlns:p14="http://schemas.microsoft.com/office/powerpoint/2010/main" val="13766200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F84C6-74A4-1F20-BDDD-F96E53E6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6338B-8D8F-B8F8-8DD3-5B3176756F4B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    target</a:t>
            </a:r>
          </a:p>
          <a:p>
            <a:r>
              <a:rPr lang="en-US" dirty="0"/>
              <a:t>                + " is at positions "</a:t>
            </a:r>
          </a:p>
          <a:p>
            <a:r>
              <a:rPr lang="en-US" dirty="0"/>
              <a:t>                + positions</a:t>
            </a:r>
          </a:p>
          <a:p>
            <a:r>
              <a:rPr lang="en-US" dirty="0"/>
              <a:t>            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delete(</a:t>
            </a:r>
          </a:p>
          <a:p>
            <a:r>
              <a:rPr lang="en-US" dirty="0"/>
              <a:t>            Scanner input)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"Target: 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int target =</a:t>
            </a:r>
          </a:p>
          <a:p>
            <a:r>
              <a:rPr lang="en-US" dirty="0"/>
              <a:t>    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if (!</a:t>
            </a:r>
            <a:r>
              <a:rPr lang="en-US" dirty="0" err="1"/>
              <a:t>numbers.contains</a:t>
            </a:r>
            <a:r>
              <a:rPr lang="en-US" dirty="0"/>
              <a:t>(target))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    target</a:t>
            </a:r>
          </a:p>
          <a:p>
            <a:r>
              <a:rPr lang="en-US" dirty="0"/>
              <a:t>                + " does not exist"</a:t>
            </a:r>
          </a:p>
          <a:p>
            <a:r>
              <a:rPr lang="en-US" dirty="0"/>
              <a:t>            );</a:t>
            </a:r>
          </a:p>
        </p:txBody>
      </p:sp>
    </p:spTree>
    <p:extLst>
      <p:ext uri="{BB962C8B-B14F-4D97-AF65-F5344CB8AC3E}">
        <p14:creationId xmlns:p14="http://schemas.microsoft.com/office/powerpoint/2010/main" val="32380706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1AA4-942E-8127-61C0-A5E5D2C9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5BEA69-B215-861F-10BF-A10B4EA74D34}"/>
              </a:ext>
            </a:extLst>
          </p:cNvPr>
          <p:cNvSpPr txBox="1"/>
          <p:nvPr/>
        </p:nvSpPr>
        <p:spPr>
          <a:xfrm>
            <a:off x="0" y="0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numbers.removeIf</a:t>
            </a:r>
            <a:r>
              <a:rPr lang="en-US" dirty="0"/>
              <a:t>(</a:t>
            </a:r>
          </a:p>
          <a:p>
            <a:r>
              <a:rPr lang="en-US" dirty="0"/>
              <a:t>            value -&gt;</a:t>
            </a:r>
          </a:p>
          <a:p>
            <a:r>
              <a:rPr lang="en-US" dirty="0"/>
              <a:t>                value == target</a:t>
            </a:r>
          </a:p>
          <a:p>
            <a:r>
              <a:rPr lang="en-US" dirty="0"/>
              <a:t>        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update(</a:t>
            </a:r>
          </a:p>
          <a:p>
            <a:r>
              <a:rPr lang="en-US" dirty="0"/>
              <a:t>            Scanner input)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"Value: 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int value =</a:t>
            </a:r>
          </a:p>
          <a:p>
            <a:r>
              <a:rPr lang="en-US" dirty="0"/>
              <a:t>    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"Index: 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56337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7E4B-B4F1-717F-E615-F5CEBC8A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E680DC-F4C3-EA5B-4CAB-02354B877307}"/>
              </a:ext>
            </a:extLst>
          </p:cNvPr>
          <p:cNvSpPr txBox="1"/>
          <p:nvPr/>
        </p:nvSpPr>
        <p:spPr>
          <a:xfrm>
            <a:off x="0" y="0"/>
            <a:ext cx="60984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int index =</a:t>
            </a:r>
          </a:p>
          <a:p>
            <a:r>
              <a:rPr lang="en-US" dirty="0"/>
              <a:t>               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if (</a:t>
            </a:r>
          </a:p>
          <a:p>
            <a:r>
              <a:rPr lang="en-US" dirty="0"/>
              <a:t>            index &lt; 0</a:t>
            </a:r>
          </a:p>
          <a:p>
            <a:r>
              <a:rPr lang="en-US" dirty="0"/>
              <a:t>            || index &gt; </a:t>
            </a:r>
            <a:r>
              <a:rPr lang="en-US" dirty="0" err="1"/>
              <a:t>numbers.size</a:t>
            </a:r>
            <a:r>
              <a:rPr lang="en-US" dirty="0"/>
              <a:t>()</a:t>
            </a:r>
          </a:p>
          <a:p>
            <a:r>
              <a:rPr lang="en-US" dirty="0"/>
              <a:t>        )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    "Invalid index"</a:t>
            </a:r>
          </a:p>
          <a:p>
            <a:r>
              <a:rPr lang="en-US" dirty="0"/>
              <a:t>            );</a:t>
            </a:r>
          </a:p>
          <a:p>
            <a:endParaRPr lang="en-US" dirty="0"/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numbers.add</a:t>
            </a:r>
            <a:r>
              <a:rPr lang="en-US" dirty="0"/>
              <a:t>(</a:t>
            </a:r>
          </a:p>
          <a:p>
            <a:r>
              <a:rPr lang="en-US" dirty="0"/>
              <a:t>            index,</a:t>
            </a:r>
          </a:p>
          <a:p>
            <a:r>
              <a:rPr lang="en-US" dirty="0"/>
              <a:t>            value</a:t>
            </a:r>
          </a:p>
          <a:p>
            <a:r>
              <a:rPr lang="en-US" dirty="0"/>
              <a:t>        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310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B894-5508-6C80-5424-AFFA19E09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38B8A5-DD53-CB5C-0336-74FAE6FDBCF9}"/>
              </a:ext>
            </a:extLst>
          </p:cNvPr>
          <p:cNvSpPr txBox="1"/>
          <p:nvPr/>
        </p:nvSpPr>
        <p:spPr>
          <a:xfrm>
            <a:off x="0" y="0"/>
            <a:ext cx="609845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public void help() {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"p = populate list"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"c = clear list"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"f = find one"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"F = find all"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"d = delete number"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"u = update number"</a:t>
            </a:r>
          </a:p>
          <a:p>
            <a:r>
              <a:rPr lang="en-US" dirty="0"/>
              <a:t>        );</a:t>
            </a:r>
          </a:p>
        </p:txBody>
      </p:sp>
    </p:spTree>
    <p:extLst>
      <p:ext uri="{BB962C8B-B14F-4D97-AF65-F5344CB8AC3E}">
        <p14:creationId xmlns:p14="http://schemas.microsoft.com/office/powerpoint/2010/main" val="2372272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E76B3-6E6F-0EA0-FC22-6B8EC550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E8D718-4F10-7BE9-607D-CEF00887C09F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"s = show list"</a:t>
            </a:r>
          </a:p>
          <a:p>
            <a:r>
              <a:rPr lang="en-US" dirty="0"/>
              <a:t>        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</a:p>
          <a:p>
            <a:r>
              <a:rPr lang="en-US" dirty="0"/>
              <a:t>            "x = exit"</a:t>
            </a:r>
          </a:p>
          <a:p>
            <a:r>
              <a:rPr lang="en-US" dirty="0"/>
              <a:t>        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void menu(</a:t>
            </a:r>
          </a:p>
          <a:p>
            <a:r>
              <a:rPr lang="en-US" dirty="0"/>
              <a:t>            Scanner input) {</a:t>
            </a:r>
          </a:p>
          <a:p>
            <a:endParaRPr lang="en-US" dirty="0"/>
          </a:p>
          <a:p>
            <a:r>
              <a:rPr lang="en-US" dirty="0"/>
              <a:t>        while (true) {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</a:p>
          <a:p>
            <a:r>
              <a:rPr lang="en-US" dirty="0"/>
              <a:t>                "Menu "</a:t>
            </a:r>
          </a:p>
          <a:p>
            <a:r>
              <a:rPr lang="en-US" dirty="0"/>
              <a:t>                + "(p/c/f/F/d/u/s/x): "</a:t>
            </a:r>
          </a:p>
          <a:p>
            <a:r>
              <a:rPr lang="en-US" dirty="0"/>
              <a:t>            );</a:t>
            </a:r>
          </a:p>
          <a:p>
            <a:endParaRPr lang="en-US" dirty="0"/>
          </a:p>
          <a:p>
            <a:r>
              <a:rPr lang="en-US" dirty="0"/>
              <a:t>            String choice =</a:t>
            </a:r>
          </a:p>
          <a:p>
            <a:r>
              <a:rPr lang="en-US" dirty="0"/>
              <a:t>                    </a:t>
            </a:r>
            <a:r>
              <a:rPr lang="en-US" dirty="0" err="1"/>
              <a:t>input.next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  switch (choice) {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221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88BE-CD1E-4548-1D64-F0763B0B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012C5-375D-1C68-7AA2-7FD031026B6E}"/>
              </a:ext>
            </a:extLst>
          </p:cNvPr>
          <p:cNvSpPr txBox="1"/>
          <p:nvPr/>
        </p:nvSpPr>
        <p:spPr>
          <a:xfrm>
            <a:off x="0" y="0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case "p":</a:t>
            </a:r>
          </a:p>
          <a:p>
            <a:r>
              <a:rPr lang="en-US" dirty="0"/>
              <a:t>                    populate(input);</a:t>
            </a:r>
          </a:p>
          <a:p>
            <a:r>
              <a:rPr lang="en-US" dirty="0"/>
              <a:t>                    break;</a:t>
            </a:r>
          </a:p>
          <a:p>
            <a:endParaRPr lang="en-US" dirty="0"/>
          </a:p>
          <a:p>
            <a:r>
              <a:rPr lang="en-US" dirty="0"/>
              <a:t>                case "c":</a:t>
            </a:r>
          </a:p>
          <a:p>
            <a:r>
              <a:rPr lang="en-US" dirty="0"/>
              <a:t>                    clear();</a:t>
            </a:r>
          </a:p>
          <a:p>
            <a:r>
              <a:rPr lang="en-US" dirty="0"/>
              <a:t>                    break;</a:t>
            </a:r>
          </a:p>
          <a:p>
            <a:endParaRPr lang="en-US" dirty="0"/>
          </a:p>
          <a:p>
            <a:r>
              <a:rPr lang="en-US" dirty="0"/>
              <a:t>                case "f":</a:t>
            </a:r>
          </a:p>
          <a:p>
            <a:r>
              <a:rPr lang="en-US" dirty="0"/>
              <a:t>                    find(input);</a:t>
            </a:r>
          </a:p>
          <a:p>
            <a:r>
              <a:rPr lang="en-US" dirty="0"/>
              <a:t>                    break;</a:t>
            </a:r>
          </a:p>
          <a:p>
            <a:endParaRPr lang="en-US" dirty="0"/>
          </a:p>
          <a:p>
            <a:r>
              <a:rPr lang="en-US" dirty="0"/>
              <a:t>                case "F":</a:t>
            </a:r>
          </a:p>
          <a:p>
            <a:r>
              <a:rPr lang="en-US" dirty="0"/>
              <a:t>                    </a:t>
            </a:r>
            <a:r>
              <a:rPr lang="en-US" dirty="0" err="1"/>
              <a:t>findAll</a:t>
            </a:r>
            <a:r>
              <a:rPr lang="en-US" dirty="0"/>
              <a:t>(input);</a:t>
            </a:r>
          </a:p>
          <a:p>
            <a:r>
              <a:rPr lang="en-US" dirty="0"/>
              <a:t>                    break;</a:t>
            </a:r>
          </a:p>
          <a:p>
            <a:endParaRPr lang="en-US" dirty="0"/>
          </a:p>
          <a:p>
            <a:r>
              <a:rPr lang="en-US" dirty="0"/>
              <a:t>                case "d":</a:t>
            </a:r>
          </a:p>
          <a:p>
            <a:r>
              <a:rPr lang="en-US" dirty="0"/>
              <a:t>                    delete(input);</a:t>
            </a:r>
          </a:p>
          <a:p>
            <a:r>
              <a:rPr lang="en-US" dirty="0"/>
              <a:t>                    break;</a:t>
            </a:r>
          </a:p>
          <a:p>
            <a:endParaRPr lang="en-US" dirty="0"/>
          </a:p>
          <a:p>
            <a:r>
              <a:rPr lang="en-US" dirty="0"/>
              <a:t>                case "u":</a:t>
            </a:r>
          </a:p>
          <a:p>
            <a:r>
              <a:rPr lang="en-US" dirty="0"/>
              <a:t>                    update(input);</a:t>
            </a:r>
          </a:p>
          <a:p>
            <a:r>
              <a:rPr lang="en-US" dirty="0"/>
              <a:t>                    break;</a:t>
            </a:r>
          </a:p>
        </p:txBody>
      </p:sp>
    </p:spTree>
    <p:extLst>
      <p:ext uri="{BB962C8B-B14F-4D97-AF65-F5344CB8AC3E}">
        <p14:creationId xmlns:p14="http://schemas.microsoft.com/office/powerpoint/2010/main" val="37652240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4982-5BAA-B721-EA9B-2900E6132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59BF3-796A-6556-675B-972789A180EB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        case "s":</a:t>
            </a:r>
          </a:p>
          <a:p>
            <a:r>
              <a:rPr lang="en-US" dirty="0"/>
              <a:t>                    show();</a:t>
            </a:r>
          </a:p>
          <a:p>
            <a:r>
              <a:rPr lang="en-US" dirty="0"/>
              <a:t>                    break;</a:t>
            </a:r>
          </a:p>
          <a:p>
            <a:endParaRPr lang="en-US" dirty="0"/>
          </a:p>
          <a:p>
            <a:r>
              <a:rPr lang="en-US" dirty="0"/>
              <a:t>                case "x":</a:t>
            </a:r>
          </a:p>
          <a:p>
            <a:r>
              <a:rPr lang="en-US" dirty="0"/>
              <a:t>                    return;</a:t>
            </a:r>
          </a:p>
          <a:p>
            <a:endParaRPr lang="en-US" dirty="0"/>
          </a:p>
          <a:p>
            <a:r>
              <a:rPr lang="en-US" dirty="0"/>
              <a:t>                default:</a:t>
            </a:r>
          </a:p>
          <a:p>
            <a:r>
              <a:rPr lang="en-US" dirty="0"/>
              <a:t>                    help();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static void main(</a:t>
            </a:r>
          </a:p>
          <a:p>
            <a:r>
              <a:rPr lang="en-US" dirty="0"/>
              <a:t>            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Scanner input =</a:t>
            </a:r>
          </a:p>
          <a:p>
            <a:r>
              <a:rPr lang="en-US" dirty="0"/>
              <a:t>                new Scanner(System.in);</a:t>
            </a:r>
          </a:p>
          <a:p>
            <a:r>
              <a:rPr lang="en-US" dirty="0"/>
              <a:t>        Lab7Exercise1 program =</a:t>
            </a:r>
          </a:p>
          <a:p>
            <a:r>
              <a:rPr lang="en-US" dirty="0"/>
              <a:t>                new Lab7Exercise1();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program.menu</a:t>
            </a:r>
            <a:r>
              <a:rPr lang="en-US" dirty="0"/>
              <a:t>(input);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input.close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711646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86BBF-1BB7-AFCE-28C6-F0423A1D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148F-CB3C-7936-69AD-63AE9695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F5F7F-31B7-09F5-2542-1D0292794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89" t="20862" r="20940" b="14509"/>
          <a:stretch>
            <a:fillRect/>
          </a:stretch>
        </p:blipFill>
        <p:spPr>
          <a:xfrm>
            <a:off x="1506071" y="891543"/>
            <a:ext cx="9014908" cy="551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9907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89B91-7613-0527-D618-22127A4F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4142-FD10-081E-AB8C-F4294503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95CDC-E415-4C6C-826D-F5EF679B23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41" t="20078" r="17765" b="13412"/>
          <a:stretch>
            <a:fillRect/>
          </a:stretch>
        </p:blipFill>
        <p:spPr>
          <a:xfrm>
            <a:off x="1473797" y="922747"/>
            <a:ext cx="9326882" cy="546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303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2524</TotalTime>
  <Words>6606</Words>
  <Application>Microsoft Office PowerPoint</Application>
  <PresentationFormat>Widescreen</PresentationFormat>
  <Paragraphs>1661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109</vt:i4>
      </vt:variant>
    </vt:vector>
  </HeadingPairs>
  <TitlesOfParts>
    <vt:vector size="118" baseType="lpstr">
      <vt:lpstr>Aptos</vt:lpstr>
      <vt:lpstr>Aptos Display</vt:lpstr>
      <vt:lpstr>Arial</vt:lpstr>
      <vt:lpstr>Calibir</vt:lpstr>
      <vt:lpstr>Calibri</vt:lpstr>
      <vt:lpstr>Calibri Light</vt:lpstr>
      <vt:lpstr>Courier New</vt:lpstr>
      <vt:lpstr>Office Theme</vt:lpstr>
      <vt:lpstr>1_Office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Have you attended your enrolled session?</vt:lpstr>
      <vt:lpstr>Week 7 Outline</vt:lpstr>
      <vt:lpstr>Lab 7</vt:lpstr>
      <vt:lpstr>PowerPoint Presentation</vt:lpstr>
      <vt:lpstr>Lab 7</vt:lpstr>
      <vt:lpstr>Lab 7</vt:lpstr>
      <vt:lpstr>Lab 7</vt:lpstr>
      <vt:lpstr>Lab 7</vt:lpstr>
      <vt:lpstr>Lab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7</vt:lpstr>
      <vt:lpstr>Lab 7</vt:lpstr>
      <vt:lpstr>Lab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7</vt:lpstr>
      <vt:lpstr>Lab 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763</cp:revision>
  <dcterms:created xsi:type="dcterms:W3CDTF">2025-07-28T16:39:25Z</dcterms:created>
  <dcterms:modified xsi:type="dcterms:W3CDTF">2026-09-08T23:02:49Z</dcterms:modified>
</cp:coreProperties>
</file>