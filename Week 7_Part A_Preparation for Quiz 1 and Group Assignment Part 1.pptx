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29"/>
  </p:notesMasterIdLst>
  <p:sldIdLst>
    <p:sldId id="2522" r:id="rId3"/>
    <p:sldId id="2443" r:id="rId4"/>
    <p:sldId id="2633" r:id="rId5"/>
    <p:sldId id="2632" r:id="rId6"/>
    <p:sldId id="2467" r:id="rId7"/>
    <p:sldId id="2634" r:id="rId8"/>
    <p:sldId id="2942" r:id="rId9"/>
    <p:sldId id="2871" r:id="rId10"/>
    <p:sldId id="2872" r:id="rId11"/>
    <p:sldId id="2873" r:id="rId12"/>
    <p:sldId id="2874" r:id="rId13"/>
    <p:sldId id="2875" r:id="rId14"/>
    <p:sldId id="2948" r:id="rId15"/>
    <p:sldId id="2903" r:id="rId16"/>
    <p:sldId id="2876" r:id="rId17"/>
    <p:sldId id="2904" r:id="rId18"/>
    <p:sldId id="2877" r:id="rId19"/>
    <p:sldId id="2905" r:id="rId20"/>
    <p:sldId id="2906" r:id="rId21"/>
    <p:sldId id="2878" r:id="rId22"/>
    <p:sldId id="2907" r:id="rId23"/>
    <p:sldId id="2908" r:id="rId24"/>
    <p:sldId id="2879" r:id="rId25"/>
    <p:sldId id="2909" r:id="rId26"/>
    <p:sldId id="2880" r:id="rId27"/>
    <p:sldId id="2910" r:id="rId28"/>
    <p:sldId id="2881" r:id="rId29"/>
    <p:sldId id="2911" r:id="rId30"/>
    <p:sldId id="2882" r:id="rId31"/>
    <p:sldId id="2883" r:id="rId32"/>
    <p:sldId id="2912" r:id="rId33"/>
    <p:sldId id="2884" r:id="rId34"/>
    <p:sldId id="2885" r:id="rId35"/>
    <p:sldId id="2913" r:id="rId36"/>
    <p:sldId id="2886" r:id="rId37"/>
    <p:sldId id="2914" r:id="rId38"/>
    <p:sldId id="2887" r:id="rId39"/>
    <p:sldId id="2888" r:id="rId40"/>
    <p:sldId id="2915" r:id="rId41"/>
    <p:sldId id="2943" r:id="rId42"/>
    <p:sldId id="2944" r:id="rId43"/>
    <p:sldId id="2945" r:id="rId44"/>
    <p:sldId id="2946" r:id="rId45"/>
    <p:sldId id="2947" r:id="rId46"/>
    <p:sldId id="2592" r:id="rId47"/>
    <p:sldId id="2854" r:id="rId48"/>
    <p:sldId id="2852" r:id="rId49"/>
    <p:sldId id="2853" r:id="rId50"/>
    <p:sldId id="2824" r:id="rId51"/>
    <p:sldId id="2825" r:id="rId52"/>
    <p:sldId id="2889" r:id="rId53"/>
    <p:sldId id="2890" r:id="rId54"/>
    <p:sldId id="2891" r:id="rId55"/>
    <p:sldId id="2892" r:id="rId56"/>
    <p:sldId id="2893" r:id="rId57"/>
    <p:sldId id="2894" r:id="rId58"/>
    <p:sldId id="2918" r:id="rId59"/>
    <p:sldId id="2922" r:id="rId60"/>
    <p:sldId id="2919" r:id="rId61"/>
    <p:sldId id="2920" r:id="rId62"/>
    <p:sldId id="2921" r:id="rId63"/>
    <p:sldId id="2828" r:id="rId64"/>
    <p:sldId id="2837" r:id="rId65"/>
    <p:sldId id="2851" r:id="rId66"/>
    <p:sldId id="2830" r:id="rId67"/>
    <p:sldId id="2831" r:id="rId68"/>
    <p:sldId id="2832" r:id="rId69"/>
    <p:sldId id="2833" r:id="rId70"/>
    <p:sldId id="2834" r:id="rId71"/>
    <p:sldId id="2835" r:id="rId72"/>
    <p:sldId id="2838" r:id="rId73"/>
    <p:sldId id="2836" r:id="rId74"/>
    <p:sldId id="2842" r:id="rId75"/>
    <p:sldId id="2845" r:id="rId76"/>
    <p:sldId id="2846" r:id="rId77"/>
    <p:sldId id="2847" r:id="rId78"/>
    <p:sldId id="2848" r:id="rId79"/>
    <p:sldId id="2849" r:id="rId80"/>
    <p:sldId id="2844" r:id="rId81"/>
    <p:sldId id="2859" r:id="rId82"/>
    <p:sldId id="2860" r:id="rId83"/>
    <p:sldId id="2861" r:id="rId84"/>
    <p:sldId id="2862" r:id="rId85"/>
    <p:sldId id="2863" r:id="rId86"/>
    <p:sldId id="2864" r:id="rId87"/>
    <p:sldId id="2865" r:id="rId88"/>
    <p:sldId id="2866" r:id="rId89"/>
    <p:sldId id="2855" r:id="rId90"/>
    <p:sldId id="2856" r:id="rId91"/>
    <p:sldId id="2858" r:id="rId92"/>
    <p:sldId id="2857" r:id="rId93"/>
    <p:sldId id="2829" r:id="rId94"/>
    <p:sldId id="2867" r:id="rId95"/>
    <p:sldId id="2839" r:id="rId96"/>
    <p:sldId id="2868" r:id="rId97"/>
    <p:sldId id="2869" r:id="rId98"/>
    <p:sldId id="2935" r:id="rId99"/>
    <p:sldId id="2936" r:id="rId100"/>
    <p:sldId id="2937" r:id="rId101"/>
    <p:sldId id="2938" r:id="rId102"/>
    <p:sldId id="2939" r:id="rId103"/>
    <p:sldId id="2940" r:id="rId104"/>
    <p:sldId id="2895" r:id="rId105"/>
    <p:sldId id="2896" r:id="rId106"/>
    <p:sldId id="2897" r:id="rId107"/>
    <p:sldId id="2898" r:id="rId108"/>
    <p:sldId id="2899" r:id="rId109"/>
    <p:sldId id="2900" r:id="rId110"/>
    <p:sldId id="2901" r:id="rId111"/>
    <p:sldId id="2902" r:id="rId112"/>
    <p:sldId id="2929" r:id="rId113"/>
    <p:sldId id="2930" r:id="rId114"/>
    <p:sldId id="2931" r:id="rId115"/>
    <p:sldId id="2932" r:id="rId116"/>
    <p:sldId id="2933" r:id="rId117"/>
    <p:sldId id="2934" r:id="rId118"/>
    <p:sldId id="2923" r:id="rId119"/>
    <p:sldId id="2924" r:id="rId120"/>
    <p:sldId id="2925" r:id="rId121"/>
    <p:sldId id="2926" r:id="rId122"/>
    <p:sldId id="2927" r:id="rId123"/>
    <p:sldId id="2928" r:id="rId124"/>
    <p:sldId id="2840" r:id="rId125"/>
    <p:sldId id="2841" r:id="rId126"/>
    <p:sldId id="2747" r:id="rId127"/>
    <p:sldId id="749" r:id="rId1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7" d="100"/>
          <a:sy n="67" d="100"/>
        </p:scale>
        <p:origin x="582"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notesMaster" Target="notesMasters/notesMaster1.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9/09/2026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a:t>
            </a:r>
          </a:p>
        </p:txBody>
      </p:sp>
      <p:sp>
        <p:nvSpPr>
          <p:cNvPr id="4" name="Slide Number Placeholder 3"/>
          <p:cNvSpPr>
            <a:spLocks noGrp="1"/>
          </p:cNvSpPr>
          <p:nvPr>
            <p:ph type="sldNum" sz="quarter" idx="5"/>
          </p:nvPr>
        </p:nvSpPr>
        <p:spPr/>
        <p:txBody>
          <a:bodyPr/>
          <a:lstStyle/>
          <a:p>
            <a:fld id="{42ED24F3-C88E-4C15-8193-4E111B80EC59}" type="slidenum">
              <a:rPr lang="en-AU" smtClean="0"/>
              <a:t>11</a:t>
            </a:fld>
            <a:endParaRPr lang="en-AU"/>
          </a:p>
        </p:txBody>
      </p:sp>
    </p:spTree>
    <p:extLst>
      <p:ext uri="{BB962C8B-B14F-4D97-AF65-F5344CB8AC3E}">
        <p14:creationId xmlns:p14="http://schemas.microsoft.com/office/powerpoint/2010/main" val="3996945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FF8E-6824-1269-0D08-0D2791FA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8BC28-0C9C-3868-B4CB-5B88CCF802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70104-4419-2D4A-B966-9DDC0DAD951D}"/>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032AA666-3473-20D8-742F-04476F5EDDEF}"/>
              </a:ext>
            </a:extLst>
          </p:cNvPr>
          <p:cNvSpPr>
            <a:spLocks noGrp="1"/>
          </p:cNvSpPr>
          <p:nvPr>
            <p:ph type="sldNum" sz="quarter" idx="5"/>
          </p:nvPr>
        </p:nvSpPr>
        <p:spPr/>
        <p:txBody>
          <a:bodyPr/>
          <a:lstStyle/>
          <a:p>
            <a:fld id="{42ED24F3-C88E-4C15-8193-4E111B80EC59}" type="slidenum">
              <a:rPr lang="en-AU" smtClean="0"/>
              <a:t>12</a:t>
            </a:fld>
            <a:endParaRPr lang="en-AU"/>
          </a:p>
        </p:txBody>
      </p:sp>
    </p:spTree>
    <p:extLst>
      <p:ext uri="{BB962C8B-B14F-4D97-AF65-F5344CB8AC3E}">
        <p14:creationId xmlns:p14="http://schemas.microsoft.com/office/powerpoint/2010/main" val="17177971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6A185-8613-7BC8-DED2-62AF14F5C2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C2755-6ACB-DA2F-CB0C-96F06712B7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84BCD3-199C-FE9F-04C1-BDB9E6E0DA3B}"/>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D56B755D-5CF3-7A2C-9364-22409252F321}"/>
              </a:ext>
            </a:extLst>
          </p:cNvPr>
          <p:cNvSpPr>
            <a:spLocks noGrp="1"/>
          </p:cNvSpPr>
          <p:nvPr>
            <p:ph type="sldNum" sz="quarter" idx="5"/>
          </p:nvPr>
        </p:nvSpPr>
        <p:spPr/>
        <p:txBody>
          <a:bodyPr/>
          <a:lstStyle/>
          <a:p>
            <a:fld id="{42ED24F3-C88E-4C15-8193-4E111B80EC59}" type="slidenum">
              <a:rPr lang="en-AU" smtClean="0"/>
              <a:t>13</a:t>
            </a:fld>
            <a:endParaRPr lang="en-AU"/>
          </a:p>
        </p:txBody>
      </p:sp>
    </p:spTree>
    <p:extLst>
      <p:ext uri="{BB962C8B-B14F-4D97-AF65-F5344CB8AC3E}">
        <p14:creationId xmlns:p14="http://schemas.microsoft.com/office/powerpoint/2010/main" val="221296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2005D-5BAB-5BEC-2B13-642FF8F31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E55A5E-2861-D657-20DE-A00E7DF29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1389D2-05E8-AD8B-B6BC-1040B4FA9285}"/>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923AA1AA-610E-08BC-E019-BADFC6DAE104}"/>
              </a:ext>
            </a:extLst>
          </p:cNvPr>
          <p:cNvSpPr>
            <a:spLocks noGrp="1"/>
          </p:cNvSpPr>
          <p:nvPr>
            <p:ph type="sldNum" sz="quarter" idx="5"/>
          </p:nvPr>
        </p:nvSpPr>
        <p:spPr/>
        <p:txBody>
          <a:bodyPr/>
          <a:lstStyle/>
          <a:p>
            <a:fld id="{42ED24F3-C88E-4C15-8193-4E111B80EC59}" type="slidenum">
              <a:rPr lang="en-AU" smtClean="0"/>
              <a:t>14</a:t>
            </a:fld>
            <a:endParaRPr lang="en-AU"/>
          </a:p>
        </p:txBody>
      </p:sp>
    </p:spTree>
    <p:extLst>
      <p:ext uri="{BB962C8B-B14F-4D97-AF65-F5344CB8AC3E}">
        <p14:creationId xmlns:p14="http://schemas.microsoft.com/office/powerpoint/2010/main" val="6603386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D8B7-8FC6-8023-8AF3-58AC20039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5E1C1-AAD5-9192-27E1-3ED84E862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99691-561D-0238-7F9A-4FF0EDC4B626}"/>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D65B7D81-9DF4-766D-8E11-0DA65DC0D895}"/>
              </a:ext>
            </a:extLst>
          </p:cNvPr>
          <p:cNvSpPr>
            <a:spLocks noGrp="1"/>
          </p:cNvSpPr>
          <p:nvPr>
            <p:ph type="sldNum" sz="quarter" idx="5"/>
          </p:nvPr>
        </p:nvSpPr>
        <p:spPr/>
        <p:txBody>
          <a:bodyPr/>
          <a:lstStyle/>
          <a:p>
            <a:fld id="{42ED24F3-C88E-4C15-8193-4E111B80EC59}" type="slidenum">
              <a:rPr lang="en-AU" smtClean="0"/>
              <a:t>15</a:t>
            </a:fld>
            <a:endParaRPr lang="en-AU"/>
          </a:p>
        </p:txBody>
      </p:sp>
    </p:spTree>
    <p:extLst>
      <p:ext uri="{BB962C8B-B14F-4D97-AF65-F5344CB8AC3E}">
        <p14:creationId xmlns:p14="http://schemas.microsoft.com/office/powerpoint/2010/main" val="24624716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B2167-06DD-C0C5-75C0-05B0C3F658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723EB2-AB0B-ABEA-658C-444C9F9C9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16B76-9993-88AE-6E91-EB412EC03AFF}"/>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F6B90DF7-51DB-FAB7-ADE8-57E6486EF56B}"/>
              </a:ext>
            </a:extLst>
          </p:cNvPr>
          <p:cNvSpPr>
            <a:spLocks noGrp="1"/>
          </p:cNvSpPr>
          <p:nvPr>
            <p:ph type="sldNum" sz="quarter" idx="5"/>
          </p:nvPr>
        </p:nvSpPr>
        <p:spPr/>
        <p:txBody>
          <a:bodyPr/>
          <a:lstStyle/>
          <a:p>
            <a:fld id="{42ED24F3-C88E-4C15-8193-4E111B80EC59}" type="slidenum">
              <a:rPr lang="en-AU" smtClean="0"/>
              <a:t>16</a:t>
            </a:fld>
            <a:endParaRPr lang="en-AU"/>
          </a:p>
        </p:txBody>
      </p:sp>
    </p:spTree>
    <p:extLst>
      <p:ext uri="{BB962C8B-B14F-4D97-AF65-F5344CB8AC3E}">
        <p14:creationId xmlns:p14="http://schemas.microsoft.com/office/powerpoint/2010/main" val="24146911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97E7-04A5-A0FD-4044-324C7F4D7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0860-4CB8-5D53-C3D7-EF9AD3D5B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8358B6-4A11-8247-6A49-5A876E1F98F0}"/>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5D33C6A8-4F9C-13A1-AE3E-E4D301EB2C6A}"/>
              </a:ext>
            </a:extLst>
          </p:cNvPr>
          <p:cNvSpPr>
            <a:spLocks noGrp="1"/>
          </p:cNvSpPr>
          <p:nvPr>
            <p:ph type="sldNum" sz="quarter" idx="5"/>
          </p:nvPr>
        </p:nvSpPr>
        <p:spPr/>
        <p:txBody>
          <a:bodyPr/>
          <a:lstStyle/>
          <a:p>
            <a:fld id="{42ED24F3-C88E-4C15-8193-4E111B80EC59}" type="slidenum">
              <a:rPr lang="en-AU" smtClean="0"/>
              <a:t>17</a:t>
            </a:fld>
            <a:endParaRPr lang="en-AU"/>
          </a:p>
        </p:txBody>
      </p:sp>
    </p:spTree>
    <p:extLst>
      <p:ext uri="{BB962C8B-B14F-4D97-AF65-F5344CB8AC3E}">
        <p14:creationId xmlns:p14="http://schemas.microsoft.com/office/powerpoint/2010/main" val="2294249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BC8D9-80C4-2ADC-304B-3C40B79C9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EE69D-269A-2D43-5A54-A6E42887D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55B2B-CCEC-1C80-0D3D-12A48B51EE7F}"/>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AFB3A50F-BF92-DC4D-C05E-183E23559F5C}"/>
              </a:ext>
            </a:extLst>
          </p:cNvPr>
          <p:cNvSpPr>
            <a:spLocks noGrp="1"/>
          </p:cNvSpPr>
          <p:nvPr>
            <p:ph type="sldNum" sz="quarter" idx="5"/>
          </p:nvPr>
        </p:nvSpPr>
        <p:spPr/>
        <p:txBody>
          <a:bodyPr/>
          <a:lstStyle/>
          <a:p>
            <a:fld id="{42ED24F3-C88E-4C15-8193-4E111B80EC59}" type="slidenum">
              <a:rPr lang="en-AU" smtClean="0"/>
              <a:t>18</a:t>
            </a:fld>
            <a:endParaRPr lang="en-AU"/>
          </a:p>
        </p:txBody>
      </p:sp>
    </p:spTree>
    <p:extLst>
      <p:ext uri="{BB962C8B-B14F-4D97-AF65-F5344CB8AC3E}">
        <p14:creationId xmlns:p14="http://schemas.microsoft.com/office/powerpoint/2010/main" val="18761969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AEA1C-93EE-E29C-0116-B97933452C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049D-39EB-A938-D8BD-D5987273C0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E5C8EE-F129-1044-E51F-29378C8AD481}"/>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001BCA29-D2D9-C673-DA83-0F0C1AE5F75F}"/>
              </a:ext>
            </a:extLst>
          </p:cNvPr>
          <p:cNvSpPr>
            <a:spLocks noGrp="1"/>
          </p:cNvSpPr>
          <p:nvPr>
            <p:ph type="sldNum" sz="quarter" idx="5"/>
          </p:nvPr>
        </p:nvSpPr>
        <p:spPr/>
        <p:txBody>
          <a:bodyPr/>
          <a:lstStyle/>
          <a:p>
            <a:fld id="{42ED24F3-C88E-4C15-8193-4E111B80EC59}" type="slidenum">
              <a:rPr lang="en-AU" smtClean="0"/>
              <a:t>19</a:t>
            </a:fld>
            <a:endParaRPr lang="en-AU"/>
          </a:p>
        </p:txBody>
      </p:sp>
    </p:spTree>
    <p:extLst>
      <p:ext uri="{BB962C8B-B14F-4D97-AF65-F5344CB8AC3E}">
        <p14:creationId xmlns:p14="http://schemas.microsoft.com/office/powerpoint/2010/main" val="269299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33C16-7B67-A935-AAA5-9BAB0099A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585EF-6C01-5EEC-A154-040E73DC3A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08090C-2BAA-AC04-1A5D-A123B5877E9F}"/>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CBC16D8-E818-1989-E671-44DCA540D9D8}"/>
              </a:ext>
            </a:extLst>
          </p:cNvPr>
          <p:cNvSpPr>
            <a:spLocks noGrp="1"/>
          </p:cNvSpPr>
          <p:nvPr>
            <p:ph type="sldNum" sz="quarter" idx="5"/>
          </p:nvPr>
        </p:nvSpPr>
        <p:spPr/>
        <p:txBody>
          <a:bodyPr/>
          <a:lstStyle/>
          <a:p>
            <a:fld id="{42ED24F3-C88E-4C15-8193-4E111B80EC59}" type="slidenum">
              <a:rPr lang="en-AU" smtClean="0"/>
              <a:t>20</a:t>
            </a:fld>
            <a:endParaRPr lang="en-AU"/>
          </a:p>
        </p:txBody>
      </p:sp>
    </p:spTree>
    <p:extLst>
      <p:ext uri="{BB962C8B-B14F-4D97-AF65-F5344CB8AC3E}">
        <p14:creationId xmlns:p14="http://schemas.microsoft.com/office/powerpoint/2010/main" val="36620244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03695-F8F1-58AE-2A3E-570F37F0B7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8F0DF0-2132-73E2-0830-A829EF4457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A36DC-05C3-8EA0-1F09-EA140807412C}"/>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92BA3978-9C77-7F06-A07F-9B9A6A06F0F1}"/>
              </a:ext>
            </a:extLst>
          </p:cNvPr>
          <p:cNvSpPr>
            <a:spLocks noGrp="1"/>
          </p:cNvSpPr>
          <p:nvPr>
            <p:ph type="sldNum" sz="quarter" idx="5"/>
          </p:nvPr>
        </p:nvSpPr>
        <p:spPr/>
        <p:txBody>
          <a:bodyPr/>
          <a:lstStyle/>
          <a:p>
            <a:fld id="{42ED24F3-C88E-4C15-8193-4E111B80EC59}" type="slidenum">
              <a:rPr lang="en-AU" smtClean="0"/>
              <a:t>21</a:t>
            </a:fld>
            <a:endParaRPr lang="en-AU"/>
          </a:p>
        </p:txBody>
      </p:sp>
    </p:spTree>
    <p:extLst>
      <p:ext uri="{BB962C8B-B14F-4D97-AF65-F5344CB8AC3E}">
        <p14:creationId xmlns:p14="http://schemas.microsoft.com/office/powerpoint/2010/main" val="26853026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2D88F-64D8-6A91-3D3B-51665B987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225430-E84B-1FBA-FA4C-8B00EDB93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50F91-3708-D70E-2591-769AA102CDB8}"/>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8774BA3-114D-C378-CD75-84C223698B42}"/>
              </a:ext>
            </a:extLst>
          </p:cNvPr>
          <p:cNvSpPr>
            <a:spLocks noGrp="1"/>
          </p:cNvSpPr>
          <p:nvPr>
            <p:ph type="sldNum" sz="quarter" idx="5"/>
          </p:nvPr>
        </p:nvSpPr>
        <p:spPr/>
        <p:txBody>
          <a:bodyPr/>
          <a:lstStyle/>
          <a:p>
            <a:fld id="{42ED24F3-C88E-4C15-8193-4E111B80EC59}" type="slidenum">
              <a:rPr lang="en-AU" smtClean="0"/>
              <a:t>22</a:t>
            </a:fld>
            <a:endParaRPr lang="en-AU"/>
          </a:p>
        </p:txBody>
      </p:sp>
    </p:spTree>
    <p:extLst>
      <p:ext uri="{BB962C8B-B14F-4D97-AF65-F5344CB8AC3E}">
        <p14:creationId xmlns:p14="http://schemas.microsoft.com/office/powerpoint/2010/main" val="4114342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69E7D-F590-B09D-7023-FB04CBFFE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7256E5-555B-E3DC-0F2C-8FD07C332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311ED-0AD9-F2A7-20DD-472C1CC45309}"/>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26EB1142-A26A-7B6B-639D-7CCB0BB54F04}"/>
              </a:ext>
            </a:extLst>
          </p:cNvPr>
          <p:cNvSpPr>
            <a:spLocks noGrp="1"/>
          </p:cNvSpPr>
          <p:nvPr>
            <p:ph type="sldNum" sz="quarter" idx="5"/>
          </p:nvPr>
        </p:nvSpPr>
        <p:spPr/>
        <p:txBody>
          <a:bodyPr/>
          <a:lstStyle/>
          <a:p>
            <a:fld id="{42ED24F3-C88E-4C15-8193-4E111B80EC59}" type="slidenum">
              <a:rPr lang="en-AU" smtClean="0"/>
              <a:t>23</a:t>
            </a:fld>
            <a:endParaRPr lang="en-AU"/>
          </a:p>
        </p:txBody>
      </p:sp>
    </p:spTree>
    <p:extLst>
      <p:ext uri="{BB962C8B-B14F-4D97-AF65-F5344CB8AC3E}">
        <p14:creationId xmlns:p14="http://schemas.microsoft.com/office/powerpoint/2010/main" val="13071415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FEC8B-561F-5E26-463D-40D3D4448B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8E6B41-3D2A-8681-522D-C89AD001FB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12E28-C900-2D46-841B-5BE87B275CA2}"/>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BD242196-3245-3F0A-FB3C-340E083FFE0A}"/>
              </a:ext>
            </a:extLst>
          </p:cNvPr>
          <p:cNvSpPr>
            <a:spLocks noGrp="1"/>
          </p:cNvSpPr>
          <p:nvPr>
            <p:ph type="sldNum" sz="quarter" idx="5"/>
          </p:nvPr>
        </p:nvSpPr>
        <p:spPr/>
        <p:txBody>
          <a:bodyPr/>
          <a:lstStyle/>
          <a:p>
            <a:fld id="{42ED24F3-C88E-4C15-8193-4E111B80EC59}" type="slidenum">
              <a:rPr lang="en-AU" smtClean="0"/>
              <a:t>24</a:t>
            </a:fld>
            <a:endParaRPr lang="en-AU"/>
          </a:p>
        </p:txBody>
      </p:sp>
    </p:spTree>
    <p:extLst>
      <p:ext uri="{BB962C8B-B14F-4D97-AF65-F5344CB8AC3E}">
        <p14:creationId xmlns:p14="http://schemas.microsoft.com/office/powerpoint/2010/main" val="1858429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AE4C1-511D-E142-3385-BA54234E4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F443E-2477-CA3D-A1BC-6A5D183569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F49A7-DC34-6703-115C-1078D86D700A}"/>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430745C4-868D-54B1-007F-39C7722EC6DC}"/>
              </a:ext>
            </a:extLst>
          </p:cNvPr>
          <p:cNvSpPr>
            <a:spLocks noGrp="1"/>
          </p:cNvSpPr>
          <p:nvPr>
            <p:ph type="sldNum" sz="quarter" idx="5"/>
          </p:nvPr>
        </p:nvSpPr>
        <p:spPr/>
        <p:txBody>
          <a:bodyPr/>
          <a:lstStyle/>
          <a:p>
            <a:fld id="{42ED24F3-C88E-4C15-8193-4E111B80EC59}" type="slidenum">
              <a:rPr lang="en-AU" smtClean="0"/>
              <a:t>25</a:t>
            </a:fld>
            <a:endParaRPr lang="en-AU"/>
          </a:p>
        </p:txBody>
      </p:sp>
    </p:spTree>
    <p:extLst>
      <p:ext uri="{BB962C8B-B14F-4D97-AF65-F5344CB8AC3E}">
        <p14:creationId xmlns:p14="http://schemas.microsoft.com/office/powerpoint/2010/main" val="39856281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5F1F6-719C-08BC-3BD4-1C1AB7DE46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F6F06-393F-265F-C71E-98ACF26B63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DC0D0C-F9E2-B9D2-C4D4-8FF5E7BE2E05}"/>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C6A61242-332C-F47E-25E1-765405EC7C15}"/>
              </a:ext>
            </a:extLst>
          </p:cNvPr>
          <p:cNvSpPr>
            <a:spLocks noGrp="1"/>
          </p:cNvSpPr>
          <p:nvPr>
            <p:ph type="sldNum" sz="quarter" idx="5"/>
          </p:nvPr>
        </p:nvSpPr>
        <p:spPr/>
        <p:txBody>
          <a:bodyPr/>
          <a:lstStyle/>
          <a:p>
            <a:fld id="{42ED24F3-C88E-4C15-8193-4E111B80EC59}" type="slidenum">
              <a:rPr lang="en-AU" smtClean="0"/>
              <a:t>26</a:t>
            </a:fld>
            <a:endParaRPr lang="en-AU"/>
          </a:p>
        </p:txBody>
      </p:sp>
    </p:spTree>
    <p:extLst>
      <p:ext uri="{BB962C8B-B14F-4D97-AF65-F5344CB8AC3E}">
        <p14:creationId xmlns:p14="http://schemas.microsoft.com/office/powerpoint/2010/main" val="9745221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CBF0-2A06-6264-9B61-C58400F4E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7FA12-BDE1-8D0A-BDFC-602AB5E61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0D87BB-AE33-760C-F66D-CD78C8A51397}"/>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7D49FEA2-F2B7-C2DC-060E-1202D8203782}"/>
              </a:ext>
            </a:extLst>
          </p:cNvPr>
          <p:cNvSpPr>
            <a:spLocks noGrp="1"/>
          </p:cNvSpPr>
          <p:nvPr>
            <p:ph type="sldNum" sz="quarter" idx="5"/>
          </p:nvPr>
        </p:nvSpPr>
        <p:spPr/>
        <p:txBody>
          <a:bodyPr/>
          <a:lstStyle/>
          <a:p>
            <a:fld id="{42ED24F3-C88E-4C15-8193-4E111B80EC59}" type="slidenum">
              <a:rPr lang="en-AU" smtClean="0"/>
              <a:t>27</a:t>
            </a:fld>
            <a:endParaRPr lang="en-AU"/>
          </a:p>
        </p:txBody>
      </p:sp>
    </p:spTree>
    <p:extLst>
      <p:ext uri="{BB962C8B-B14F-4D97-AF65-F5344CB8AC3E}">
        <p14:creationId xmlns:p14="http://schemas.microsoft.com/office/powerpoint/2010/main" val="2558299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7C30D-AE6F-DED2-1021-474D06F9F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07DB0-19EC-1494-02FE-410F84FA4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6733AA-C90D-CA65-807A-D00C94B5F86A}"/>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1C65AF21-3792-2CAE-FEF0-3526646E6F8A}"/>
              </a:ext>
            </a:extLst>
          </p:cNvPr>
          <p:cNvSpPr>
            <a:spLocks noGrp="1"/>
          </p:cNvSpPr>
          <p:nvPr>
            <p:ph type="sldNum" sz="quarter" idx="5"/>
          </p:nvPr>
        </p:nvSpPr>
        <p:spPr/>
        <p:txBody>
          <a:bodyPr/>
          <a:lstStyle/>
          <a:p>
            <a:fld id="{42ED24F3-C88E-4C15-8193-4E111B80EC59}" type="slidenum">
              <a:rPr lang="en-AU" smtClean="0"/>
              <a:t>28</a:t>
            </a:fld>
            <a:endParaRPr lang="en-AU"/>
          </a:p>
        </p:txBody>
      </p:sp>
    </p:spTree>
    <p:extLst>
      <p:ext uri="{BB962C8B-B14F-4D97-AF65-F5344CB8AC3E}">
        <p14:creationId xmlns:p14="http://schemas.microsoft.com/office/powerpoint/2010/main" val="5801147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592FB-8F6E-265A-7742-DBC5AC35D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32B2A-0111-218E-FE82-7817F9312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6D91A-3F7B-72A0-4A9A-773F2B5C0441}"/>
              </a:ext>
            </a:extLst>
          </p:cNvPr>
          <p:cNvSpPr>
            <a:spLocks noGrp="1"/>
          </p:cNvSpPr>
          <p:nvPr>
            <p:ph type="body" idx="1"/>
          </p:nvPr>
        </p:nvSpPr>
        <p:spPr/>
        <p:txBody>
          <a:bodyPr/>
          <a:lstStyle/>
          <a:p>
            <a:r>
              <a:rPr lang="en-US" dirty="0"/>
              <a:t>b) A class instance with attributes and methods</a:t>
            </a:r>
          </a:p>
        </p:txBody>
      </p:sp>
      <p:sp>
        <p:nvSpPr>
          <p:cNvPr id="4" name="Slide Number Placeholder 3">
            <a:extLst>
              <a:ext uri="{FF2B5EF4-FFF2-40B4-BE49-F238E27FC236}">
                <a16:creationId xmlns:a16="http://schemas.microsoft.com/office/drawing/2014/main" id="{37E4866E-9F01-D0DC-C93D-B91FB1735C69}"/>
              </a:ext>
            </a:extLst>
          </p:cNvPr>
          <p:cNvSpPr>
            <a:spLocks noGrp="1"/>
          </p:cNvSpPr>
          <p:nvPr>
            <p:ph type="sldNum" sz="quarter" idx="5"/>
          </p:nvPr>
        </p:nvSpPr>
        <p:spPr/>
        <p:txBody>
          <a:bodyPr/>
          <a:lstStyle/>
          <a:p>
            <a:fld id="{42ED24F3-C88E-4C15-8193-4E111B80EC59}" type="slidenum">
              <a:rPr lang="en-AU" smtClean="0"/>
              <a:t>29</a:t>
            </a:fld>
            <a:endParaRPr lang="en-AU"/>
          </a:p>
        </p:txBody>
      </p:sp>
    </p:spTree>
    <p:extLst>
      <p:ext uri="{BB962C8B-B14F-4D97-AF65-F5344CB8AC3E}">
        <p14:creationId xmlns:p14="http://schemas.microsoft.com/office/powerpoint/2010/main" val="22976525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62A40-AA91-8509-EFC5-CD26BA696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36538-E90B-F1DC-9659-A841BA2263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2F2438-06AF-42CA-488C-FEB09C53D5A6}"/>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169F2101-C0AB-E3E2-BE14-E2E6ED42C5F5}"/>
              </a:ext>
            </a:extLst>
          </p:cNvPr>
          <p:cNvSpPr>
            <a:spLocks noGrp="1"/>
          </p:cNvSpPr>
          <p:nvPr>
            <p:ph type="sldNum" sz="quarter" idx="5"/>
          </p:nvPr>
        </p:nvSpPr>
        <p:spPr/>
        <p:txBody>
          <a:bodyPr/>
          <a:lstStyle/>
          <a:p>
            <a:fld id="{42ED24F3-C88E-4C15-8193-4E111B80EC59}" type="slidenum">
              <a:rPr lang="en-AU" smtClean="0"/>
              <a:t>30</a:t>
            </a:fld>
            <a:endParaRPr lang="en-AU"/>
          </a:p>
        </p:txBody>
      </p:sp>
    </p:spTree>
    <p:extLst>
      <p:ext uri="{BB962C8B-B14F-4D97-AF65-F5344CB8AC3E}">
        <p14:creationId xmlns:p14="http://schemas.microsoft.com/office/powerpoint/2010/main" val="155992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760F2-9842-0004-060B-2A32E023A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09691-BB46-B79E-B7FF-2093B2543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60645-58F9-CAF4-1DC2-9ACCFC516004}"/>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A6DEBC55-9B94-403A-1B02-832F8EECF78D}"/>
              </a:ext>
            </a:extLst>
          </p:cNvPr>
          <p:cNvSpPr>
            <a:spLocks noGrp="1"/>
          </p:cNvSpPr>
          <p:nvPr>
            <p:ph type="sldNum" sz="quarter" idx="5"/>
          </p:nvPr>
        </p:nvSpPr>
        <p:spPr/>
        <p:txBody>
          <a:bodyPr/>
          <a:lstStyle/>
          <a:p>
            <a:fld id="{42ED24F3-C88E-4C15-8193-4E111B80EC59}" type="slidenum">
              <a:rPr lang="en-AU" smtClean="0"/>
              <a:t>31</a:t>
            </a:fld>
            <a:endParaRPr lang="en-AU"/>
          </a:p>
        </p:txBody>
      </p:sp>
    </p:spTree>
    <p:extLst>
      <p:ext uri="{BB962C8B-B14F-4D97-AF65-F5344CB8AC3E}">
        <p14:creationId xmlns:p14="http://schemas.microsoft.com/office/powerpoint/2010/main" val="15248253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B08D-52B1-A26A-4F37-1A308B089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116010-2703-56BC-F67F-20B70DA7A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6DA80B-EEB5-12BA-6F8F-CA22E6DB6F4E}"/>
              </a:ext>
            </a:extLst>
          </p:cNvPr>
          <p:cNvSpPr>
            <a:spLocks noGrp="1"/>
          </p:cNvSpPr>
          <p:nvPr>
            <p:ph type="body" idx="1"/>
          </p:nvPr>
        </p:nvSpPr>
        <p:spPr/>
        <p:txBody>
          <a:bodyPr/>
          <a:lstStyle/>
          <a:p>
            <a:r>
              <a:rPr lang="en-US" dirty="0"/>
              <a:t>c) #</a:t>
            </a:r>
          </a:p>
        </p:txBody>
      </p:sp>
      <p:sp>
        <p:nvSpPr>
          <p:cNvPr id="4" name="Slide Number Placeholder 3">
            <a:extLst>
              <a:ext uri="{FF2B5EF4-FFF2-40B4-BE49-F238E27FC236}">
                <a16:creationId xmlns:a16="http://schemas.microsoft.com/office/drawing/2014/main" id="{4AAC3116-9AE4-F4DF-D506-C858A514D0EA}"/>
              </a:ext>
            </a:extLst>
          </p:cNvPr>
          <p:cNvSpPr>
            <a:spLocks noGrp="1"/>
          </p:cNvSpPr>
          <p:nvPr>
            <p:ph type="sldNum" sz="quarter" idx="5"/>
          </p:nvPr>
        </p:nvSpPr>
        <p:spPr/>
        <p:txBody>
          <a:bodyPr/>
          <a:lstStyle/>
          <a:p>
            <a:fld id="{42ED24F3-C88E-4C15-8193-4E111B80EC59}" type="slidenum">
              <a:rPr lang="en-AU" smtClean="0"/>
              <a:t>32</a:t>
            </a:fld>
            <a:endParaRPr lang="en-AU"/>
          </a:p>
        </p:txBody>
      </p:sp>
    </p:spTree>
    <p:extLst>
      <p:ext uri="{BB962C8B-B14F-4D97-AF65-F5344CB8AC3E}">
        <p14:creationId xmlns:p14="http://schemas.microsoft.com/office/powerpoint/2010/main" val="37013132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AD36-1616-B298-6D0D-481EBA34A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29881-C015-2CA2-A5ED-79A48FFB2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397CA-1756-7C71-4517-4721ABC72C77}"/>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A788300-6B35-2474-1A0F-B8B86AD65D18}"/>
              </a:ext>
            </a:extLst>
          </p:cNvPr>
          <p:cNvSpPr>
            <a:spLocks noGrp="1"/>
          </p:cNvSpPr>
          <p:nvPr>
            <p:ph type="sldNum" sz="quarter" idx="5"/>
          </p:nvPr>
        </p:nvSpPr>
        <p:spPr/>
        <p:txBody>
          <a:bodyPr/>
          <a:lstStyle/>
          <a:p>
            <a:fld id="{42ED24F3-C88E-4C15-8193-4E111B80EC59}" type="slidenum">
              <a:rPr lang="en-AU" smtClean="0"/>
              <a:t>33</a:t>
            </a:fld>
            <a:endParaRPr lang="en-AU"/>
          </a:p>
        </p:txBody>
      </p:sp>
    </p:spTree>
    <p:extLst>
      <p:ext uri="{BB962C8B-B14F-4D97-AF65-F5344CB8AC3E}">
        <p14:creationId xmlns:p14="http://schemas.microsoft.com/office/powerpoint/2010/main" val="2558159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B3841-F5C0-A0FC-E086-83DAE9923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D7B775-D04F-01CE-E6E6-7241E5EDC0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3E81F3-E6EB-A98F-5348-A1F64935B9C3}"/>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1CDBDD4-6094-B463-1C94-42C3F089681E}"/>
              </a:ext>
            </a:extLst>
          </p:cNvPr>
          <p:cNvSpPr>
            <a:spLocks noGrp="1"/>
          </p:cNvSpPr>
          <p:nvPr>
            <p:ph type="sldNum" sz="quarter" idx="5"/>
          </p:nvPr>
        </p:nvSpPr>
        <p:spPr/>
        <p:txBody>
          <a:bodyPr/>
          <a:lstStyle/>
          <a:p>
            <a:fld id="{42ED24F3-C88E-4C15-8193-4E111B80EC59}" type="slidenum">
              <a:rPr lang="en-AU" smtClean="0"/>
              <a:t>34</a:t>
            </a:fld>
            <a:endParaRPr lang="en-AU"/>
          </a:p>
        </p:txBody>
      </p:sp>
    </p:spTree>
    <p:extLst>
      <p:ext uri="{BB962C8B-B14F-4D97-AF65-F5344CB8AC3E}">
        <p14:creationId xmlns:p14="http://schemas.microsoft.com/office/powerpoint/2010/main" val="16779649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ACE4C-D294-1C70-3781-C60FBC61D5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B39A-5318-4060-FB20-B1125E78E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E1EA0C-24FF-BB2F-3D26-E6A942896D5A}"/>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35380944-0E3B-7D1B-1A4C-05C0B303F0C9}"/>
              </a:ext>
            </a:extLst>
          </p:cNvPr>
          <p:cNvSpPr>
            <a:spLocks noGrp="1"/>
          </p:cNvSpPr>
          <p:nvPr>
            <p:ph type="sldNum" sz="quarter" idx="5"/>
          </p:nvPr>
        </p:nvSpPr>
        <p:spPr/>
        <p:txBody>
          <a:bodyPr/>
          <a:lstStyle/>
          <a:p>
            <a:fld id="{42ED24F3-C88E-4C15-8193-4E111B80EC59}" type="slidenum">
              <a:rPr lang="en-AU" smtClean="0"/>
              <a:t>35</a:t>
            </a:fld>
            <a:endParaRPr lang="en-AU"/>
          </a:p>
        </p:txBody>
      </p:sp>
    </p:spTree>
    <p:extLst>
      <p:ext uri="{BB962C8B-B14F-4D97-AF65-F5344CB8AC3E}">
        <p14:creationId xmlns:p14="http://schemas.microsoft.com/office/powerpoint/2010/main" val="39360167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EDEEE-B624-0B31-B2E9-7524E57322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8CB561-DB23-0AAF-64F9-DD3D01A1B4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7E5191-DB32-2C8A-D82C-D1B00CA5FDF0}"/>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DB4760BB-04A5-4610-88D7-AF9DFD1975C0}"/>
              </a:ext>
            </a:extLst>
          </p:cNvPr>
          <p:cNvSpPr>
            <a:spLocks noGrp="1"/>
          </p:cNvSpPr>
          <p:nvPr>
            <p:ph type="sldNum" sz="quarter" idx="5"/>
          </p:nvPr>
        </p:nvSpPr>
        <p:spPr/>
        <p:txBody>
          <a:bodyPr/>
          <a:lstStyle/>
          <a:p>
            <a:fld id="{42ED24F3-C88E-4C15-8193-4E111B80EC59}" type="slidenum">
              <a:rPr lang="en-AU" smtClean="0"/>
              <a:t>36</a:t>
            </a:fld>
            <a:endParaRPr lang="en-AU"/>
          </a:p>
        </p:txBody>
      </p:sp>
    </p:spTree>
    <p:extLst>
      <p:ext uri="{BB962C8B-B14F-4D97-AF65-F5344CB8AC3E}">
        <p14:creationId xmlns:p14="http://schemas.microsoft.com/office/powerpoint/2010/main" val="18508041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839B4-7D11-4B1B-7138-8F904EC012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5C944-6A39-19F2-4027-CD42EF82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2FEAFD-558D-8F8B-E381-B43079EC9FCA}"/>
              </a:ext>
            </a:extLst>
          </p:cNvPr>
          <p:cNvSpPr>
            <a:spLocks noGrp="1"/>
          </p:cNvSpPr>
          <p:nvPr>
            <p:ph type="body" idx="1"/>
          </p:nvPr>
        </p:nvSpPr>
        <p:spPr/>
        <p:txBody>
          <a:bodyPr/>
          <a:lstStyle/>
          <a:p>
            <a:r>
              <a:rPr lang="en-US" dirty="0"/>
              <a:t>c) A subclass can inherit from multiple </a:t>
            </a:r>
            <a:r>
              <a:rPr lang="en-US" dirty="0" err="1"/>
              <a:t>superclasses</a:t>
            </a:r>
            <a:r>
              <a:rPr lang="en-US" dirty="0"/>
              <a:t> in all languages</a:t>
            </a:r>
          </a:p>
        </p:txBody>
      </p:sp>
      <p:sp>
        <p:nvSpPr>
          <p:cNvPr id="4" name="Slide Number Placeholder 3">
            <a:extLst>
              <a:ext uri="{FF2B5EF4-FFF2-40B4-BE49-F238E27FC236}">
                <a16:creationId xmlns:a16="http://schemas.microsoft.com/office/drawing/2014/main" id="{1D7026E8-F8C3-65D0-A852-C36ECED46715}"/>
              </a:ext>
            </a:extLst>
          </p:cNvPr>
          <p:cNvSpPr>
            <a:spLocks noGrp="1"/>
          </p:cNvSpPr>
          <p:nvPr>
            <p:ph type="sldNum" sz="quarter" idx="5"/>
          </p:nvPr>
        </p:nvSpPr>
        <p:spPr/>
        <p:txBody>
          <a:bodyPr/>
          <a:lstStyle/>
          <a:p>
            <a:fld id="{42ED24F3-C88E-4C15-8193-4E111B80EC59}" type="slidenum">
              <a:rPr lang="en-AU" smtClean="0"/>
              <a:t>37</a:t>
            </a:fld>
            <a:endParaRPr lang="en-AU"/>
          </a:p>
        </p:txBody>
      </p:sp>
    </p:spTree>
    <p:extLst>
      <p:ext uri="{BB962C8B-B14F-4D97-AF65-F5344CB8AC3E}">
        <p14:creationId xmlns:p14="http://schemas.microsoft.com/office/powerpoint/2010/main" val="20164043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776D1-A36C-DDD3-D149-EED1C8987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FE2812-4934-EC1B-EF00-F24DBE0367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32234-2970-D9AB-D757-6C2E60CF70FE}"/>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1AF29F5-60F5-0467-1DE2-DCFF0BFF6F6F}"/>
              </a:ext>
            </a:extLst>
          </p:cNvPr>
          <p:cNvSpPr>
            <a:spLocks noGrp="1"/>
          </p:cNvSpPr>
          <p:nvPr>
            <p:ph type="sldNum" sz="quarter" idx="5"/>
          </p:nvPr>
        </p:nvSpPr>
        <p:spPr/>
        <p:txBody>
          <a:bodyPr/>
          <a:lstStyle/>
          <a:p>
            <a:fld id="{42ED24F3-C88E-4C15-8193-4E111B80EC59}" type="slidenum">
              <a:rPr lang="en-AU" smtClean="0"/>
              <a:t>38</a:t>
            </a:fld>
            <a:endParaRPr lang="en-AU"/>
          </a:p>
        </p:txBody>
      </p:sp>
    </p:spTree>
    <p:extLst>
      <p:ext uri="{BB962C8B-B14F-4D97-AF65-F5344CB8AC3E}">
        <p14:creationId xmlns:p14="http://schemas.microsoft.com/office/powerpoint/2010/main" val="37050648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16101-2E5A-4FCC-50AE-9B0ACAB29E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B5D98-E336-C85A-0EB7-C04B243E7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54AA5-B90A-C48D-7E5E-D8367FC0CFDB}"/>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2DD0BBE-401E-6ECA-E37F-35A64D80C576}"/>
              </a:ext>
            </a:extLst>
          </p:cNvPr>
          <p:cNvSpPr>
            <a:spLocks noGrp="1"/>
          </p:cNvSpPr>
          <p:nvPr>
            <p:ph type="sldNum" sz="quarter" idx="5"/>
          </p:nvPr>
        </p:nvSpPr>
        <p:spPr/>
        <p:txBody>
          <a:bodyPr/>
          <a:lstStyle/>
          <a:p>
            <a:fld id="{42ED24F3-C88E-4C15-8193-4E111B80EC59}" type="slidenum">
              <a:rPr lang="en-AU" smtClean="0"/>
              <a:t>39</a:t>
            </a:fld>
            <a:endParaRPr lang="en-AU"/>
          </a:p>
        </p:txBody>
      </p:sp>
    </p:spTree>
    <p:extLst>
      <p:ext uri="{BB962C8B-B14F-4D97-AF65-F5344CB8AC3E}">
        <p14:creationId xmlns:p14="http://schemas.microsoft.com/office/powerpoint/2010/main" val="14321165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06999-8FA7-8132-E10E-870790AEEC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6EB0A7-A112-1A9D-AA96-1E280457A8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72E7F5-942A-F40E-9547-1E20A75420D8}"/>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08C153B9-C9BB-3BD2-C63E-D7ECA0CF324B}"/>
              </a:ext>
            </a:extLst>
          </p:cNvPr>
          <p:cNvSpPr>
            <a:spLocks noGrp="1"/>
          </p:cNvSpPr>
          <p:nvPr>
            <p:ph type="sldNum" sz="quarter" idx="5"/>
          </p:nvPr>
        </p:nvSpPr>
        <p:spPr/>
        <p:txBody>
          <a:bodyPr/>
          <a:lstStyle/>
          <a:p>
            <a:fld id="{42ED24F3-C88E-4C15-8193-4E111B80EC59}" type="slidenum">
              <a:rPr lang="en-AU" smtClean="0"/>
              <a:t>40</a:t>
            </a:fld>
            <a:endParaRPr lang="en-AU"/>
          </a:p>
        </p:txBody>
      </p:sp>
    </p:spTree>
    <p:extLst>
      <p:ext uri="{BB962C8B-B14F-4D97-AF65-F5344CB8AC3E}">
        <p14:creationId xmlns:p14="http://schemas.microsoft.com/office/powerpoint/2010/main" val="1825143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8B16F-940B-4B8A-3672-F87A66B38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638950-F6E1-F9A1-0AF3-055C2609D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608C5E-CBEF-731D-3CA7-3849A9C6E306}"/>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AC3565F1-B350-A329-5CC6-ABF71CD213F9}"/>
              </a:ext>
            </a:extLst>
          </p:cNvPr>
          <p:cNvSpPr>
            <a:spLocks noGrp="1"/>
          </p:cNvSpPr>
          <p:nvPr>
            <p:ph type="sldNum" sz="quarter" idx="5"/>
          </p:nvPr>
        </p:nvSpPr>
        <p:spPr/>
        <p:txBody>
          <a:bodyPr/>
          <a:lstStyle/>
          <a:p>
            <a:fld id="{42ED24F3-C88E-4C15-8193-4E111B80EC59}" type="slidenum">
              <a:rPr lang="en-AU" smtClean="0"/>
              <a:t>41</a:t>
            </a:fld>
            <a:endParaRPr lang="en-AU"/>
          </a:p>
        </p:txBody>
      </p:sp>
    </p:spTree>
    <p:extLst>
      <p:ext uri="{BB962C8B-B14F-4D97-AF65-F5344CB8AC3E}">
        <p14:creationId xmlns:p14="http://schemas.microsoft.com/office/powerpoint/2010/main" val="31749033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465EA-51BD-C570-26AC-723F0D099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3775A1-69B0-DAAE-C500-0CAA14C2C5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DBE51-D6E5-16DB-C4CB-9ED7240B411B}"/>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83785BCE-A3BA-BBDF-7684-8B0DC97C9721}"/>
              </a:ext>
            </a:extLst>
          </p:cNvPr>
          <p:cNvSpPr>
            <a:spLocks noGrp="1"/>
          </p:cNvSpPr>
          <p:nvPr>
            <p:ph type="sldNum" sz="quarter" idx="5"/>
          </p:nvPr>
        </p:nvSpPr>
        <p:spPr/>
        <p:txBody>
          <a:bodyPr/>
          <a:lstStyle/>
          <a:p>
            <a:fld id="{42ED24F3-C88E-4C15-8193-4E111B80EC59}" type="slidenum">
              <a:rPr lang="en-AU" smtClean="0"/>
              <a:t>42</a:t>
            </a:fld>
            <a:endParaRPr lang="en-AU"/>
          </a:p>
        </p:txBody>
      </p:sp>
    </p:spTree>
    <p:extLst>
      <p:ext uri="{BB962C8B-B14F-4D97-AF65-F5344CB8AC3E}">
        <p14:creationId xmlns:p14="http://schemas.microsoft.com/office/powerpoint/2010/main" val="2727568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69B9A-2BC8-AE62-3C34-BB269F0BF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25747F-19F4-6CB4-5556-2209FB4093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F2C4EA-E046-9B40-4594-F8C461546D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FD8E1C-75CC-3935-008C-6623C9C76EAB}"/>
              </a:ext>
            </a:extLst>
          </p:cNvPr>
          <p:cNvSpPr>
            <a:spLocks noGrp="1"/>
          </p:cNvSpPr>
          <p:nvPr>
            <p:ph type="sldNum" sz="quarter" idx="5"/>
          </p:nvPr>
        </p:nvSpPr>
        <p:spPr/>
        <p:txBody>
          <a:bodyPr/>
          <a:lstStyle/>
          <a:p>
            <a:fld id="{42ED24F3-C88E-4C15-8193-4E111B80EC59}" type="slidenum">
              <a:rPr lang="en-AU" smtClean="0"/>
              <a:t>43</a:t>
            </a:fld>
            <a:endParaRPr lang="en-AU"/>
          </a:p>
        </p:txBody>
      </p:sp>
    </p:spTree>
    <p:extLst>
      <p:ext uri="{BB962C8B-B14F-4D97-AF65-F5344CB8AC3E}">
        <p14:creationId xmlns:p14="http://schemas.microsoft.com/office/powerpoint/2010/main" val="15725582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F7B9A-A41D-015A-93C0-31FB8B9851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130D50-BD44-C09C-C421-241F4471C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71EBD7-1EDD-BD8B-17A8-7D6DA4E8C3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1216EC-B524-F811-CB98-FBC746927147}"/>
              </a:ext>
            </a:extLst>
          </p:cNvPr>
          <p:cNvSpPr>
            <a:spLocks noGrp="1"/>
          </p:cNvSpPr>
          <p:nvPr>
            <p:ph type="sldNum" sz="quarter" idx="5"/>
          </p:nvPr>
        </p:nvSpPr>
        <p:spPr/>
        <p:txBody>
          <a:bodyPr/>
          <a:lstStyle/>
          <a:p>
            <a:fld id="{42ED24F3-C88E-4C15-8193-4E111B80EC59}" type="slidenum">
              <a:rPr lang="en-AU" smtClean="0"/>
              <a:t>44</a:t>
            </a:fld>
            <a:endParaRPr lang="en-AU"/>
          </a:p>
        </p:txBody>
      </p:sp>
    </p:spTree>
    <p:extLst>
      <p:ext uri="{BB962C8B-B14F-4D97-AF65-F5344CB8AC3E}">
        <p14:creationId xmlns:p14="http://schemas.microsoft.com/office/powerpoint/2010/main" val="29281110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9/09/2026</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9/09/2026</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908454" y="1360481"/>
            <a:ext cx="4605340" cy="2387600"/>
          </a:xfrm>
        </p:spPr>
        <p:txBody>
          <a:bodyPr>
            <a:normAutofit/>
          </a:bodyPr>
          <a:lstStyle/>
          <a:p>
            <a:pPr algn="l"/>
            <a:r>
              <a:rPr lang="en-US" sz="3900" dirty="0">
                <a:solidFill>
                  <a:schemeClr val="bg1"/>
                </a:solidFill>
                <a:latin typeface="Calibir"/>
              </a:rPr>
              <a:t>32555 – Fundamentals of Software Development</a:t>
            </a:r>
            <a:endParaRPr lang="en-AU" sz="3900" dirty="0">
              <a:solidFill>
                <a:schemeClr val="bg1"/>
              </a:solidFill>
              <a:latin typeface="Calibir"/>
            </a:endParaRPr>
          </a:p>
        </p:txBody>
      </p:sp>
      <p:pic>
        <p:nvPicPr>
          <p:cNvPr id="3" name="Picture 2">
            <a:extLst>
              <a:ext uri="{FF2B5EF4-FFF2-40B4-BE49-F238E27FC236}">
                <a16:creationId xmlns:a16="http://schemas.microsoft.com/office/drawing/2014/main" id="{A98A4EEB-3C3C-78E4-5144-CBDE3AFA8CA8}"/>
              </a:ext>
            </a:extLst>
          </p:cNvPr>
          <p:cNvPicPr>
            <a:picLocks noChangeAspect="1"/>
          </p:cNvPicPr>
          <p:nvPr/>
        </p:nvPicPr>
        <p:blipFill>
          <a:blip r:embed="rId2">
            <a:alphaModFix/>
            <a:extLst>
              <a:ext uri="{28A0092B-C50C-407E-A947-70E740481C1C}">
                <a14:useLocalDpi xmlns:a14="http://schemas.microsoft.com/office/drawing/2010/main" val="0"/>
              </a:ext>
            </a:extLst>
          </a:blip>
          <a:srcRect l="3847" r="98" b="1"/>
          <a:stretch>
            <a:fillRect/>
          </a:stretch>
        </p:blipFill>
        <p:spPr>
          <a:xfrm>
            <a:off x="5800734" y="1057275"/>
            <a:ext cx="5917401" cy="4743450"/>
          </a:xfrm>
          <a:prstGeom prst="rect">
            <a:avLst/>
          </a:prstGeom>
        </p:spPr>
      </p:pic>
      <p:sp>
        <p:nvSpPr>
          <p:cNvPr id="22" name="Rectangle 21">
            <a:extLst>
              <a:ext uri="{FF2B5EF4-FFF2-40B4-BE49-F238E27FC236}">
                <a16:creationId xmlns:a16="http://schemas.microsoft.com/office/drawing/2014/main" id="{D84C2E9E-0B5D-4B5F-9A1F-70EBDCE390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977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048514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D7A11-47AE-C133-8206-569A0BB07A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1848-8E74-13DF-C09C-3CC64A483572}"/>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sp>
        <p:nvSpPr>
          <p:cNvPr id="5" name="Rectangle 1">
            <a:extLst>
              <a:ext uri="{FF2B5EF4-FFF2-40B4-BE49-F238E27FC236}">
                <a16:creationId xmlns:a16="http://schemas.microsoft.com/office/drawing/2014/main" id="{F5185FC6-5CEA-DC1B-A1DF-D2D8A89484E9}"/>
              </a:ext>
            </a:extLst>
          </p:cNvPr>
          <p:cNvSpPr>
            <a:spLocks noChangeArrowheads="1"/>
          </p:cNvSpPr>
          <p:nvPr/>
        </p:nvSpPr>
        <p:spPr bwMode="auto">
          <a:xfrm>
            <a:off x="0" y="837669"/>
            <a:ext cx="12192000" cy="5963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Calibir"/>
                <a:ea typeface="+mn-ea"/>
                <a:cs typeface="+mn-cs"/>
              </a:rPr>
              <a:t>Your Teaching Team:</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black"/>
                </a:solidFill>
                <a:effectLst/>
                <a:uLnTx/>
                <a:uFillTx/>
                <a:latin typeface="Calibir"/>
                <a:ea typeface="+mn-ea"/>
                <a:cs typeface="+mn-cs"/>
              </a:rPr>
              <a:t>Dr. Yining Hu | Subject Coordinator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Yining is a Lecturer in Software Engineering. She works with many SMEs to develop software and AI solutions through student and research projects at UTS.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yining.hu@uts.edu.au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Xiaojie (Zoe) Lin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Zoe is a full-stack software engineer with an interest in data analysis, specializing in JAVA, R, Python, JavaScript, PHP, Bash, and MATLAB; familiar with AWS.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Xiaojie.Lin@uts.edu.au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Farshid Keivanian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Dr. Farshid Keivanian is an experienced university lecturer and researcher with a PhD in Information Technology. He has over 15 years of teaching experience across Australian institutions, </a:t>
            </a:r>
            <a:r>
              <a:rPr kumimoji="0" lang="en-US" sz="1600" b="0" i="0" u="none" strike="noStrike" kern="1200" cap="none" spc="0" normalizeH="0" baseline="0" noProof="0" dirty="0" err="1">
                <a:ln>
                  <a:noFill/>
                </a:ln>
                <a:solidFill>
                  <a:prstClr val="black"/>
                </a:solidFill>
                <a:effectLst/>
                <a:uLnTx/>
                <a:uFillTx/>
                <a:latin typeface="Calibir"/>
                <a:ea typeface="+mn-ea"/>
                <a:cs typeface="+mn-cs"/>
              </a:rPr>
              <a:t>specialising</a:t>
            </a:r>
            <a:r>
              <a:rPr kumimoji="0" lang="en-US" sz="1600" b="0" i="0" u="none" strike="noStrike" kern="1200" cap="none" spc="0" normalizeH="0" baseline="0" noProof="0" dirty="0">
                <a:ln>
                  <a:noFill/>
                </a:ln>
                <a:solidFill>
                  <a:prstClr val="black"/>
                </a:solidFill>
                <a:effectLst/>
                <a:uLnTx/>
                <a:uFillTx/>
                <a:latin typeface="Calibir"/>
                <a:ea typeface="+mn-ea"/>
                <a:cs typeface="+mn-cs"/>
              </a:rPr>
              <a:t> in software engineering, data science, AI, and cybersecurity.</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Farshid.Keivanian@uts.edu.au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Yong Pov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Yong is a full-stack software engineer with experience in React, JavaScript, TypeScript, Java, Python, SQL, and AI-assisted learning platforms.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Yong.Pov@uts.edu.au</a:t>
            </a:r>
          </a:p>
        </p:txBody>
      </p:sp>
    </p:spTree>
    <p:extLst>
      <p:ext uri="{BB962C8B-B14F-4D97-AF65-F5344CB8AC3E}">
        <p14:creationId xmlns:p14="http://schemas.microsoft.com/office/powerpoint/2010/main" val="794337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96DC6-424A-EAE3-87C1-E5765B094D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5FDA-B4C2-6DD5-17BE-680D628581FF}"/>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graphicFrame>
        <p:nvGraphicFramePr>
          <p:cNvPr id="3" name="Table 2">
            <a:extLst>
              <a:ext uri="{FF2B5EF4-FFF2-40B4-BE49-F238E27FC236}">
                <a16:creationId xmlns:a16="http://schemas.microsoft.com/office/drawing/2014/main" id="{EE98AB95-B27E-184F-3760-418B8D55B79F}"/>
              </a:ext>
            </a:extLst>
          </p:cNvPr>
          <p:cNvGraphicFramePr>
            <a:graphicFrameLocks noGrp="1"/>
          </p:cNvGraphicFramePr>
          <p:nvPr/>
        </p:nvGraphicFramePr>
        <p:xfrm>
          <a:off x="722671" y="1816610"/>
          <a:ext cx="9792928" cy="3681218"/>
        </p:xfrm>
        <a:graphic>
          <a:graphicData uri="http://schemas.openxmlformats.org/drawingml/2006/table">
            <a:tbl>
              <a:tblPr>
                <a:tableStyleId>{BC89EF96-8CEA-46FF-86C4-4CE0E7609802}</a:tableStyleId>
              </a:tblPr>
              <a:tblGrid>
                <a:gridCol w="1613329">
                  <a:extLst>
                    <a:ext uri="{9D8B030D-6E8A-4147-A177-3AD203B41FA5}">
                      <a16:colId xmlns:a16="http://schemas.microsoft.com/office/drawing/2014/main" val="79494275"/>
                    </a:ext>
                  </a:extLst>
                </a:gridCol>
                <a:gridCol w="2230244">
                  <a:extLst>
                    <a:ext uri="{9D8B030D-6E8A-4147-A177-3AD203B41FA5}">
                      <a16:colId xmlns:a16="http://schemas.microsoft.com/office/drawing/2014/main" val="2506284612"/>
                    </a:ext>
                  </a:extLst>
                </a:gridCol>
                <a:gridCol w="2864347">
                  <a:extLst>
                    <a:ext uri="{9D8B030D-6E8A-4147-A177-3AD203B41FA5}">
                      <a16:colId xmlns:a16="http://schemas.microsoft.com/office/drawing/2014/main" val="2357989121"/>
                    </a:ext>
                  </a:extLst>
                </a:gridCol>
                <a:gridCol w="3085008">
                  <a:extLst>
                    <a:ext uri="{9D8B030D-6E8A-4147-A177-3AD203B41FA5}">
                      <a16:colId xmlns:a16="http://schemas.microsoft.com/office/drawing/2014/main" val="192731506"/>
                    </a:ext>
                  </a:extLst>
                </a:gridCol>
              </a:tblGrid>
              <a:tr h="37063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Cmp1 #</a:t>
                      </a:r>
                      <a:endParaRPr lang="en-US" sz="2800" b="0" i="0" dirty="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Location</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Time</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Tutor</a:t>
                      </a:r>
                      <a:endParaRPr lang="en-US" sz="2800" b="0" i="0">
                        <a:solidFill>
                          <a:srgbClr val="252B2B"/>
                        </a:solidFill>
                        <a:effectLst/>
                        <a:latin typeface="Calibir"/>
                      </a:endParaRPr>
                    </a:p>
                  </a:txBody>
                  <a:tcPr anchor="ctr"/>
                </a:tc>
                <a:extLst>
                  <a:ext uri="{0D108BD9-81ED-4DB2-BD59-A6C34878D82A}">
                    <a16:rowId xmlns:a16="http://schemas.microsoft.com/office/drawing/2014/main" val="4280461216"/>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01</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16:00-18:00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Xiaojie (Zoe) Lin</a:t>
                      </a:r>
                      <a:endParaRPr lang="en-US" sz="2800" b="0" i="0">
                        <a:solidFill>
                          <a:srgbClr val="252B2B"/>
                        </a:solidFill>
                        <a:effectLst/>
                        <a:latin typeface="Calibir"/>
                      </a:endParaRPr>
                    </a:p>
                  </a:txBody>
                  <a:tcPr marL="14630" marR="14630" marT="14630" marB="14630" anchor="ctr"/>
                </a:tc>
                <a:extLst>
                  <a:ext uri="{0D108BD9-81ED-4DB2-BD59-A6C34878D82A}">
                    <a16:rowId xmlns:a16="http://schemas.microsoft.com/office/drawing/2014/main" val="3707997205"/>
                  </a:ext>
                </a:extLst>
              </a:tr>
              <a:tr h="38526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07</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10:00-12:00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2266278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08</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12:00-14:00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Yong Pov</a:t>
                      </a:r>
                      <a:endParaRPr lang="en-US" sz="2800" b="0" i="0" dirty="0">
                        <a:solidFill>
                          <a:srgbClr val="252B2B"/>
                        </a:solidFill>
                        <a:effectLst/>
                        <a:latin typeface="Calibir"/>
                      </a:endParaRPr>
                    </a:p>
                  </a:txBody>
                  <a:tcPr marL="14630" marR="14630" marT="14630" marB="14630" anchor="ctr"/>
                </a:tc>
                <a:extLst>
                  <a:ext uri="{0D108BD9-81ED-4DB2-BD59-A6C34878D82A}">
                    <a16:rowId xmlns:a16="http://schemas.microsoft.com/office/drawing/2014/main" val="13359214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09</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CB11.B1.103</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16:00-18:00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4247187035"/>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10</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12:00-14:00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1381140912"/>
                  </a:ext>
                </a:extLst>
              </a:tr>
            </a:tbl>
          </a:graphicData>
        </a:graphic>
      </p:graphicFrame>
    </p:spTree>
    <p:extLst>
      <p:ext uri="{BB962C8B-B14F-4D97-AF65-F5344CB8AC3E}">
        <p14:creationId xmlns:p14="http://schemas.microsoft.com/office/powerpoint/2010/main" val="15846821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C6ACD-49F2-24CE-AC1F-DDBC965D159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5A3044B-48C9-B6DF-0C57-B7874504D203}"/>
              </a:ext>
            </a:extLst>
          </p:cNvPr>
          <p:cNvPicPr>
            <a:picLocks noChangeAspect="1"/>
          </p:cNvPicPr>
          <p:nvPr/>
        </p:nvPicPr>
        <p:blipFill>
          <a:blip r:embed="rId2"/>
          <a:srcRect t="8122" b="5594"/>
          <a:stretch>
            <a:fillRect/>
          </a:stretch>
        </p:blipFill>
        <p:spPr>
          <a:xfrm>
            <a:off x="0" y="830317"/>
            <a:ext cx="12192000" cy="5917324"/>
          </a:xfrm>
          <a:prstGeom prst="rect">
            <a:avLst/>
          </a:prstGeom>
        </p:spPr>
      </p:pic>
      <p:sp>
        <p:nvSpPr>
          <p:cNvPr id="2" name="Title 1">
            <a:extLst>
              <a:ext uri="{FF2B5EF4-FFF2-40B4-BE49-F238E27FC236}">
                <a16:creationId xmlns:a16="http://schemas.microsoft.com/office/drawing/2014/main" id="{3E9D3CC2-FAB6-B3F9-8D54-BBEE84C9200A}"/>
              </a:ext>
            </a:extLst>
          </p:cNvPr>
          <p:cNvSpPr>
            <a:spLocks noGrp="1"/>
          </p:cNvSpPr>
          <p:nvPr>
            <p:ph type="title"/>
          </p:nvPr>
        </p:nvSpPr>
        <p:spPr>
          <a:xfrm>
            <a:off x="0" y="1"/>
            <a:ext cx="12192000" cy="756744"/>
          </a:xfrm>
        </p:spPr>
        <p:txBody>
          <a:bodyPr anchor="b">
            <a:normAutofit/>
          </a:bodyPr>
          <a:lstStyle/>
          <a:p>
            <a:r>
              <a:rPr lang="en-US" sz="4000" dirty="0">
                <a:latin typeface="Calibir"/>
              </a:rPr>
              <a:t>Have you attended your enrolled session?</a:t>
            </a:r>
            <a:endParaRPr lang="en-AU" sz="4000" b="1" dirty="0">
              <a:latin typeface="Calibir"/>
            </a:endParaRPr>
          </a:p>
        </p:txBody>
      </p:sp>
      <p:sp>
        <p:nvSpPr>
          <p:cNvPr id="7" name="Rectangle: Rounded Corners 6">
            <a:extLst>
              <a:ext uri="{FF2B5EF4-FFF2-40B4-BE49-F238E27FC236}">
                <a16:creationId xmlns:a16="http://schemas.microsoft.com/office/drawing/2014/main" id="{3BA04DA3-19B2-DF1C-9F2D-482521C70A0E}"/>
              </a:ext>
            </a:extLst>
          </p:cNvPr>
          <p:cNvSpPr/>
          <p:nvPr/>
        </p:nvSpPr>
        <p:spPr>
          <a:xfrm>
            <a:off x="772132" y="5404586"/>
            <a:ext cx="531151" cy="207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9CDA5A5-F58A-2EDE-C5DC-1E533930C43B}"/>
              </a:ext>
            </a:extLst>
          </p:cNvPr>
          <p:cNvSpPr txBox="1"/>
          <p:nvPr/>
        </p:nvSpPr>
        <p:spPr>
          <a:xfrm>
            <a:off x="5888421" y="3600826"/>
            <a:ext cx="6206358" cy="3257174"/>
          </a:xfrm>
          <a:prstGeom prst="rect">
            <a:avLst/>
          </a:prstGeom>
          <a:solidFill>
            <a:schemeClr val="bg1"/>
          </a:solidFill>
          <a:ln>
            <a:solidFill>
              <a:srgbClr val="FF0000"/>
            </a:solidFill>
          </a:ln>
        </p:spPr>
        <p:txBody>
          <a:bodyPr wrap="square">
            <a:spAutoFit/>
          </a:bodyPr>
          <a:lstStyle/>
          <a:p>
            <a:pPr marL="0" marR="0" indent="0" algn="l" fontAlgn="base">
              <a:lnSpc>
                <a:spcPct val="150000"/>
              </a:lnSpc>
              <a:buNone/>
            </a:pPr>
            <a:r>
              <a:rPr lang="en-US" sz="2800" b="0" i="0" dirty="0">
                <a:solidFill>
                  <a:schemeClr val="tx1"/>
                </a:solidFill>
                <a:effectLst/>
                <a:latin typeface="Calibir"/>
              </a:rPr>
              <a:t>Please attend the quiz during your enrolled session. Moving sessions will complicates the quiz set-up.</a:t>
            </a:r>
          </a:p>
          <a:p>
            <a:pPr marL="0" marR="0" indent="0" algn="l" fontAlgn="base">
              <a:lnSpc>
                <a:spcPct val="150000"/>
              </a:lnSpc>
              <a:buNone/>
            </a:pPr>
            <a:r>
              <a:rPr lang="en-US" sz="2800" b="0" i="0" dirty="0">
                <a:solidFill>
                  <a:schemeClr val="tx1"/>
                </a:solidFill>
                <a:effectLst/>
                <a:latin typeface="Calibir"/>
              </a:rPr>
              <a:t>You can continue attending Cmp1# for labs and your project assignment. </a:t>
            </a:r>
            <a:endParaRPr lang="en-US" sz="2800" dirty="0">
              <a:latin typeface="Calibir"/>
            </a:endParaRPr>
          </a:p>
        </p:txBody>
      </p:sp>
    </p:spTree>
    <p:extLst>
      <p:ext uri="{BB962C8B-B14F-4D97-AF65-F5344CB8AC3E}">
        <p14:creationId xmlns:p14="http://schemas.microsoft.com/office/powerpoint/2010/main" val="3475697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7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5991384"/>
          </a:xfrm>
          <a:prstGeom prst="rect">
            <a:avLst/>
          </a:prstGeom>
          <a:noFill/>
        </p:spPr>
        <p:txBody>
          <a:bodyPr wrap="square">
            <a:spAutoFit/>
          </a:bodyPr>
          <a:lstStyle/>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Quiz 1 Preparation: Guidelines &amp; Practice Questions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Have you attended your enrolled session?</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Group Assignment – Part 1: Clarification Slides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Project Brief – Simplified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Admin, IDs, and Deliverables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Actors, User Stories, and ID Numbering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User Stories – Handling System Actions &amp; Wording</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 Case &amp; Class Diagrams – One Comprehensive View</a:t>
            </a:r>
          </a:p>
          <a:p>
            <a:pPr marL="514350" indent="-514350">
              <a:spcAft>
                <a:spcPts val="800"/>
              </a:spcAft>
              <a:buFont typeface="+mj-lt"/>
              <a:buAutoNum type="arabicPeriod"/>
            </a:pPr>
            <a:r>
              <a:rPr lang="en-US" sz="1500" dirty="0">
                <a:latin typeface="Calibir"/>
              </a:rPr>
              <a:t>Assignment 1 – Part 1: Use Case Diagram Clarifications</a:t>
            </a:r>
            <a:endParaRPr lang="en-US" sz="1500" kern="100" dirty="0">
              <a:latin typeface="Calibir"/>
              <a:ea typeface="Aptos" panose="020B0004020202020204" pitchFamily="34" charset="0"/>
              <a:cs typeface="Arial" panose="020B0604020202020204" pitchFamily="34" charset="0"/>
            </a:endParaRP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User Story Backlog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UML Use Case Diagram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UML Class Diagram — Clarified</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Class Diagram Design Clarifications</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Assignment 1 – Part 1: CLI Representation, Data, and Relationships Clarified</a:t>
            </a:r>
          </a:p>
          <a:p>
            <a:pPr marL="514350" indent="-514350">
              <a:spcAft>
                <a:spcPts val="800"/>
              </a:spcAft>
              <a:buFont typeface="+mj-lt"/>
              <a:buAutoNum type="arabicPeriod"/>
            </a:pPr>
            <a:r>
              <a:rPr lang="en-US" sz="1500" dirty="0">
                <a:latin typeface="Calibir"/>
              </a:rPr>
              <a:t>Assignment 1 – Part 1: Scope, Traceability, and Contribution Clarifications</a:t>
            </a:r>
            <a:endParaRPr lang="en-US" sz="1500" kern="100" dirty="0">
              <a:latin typeface="Calibir"/>
              <a:ea typeface="Aptos" panose="020B0004020202020204" pitchFamily="34" charset="0"/>
              <a:cs typeface="Arial" panose="020B0604020202020204" pitchFamily="34" charset="0"/>
            </a:endParaRP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Marking Scheme</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Deliverables &amp; Contribution</a:t>
            </a:r>
          </a:p>
          <a:p>
            <a:pPr marL="514350" indent="-514350">
              <a:spcAft>
                <a:spcPts val="800"/>
              </a:spcAft>
              <a:buFont typeface="+mj-lt"/>
              <a:buAutoNum type="arabicPeriod"/>
            </a:pPr>
            <a:r>
              <a:rPr lang="en-US" sz="15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000910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EADE3C80-154F-82F6-D511-11E32DD372F2}"/>
              </a:ext>
            </a:extLst>
          </p:cNvPr>
          <p:cNvSpPr txBox="1"/>
          <p:nvPr/>
        </p:nvSpPr>
        <p:spPr>
          <a:xfrm>
            <a:off x="0" y="756746"/>
            <a:ext cx="11971282"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to Review</a:t>
            </a:r>
            <a:br>
              <a:rPr lang="en-US" sz="2800" b="1" dirty="0">
                <a:latin typeface="Calibir"/>
              </a:rPr>
            </a:br>
            <a:r>
              <a:rPr lang="en-US" sz="2800" dirty="0">
                <a:latin typeface="Calibir"/>
              </a:rPr>
              <a:t>• Review Modules 1–2 lecture notes, slides, and lab activities.</a:t>
            </a:r>
            <a:br>
              <a:rPr lang="en-US" sz="2800" dirty="0">
                <a:latin typeface="Calibir"/>
              </a:rPr>
            </a:br>
            <a:r>
              <a:rPr lang="en-US" sz="2800" dirty="0">
                <a:latin typeface="Calibir"/>
              </a:rPr>
              <a:t>• Focus on the following Quiz 1 topics:</a:t>
            </a:r>
            <a:br>
              <a:rPr lang="en-US" sz="2800" dirty="0">
                <a:latin typeface="Calibir"/>
              </a:rPr>
            </a:br>
            <a:r>
              <a:rPr lang="en-US" sz="2800" dirty="0">
                <a:latin typeface="Calibir"/>
              </a:rPr>
              <a:t>• Software development process and methodologies</a:t>
            </a:r>
            <a:br>
              <a:rPr lang="en-US" sz="2800" dirty="0">
                <a:latin typeface="Calibir"/>
              </a:rPr>
            </a:br>
            <a:r>
              <a:rPr lang="en-US" sz="2800" dirty="0">
                <a:latin typeface="Calibir"/>
              </a:rPr>
              <a:t>• Requirements analysis, including functional and non-functional requirements</a:t>
            </a:r>
            <a:br>
              <a:rPr lang="en-US" sz="2800" dirty="0">
                <a:latin typeface="Calibir"/>
              </a:rPr>
            </a:br>
            <a:r>
              <a:rPr lang="en-US" sz="2800" dirty="0">
                <a:latin typeface="Calibir"/>
              </a:rPr>
              <a:t>• Software design</a:t>
            </a:r>
            <a:br>
              <a:rPr lang="en-US" sz="2800" dirty="0">
                <a:latin typeface="Calibir"/>
              </a:rPr>
            </a:br>
            <a:r>
              <a:rPr lang="en-US" sz="2800" dirty="0">
                <a:latin typeface="Calibir"/>
              </a:rPr>
              <a:t>• Introduction to programming</a:t>
            </a:r>
            <a:br>
              <a:rPr lang="en-US" sz="2800" dirty="0">
                <a:latin typeface="Calibir"/>
              </a:rPr>
            </a:br>
            <a:r>
              <a:rPr lang="en-US" sz="2800" dirty="0">
                <a:latin typeface="Calibir"/>
              </a:rPr>
              <a:t>• Classes and objects</a:t>
            </a:r>
          </a:p>
        </p:txBody>
      </p:sp>
    </p:spTree>
    <p:extLst>
      <p:ext uri="{BB962C8B-B14F-4D97-AF65-F5344CB8AC3E}">
        <p14:creationId xmlns:p14="http://schemas.microsoft.com/office/powerpoint/2010/main" val="2746331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AAC3F-9F82-0C35-BBFA-2C29427CEF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7830AF-5030-5DB8-B6FD-F8CB35175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CC053DC4-39EF-F625-CEF2-5A2EA97112A8}"/>
              </a:ext>
            </a:extLst>
          </p:cNvPr>
          <p:cNvSpPr txBox="1"/>
          <p:nvPr/>
        </p:nvSpPr>
        <p:spPr>
          <a:xfrm>
            <a:off x="0" y="756746"/>
            <a:ext cx="11971282" cy="5842497"/>
          </a:xfrm>
          <a:prstGeom prst="rect">
            <a:avLst/>
          </a:prstGeom>
          <a:noFill/>
        </p:spPr>
        <p:txBody>
          <a:bodyPr wrap="square">
            <a:spAutoFit/>
          </a:bodyPr>
          <a:lstStyle/>
          <a:p>
            <a:pPr lvl="1">
              <a:lnSpc>
                <a:spcPct val="150000"/>
              </a:lnSpc>
            </a:pPr>
            <a:r>
              <a:rPr lang="en-US" sz="2800" dirty="0">
                <a:latin typeface="Calibir"/>
              </a:rPr>
              <a:t>• Basic OOP concepts: classes, objects, attributes, methods, encapsulation, inheritance, abstraction and polymorphism</a:t>
            </a:r>
            <a:br>
              <a:rPr lang="en-US" sz="2800" dirty="0">
                <a:latin typeface="Calibir"/>
              </a:rPr>
            </a:br>
            <a:r>
              <a:rPr lang="en-US" sz="2800" dirty="0">
                <a:latin typeface="Calibir"/>
              </a:rPr>
              <a:t>• UML use-case modelling: actors, associations, &lt;&lt;include&gt;&gt;, &lt;&lt;extend&gt;&gt; and generalization</a:t>
            </a:r>
            <a:br>
              <a:rPr lang="en-US" sz="2800" dirty="0">
                <a:latin typeface="Calibir"/>
              </a:rPr>
            </a:br>
            <a:r>
              <a:rPr lang="en-US" sz="2800" dirty="0">
                <a:latin typeface="Calibir"/>
              </a:rPr>
              <a:t>• UML class diagrams: relationships, inheritance/generalization, multiplicity and visibility</a:t>
            </a:r>
            <a:br>
              <a:rPr lang="en-US" sz="2800" dirty="0">
                <a:latin typeface="Calibir"/>
              </a:rPr>
            </a:br>
            <a:r>
              <a:rPr lang="en-US" sz="2800" dirty="0">
                <a:latin typeface="Calibir"/>
              </a:rPr>
              <a:t>• Programming fundamentals, including functions and procedures</a:t>
            </a:r>
            <a:br>
              <a:rPr lang="en-US" sz="2800" dirty="0">
                <a:latin typeface="Calibir"/>
              </a:rPr>
            </a:br>
            <a:r>
              <a:rPr lang="en-US" sz="2800" dirty="0">
                <a:latin typeface="Calibir"/>
              </a:rPr>
              <a:t>• Bring printed subject materials or access subject materials using the lab computer.</a:t>
            </a:r>
          </a:p>
        </p:txBody>
      </p:sp>
    </p:spTree>
    <p:extLst>
      <p:ext uri="{BB962C8B-B14F-4D97-AF65-F5344CB8AC3E}">
        <p14:creationId xmlns:p14="http://schemas.microsoft.com/office/powerpoint/2010/main" val="29365977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C30DB-384D-6C2D-F6A9-B91187D33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557904-04DF-6341-8380-D470EA9429D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A70710C-779E-A707-C2CC-A7DDB7253721}"/>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dirty="0">
                <a:latin typeface="Calibir"/>
              </a:rPr>
              <a:t>During the Quiz</a:t>
            </a:r>
          </a:p>
          <a:p>
            <a:pPr marL="914400" lvl="1" indent="-457200">
              <a:lnSpc>
                <a:spcPct val="150000"/>
              </a:lnSpc>
              <a:buFont typeface="Arial" panose="020B0604020202020204" pitchFamily="34" charset="0"/>
              <a:buChar char="•"/>
            </a:pPr>
            <a:r>
              <a:rPr lang="en-US" sz="2800" dirty="0">
                <a:latin typeface="Calibir"/>
              </a:rPr>
              <a:t>You have 30 minutes and only one attempt.</a:t>
            </a:r>
          </a:p>
          <a:p>
            <a:pPr marL="914400" lvl="1" indent="-457200">
              <a:lnSpc>
                <a:spcPct val="150000"/>
              </a:lnSpc>
              <a:buFont typeface="Arial" panose="020B0604020202020204" pitchFamily="34" charset="0"/>
              <a:buChar char="•"/>
            </a:pPr>
            <a:r>
              <a:rPr lang="en-US" sz="2800" dirty="0">
                <a:latin typeface="Calibir"/>
              </a:rPr>
              <a:t>Each question has one correct answer.</a:t>
            </a:r>
          </a:p>
          <a:p>
            <a:pPr marL="914400" lvl="1" indent="-457200">
              <a:lnSpc>
                <a:spcPct val="150000"/>
              </a:lnSpc>
              <a:buFont typeface="Arial" panose="020B0604020202020204" pitchFamily="34" charset="0"/>
              <a:buChar char="•"/>
            </a:pPr>
            <a:r>
              <a:rPr lang="en-US" sz="2800" dirty="0">
                <a:latin typeface="Calibir"/>
              </a:rPr>
              <a:t>Pace yourself: ~2 minutes per question.</a:t>
            </a:r>
          </a:p>
          <a:p>
            <a:pPr marL="914400" lvl="1" indent="-457200">
              <a:lnSpc>
                <a:spcPct val="150000"/>
              </a:lnSpc>
              <a:buFont typeface="Arial" panose="020B0604020202020204" pitchFamily="34" charset="0"/>
              <a:buChar char="•"/>
            </a:pPr>
            <a:r>
              <a:rPr lang="en-US" sz="2800" dirty="0">
                <a:latin typeface="Calibir"/>
              </a:rPr>
              <a:t>Don’t get stuck—mark your best guess and move on.</a:t>
            </a:r>
          </a:p>
        </p:txBody>
      </p:sp>
    </p:spTree>
    <p:extLst>
      <p:ext uri="{BB962C8B-B14F-4D97-AF65-F5344CB8AC3E}">
        <p14:creationId xmlns:p14="http://schemas.microsoft.com/office/powerpoint/2010/main" val="1332036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3D8E7-1E3C-D9CC-99F9-4D3D8998C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8C8A7-740F-1251-7B1A-40D3B72DD54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58BE9717-5C0F-751A-B5AD-F5600892CA27}"/>
              </a:ext>
            </a:extLst>
          </p:cNvPr>
          <p:cNvSpPr txBox="1"/>
          <p:nvPr/>
        </p:nvSpPr>
        <p:spPr>
          <a:xfrm>
            <a:off x="0" y="1082567"/>
            <a:ext cx="11971282" cy="5196166"/>
          </a:xfrm>
          <a:prstGeom prst="rect">
            <a:avLst/>
          </a:prstGeom>
          <a:noFill/>
        </p:spPr>
        <p:txBody>
          <a:bodyPr wrap="square">
            <a:spAutoFit/>
          </a:bodyPr>
          <a:lstStyle/>
          <a:p>
            <a:pPr>
              <a:lnSpc>
                <a:spcPct val="150000"/>
              </a:lnSpc>
            </a:pPr>
            <a:r>
              <a:rPr lang="en-US" sz="2800" b="1" dirty="0">
                <a:latin typeface="Calibir"/>
              </a:rPr>
              <a:t>What to Do</a:t>
            </a:r>
          </a:p>
          <a:p>
            <a:pPr marL="714375" indent="-457200">
              <a:lnSpc>
                <a:spcPct val="150000"/>
              </a:lnSpc>
              <a:buFont typeface="Arial" panose="020B0604020202020204" pitchFamily="34" charset="0"/>
              <a:buChar char="•"/>
            </a:pPr>
            <a:r>
              <a:rPr lang="en-US" sz="2800" dirty="0">
                <a:latin typeface="Calibir"/>
              </a:rPr>
              <a:t>Read each question carefully and identify key terms such as </a:t>
            </a:r>
            <a:r>
              <a:rPr lang="en-US" sz="2800" i="1" dirty="0">
                <a:latin typeface="Calibir"/>
              </a:rPr>
              <a:t>include, extend, association, inheritance, multiplicity,</a:t>
            </a:r>
            <a:r>
              <a:rPr lang="en-US" sz="2800" dirty="0">
                <a:latin typeface="Calibir"/>
              </a:rPr>
              <a:t> and </a:t>
            </a:r>
            <a:r>
              <a:rPr lang="en-US" sz="2800" i="1" dirty="0">
                <a:latin typeface="Calibir"/>
              </a:rPr>
              <a:t>visibility</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Pay attention to words such as NOT, required, every, one, many, superclass, and subclass.</a:t>
            </a:r>
          </a:p>
          <a:p>
            <a:pPr marL="714375" indent="-457200">
              <a:lnSpc>
                <a:spcPct val="150000"/>
              </a:lnSpc>
              <a:buFont typeface="Arial" panose="020B0604020202020204" pitchFamily="34" charset="0"/>
              <a:buChar char="•"/>
            </a:pPr>
            <a:r>
              <a:rPr lang="en-US" sz="2800" dirty="0">
                <a:latin typeface="Calibir"/>
              </a:rPr>
              <a:t>Use elimination to rule out clearly incorrect options.</a:t>
            </a:r>
          </a:p>
          <a:p>
            <a:pPr marL="714375" indent="-457200">
              <a:lnSpc>
                <a:spcPct val="150000"/>
              </a:lnSpc>
              <a:buFont typeface="Arial" panose="020B0604020202020204" pitchFamily="34" charset="0"/>
              <a:buChar char="•"/>
            </a:pPr>
            <a:r>
              <a:rPr lang="en-US" sz="2800" dirty="0">
                <a:latin typeface="Calibir"/>
              </a:rPr>
              <a:t>For code questions, </a:t>
            </a:r>
            <a:r>
              <a:rPr lang="en-US" sz="2800" dirty="0" err="1">
                <a:latin typeface="Calibir"/>
              </a:rPr>
              <a:t>analyse</a:t>
            </a:r>
            <a:r>
              <a:rPr lang="en-US" sz="2800" dirty="0">
                <a:latin typeface="Calibir"/>
              </a:rPr>
              <a:t> the code without executing it in an IDE.</a:t>
            </a:r>
          </a:p>
          <a:p>
            <a:pPr marL="714375" indent="-457200">
              <a:lnSpc>
                <a:spcPct val="150000"/>
              </a:lnSpc>
              <a:buFont typeface="Arial" panose="020B0604020202020204" pitchFamily="34" charset="0"/>
              <a:buChar char="•"/>
            </a:pPr>
            <a:r>
              <a:rPr lang="en-US" sz="2800" dirty="0">
                <a:latin typeface="Calibir"/>
              </a:rPr>
              <a:t>Manage your time: 15 questions in 30 minutes.</a:t>
            </a:r>
          </a:p>
        </p:txBody>
      </p:sp>
    </p:spTree>
    <p:extLst>
      <p:ext uri="{BB962C8B-B14F-4D97-AF65-F5344CB8AC3E}">
        <p14:creationId xmlns:p14="http://schemas.microsoft.com/office/powerpoint/2010/main" val="31237832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3B06-B753-3A92-4D68-257EE5491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846F3-FE88-7F6A-75B0-75CC6D89687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42DE751-5990-9341-73E6-13540788AF56}"/>
              </a:ext>
            </a:extLst>
          </p:cNvPr>
          <p:cNvSpPr txBox="1"/>
          <p:nvPr/>
        </p:nvSpPr>
        <p:spPr>
          <a:xfrm>
            <a:off x="0" y="1135117"/>
            <a:ext cx="11971282" cy="4549835"/>
          </a:xfrm>
          <a:prstGeom prst="rect">
            <a:avLst/>
          </a:prstGeom>
          <a:noFill/>
        </p:spPr>
        <p:txBody>
          <a:bodyPr wrap="square">
            <a:spAutoFit/>
          </a:bodyPr>
          <a:lstStyle/>
          <a:p>
            <a:pPr>
              <a:lnSpc>
                <a:spcPct val="150000"/>
              </a:lnSpc>
            </a:pPr>
            <a:r>
              <a:rPr lang="en-US" sz="2800" dirty="0">
                <a:latin typeface="Calibir"/>
              </a:rPr>
              <a:t>What NOT to Do</a:t>
            </a:r>
          </a:p>
          <a:p>
            <a:pPr marL="714375" indent="-457200">
              <a:lnSpc>
                <a:spcPct val="150000"/>
              </a:lnSpc>
              <a:buFont typeface="Arial" panose="020B0604020202020204" pitchFamily="34" charset="0"/>
              <a:buChar char="•"/>
            </a:pPr>
            <a:r>
              <a:rPr lang="en-US" sz="2800" dirty="0">
                <a:latin typeface="Calibir"/>
              </a:rPr>
              <a:t>Do not use Generative AI tools, external websites, or other </a:t>
            </a:r>
            <a:r>
              <a:rPr lang="en-US" sz="2800" dirty="0" err="1">
                <a:latin typeface="Calibir"/>
              </a:rPr>
              <a:t>unauthorised</a:t>
            </a:r>
            <a:r>
              <a:rPr lang="en-US" sz="2800" dirty="0">
                <a:latin typeface="Calibir"/>
              </a:rPr>
              <a:t> resources.</a:t>
            </a:r>
          </a:p>
          <a:p>
            <a:pPr marL="714375" indent="-457200">
              <a:lnSpc>
                <a:spcPct val="150000"/>
              </a:lnSpc>
              <a:buFont typeface="Arial" panose="020B0604020202020204" pitchFamily="34" charset="0"/>
              <a:buChar char="•"/>
            </a:pPr>
            <a:r>
              <a:rPr lang="en-US" sz="2800" dirty="0">
                <a:latin typeface="Calibir"/>
              </a:rPr>
              <a:t>Do not communicate or collaborate with other students during the quiz.</a:t>
            </a:r>
          </a:p>
          <a:p>
            <a:pPr marL="714375" indent="-457200">
              <a:lnSpc>
                <a:spcPct val="150000"/>
              </a:lnSpc>
              <a:buFont typeface="Arial" panose="020B0604020202020204" pitchFamily="34" charset="0"/>
              <a:buChar char="•"/>
            </a:pPr>
            <a:r>
              <a:rPr lang="en-US" sz="2800" dirty="0">
                <a:latin typeface="Calibir"/>
              </a:rPr>
              <a:t>Do not use a personal computer or other personal device.</a:t>
            </a:r>
          </a:p>
          <a:p>
            <a:pPr marL="714375" indent="-457200">
              <a:lnSpc>
                <a:spcPct val="150000"/>
              </a:lnSpc>
              <a:buFont typeface="Arial" panose="020B0604020202020204" pitchFamily="34" charset="0"/>
              <a:buChar char="•"/>
            </a:pPr>
            <a:r>
              <a:rPr lang="en-US" sz="2800" dirty="0">
                <a:latin typeface="Calibir"/>
              </a:rPr>
              <a:t>Do not execute code in an IDE.</a:t>
            </a:r>
          </a:p>
          <a:p>
            <a:pPr marL="714375" indent="-457200">
              <a:lnSpc>
                <a:spcPct val="150000"/>
              </a:lnSpc>
              <a:buFont typeface="Arial" panose="020B0604020202020204" pitchFamily="34" charset="0"/>
              <a:buChar char="•"/>
            </a:pPr>
            <a:r>
              <a:rPr lang="en-US" sz="2800" dirty="0">
                <a:latin typeface="Calibir"/>
              </a:rPr>
              <a:t>Remember: you have one attempt only.</a:t>
            </a:r>
          </a:p>
        </p:txBody>
      </p:sp>
    </p:spTree>
    <p:extLst>
      <p:ext uri="{BB962C8B-B14F-4D97-AF65-F5344CB8AC3E}">
        <p14:creationId xmlns:p14="http://schemas.microsoft.com/office/powerpoint/2010/main" val="2617151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6CC5B-C4DC-E3C8-360C-65C5225CE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4C7F0-A761-C365-22E9-A155E29A283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83E65C9-21C4-EB88-D99E-FDE04CF14E5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6BBF0BC-3143-AD1D-B432-D4DD9096B5DD}"/>
              </a:ext>
            </a:extLst>
          </p:cNvPr>
          <p:cNvSpPr txBox="1"/>
          <p:nvPr/>
        </p:nvSpPr>
        <p:spPr>
          <a:xfrm>
            <a:off x="0" y="2062810"/>
            <a:ext cx="11971282" cy="3903504"/>
          </a:xfrm>
          <a:prstGeom prst="rect">
            <a:avLst/>
          </a:prstGeom>
          <a:noFill/>
        </p:spPr>
        <p:txBody>
          <a:bodyPr wrap="square">
            <a:spAutoFit/>
          </a:bodyPr>
          <a:lstStyle/>
          <a:p>
            <a:pPr>
              <a:lnSpc>
                <a:spcPct val="150000"/>
              </a:lnSpc>
              <a:buNone/>
            </a:pPr>
            <a:r>
              <a:rPr lang="en-US" sz="2800" dirty="0">
                <a:latin typeface="Calibir"/>
              </a:rPr>
              <a:t>Which of the following best represents the relationship between </a:t>
            </a:r>
            <a:r>
              <a:rPr lang="en-US" sz="2800" i="1" dirty="0">
                <a:latin typeface="Calibir"/>
              </a:rPr>
              <a:t>Book Ride</a:t>
            </a:r>
            <a:r>
              <a:rPr lang="en-US" sz="2800" dirty="0">
                <a:latin typeface="Calibir"/>
              </a:rPr>
              <a:t> and </a:t>
            </a:r>
            <a:r>
              <a:rPr lang="en-US" sz="2800" i="1" dirty="0">
                <a:latin typeface="Calibir"/>
              </a:rPr>
              <a:t>Make Payment</a:t>
            </a:r>
            <a:r>
              <a:rPr lang="en-US" sz="2800" dirty="0">
                <a:latin typeface="Calibir"/>
              </a:rPr>
              <a:t> in a taxi app, assuming a payment is required for every booking?</a:t>
            </a:r>
          </a:p>
          <a:p>
            <a:pPr marL="914400" lvl="1" indent="-457200">
              <a:lnSpc>
                <a:spcPct val="150000"/>
              </a:lnSpc>
              <a:buFont typeface="Arial" panose="020B0604020202020204" pitchFamily="34" charset="0"/>
              <a:buChar char="•"/>
            </a:pPr>
            <a:r>
              <a:rPr lang="en-US" sz="2800" dirty="0">
                <a:latin typeface="Calibir"/>
              </a:rPr>
              <a:t>a) Extend</a:t>
            </a:r>
          </a:p>
          <a:p>
            <a:pPr marL="914400" lvl="1" indent="-457200">
              <a:lnSpc>
                <a:spcPct val="150000"/>
              </a:lnSpc>
              <a:buFont typeface="Arial" panose="020B0604020202020204" pitchFamily="34" charset="0"/>
              <a:buChar char="•"/>
            </a:pPr>
            <a:r>
              <a:rPr lang="en-US" sz="2800" dirty="0">
                <a:latin typeface="Calibir"/>
              </a:rPr>
              <a:t>b) Generalization</a:t>
            </a:r>
          </a:p>
          <a:p>
            <a:pPr marL="914400" lvl="1" indent="-457200">
              <a:lnSpc>
                <a:spcPct val="150000"/>
              </a:lnSpc>
              <a:buFont typeface="Arial" panose="020B0604020202020204" pitchFamily="34" charset="0"/>
              <a:buChar char="•"/>
            </a:pPr>
            <a:r>
              <a:rPr lang="en-US" sz="2800" dirty="0">
                <a:latin typeface="Calibir"/>
              </a:rPr>
              <a:t>c) Include</a:t>
            </a:r>
          </a:p>
          <a:p>
            <a:pPr marL="914400" lvl="1" indent="-457200">
              <a:lnSpc>
                <a:spcPct val="150000"/>
              </a:lnSpc>
              <a:buFont typeface="Arial" panose="020B0604020202020204" pitchFamily="34" charset="0"/>
              <a:buChar char="•"/>
            </a:pPr>
            <a:r>
              <a:rPr lang="en-US" sz="2800" dirty="0">
                <a:latin typeface="Calibir"/>
              </a:rPr>
              <a:t>d) Association</a:t>
            </a:r>
          </a:p>
        </p:txBody>
      </p:sp>
      <p:sp>
        <p:nvSpPr>
          <p:cNvPr id="5" name="TextBox 4">
            <a:extLst>
              <a:ext uri="{FF2B5EF4-FFF2-40B4-BE49-F238E27FC236}">
                <a16:creationId xmlns:a16="http://schemas.microsoft.com/office/drawing/2014/main" id="{C5D0FD1A-5727-C517-DB3F-AE5077AB1E7C}"/>
              </a:ext>
            </a:extLst>
          </p:cNvPr>
          <p:cNvSpPr txBox="1"/>
          <p:nvPr/>
        </p:nvSpPr>
        <p:spPr>
          <a:xfrm>
            <a:off x="3790335" y="3600826"/>
            <a:ext cx="8401665" cy="3086871"/>
          </a:xfrm>
          <a:prstGeom prst="rect">
            <a:avLst/>
          </a:prstGeom>
          <a:noFill/>
        </p:spPr>
        <p:txBody>
          <a:bodyPr wrap="square">
            <a:spAutoFit/>
          </a:bodyPr>
          <a:lstStyle/>
          <a:p>
            <a:pPr>
              <a:lnSpc>
                <a:spcPct val="150000"/>
              </a:lnSpc>
            </a:pPr>
            <a:r>
              <a:rPr lang="en-US" sz="2200" dirty="0">
                <a:latin typeface="Calibir"/>
              </a:rPr>
              <a:t>In UML use case diagrams, “</a:t>
            </a:r>
            <a:r>
              <a:rPr lang="en-US" sz="2200" b="1" dirty="0">
                <a:latin typeface="Calibir"/>
              </a:rPr>
              <a:t>include</a:t>
            </a:r>
            <a:r>
              <a:rPr lang="en-US" sz="2200" dirty="0">
                <a:latin typeface="Calibir"/>
              </a:rPr>
              <a:t>” means the base use case (Book Ride) always depends on and calls the included use case (Make Payment). Since payment is a required step in completing any booking, it cannot be skipped.</a:t>
            </a:r>
          </a:p>
          <a:p>
            <a:pPr>
              <a:lnSpc>
                <a:spcPct val="150000"/>
              </a:lnSpc>
            </a:pPr>
            <a:r>
              <a:rPr lang="en-US" sz="2200" dirty="0">
                <a:latin typeface="Calibir"/>
              </a:rPr>
              <a:t>So: Book Ride includes Make Payment, because booking is not complete without payment.</a:t>
            </a:r>
          </a:p>
        </p:txBody>
      </p:sp>
    </p:spTree>
    <p:extLst>
      <p:ext uri="{BB962C8B-B14F-4D97-AF65-F5344CB8AC3E}">
        <p14:creationId xmlns:p14="http://schemas.microsoft.com/office/powerpoint/2010/main" val="84289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3C07-7886-674C-E855-EF586C36F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57EC4-3DA8-A5BF-3952-2865E8A607F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CE831FD-5DEF-7A64-3052-968F8733B978}"/>
              </a:ext>
            </a:extLst>
          </p:cNvPr>
          <p:cNvSpPr txBox="1"/>
          <p:nvPr/>
        </p:nvSpPr>
        <p:spPr>
          <a:xfrm>
            <a:off x="0" y="796161"/>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A1F75BD0-8A93-56F2-5BC0-34D8800AA1C8}"/>
              </a:ext>
            </a:extLst>
          </p:cNvPr>
          <p:cNvSpPr txBox="1"/>
          <p:nvPr/>
        </p:nvSpPr>
        <p:spPr>
          <a:xfrm>
            <a:off x="0" y="1471602"/>
            <a:ext cx="11971282" cy="4549835"/>
          </a:xfrm>
          <a:prstGeom prst="rect">
            <a:avLst/>
          </a:prstGeom>
          <a:noFill/>
        </p:spPr>
        <p:txBody>
          <a:bodyPr wrap="square">
            <a:spAutoFit/>
          </a:bodyPr>
          <a:lstStyle/>
          <a:p>
            <a:pPr>
              <a:lnSpc>
                <a:spcPct val="150000"/>
              </a:lnSpc>
            </a:pPr>
            <a:r>
              <a:rPr lang="en-US" sz="2800" dirty="0">
                <a:latin typeface="Calibir"/>
              </a:rPr>
              <a:t>In a video game, </a:t>
            </a:r>
            <a:r>
              <a:rPr lang="en-US" sz="2800" dirty="0" err="1">
                <a:latin typeface="Calibir"/>
              </a:rPr>
              <a:t>MiniMap</a:t>
            </a:r>
            <a:r>
              <a:rPr lang="en-US" sz="2800" dirty="0">
                <a:latin typeface="Calibir"/>
              </a:rPr>
              <a:t> and Inventory are separate classes that communicate with each other to update information displayed to the player. Which UML relationship best represents their connection?</a:t>
            </a:r>
          </a:p>
          <a:p>
            <a:pPr>
              <a:lnSpc>
                <a:spcPct val="150000"/>
              </a:lnSpc>
            </a:pPr>
            <a:r>
              <a:rPr lang="en-US" sz="2800" dirty="0">
                <a:latin typeface="Calibir"/>
              </a:rPr>
              <a:t>a) Generalization</a:t>
            </a:r>
            <a:br>
              <a:rPr lang="en-US" sz="2800" dirty="0">
                <a:latin typeface="Calibir"/>
              </a:rPr>
            </a:br>
            <a:r>
              <a:rPr lang="en-US" sz="2800" dirty="0">
                <a:latin typeface="Calibir"/>
              </a:rPr>
              <a:t>b) Aggregation</a:t>
            </a:r>
            <a:br>
              <a:rPr lang="en-US" sz="2800" dirty="0">
                <a:latin typeface="Calibir"/>
              </a:rPr>
            </a:br>
            <a:r>
              <a:rPr lang="en-US" sz="2800" dirty="0">
                <a:latin typeface="Calibir"/>
              </a:rPr>
              <a:t>c) Association</a:t>
            </a:r>
            <a:br>
              <a:rPr lang="en-US" sz="2800" dirty="0">
                <a:latin typeface="Calibir"/>
              </a:rPr>
            </a:br>
            <a:r>
              <a:rPr lang="en-US" sz="2800" dirty="0">
                <a:latin typeface="Calibir"/>
              </a:rPr>
              <a:t>d) Multiplicity (1..*)</a:t>
            </a:r>
          </a:p>
        </p:txBody>
      </p:sp>
      <p:sp>
        <p:nvSpPr>
          <p:cNvPr id="3" name="TextBox 2">
            <a:extLst>
              <a:ext uri="{FF2B5EF4-FFF2-40B4-BE49-F238E27FC236}">
                <a16:creationId xmlns:a16="http://schemas.microsoft.com/office/drawing/2014/main" id="{313B6962-3F1A-8DA6-04F7-FC7415D9FFBD}"/>
              </a:ext>
            </a:extLst>
          </p:cNvPr>
          <p:cNvSpPr txBox="1"/>
          <p:nvPr/>
        </p:nvSpPr>
        <p:spPr>
          <a:xfrm>
            <a:off x="3856704" y="3600825"/>
            <a:ext cx="8335296"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Association represents a relationship between two separate classes whose objects interact or communicate.</a:t>
            </a:r>
          </a:p>
          <a:p>
            <a:pPr marL="457200" indent="-457200">
              <a:lnSpc>
                <a:spcPct val="150000"/>
              </a:lnSpc>
              <a:buFont typeface="Arial" panose="020B0604020202020204" pitchFamily="34" charset="0"/>
              <a:buChar char="•"/>
            </a:pPr>
            <a:r>
              <a:rPr lang="en-US" sz="2800" dirty="0" err="1">
                <a:latin typeface="Calibir"/>
              </a:rPr>
              <a:t>MiniMap</a:t>
            </a:r>
            <a:r>
              <a:rPr lang="en-US" sz="2800" dirty="0">
                <a:latin typeface="Calibir"/>
              </a:rPr>
              <a:t> is not a </a:t>
            </a:r>
            <a:r>
              <a:rPr lang="en-US" sz="2800" dirty="0" err="1">
                <a:latin typeface="Calibir"/>
              </a:rPr>
              <a:t>specialised</a:t>
            </a:r>
            <a:r>
              <a:rPr lang="en-US" sz="2800" dirty="0">
                <a:latin typeface="Calibir"/>
              </a:rPr>
              <a:t> type of Inventory, so it is not generalization.</a:t>
            </a:r>
          </a:p>
        </p:txBody>
      </p:sp>
      <p:sp>
        <p:nvSpPr>
          <p:cNvPr id="7" name="Rectangle: Rounded Corners 6">
            <a:extLst>
              <a:ext uri="{FF2B5EF4-FFF2-40B4-BE49-F238E27FC236}">
                <a16:creationId xmlns:a16="http://schemas.microsoft.com/office/drawing/2014/main" id="{E8942BFB-772A-3A37-7556-6BA2403CD424}"/>
              </a:ext>
            </a:extLst>
          </p:cNvPr>
          <p:cNvSpPr/>
          <p:nvPr/>
        </p:nvSpPr>
        <p:spPr>
          <a:xfrm>
            <a:off x="0" y="4852219"/>
            <a:ext cx="2271252" cy="53417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197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E1D91-AAC2-AF1C-743E-E39D97A4C6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79DABB-FB03-18E8-A717-6833927617C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A6216DBE-682F-3837-A04D-68F69A9E8CAA}"/>
              </a:ext>
            </a:extLst>
          </p:cNvPr>
          <p:cNvSpPr txBox="1"/>
          <p:nvPr/>
        </p:nvSpPr>
        <p:spPr>
          <a:xfrm>
            <a:off x="0" y="796161"/>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E5D41ED6-9670-44D0-81AE-477E568DCF48}"/>
              </a:ext>
            </a:extLst>
          </p:cNvPr>
          <p:cNvSpPr txBox="1"/>
          <p:nvPr/>
        </p:nvSpPr>
        <p:spPr>
          <a:xfrm>
            <a:off x="0" y="1471602"/>
            <a:ext cx="11971282" cy="4549835"/>
          </a:xfrm>
          <a:prstGeom prst="rect">
            <a:avLst/>
          </a:prstGeom>
          <a:noFill/>
        </p:spPr>
        <p:txBody>
          <a:bodyPr wrap="square">
            <a:spAutoFit/>
          </a:bodyPr>
          <a:lstStyle/>
          <a:p>
            <a:pPr>
              <a:lnSpc>
                <a:spcPct val="150000"/>
              </a:lnSpc>
            </a:pPr>
            <a:r>
              <a:rPr lang="en-US" sz="2800" dirty="0">
                <a:latin typeface="Calibir"/>
              </a:rPr>
              <a:t>In a video game, </a:t>
            </a:r>
            <a:r>
              <a:rPr lang="en-US" sz="2800" dirty="0" err="1">
                <a:latin typeface="Calibir"/>
              </a:rPr>
              <a:t>MiniMap</a:t>
            </a:r>
            <a:r>
              <a:rPr lang="en-US" sz="2800" dirty="0">
                <a:latin typeface="Calibir"/>
              </a:rPr>
              <a:t> and Inventory are separate classes that communicate with each other to update information displayed to the player. Which UML relationship best represents their connection?</a:t>
            </a:r>
          </a:p>
          <a:p>
            <a:pPr>
              <a:lnSpc>
                <a:spcPct val="150000"/>
              </a:lnSpc>
            </a:pPr>
            <a:r>
              <a:rPr lang="en-US" sz="2800" dirty="0">
                <a:latin typeface="Calibir"/>
              </a:rPr>
              <a:t>a) Generalization</a:t>
            </a:r>
            <a:br>
              <a:rPr lang="en-US" sz="2800" dirty="0">
                <a:latin typeface="Calibir"/>
              </a:rPr>
            </a:br>
            <a:r>
              <a:rPr lang="en-US" sz="2800" dirty="0">
                <a:latin typeface="Calibir"/>
              </a:rPr>
              <a:t>b) Aggregation</a:t>
            </a:r>
            <a:br>
              <a:rPr lang="en-US" sz="2800" dirty="0">
                <a:latin typeface="Calibir"/>
              </a:rPr>
            </a:br>
            <a:r>
              <a:rPr lang="en-US" sz="2800" dirty="0">
                <a:latin typeface="Calibir"/>
              </a:rPr>
              <a:t>c) Association</a:t>
            </a:r>
            <a:br>
              <a:rPr lang="en-US" sz="2800" dirty="0">
                <a:latin typeface="Calibir"/>
              </a:rPr>
            </a:br>
            <a:r>
              <a:rPr lang="en-US" sz="2800" dirty="0">
                <a:latin typeface="Calibir"/>
              </a:rPr>
              <a:t>d) Multiplicity (1..*)</a:t>
            </a:r>
          </a:p>
        </p:txBody>
      </p:sp>
      <p:sp>
        <p:nvSpPr>
          <p:cNvPr id="3" name="TextBox 2">
            <a:extLst>
              <a:ext uri="{FF2B5EF4-FFF2-40B4-BE49-F238E27FC236}">
                <a16:creationId xmlns:a16="http://schemas.microsoft.com/office/drawing/2014/main" id="{6253DB69-DA71-A7C5-A605-7F7E64502210}"/>
              </a:ext>
            </a:extLst>
          </p:cNvPr>
          <p:cNvSpPr txBox="1"/>
          <p:nvPr/>
        </p:nvSpPr>
        <p:spPr>
          <a:xfrm>
            <a:off x="3856704" y="3600825"/>
            <a:ext cx="8335296"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Neither class is described as a part of the other, so it is not aggregation.</a:t>
            </a:r>
          </a:p>
          <a:p>
            <a:pPr marL="457200" indent="-457200">
              <a:lnSpc>
                <a:spcPct val="150000"/>
              </a:lnSpc>
              <a:buFont typeface="Arial" panose="020B0604020202020204" pitchFamily="34" charset="0"/>
              <a:buChar char="•"/>
            </a:pPr>
            <a:r>
              <a:rPr lang="en-US" sz="2800" dirty="0">
                <a:latin typeface="Calibir"/>
              </a:rPr>
              <a:t>Multiplicity (e.g., 1..*) describes how many objects participate in a relationship; it is not a relationship type itself.</a:t>
            </a:r>
          </a:p>
        </p:txBody>
      </p:sp>
      <p:sp>
        <p:nvSpPr>
          <p:cNvPr id="7" name="Rectangle: Rounded Corners 6">
            <a:extLst>
              <a:ext uri="{FF2B5EF4-FFF2-40B4-BE49-F238E27FC236}">
                <a16:creationId xmlns:a16="http://schemas.microsoft.com/office/drawing/2014/main" id="{5C76FDB2-1ADE-0545-93EA-0D6DA3EFC3F7}"/>
              </a:ext>
            </a:extLst>
          </p:cNvPr>
          <p:cNvSpPr/>
          <p:nvPr/>
        </p:nvSpPr>
        <p:spPr>
          <a:xfrm>
            <a:off x="0" y="4852219"/>
            <a:ext cx="2271252" cy="53417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637042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710C-6242-71F3-0661-04AB508CEB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E24B3E-0AA6-082D-90E3-DB131F60A04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0CB2BD43-BFDE-149A-83ED-4BCD7FCAEBB9}"/>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9203B56-BFB6-473F-6EDA-9914D5097E77}"/>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
        <p:nvSpPr>
          <p:cNvPr id="5" name="TextBox 4">
            <a:extLst>
              <a:ext uri="{FF2B5EF4-FFF2-40B4-BE49-F238E27FC236}">
                <a16:creationId xmlns:a16="http://schemas.microsoft.com/office/drawing/2014/main" id="{EC3F19BE-951C-6D91-3582-36F47DD537A9}"/>
              </a:ext>
            </a:extLst>
          </p:cNvPr>
          <p:cNvSpPr txBox="1"/>
          <p:nvPr/>
        </p:nvSpPr>
        <p:spPr>
          <a:xfrm>
            <a:off x="3856704" y="3407216"/>
            <a:ext cx="8335296" cy="3359061"/>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dirty="0">
                <a:latin typeface="Calibir"/>
              </a:rPr>
              <a:t>There is no "whole–part" relationship (so not Aggregation), and neither one is a specialized form of the other (so not Generalization). Multiplicity (1..*) just describes how many instances exist but is not itself a relationship type.</a:t>
            </a:r>
          </a:p>
          <a:p>
            <a:pPr>
              <a:lnSpc>
                <a:spcPct val="150000"/>
              </a:lnSpc>
              <a:buNone/>
            </a:pPr>
            <a:r>
              <a:rPr lang="en-US" sz="2400" dirty="0">
                <a:latin typeface="Calibir"/>
              </a:rPr>
              <a:t>Therefore, the correct choice is Association, since </a:t>
            </a:r>
            <a:r>
              <a:rPr lang="en-US" sz="2400" dirty="0" err="1">
                <a:latin typeface="Calibir"/>
              </a:rPr>
              <a:t>MiniMap</a:t>
            </a:r>
            <a:r>
              <a:rPr lang="en-US" sz="2400" dirty="0">
                <a:latin typeface="Calibir"/>
              </a:rPr>
              <a:t> and Inventory are just linked as separate features shown together.</a:t>
            </a:r>
          </a:p>
        </p:txBody>
      </p:sp>
    </p:spTree>
    <p:extLst>
      <p:ext uri="{BB962C8B-B14F-4D97-AF65-F5344CB8AC3E}">
        <p14:creationId xmlns:p14="http://schemas.microsoft.com/office/powerpoint/2010/main" val="14442192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6DD6D-682C-D3F0-BA4B-A56A9FC9D9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4DA35-2342-8B56-39BA-4005B6A8498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D6752C2-10E0-6E3B-E2EF-3CACF3974A9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58F3281-D457-FE3A-C85A-0CD40AB24727}"/>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06C14EC1-CE55-1AE1-CC1D-29BCD18AC03F}"/>
              </a:ext>
            </a:extLst>
          </p:cNvPr>
          <p:cNvSpPr txBox="1"/>
          <p:nvPr/>
        </p:nvSpPr>
        <p:spPr>
          <a:xfrm>
            <a:off x="3185652" y="2785828"/>
            <a:ext cx="9006348" cy="407226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ir"/>
              </a:rPr>
              <a:t>In UML use case diagrams, a line connecting an actor (like a user) to a use case (like “Book Ride”) is an association.</a:t>
            </a:r>
          </a:p>
          <a:p>
            <a:pPr marL="342900" indent="-342900">
              <a:lnSpc>
                <a:spcPct val="150000"/>
              </a:lnSpc>
              <a:buFont typeface="Arial" panose="020B0604020202020204" pitchFamily="34" charset="0"/>
              <a:buChar char="•"/>
            </a:pPr>
            <a:r>
              <a:rPr lang="en-US" sz="2500" dirty="0">
                <a:latin typeface="Calibir"/>
              </a:rPr>
              <a:t>This shows the actor participates in or interacts with that use case.</a:t>
            </a:r>
          </a:p>
          <a:p>
            <a:pPr marL="342900" indent="-342900">
              <a:lnSpc>
                <a:spcPct val="150000"/>
              </a:lnSpc>
              <a:buFont typeface="Arial" panose="020B0604020202020204" pitchFamily="34" charset="0"/>
              <a:buChar char="•"/>
            </a:pPr>
            <a:r>
              <a:rPr lang="en-US" sz="2500" dirty="0">
                <a:latin typeface="Calibir"/>
              </a:rPr>
              <a:t>The other options (include, extend, generalization) describe relationships between use cases, not between an actor and a use case.</a:t>
            </a:r>
          </a:p>
        </p:txBody>
      </p:sp>
    </p:spTree>
    <p:extLst>
      <p:ext uri="{BB962C8B-B14F-4D97-AF65-F5344CB8AC3E}">
        <p14:creationId xmlns:p14="http://schemas.microsoft.com/office/powerpoint/2010/main" val="374209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92FE2-FACF-D233-38E3-05FF82096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79AA-74C3-5ABE-9513-B94E42A3E5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72FF746-70EC-C73F-3106-E854274A5DF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5C77791-0B3C-8E0F-0D42-22EBDFDDAEA4}"/>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
        <p:nvSpPr>
          <p:cNvPr id="5" name="TextBox 4">
            <a:extLst>
              <a:ext uri="{FF2B5EF4-FFF2-40B4-BE49-F238E27FC236}">
                <a16:creationId xmlns:a16="http://schemas.microsoft.com/office/drawing/2014/main" id="{E60A7132-97C1-BE9A-0F43-B6462DBA0F62}"/>
              </a:ext>
            </a:extLst>
          </p:cNvPr>
          <p:cNvSpPr txBox="1"/>
          <p:nvPr/>
        </p:nvSpPr>
        <p:spPr>
          <a:xfrm>
            <a:off x="3185652" y="2785828"/>
            <a:ext cx="9006348" cy="1321772"/>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So: An actor is connected to a use case with an Association relationship.</a:t>
            </a:r>
            <a:endParaRPr lang="en-US" sz="2500" dirty="0">
              <a:latin typeface="Calibir"/>
            </a:endParaRPr>
          </a:p>
        </p:txBody>
      </p:sp>
    </p:spTree>
    <p:extLst>
      <p:ext uri="{BB962C8B-B14F-4D97-AF65-F5344CB8AC3E}">
        <p14:creationId xmlns:p14="http://schemas.microsoft.com/office/powerpoint/2010/main" val="20126361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ECE74-B2CC-7D82-3375-75584109D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ADB4AC-B358-7F1D-6743-6B9705186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0B1247-BE30-6493-7D04-287C22BF1BD1}"/>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84D6FB3-8FCA-E2A9-5BA1-BBE6CBFD86B8}"/>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72DD306C-EF7F-92A4-A030-16A620B66F86}"/>
              </a:ext>
            </a:extLst>
          </p:cNvPr>
          <p:cNvSpPr txBox="1"/>
          <p:nvPr/>
        </p:nvSpPr>
        <p:spPr>
          <a:xfrm>
            <a:off x="5515896" y="1968342"/>
            <a:ext cx="6676103"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The relationship described is that one quest can give multiple bonus items.</a:t>
            </a:r>
          </a:p>
          <a:p>
            <a:pPr marL="342900" indent="-342900">
              <a:lnSpc>
                <a:spcPct val="150000"/>
              </a:lnSpc>
              <a:buFont typeface="Arial" panose="020B0604020202020204" pitchFamily="34" charset="0"/>
              <a:buChar char="•"/>
            </a:pPr>
            <a:r>
              <a:rPr lang="en-US" sz="2800" dirty="0">
                <a:latin typeface="Calibir"/>
              </a:rPr>
              <a:t>That is a one-to-many association (1..*) in UML.</a:t>
            </a:r>
          </a:p>
        </p:txBody>
      </p:sp>
    </p:spTree>
    <p:extLst>
      <p:ext uri="{BB962C8B-B14F-4D97-AF65-F5344CB8AC3E}">
        <p14:creationId xmlns:p14="http://schemas.microsoft.com/office/powerpoint/2010/main" val="249094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1B08F-8E74-160B-03A0-FA47C7392B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B4739-B3D3-2B96-FA06-7251002D7F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95400F3-1EC6-48C8-1387-D023F09133B7}"/>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207D320-0799-CD28-F552-62CB866526D9}"/>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4463C050-0192-DA17-C992-9E0B8F52F3E1}"/>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It’s not inheritance (because </a:t>
            </a:r>
            <a:r>
              <a:rPr lang="en-US" sz="2800" dirty="0" err="1">
                <a:latin typeface="Calibir"/>
              </a:rPr>
              <a:t>BonusItem</a:t>
            </a:r>
            <a:r>
              <a:rPr lang="en-US" sz="2800" dirty="0">
                <a:latin typeface="Calibir"/>
              </a:rPr>
              <a:t> is not a subtype of Quest), and not use dependency (because </a:t>
            </a:r>
            <a:r>
              <a:rPr lang="en-US" sz="2800" dirty="0" err="1">
                <a:latin typeface="Calibir"/>
              </a:rPr>
              <a:t>BonusItems</a:t>
            </a:r>
            <a:r>
              <a:rPr lang="en-US" sz="2800" dirty="0">
                <a:latin typeface="Calibir"/>
              </a:rPr>
              <a:t> don’t define behavior of Quest, they are just rewards).</a:t>
            </a:r>
          </a:p>
        </p:txBody>
      </p:sp>
    </p:spTree>
    <p:extLst>
      <p:ext uri="{BB962C8B-B14F-4D97-AF65-F5344CB8AC3E}">
        <p14:creationId xmlns:p14="http://schemas.microsoft.com/office/powerpoint/2010/main" val="10156874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CCC68-F756-D646-70AD-0802E0A3E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27081-DAB8-F360-1F14-CD7FED0F6CC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1C85FAC-71E9-CECA-2048-2449681CCEE2}"/>
              </a:ext>
            </a:extLst>
          </p:cNvPr>
          <p:cNvSpPr txBox="1"/>
          <p:nvPr/>
        </p:nvSpPr>
        <p:spPr>
          <a:xfrm>
            <a:off x="0" y="719238"/>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0995FDB8-1B1D-4487-1692-CEF0A87F5156}"/>
              </a:ext>
            </a:extLst>
          </p:cNvPr>
          <p:cNvSpPr txBox="1"/>
          <p:nvPr/>
        </p:nvSpPr>
        <p:spPr>
          <a:xfrm>
            <a:off x="0" y="1330408"/>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
        <p:nvSpPr>
          <p:cNvPr id="5" name="TextBox 4">
            <a:extLst>
              <a:ext uri="{FF2B5EF4-FFF2-40B4-BE49-F238E27FC236}">
                <a16:creationId xmlns:a16="http://schemas.microsoft.com/office/drawing/2014/main" id="{2B02AF5E-85C8-DC25-D7FB-6747A1A02466}"/>
              </a:ext>
            </a:extLst>
          </p:cNvPr>
          <p:cNvSpPr txBox="1"/>
          <p:nvPr/>
        </p:nvSpPr>
        <p:spPr>
          <a:xfrm>
            <a:off x="5515896" y="1968342"/>
            <a:ext cx="6676103" cy="32571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Option b would mean the reverse (many quests give only one item), which doesn’t match the description.</a:t>
            </a:r>
          </a:p>
          <a:p>
            <a:pPr>
              <a:lnSpc>
                <a:spcPct val="150000"/>
              </a:lnSpc>
              <a:buNone/>
            </a:pPr>
            <a:r>
              <a:rPr lang="en-US" sz="2800" dirty="0">
                <a:latin typeface="Calibir"/>
              </a:rPr>
              <a:t>So the diagram is 1 Quest → many </a:t>
            </a:r>
            <a:r>
              <a:rPr lang="en-US" sz="2800" dirty="0" err="1">
                <a:latin typeface="Calibir"/>
              </a:rPr>
              <a:t>BonusItems</a:t>
            </a:r>
            <a:r>
              <a:rPr lang="en-US" sz="2800" dirty="0">
                <a:latin typeface="Calibir"/>
              </a:rPr>
              <a:t> (one-to-many association).</a:t>
            </a:r>
          </a:p>
        </p:txBody>
      </p:sp>
    </p:spTree>
    <p:extLst>
      <p:ext uri="{BB962C8B-B14F-4D97-AF65-F5344CB8AC3E}">
        <p14:creationId xmlns:p14="http://schemas.microsoft.com/office/powerpoint/2010/main" val="41703186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44EA0-B316-A154-6349-BDC7B2069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A73EA-7105-797B-4060-7F1F191702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9CE4927-0B13-1237-F790-8F83948B6732}"/>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5EB4473D-CCC4-B02D-0B68-7E27FC1C9704}"/>
              </a:ext>
            </a:extLst>
          </p:cNvPr>
          <p:cNvSpPr txBox="1"/>
          <p:nvPr/>
        </p:nvSpPr>
        <p:spPr>
          <a:xfrm>
            <a:off x="7580671" y="818157"/>
            <a:ext cx="4611329" cy="261084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Procedural programming</a:t>
            </a:r>
            <a:r>
              <a:rPr lang="en-US" sz="2800" dirty="0">
                <a:latin typeface="Calibir"/>
              </a:rPr>
              <a:t> is step-by-step, with functions and procedures operating on data separately.</a:t>
            </a:r>
          </a:p>
        </p:txBody>
      </p:sp>
    </p:spTree>
    <p:extLst>
      <p:ext uri="{BB962C8B-B14F-4D97-AF65-F5344CB8AC3E}">
        <p14:creationId xmlns:p14="http://schemas.microsoft.com/office/powerpoint/2010/main" val="373253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8CBA6-EE69-C216-6F86-72B1F69858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C72C3-9FEB-ECBD-1BFE-42382000735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AAF40686-2A8F-CABE-39D2-EE2BAE2F746E}"/>
              </a:ext>
            </a:extLst>
          </p:cNvPr>
          <p:cNvSpPr txBox="1"/>
          <p:nvPr/>
        </p:nvSpPr>
        <p:spPr>
          <a:xfrm>
            <a:off x="0" y="830917"/>
            <a:ext cx="7742903"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66BEB347-1190-6437-0F40-46C3E72CCFA2}"/>
              </a:ext>
            </a:extLst>
          </p:cNvPr>
          <p:cNvSpPr txBox="1"/>
          <p:nvPr/>
        </p:nvSpPr>
        <p:spPr>
          <a:xfrm>
            <a:off x="7580671" y="830917"/>
            <a:ext cx="4611329" cy="45498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b="1" dirty="0">
                <a:latin typeface="Calibir"/>
              </a:rPr>
              <a:t>Object-oriented programming (OOP)</a:t>
            </a:r>
            <a:r>
              <a:rPr lang="en-US" sz="2800" dirty="0">
                <a:latin typeface="Calibir"/>
              </a:rPr>
              <a:t> groups both data </a:t>
            </a:r>
            <a:r>
              <a:rPr lang="en-US" sz="2800" b="1" dirty="0">
                <a:latin typeface="Calibir"/>
              </a:rPr>
              <a:t>and</a:t>
            </a:r>
            <a:r>
              <a:rPr lang="en-US" sz="2800" dirty="0">
                <a:latin typeface="Calibir"/>
              </a:rPr>
              <a:t> behavior together inside classes and objects, making code reusable and easier to manage.</a:t>
            </a:r>
          </a:p>
        </p:txBody>
      </p:sp>
    </p:spTree>
    <p:extLst>
      <p:ext uri="{BB962C8B-B14F-4D97-AF65-F5344CB8AC3E}">
        <p14:creationId xmlns:p14="http://schemas.microsoft.com/office/powerpoint/2010/main" val="2750711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C7838-B41B-7EDC-D30B-10624C41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E82E8-8B1E-9983-FC43-BD1F040351F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F2EBE42F-967F-5694-9C32-F5A9D7304FDE}"/>
              </a:ext>
            </a:extLst>
          </p:cNvPr>
          <p:cNvSpPr txBox="1"/>
          <p:nvPr/>
        </p:nvSpPr>
        <p:spPr>
          <a:xfrm>
            <a:off x="0" y="830917"/>
            <a:ext cx="7329949" cy="5196166"/>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
        <p:nvSpPr>
          <p:cNvPr id="5" name="TextBox 4">
            <a:extLst>
              <a:ext uri="{FF2B5EF4-FFF2-40B4-BE49-F238E27FC236}">
                <a16:creationId xmlns:a16="http://schemas.microsoft.com/office/drawing/2014/main" id="{C942EF13-149C-2537-1FD9-3F207D794555}"/>
              </a:ext>
            </a:extLst>
          </p:cNvPr>
          <p:cNvSpPr txBox="1"/>
          <p:nvPr/>
        </p:nvSpPr>
        <p:spPr>
          <a:xfrm>
            <a:off x="7329949" y="830917"/>
            <a:ext cx="4862052" cy="613385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200" dirty="0">
                <a:latin typeface="Calibir"/>
              </a:rPr>
              <a:t>The other options are incorrect because:</a:t>
            </a:r>
          </a:p>
          <a:p>
            <a:pPr marL="742950" lvl="1" indent="-285750">
              <a:lnSpc>
                <a:spcPct val="150000"/>
              </a:lnSpc>
              <a:buFont typeface="Arial" panose="020B0604020202020204" pitchFamily="34" charset="0"/>
              <a:buChar char="•"/>
            </a:pPr>
            <a:r>
              <a:rPr lang="en-US" sz="2200" dirty="0">
                <a:latin typeface="Calibir"/>
              </a:rPr>
              <a:t>(b) Procedural does not hide data in classes (that’s OOP’s job).</a:t>
            </a:r>
          </a:p>
          <a:p>
            <a:pPr marL="742950" lvl="1" indent="-285750">
              <a:lnSpc>
                <a:spcPct val="150000"/>
              </a:lnSpc>
              <a:buFont typeface="Arial" panose="020B0604020202020204" pitchFamily="34" charset="0"/>
              <a:buChar char="•"/>
            </a:pPr>
            <a:r>
              <a:rPr lang="en-US" sz="2200" dirty="0">
                <a:latin typeface="Calibir"/>
              </a:rPr>
              <a:t>(c) OOP does not automatically share all global variables between methods.</a:t>
            </a:r>
          </a:p>
          <a:p>
            <a:pPr marL="742950" lvl="1" indent="-285750">
              <a:lnSpc>
                <a:spcPct val="150000"/>
              </a:lnSpc>
              <a:buFont typeface="Arial" panose="020B0604020202020204" pitchFamily="34" charset="0"/>
              <a:buChar char="•"/>
            </a:pPr>
            <a:r>
              <a:rPr lang="en-US" sz="2200" dirty="0">
                <a:latin typeface="Calibir"/>
              </a:rPr>
              <a:t>(d) Procedural and OOP are not identical.</a:t>
            </a:r>
          </a:p>
          <a:p>
            <a:pPr>
              <a:lnSpc>
                <a:spcPct val="150000"/>
              </a:lnSpc>
              <a:buNone/>
            </a:pPr>
            <a:r>
              <a:rPr lang="en-US" sz="2200" dirty="0">
                <a:latin typeface="Calibir"/>
              </a:rPr>
              <a:t>So, the key difference: OOP = classes and objects; Procedural = functions and steps.</a:t>
            </a:r>
          </a:p>
        </p:txBody>
      </p:sp>
    </p:spTree>
    <p:extLst>
      <p:ext uri="{BB962C8B-B14F-4D97-AF65-F5344CB8AC3E}">
        <p14:creationId xmlns:p14="http://schemas.microsoft.com/office/powerpoint/2010/main" val="16460136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B60FA-E552-AD32-76F3-12B112DB28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78D633-05E7-A157-5A50-B22F0E4C5B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1524F2-C631-23FA-2E23-64DACDDA1FFD}"/>
              </a:ext>
            </a:extLst>
          </p:cNvPr>
          <p:cNvSpPr txBox="1"/>
          <p:nvPr/>
        </p:nvSpPr>
        <p:spPr>
          <a:xfrm>
            <a:off x="0" y="756745"/>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3984E34-8BC9-73F4-4E20-E47B31CC77DB}"/>
              </a:ext>
            </a:extLst>
          </p:cNvPr>
          <p:cNvSpPr txBox="1"/>
          <p:nvPr/>
        </p:nvSpPr>
        <p:spPr>
          <a:xfrm>
            <a:off x="0" y="1395222"/>
            <a:ext cx="5065986" cy="5196166"/>
          </a:xfrm>
          <a:prstGeom prst="rect">
            <a:avLst/>
          </a:prstGeom>
          <a:noFill/>
        </p:spPr>
        <p:txBody>
          <a:bodyPr wrap="square">
            <a:spAutoFit/>
          </a:bodyPr>
          <a:lstStyle/>
          <a:p>
            <a:pPr>
              <a:lnSpc>
                <a:spcPct val="150000"/>
              </a:lnSpc>
            </a:pPr>
            <a:r>
              <a:rPr lang="en-US" sz="2800" dirty="0">
                <a:latin typeface="Calibir"/>
              </a:rPr>
              <a:t>Which of the following OOP principles are supported by Python?</a:t>
            </a:r>
          </a:p>
          <a:p>
            <a:pPr>
              <a:lnSpc>
                <a:spcPct val="150000"/>
              </a:lnSpc>
            </a:pPr>
            <a:r>
              <a:rPr lang="en-US" sz="2800" dirty="0">
                <a:latin typeface="Calibir"/>
              </a:rPr>
              <a:t>a) Encapsulation</a:t>
            </a:r>
            <a:br>
              <a:rPr lang="en-US" sz="2800" dirty="0">
                <a:latin typeface="Calibir"/>
              </a:rPr>
            </a:br>
            <a:r>
              <a:rPr lang="en-US" sz="2800" dirty="0">
                <a:latin typeface="Calibir"/>
              </a:rPr>
              <a:t>b) Inheritance</a:t>
            </a:r>
            <a:br>
              <a:rPr lang="en-US" sz="2800" dirty="0">
                <a:latin typeface="Calibir"/>
              </a:rPr>
            </a:br>
            <a:r>
              <a:rPr lang="en-US" sz="2800" dirty="0">
                <a:latin typeface="Calibir"/>
              </a:rPr>
              <a:t>c) Polymorphism</a:t>
            </a:r>
            <a:br>
              <a:rPr lang="en-US" sz="2800" dirty="0">
                <a:latin typeface="Calibir"/>
              </a:rPr>
            </a:br>
            <a:r>
              <a:rPr lang="en-US" sz="2800" dirty="0">
                <a:latin typeface="Calibir"/>
              </a:rPr>
              <a:t>d) Abstraction</a:t>
            </a:r>
            <a:br>
              <a:rPr lang="en-US" sz="2800" dirty="0">
                <a:latin typeface="Calibir"/>
              </a:rPr>
            </a:br>
            <a:r>
              <a:rPr lang="en-US" sz="2800" dirty="0">
                <a:latin typeface="Calibir"/>
              </a:rPr>
              <a:t>e) All of the above</a:t>
            </a:r>
          </a:p>
        </p:txBody>
      </p:sp>
      <p:sp>
        <p:nvSpPr>
          <p:cNvPr id="5" name="TextBox 4">
            <a:extLst>
              <a:ext uri="{FF2B5EF4-FFF2-40B4-BE49-F238E27FC236}">
                <a16:creationId xmlns:a16="http://schemas.microsoft.com/office/drawing/2014/main" id="{39CFD2D4-6822-C376-DFDC-5C348193C116}"/>
              </a:ext>
            </a:extLst>
          </p:cNvPr>
          <p:cNvSpPr txBox="1"/>
          <p:nvPr/>
        </p:nvSpPr>
        <p:spPr>
          <a:xfrm>
            <a:off x="4950543" y="1395222"/>
            <a:ext cx="7241457" cy="5196166"/>
          </a:xfrm>
          <a:prstGeom prst="rect">
            <a:avLst/>
          </a:prstGeom>
          <a:noFill/>
        </p:spPr>
        <p:txBody>
          <a:bodyPr wrap="square">
            <a:spAutoFit/>
          </a:bodyPr>
          <a:lstStyle/>
          <a:p>
            <a:pPr>
              <a:lnSpc>
                <a:spcPct val="150000"/>
              </a:lnSpc>
            </a:pPr>
            <a:r>
              <a:rPr lang="en-US" sz="2800" dirty="0">
                <a:latin typeface="Calibir"/>
              </a:rPr>
              <a:t>Python supports all four major OOP principles. Python supports encapsulation primarily through classes, naming conventions and name mangling; inheritance through superclass/subclass relationships; polymorphism through mechanisms such as method overriding and duck typing; and abstraction through mechanisms such as abstract base classes.</a:t>
            </a:r>
          </a:p>
        </p:txBody>
      </p:sp>
    </p:spTree>
    <p:extLst>
      <p:ext uri="{BB962C8B-B14F-4D97-AF65-F5344CB8AC3E}">
        <p14:creationId xmlns:p14="http://schemas.microsoft.com/office/powerpoint/2010/main" val="143856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49E2A-866B-3010-D3C6-CBBFAD0B0E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D5F75-1B86-DA47-5C8A-D862F606F85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0BD8974-E891-9024-20B1-F60E51FB9EF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B81C6AF6-3290-ED1D-AD9A-76387B809F28}"/>
              </a:ext>
            </a:extLst>
          </p:cNvPr>
          <p:cNvSpPr txBox="1"/>
          <p:nvPr/>
        </p:nvSpPr>
        <p:spPr>
          <a:xfrm>
            <a:off x="1" y="2062810"/>
            <a:ext cx="5471652" cy="4549835"/>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
        <p:nvSpPr>
          <p:cNvPr id="5" name="TextBox 4">
            <a:extLst>
              <a:ext uri="{FF2B5EF4-FFF2-40B4-BE49-F238E27FC236}">
                <a16:creationId xmlns:a16="http://schemas.microsoft.com/office/drawing/2014/main" id="{ADBE320C-9CDD-A0D4-4A20-9D6017B1E744}"/>
              </a:ext>
            </a:extLst>
          </p:cNvPr>
          <p:cNvSpPr txBox="1"/>
          <p:nvPr/>
        </p:nvSpPr>
        <p:spPr>
          <a:xfrm>
            <a:off x="4950543" y="1072057"/>
            <a:ext cx="7241457"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Abstraction → </a:t>
            </a:r>
            <a:r>
              <a:rPr lang="en-US" sz="2800" dirty="0">
                <a:latin typeface="Calibir"/>
              </a:rPr>
              <a:t>Achieved through abstract base classes (</a:t>
            </a:r>
            <a:r>
              <a:rPr lang="en-US" sz="2800" dirty="0" err="1">
                <a:latin typeface="Calibir"/>
              </a:rPr>
              <a:t>abc</a:t>
            </a:r>
            <a:r>
              <a:rPr lang="en-US" sz="2800" dirty="0">
                <a:latin typeface="Calibir"/>
              </a:rPr>
              <a:t> module) or by hiding implementation details behind methods.</a:t>
            </a:r>
          </a:p>
          <a:p>
            <a:pPr>
              <a:lnSpc>
                <a:spcPct val="150000"/>
              </a:lnSpc>
              <a:buNone/>
            </a:pPr>
            <a:r>
              <a:rPr lang="en-US" sz="2800" dirty="0">
                <a:latin typeface="Calibir"/>
              </a:rPr>
              <a:t>Python, as a fully object-oriented language, supports all four core OOP principles.</a:t>
            </a:r>
          </a:p>
        </p:txBody>
      </p:sp>
    </p:spTree>
    <p:extLst>
      <p:ext uri="{BB962C8B-B14F-4D97-AF65-F5344CB8AC3E}">
        <p14:creationId xmlns:p14="http://schemas.microsoft.com/office/powerpoint/2010/main" val="1691198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DAFBC-211A-2B6B-CC28-CE08B9BB2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27BAF-F08A-4A93-126A-E07F52D7525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2B7EAAC-FE49-62BD-098D-2E2C5ABA8AB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0E14A3E-F3B5-0038-AEC6-63D056B1A022}"/>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B21EB4AF-77D2-764E-476E-0CA484B23D2D}"/>
              </a:ext>
            </a:extLst>
          </p:cNvPr>
          <p:cNvSpPr txBox="1"/>
          <p:nvPr/>
        </p:nvSpPr>
        <p:spPr>
          <a:xfrm>
            <a:off x="5021826" y="1072057"/>
            <a:ext cx="7170174"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An actor represents an external role, person, </a:t>
            </a:r>
            <a:r>
              <a:rPr lang="en-US" sz="2800" dirty="0" err="1">
                <a:latin typeface="Calibir"/>
              </a:rPr>
              <a:t>organisation</a:t>
            </a:r>
            <a:r>
              <a:rPr lang="en-US" sz="2800" dirty="0">
                <a:latin typeface="Calibir"/>
              </a:rPr>
              <a:t>, or external system/device that interacts with the system being modelled.</a:t>
            </a:r>
          </a:p>
          <a:p>
            <a:pPr marL="457200" indent="-457200">
              <a:lnSpc>
                <a:spcPct val="150000"/>
              </a:lnSpc>
              <a:buFont typeface="Arial" panose="020B0604020202020204" pitchFamily="34" charset="0"/>
              <a:buChar char="•"/>
            </a:pPr>
            <a:r>
              <a:rPr lang="en-US" sz="2800" dirty="0">
                <a:latin typeface="Calibir"/>
              </a:rPr>
              <a:t>The system being modelled is not its own actor.</a:t>
            </a:r>
          </a:p>
        </p:txBody>
      </p:sp>
    </p:spTree>
    <p:extLst>
      <p:ext uri="{BB962C8B-B14F-4D97-AF65-F5344CB8AC3E}">
        <p14:creationId xmlns:p14="http://schemas.microsoft.com/office/powerpoint/2010/main" val="1510576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03EC8-C5D5-D271-1F1D-99F5758E79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F4F963-CF36-E985-A648-0D33BE639DA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269AFBA-3F11-EB33-4F85-73A688BC014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8F26057-226C-2FA7-EC56-CA411AB73190}"/>
              </a:ext>
            </a:extLst>
          </p:cNvPr>
          <p:cNvSpPr txBox="1"/>
          <p:nvPr/>
        </p:nvSpPr>
        <p:spPr>
          <a:xfrm>
            <a:off x="0" y="2062810"/>
            <a:ext cx="5368413" cy="4549835"/>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
        <p:nvSpPr>
          <p:cNvPr id="5" name="TextBox 4">
            <a:extLst>
              <a:ext uri="{FF2B5EF4-FFF2-40B4-BE49-F238E27FC236}">
                <a16:creationId xmlns:a16="http://schemas.microsoft.com/office/drawing/2014/main" id="{F1FD48D8-9722-69D9-EEA6-250B763016DE}"/>
              </a:ext>
            </a:extLst>
          </p:cNvPr>
          <p:cNvSpPr txBox="1"/>
          <p:nvPr/>
        </p:nvSpPr>
        <p:spPr>
          <a:xfrm>
            <a:off x="5021826" y="1072057"/>
            <a:ext cx="7170174"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So while the Bank Customer, Security Guard, and Teller Machine can all act as external actors, the Online Banking System is the system boundary, not an actor.</a:t>
            </a:r>
          </a:p>
          <a:p>
            <a:pPr>
              <a:lnSpc>
                <a:spcPct val="150000"/>
              </a:lnSpc>
              <a:buNone/>
            </a:pPr>
            <a:r>
              <a:rPr lang="en-US" sz="2800" dirty="0">
                <a:latin typeface="Calibir"/>
              </a:rPr>
              <a:t>Therefore, Online Banking System is NOT suitable as an actor.</a:t>
            </a:r>
          </a:p>
        </p:txBody>
      </p:sp>
    </p:spTree>
    <p:extLst>
      <p:ext uri="{BB962C8B-B14F-4D97-AF65-F5344CB8AC3E}">
        <p14:creationId xmlns:p14="http://schemas.microsoft.com/office/powerpoint/2010/main" val="29095226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5EA01-4A2D-B5CA-305E-E1974D06C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1EB02-38AB-6BEE-64EA-31920CD5AD5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8000F7A-5970-5136-E7BA-B44C66555F2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2AEB0-78AB-D4E2-0AE4-E11DAA51C745}"/>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03DAB59A-1B5D-EE99-EDE7-B6F22E2AC56C}"/>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Agile is all about flexibility — requirements can change anytime through the backlog and user stories.</a:t>
            </a:r>
          </a:p>
          <a:p>
            <a:pPr marL="457200" indent="-457200">
              <a:lnSpc>
                <a:spcPct val="150000"/>
              </a:lnSpc>
              <a:buFont typeface="Arial" panose="020B0604020202020204" pitchFamily="34" charset="0"/>
              <a:buChar char="•"/>
            </a:pPr>
            <a:r>
              <a:rPr lang="en-US" sz="2800" dirty="0">
                <a:latin typeface="Calibir"/>
              </a:rPr>
              <a:t>(a) Continuous testing each cycle → Agile promotes iterative testing.</a:t>
            </a:r>
          </a:p>
        </p:txBody>
      </p:sp>
    </p:spTree>
    <p:extLst>
      <p:ext uri="{BB962C8B-B14F-4D97-AF65-F5344CB8AC3E}">
        <p14:creationId xmlns:p14="http://schemas.microsoft.com/office/powerpoint/2010/main" val="566215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235B5-8404-6C8D-E15B-9D5BBB302B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2F3B7B-A809-B387-4680-F5FED200A21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7006F7C1-88A5-BE77-6F8F-0AD72360CC2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D1E92FD0-2A5F-19BF-E612-A2EAEB791E70}"/>
              </a:ext>
            </a:extLst>
          </p:cNvPr>
          <p:cNvSpPr txBox="1"/>
          <p:nvPr/>
        </p:nvSpPr>
        <p:spPr>
          <a:xfrm>
            <a:off x="0" y="2062810"/>
            <a:ext cx="6990735" cy="4549835"/>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
        <p:nvSpPr>
          <p:cNvPr id="5" name="TextBox 4">
            <a:extLst>
              <a:ext uri="{FF2B5EF4-FFF2-40B4-BE49-F238E27FC236}">
                <a16:creationId xmlns:a16="http://schemas.microsoft.com/office/drawing/2014/main" id="{3FE3AE68-A097-D155-CDF3-DBCCE245C54F}"/>
              </a:ext>
            </a:extLst>
          </p:cNvPr>
          <p:cNvSpPr txBox="1"/>
          <p:nvPr/>
        </p:nvSpPr>
        <p:spPr>
          <a:xfrm>
            <a:off x="6990735" y="1244757"/>
            <a:ext cx="5201265"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(c) Flexible backlog  → Agile backlog evolves with feedback.</a:t>
            </a:r>
          </a:p>
          <a:p>
            <a:pPr marL="457200" indent="-457200">
              <a:lnSpc>
                <a:spcPct val="150000"/>
              </a:lnSpc>
              <a:buFont typeface="Arial" panose="020B0604020202020204" pitchFamily="34" charset="0"/>
              <a:buChar char="•"/>
            </a:pPr>
            <a:r>
              <a:rPr lang="en-US" sz="2800" dirty="0">
                <a:latin typeface="Calibir"/>
              </a:rPr>
              <a:t>(d) Active customer collaboration  → Core Agile principle.</a:t>
            </a:r>
          </a:p>
          <a:p>
            <a:pPr>
              <a:lnSpc>
                <a:spcPct val="150000"/>
              </a:lnSpc>
              <a:buNone/>
            </a:pPr>
            <a:r>
              <a:rPr lang="en-US" sz="2800" dirty="0">
                <a:latin typeface="Calibir"/>
              </a:rPr>
              <a:t>Fixed requirements go against Agile, so (b) is NOT an advantage.</a:t>
            </a:r>
          </a:p>
        </p:txBody>
      </p:sp>
    </p:spTree>
    <p:extLst>
      <p:ext uri="{BB962C8B-B14F-4D97-AF65-F5344CB8AC3E}">
        <p14:creationId xmlns:p14="http://schemas.microsoft.com/office/powerpoint/2010/main" val="32667215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5BCEB-AFD4-5158-A669-285AB8AB2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E9D5-D65E-A5F9-0859-4C83EAAEDE8A}"/>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8ADCA5C-E953-FA24-30F8-6C31BFCB0E2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D2B19BF-7911-3BEA-BFCA-06435E2594A2}"/>
              </a:ext>
            </a:extLst>
          </p:cNvPr>
          <p:cNvSpPr txBox="1"/>
          <p:nvPr/>
        </p:nvSpPr>
        <p:spPr>
          <a:xfrm>
            <a:off x="0" y="2062809"/>
            <a:ext cx="5982930" cy="4549835"/>
          </a:xfrm>
          <a:prstGeom prst="rect">
            <a:avLst/>
          </a:prstGeom>
          <a:noFill/>
        </p:spPr>
        <p:txBody>
          <a:bodyPr wrap="square">
            <a:spAutoFit/>
          </a:bodyPr>
          <a:lstStyle/>
          <a:p>
            <a:pPr>
              <a:lnSpc>
                <a:spcPct val="150000"/>
              </a:lnSpc>
            </a:pPr>
            <a:r>
              <a:rPr lang="en-US" sz="2800" dirty="0">
                <a:latin typeface="Calibir"/>
              </a:rPr>
              <a:t>In OOP, what is an </a:t>
            </a:r>
            <a:r>
              <a:rPr lang="en-US" sz="2800" i="1" dirty="0">
                <a:latin typeface="Calibir"/>
              </a:rPr>
              <a:t>object</a:t>
            </a:r>
            <a:r>
              <a:rPr lang="en-US" sz="2800" dirty="0">
                <a:latin typeface="Calibir"/>
              </a:rPr>
              <a:t>?</a:t>
            </a:r>
          </a:p>
          <a:p>
            <a:pPr lvl="1">
              <a:lnSpc>
                <a:spcPct val="150000"/>
              </a:lnSpc>
            </a:pPr>
            <a:r>
              <a:rPr lang="en-US" sz="2800" dirty="0">
                <a:latin typeface="Calibir"/>
              </a:rPr>
              <a:t>a) Blueprint to create classes</a:t>
            </a:r>
          </a:p>
          <a:p>
            <a:pPr lvl="1">
              <a:lnSpc>
                <a:spcPct val="150000"/>
              </a:lnSpc>
            </a:pPr>
            <a:r>
              <a:rPr lang="en-US" sz="2800" dirty="0">
                <a:latin typeface="Calibir"/>
              </a:rPr>
              <a:t>b) A class instance with attributes and methods</a:t>
            </a:r>
          </a:p>
          <a:p>
            <a:pPr lvl="1">
              <a:lnSpc>
                <a:spcPct val="150000"/>
              </a:lnSpc>
            </a:pPr>
            <a:r>
              <a:rPr lang="en-US" sz="2800" dirty="0">
                <a:latin typeface="Calibir"/>
              </a:rPr>
              <a:t>c) A method header only</a:t>
            </a:r>
          </a:p>
          <a:p>
            <a:pPr lvl="1">
              <a:lnSpc>
                <a:spcPct val="150000"/>
              </a:lnSpc>
            </a:pPr>
            <a:r>
              <a:rPr lang="en-US" sz="2800" dirty="0">
                <a:latin typeface="Calibir"/>
              </a:rPr>
              <a:t>d) A template that contains only functions</a:t>
            </a:r>
          </a:p>
        </p:txBody>
      </p:sp>
      <p:sp>
        <p:nvSpPr>
          <p:cNvPr id="5" name="TextBox 4">
            <a:extLst>
              <a:ext uri="{FF2B5EF4-FFF2-40B4-BE49-F238E27FC236}">
                <a16:creationId xmlns:a16="http://schemas.microsoft.com/office/drawing/2014/main" id="{3FEBAE7D-D313-852C-7F22-E320A1943D23}"/>
              </a:ext>
            </a:extLst>
          </p:cNvPr>
          <p:cNvSpPr txBox="1"/>
          <p:nvPr/>
        </p:nvSpPr>
        <p:spPr>
          <a:xfrm>
            <a:off x="5982930" y="1072057"/>
            <a:ext cx="6209070"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class is the blueprint.</a:t>
            </a:r>
          </a:p>
          <a:p>
            <a:pPr marL="457200" indent="-457200">
              <a:lnSpc>
                <a:spcPct val="150000"/>
              </a:lnSpc>
              <a:buFont typeface="Arial" panose="020B0604020202020204" pitchFamily="34" charset="0"/>
              <a:buChar char="•"/>
            </a:pPr>
            <a:r>
              <a:rPr lang="en-US" sz="2800" dirty="0">
                <a:latin typeface="Calibir"/>
              </a:rPr>
              <a:t>An object is a real instance created from that class.</a:t>
            </a:r>
          </a:p>
          <a:p>
            <a:pPr marL="457200" indent="-457200">
              <a:lnSpc>
                <a:spcPct val="150000"/>
              </a:lnSpc>
              <a:buFont typeface="Arial" panose="020B0604020202020204" pitchFamily="34" charset="0"/>
              <a:buChar char="•"/>
            </a:pPr>
            <a:r>
              <a:rPr lang="en-US" sz="2800" dirty="0">
                <a:latin typeface="Calibir"/>
              </a:rPr>
              <a:t>It carries attributes (data) and methods (behavior).</a:t>
            </a:r>
          </a:p>
          <a:p>
            <a:pPr marL="457200" indent="-457200">
              <a:lnSpc>
                <a:spcPct val="150000"/>
              </a:lnSpc>
              <a:buFont typeface="Arial" panose="020B0604020202020204" pitchFamily="34" charset="0"/>
              <a:buChar char="•"/>
            </a:pPr>
            <a:r>
              <a:rPr lang="en-US" sz="2800" dirty="0">
                <a:latin typeface="Calibir"/>
              </a:rPr>
              <a:t>Options (a), (c), and (d) confuse the role of classes vs. objects.</a:t>
            </a:r>
          </a:p>
          <a:p>
            <a:pPr>
              <a:lnSpc>
                <a:spcPct val="150000"/>
              </a:lnSpc>
              <a:buNone/>
            </a:pPr>
            <a:r>
              <a:rPr lang="en-US" sz="2800" dirty="0">
                <a:latin typeface="Calibir"/>
              </a:rPr>
              <a:t>So: Object = a working instance of a class with data + behavior.</a:t>
            </a:r>
          </a:p>
        </p:txBody>
      </p:sp>
    </p:spTree>
    <p:extLst>
      <p:ext uri="{BB962C8B-B14F-4D97-AF65-F5344CB8AC3E}">
        <p14:creationId xmlns:p14="http://schemas.microsoft.com/office/powerpoint/2010/main" val="820632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F0563-179C-8B1B-68BC-3A56035112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05798-CF83-F822-0C90-853813126C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5C996DC-195E-F787-9E77-CAF68666E0E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54424B6-9908-1EFF-5450-1C09940923ED}"/>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2E3C18DC-CC59-1BB6-3871-978D85E73947}"/>
              </a:ext>
            </a:extLst>
          </p:cNvPr>
          <p:cNvSpPr txBox="1"/>
          <p:nvPr/>
        </p:nvSpPr>
        <p:spPr>
          <a:xfrm>
            <a:off x="7020232" y="1072057"/>
            <a:ext cx="517176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performs a task and returns a value (e.g., sum(2,3) returns 5).</a:t>
            </a:r>
          </a:p>
          <a:p>
            <a:pPr marL="457200" indent="-457200">
              <a:lnSpc>
                <a:spcPct val="150000"/>
              </a:lnSpc>
              <a:buFont typeface="Arial" panose="020B0604020202020204" pitchFamily="34" charset="0"/>
              <a:buChar char="•"/>
            </a:pPr>
            <a:r>
              <a:rPr lang="en-US" sz="2800" dirty="0">
                <a:latin typeface="Calibir"/>
              </a:rPr>
              <a:t>A procedure performs a task but does not return a value (it just executes steps).</a:t>
            </a:r>
          </a:p>
        </p:txBody>
      </p:sp>
    </p:spTree>
    <p:extLst>
      <p:ext uri="{BB962C8B-B14F-4D97-AF65-F5344CB8AC3E}">
        <p14:creationId xmlns:p14="http://schemas.microsoft.com/office/powerpoint/2010/main" val="4202865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8E499-8CC1-74F9-CAB3-820707E3FD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E6601-6AE6-8108-78FE-D88FC7B4AEB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5A040242-67AD-3C7D-920D-F74AD576132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0766F-4B96-FDC9-D590-B9BB45503353}"/>
              </a:ext>
            </a:extLst>
          </p:cNvPr>
          <p:cNvSpPr txBox="1"/>
          <p:nvPr/>
        </p:nvSpPr>
        <p:spPr>
          <a:xfrm>
            <a:off x="0" y="2062810"/>
            <a:ext cx="7020232" cy="390350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
        <p:nvSpPr>
          <p:cNvPr id="5" name="TextBox 4">
            <a:extLst>
              <a:ext uri="{FF2B5EF4-FFF2-40B4-BE49-F238E27FC236}">
                <a16:creationId xmlns:a16="http://schemas.microsoft.com/office/drawing/2014/main" id="{D9F6C9A4-2699-422C-0ECC-71B4B1483360}"/>
              </a:ext>
            </a:extLst>
          </p:cNvPr>
          <p:cNvSpPr txBox="1"/>
          <p:nvPr/>
        </p:nvSpPr>
        <p:spPr>
          <a:xfrm>
            <a:off x="7020232" y="1072057"/>
            <a:ext cx="517176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(b) is wrong → procedures don’t normally return values.</a:t>
            </a:r>
          </a:p>
          <a:p>
            <a:pPr marL="457200" indent="-457200">
              <a:lnSpc>
                <a:spcPct val="150000"/>
              </a:lnSpc>
              <a:buFont typeface="Arial" panose="020B0604020202020204" pitchFamily="34" charset="0"/>
              <a:buChar char="•"/>
            </a:pPr>
            <a:r>
              <a:rPr lang="en-US" sz="2800" dirty="0">
                <a:latin typeface="Calibir"/>
              </a:rPr>
              <a:t>(c) is wrong → functions can be assigned to variables.</a:t>
            </a:r>
          </a:p>
          <a:p>
            <a:pPr marL="457200" indent="-457200">
              <a:lnSpc>
                <a:spcPct val="150000"/>
              </a:lnSpc>
              <a:buFont typeface="Arial" panose="020B0604020202020204" pitchFamily="34" charset="0"/>
              <a:buChar char="•"/>
            </a:pPr>
            <a:r>
              <a:rPr lang="en-US" sz="2800" dirty="0">
                <a:latin typeface="Calibir"/>
              </a:rPr>
              <a:t>(d) is wrong → they are not identical, their purpose differs.</a:t>
            </a:r>
          </a:p>
          <a:p>
            <a:pPr>
              <a:lnSpc>
                <a:spcPct val="150000"/>
              </a:lnSpc>
              <a:buNone/>
            </a:pPr>
            <a:r>
              <a:rPr lang="en-US" sz="2800" dirty="0">
                <a:latin typeface="Calibir"/>
              </a:rPr>
              <a:t>So: Functions return values; procedures just carry out actions.</a:t>
            </a:r>
          </a:p>
        </p:txBody>
      </p:sp>
    </p:spTree>
    <p:extLst>
      <p:ext uri="{BB962C8B-B14F-4D97-AF65-F5344CB8AC3E}">
        <p14:creationId xmlns:p14="http://schemas.microsoft.com/office/powerpoint/2010/main" val="2583502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28892-82A2-219E-FB44-7D3A4EFF5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673C54-2075-0D96-A732-184961C06A5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9E6ECEF-E141-B1E9-BDDD-6F518828B41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EA90E86-2973-2CCC-A626-30E2EC743358}"/>
              </a:ext>
            </a:extLst>
          </p:cNvPr>
          <p:cNvSpPr txBox="1"/>
          <p:nvPr/>
        </p:nvSpPr>
        <p:spPr>
          <a:xfrm>
            <a:off x="1" y="2062810"/>
            <a:ext cx="4955458" cy="3903504"/>
          </a:xfrm>
          <a:prstGeom prst="rect">
            <a:avLst/>
          </a:prstGeom>
          <a:noFill/>
        </p:spPr>
        <p:txBody>
          <a:bodyPr wrap="square">
            <a:spAutoFit/>
          </a:bodyPr>
          <a:lstStyle/>
          <a:p>
            <a:pPr>
              <a:lnSpc>
                <a:spcPct val="150000"/>
              </a:lnSpc>
            </a:pPr>
            <a:r>
              <a:rPr lang="en-US" sz="2800" dirty="0">
                <a:latin typeface="Calibir"/>
              </a:rPr>
              <a:t>Which symbol denotes a protected field in UML?</a:t>
            </a:r>
          </a:p>
          <a:p>
            <a:pPr lvl="1">
              <a:lnSpc>
                <a:spcPct val="150000"/>
              </a:lnSpc>
            </a:pPr>
            <a:r>
              <a:rPr lang="en-US" sz="2800" dirty="0">
                <a:latin typeface="Calibir"/>
              </a:rPr>
              <a:t>a) +</a:t>
            </a:r>
          </a:p>
          <a:p>
            <a:pPr lvl="1">
              <a:lnSpc>
                <a:spcPct val="150000"/>
              </a:lnSpc>
            </a:pPr>
            <a:r>
              <a:rPr lang="en-US" sz="2800" dirty="0">
                <a:latin typeface="Calibir"/>
              </a:rPr>
              <a:t>b) -</a:t>
            </a:r>
          </a:p>
          <a:p>
            <a:pPr lvl="1">
              <a:lnSpc>
                <a:spcPct val="150000"/>
              </a:lnSpc>
            </a:pPr>
            <a:r>
              <a:rPr lang="en-US" sz="2800" dirty="0">
                <a:latin typeface="Calibir"/>
              </a:rPr>
              <a:t>c) #</a:t>
            </a:r>
          </a:p>
          <a:p>
            <a:pPr lvl="1">
              <a:lnSpc>
                <a:spcPct val="150000"/>
              </a:lnSpc>
            </a:pPr>
            <a:r>
              <a:rPr lang="en-US" sz="2800" dirty="0">
                <a:latin typeface="Calibir"/>
              </a:rPr>
              <a:t>d) ~</a:t>
            </a:r>
          </a:p>
        </p:txBody>
      </p:sp>
      <p:sp>
        <p:nvSpPr>
          <p:cNvPr id="5" name="TextBox 4">
            <a:extLst>
              <a:ext uri="{FF2B5EF4-FFF2-40B4-BE49-F238E27FC236}">
                <a16:creationId xmlns:a16="http://schemas.microsoft.com/office/drawing/2014/main" id="{D3019862-5F86-1152-112A-ED45DE55CA80}"/>
              </a:ext>
            </a:extLst>
          </p:cNvPr>
          <p:cNvSpPr txBox="1"/>
          <p:nvPr/>
        </p:nvSpPr>
        <p:spPr>
          <a:xfrm>
            <a:off x="5272548" y="2062810"/>
            <a:ext cx="6919451" cy="4546950"/>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 → Public</a:t>
            </a:r>
          </a:p>
          <a:p>
            <a:pPr marL="457200" indent="-457200">
              <a:lnSpc>
                <a:spcPct val="150000"/>
              </a:lnSpc>
              <a:buFont typeface="Arial" panose="020B0604020202020204" pitchFamily="34" charset="0"/>
              <a:buChar char="•"/>
            </a:pPr>
            <a:r>
              <a:rPr lang="en-US" sz="2800" dirty="0">
                <a:latin typeface="Calibir"/>
              </a:rPr>
              <a:t>- → Private</a:t>
            </a:r>
          </a:p>
          <a:p>
            <a:pPr marL="457200" indent="-457200">
              <a:lnSpc>
                <a:spcPct val="150000"/>
              </a:lnSpc>
              <a:buFont typeface="Arial" panose="020B0604020202020204" pitchFamily="34" charset="0"/>
              <a:buChar char="•"/>
            </a:pPr>
            <a:r>
              <a:rPr lang="en-US" sz="2800" dirty="0">
                <a:latin typeface="Calibir"/>
              </a:rPr>
              <a:t># → Protected (accessible to the class itself and its subclasses)</a:t>
            </a:r>
          </a:p>
          <a:p>
            <a:pPr marL="457200" indent="-457200">
              <a:lnSpc>
                <a:spcPct val="150000"/>
              </a:lnSpc>
              <a:buFont typeface="Arial" panose="020B0604020202020204" pitchFamily="34" charset="0"/>
              <a:buChar char="•"/>
            </a:pPr>
            <a:r>
              <a:rPr lang="en-US" sz="2800" dirty="0">
                <a:latin typeface="Calibir"/>
              </a:rPr>
              <a:t>~ → Package (default, accessible within the same package)</a:t>
            </a:r>
          </a:p>
          <a:p>
            <a:pPr>
              <a:lnSpc>
                <a:spcPct val="150000"/>
              </a:lnSpc>
              <a:buNone/>
            </a:pPr>
            <a:r>
              <a:rPr lang="en-US" sz="2800" dirty="0">
                <a:latin typeface="Calibir"/>
              </a:rPr>
              <a:t>So, in UML: Protected field = #</a:t>
            </a:r>
          </a:p>
        </p:txBody>
      </p:sp>
    </p:spTree>
    <p:extLst>
      <p:ext uri="{BB962C8B-B14F-4D97-AF65-F5344CB8AC3E}">
        <p14:creationId xmlns:p14="http://schemas.microsoft.com/office/powerpoint/2010/main" val="4274789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1000"/>
                                        <p:tgtEl>
                                          <p:spTgt spid="5">
                                            <p:txEl>
                                              <p:pRg st="1" end="1"/>
                                            </p:txEl>
                                          </p:spTgt>
                                        </p:tgtEl>
                                      </p:cBhvr>
                                    </p:animEffect>
                                    <p:anim calcmode="lin" valueType="num">
                                      <p:cBhvr>
                                        <p:cTn id="13"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1000"/>
                                        <p:tgtEl>
                                          <p:spTgt spid="5">
                                            <p:txEl>
                                              <p:pRg st="2" end="2"/>
                                            </p:txEl>
                                          </p:spTgt>
                                        </p:tgtEl>
                                      </p:cBhvr>
                                    </p:animEffect>
                                    <p:anim calcmode="lin" valueType="num">
                                      <p:cBhvr>
                                        <p:cTn id="1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1000"/>
                                        <p:tgtEl>
                                          <p:spTgt spid="5">
                                            <p:txEl>
                                              <p:pRg st="3" end="3"/>
                                            </p:txEl>
                                          </p:spTgt>
                                        </p:tgtEl>
                                      </p:cBhvr>
                                    </p:animEffect>
                                    <p:anim calcmode="lin" valueType="num">
                                      <p:cBhvr>
                                        <p:cTn id="2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1000"/>
                                        <p:tgtEl>
                                          <p:spTgt spid="5">
                                            <p:txEl>
                                              <p:pRg st="4" end="4"/>
                                            </p:txEl>
                                          </p:spTgt>
                                        </p:tgtEl>
                                      </p:cBhvr>
                                    </p:animEffect>
                                    <p:anim calcmode="lin" valueType="num">
                                      <p:cBhvr>
                                        <p:cTn id="2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DA9CD-1967-456B-B3D0-014368A6B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A18C2-734A-16E7-F995-1086FE05185C}"/>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1AA303C-0C3D-8249-3B94-E10B7C51F88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42593B34-BC63-9D8D-1CB1-573B9E1063DC}"/>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BA1A2984-8C80-8FEE-2ABA-6F7839CC5AD8}"/>
              </a:ext>
            </a:extLst>
          </p:cNvPr>
          <p:cNvSpPr txBox="1"/>
          <p:nvPr/>
        </p:nvSpPr>
        <p:spPr>
          <a:xfrm>
            <a:off x="5331542" y="1072057"/>
            <a:ext cx="620907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Inheritance</a:t>
            </a:r>
            <a:r>
              <a:rPr lang="en-US" sz="2800" dirty="0">
                <a:latin typeface="Calibir"/>
              </a:rPr>
              <a:t> means a child class can reuse attributes/methods of its parent.</a:t>
            </a:r>
          </a:p>
          <a:p>
            <a:pPr marL="457200" indent="-457200">
              <a:lnSpc>
                <a:spcPct val="150000"/>
              </a:lnSpc>
              <a:buFont typeface="Arial" panose="020B0604020202020204" pitchFamily="34" charset="0"/>
              <a:buChar char="•"/>
            </a:pPr>
            <a:r>
              <a:rPr lang="en-US" sz="2800" b="1" dirty="0">
                <a:latin typeface="Calibir"/>
              </a:rPr>
              <a:t>Protected (#)</a:t>
            </a:r>
            <a:r>
              <a:rPr lang="en-US" sz="2800" dirty="0">
                <a:latin typeface="Calibir"/>
              </a:rPr>
              <a:t> members are designed for inheritance → they are accessible within the class </a:t>
            </a:r>
            <a:r>
              <a:rPr lang="en-US" sz="2800" b="1" dirty="0">
                <a:latin typeface="Calibir"/>
              </a:rPr>
              <a:t>and</a:t>
            </a:r>
            <a:r>
              <a:rPr lang="en-US" sz="2800" dirty="0">
                <a:latin typeface="Calibir"/>
              </a:rPr>
              <a:t> its subclasses.</a:t>
            </a:r>
          </a:p>
        </p:txBody>
      </p:sp>
    </p:spTree>
    <p:extLst>
      <p:ext uri="{BB962C8B-B14F-4D97-AF65-F5344CB8AC3E}">
        <p14:creationId xmlns:p14="http://schemas.microsoft.com/office/powerpoint/2010/main" val="3150079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64548-2480-DCFE-711B-43CE5CD60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FC126-AF4C-3229-A4F9-F313DEC7A2F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6A5815D-1695-8D1E-DBFA-F68595F0E9F0}"/>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2B180F1-54E5-5D4E-4390-7350F3BADA22}"/>
              </a:ext>
            </a:extLst>
          </p:cNvPr>
          <p:cNvSpPr txBox="1"/>
          <p:nvPr/>
        </p:nvSpPr>
        <p:spPr>
          <a:xfrm>
            <a:off x="0" y="2062810"/>
            <a:ext cx="4955458" cy="390350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
        <p:nvSpPr>
          <p:cNvPr id="5" name="TextBox 4">
            <a:extLst>
              <a:ext uri="{FF2B5EF4-FFF2-40B4-BE49-F238E27FC236}">
                <a16:creationId xmlns:a16="http://schemas.microsoft.com/office/drawing/2014/main" id="{2542B1CE-0395-FCC8-A740-7ECA0205AC4A}"/>
              </a:ext>
            </a:extLst>
          </p:cNvPr>
          <p:cNvSpPr txBox="1"/>
          <p:nvPr/>
        </p:nvSpPr>
        <p:spPr>
          <a:xfrm>
            <a:off x="5331542" y="1072057"/>
            <a:ext cx="6209070"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Public</a:t>
            </a:r>
            <a:r>
              <a:rPr lang="en-US" sz="2800" dirty="0">
                <a:latin typeface="Calibir"/>
              </a:rPr>
              <a:t> members are visible everywhere (not just inheritance).</a:t>
            </a:r>
          </a:p>
          <a:p>
            <a:pPr marL="457200" indent="-457200">
              <a:lnSpc>
                <a:spcPct val="150000"/>
              </a:lnSpc>
              <a:buFont typeface="Arial" panose="020B0604020202020204" pitchFamily="34" charset="0"/>
              <a:buChar char="•"/>
            </a:pPr>
            <a:r>
              <a:rPr lang="en-US" sz="2800" b="1" dirty="0">
                <a:latin typeface="Calibir"/>
              </a:rPr>
              <a:t>Private</a:t>
            </a:r>
            <a:r>
              <a:rPr lang="en-US" sz="2800" dirty="0">
                <a:latin typeface="Calibir"/>
              </a:rPr>
              <a:t> members are hidden from subclasses.</a:t>
            </a:r>
          </a:p>
          <a:p>
            <a:pPr marL="457200" indent="-457200">
              <a:lnSpc>
                <a:spcPct val="150000"/>
              </a:lnSpc>
              <a:buFont typeface="Arial" panose="020B0604020202020204" pitchFamily="34" charset="0"/>
              <a:buChar char="•"/>
            </a:pPr>
            <a:r>
              <a:rPr lang="en-US" sz="2800" b="1" dirty="0">
                <a:latin typeface="Calibir"/>
              </a:rPr>
              <a:t>Package (~)</a:t>
            </a:r>
            <a:r>
              <a:rPr lang="en-US" sz="2800" dirty="0">
                <a:latin typeface="Calibir"/>
              </a:rPr>
              <a:t> is limited to classes in the same package.</a:t>
            </a:r>
          </a:p>
          <a:p>
            <a:pPr>
              <a:lnSpc>
                <a:spcPct val="150000"/>
              </a:lnSpc>
              <a:buNone/>
            </a:pPr>
            <a:r>
              <a:rPr lang="en-US" sz="2800" dirty="0">
                <a:latin typeface="Calibir"/>
              </a:rPr>
              <a:t>So: Inheritance usually works with protected attributes.</a:t>
            </a:r>
          </a:p>
        </p:txBody>
      </p:sp>
    </p:spTree>
    <p:extLst>
      <p:ext uri="{BB962C8B-B14F-4D97-AF65-F5344CB8AC3E}">
        <p14:creationId xmlns:p14="http://schemas.microsoft.com/office/powerpoint/2010/main" val="25672531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5E80C-F05C-90A5-4F28-60D05F71B1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35D652-7B1A-9868-6EF0-1DE273A5F95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495B4F9-19C6-EDC7-27EF-4570E6E51AD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FBA7DE2-DB98-5653-0261-8D573C5076B6}"/>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D8F0447C-B175-A598-0C81-029FC163858F}"/>
              </a:ext>
            </a:extLst>
          </p:cNvPr>
          <p:cNvSpPr txBox="1"/>
          <p:nvPr/>
        </p:nvSpPr>
        <p:spPr>
          <a:xfrm>
            <a:off x="5501148" y="1242450"/>
            <a:ext cx="6690852"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Attributes are variables inside a class that store information about the object’s state (e.g., name, age in a Person class).</a:t>
            </a:r>
          </a:p>
          <a:p>
            <a:pPr marL="457200" indent="-457200">
              <a:lnSpc>
                <a:spcPct val="150000"/>
              </a:lnSpc>
              <a:buFont typeface="Arial" panose="020B0604020202020204" pitchFamily="34" charset="0"/>
              <a:buChar char="•"/>
            </a:pPr>
            <a:r>
              <a:rPr lang="en-US" sz="2800" dirty="0">
                <a:latin typeface="Calibir"/>
              </a:rPr>
              <a:t>(b) Local variables exist only inside a method, not across the whole object.</a:t>
            </a:r>
          </a:p>
          <a:p>
            <a:pPr marL="457200" indent="-457200">
              <a:lnSpc>
                <a:spcPct val="150000"/>
              </a:lnSpc>
              <a:buFont typeface="Arial" panose="020B0604020202020204" pitchFamily="34" charset="0"/>
              <a:buChar char="•"/>
            </a:pPr>
            <a:r>
              <a:rPr lang="en-US" sz="2800" dirty="0">
                <a:latin typeface="Calibir"/>
              </a:rPr>
              <a:t>(c) Methods are behaviors, not attributes.</a:t>
            </a:r>
          </a:p>
        </p:txBody>
      </p:sp>
    </p:spTree>
    <p:extLst>
      <p:ext uri="{BB962C8B-B14F-4D97-AF65-F5344CB8AC3E}">
        <p14:creationId xmlns:p14="http://schemas.microsoft.com/office/powerpoint/2010/main" val="80885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23456-A65D-8E60-CABE-88F22D124C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9A0974-5CC7-F22F-C080-4C961E857B9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49D41F2-8726-310A-927E-BD58FABDE13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829D214-DBB5-841E-A15F-BE6C2AC9AE50}"/>
              </a:ext>
            </a:extLst>
          </p:cNvPr>
          <p:cNvSpPr txBox="1"/>
          <p:nvPr/>
        </p:nvSpPr>
        <p:spPr>
          <a:xfrm>
            <a:off x="0" y="2062810"/>
            <a:ext cx="5501148"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
        <p:nvSpPr>
          <p:cNvPr id="5" name="TextBox 4">
            <a:extLst>
              <a:ext uri="{FF2B5EF4-FFF2-40B4-BE49-F238E27FC236}">
                <a16:creationId xmlns:a16="http://schemas.microsoft.com/office/drawing/2014/main" id="{6F5E95A8-3029-F67B-3467-948D52E0D94A}"/>
              </a:ext>
            </a:extLst>
          </p:cNvPr>
          <p:cNvSpPr txBox="1"/>
          <p:nvPr/>
        </p:nvSpPr>
        <p:spPr>
          <a:xfrm>
            <a:off x="5501148" y="1242450"/>
            <a:ext cx="669085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(d) Class operations refer to actions, not stored data.</a:t>
            </a:r>
          </a:p>
          <a:p>
            <a:pPr>
              <a:lnSpc>
                <a:spcPct val="150000"/>
              </a:lnSpc>
              <a:buNone/>
            </a:pPr>
            <a:r>
              <a:rPr lang="en-US" sz="2800" dirty="0">
                <a:latin typeface="Calibir"/>
              </a:rPr>
              <a:t>So: Attributes = data fields that hold the state of an object.</a:t>
            </a:r>
          </a:p>
        </p:txBody>
      </p:sp>
    </p:spTree>
    <p:extLst>
      <p:ext uri="{BB962C8B-B14F-4D97-AF65-F5344CB8AC3E}">
        <p14:creationId xmlns:p14="http://schemas.microsoft.com/office/powerpoint/2010/main" val="6788121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8DFF-EB12-8F66-0A5D-111D01E07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24E33-4D00-8D2C-57DF-CA376C3593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C125EE3-2913-DE9E-B731-4E5BBCA294B6}"/>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7A43D14-6252-3973-645A-9B413F3F7CAE}"/>
              </a:ext>
            </a:extLst>
          </p:cNvPr>
          <p:cNvSpPr txBox="1"/>
          <p:nvPr/>
        </p:nvSpPr>
        <p:spPr>
          <a:xfrm>
            <a:off x="0" y="1747498"/>
            <a:ext cx="7949381" cy="5196166"/>
          </a:xfrm>
          <a:prstGeom prst="rect">
            <a:avLst/>
          </a:prstGeom>
          <a:noFill/>
        </p:spPr>
        <p:txBody>
          <a:bodyPr wrap="square">
            <a:spAutoFit/>
          </a:bodyPr>
          <a:lstStyle/>
          <a:p>
            <a:pPr>
              <a:lnSpc>
                <a:spcPct val="150000"/>
              </a:lnSpc>
            </a:pPr>
            <a:r>
              <a:rPr lang="en-US" sz="2800" dirty="0">
                <a:latin typeface="Calibir"/>
              </a:rPr>
              <a:t>Which statement is NOT correct in OOP design?</a:t>
            </a:r>
          </a:p>
          <a:p>
            <a:pPr lvl="1">
              <a:lnSpc>
                <a:spcPct val="150000"/>
              </a:lnSpc>
            </a:pPr>
            <a:r>
              <a:rPr lang="en-US" sz="2800" dirty="0">
                <a:latin typeface="Calibir"/>
              </a:rPr>
              <a:t>a) A superclass can have multiple subclasses</a:t>
            </a:r>
          </a:p>
          <a:p>
            <a:pPr lvl="1">
              <a:lnSpc>
                <a:spcPct val="150000"/>
              </a:lnSpc>
            </a:pPr>
            <a:r>
              <a:rPr lang="en-US" sz="2800" dirty="0">
                <a:latin typeface="Calibir"/>
              </a:rPr>
              <a:t>b) Abstraction hides method details, shows behavior</a:t>
            </a:r>
          </a:p>
          <a:p>
            <a:pPr lvl="1">
              <a:lnSpc>
                <a:spcPct val="150000"/>
              </a:lnSpc>
            </a:pPr>
            <a:r>
              <a:rPr lang="en-US" sz="2800" dirty="0">
                <a:latin typeface="Calibir"/>
              </a:rPr>
              <a:t>c) A subclass can inherit from multiple </a:t>
            </a:r>
            <a:r>
              <a:rPr lang="en-US" sz="2800" dirty="0" err="1">
                <a:latin typeface="Calibir"/>
              </a:rPr>
              <a:t>superclasses</a:t>
            </a:r>
            <a:r>
              <a:rPr lang="en-US" sz="2800" dirty="0">
                <a:latin typeface="Calibir"/>
              </a:rPr>
              <a:t> in all languages</a:t>
            </a:r>
          </a:p>
          <a:p>
            <a:pPr lvl="1">
              <a:lnSpc>
                <a:spcPct val="150000"/>
              </a:lnSpc>
            </a:pPr>
            <a:r>
              <a:rPr lang="en-US" sz="2800" dirty="0">
                <a:latin typeface="Calibir"/>
              </a:rPr>
              <a:t>d) Encapsulation bundles date with related methods</a:t>
            </a:r>
          </a:p>
        </p:txBody>
      </p:sp>
      <p:sp>
        <p:nvSpPr>
          <p:cNvPr id="5" name="TextBox 4">
            <a:extLst>
              <a:ext uri="{FF2B5EF4-FFF2-40B4-BE49-F238E27FC236}">
                <a16:creationId xmlns:a16="http://schemas.microsoft.com/office/drawing/2014/main" id="{EEDB6F77-D722-A6E7-E64B-2E18F6BE09C1}"/>
              </a:ext>
            </a:extLst>
          </p:cNvPr>
          <p:cNvSpPr txBox="1"/>
          <p:nvPr/>
        </p:nvSpPr>
        <p:spPr>
          <a:xfrm>
            <a:off x="7248832" y="1234215"/>
            <a:ext cx="4943168" cy="410253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libir"/>
              </a:rPr>
              <a:t>(a) True → One superclass can have many subclasses.</a:t>
            </a:r>
          </a:p>
          <a:p>
            <a:pPr marL="342900" indent="-342900">
              <a:lnSpc>
                <a:spcPct val="150000"/>
              </a:lnSpc>
              <a:buFont typeface="Arial" panose="020B0604020202020204" pitchFamily="34" charset="0"/>
              <a:buChar char="•"/>
            </a:pPr>
            <a:r>
              <a:rPr lang="en-US" sz="2200" dirty="0">
                <a:latin typeface="Calibir"/>
              </a:rPr>
              <a:t>(b) True → Abstraction shows “what” a method does, not “how.”</a:t>
            </a:r>
          </a:p>
          <a:p>
            <a:pPr marL="342900" indent="-342900">
              <a:lnSpc>
                <a:spcPct val="150000"/>
              </a:lnSpc>
              <a:buFont typeface="Arial" panose="020B0604020202020204" pitchFamily="34" charset="0"/>
              <a:buChar char="•"/>
            </a:pPr>
            <a:r>
              <a:rPr lang="en-US" sz="2200" dirty="0">
                <a:latin typeface="Calibir"/>
              </a:rPr>
              <a:t>(c) True → Multiple inheritance is not supported in all languages</a:t>
            </a:r>
          </a:p>
          <a:p>
            <a:pPr marL="342900" indent="-342900">
              <a:lnSpc>
                <a:spcPct val="150000"/>
              </a:lnSpc>
              <a:buFont typeface="Arial" panose="020B0604020202020204" pitchFamily="34" charset="0"/>
              <a:buChar char="•"/>
            </a:pPr>
            <a:r>
              <a:rPr lang="en-US" sz="2200" dirty="0">
                <a:latin typeface="Calibir"/>
              </a:rPr>
              <a:t>(d) Not True → Encapsulation = grouping </a:t>
            </a:r>
            <a:r>
              <a:rPr lang="en-US" sz="2200" dirty="0">
                <a:highlight>
                  <a:srgbClr val="FFFF00"/>
                </a:highlight>
                <a:latin typeface="Calibir"/>
              </a:rPr>
              <a:t>data</a:t>
            </a:r>
            <a:r>
              <a:rPr lang="en-US" sz="2200" dirty="0">
                <a:latin typeface="Calibir"/>
              </a:rPr>
              <a:t> and methods </a:t>
            </a:r>
            <a:r>
              <a:rPr lang="en-US" sz="2200">
                <a:latin typeface="Calibir"/>
              </a:rPr>
              <a:t>together.</a:t>
            </a:r>
            <a:endParaRPr lang="en-US" sz="2200" dirty="0">
              <a:latin typeface="Calibir"/>
            </a:endParaRPr>
          </a:p>
        </p:txBody>
      </p:sp>
    </p:spTree>
    <p:extLst>
      <p:ext uri="{BB962C8B-B14F-4D97-AF65-F5344CB8AC3E}">
        <p14:creationId xmlns:p14="http://schemas.microsoft.com/office/powerpoint/2010/main" val="758100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3433-615C-3C20-5CFA-9BC38F633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B0C82-F9BD-3AE0-9439-12A5CF57A83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40C14C7E-EFFF-619B-8971-D98E41DD084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A39992D-19FC-A261-7C5B-77E50D739906}"/>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E74F63BC-85D7-0726-ADB5-0C513001A23D}"/>
              </a:ext>
            </a:extLst>
          </p:cNvPr>
          <p:cNvSpPr txBox="1"/>
          <p:nvPr/>
        </p:nvSpPr>
        <p:spPr>
          <a:xfrm>
            <a:off x="6489290" y="1072057"/>
            <a:ext cx="5813576"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Functional requirements describe </a:t>
            </a:r>
            <a:r>
              <a:rPr lang="en-US" sz="2800" i="1" dirty="0">
                <a:latin typeface="Calibir"/>
              </a:rPr>
              <a:t>what the system does</a:t>
            </a:r>
            <a:r>
              <a:rPr lang="en-US" sz="2800" dirty="0">
                <a:latin typeface="Calibir"/>
              </a:rPr>
              <a:t> → actions like selecting a team, logging in, or choosing a stadium.</a:t>
            </a:r>
          </a:p>
          <a:p>
            <a:pPr marL="457200" indent="-457200">
              <a:lnSpc>
                <a:spcPct val="150000"/>
              </a:lnSpc>
              <a:buFont typeface="Arial" panose="020B0604020202020204" pitchFamily="34" charset="0"/>
              <a:buChar char="•"/>
            </a:pPr>
            <a:r>
              <a:rPr lang="en-US" sz="2800" dirty="0">
                <a:latin typeface="Calibir"/>
              </a:rPr>
              <a:t>Non-functional requirements describe </a:t>
            </a:r>
            <a:r>
              <a:rPr lang="en-US" sz="2800" i="1" dirty="0">
                <a:latin typeface="Calibir"/>
              </a:rPr>
              <a:t>how well the system works</a:t>
            </a:r>
            <a:r>
              <a:rPr lang="en-US" sz="2800" dirty="0">
                <a:latin typeface="Calibir"/>
              </a:rPr>
              <a:t> → performance, speed, security, usability, etc.</a:t>
            </a:r>
          </a:p>
        </p:txBody>
      </p:sp>
    </p:spTree>
    <p:extLst>
      <p:ext uri="{BB962C8B-B14F-4D97-AF65-F5344CB8AC3E}">
        <p14:creationId xmlns:p14="http://schemas.microsoft.com/office/powerpoint/2010/main" val="3744775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157E9-FDEA-4B7C-72AD-BF9E22D6C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8FB5F-B8CB-B93B-F14A-1FB9EEA8548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CCA96E7-F7B6-D08F-76A2-7C978D7ED633}"/>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15357ADC-4FF5-8241-35FB-F4534A8C0902}"/>
              </a:ext>
            </a:extLst>
          </p:cNvPr>
          <p:cNvSpPr txBox="1"/>
          <p:nvPr/>
        </p:nvSpPr>
        <p:spPr>
          <a:xfrm>
            <a:off x="4916" y="1747498"/>
            <a:ext cx="6096000" cy="5196166"/>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
        <p:nvSpPr>
          <p:cNvPr id="5" name="TextBox 4">
            <a:extLst>
              <a:ext uri="{FF2B5EF4-FFF2-40B4-BE49-F238E27FC236}">
                <a16:creationId xmlns:a16="http://schemas.microsoft.com/office/drawing/2014/main" id="{0990D66B-4DBD-6FBB-0BAD-89171D816BBA}"/>
              </a:ext>
            </a:extLst>
          </p:cNvPr>
          <p:cNvSpPr txBox="1"/>
          <p:nvPr/>
        </p:nvSpPr>
        <p:spPr>
          <a:xfrm>
            <a:off x="6489290" y="1072057"/>
            <a:ext cx="5813576"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Options (a), (b), and (c) are all functional.</a:t>
            </a:r>
          </a:p>
          <a:p>
            <a:pPr marL="457200" indent="-457200">
              <a:lnSpc>
                <a:spcPct val="150000"/>
              </a:lnSpc>
              <a:buFont typeface="Arial" panose="020B0604020202020204" pitchFamily="34" charset="0"/>
              <a:buChar char="•"/>
            </a:pPr>
            <a:r>
              <a:rPr lang="en-US" sz="2800" dirty="0">
                <a:latin typeface="Calibir"/>
              </a:rPr>
              <a:t>Option (d) is about performance (time constraint), so it is non-functional.</a:t>
            </a:r>
          </a:p>
          <a:p>
            <a:pPr>
              <a:lnSpc>
                <a:spcPct val="150000"/>
              </a:lnSpc>
              <a:buNone/>
            </a:pPr>
            <a:r>
              <a:rPr lang="en-US" sz="2800" dirty="0">
                <a:latin typeface="Calibir"/>
              </a:rPr>
              <a:t>So: (d) is the non-functional requirement.</a:t>
            </a:r>
          </a:p>
        </p:txBody>
      </p:sp>
    </p:spTree>
    <p:extLst>
      <p:ext uri="{BB962C8B-B14F-4D97-AF65-F5344CB8AC3E}">
        <p14:creationId xmlns:p14="http://schemas.microsoft.com/office/powerpoint/2010/main" val="32659785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0651B-EF12-0FE6-7F15-1EEDCAA99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E222B7-3179-D535-87CE-E9B0AC98533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6C21F3FA-4239-D808-6000-28015CD4DE5B}"/>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21A4507-7567-08AE-3536-15A039EE17D4}"/>
              </a:ext>
            </a:extLst>
          </p:cNvPr>
          <p:cNvSpPr txBox="1"/>
          <p:nvPr/>
        </p:nvSpPr>
        <p:spPr>
          <a:xfrm>
            <a:off x="4916" y="1747498"/>
            <a:ext cx="12187084" cy="3903504"/>
          </a:xfrm>
          <a:prstGeom prst="rect">
            <a:avLst/>
          </a:prstGeom>
          <a:noFill/>
        </p:spPr>
        <p:txBody>
          <a:bodyPr wrap="square">
            <a:spAutoFit/>
          </a:bodyPr>
          <a:lstStyle/>
          <a:p>
            <a:pPr>
              <a:lnSpc>
                <a:spcPct val="150000"/>
              </a:lnSpc>
            </a:pPr>
            <a:r>
              <a:rPr lang="en-US" sz="2800" b="1" dirty="0">
                <a:latin typeface="Calibir"/>
              </a:rPr>
              <a:t>Which of the following is a non-functional requirement for an online booking system?</a:t>
            </a:r>
          </a:p>
          <a:p>
            <a:pPr>
              <a:lnSpc>
                <a:spcPct val="150000"/>
              </a:lnSpc>
            </a:pPr>
            <a:r>
              <a:rPr lang="en-US" sz="2800" dirty="0">
                <a:latin typeface="Calibir"/>
              </a:rPr>
              <a:t>a) The user can create an account.</a:t>
            </a:r>
            <a:br>
              <a:rPr lang="en-US" sz="2800" dirty="0">
                <a:latin typeface="Calibir"/>
              </a:rPr>
            </a:br>
            <a:r>
              <a:rPr lang="en-US" sz="2800" dirty="0">
                <a:latin typeface="Calibir"/>
              </a:rPr>
              <a:t>b) The user can cancel a booking.</a:t>
            </a:r>
            <a:br>
              <a:rPr lang="en-US" sz="2800" dirty="0">
                <a:latin typeface="Calibir"/>
              </a:rPr>
            </a:br>
            <a:r>
              <a:rPr lang="en-US" sz="2800" dirty="0">
                <a:latin typeface="Calibir"/>
              </a:rPr>
              <a:t>c) The administrator can view all bookings.</a:t>
            </a:r>
            <a:br>
              <a:rPr lang="en-US" sz="2800" dirty="0">
                <a:latin typeface="Calibir"/>
              </a:rPr>
            </a:br>
            <a:r>
              <a:rPr lang="en-US" sz="2800" dirty="0">
                <a:latin typeface="Calibir"/>
              </a:rPr>
              <a:t>d) The system must display search results within 2 seconds.</a:t>
            </a:r>
          </a:p>
        </p:txBody>
      </p:sp>
    </p:spTree>
    <p:extLst>
      <p:ext uri="{BB962C8B-B14F-4D97-AF65-F5344CB8AC3E}">
        <p14:creationId xmlns:p14="http://schemas.microsoft.com/office/powerpoint/2010/main" val="32399169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B822A-827C-2346-992F-E5328966AC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8C923-02DB-B72D-DE28-7B4566E6959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C09AEDAC-65AF-E4E5-F92D-3B3B0CB49DAC}"/>
              </a:ext>
            </a:extLst>
          </p:cNvPr>
          <p:cNvSpPr txBox="1"/>
          <p:nvPr/>
        </p:nvSpPr>
        <p:spPr>
          <a:xfrm>
            <a:off x="4916" y="1747498"/>
            <a:ext cx="12187084" cy="3257174"/>
          </a:xfrm>
          <a:prstGeom prst="rect">
            <a:avLst/>
          </a:prstGeom>
          <a:noFill/>
        </p:spPr>
        <p:txBody>
          <a:bodyPr wrap="square">
            <a:spAutoFit/>
          </a:bodyPr>
          <a:lstStyle/>
          <a:p>
            <a:pPr>
              <a:lnSpc>
                <a:spcPct val="150000"/>
              </a:lnSpc>
            </a:pPr>
            <a:r>
              <a:rPr lang="en-US" sz="2800" dirty="0">
                <a:latin typeface="Calibir"/>
              </a:rPr>
              <a:t>Functional requirements describe what the system does—features and </a:t>
            </a:r>
            <a:r>
              <a:rPr lang="en-US" sz="2800" dirty="0" err="1">
                <a:latin typeface="Calibir"/>
              </a:rPr>
              <a:t>behaviours</a:t>
            </a:r>
            <a:r>
              <a:rPr lang="en-US" sz="2800" dirty="0">
                <a:latin typeface="Calibir"/>
              </a:rPr>
              <a:t>.</a:t>
            </a:r>
            <a:br>
              <a:rPr lang="en-US" sz="2800" dirty="0">
                <a:latin typeface="Calibir"/>
              </a:rPr>
            </a:br>
            <a:r>
              <a:rPr lang="en-US" sz="2800" dirty="0">
                <a:latin typeface="Calibir"/>
              </a:rPr>
              <a:t>Non-functional requirements describe how well the system should operate, such as performance, security, reliability and usability.</a:t>
            </a:r>
          </a:p>
          <a:p>
            <a:pPr>
              <a:lnSpc>
                <a:spcPct val="150000"/>
              </a:lnSpc>
            </a:pPr>
            <a:r>
              <a:rPr lang="en-US" sz="2800" dirty="0">
                <a:latin typeface="Calibir"/>
              </a:rPr>
              <a:t>Therefore, (d) is the non-functional requirement because it specifies a performance constraint.</a:t>
            </a:r>
          </a:p>
        </p:txBody>
      </p:sp>
    </p:spTree>
    <p:extLst>
      <p:ext uri="{BB962C8B-B14F-4D97-AF65-F5344CB8AC3E}">
        <p14:creationId xmlns:p14="http://schemas.microsoft.com/office/powerpoint/2010/main" val="16114043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58170-D0D9-091C-0EC2-548059223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8D551F-C5F9-B0E3-9196-BC417EA521A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4" name="TextBox 3">
            <a:extLst>
              <a:ext uri="{FF2B5EF4-FFF2-40B4-BE49-F238E27FC236}">
                <a16:creationId xmlns:a16="http://schemas.microsoft.com/office/drawing/2014/main" id="{37CF8625-0EB6-980B-DCA1-FBAF770E4EFF}"/>
              </a:ext>
            </a:extLst>
          </p:cNvPr>
          <p:cNvSpPr txBox="1"/>
          <p:nvPr/>
        </p:nvSpPr>
        <p:spPr>
          <a:xfrm>
            <a:off x="4916" y="1747498"/>
            <a:ext cx="12187084" cy="3903504"/>
          </a:xfrm>
          <a:prstGeom prst="rect">
            <a:avLst/>
          </a:prstGeom>
          <a:noFill/>
        </p:spPr>
        <p:txBody>
          <a:bodyPr wrap="square">
            <a:spAutoFit/>
          </a:bodyPr>
          <a:lstStyle/>
          <a:p>
            <a:pPr>
              <a:lnSpc>
                <a:spcPct val="150000"/>
              </a:lnSpc>
            </a:pPr>
            <a:r>
              <a:rPr lang="en-US" sz="2800" dirty="0">
                <a:latin typeface="Calibir"/>
              </a:rPr>
              <a:t>During which software development activity are stakeholder needs identified, </a:t>
            </a:r>
            <a:r>
              <a:rPr lang="en-US" sz="2800" dirty="0" err="1">
                <a:latin typeface="Calibir"/>
              </a:rPr>
              <a:t>analysed</a:t>
            </a:r>
            <a:r>
              <a:rPr lang="en-US" sz="2800" dirty="0">
                <a:latin typeface="Calibir"/>
              </a:rPr>
              <a:t> and documented?</a:t>
            </a:r>
          </a:p>
          <a:p>
            <a:pPr>
              <a:lnSpc>
                <a:spcPct val="150000"/>
              </a:lnSpc>
            </a:pPr>
            <a:r>
              <a:rPr lang="en-US" sz="2800" dirty="0">
                <a:latin typeface="Calibir"/>
              </a:rPr>
              <a:t>a) Implementation</a:t>
            </a:r>
            <a:br>
              <a:rPr lang="en-US" sz="2800" dirty="0">
                <a:latin typeface="Calibir"/>
              </a:rPr>
            </a:br>
            <a:r>
              <a:rPr lang="en-US" sz="2800" dirty="0">
                <a:latin typeface="Calibir"/>
              </a:rPr>
              <a:t>b) Testing</a:t>
            </a:r>
            <a:br>
              <a:rPr lang="en-US" sz="2800" dirty="0">
                <a:latin typeface="Calibir"/>
              </a:rPr>
            </a:br>
            <a:r>
              <a:rPr lang="en-US" sz="2800" dirty="0">
                <a:latin typeface="Calibir"/>
              </a:rPr>
              <a:t>c) Requirements analysis</a:t>
            </a:r>
            <a:br>
              <a:rPr lang="en-US" sz="2800" dirty="0">
                <a:latin typeface="Calibir"/>
              </a:rPr>
            </a:br>
            <a:r>
              <a:rPr lang="en-US" sz="2800" dirty="0">
                <a:latin typeface="Calibir"/>
              </a:rPr>
              <a:t>d) Deployment</a:t>
            </a:r>
          </a:p>
        </p:txBody>
      </p:sp>
      <p:sp>
        <p:nvSpPr>
          <p:cNvPr id="3" name="Rectangle: Rounded Corners 2">
            <a:extLst>
              <a:ext uri="{FF2B5EF4-FFF2-40B4-BE49-F238E27FC236}">
                <a16:creationId xmlns:a16="http://schemas.microsoft.com/office/drawing/2014/main" id="{38C48992-0A7C-91AD-AEC1-FB4FDBB93C4E}"/>
              </a:ext>
            </a:extLst>
          </p:cNvPr>
          <p:cNvSpPr/>
          <p:nvPr/>
        </p:nvSpPr>
        <p:spPr>
          <a:xfrm>
            <a:off x="0" y="4435366"/>
            <a:ext cx="4120055" cy="54653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7816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1A5C9-9BBF-4EF2-EEF2-D780582F9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3413B5-07E8-4AB3-524B-F2693CB494F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11BEFBC-A0B5-0C3F-0867-18E46FBB4B05}"/>
              </a:ext>
            </a:extLst>
          </p:cNvPr>
          <p:cNvSpPr txBox="1"/>
          <p:nvPr/>
        </p:nvSpPr>
        <p:spPr>
          <a:xfrm>
            <a:off x="110359" y="1154082"/>
            <a:ext cx="11971282" cy="4549835"/>
          </a:xfrm>
          <a:prstGeom prst="rect">
            <a:avLst/>
          </a:prstGeom>
          <a:noFill/>
        </p:spPr>
        <p:txBody>
          <a:bodyPr wrap="square">
            <a:spAutoFit/>
          </a:bodyPr>
          <a:lstStyle/>
          <a:p>
            <a:pPr>
              <a:lnSpc>
                <a:spcPct val="150000"/>
              </a:lnSpc>
              <a:buNone/>
            </a:pPr>
            <a:r>
              <a:rPr lang="en-US" sz="2800" b="1" dirty="0">
                <a:latin typeface="Calibir"/>
              </a:rPr>
              <a:t>Prepare for Quiz 1</a:t>
            </a:r>
          </a:p>
          <a:p>
            <a:pPr marL="457200" indent="-457200">
              <a:lnSpc>
                <a:spcPct val="150000"/>
              </a:lnSpc>
              <a:buFont typeface="Arial" panose="020B0604020202020204" pitchFamily="34" charset="0"/>
              <a:buChar char="•"/>
            </a:pPr>
            <a:r>
              <a:rPr lang="en-US" sz="2800" dirty="0">
                <a:latin typeface="Calibir"/>
              </a:rPr>
              <a:t>Review all Modules 1–2 lecture notes, slides and lab activities.</a:t>
            </a:r>
          </a:p>
          <a:p>
            <a:pPr marL="457200" indent="-457200">
              <a:lnSpc>
                <a:spcPct val="150000"/>
              </a:lnSpc>
              <a:buFont typeface="Arial" panose="020B0604020202020204" pitchFamily="34" charset="0"/>
              <a:buChar char="•"/>
            </a:pPr>
            <a:r>
              <a:rPr lang="en-US" sz="2800" dirty="0">
                <a:latin typeface="Calibir"/>
              </a:rPr>
              <a:t>Review software development processes and methodologies.</a:t>
            </a:r>
          </a:p>
          <a:p>
            <a:pPr marL="457200" indent="-457200">
              <a:lnSpc>
                <a:spcPct val="150000"/>
              </a:lnSpc>
              <a:buFont typeface="Arial" panose="020B0604020202020204" pitchFamily="34" charset="0"/>
              <a:buChar char="•"/>
            </a:pPr>
            <a:r>
              <a:rPr lang="en-US" sz="2800" dirty="0">
                <a:latin typeface="Calibir"/>
              </a:rPr>
              <a:t>Understand requirements analysis, including functional vs. non-functional requirements.</a:t>
            </a:r>
          </a:p>
          <a:p>
            <a:pPr marL="457200" indent="-457200">
              <a:lnSpc>
                <a:spcPct val="150000"/>
              </a:lnSpc>
              <a:buFont typeface="Arial" panose="020B0604020202020204" pitchFamily="34" charset="0"/>
              <a:buChar char="•"/>
            </a:pPr>
            <a:r>
              <a:rPr lang="en-US" sz="2800" dirty="0">
                <a:latin typeface="Calibir"/>
              </a:rPr>
              <a:t>Review software design and programming fundamentals.</a:t>
            </a:r>
          </a:p>
          <a:p>
            <a:pPr marL="457200" indent="-457200">
              <a:lnSpc>
                <a:spcPct val="150000"/>
              </a:lnSpc>
              <a:buFont typeface="Arial" panose="020B0604020202020204" pitchFamily="34" charset="0"/>
              <a:buChar char="•"/>
            </a:pPr>
            <a:r>
              <a:rPr lang="en-US" sz="2800" dirty="0">
                <a:latin typeface="Calibir"/>
              </a:rPr>
              <a:t>Understand classes, objects, attributes, methods and core OOP principles.</a:t>
            </a:r>
          </a:p>
        </p:txBody>
      </p:sp>
    </p:spTree>
    <p:extLst>
      <p:ext uri="{BB962C8B-B14F-4D97-AF65-F5344CB8AC3E}">
        <p14:creationId xmlns:p14="http://schemas.microsoft.com/office/powerpoint/2010/main" val="21198192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ECF0F-E7A4-F51F-CC99-622BFD2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CB5C07-6BB2-AB7B-368B-A41A44839FE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78BA762-1533-A51F-0B50-3210814F5601}"/>
              </a:ext>
            </a:extLst>
          </p:cNvPr>
          <p:cNvSpPr txBox="1"/>
          <p:nvPr/>
        </p:nvSpPr>
        <p:spPr>
          <a:xfrm>
            <a:off x="110359" y="1154082"/>
            <a:ext cx="11971282" cy="4549835"/>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Review UML use-case modelling: actors, associations, include, extend and generalization.</a:t>
            </a:r>
          </a:p>
          <a:p>
            <a:pPr marL="457200" indent="-457200">
              <a:lnSpc>
                <a:spcPct val="150000"/>
              </a:lnSpc>
              <a:buFont typeface="Arial" panose="020B0604020202020204" pitchFamily="34" charset="0"/>
              <a:buChar char="•"/>
            </a:pPr>
            <a:r>
              <a:rPr lang="en-US" sz="2800" dirty="0">
                <a:latin typeface="Calibir"/>
              </a:rPr>
              <a:t>Review UML class diagrams: relationships, inheritance, multiplicity and visibility.</a:t>
            </a:r>
          </a:p>
          <a:p>
            <a:pPr marL="457200" indent="-457200">
              <a:lnSpc>
                <a:spcPct val="150000"/>
              </a:lnSpc>
              <a:buFont typeface="Arial" panose="020B0604020202020204" pitchFamily="34" charset="0"/>
              <a:buChar char="•"/>
            </a:pPr>
            <a:r>
              <a:rPr lang="en-US" sz="2800" dirty="0">
                <a:latin typeface="Calibir"/>
              </a:rPr>
              <a:t>Practice interpreting questions and diagrams rather than </a:t>
            </a:r>
            <a:r>
              <a:rPr lang="en-US" sz="2800" dirty="0" err="1">
                <a:latin typeface="Calibir"/>
              </a:rPr>
              <a:t>memorising</a:t>
            </a:r>
            <a:r>
              <a:rPr lang="en-US" sz="2800" dirty="0">
                <a:latin typeface="Calibir"/>
              </a:rPr>
              <a:t> answers.</a:t>
            </a:r>
          </a:p>
          <a:p>
            <a:pPr marL="457200" indent="-457200">
              <a:lnSpc>
                <a:spcPct val="150000"/>
              </a:lnSpc>
              <a:buFont typeface="Arial" panose="020B0604020202020204" pitchFamily="34" charset="0"/>
              <a:buChar char="•"/>
            </a:pPr>
            <a:r>
              <a:rPr lang="en-US" sz="2800" dirty="0">
                <a:latin typeface="Calibir"/>
              </a:rPr>
              <a:t>Remember: 15 MCQs, 30 minutes, one attempt, restricted open-book, lab computer only.</a:t>
            </a:r>
          </a:p>
        </p:txBody>
      </p:sp>
    </p:spTree>
    <p:extLst>
      <p:ext uri="{BB962C8B-B14F-4D97-AF65-F5344CB8AC3E}">
        <p14:creationId xmlns:p14="http://schemas.microsoft.com/office/powerpoint/2010/main" val="20512869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fr-FR" sz="4000" dirty="0">
                <a:latin typeface="Calibir"/>
              </a:rPr>
              <a:t>Group Assignement – Part 1: Clarification Slides</a:t>
            </a:r>
            <a:endParaRPr lang="en-AU" sz="4000" b="1" dirty="0">
              <a:latin typeface="Calibir"/>
            </a:endParaRPr>
          </a:p>
        </p:txBody>
      </p:sp>
      <p:sp>
        <p:nvSpPr>
          <p:cNvPr id="7" name="TextBox 6">
            <a:extLst>
              <a:ext uri="{FF2B5EF4-FFF2-40B4-BE49-F238E27FC236}">
                <a16:creationId xmlns:a16="http://schemas.microsoft.com/office/drawing/2014/main" id="{016D47E7-5023-E947-2FBD-B5469DC249BA}"/>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These slides are prepared to clarify each part of the assignment (scope, user stories, use case diagram, class diagram, rules, data file, etc.).</a:t>
            </a:r>
          </a:p>
          <a:p>
            <a:pPr marL="457200" indent="-457200">
              <a:lnSpc>
                <a:spcPct val="150000"/>
              </a:lnSpc>
              <a:buFont typeface="Arial" panose="020B0604020202020204" pitchFamily="34" charset="0"/>
              <a:buChar char="•"/>
            </a:pPr>
            <a:r>
              <a:rPr lang="en-US" sz="2800" dirty="0">
                <a:latin typeface="Calibir"/>
              </a:rPr>
              <a:t>If you have any questions, please send me an email with the specific part you’d like me to explain further, and I will include it in the shared clarifications for everyone.</a:t>
            </a:r>
          </a:p>
          <a:p>
            <a:pPr marL="457200" indent="-457200">
              <a:lnSpc>
                <a:spcPct val="150000"/>
              </a:lnSpc>
              <a:buFont typeface="Arial" panose="020B0604020202020204" pitchFamily="34" charset="0"/>
              <a:buChar char="•"/>
            </a:pPr>
            <a:r>
              <a:rPr lang="en-US" sz="2800" dirty="0">
                <a:latin typeface="Calibir"/>
              </a:rPr>
              <a:t>Remember: the main reference is the instructions on Canvas under </a:t>
            </a:r>
            <a:r>
              <a:rPr lang="en-US" sz="2800" i="1" dirty="0">
                <a:latin typeface="Calibir"/>
              </a:rPr>
              <a:t>Assignments → Part 1 – Analysis and Design</a:t>
            </a:r>
            <a:r>
              <a:rPr lang="en-US" sz="2800" dirty="0">
                <a:latin typeface="Calibir"/>
              </a:rPr>
              <a:t>. These slides are an additional guide to help you if anything seems confusing.</a:t>
            </a:r>
          </a:p>
        </p:txBody>
      </p:sp>
    </p:spTree>
    <p:extLst>
      <p:ext uri="{BB962C8B-B14F-4D97-AF65-F5344CB8AC3E}">
        <p14:creationId xmlns:p14="http://schemas.microsoft.com/office/powerpoint/2010/main" val="25731999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6C95-FECD-87E8-86B5-D09872C5D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22C2E-A0B4-7CAE-1851-49E4E331AF0F}"/>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6697519-D56D-DCD1-BB0D-F279264BE866}"/>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Student role</a:t>
            </a:r>
            <a:r>
              <a:rPr lang="en-US" sz="2800" dirty="0">
                <a:latin typeface="Calibir"/>
              </a:rPr>
              <a:t>: register → log in → </a:t>
            </a:r>
            <a:r>
              <a:rPr lang="en-US" sz="2800" dirty="0" err="1">
                <a:latin typeface="Calibir"/>
              </a:rPr>
              <a:t>enrol</a:t>
            </a:r>
            <a:r>
              <a:rPr lang="en-US" sz="2800" dirty="0">
                <a:latin typeface="Calibir"/>
              </a:rPr>
              <a:t> / drop subjects → view subjects → change password (Students must register → log in → do student actions: </a:t>
            </a:r>
            <a:r>
              <a:rPr lang="en-US" sz="2800" dirty="0" err="1">
                <a:latin typeface="Calibir"/>
              </a:rPr>
              <a:t>enrol</a:t>
            </a:r>
            <a:r>
              <a:rPr lang="en-US" sz="2800" dirty="0">
                <a:latin typeface="Calibir"/>
              </a:rPr>
              <a:t>/drop/view/change password)</a:t>
            </a:r>
          </a:p>
          <a:p>
            <a:pPr marL="457200" indent="-457200">
              <a:lnSpc>
                <a:spcPct val="150000"/>
              </a:lnSpc>
              <a:buFont typeface="Arial" panose="020B0604020202020204" pitchFamily="34" charset="0"/>
              <a:buChar char="•"/>
            </a:pPr>
            <a:r>
              <a:rPr lang="en-US" sz="2800" b="1" dirty="0">
                <a:latin typeface="Calibir"/>
              </a:rPr>
              <a:t>Admin role</a:t>
            </a:r>
            <a:r>
              <a:rPr lang="en-US" sz="2800" dirty="0">
                <a:latin typeface="Calibir"/>
              </a:rPr>
              <a:t>: view and manage student data (Admins can view/manage student data)</a:t>
            </a:r>
          </a:p>
          <a:p>
            <a:pPr marL="457200" indent="-457200">
              <a:lnSpc>
                <a:spcPct val="150000"/>
              </a:lnSpc>
              <a:buFont typeface="Arial" panose="020B0604020202020204" pitchFamily="34" charset="0"/>
              <a:buChar char="•"/>
            </a:pPr>
            <a:r>
              <a:rPr lang="en-US" sz="2800" b="1" dirty="0">
                <a:latin typeface="Calibir"/>
              </a:rPr>
              <a:t>System</a:t>
            </a:r>
            <a:r>
              <a:rPr lang="en-US" sz="2800" dirty="0">
                <a:latin typeface="Calibir"/>
              </a:rPr>
              <a:t>: saves all data to </a:t>
            </a:r>
            <a:r>
              <a:rPr lang="en-US" sz="2800" dirty="0" err="1">
                <a:latin typeface="Calibir"/>
              </a:rPr>
              <a:t>students.data</a:t>
            </a:r>
            <a:r>
              <a:rPr lang="en-US" sz="2800" dirty="0">
                <a:latin typeface="Calibir"/>
              </a:rPr>
              <a:t> (All data saved to </a:t>
            </a:r>
            <a:r>
              <a:rPr lang="en-US" sz="2800" dirty="0" err="1">
                <a:latin typeface="Calibir"/>
              </a:rPr>
              <a:t>students.data</a:t>
            </a:r>
            <a:r>
              <a:rPr lang="en-US" sz="2800" dirty="0">
                <a:latin typeface="Calibir"/>
              </a:rPr>
              <a:t>)</a:t>
            </a:r>
          </a:p>
          <a:p>
            <a:pPr>
              <a:lnSpc>
                <a:spcPct val="150000"/>
              </a:lnSpc>
            </a:pPr>
            <a:r>
              <a:rPr lang="en-US" sz="2800" b="1" dirty="0">
                <a:latin typeface="Calibir"/>
              </a:rPr>
              <a:t>Scope</a:t>
            </a:r>
            <a:r>
              <a:rPr lang="en-US" sz="2800" dirty="0">
                <a:latin typeface="Calibir"/>
              </a:rPr>
              <a:t>: Command-line (CLI) system only (CLI system only (GUI is Part 2))</a:t>
            </a:r>
            <a:br>
              <a:rPr lang="en-US" sz="2800" dirty="0">
                <a:latin typeface="Calibir"/>
              </a:rPr>
            </a:br>
            <a:r>
              <a:rPr lang="en-US" sz="2800" b="1" dirty="0">
                <a:latin typeface="Calibir"/>
              </a:rPr>
              <a:t>Not in scope</a:t>
            </a:r>
            <a:r>
              <a:rPr lang="en-US" sz="2800" dirty="0">
                <a:latin typeface="Calibir"/>
              </a:rPr>
              <a:t>: multiple semesters, fancy user interface (GUI comes in Part 2)</a:t>
            </a:r>
          </a:p>
        </p:txBody>
      </p:sp>
    </p:spTree>
    <p:extLst>
      <p:ext uri="{BB962C8B-B14F-4D97-AF65-F5344CB8AC3E}">
        <p14:creationId xmlns:p14="http://schemas.microsoft.com/office/powerpoint/2010/main" val="11568417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A966F-009A-93A1-E0AA-D3C201C82B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65CD7D-C1C6-3B35-406F-BF4EC604099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CE1DBCA0-073B-4591-8A81-AE1BBC88F4A4}"/>
              </a:ext>
            </a:extLst>
          </p:cNvPr>
          <p:cNvSpPr txBox="1"/>
          <p:nvPr/>
        </p:nvSpPr>
        <p:spPr>
          <a:xfrm>
            <a:off x="64923" y="830917"/>
            <a:ext cx="12062153" cy="5196166"/>
          </a:xfrm>
          <a:prstGeom prst="rect">
            <a:avLst/>
          </a:prstGeom>
          <a:noFill/>
        </p:spPr>
        <p:txBody>
          <a:bodyPr wrap="square">
            <a:spAutoFit/>
          </a:bodyPr>
          <a:lstStyle/>
          <a:p>
            <a:pPr>
              <a:lnSpc>
                <a:spcPct val="150000"/>
              </a:lnSpc>
            </a:pPr>
            <a:r>
              <a:rPr lang="en-US" sz="2800" b="1" dirty="0">
                <a:latin typeface="Calibir"/>
              </a:rPr>
              <a:t>Clarifying Actors</a:t>
            </a:r>
          </a:p>
          <a:p>
            <a:pPr marL="914400" lvl="1" indent="-457200">
              <a:lnSpc>
                <a:spcPct val="150000"/>
              </a:lnSpc>
              <a:buFont typeface="Arial" panose="020B0604020202020204" pitchFamily="34" charset="0"/>
              <a:buChar char="•"/>
            </a:pPr>
            <a:r>
              <a:rPr lang="en-US" sz="2800" b="1" dirty="0">
                <a:latin typeface="Calibir"/>
              </a:rPr>
              <a:t>Student</a:t>
            </a:r>
            <a:r>
              <a:rPr lang="en-US" sz="2800" dirty="0">
                <a:latin typeface="Calibir"/>
              </a:rPr>
              <a:t> → a real user who registers, logs in, </a:t>
            </a:r>
            <a:r>
              <a:rPr lang="en-US" sz="2800" dirty="0" err="1">
                <a:latin typeface="Calibir"/>
              </a:rPr>
              <a:t>enrols</a:t>
            </a:r>
            <a:r>
              <a:rPr lang="en-US" sz="2800" dirty="0">
                <a:latin typeface="Calibir"/>
              </a:rPr>
              <a:t>, drops subjects, views enrolments, changes password.</a:t>
            </a:r>
          </a:p>
          <a:p>
            <a:pPr marL="914400" lvl="1" indent="-457200">
              <a:lnSpc>
                <a:spcPct val="150000"/>
              </a:lnSpc>
              <a:buFont typeface="Arial" panose="020B0604020202020204" pitchFamily="34" charset="0"/>
              <a:buChar char="•"/>
            </a:pPr>
            <a:r>
              <a:rPr lang="en-US" sz="2800" b="1" dirty="0">
                <a:latin typeface="Calibir"/>
              </a:rPr>
              <a:t>Admin</a:t>
            </a:r>
            <a:r>
              <a:rPr lang="en-US" sz="2800" dirty="0">
                <a:latin typeface="Calibir"/>
              </a:rPr>
              <a:t> → a real user who views all students, groups by grade, removes a student, clears all data.</a:t>
            </a:r>
          </a:p>
          <a:p>
            <a:pPr marL="914400" lvl="1" indent="-457200">
              <a:lnSpc>
                <a:spcPct val="150000"/>
              </a:lnSpc>
              <a:buFont typeface="Arial" panose="020B0604020202020204" pitchFamily="34" charset="0"/>
              <a:buChar char="•"/>
            </a:pPr>
            <a:r>
              <a:rPr lang="en-US" sz="2800" b="1" dirty="0">
                <a:latin typeface="Calibir"/>
              </a:rPr>
              <a:t>System</a:t>
            </a:r>
            <a:r>
              <a:rPr lang="en-US" sz="2800" dirty="0">
                <a:latin typeface="Calibir"/>
              </a:rPr>
              <a:t> → not a person, but we can include it in user stories when it does something </a:t>
            </a:r>
            <a:r>
              <a:rPr lang="en-US" sz="2800" i="1" dirty="0">
                <a:latin typeface="Calibir"/>
              </a:rPr>
              <a:t>automatically</a:t>
            </a:r>
            <a:r>
              <a:rPr lang="en-US" sz="2800" dirty="0">
                <a:latin typeface="Calibir"/>
              </a:rPr>
              <a:t> (e.g., generate ID, assign marks/grades, validate password).</a:t>
            </a:r>
          </a:p>
        </p:txBody>
      </p:sp>
    </p:spTree>
    <p:extLst>
      <p:ext uri="{BB962C8B-B14F-4D97-AF65-F5344CB8AC3E}">
        <p14:creationId xmlns:p14="http://schemas.microsoft.com/office/powerpoint/2010/main" val="3713377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CFCA-3249-B99F-DB99-7B924756C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7DA45-A72E-F161-C79A-979D4DE857B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8C487832-FEF1-D3E4-FA6A-0C116A39563D}"/>
              </a:ext>
            </a:extLst>
          </p:cNvPr>
          <p:cNvSpPr txBox="1"/>
          <p:nvPr/>
        </p:nvSpPr>
        <p:spPr>
          <a:xfrm>
            <a:off x="64923" y="830917"/>
            <a:ext cx="12062153" cy="4549835"/>
          </a:xfrm>
          <a:prstGeom prst="rect">
            <a:avLst/>
          </a:prstGeom>
          <a:noFill/>
        </p:spPr>
        <p:txBody>
          <a:bodyPr wrap="square">
            <a:spAutoFit/>
          </a:bodyPr>
          <a:lstStyle/>
          <a:p>
            <a:pPr>
              <a:lnSpc>
                <a:spcPct val="150000"/>
              </a:lnSpc>
            </a:pPr>
            <a:r>
              <a:rPr lang="en-US" sz="2800" b="1" dirty="0">
                <a:latin typeface="Calibir"/>
              </a:rPr>
              <a:t>Avoid mistake: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The CLI (command-line) and GUI (graphical interface) are just </a:t>
            </a:r>
            <a:r>
              <a:rPr lang="en-US" sz="2800" i="1" dirty="0">
                <a:latin typeface="Calibir"/>
              </a:rPr>
              <a:t>tools</a:t>
            </a:r>
            <a:r>
              <a:rPr lang="en-US" sz="2800" dirty="0">
                <a:latin typeface="Calibir"/>
              </a:rPr>
              <a:t> to access the system. They are not actors.</a:t>
            </a:r>
          </a:p>
          <a:p>
            <a:pPr marL="457200" indent="-457200">
              <a:lnSpc>
                <a:spcPct val="150000"/>
              </a:lnSpc>
              <a:buFont typeface="Arial" panose="020B0604020202020204" pitchFamily="34" charset="0"/>
              <a:buChar char="•"/>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Actors = who interacts with the system (Student, Admin).</a:t>
            </a:r>
          </a:p>
          <a:p>
            <a:pPr marL="914400" lvl="1" indent="-457200">
              <a:lnSpc>
                <a:spcPct val="150000"/>
              </a:lnSpc>
              <a:buFont typeface="Arial" panose="020B0604020202020204" pitchFamily="34" charset="0"/>
              <a:buChar char="•"/>
            </a:pPr>
            <a:r>
              <a:rPr lang="en-US" sz="2800" dirty="0">
                <a:latin typeface="Calibir"/>
              </a:rPr>
              <a:t>System = does background tasks.</a:t>
            </a:r>
          </a:p>
          <a:p>
            <a:pPr marL="914400" lvl="1" indent="-457200">
              <a:lnSpc>
                <a:spcPct val="150000"/>
              </a:lnSpc>
              <a:buFont typeface="Arial" panose="020B0604020202020204" pitchFamily="34" charset="0"/>
              <a:buChar char="•"/>
            </a:pPr>
            <a:r>
              <a:rPr lang="en-US" sz="2800" dirty="0">
                <a:latin typeface="Calibir"/>
              </a:rPr>
              <a:t>CLI/GUI = just the interface, not actors.</a:t>
            </a:r>
          </a:p>
        </p:txBody>
      </p:sp>
    </p:spTree>
    <p:extLst>
      <p:ext uri="{BB962C8B-B14F-4D97-AF65-F5344CB8AC3E}">
        <p14:creationId xmlns:p14="http://schemas.microsoft.com/office/powerpoint/2010/main" val="6008101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A58B4-5460-3158-13C0-094FE62059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4220A-199E-BB8F-8736-A59AEC2A9BD1}"/>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A8A1439-23A7-FDA9-10AA-BBDE1AF1BACB}"/>
              </a:ext>
            </a:extLst>
          </p:cNvPr>
          <p:cNvSpPr txBox="1"/>
          <p:nvPr/>
        </p:nvSpPr>
        <p:spPr>
          <a:xfrm>
            <a:off x="110359" y="2123578"/>
            <a:ext cx="1197128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Actors in UML use-case diagrams are usually the people/external roles interacting with the system.</a:t>
            </a:r>
          </a:p>
          <a:p>
            <a:pPr marL="457200" indent="-457200">
              <a:lnSpc>
                <a:spcPct val="150000"/>
              </a:lnSpc>
              <a:buFont typeface="Arial" panose="020B0604020202020204" pitchFamily="34" charset="0"/>
              <a:buChar char="•"/>
            </a:pPr>
            <a:r>
              <a:rPr lang="en-US" sz="2800" dirty="0">
                <a:latin typeface="Calibir"/>
              </a:rPr>
              <a:t>The System itself is not drawn as an actor — it’s the boundary box that contains all use cases.</a:t>
            </a:r>
          </a:p>
        </p:txBody>
      </p:sp>
    </p:spTree>
    <p:extLst>
      <p:ext uri="{BB962C8B-B14F-4D97-AF65-F5344CB8AC3E}">
        <p14:creationId xmlns:p14="http://schemas.microsoft.com/office/powerpoint/2010/main" val="40827900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CB06E-992C-82F7-A6BB-F46656801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EE322-3D4B-9618-A78F-9B67BF4ABCC3}"/>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50A7B5D7-60A5-52AA-72D4-9BE84D1F4A2E}"/>
              </a:ext>
            </a:extLst>
          </p:cNvPr>
          <p:cNvSpPr txBox="1"/>
          <p:nvPr/>
        </p:nvSpPr>
        <p:spPr>
          <a:xfrm>
            <a:off x="110359" y="1154082"/>
            <a:ext cx="11971282" cy="4549835"/>
          </a:xfrm>
          <a:prstGeom prst="rect">
            <a:avLst/>
          </a:prstGeom>
          <a:noFill/>
        </p:spPr>
        <p:txBody>
          <a:bodyPr wrap="square">
            <a:spAutoFit/>
          </a:bodyPr>
          <a:lstStyle/>
          <a:p>
            <a:pPr>
              <a:lnSpc>
                <a:spcPct val="150000"/>
              </a:lnSpc>
            </a:pPr>
            <a:r>
              <a:rPr lang="en-US" sz="2800" dirty="0">
                <a:latin typeface="Calibir"/>
              </a:rPr>
              <a:t>So here:</a:t>
            </a:r>
          </a:p>
          <a:p>
            <a:pPr marL="457200" indent="-457200">
              <a:lnSpc>
                <a:spcPct val="150000"/>
              </a:lnSpc>
              <a:buFont typeface="Arial" panose="020B0604020202020204" pitchFamily="34" charset="0"/>
              <a:buChar char="•"/>
            </a:pPr>
            <a:r>
              <a:rPr lang="en-US" sz="2800" dirty="0">
                <a:latin typeface="Calibir"/>
              </a:rPr>
              <a:t>Student → external actor</a:t>
            </a:r>
          </a:p>
          <a:p>
            <a:pPr marL="457200" indent="-457200">
              <a:lnSpc>
                <a:spcPct val="150000"/>
              </a:lnSpc>
              <a:buFont typeface="Arial" panose="020B0604020202020204" pitchFamily="34" charset="0"/>
              <a:buChar char="•"/>
            </a:pPr>
            <a:r>
              <a:rPr lang="en-US" sz="2800" dirty="0">
                <a:latin typeface="Calibir"/>
              </a:rPr>
              <a:t>Admin → external actor</a:t>
            </a:r>
          </a:p>
          <a:p>
            <a:pPr marL="457200" indent="-457200">
              <a:lnSpc>
                <a:spcPct val="150000"/>
              </a:lnSpc>
              <a:buFont typeface="Arial" panose="020B0604020202020204" pitchFamily="34" charset="0"/>
              <a:buChar char="•"/>
            </a:pPr>
            <a:r>
              <a:rPr lang="en-US" sz="2800" dirty="0">
                <a:latin typeface="Calibir"/>
              </a:rPr>
              <a:t>System → not an actor (it’s the thing being modelled)</a:t>
            </a:r>
          </a:p>
          <a:p>
            <a:pPr>
              <a:lnSpc>
                <a:spcPct val="150000"/>
              </a:lnSpc>
            </a:pPr>
            <a:r>
              <a:rPr lang="en-US" sz="2800" dirty="0">
                <a:latin typeface="Calibir"/>
              </a:rPr>
              <a:t>Therefore, we really have two actors: Student and Admin.</a:t>
            </a:r>
            <a:br>
              <a:rPr lang="en-US" sz="2800" dirty="0">
                <a:latin typeface="Calibir"/>
              </a:rPr>
            </a:br>
            <a:r>
              <a:rPr lang="en-US" sz="2800" dirty="0">
                <a:latin typeface="Calibir"/>
              </a:rPr>
              <a:t>The System is the box that holds use cases (e.g., </a:t>
            </a:r>
            <a:r>
              <a:rPr lang="en-US" sz="2800" i="1" dirty="0">
                <a:latin typeface="Calibir"/>
              </a:rPr>
              <a:t>Register, Log in, </a:t>
            </a:r>
            <a:r>
              <a:rPr lang="en-US" sz="2800" i="1" dirty="0" err="1">
                <a:latin typeface="Calibir"/>
              </a:rPr>
              <a:t>Enrol</a:t>
            </a:r>
            <a:r>
              <a:rPr lang="en-US" sz="2800" i="1" dirty="0">
                <a:latin typeface="Calibir"/>
              </a:rPr>
              <a:t>, Drop, View, Change Password, Manage Data</a:t>
            </a:r>
            <a:r>
              <a:rPr lang="en-US" sz="2800" dirty="0">
                <a:latin typeface="Calibir"/>
              </a:rPr>
              <a:t>).</a:t>
            </a:r>
          </a:p>
        </p:txBody>
      </p:sp>
    </p:spTree>
    <p:extLst>
      <p:ext uri="{BB962C8B-B14F-4D97-AF65-F5344CB8AC3E}">
        <p14:creationId xmlns:p14="http://schemas.microsoft.com/office/powerpoint/2010/main" val="841807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9426C-72EF-43D9-6F62-858F6C9015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3776F2-F970-95A7-E7D2-443ED8458CBB}"/>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BAF84653-FBD5-5698-7776-DC79984ECF9A}"/>
              </a:ext>
            </a:extLst>
          </p:cNvPr>
          <p:cNvSpPr txBox="1"/>
          <p:nvPr/>
        </p:nvSpPr>
        <p:spPr>
          <a:xfrm>
            <a:off x="0" y="920681"/>
            <a:ext cx="11971282" cy="5632311"/>
          </a:xfrm>
          <a:prstGeom prst="rect">
            <a:avLst/>
          </a:prstGeom>
          <a:noFill/>
        </p:spPr>
        <p:txBody>
          <a:bodyPr wrap="square">
            <a:spAutoFit/>
          </a:bodyPr>
          <a:lstStyle/>
          <a:p>
            <a:pPr fontAlgn="base"/>
            <a:r>
              <a:rPr lang="en-US" dirty="0">
                <a:latin typeface="Calibir"/>
              </a:rPr>
              <a:t>Dear Dr. Farshid Keivanian,</a:t>
            </a:r>
          </a:p>
          <a:p>
            <a:pPr fontAlgn="base"/>
            <a:r>
              <a:rPr lang="en-US" dirty="0">
                <a:latin typeface="Calibir"/>
              </a:rPr>
              <a:t>I hope this message finds you well.</a:t>
            </a:r>
          </a:p>
          <a:p>
            <a:pPr fontAlgn="base"/>
            <a:r>
              <a:rPr lang="en-US" dirty="0">
                <a:latin typeface="Calibir"/>
              </a:rPr>
              <a:t>I am a student from 32555-Fundamental of Software Development </a:t>
            </a:r>
            <a:r>
              <a:rPr lang="en-US" dirty="0" err="1">
                <a:latin typeface="Calibir"/>
              </a:rPr>
              <a:t>cmp</a:t>
            </a:r>
            <a:r>
              <a:rPr lang="en-US" dirty="0">
                <a:latin typeface="Calibir"/>
              </a:rPr>
              <a:t>-…, and I have some questions regarding Assignment </a:t>
            </a:r>
            <a:r>
              <a:rPr lang="en-US" b="1" dirty="0">
                <a:latin typeface="Calibir"/>
              </a:rPr>
              <a:t>1. Subject ID Generation</a:t>
            </a:r>
          </a:p>
          <a:p>
            <a:pPr marL="742950" lvl="1" indent="-285750">
              <a:buFont typeface="Arial" panose="020B0604020202020204" pitchFamily="34" charset="0"/>
              <a:buChar char="•"/>
            </a:pPr>
            <a:r>
              <a:rPr lang="en-US" dirty="0">
                <a:latin typeface="Calibir"/>
              </a:rPr>
              <a:t>Who is responsible for generating the subject ID? (Admin / System)</a:t>
            </a:r>
          </a:p>
          <a:p>
            <a:pPr marL="742950" lvl="1" indent="-285750">
              <a:buFont typeface="Arial" panose="020B0604020202020204" pitchFamily="34" charset="0"/>
              <a:buChar char="•"/>
            </a:pPr>
            <a:r>
              <a:rPr lang="en-US" dirty="0">
                <a:latin typeface="Calibir"/>
              </a:rPr>
              <a:t>Is there any limitation or format requirement for the subject ID?</a:t>
            </a:r>
          </a:p>
          <a:p>
            <a:pPr fontAlgn="base"/>
            <a:r>
              <a:rPr lang="en-US" b="1" dirty="0">
                <a:latin typeface="Calibir"/>
              </a:rPr>
              <a:t>2.  Admin Login Credentials</a:t>
            </a:r>
          </a:p>
          <a:p>
            <a:pPr marL="742950" lvl="1" indent="-285750">
              <a:buFont typeface="Arial" panose="020B0604020202020204" pitchFamily="34" charset="0"/>
              <a:buChar char="•"/>
            </a:pPr>
            <a:r>
              <a:rPr lang="en-US" dirty="0">
                <a:latin typeface="Calibir"/>
              </a:rPr>
              <a:t>According to the assignment outline, when an Admin logs into the system, should they use email and password or ID and password?</a:t>
            </a:r>
          </a:p>
          <a:p>
            <a:pPr marL="742950" lvl="1" indent="-285750">
              <a:buFont typeface="Arial" panose="020B0604020202020204" pitchFamily="34" charset="0"/>
              <a:buChar char="•"/>
            </a:pPr>
            <a:r>
              <a:rPr lang="en-US" dirty="0">
                <a:latin typeface="Calibir"/>
              </a:rPr>
              <a:t>It is mentioned that Admins do not need to register an account, but it is unclear whether they should log in using an email or an ID. Could you please clarify?</a:t>
            </a:r>
          </a:p>
          <a:p>
            <a:pPr fontAlgn="base"/>
            <a:r>
              <a:rPr lang="en-US" b="1" dirty="0">
                <a:latin typeface="Calibir"/>
              </a:rPr>
              <a:t>3.   Role Identification</a:t>
            </a:r>
          </a:p>
          <a:p>
            <a:pPr marL="742950" lvl="1" indent="-285750">
              <a:buFont typeface="Arial" panose="020B0604020202020204" pitchFamily="34" charset="0"/>
              <a:buChar char="•"/>
            </a:pPr>
            <a:r>
              <a:rPr lang="en-US" dirty="0">
                <a:latin typeface="Calibir"/>
              </a:rPr>
              <a:t>If we choose to use email and password for login, how should we distinguish between Student and Admin roles?</a:t>
            </a:r>
          </a:p>
          <a:p>
            <a:pPr marL="742950" lvl="1" indent="-285750">
              <a:buFont typeface="Arial" panose="020B0604020202020204" pitchFamily="34" charset="0"/>
              <a:buChar char="•"/>
            </a:pPr>
            <a:r>
              <a:rPr lang="en-US" dirty="0">
                <a:latin typeface="Calibir"/>
              </a:rPr>
              <a:t>Alternatively, if we use ID and password, is there a specific format or number of digits required for the Admin ID?</a:t>
            </a:r>
          </a:p>
          <a:p>
            <a:pPr fontAlgn="base"/>
            <a:r>
              <a:rPr lang="en-US" b="1" dirty="0">
                <a:latin typeface="Calibir"/>
              </a:rPr>
              <a:t>4.   Assignment Requirements from Week 6 Slides</a:t>
            </a:r>
          </a:p>
          <a:p>
            <a:pPr marL="742950" lvl="1" indent="-285750">
              <a:buFont typeface="Arial" panose="020B0604020202020204" pitchFamily="34" charset="0"/>
              <a:buChar char="•"/>
            </a:pPr>
            <a:r>
              <a:rPr lang="en-US" dirty="0">
                <a:latin typeface="Calibir"/>
              </a:rPr>
              <a:t>Based on the Week 6 and 7 slides, are we required to include scope, rules, data file design, and a traceability table in our submission?</a:t>
            </a:r>
          </a:p>
          <a:p>
            <a:pPr marL="742950" lvl="1" indent="-285750">
              <a:buFont typeface="Arial" panose="020B0604020202020204" pitchFamily="34" charset="0"/>
              <a:buChar char="•"/>
            </a:pPr>
            <a:r>
              <a:rPr lang="en-US" dirty="0">
                <a:latin typeface="Calibir"/>
              </a:rPr>
              <a:t>Will these components be assessed or contribute to our marks?</a:t>
            </a:r>
          </a:p>
          <a:p>
            <a:pPr fontAlgn="base"/>
            <a:r>
              <a:rPr lang="en-US" dirty="0">
                <a:latin typeface="Calibir"/>
              </a:rPr>
              <a:t>I would really appreciate your help in answering these questions.</a:t>
            </a:r>
          </a:p>
          <a:p>
            <a:pPr fontAlgn="base"/>
            <a:r>
              <a:rPr lang="en-US" dirty="0">
                <a:latin typeface="Calibir"/>
              </a:rPr>
              <a:t>Best regards</a:t>
            </a:r>
          </a:p>
        </p:txBody>
      </p:sp>
    </p:spTree>
    <p:extLst>
      <p:ext uri="{BB962C8B-B14F-4D97-AF65-F5344CB8AC3E}">
        <p14:creationId xmlns:p14="http://schemas.microsoft.com/office/powerpoint/2010/main" val="351269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C6F1-9B35-3174-E076-57A438CC4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74CF2-B179-CC8F-6B98-5B93B7E107C8}"/>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F1A6E08F-348D-98B6-F7CF-97945EF69140}"/>
              </a:ext>
            </a:extLst>
          </p:cNvPr>
          <p:cNvSpPr txBox="1"/>
          <p:nvPr/>
        </p:nvSpPr>
        <p:spPr>
          <a:xfrm>
            <a:off x="0" y="920681"/>
            <a:ext cx="11971282"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regarding Assignment 1. I’m happy to clarify each point:</a:t>
            </a:r>
          </a:p>
          <a:p>
            <a:pPr>
              <a:lnSpc>
                <a:spcPct val="150000"/>
              </a:lnSpc>
            </a:pPr>
            <a:r>
              <a:rPr lang="en-US" sz="2800" b="1" dirty="0">
                <a:latin typeface="Calibir"/>
              </a:rPr>
              <a:t>1. Subject ID Generation</a:t>
            </a:r>
          </a:p>
          <a:p>
            <a:pPr marL="714375" indent="-457200">
              <a:lnSpc>
                <a:spcPct val="150000"/>
              </a:lnSpc>
              <a:buFont typeface="Arial" panose="020B0604020202020204" pitchFamily="34" charset="0"/>
              <a:buChar char="•"/>
            </a:pPr>
            <a:r>
              <a:rPr lang="en-US" sz="2800" dirty="0">
                <a:latin typeface="Calibir"/>
              </a:rPr>
              <a:t>The system is responsible for generating subject IDs automatically (not the Admin).</a:t>
            </a:r>
          </a:p>
          <a:p>
            <a:pPr marL="714375" indent="-457200">
              <a:lnSpc>
                <a:spcPct val="150000"/>
              </a:lnSpc>
              <a:buFont typeface="Arial" panose="020B0604020202020204" pitchFamily="34" charset="0"/>
              <a:buChar char="•"/>
            </a:pPr>
            <a:r>
              <a:rPr lang="en-US" sz="2800" dirty="0">
                <a:latin typeface="Calibir"/>
              </a:rPr>
              <a:t>Subject IDs must be 3 digits, zero-padded (e.g., 001–999). This format is specified in the brief.</a:t>
            </a:r>
          </a:p>
        </p:txBody>
      </p:sp>
    </p:spTree>
    <p:extLst>
      <p:ext uri="{BB962C8B-B14F-4D97-AF65-F5344CB8AC3E}">
        <p14:creationId xmlns:p14="http://schemas.microsoft.com/office/powerpoint/2010/main" val="39226896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CC2F0-B940-568B-6BD5-95F455FAEB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F5CF73-560B-4ACA-9988-F8A8FEB5A9A9}"/>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7030CBED-34D5-FB55-8A40-4219DE32DB2E}"/>
              </a:ext>
            </a:extLst>
          </p:cNvPr>
          <p:cNvSpPr txBox="1"/>
          <p:nvPr/>
        </p:nvSpPr>
        <p:spPr>
          <a:xfrm>
            <a:off x="110359" y="1800413"/>
            <a:ext cx="11971282" cy="3257174"/>
          </a:xfrm>
          <a:prstGeom prst="rect">
            <a:avLst/>
          </a:prstGeom>
          <a:noFill/>
        </p:spPr>
        <p:txBody>
          <a:bodyPr wrap="square">
            <a:spAutoFit/>
          </a:bodyPr>
          <a:lstStyle/>
          <a:p>
            <a:pPr>
              <a:lnSpc>
                <a:spcPct val="150000"/>
              </a:lnSpc>
            </a:pPr>
            <a:r>
              <a:rPr lang="en-US" sz="2800" b="1" dirty="0">
                <a:latin typeface="Calibir"/>
              </a:rPr>
              <a:t>2. Admin Login Credentials</a:t>
            </a:r>
          </a:p>
          <a:p>
            <a:pPr marL="714375" indent="-457200">
              <a:lnSpc>
                <a:spcPct val="150000"/>
              </a:lnSpc>
              <a:buFont typeface="Arial" panose="020B0604020202020204" pitchFamily="34" charset="0"/>
              <a:buChar char="•"/>
            </a:pPr>
            <a:r>
              <a:rPr lang="en-US" sz="2800" dirty="0">
                <a:latin typeface="Calibir"/>
              </a:rPr>
              <a:t>As per the assignment brief, Admins do not register accounts. They already exist in the system.</a:t>
            </a:r>
          </a:p>
          <a:p>
            <a:pPr marL="714375" indent="-457200">
              <a:lnSpc>
                <a:spcPct val="150000"/>
              </a:lnSpc>
              <a:buFont typeface="Arial" panose="020B0604020202020204" pitchFamily="34" charset="0"/>
              <a:buChar char="•"/>
            </a:pPr>
            <a:r>
              <a:rPr lang="en-US" sz="2800" dirty="0">
                <a:latin typeface="Calibir"/>
              </a:rPr>
              <a:t>Admins therefore do not need email/password or ID/password login. They simply access the Admin subsystem directly without authentication.</a:t>
            </a:r>
          </a:p>
        </p:txBody>
      </p:sp>
    </p:spTree>
    <p:extLst>
      <p:ext uri="{BB962C8B-B14F-4D97-AF65-F5344CB8AC3E}">
        <p14:creationId xmlns:p14="http://schemas.microsoft.com/office/powerpoint/2010/main" val="22248012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EF838-930C-2DD9-45E5-B6A7C091E3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8DDFB-3B95-4589-DEE3-57D6A5C67F94}"/>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4C1CF87-15CE-625F-CEFC-3E8A2BC7EF35}"/>
              </a:ext>
            </a:extLst>
          </p:cNvPr>
          <p:cNvSpPr txBox="1"/>
          <p:nvPr/>
        </p:nvSpPr>
        <p:spPr>
          <a:xfrm>
            <a:off x="110359" y="1800413"/>
            <a:ext cx="11971282" cy="2610843"/>
          </a:xfrm>
          <a:prstGeom prst="rect">
            <a:avLst/>
          </a:prstGeom>
          <a:noFill/>
        </p:spPr>
        <p:txBody>
          <a:bodyPr wrap="square">
            <a:spAutoFit/>
          </a:bodyPr>
          <a:lstStyle/>
          <a:p>
            <a:pPr>
              <a:lnSpc>
                <a:spcPct val="150000"/>
              </a:lnSpc>
            </a:pPr>
            <a:r>
              <a:rPr lang="en-US" sz="2800" b="1" dirty="0">
                <a:latin typeface="Calibir"/>
              </a:rPr>
              <a:t>3. Role Identification</a:t>
            </a:r>
          </a:p>
          <a:p>
            <a:pPr marL="714375" indent="-457200">
              <a:lnSpc>
                <a:spcPct val="150000"/>
              </a:lnSpc>
              <a:buFont typeface="Arial" panose="020B0604020202020204" pitchFamily="34" charset="0"/>
              <a:buChar char="•"/>
            </a:pPr>
            <a:r>
              <a:rPr lang="en-US" sz="2800" dirty="0">
                <a:latin typeface="Calibir"/>
              </a:rPr>
              <a:t>Since Admins do not log in, there is no need to assign Admin IDs, emails, or passwords.</a:t>
            </a:r>
          </a:p>
          <a:p>
            <a:pPr marL="714375" indent="-457200">
              <a:lnSpc>
                <a:spcPct val="150000"/>
              </a:lnSpc>
              <a:buFont typeface="Arial" panose="020B0604020202020204" pitchFamily="34" charset="0"/>
              <a:buChar char="•"/>
            </a:pPr>
            <a:r>
              <a:rPr lang="en-US" sz="2800" dirty="0">
                <a:latin typeface="Calibir"/>
              </a:rPr>
              <a:t>Only Students need email + password validation and a 6-digit ID.</a:t>
            </a:r>
          </a:p>
        </p:txBody>
      </p:sp>
    </p:spTree>
    <p:extLst>
      <p:ext uri="{BB962C8B-B14F-4D97-AF65-F5344CB8AC3E}">
        <p14:creationId xmlns:p14="http://schemas.microsoft.com/office/powerpoint/2010/main" val="26475431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0862D-B2FE-6125-146A-BA0AE7C55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F7B9A-6F27-FDEA-507F-D6F4409FFD35}"/>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9DFA1900-0152-DAFC-2CF7-53952020257E}"/>
              </a:ext>
            </a:extLst>
          </p:cNvPr>
          <p:cNvSpPr txBox="1"/>
          <p:nvPr/>
        </p:nvSpPr>
        <p:spPr>
          <a:xfrm>
            <a:off x="110359" y="657922"/>
            <a:ext cx="11971282" cy="5842497"/>
          </a:xfrm>
          <a:prstGeom prst="rect">
            <a:avLst/>
          </a:prstGeom>
          <a:noFill/>
        </p:spPr>
        <p:txBody>
          <a:bodyPr wrap="square">
            <a:spAutoFit/>
          </a:bodyPr>
          <a:lstStyle/>
          <a:p>
            <a:pPr>
              <a:lnSpc>
                <a:spcPct val="150000"/>
              </a:lnSpc>
            </a:pPr>
            <a:r>
              <a:rPr lang="en-US" sz="2800" b="1" dirty="0">
                <a:latin typeface="Calibir"/>
              </a:rPr>
              <a:t>4. Assignment Requirements (Week 6 &amp; 7 Slides)</a:t>
            </a:r>
          </a:p>
          <a:p>
            <a:pPr marL="457200" indent="-457200">
              <a:lnSpc>
                <a:spcPct val="150000"/>
              </a:lnSpc>
              <a:buFont typeface="Arial" panose="020B0604020202020204" pitchFamily="34" charset="0"/>
              <a:buChar char="•"/>
            </a:pPr>
            <a:r>
              <a:rPr lang="en-US" sz="2800" dirty="0">
                <a:latin typeface="Calibir"/>
              </a:rPr>
              <a:t>For Part 1 (Analysis &amp; Design), your submission must include:</a:t>
            </a:r>
          </a:p>
          <a:p>
            <a:pPr marL="914400" lvl="1" indent="-457200">
              <a:lnSpc>
                <a:spcPct val="150000"/>
              </a:lnSpc>
              <a:buFont typeface="Arial" panose="020B0604020202020204" pitchFamily="34" charset="0"/>
              <a:buChar char="•"/>
            </a:pPr>
            <a:r>
              <a:rPr lang="en-US" sz="2800" dirty="0">
                <a:latin typeface="Calibir"/>
              </a:rPr>
              <a:t>Scope summary</a:t>
            </a:r>
          </a:p>
          <a:p>
            <a:pPr marL="914400" lvl="1" indent="-457200">
              <a:lnSpc>
                <a:spcPct val="150000"/>
              </a:lnSpc>
              <a:buFont typeface="Arial" panose="020B0604020202020204" pitchFamily="34" charset="0"/>
              <a:buChar char="•"/>
            </a:pPr>
            <a:r>
              <a:rPr lang="en-US" sz="2800" dirty="0">
                <a:latin typeface="Calibir"/>
              </a:rPr>
              <a:t>User-story backlog (3-digit IDs, table format)</a:t>
            </a:r>
          </a:p>
          <a:p>
            <a:pPr marL="914400" lvl="1" indent="-457200">
              <a:lnSpc>
                <a:spcPct val="150000"/>
              </a:lnSpc>
              <a:buFont typeface="Arial" panose="020B0604020202020204" pitchFamily="34" charset="0"/>
              <a:buChar char="•"/>
            </a:pPr>
            <a:r>
              <a:rPr lang="en-US" sz="2800" dirty="0">
                <a:latin typeface="Calibir"/>
              </a:rPr>
              <a:t>One comprehensive Use Case Diagram</a:t>
            </a:r>
          </a:p>
          <a:p>
            <a:pPr marL="914400" lvl="1" indent="-457200">
              <a:lnSpc>
                <a:spcPct val="150000"/>
              </a:lnSpc>
              <a:buFont typeface="Arial" panose="020B0604020202020204" pitchFamily="34" charset="0"/>
              <a:buChar char="•"/>
            </a:pPr>
            <a:r>
              <a:rPr lang="en-US" sz="2800" dirty="0">
                <a:latin typeface="Calibir"/>
              </a:rPr>
              <a:t>One comprehensive Class Diagram</a:t>
            </a:r>
          </a:p>
          <a:p>
            <a:pPr marL="914400" lvl="1" indent="-457200">
              <a:lnSpc>
                <a:spcPct val="150000"/>
              </a:lnSpc>
              <a:buFont typeface="Arial" panose="020B0604020202020204" pitchFamily="34" charset="0"/>
              <a:buChar char="•"/>
            </a:pPr>
            <a:r>
              <a:rPr lang="en-US" sz="2800" dirty="0">
                <a:latin typeface="Calibir"/>
              </a:rPr>
              <a:t>System rules (email, password, IDs, grade bands)</a:t>
            </a:r>
          </a:p>
          <a:p>
            <a:pPr marL="914400" lvl="1" indent="-457200">
              <a:lnSpc>
                <a:spcPct val="150000"/>
              </a:lnSpc>
              <a:buFont typeface="Arial" panose="020B0604020202020204" pitchFamily="34" charset="0"/>
              <a:buChar char="•"/>
            </a:pPr>
            <a:r>
              <a:rPr lang="en-US" sz="2800" dirty="0">
                <a:latin typeface="Calibir"/>
              </a:rPr>
              <a:t>Example data file design (JSON or CSV format, design only, no coding)</a:t>
            </a:r>
          </a:p>
          <a:p>
            <a:pPr marL="914400" lvl="1" indent="-457200">
              <a:lnSpc>
                <a:spcPct val="150000"/>
              </a:lnSpc>
              <a:buFont typeface="Arial" panose="020B0604020202020204" pitchFamily="34" charset="0"/>
              <a:buChar char="•"/>
            </a:pPr>
            <a:r>
              <a:rPr lang="en-US" sz="2800" dirty="0">
                <a:latin typeface="Calibir"/>
              </a:rPr>
              <a:t>Contribution plan</a:t>
            </a:r>
          </a:p>
        </p:txBody>
      </p:sp>
    </p:spTree>
    <p:extLst>
      <p:ext uri="{BB962C8B-B14F-4D97-AF65-F5344CB8AC3E}">
        <p14:creationId xmlns:p14="http://schemas.microsoft.com/office/powerpoint/2010/main" val="8771810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BB4FE-63ED-0AFD-D26D-943022BDC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F6C9CF-3A77-1CA0-7713-FBA7522EE6E1}"/>
              </a:ext>
            </a:extLst>
          </p:cNvPr>
          <p:cNvSpPr>
            <a:spLocks noGrp="1"/>
          </p:cNvSpPr>
          <p:nvPr>
            <p:ph type="title"/>
          </p:nvPr>
        </p:nvSpPr>
        <p:spPr>
          <a:xfrm>
            <a:off x="0" y="0"/>
            <a:ext cx="12192000" cy="657922"/>
          </a:xfrm>
        </p:spPr>
        <p:txBody>
          <a:bodyPr anchor="b">
            <a:normAutofit fontScale="90000"/>
          </a:bodyPr>
          <a:lstStyle/>
          <a:p>
            <a:r>
              <a:rPr lang="en-US" sz="4000" dirty="0">
                <a:latin typeface="Calibir"/>
              </a:rPr>
              <a:t>Assignment 1 – Part 1: Admin, IDs, and Deliverables Clarified</a:t>
            </a:r>
            <a:endParaRPr lang="en-AU" sz="4000" b="1" dirty="0">
              <a:latin typeface="Calibir"/>
            </a:endParaRPr>
          </a:p>
        </p:txBody>
      </p:sp>
      <p:sp>
        <p:nvSpPr>
          <p:cNvPr id="7" name="TextBox 6">
            <a:extLst>
              <a:ext uri="{FF2B5EF4-FFF2-40B4-BE49-F238E27FC236}">
                <a16:creationId xmlns:a16="http://schemas.microsoft.com/office/drawing/2014/main" id="{09BABE48-D7BC-289B-0CAF-BA7CF8F8EE83}"/>
              </a:ext>
            </a:extLst>
          </p:cNvPr>
          <p:cNvSpPr txBox="1"/>
          <p:nvPr/>
        </p:nvSpPr>
        <p:spPr>
          <a:xfrm>
            <a:off x="0" y="497942"/>
            <a:ext cx="11971282" cy="6383799"/>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500" dirty="0">
                <a:latin typeface="Calibir"/>
              </a:rPr>
              <a:t>The “traceability” check (requirements → stories → diagrams) is recommended as a quality step, but it is not a separate marking criterion.</a:t>
            </a:r>
          </a:p>
          <a:p>
            <a:pPr marL="457200" indent="-457200">
              <a:lnSpc>
                <a:spcPct val="150000"/>
              </a:lnSpc>
              <a:buFont typeface="Arial" panose="020B0604020202020204" pitchFamily="34" charset="0"/>
              <a:buChar char="•"/>
            </a:pPr>
            <a:r>
              <a:rPr lang="en-US" sz="2500" dirty="0">
                <a:latin typeface="Calibir"/>
              </a:rPr>
              <a:t>The main marks come from backlog (5), use case diagram (5), and class diagram (5), for a total of 15 marks.</a:t>
            </a:r>
          </a:p>
          <a:p>
            <a:pPr>
              <a:lnSpc>
                <a:spcPct val="150000"/>
              </a:lnSpc>
            </a:pPr>
            <a:r>
              <a:rPr lang="en-US" sz="2500" b="1" dirty="0">
                <a:latin typeface="Calibir"/>
              </a:rPr>
              <a:t>Key takeaway: </a:t>
            </a:r>
            <a:r>
              <a:rPr lang="en-US" sz="2500" dirty="0">
                <a:latin typeface="Calibir"/>
              </a:rPr>
              <a:t>Subject IDs = generated by system (3 digits). Admins = no login needed. Students = email/password + 6-digit ID. Required deliverables are those listed above.</a:t>
            </a:r>
          </a:p>
          <a:p>
            <a:pPr>
              <a:lnSpc>
                <a:spcPct val="150000"/>
              </a:lnSpc>
            </a:pPr>
            <a:r>
              <a:rPr lang="en-US" sz="2500" dirty="0">
                <a:latin typeface="Calibir"/>
              </a:rPr>
              <a:t>I hope this clears things up. Please also refer to the official assignment instructions on Canvas for final reference.</a:t>
            </a:r>
          </a:p>
          <a:p>
            <a:pPr>
              <a:lnSpc>
                <a:spcPct val="150000"/>
              </a:lnSpc>
            </a:pPr>
            <a:r>
              <a:rPr lang="en-US" sz="2500" dirty="0"/>
              <a:t>Best regards,</a:t>
            </a:r>
            <a:br>
              <a:rPr lang="en-US" sz="2500" dirty="0"/>
            </a:br>
            <a:r>
              <a:rPr lang="en-US" sz="2500" dirty="0"/>
              <a:t>Dr. Farshid Keivanian</a:t>
            </a:r>
            <a:br>
              <a:rPr lang="en-US" sz="2500" dirty="0"/>
            </a:br>
            <a:r>
              <a:rPr lang="en-US" sz="2500" dirty="0"/>
              <a:t>32555 – Fundamentals of Software Engineering</a:t>
            </a:r>
            <a:endParaRPr lang="en-US" sz="2500" dirty="0">
              <a:latin typeface="Calibir"/>
            </a:endParaRPr>
          </a:p>
        </p:txBody>
      </p:sp>
    </p:spTree>
    <p:extLst>
      <p:ext uri="{BB962C8B-B14F-4D97-AF65-F5344CB8AC3E}">
        <p14:creationId xmlns:p14="http://schemas.microsoft.com/office/powerpoint/2010/main" val="21333177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2E4D9-A7D4-FF2A-3291-FD8793C586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66EF04-1083-EC6B-96ED-C05EFBA212C4}"/>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
        <p:nvSpPr>
          <p:cNvPr id="4" name="TextBox 3">
            <a:extLst>
              <a:ext uri="{FF2B5EF4-FFF2-40B4-BE49-F238E27FC236}">
                <a16:creationId xmlns:a16="http://schemas.microsoft.com/office/drawing/2014/main" id="{E41A28C1-8996-E0A1-B0DA-7514C6F13F92}"/>
              </a:ext>
            </a:extLst>
          </p:cNvPr>
          <p:cNvSpPr txBox="1"/>
          <p:nvPr/>
        </p:nvSpPr>
        <p:spPr>
          <a:xfrm>
            <a:off x="0" y="1614996"/>
            <a:ext cx="11965258" cy="3903504"/>
          </a:xfrm>
          <a:prstGeom prst="rect">
            <a:avLst/>
          </a:prstGeom>
          <a:noFill/>
        </p:spPr>
        <p:txBody>
          <a:bodyPr wrap="square">
            <a:spAutoFit/>
          </a:bodyPr>
          <a:lstStyle/>
          <a:p>
            <a:pPr eaLnBrk="0" fontAlgn="base" hangingPunct="0">
              <a:lnSpc>
                <a:spcPct val="150000"/>
              </a:lnSpc>
              <a:spcBef>
                <a:spcPct val="0"/>
              </a:spcBef>
              <a:spcAft>
                <a:spcPct val="0"/>
              </a:spcAft>
            </a:pPr>
            <a:r>
              <a:rPr lang="en-US" altLang="en-US" sz="2800" dirty="0">
                <a:solidFill>
                  <a:srgbClr val="000000"/>
                </a:solidFill>
                <a:latin typeface="Calibir"/>
              </a:rPr>
              <a:t>Dear Teacher,</a:t>
            </a:r>
          </a:p>
          <a:p>
            <a:pPr eaLnBrk="0" fontAlgn="base" hangingPunct="0">
              <a:lnSpc>
                <a:spcPct val="150000"/>
              </a:lnSpc>
              <a:spcBef>
                <a:spcPct val="0"/>
              </a:spcBef>
              <a:spcAft>
                <a:spcPct val="0"/>
              </a:spcAft>
            </a:pPr>
            <a:r>
              <a:rPr lang="en-US" altLang="en-US" sz="2800" dirty="0">
                <a:solidFill>
                  <a:srgbClr val="000000"/>
                </a:solidFill>
                <a:latin typeface="Calibir"/>
              </a:rPr>
              <a:t>For the UC diagram question:</a:t>
            </a:r>
            <a:endParaRPr lang="en-US" altLang="en-US" sz="2800" dirty="0">
              <a:latin typeface="Calibir"/>
            </a:endParaRPr>
          </a:p>
          <a:p>
            <a:pPr lvl="0" eaLnBrk="0" fontAlgn="base" hangingPunct="0">
              <a:lnSpc>
                <a:spcPct val="150000"/>
              </a:lnSpc>
              <a:spcBef>
                <a:spcPct val="0"/>
              </a:spcBef>
              <a:spcAft>
                <a:spcPct val="0"/>
              </a:spcAft>
            </a:pPr>
            <a:r>
              <a:rPr lang="en-US" altLang="en-US" sz="2800" dirty="0">
                <a:solidFill>
                  <a:srgbClr val="000000"/>
                </a:solidFill>
                <a:latin typeface="Calibir"/>
              </a:rPr>
              <a:t>There is  confusion in declaring use cases for us, since, for instance, Enroll in Subject is done by actor Student, Assign Random Subject, and Mark are internal operations from the system (which is not the actor), so do we have to include them in the diagram or it will just stop at Enroll in Subject</a:t>
            </a:r>
            <a:endParaRPr lang="en-US" altLang="en-US" sz="2800" dirty="0">
              <a:latin typeface="Calibir"/>
            </a:endParaRPr>
          </a:p>
        </p:txBody>
      </p:sp>
    </p:spTree>
    <p:extLst>
      <p:ext uri="{BB962C8B-B14F-4D97-AF65-F5344CB8AC3E}">
        <p14:creationId xmlns:p14="http://schemas.microsoft.com/office/powerpoint/2010/main" val="20144933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3FE81-597F-AD74-31F4-84FF43C326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EBB10-C7C6-113A-4645-845C1D0BA62C}"/>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
        <p:nvSpPr>
          <p:cNvPr id="4" name="TextBox 3">
            <a:extLst>
              <a:ext uri="{FF2B5EF4-FFF2-40B4-BE49-F238E27FC236}">
                <a16:creationId xmlns:a16="http://schemas.microsoft.com/office/drawing/2014/main" id="{8E47277C-7D78-13FB-33CE-72052909D0C6}"/>
              </a:ext>
            </a:extLst>
          </p:cNvPr>
          <p:cNvSpPr txBox="1"/>
          <p:nvPr/>
        </p:nvSpPr>
        <p:spPr>
          <a:xfrm>
            <a:off x="0" y="1614996"/>
            <a:ext cx="11965258" cy="3903504"/>
          </a:xfrm>
          <a:prstGeom prst="rect">
            <a:avLst/>
          </a:prstGeom>
          <a:noFill/>
        </p:spPr>
        <p:txBody>
          <a:bodyPr wrap="square">
            <a:spAutoFit/>
          </a:bodyPr>
          <a:lstStyle/>
          <a:p>
            <a:pPr>
              <a:lnSpc>
                <a:spcPct val="150000"/>
              </a:lnSpc>
            </a:pPr>
            <a:r>
              <a:rPr lang="en-US" sz="2800" b="1" dirty="0">
                <a:latin typeface="Calibir"/>
              </a:rPr>
              <a:t>Dear Student,</a:t>
            </a:r>
            <a:endParaRPr lang="en-US" sz="2800" dirty="0">
              <a:latin typeface="Calibir"/>
            </a:endParaRPr>
          </a:p>
          <a:p>
            <a:pPr>
              <a:lnSpc>
                <a:spcPct val="150000"/>
              </a:lnSpc>
            </a:pPr>
            <a:r>
              <a:rPr lang="en-US" sz="2800" dirty="0">
                <a:latin typeface="Calibir"/>
              </a:rPr>
              <a:t>That’s an excellent and very important question—thank you for raising it.</a:t>
            </a:r>
          </a:p>
          <a:p>
            <a:pPr>
              <a:lnSpc>
                <a:spcPct val="150000"/>
              </a:lnSpc>
            </a:pPr>
            <a:r>
              <a:rPr lang="en-US" sz="2800" dirty="0">
                <a:latin typeface="Calibir"/>
              </a:rPr>
              <a:t>In a Use Case Diagram, you only show interactions between external actors (Student, Admin) and the system. Internal tasks like assigning random subject IDs, generating marks, or validating emails are system responsibilities, but they are not separate actors.</a:t>
            </a:r>
          </a:p>
        </p:txBody>
      </p:sp>
    </p:spTree>
    <p:extLst>
      <p:ext uri="{BB962C8B-B14F-4D97-AF65-F5344CB8AC3E}">
        <p14:creationId xmlns:p14="http://schemas.microsoft.com/office/powerpoint/2010/main" val="35804992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364B-CC6D-5B59-202D-B1F2946FD7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21BEEE-6C52-962B-5D18-909CDB3B18F8}"/>
              </a:ext>
            </a:extLst>
          </p:cNvPr>
          <p:cNvSpPr txBox="1"/>
          <p:nvPr/>
        </p:nvSpPr>
        <p:spPr>
          <a:xfrm>
            <a:off x="0" y="1154082"/>
            <a:ext cx="11965258" cy="4549835"/>
          </a:xfrm>
          <a:prstGeom prst="rect">
            <a:avLst/>
          </a:prstGeom>
          <a:noFill/>
        </p:spPr>
        <p:txBody>
          <a:bodyPr wrap="square">
            <a:spAutoFit/>
          </a:bodyPr>
          <a:lstStyle/>
          <a:p>
            <a:pPr>
              <a:lnSpc>
                <a:spcPct val="150000"/>
              </a:lnSpc>
            </a:pPr>
            <a:r>
              <a:rPr lang="en-US" sz="2800" dirty="0">
                <a:latin typeface="Calibir"/>
              </a:rPr>
              <a:t>Here’s the rule of thumb for this assignment:</a:t>
            </a:r>
          </a:p>
          <a:p>
            <a:pPr marL="914400" lvl="1" indent="-457200">
              <a:lnSpc>
                <a:spcPct val="150000"/>
              </a:lnSpc>
              <a:buFont typeface="Arial" panose="020B0604020202020204" pitchFamily="34" charset="0"/>
              <a:buChar char="•"/>
            </a:pPr>
            <a:r>
              <a:rPr lang="en-US" sz="2800" dirty="0">
                <a:latin typeface="Calibir"/>
              </a:rPr>
              <a:t>Show the main action as a use case (e.g., </a:t>
            </a:r>
            <a:r>
              <a:rPr lang="en-US" sz="2800" i="1" dirty="0">
                <a:latin typeface="Calibir"/>
              </a:rPr>
              <a:t>Enroll in Subject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If the system always performs an internal step (e.g., </a:t>
            </a:r>
            <a:r>
              <a:rPr lang="en-US" sz="2800" i="1" dirty="0">
                <a:latin typeface="Calibir"/>
              </a:rPr>
              <a:t>Generate ID, Assign Random Mark, Calculate Grade</a:t>
            </a:r>
            <a:r>
              <a:rPr lang="en-US" sz="2800" dirty="0">
                <a:latin typeface="Calibir"/>
              </a:rPr>
              <a:t>), you may model it as an &lt;&lt;include&gt;&gt; use case connected to the main one.</a:t>
            </a:r>
          </a:p>
          <a:p>
            <a:pPr marL="914400" lvl="1" indent="-457200">
              <a:lnSpc>
                <a:spcPct val="150000"/>
              </a:lnSpc>
              <a:buFont typeface="Arial" panose="020B0604020202020204" pitchFamily="34" charset="0"/>
              <a:buChar char="•"/>
            </a:pPr>
            <a:r>
              <a:rPr lang="en-US" sz="2800" dirty="0">
                <a:latin typeface="Calibir"/>
              </a:rPr>
              <a:t>You do not need to introduce “System” as an actor. Keep actors limited to Student and Admin.</a:t>
            </a:r>
          </a:p>
        </p:txBody>
      </p:sp>
      <p:sp>
        <p:nvSpPr>
          <p:cNvPr id="6" name="Title 1">
            <a:extLst>
              <a:ext uri="{FF2B5EF4-FFF2-40B4-BE49-F238E27FC236}">
                <a16:creationId xmlns:a16="http://schemas.microsoft.com/office/drawing/2014/main" id="{4B48C36A-530E-10A2-06B3-CC423272B1E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13550408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B2D28-6424-F9D9-463F-D7CF85438A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7F301FF-F25D-6245-66C2-FE024654A6A1}"/>
              </a:ext>
            </a:extLst>
          </p:cNvPr>
          <p:cNvSpPr txBox="1"/>
          <p:nvPr/>
        </p:nvSpPr>
        <p:spPr>
          <a:xfrm>
            <a:off x="0" y="1154082"/>
            <a:ext cx="11965258" cy="4549835"/>
          </a:xfrm>
          <a:prstGeom prst="rect">
            <a:avLst/>
          </a:prstGeom>
          <a:noFill/>
        </p:spPr>
        <p:txBody>
          <a:bodyPr wrap="square">
            <a:spAutoFit/>
          </a:bodyPr>
          <a:lstStyle/>
          <a:p>
            <a:pPr>
              <a:lnSpc>
                <a:spcPct val="150000"/>
              </a:lnSpc>
            </a:pPr>
            <a:r>
              <a:rPr lang="en-US" sz="2800" dirty="0">
                <a:latin typeface="Calibir"/>
              </a:rPr>
              <a:t>So in your example (diagram):</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 Subject (main use case).</a:t>
            </a:r>
          </a:p>
          <a:p>
            <a:pPr marL="914400" lvl="1" indent="-457200">
              <a:lnSpc>
                <a:spcPct val="150000"/>
              </a:lnSpc>
              <a:buFont typeface="Arial" panose="020B0604020202020204" pitchFamily="34" charset="0"/>
              <a:buChar char="•"/>
            </a:pPr>
            <a:r>
              <a:rPr lang="en-US" sz="2800" i="1" dirty="0">
                <a:latin typeface="Calibir"/>
              </a:rPr>
              <a:t>Assign Random Subject</a:t>
            </a:r>
            <a:r>
              <a:rPr lang="en-US" sz="2800" dirty="0">
                <a:latin typeface="Calibir"/>
              </a:rPr>
              <a:t>, </a:t>
            </a:r>
            <a:r>
              <a:rPr lang="en-US" sz="2800" i="1" dirty="0">
                <a:latin typeface="Calibir"/>
              </a:rPr>
              <a:t>Assign Random Mark</a:t>
            </a:r>
            <a:r>
              <a:rPr lang="en-US" sz="2800" dirty="0">
                <a:latin typeface="Calibir"/>
              </a:rPr>
              <a:t>, and </a:t>
            </a:r>
            <a:r>
              <a:rPr lang="en-US" sz="2800" i="1" dirty="0">
                <a:latin typeface="Calibir"/>
              </a:rPr>
              <a:t>Calculate Grade</a:t>
            </a:r>
            <a:r>
              <a:rPr lang="en-US" sz="2800" dirty="0">
                <a:latin typeface="Calibir"/>
              </a:rPr>
              <a:t> can be &lt;&lt;include&gt;&gt; use cases linked to </a:t>
            </a:r>
            <a:r>
              <a:rPr lang="en-US" sz="2800" i="1" dirty="0" err="1">
                <a:latin typeface="Calibir"/>
              </a:rPr>
              <a:t>Enrol</a:t>
            </a:r>
            <a:r>
              <a:rPr lang="en-US" sz="2800" i="1" dirty="0">
                <a:latin typeface="Calibir"/>
              </a:rPr>
              <a:t> in Subject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The diagram should stop at the external action (</a:t>
            </a:r>
            <a:r>
              <a:rPr lang="en-US" sz="2800" i="1" dirty="0" err="1">
                <a:latin typeface="Calibir"/>
              </a:rPr>
              <a:t>Enrol</a:t>
            </a:r>
            <a:r>
              <a:rPr lang="en-US" sz="2800" i="1" dirty="0">
                <a:latin typeface="Calibir"/>
              </a:rPr>
              <a:t> in Subject</a:t>
            </a:r>
            <a:r>
              <a:rPr lang="en-US" sz="2800" dirty="0">
                <a:latin typeface="Calibir"/>
              </a:rPr>
              <a:t>) and then use include/extend for the internal logic, instead of showing them as if they were done by an actor.</a:t>
            </a:r>
          </a:p>
        </p:txBody>
      </p:sp>
      <p:sp>
        <p:nvSpPr>
          <p:cNvPr id="2" name="Title 1">
            <a:extLst>
              <a:ext uri="{FF2B5EF4-FFF2-40B4-BE49-F238E27FC236}">
                <a16:creationId xmlns:a16="http://schemas.microsoft.com/office/drawing/2014/main" id="{AC8400A0-4EED-2350-69A8-357557847BC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14673426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679A-DE33-3638-8E43-5DD627A9AA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40834ED-18E4-B5A1-A80E-84AA738CE109}"/>
              </a:ext>
            </a:extLst>
          </p:cNvPr>
          <p:cNvSpPr txBox="1"/>
          <p:nvPr/>
        </p:nvSpPr>
        <p:spPr>
          <a:xfrm>
            <a:off x="0" y="1154082"/>
            <a:ext cx="11965258" cy="3257174"/>
          </a:xfrm>
          <a:prstGeom prst="rect">
            <a:avLst/>
          </a:prstGeom>
          <a:noFill/>
        </p:spPr>
        <p:txBody>
          <a:bodyPr wrap="square">
            <a:spAutoFit/>
          </a:bodyPr>
          <a:lstStyle/>
          <a:p>
            <a:pPr>
              <a:lnSpc>
                <a:spcPct val="150000"/>
              </a:lnSpc>
            </a:pPr>
            <a:r>
              <a:rPr lang="en-US" sz="2800" dirty="0">
                <a:latin typeface="Calibir"/>
              </a:rPr>
              <a:t>This way, your diagram remains aligned with the assignment brief: actors are only Student and Admin, and system actions are shown as part of use case flows, not as new actors.</a:t>
            </a:r>
          </a:p>
          <a:p>
            <a:pPr>
              <a:lnSpc>
                <a:spcPct val="150000"/>
              </a:lnSpc>
            </a:pPr>
            <a:r>
              <a:rPr lang="en-US" sz="2800" b="1" dirty="0">
                <a:latin typeface="Calibir"/>
              </a:rPr>
              <a:t>Kind regards,</a:t>
            </a:r>
          </a:p>
          <a:p>
            <a:pPr>
              <a:lnSpc>
                <a:spcPct val="150000"/>
              </a:lnSpc>
            </a:pPr>
            <a:r>
              <a:rPr lang="en-US" sz="2800" b="1" dirty="0">
                <a:latin typeface="Calibir"/>
              </a:rPr>
              <a:t>Farshid</a:t>
            </a:r>
            <a:endParaRPr lang="en-US" sz="2800" dirty="0">
              <a:latin typeface="Calibir"/>
            </a:endParaRPr>
          </a:p>
        </p:txBody>
      </p:sp>
      <p:sp>
        <p:nvSpPr>
          <p:cNvPr id="2" name="Title 1">
            <a:extLst>
              <a:ext uri="{FF2B5EF4-FFF2-40B4-BE49-F238E27FC236}">
                <a16:creationId xmlns:a16="http://schemas.microsoft.com/office/drawing/2014/main" id="{1FA2F98A-0EB9-F8CD-AFE1-3B39CE85731B}"/>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Use Case Diagram Clarifications</a:t>
            </a:r>
            <a:endParaRPr lang="en-AU" sz="4000" b="1" dirty="0">
              <a:latin typeface="Calibir"/>
            </a:endParaRPr>
          </a:p>
        </p:txBody>
      </p:sp>
    </p:spTree>
    <p:extLst>
      <p:ext uri="{BB962C8B-B14F-4D97-AF65-F5344CB8AC3E}">
        <p14:creationId xmlns:p14="http://schemas.microsoft.com/office/powerpoint/2010/main" val="4438332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C7DE-A73D-C0DC-83A8-721E8440F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F4456-F068-E60A-716E-DA3E1C1DB07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pic>
        <p:nvPicPr>
          <p:cNvPr id="5" name="Picture 4">
            <a:extLst>
              <a:ext uri="{FF2B5EF4-FFF2-40B4-BE49-F238E27FC236}">
                <a16:creationId xmlns:a16="http://schemas.microsoft.com/office/drawing/2014/main" id="{BD9974E0-A83C-D8F2-FF7F-77ECDA97CB71}"/>
              </a:ext>
            </a:extLst>
          </p:cNvPr>
          <p:cNvPicPr>
            <a:picLocks noChangeAspect="1"/>
          </p:cNvPicPr>
          <p:nvPr/>
        </p:nvPicPr>
        <p:blipFill>
          <a:blip r:embed="rId2"/>
          <a:stretch>
            <a:fillRect/>
          </a:stretch>
        </p:blipFill>
        <p:spPr>
          <a:xfrm>
            <a:off x="1114363" y="777766"/>
            <a:ext cx="9963274" cy="6080234"/>
          </a:xfrm>
          <a:prstGeom prst="rect">
            <a:avLst/>
          </a:prstGeom>
        </p:spPr>
      </p:pic>
    </p:spTree>
    <p:extLst>
      <p:ext uri="{BB962C8B-B14F-4D97-AF65-F5344CB8AC3E}">
        <p14:creationId xmlns:p14="http://schemas.microsoft.com/office/powerpoint/2010/main" val="197367368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269A-5BF7-DEB9-6C20-58B1EC03CC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CAA06-71B5-750D-896D-704200364D63}"/>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DC1FEDED-0EFA-DE97-7306-19ED14AB4A22}"/>
              </a:ext>
            </a:extLst>
          </p:cNvPr>
          <p:cNvSpPr txBox="1"/>
          <p:nvPr/>
        </p:nvSpPr>
        <p:spPr>
          <a:xfrm>
            <a:off x="110359" y="1477248"/>
            <a:ext cx="11971282" cy="3903504"/>
          </a:xfrm>
          <a:prstGeom prst="rect">
            <a:avLst/>
          </a:prstGeom>
          <a:noFill/>
        </p:spPr>
        <p:txBody>
          <a:bodyPr wrap="square">
            <a:spAutoFit/>
          </a:bodyPr>
          <a:lstStyle/>
          <a:p>
            <a:pPr>
              <a:lnSpc>
                <a:spcPct val="150000"/>
              </a:lnSpc>
            </a:pPr>
            <a:r>
              <a:rPr lang="en-US" sz="2800" b="1" dirty="0">
                <a:latin typeface="Calibir"/>
              </a:rPr>
              <a:t>What this section is asking for?</a:t>
            </a:r>
          </a:p>
          <a:p>
            <a:pPr marL="714375" indent="-457200">
              <a:lnSpc>
                <a:spcPct val="150000"/>
              </a:lnSpc>
              <a:buFont typeface="Arial" panose="020B0604020202020204" pitchFamily="34" charset="0"/>
              <a:buChar char="•"/>
            </a:pPr>
            <a:r>
              <a:rPr lang="en-US" sz="2800" dirty="0">
                <a:latin typeface="Calibir"/>
              </a:rPr>
              <a:t>Turn the brief into tiny tasks (“user stories”). </a:t>
            </a:r>
            <a:r>
              <a:rPr lang="en-US" altLang="en-US" sz="2800" dirty="0">
                <a:latin typeface="Calibir"/>
              </a:rPr>
              <a:t>What it is: Small tasks written as “stories.”</a:t>
            </a:r>
          </a:p>
          <a:p>
            <a:pPr marL="714375" indent="-457200">
              <a:lnSpc>
                <a:spcPct val="150000"/>
              </a:lnSpc>
              <a:buFont typeface="Arial" panose="020B0604020202020204" pitchFamily="34" charset="0"/>
              <a:buChar char="•"/>
            </a:pPr>
            <a:r>
              <a:rPr lang="en-US" sz="2800" dirty="0">
                <a:latin typeface="Calibir"/>
              </a:rPr>
              <a:t>Give each story a 3-digit ID. Stories for the same feature share the same hundreds digit (e.g., all Login stories = 1xx). </a:t>
            </a:r>
            <a:r>
              <a:rPr lang="en-US" altLang="en-US" sz="2800" b="1" dirty="0">
                <a:latin typeface="Calibir"/>
              </a:rPr>
              <a:t>ID rule</a:t>
            </a:r>
            <a:r>
              <a:rPr lang="en-US" altLang="en-US" sz="2800" dirty="0">
                <a:latin typeface="Calibir"/>
              </a:rPr>
              <a:t>: 3 digits → same hundreds digit = same feature.</a:t>
            </a:r>
          </a:p>
        </p:txBody>
      </p:sp>
    </p:spTree>
    <p:extLst>
      <p:ext uri="{BB962C8B-B14F-4D97-AF65-F5344CB8AC3E}">
        <p14:creationId xmlns:p14="http://schemas.microsoft.com/office/powerpoint/2010/main" val="3028421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1FB01-B02D-41F5-79B3-9B3B49C90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DAE6FE-C5D6-99DE-5A20-16078A1B6C18}"/>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9C5A6BA7-3076-F56E-5091-A7025294D089}"/>
              </a:ext>
            </a:extLst>
          </p:cNvPr>
          <p:cNvSpPr txBox="1"/>
          <p:nvPr/>
        </p:nvSpPr>
        <p:spPr>
          <a:xfrm>
            <a:off x="110359" y="1477248"/>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100 Student logs in with email/password → success/fail → login()</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105 System validates credentials → error message → </a:t>
            </a:r>
            <a:r>
              <a:rPr lang="en-US" altLang="en-US" sz="2800" dirty="0" err="1">
                <a:latin typeface="Calibir"/>
              </a:rPr>
              <a:t>validateCredentials</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Put stories in a table with columns: ID, User, Action, Result, Function (Function = the future code hook name). </a:t>
            </a:r>
            <a:r>
              <a:rPr lang="en-US" altLang="en-US" sz="2800" dirty="0">
                <a:latin typeface="Calibir"/>
              </a:rPr>
              <a:t>Format: ID | User | Action | Result | Function.</a:t>
            </a:r>
          </a:p>
        </p:txBody>
      </p:sp>
    </p:spTree>
    <p:extLst>
      <p:ext uri="{BB962C8B-B14F-4D97-AF65-F5344CB8AC3E}">
        <p14:creationId xmlns:p14="http://schemas.microsoft.com/office/powerpoint/2010/main" val="37694984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3AD-4FE5-137D-B88D-C567ECBA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569331-A279-4E3C-D1E2-3520C650C70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38ADA74D-8E3C-C225-75ED-4D0B03C57894}"/>
              </a:ext>
            </a:extLst>
          </p:cNvPr>
          <p:cNvSpPr txBox="1"/>
          <p:nvPr/>
        </p:nvSpPr>
        <p:spPr>
          <a:xfrm>
            <a:off x="110359" y="1675561"/>
            <a:ext cx="11971282" cy="325717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List the features</a:t>
            </a:r>
            <a:r>
              <a:rPr lang="en-US" altLang="en-US" sz="2800" dirty="0">
                <a:latin typeface="Calibir"/>
              </a:rPr>
              <a:t> from the brief</a:t>
            </a:r>
            <a:br>
              <a:rPr lang="en-US" altLang="en-US" sz="2800" dirty="0">
                <a:latin typeface="Calibir"/>
              </a:rPr>
            </a:br>
            <a:r>
              <a:rPr lang="en-US" altLang="en-US" sz="2800" dirty="0">
                <a:latin typeface="Calibir"/>
              </a:rPr>
              <a:t>Login, Register, </a:t>
            </a:r>
            <a:r>
              <a:rPr lang="en-US" altLang="en-US" sz="2800" dirty="0" err="1">
                <a:latin typeface="Calibir"/>
              </a:rPr>
              <a:t>Enrol</a:t>
            </a:r>
            <a:r>
              <a:rPr lang="en-US" altLang="en-US" sz="2800" dirty="0">
                <a:latin typeface="Calibir"/>
              </a:rPr>
              <a:t>, Drop, View Enrolments, Change Password, Admin Views, Admin Group/Partition, Admin Remove/Clear, File I/O.</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Make small, single-action stories</a:t>
            </a:r>
            <a:r>
              <a:rPr lang="en-US" altLang="en-US" sz="2800" dirty="0">
                <a:latin typeface="Calibir"/>
              </a:rPr>
              <a:t> for each feature</a:t>
            </a:r>
            <a:br>
              <a:rPr lang="en-US" altLang="en-US" sz="2800" dirty="0">
                <a:latin typeface="Calibir"/>
              </a:rPr>
            </a:br>
            <a:r>
              <a:rPr lang="en-US" altLang="en-US" sz="2800" dirty="0">
                <a:latin typeface="Calibir"/>
              </a:rPr>
              <a:t>One clear action → one clear outcome (no “and then…”).</a:t>
            </a:r>
          </a:p>
        </p:txBody>
      </p:sp>
    </p:spTree>
    <p:extLst>
      <p:ext uri="{BB962C8B-B14F-4D97-AF65-F5344CB8AC3E}">
        <p14:creationId xmlns:p14="http://schemas.microsoft.com/office/powerpoint/2010/main" val="25909999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9A9E2-F38D-B9BF-16D1-CCDC1073D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F8F13-6F3E-6272-5420-6521076CF29F}"/>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A8824040-1446-B7EE-F2D8-07CA342A7C4F}"/>
              </a:ext>
            </a:extLst>
          </p:cNvPr>
          <p:cNvSpPr txBox="1"/>
          <p:nvPr/>
        </p:nvSpPr>
        <p:spPr>
          <a:xfrm>
            <a:off x="110359" y="1675561"/>
            <a:ext cx="11971282" cy="326076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b="1" dirty="0">
                <a:latin typeface="Calibir"/>
              </a:rPr>
              <a:t>Assign 3-digit IDs</a:t>
            </a:r>
            <a:br>
              <a:rPr lang="en-US" sz="2800" dirty="0">
                <a:latin typeface="Calibir"/>
              </a:rPr>
            </a:br>
            <a:r>
              <a:rPr lang="en-US" sz="2800" dirty="0">
                <a:latin typeface="Calibir"/>
              </a:rPr>
              <a:t>Pick a scheme and stick to it. Example:</a:t>
            </a:r>
            <a:br>
              <a:rPr lang="en-US" sz="2800" dirty="0">
                <a:latin typeface="Calibir"/>
              </a:rPr>
            </a:br>
            <a:r>
              <a:rPr lang="en-US" sz="2800" dirty="0">
                <a:latin typeface="Calibir"/>
              </a:rPr>
              <a:t>1xx Login, 2xx Register, 3xx </a:t>
            </a:r>
            <a:r>
              <a:rPr lang="en-US" sz="2800" dirty="0" err="1">
                <a:latin typeface="Calibir"/>
              </a:rPr>
              <a:t>Enrol</a:t>
            </a:r>
            <a:r>
              <a:rPr lang="en-US" sz="2800" dirty="0">
                <a:latin typeface="Calibir"/>
              </a:rPr>
              <a:t>, 4xx Drop, 5xx View, 6xx Change PW, 7xx Admin, 8xx File I/O.</a:t>
            </a:r>
            <a:br>
              <a:rPr lang="en-US" sz="2800" dirty="0">
                <a:latin typeface="Calibir"/>
              </a:rPr>
            </a:br>
            <a:r>
              <a:rPr lang="en-US" sz="2800" dirty="0">
                <a:latin typeface="Calibir"/>
              </a:rPr>
              <a:t>Use gaps (100, 101, 105…) so you can add more later.</a:t>
            </a:r>
            <a:endParaRPr lang="en-US" altLang="en-US" sz="2800" dirty="0">
              <a:latin typeface="Calibir"/>
            </a:endParaRPr>
          </a:p>
        </p:txBody>
      </p:sp>
    </p:spTree>
    <p:extLst>
      <p:ext uri="{BB962C8B-B14F-4D97-AF65-F5344CB8AC3E}">
        <p14:creationId xmlns:p14="http://schemas.microsoft.com/office/powerpoint/2010/main" val="2751142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93C5D-25F2-1931-D902-D3865A6BC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C3D59F-D51E-2E62-A30F-27851844E255}"/>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22F4180D-1600-3909-993A-FED6522C9F47}"/>
              </a:ext>
            </a:extLst>
          </p:cNvPr>
          <p:cNvSpPr txBox="1"/>
          <p:nvPr/>
        </p:nvSpPr>
        <p:spPr>
          <a:xfrm>
            <a:off x="110359" y="1675561"/>
            <a:ext cx="11971282" cy="3903504"/>
          </a:xfrm>
          <a:prstGeom prst="rect">
            <a:avLst/>
          </a:prstGeom>
          <a:noFill/>
        </p:spPr>
        <p:txBody>
          <a:bodyPr wrap="square">
            <a:spAutoFit/>
          </a:bodyPr>
          <a:lstStyle/>
          <a:p>
            <a:pPr marL="514350" indent="-514350">
              <a:lnSpc>
                <a:spcPct val="150000"/>
              </a:lnSpc>
              <a:buFont typeface="+mj-lt"/>
              <a:buAutoNum type="arabicPeriod" startAt="4"/>
            </a:pPr>
            <a:r>
              <a:rPr lang="en-US" sz="2800" b="1" dirty="0">
                <a:latin typeface="Calibir"/>
              </a:rPr>
              <a:t>Fill the backlog table</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ID:</a:t>
            </a:r>
            <a:r>
              <a:rPr lang="en-US" sz="2800" dirty="0">
                <a:latin typeface="Calibir"/>
              </a:rPr>
              <a:t> your 3-digit code</a:t>
            </a:r>
          </a:p>
          <a:p>
            <a:pPr marL="914400" lvl="1" indent="-457200">
              <a:lnSpc>
                <a:spcPct val="150000"/>
              </a:lnSpc>
              <a:buFont typeface="Arial" panose="020B0604020202020204" pitchFamily="34" charset="0"/>
              <a:buChar char="•"/>
            </a:pPr>
            <a:r>
              <a:rPr lang="en-US" sz="2800" b="1" dirty="0">
                <a:latin typeface="Calibir"/>
              </a:rPr>
              <a:t>User:</a:t>
            </a:r>
            <a:r>
              <a:rPr lang="en-US" sz="2800" dirty="0">
                <a:latin typeface="Calibir"/>
              </a:rPr>
              <a:t> Student / Admin / System</a:t>
            </a:r>
          </a:p>
          <a:p>
            <a:pPr marL="914400" lvl="1" indent="-457200">
              <a:lnSpc>
                <a:spcPct val="150000"/>
              </a:lnSpc>
              <a:buFont typeface="Arial" panose="020B0604020202020204" pitchFamily="34" charset="0"/>
              <a:buChar char="•"/>
            </a:pPr>
            <a:r>
              <a:rPr lang="en-US" sz="2800" b="1" dirty="0">
                <a:latin typeface="Calibir"/>
              </a:rPr>
              <a:t>Action:</a:t>
            </a:r>
            <a:r>
              <a:rPr lang="en-US" sz="2800" dirty="0">
                <a:latin typeface="Calibir"/>
              </a:rPr>
              <a:t> what they do</a:t>
            </a:r>
          </a:p>
          <a:p>
            <a:pPr marL="914400" lvl="1" indent="-457200">
              <a:lnSpc>
                <a:spcPct val="150000"/>
              </a:lnSpc>
              <a:buFont typeface="Arial" panose="020B0604020202020204" pitchFamily="34" charset="0"/>
              <a:buChar char="•"/>
            </a:pPr>
            <a:r>
              <a:rPr lang="en-US" sz="2800" b="1" dirty="0">
                <a:latin typeface="Calibir"/>
              </a:rPr>
              <a:t>Result:</a:t>
            </a:r>
            <a:r>
              <a:rPr lang="en-US" sz="2800" dirty="0">
                <a:latin typeface="Calibir"/>
              </a:rPr>
              <a:t> what the system shows/returns/changes</a:t>
            </a:r>
          </a:p>
          <a:p>
            <a:pPr marL="914400" lvl="1" indent="-457200">
              <a:lnSpc>
                <a:spcPct val="150000"/>
              </a:lnSpc>
              <a:buFont typeface="Arial" panose="020B0604020202020204" pitchFamily="34" charset="0"/>
              <a:buChar char="•"/>
            </a:pPr>
            <a:r>
              <a:rPr lang="en-US" sz="2800" b="1" dirty="0">
                <a:latin typeface="Calibir"/>
              </a:rPr>
              <a:t>Function:</a:t>
            </a:r>
            <a:r>
              <a:rPr lang="en-US" sz="2800" dirty="0">
                <a:latin typeface="Calibir"/>
              </a:rPr>
              <a:t> future method name (e.g., login())</a:t>
            </a:r>
          </a:p>
        </p:txBody>
      </p:sp>
    </p:spTree>
    <p:extLst>
      <p:ext uri="{BB962C8B-B14F-4D97-AF65-F5344CB8AC3E}">
        <p14:creationId xmlns:p14="http://schemas.microsoft.com/office/powerpoint/2010/main" val="236126980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4033-C862-4623-74D7-BF4299B265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4BDD3-8B61-8E1F-79CF-DBC044879B54}"/>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B9C4633C-D869-8885-4B73-8A675229E991}"/>
              </a:ext>
            </a:extLst>
          </p:cNvPr>
          <p:cNvSpPr txBox="1"/>
          <p:nvPr/>
        </p:nvSpPr>
        <p:spPr>
          <a:xfrm>
            <a:off x="110359" y="1675561"/>
            <a:ext cx="11971282" cy="1968103"/>
          </a:xfrm>
          <a:prstGeom prst="rect">
            <a:avLst/>
          </a:prstGeom>
          <a:noFill/>
        </p:spPr>
        <p:txBody>
          <a:bodyPr wrap="square">
            <a:spAutoFit/>
          </a:bodyPr>
          <a:lstStyle/>
          <a:p>
            <a:pPr>
              <a:lnSpc>
                <a:spcPct val="150000"/>
              </a:lnSpc>
            </a:pPr>
            <a:r>
              <a:rPr lang="en-US" sz="2800" b="1" dirty="0">
                <a:latin typeface="Calibir"/>
              </a:rPr>
              <a:t>5.    Quick check</a:t>
            </a:r>
            <a:br>
              <a:rPr lang="en-US" sz="2800" dirty="0">
                <a:latin typeface="Calibir"/>
              </a:rPr>
            </a:br>
            <a:r>
              <a:rPr lang="en-US" sz="2800" dirty="0">
                <a:latin typeface="Calibir"/>
              </a:rPr>
              <a:t>Does every requirement in the brief appear in at least one story? Are outcomes testable?</a:t>
            </a:r>
          </a:p>
        </p:txBody>
      </p:sp>
    </p:spTree>
    <p:extLst>
      <p:ext uri="{BB962C8B-B14F-4D97-AF65-F5344CB8AC3E}">
        <p14:creationId xmlns:p14="http://schemas.microsoft.com/office/powerpoint/2010/main" val="40676482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7186E-499C-CD92-DFE7-DE66C83B656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2F42676-5B65-01E5-C68D-6F20E01C9E6F}"/>
              </a:ext>
            </a:extLst>
          </p:cNvPr>
          <p:cNvGraphicFramePr>
            <a:graphicFrameLocks noGrp="1"/>
          </p:cNvGraphicFramePr>
          <p:nvPr>
            <p:extLst>
              <p:ext uri="{D42A27DB-BD31-4B8C-83A1-F6EECF244321}">
                <p14:modId xmlns:p14="http://schemas.microsoft.com/office/powerpoint/2010/main" val="3141298239"/>
              </p:ext>
            </p:extLst>
          </p:nvPr>
        </p:nvGraphicFramePr>
        <p:xfrm>
          <a:off x="462116" y="726270"/>
          <a:ext cx="11267768" cy="6043240"/>
        </p:xfrm>
        <a:graphic>
          <a:graphicData uri="http://schemas.openxmlformats.org/drawingml/2006/table">
            <a:tbl>
              <a:tblPr>
                <a:tableStyleId>{BDBED569-4797-4DF1-A0F4-6AAB3CD982D8}</a:tableStyleId>
              </a:tblPr>
              <a:tblGrid>
                <a:gridCol w="1386349">
                  <a:extLst>
                    <a:ext uri="{9D8B030D-6E8A-4147-A177-3AD203B41FA5}">
                      <a16:colId xmlns:a16="http://schemas.microsoft.com/office/drawing/2014/main" val="239969091"/>
                    </a:ext>
                  </a:extLst>
                </a:gridCol>
                <a:gridCol w="1430593">
                  <a:extLst>
                    <a:ext uri="{9D8B030D-6E8A-4147-A177-3AD203B41FA5}">
                      <a16:colId xmlns:a16="http://schemas.microsoft.com/office/drawing/2014/main" val="2808818288"/>
                    </a:ext>
                  </a:extLst>
                </a:gridCol>
                <a:gridCol w="3472600">
                  <a:extLst>
                    <a:ext uri="{9D8B030D-6E8A-4147-A177-3AD203B41FA5}">
                      <a16:colId xmlns:a16="http://schemas.microsoft.com/office/drawing/2014/main" val="2403475540"/>
                    </a:ext>
                  </a:extLst>
                </a:gridCol>
                <a:gridCol w="2736471">
                  <a:extLst>
                    <a:ext uri="{9D8B030D-6E8A-4147-A177-3AD203B41FA5}">
                      <a16:colId xmlns:a16="http://schemas.microsoft.com/office/drawing/2014/main" val="1711903918"/>
                    </a:ext>
                  </a:extLst>
                </a:gridCol>
                <a:gridCol w="2241755">
                  <a:extLst>
                    <a:ext uri="{9D8B030D-6E8A-4147-A177-3AD203B41FA5}">
                      <a16:colId xmlns:a16="http://schemas.microsoft.com/office/drawing/2014/main" val="547037210"/>
                    </a:ext>
                  </a:extLst>
                </a:gridCol>
              </a:tblGrid>
              <a:tr h="195566">
                <a:tc>
                  <a:txBody>
                    <a:bodyPr/>
                    <a:lstStyle/>
                    <a:p>
                      <a:pPr>
                        <a:buNone/>
                      </a:pPr>
                      <a:r>
                        <a:rPr lang="en-US" sz="1800" b="1" dirty="0">
                          <a:latin typeface="Calibir"/>
                        </a:rPr>
                        <a:t>ID</a:t>
                      </a:r>
                    </a:p>
                  </a:txBody>
                  <a:tcPr marL="48891" marR="48891" marT="24446" marB="24446" anchor="ctr">
                    <a:solidFill>
                      <a:schemeClr val="accent5">
                        <a:lumMod val="20000"/>
                        <a:lumOff val="80000"/>
                      </a:schemeClr>
                    </a:solidFill>
                  </a:tcPr>
                </a:tc>
                <a:tc>
                  <a:txBody>
                    <a:bodyPr/>
                    <a:lstStyle/>
                    <a:p>
                      <a:pPr>
                        <a:buNone/>
                      </a:pPr>
                      <a:r>
                        <a:rPr lang="en-US" sz="1800" b="1">
                          <a:latin typeface="Calibir"/>
                        </a:rPr>
                        <a:t>User</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Action</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Result/Outcome</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Function</a:t>
                      </a:r>
                    </a:p>
                  </a:txBody>
                  <a:tcPr marL="48891" marR="48891" marT="24446" marB="24446" anchor="ctr">
                    <a:solidFill>
                      <a:schemeClr val="accent5">
                        <a:lumMod val="20000"/>
                        <a:lumOff val="80000"/>
                      </a:schemeClr>
                    </a:solidFill>
                  </a:tcPr>
                </a:tc>
                <a:extLst>
                  <a:ext uri="{0D108BD9-81ED-4DB2-BD59-A6C34878D82A}">
                    <a16:rowId xmlns:a16="http://schemas.microsoft.com/office/drawing/2014/main" val="2792024109"/>
                  </a:ext>
                </a:extLst>
              </a:tr>
              <a:tr h="342240">
                <a:tc>
                  <a:txBody>
                    <a:bodyPr/>
                    <a:lstStyle/>
                    <a:p>
                      <a:pPr>
                        <a:buNone/>
                      </a:pPr>
                      <a:r>
                        <a:rPr lang="en-US" sz="1800">
                          <a:latin typeface="Calibir"/>
                        </a:rPr>
                        <a:t>100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Submit email &amp; password to log in</a:t>
                      </a:r>
                    </a:p>
                  </a:txBody>
                  <a:tcPr marL="48891" marR="48891" marT="24446" marB="24446" anchor="ctr"/>
                </a:tc>
                <a:tc>
                  <a:txBody>
                    <a:bodyPr/>
                    <a:lstStyle/>
                    <a:p>
                      <a:pPr>
                        <a:buNone/>
                      </a:pPr>
                      <a:r>
                        <a:rPr lang="en-US" sz="1800">
                          <a:latin typeface="Calibir"/>
                        </a:rPr>
                        <a:t>If match → go to Student Menu</a:t>
                      </a:r>
                    </a:p>
                  </a:txBody>
                  <a:tcPr marL="48891" marR="48891" marT="24446" marB="24446" anchor="ctr"/>
                </a:tc>
                <a:tc>
                  <a:txBody>
                    <a:bodyPr/>
                    <a:lstStyle/>
                    <a:p>
                      <a:pPr>
                        <a:buNone/>
                      </a:pPr>
                      <a:r>
                        <a:rPr lang="en-US" sz="1800">
                          <a:latin typeface="Calibir"/>
                        </a:rPr>
                        <a:t>login()</a:t>
                      </a:r>
                    </a:p>
                  </a:txBody>
                  <a:tcPr marL="48891" marR="48891" marT="24446" marB="24446" anchor="ctr"/>
                </a:tc>
                <a:extLst>
                  <a:ext uri="{0D108BD9-81ED-4DB2-BD59-A6C34878D82A}">
                    <a16:rowId xmlns:a16="http://schemas.microsoft.com/office/drawing/2014/main" val="3218113864"/>
                  </a:ext>
                </a:extLst>
              </a:tr>
              <a:tr h="342240">
                <a:tc>
                  <a:txBody>
                    <a:bodyPr/>
                    <a:lstStyle/>
                    <a:p>
                      <a:pPr>
                        <a:buNone/>
                      </a:pPr>
                      <a:r>
                        <a:rPr lang="en-US" sz="1800">
                          <a:latin typeface="Calibir"/>
                        </a:rPr>
                        <a:t>105</a:t>
                      </a:r>
                    </a:p>
                  </a:txBody>
                  <a:tcPr marL="48891" marR="48891" marT="24446" marB="24446" anchor="ctr"/>
                </a:tc>
                <a:tc>
                  <a:txBody>
                    <a:bodyPr/>
                    <a:lstStyle/>
                    <a:p>
                      <a:pPr>
                        <a:buNone/>
                      </a:pPr>
                      <a:r>
                        <a:rPr lang="en-US" sz="1800" dirty="0">
                          <a:latin typeface="Calibir"/>
                        </a:rPr>
                        <a:t>System</a:t>
                      </a:r>
                    </a:p>
                  </a:txBody>
                  <a:tcPr marL="48891" marR="48891" marT="24446" marB="24446" anchor="ctr"/>
                </a:tc>
                <a:tc>
                  <a:txBody>
                    <a:bodyPr/>
                    <a:lstStyle/>
                    <a:p>
                      <a:pPr>
                        <a:buNone/>
                      </a:pPr>
                      <a:r>
                        <a:rPr lang="en-US" sz="1800">
                          <a:latin typeface="Calibir"/>
                        </a:rPr>
                        <a:t>Validate email &amp; password patterns</a:t>
                      </a:r>
                    </a:p>
                  </a:txBody>
                  <a:tcPr marL="48891" marR="48891" marT="24446" marB="24446" anchor="ctr"/>
                </a:tc>
                <a:tc>
                  <a:txBody>
                    <a:bodyPr/>
                    <a:lstStyle/>
                    <a:p>
                      <a:pPr>
                        <a:buNone/>
                      </a:pPr>
                      <a:r>
                        <a:rPr lang="en-US" sz="1800">
                          <a:latin typeface="Calibir"/>
                        </a:rPr>
                        <a:t>Show specific error on invalid pattern</a:t>
                      </a:r>
                    </a:p>
                  </a:txBody>
                  <a:tcPr marL="48891" marR="48891" marT="24446" marB="24446" anchor="ctr"/>
                </a:tc>
                <a:tc>
                  <a:txBody>
                    <a:bodyPr/>
                    <a:lstStyle/>
                    <a:p>
                      <a:pPr>
                        <a:buNone/>
                      </a:pPr>
                      <a:r>
                        <a:rPr lang="en-US" sz="1800">
                          <a:latin typeface="Calibir"/>
                        </a:rPr>
                        <a:t>validateCredentials()</a:t>
                      </a:r>
                    </a:p>
                  </a:txBody>
                  <a:tcPr marL="48891" marR="48891" marT="24446" marB="24446" anchor="ctr"/>
                </a:tc>
                <a:extLst>
                  <a:ext uri="{0D108BD9-81ED-4DB2-BD59-A6C34878D82A}">
                    <a16:rowId xmlns:a16="http://schemas.microsoft.com/office/drawing/2014/main" val="3015573003"/>
                  </a:ext>
                </a:extLst>
              </a:tr>
              <a:tr h="488914">
                <a:tc>
                  <a:txBody>
                    <a:bodyPr/>
                    <a:lstStyle/>
                    <a:p>
                      <a:pPr>
                        <a:buNone/>
                      </a:pPr>
                      <a:r>
                        <a:rPr lang="en-US" sz="1800">
                          <a:latin typeface="Calibir"/>
                        </a:rPr>
                        <a:t>200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Register with name/email/password</a:t>
                      </a:r>
                    </a:p>
                  </a:txBody>
                  <a:tcPr marL="48891" marR="48891" marT="24446" marB="24446" anchor="ctr"/>
                </a:tc>
                <a:tc>
                  <a:txBody>
                    <a:bodyPr/>
                    <a:lstStyle/>
                    <a:p>
                      <a:pPr>
                        <a:buNone/>
                      </a:pPr>
                      <a:r>
                        <a:rPr lang="en-US" sz="1800">
                          <a:latin typeface="Calibir"/>
                        </a:rPr>
                        <a:t>Account created + 6-digit ID assigned</a:t>
                      </a:r>
                    </a:p>
                  </a:txBody>
                  <a:tcPr marL="48891" marR="48891" marT="24446" marB="24446" anchor="ctr"/>
                </a:tc>
                <a:tc>
                  <a:txBody>
                    <a:bodyPr/>
                    <a:lstStyle/>
                    <a:p>
                      <a:pPr>
                        <a:buNone/>
                      </a:pPr>
                      <a:r>
                        <a:rPr lang="en-US" sz="1800">
                          <a:latin typeface="Calibir"/>
                        </a:rPr>
                        <a:t>registerStudent()</a:t>
                      </a:r>
                    </a:p>
                  </a:txBody>
                  <a:tcPr marL="48891" marR="48891" marT="24446" marB="24446" anchor="ctr"/>
                </a:tc>
                <a:extLst>
                  <a:ext uri="{0D108BD9-81ED-4DB2-BD59-A6C34878D82A}">
                    <a16:rowId xmlns:a16="http://schemas.microsoft.com/office/drawing/2014/main" val="1750377390"/>
                  </a:ext>
                </a:extLst>
              </a:tr>
              <a:tr h="342240">
                <a:tc>
                  <a:txBody>
                    <a:bodyPr/>
                    <a:lstStyle/>
                    <a:p>
                      <a:pPr>
                        <a:buNone/>
                      </a:pPr>
                      <a:r>
                        <a:rPr lang="en-US" sz="1800">
                          <a:latin typeface="Calibir"/>
                        </a:rPr>
                        <a:t>201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Generate unique 6-digit student ID</a:t>
                      </a:r>
                    </a:p>
                  </a:txBody>
                  <a:tcPr marL="48891" marR="48891" marT="24446" marB="24446" anchor="ctr"/>
                </a:tc>
                <a:tc>
                  <a:txBody>
                    <a:bodyPr/>
                    <a:lstStyle/>
                    <a:p>
                      <a:pPr>
                        <a:buNone/>
                      </a:pPr>
                      <a:r>
                        <a:rPr lang="en-US" sz="1800">
                          <a:latin typeface="Calibir"/>
                        </a:rPr>
                        <a:t>ID like 004231</a:t>
                      </a:r>
                    </a:p>
                  </a:txBody>
                  <a:tcPr marL="48891" marR="48891" marT="24446" marB="24446" anchor="ctr"/>
                </a:tc>
                <a:tc>
                  <a:txBody>
                    <a:bodyPr/>
                    <a:lstStyle/>
                    <a:p>
                      <a:pPr>
                        <a:buNone/>
                      </a:pPr>
                      <a:r>
                        <a:rPr lang="en-US" sz="1800">
                          <a:latin typeface="Calibir"/>
                        </a:rPr>
                        <a:t>generateStudentId()</a:t>
                      </a:r>
                    </a:p>
                  </a:txBody>
                  <a:tcPr marL="48891" marR="48891" marT="24446" marB="24446" anchor="ctr"/>
                </a:tc>
                <a:extLst>
                  <a:ext uri="{0D108BD9-81ED-4DB2-BD59-A6C34878D82A}">
                    <a16:rowId xmlns:a16="http://schemas.microsoft.com/office/drawing/2014/main" val="860861065"/>
                  </a:ext>
                </a:extLst>
              </a:tr>
              <a:tr h="488914">
                <a:tc>
                  <a:txBody>
                    <a:bodyPr/>
                    <a:lstStyle/>
                    <a:p>
                      <a:pPr>
                        <a:buNone/>
                      </a:pPr>
                      <a:r>
                        <a:rPr lang="en-US" sz="1800">
                          <a:latin typeface="Calibir"/>
                        </a:rPr>
                        <a:t>300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Enrol (no subject choice)</a:t>
                      </a:r>
                    </a:p>
                  </a:txBody>
                  <a:tcPr marL="48891" marR="48891" marT="24446" marB="24446" anchor="ctr"/>
                </a:tc>
                <a:tc>
                  <a:txBody>
                    <a:bodyPr/>
                    <a:lstStyle/>
                    <a:p>
                      <a:pPr>
                        <a:buNone/>
                      </a:pPr>
                      <a:r>
                        <a:rPr lang="en-US" sz="1800">
                          <a:latin typeface="Calibir"/>
                        </a:rPr>
                        <a:t>One new subject added with 3-digit code</a:t>
                      </a:r>
                    </a:p>
                  </a:txBody>
                  <a:tcPr marL="48891" marR="48891" marT="24446" marB="24446" anchor="ctr"/>
                </a:tc>
                <a:tc>
                  <a:txBody>
                    <a:bodyPr/>
                    <a:lstStyle/>
                    <a:p>
                      <a:pPr>
                        <a:buNone/>
                      </a:pPr>
                      <a:r>
                        <a:rPr lang="en-US" sz="1800">
                          <a:latin typeface="Calibir"/>
                        </a:rPr>
                        <a:t>enrolSubject()</a:t>
                      </a:r>
                    </a:p>
                  </a:txBody>
                  <a:tcPr marL="48891" marR="48891" marT="24446" marB="24446" anchor="ctr"/>
                </a:tc>
                <a:extLst>
                  <a:ext uri="{0D108BD9-81ED-4DB2-BD59-A6C34878D82A}">
                    <a16:rowId xmlns:a16="http://schemas.microsoft.com/office/drawing/2014/main" val="1100118459"/>
                  </a:ext>
                </a:extLst>
              </a:tr>
              <a:tr h="488914">
                <a:tc>
                  <a:txBody>
                    <a:bodyPr/>
                    <a:lstStyle/>
                    <a:p>
                      <a:pPr>
                        <a:buNone/>
                      </a:pPr>
                      <a:r>
                        <a:rPr lang="en-US" sz="1800">
                          <a:latin typeface="Calibir"/>
                        </a:rPr>
                        <a:t>301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Block enrolment over 4</a:t>
                      </a:r>
                    </a:p>
                  </a:txBody>
                  <a:tcPr marL="48891" marR="48891" marT="24446" marB="24446" anchor="ctr"/>
                </a:tc>
                <a:tc>
                  <a:txBody>
                    <a:bodyPr/>
                    <a:lstStyle/>
                    <a:p>
                      <a:pPr>
                        <a:buNone/>
                      </a:pPr>
                      <a:r>
                        <a:rPr lang="en-US" sz="1800">
                          <a:latin typeface="Calibir"/>
                        </a:rPr>
                        <a:t>Message “Maximum of 4 subjects reached”</a:t>
                      </a:r>
                    </a:p>
                  </a:txBody>
                  <a:tcPr marL="48891" marR="48891" marT="24446" marB="24446" anchor="ctr"/>
                </a:tc>
                <a:tc>
                  <a:txBody>
                    <a:bodyPr/>
                    <a:lstStyle/>
                    <a:p>
                      <a:pPr>
                        <a:buNone/>
                      </a:pPr>
                      <a:r>
                        <a:rPr lang="en-US" sz="1800">
                          <a:latin typeface="Calibir"/>
                        </a:rPr>
                        <a:t>checkMaxSubjects()</a:t>
                      </a:r>
                    </a:p>
                  </a:txBody>
                  <a:tcPr marL="48891" marR="48891" marT="24446" marB="24446" anchor="ctr"/>
                </a:tc>
                <a:extLst>
                  <a:ext uri="{0D108BD9-81ED-4DB2-BD59-A6C34878D82A}">
                    <a16:rowId xmlns:a16="http://schemas.microsoft.com/office/drawing/2014/main" val="2713931013"/>
                  </a:ext>
                </a:extLst>
              </a:tr>
              <a:tr h="488914">
                <a:tc>
                  <a:txBody>
                    <a:bodyPr/>
                    <a:lstStyle/>
                    <a:p>
                      <a:pPr>
                        <a:buNone/>
                      </a:pPr>
                      <a:r>
                        <a:rPr lang="en-US" sz="1800">
                          <a:latin typeface="Calibir"/>
                        </a:rPr>
                        <a:t>320</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Auto-assign mark &amp; compute grade</a:t>
                      </a:r>
                    </a:p>
                  </a:txBody>
                  <a:tcPr marL="48891" marR="48891" marT="24446" marB="24446" anchor="ctr"/>
                </a:tc>
                <a:tc>
                  <a:txBody>
                    <a:bodyPr/>
                    <a:lstStyle/>
                    <a:p>
                      <a:pPr>
                        <a:buNone/>
                      </a:pPr>
                      <a:r>
                        <a:rPr lang="en-US" sz="1800">
                          <a:latin typeface="Calibir"/>
                        </a:rPr>
                        <a:t>Subject has mark 25–100 and grade Z/P/C/D/HD</a:t>
                      </a:r>
                    </a:p>
                  </a:txBody>
                  <a:tcPr marL="48891" marR="48891" marT="24446" marB="24446" anchor="ctr"/>
                </a:tc>
                <a:tc>
                  <a:txBody>
                    <a:bodyPr/>
                    <a:lstStyle/>
                    <a:p>
                      <a:pPr>
                        <a:buNone/>
                      </a:pPr>
                      <a:r>
                        <a:rPr lang="en-US" sz="1800">
                          <a:latin typeface="Calibir"/>
                        </a:rPr>
                        <a:t>assignMarkAndGrade()</a:t>
                      </a:r>
                    </a:p>
                  </a:txBody>
                  <a:tcPr marL="48891" marR="48891" marT="24446" marB="24446" anchor="ctr"/>
                </a:tc>
                <a:extLst>
                  <a:ext uri="{0D108BD9-81ED-4DB2-BD59-A6C34878D82A}">
                    <a16:rowId xmlns:a16="http://schemas.microsoft.com/office/drawing/2014/main" val="1263160871"/>
                  </a:ext>
                </a:extLst>
              </a:tr>
              <a:tr h="342240">
                <a:tc>
                  <a:txBody>
                    <a:bodyPr/>
                    <a:lstStyle/>
                    <a:p>
                      <a:pPr>
                        <a:buNone/>
                      </a:pPr>
                      <a:r>
                        <a:rPr lang="en-US" sz="1800">
                          <a:latin typeface="Calibir"/>
                        </a:rPr>
                        <a:t>500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View current enrolments</a:t>
                      </a:r>
                    </a:p>
                  </a:txBody>
                  <a:tcPr marL="48891" marR="48891" marT="24446" marB="24446" anchor="ctr"/>
                </a:tc>
                <a:tc>
                  <a:txBody>
                    <a:bodyPr/>
                    <a:lstStyle/>
                    <a:p>
                      <a:pPr>
                        <a:buNone/>
                      </a:pPr>
                      <a:r>
                        <a:rPr lang="en-US" sz="1800">
                          <a:latin typeface="Calibir"/>
                        </a:rPr>
                        <a:t>List subjects with IDs, marks, grades</a:t>
                      </a:r>
                    </a:p>
                  </a:txBody>
                  <a:tcPr marL="48891" marR="48891" marT="24446" marB="24446" anchor="ctr"/>
                </a:tc>
                <a:tc>
                  <a:txBody>
                    <a:bodyPr/>
                    <a:lstStyle/>
                    <a:p>
                      <a:pPr>
                        <a:buNone/>
                      </a:pPr>
                      <a:r>
                        <a:rPr lang="en-US" sz="1800">
                          <a:latin typeface="Calibir"/>
                        </a:rPr>
                        <a:t>listSubjects()</a:t>
                      </a:r>
                    </a:p>
                  </a:txBody>
                  <a:tcPr marL="48891" marR="48891" marT="24446" marB="24446" anchor="ctr"/>
                </a:tc>
                <a:extLst>
                  <a:ext uri="{0D108BD9-81ED-4DB2-BD59-A6C34878D82A}">
                    <a16:rowId xmlns:a16="http://schemas.microsoft.com/office/drawing/2014/main" val="1224407800"/>
                  </a:ext>
                </a:extLst>
              </a:tr>
              <a:tr h="342240">
                <a:tc>
                  <a:txBody>
                    <a:bodyPr/>
                    <a:lstStyle/>
                    <a:p>
                      <a:pPr>
                        <a:buNone/>
                      </a:pPr>
                      <a:r>
                        <a:rPr lang="en-US" sz="1800">
                          <a:latin typeface="Calibir"/>
                        </a:rPr>
                        <a:t>730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Remove a specific student</a:t>
                      </a:r>
                    </a:p>
                  </a:txBody>
                  <a:tcPr marL="48891" marR="48891" marT="24446" marB="24446" anchor="ctr"/>
                </a:tc>
                <a:tc>
                  <a:txBody>
                    <a:bodyPr/>
                    <a:lstStyle/>
                    <a:p>
                      <a:pPr>
                        <a:buNone/>
                      </a:pPr>
                      <a:r>
                        <a:rPr lang="en-US" sz="1800">
                          <a:latin typeface="Calibir"/>
                        </a:rPr>
                        <a:t>Student record deleted</a:t>
                      </a:r>
                    </a:p>
                  </a:txBody>
                  <a:tcPr marL="48891" marR="48891" marT="24446" marB="24446" anchor="ctr"/>
                </a:tc>
                <a:tc>
                  <a:txBody>
                    <a:bodyPr/>
                    <a:lstStyle/>
                    <a:p>
                      <a:pPr>
                        <a:buNone/>
                      </a:pPr>
                      <a:r>
                        <a:rPr lang="en-US" sz="1800">
                          <a:latin typeface="Calibir"/>
                        </a:rPr>
                        <a:t>adminRemoveStudent()</a:t>
                      </a:r>
                    </a:p>
                  </a:txBody>
                  <a:tcPr marL="48891" marR="48891" marT="24446" marB="24446" anchor="ctr"/>
                </a:tc>
                <a:extLst>
                  <a:ext uri="{0D108BD9-81ED-4DB2-BD59-A6C34878D82A}">
                    <a16:rowId xmlns:a16="http://schemas.microsoft.com/office/drawing/2014/main" val="2156721265"/>
                  </a:ext>
                </a:extLst>
              </a:tr>
              <a:tr h="488914">
                <a:tc>
                  <a:txBody>
                    <a:bodyPr/>
                    <a:lstStyle/>
                    <a:p>
                      <a:pPr>
                        <a:buNone/>
                      </a:pPr>
                      <a:r>
                        <a:rPr lang="en-US" sz="1800">
                          <a:latin typeface="Calibir"/>
                        </a:rPr>
                        <a:t>740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Clear all data</a:t>
                      </a:r>
                    </a:p>
                  </a:txBody>
                  <a:tcPr marL="48891" marR="48891" marT="24446" marB="24446" anchor="ctr"/>
                </a:tc>
                <a:tc>
                  <a:txBody>
                    <a:bodyPr/>
                    <a:lstStyle/>
                    <a:p>
                      <a:pPr>
                        <a:buNone/>
                      </a:pPr>
                      <a:r>
                        <a:rPr lang="en-US" sz="1800">
                          <a:latin typeface="Calibir"/>
                        </a:rPr>
                        <a:t>students.data emptied after confirm</a:t>
                      </a:r>
                    </a:p>
                  </a:txBody>
                  <a:tcPr marL="48891" marR="48891" marT="24446" marB="24446" anchor="ctr"/>
                </a:tc>
                <a:tc>
                  <a:txBody>
                    <a:bodyPr/>
                    <a:lstStyle/>
                    <a:p>
                      <a:pPr>
                        <a:buNone/>
                      </a:pPr>
                      <a:r>
                        <a:rPr lang="en-US" sz="1800" dirty="0" err="1">
                          <a:latin typeface="Calibir"/>
                        </a:rPr>
                        <a:t>adminClearAll</a:t>
                      </a:r>
                      <a:r>
                        <a:rPr lang="en-US" sz="1800" dirty="0">
                          <a:latin typeface="Calibir"/>
                        </a:rPr>
                        <a:t>()</a:t>
                      </a:r>
                    </a:p>
                  </a:txBody>
                  <a:tcPr marL="48891" marR="48891" marT="24446" marB="24446" anchor="ctr"/>
                </a:tc>
                <a:extLst>
                  <a:ext uri="{0D108BD9-81ED-4DB2-BD59-A6C34878D82A}">
                    <a16:rowId xmlns:a16="http://schemas.microsoft.com/office/drawing/2014/main" val="2194001384"/>
                  </a:ext>
                </a:extLst>
              </a:tr>
            </a:tbl>
          </a:graphicData>
        </a:graphic>
      </p:graphicFrame>
      <p:sp>
        <p:nvSpPr>
          <p:cNvPr id="6" name="Rectangle 1">
            <a:extLst>
              <a:ext uri="{FF2B5EF4-FFF2-40B4-BE49-F238E27FC236}">
                <a16:creationId xmlns:a16="http://schemas.microsoft.com/office/drawing/2014/main" id="{562693C2-248E-DBE6-BCB8-C5DF7BDD914F}"/>
              </a:ext>
            </a:extLst>
          </p:cNvPr>
          <p:cNvSpPr>
            <a:spLocks noChangeArrowheads="1"/>
          </p:cNvSpPr>
          <p:nvPr/>
        </p:nvSpPr>
        <p:spPr bwMode="auto">
          <a:xfrm>
            <a:off x="-1" y="78107"/>
            <a:ext cx="21546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Tiny example</a:t>
            </a:r>
            <a:endParaRPr kumimoji="0" lang="en-US" altLang="en-US" sz="28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7003438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0B3-9747-E926-5367-B210B08B9DED}"/>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9EE015A-5125-B5F7-A40E-14BB6CCC0EB4}"/>
              </a:ext>
            </a:extLst>
          </p:cNvPr>
          <p:cNvSpPr>
            <a:spLocks noChangeArrowheads="1"/>
          </p:cNvSpPr>
          <p:nvPr/>
        </p:nvSpPr>
        <p:spPr bwMode="auto">
          <a:xfrm>
            <a:off x="0" y="789386"/>
            <a:ext cx="22917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avoid</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C7CF347E-4112-34AE-897E-22CE66984E97}"/>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highlight>
                  <a:srgbClr val="FF0000"/>
                </a:highlight>
                <a:latin typeface="Calibir"/>
              </a:rPr>
              <a:t>X</a:t>
            </a:r>
            <a:r>
              <a:rPr lang="en-US" sz="2800" b="1" dirty="0">
                <a:latin typeface="Calibir"/>
              </a:rPr>
              <a:t> Don’ts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Mixed stories → </a:t>
            </a:r>
            <a:r>
              <a:rPr lang="en-US" sz="2800" i="1" dirty="0">
                <a:latin typeface="Calibir"/>
              </a:rPr>
              <a:t>“log in and </a:t>
            </a:r>
            <a:r>
              <a:rPr lang="en-US" sz="2800" i="1" dirty="0" err="1">
                <a:latin typeface="Calibir"/>
              </a:rPr>
              <a:t>enrol</a:t>
            </a:r>
            <a:r>
              <a:rPr lang="en-US" sz="2800" i="1" dirty="0">
                <a:latin typeface="Calibir"/>
              </a:rPr>
              <a:t> and view”</a:t>
            </a:r>
            <a:r>
              <a:rPr lang="en-US" sz="2800" dirty="0">
                <a:latin typeface="Calibir"/>
              </a:rPr>
              <a:t> (too much in one).</a:t>
            </a:r>
          </a:p>
          <a:p>
            <a:pPr marL="811213" indent="-457200">
              <a:lnSpc>
                <a:spcPct val="150000"/>
              </a:lnSpc>
              <a:buFont typeface="Arial" panose="020B0604020202020204" pitchFamily="34" charset="0"/>
              <a:buChar char="•"/>
            </a:pPr>
            <a:r>
              <a:rPr lang="en-US" sz="2800" dirty="0">
                <a:latin typeface="Calibir"/>
              </a:rPr>
              <a:t>Inconsistent IDs → don’t jump between 1xx/2xx for the same feature.</a:t>
            </a:r>
          </a:p>
          <a:p>
            <a:pPr marL="811213" indent="-457200">
              <a:lnSpc>
                <a:spcPct val="150000"/>
              </a:lnSpc>
              <a:buFont typeface="Arial" panose="020B0604020202020204" pitchFamily="34" charset="0"/>
              <a:buChar char="•"/>
            </a:pPr>
            <a:r>
              <a:rPr lang="en-US" sz="2800" dirty="0">
                <a:latin typeface="Calibir"/>
              </a:rPr>
              <a:t>UI/implementation details → </a:t>
            </a:r>
            <a:r>
              <a:rPr lang="en-US" sz="2800" i="1" dirty="0">
                <a:latin typeface="Calibir"/>
              </a:rPr>
              <a:t>“click green button”, “use SQL”</a:t>
            </a:r>
            <a:r>
              <a:rPr lang="en-US" sz="2800" dirty="0">
                <a:latin typeface="Calibir"/>
              </a:rPr>
              <a:t>.</a:t>
            </a:r>
          </a:p>
          <a:p>
            <a:pPr marL="811213" indent="-457200">
              <a:lnSpc>
                <a:spcPct val="150000"/>
              </a:lnSpc>
              <a:buFont typeface="Arial" panose="020B0604020202020204" pitchFamily="34" charset="0"/>
              <a:buChar char="•"/>
            </a:pPr>
            <a:r>
              <a:rPr lang="en-US" sz="2800" dirty="0">
                <a:latin typeface="Calibir"/>
              </a:rPr>
              <a:t>Missing outcomes → always show what user/system gets.</a:t>
            </a:r>
          </a:p>
          <a:p>
            <a:pPr marL="811213" indent="-457200">
              <a:lnSpc>
                <a:spcPct val="150000"/>
              </a:lnSpc>
              <a:buFont typeface="Arial" panose="020B0604020202020204" pitchFamily="34" charset="0"/>
              <a:buChar char="•"/>
            </a:pPr>
            <a:r>
              <a:rPr lang="en-US" sz="2800" dirty="0">
                <a:latin typeface="Calibir"/>
              </a:rPr>
              <a:t>Extra actors → CLI/GUI are </a:t>
            </a:r>
            <a:r>
              <a:rPr lang="en-US" sz="2800" b="1" dirty="0">
                <a:latin typeface="Calibir"/>
              </a:rPr>
              <a:t>not</a:t>
            </a:r>
            <a:r>
              <a:rPr lang="en-US" sz="2800" dirty="0">
                <a:latin typeface="Calibir"/>
              </a:rPr>
              <a:t> actors (only Student, Admin, System).</a:t>
            </a:r>
          </a:p>
        </p:txBody>
      </p:sp>
      <p:sp>
        <p:nvSpPr>
          <p:cNvPr id="4" name="Title 1">
            <a:extLst>
              <a:ext uri="{FF2B5EF4-FFF2-40B4-BE49-F238E27FC236}">
                <a16:creationId xmlns:a16="http://schemas.microsoft.com/office/drawing/2014/main" id="{26BFFB6D-87C9-3A03-6837-EA687D3B005B}"/>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16821379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D06D-8F1F-5AF5-5C38-9B1D951E740E}"/>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CF91C2A-6762-7457-C477-C71DC66B8897}"/>
              </a:ext>
            </a:extLst>
          </p:cNvPr>
          <p:cNvSpPr>
            <a:spLocks noChangeArrowheads="1"/>
          </p:cNvSpPr>
          <p:nvPr/>
        </p:nvSpPr>
        <p:spPr bwMode="auto">
          <a:xfrm>
            <a:off x="0" y="789386"/>
            <a:ext cx="186416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do</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6358511B-142E-E3E2-1108-4FB9F31FDBEE}"/>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latin typeface="Calibir"/>
              </a:rPr>
              <a:t>✔ Do’s</a:t>
            </a:r>
          </a:p>
          <a:p>
            <a:pPr marL="722313" indent="-457200">
              <a:lnSpc>
                <a:spcPct val="150000"/>
              </a:lnSpc>
              <a:buFont typeface="Arial" panose="020B0604020202020204" pitchFamily="34" charset="0"/>
              <a:buChar char="•"/>
            </a:pPr>
            <a:r>
              <a:rPr lang="en-US" sz="2800" dirty="0">
                <a:latin typeface="Calibir"/>
              </a:rPr>
              <a:t>Break down into small stories (2–5 per feature).</a:t>
            </a:r>
          </a:p>
          <a:p>
            <a:pPr marL="722313" indent="-457200">
              <a:lnSpc>
                <a:spcPct val="150000"/>
              </a:lnSpc>
              <a:buFont typeface="Arial" panose="020B0604020202020204" pitchFamily="34" charset="0"/>
              <a:buChar char="•"/>
            </a:pPr>
            <a:r>
              <a:rPr lang="en-US" sz="2800" dirty="0">
                <a:latin typeface="Calibir"/>
              </a:rPr>
              <a:t>Use Student/Admin/System only.</a:t>
            </a:r>
          </a:p>
          <a:p>
            <a:pPr marL="722313" indent="-457200">
              <a:lnSpc>
                <a:spcPct val="150000"/>
              </a:lnSpc>
              <a:buFont typeface="Arial" panose="020B0604020202020204" pitchFamily="34" charset="0"/>
              <a:buChar char="•"/>
            </a:pPr>
            <a:r>
              <a:rPr lang="en-US" sz="2800" dirty="0">
                <a:latin typeface="Calibir"/>
              </a:rPr>
              <a:t>Group IDs: 1xx = Login, 2xx = Register, 3xx = </a:t>
            </a:r>
            <a:r>
              <a:rPr lang="en-US" sz="2800" dirty="0" err="1">
                <a:latin typeface="Calibir"/>
              </a:rPr>
              <a:t>Enrol</a:t>
            </a:r>
            <a:r>
              <a:rPr lang="en-US" sz="2800" dirty="0">
                <a:latin typeface="Calibir"/>
              </a:rPr>
              <a:t>, etc.</a:t>
            </a:r>
          </a:p>
          <a:p>
            <a:pPr marL="722313" indent="-457200">
              <a:lnSpc>
                <a:spcPct val="150000"/>
              </a:lnSpc>
              <a:buFont typeface="Arial" panose="020B0604020202020204" pitchFamily="34" charset="0"/>
              <a:buChar char="•"/>
            </a:pPr>
            <a:r>
              <a:rPr lang="en-US" sz="2800" dirty="0">
                <a:latin typeface="Calibir"/>
              </a:rPr>
              <a:t>Keep one clear action → one clear outcome.</a:t>
            </a:r>
          </a:p>
          <a:p>
            <a:pPr marL="722313" indent="-457200">
              <a:lnSpc>
                <a:spcPct val="150000"/>
              </a:lnSpc>
              <a:buFont typeface="Arial" panose="020B0604020202020204" pitchFamily="34" charset="0"/>
              <a:buChar char="•"/>
            </a:pPr>
            <a:r>
              <a:rPr lang="en-US" sz="2800" dirty="0">
                <a:latin typeface="Calibir"/>
              </a:rPr>
              <a:t>Keep it </a:t>
            </a:r>
            <a:r>
              <a:rPr lang="en-US" sz="2800" dirty="0" err="1">
                <a:latin typeface="Calibir"/>
              </a:rPr>
              <a:t>behavioural</a:t>
            </a:r>
            <a:r>
              <a:rPr lang="en-US" sz="2800" dirty="0">
                <a:latin typeface="Calibir"/>
              </a:rPr>
              <a:t>, not technical.</a:t>
            </a:r>
          </a:p>
        </p:txBody>
      </p:sp>
      <p:sp>
        <p:nvSpPr>
          <p:cNvPr id="4" name="Title 1">
            <a:extLst>
              <a:ext uri="{FF2B5EF4-FFF2-40B4-BE49-F238E27FC236}">
                <a16:creationId xmlns:a16="http://schemas.microsoft.com/office/drawing/2014/main" id="{0BBB03CA-5FC8-FD2A-36D4-BC23161A56F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52379979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CCA9F-7BE8-69AA-6C42-D44D2626CFF9}"/>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A9C9155A-B5F7-0073-E9FF-B0D8784FA666}"/>
              </a:ext>
            </a:extLst>
          </p:cNvPr>
          <p:cNvSpPr>
            <a:spLocks noChangeArrowheads="1"/>
          </p:cNvSpPr>
          <p:nvPr/>
        </p:nvSpPr>
        <p:spPr bwMode="auto">
          <a:xfrm>
            <a:off x="0" y="789386"/>
            <a:ext cx="44424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Question and Answers (FAQ)</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747630B2-C1DD-F81B-BBAA-509F02D0468D}"/>
              </a:ext>
            </a:extLst>
          </p:cNvPr>
          <p:cNvSpPr txBox="1"/>
          <p:nvPr/>
        </p:nvSpPr>
        <p:spPr>
          <a:xfrm>
            <a:off x="0" y="1478690"/>
            <a:ext cx="12064180"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Do we need more than 3 digits?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Stay with 3 digits; you won’t exceed 9–10 features.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How many stories per feature?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 few atomic ones (2–5) are typical—enough to cover all rules in the brief.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“System” be the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Yes—when the system performs internal actions (e.g., generate ID, validate patterns).</a:t>
            </a:r>
          </a:p>
        </p:txBody>
      </p:sp>
      <p:sp>
        <p:nvSpPr>
          <p:cNvPr id="4" name="Title 1">
            <a:extLst>
              <a:ext uri="{FF2B5EF4-FFF2-40B4-BE49-F238E27FC236}">
                <a16:creationId xmlns:a16="http://schemas.microsoft.com/office/drawing/2014/main" id="{E5D6BAE1-2338-1C49-FE1D-79F5D87EEC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128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7FD6-3CD8-489F-1DEE-269AB7737AF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9C737A-9804-215E-25A5-7571894E29E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3E91CEEC-ED2D-6FC5-A159-FDC5498F7F59}"/>
              </a:ext>
            </a:extLst>
          </p:cNvPr>
          <p:cNvSpPr txBox="1"/>
          <p:nvPr/>
        </p:nvSpPr>
        <p:spPr>
          <a:xfrm>
            <a:off x="0" y="759147"/>
            <a:ext cx="11975690" cy="5940088"/>
          </a:xfrm>
          <a:prstGeom prst="rect">
            <a:avLst/>
          </a:prstGeom>
          <a:noFill/>
        </p:spPr>
        <p:txBody>
          <a:bodyPr wrap="square">
            <a:spAutoFit/>
          </a:bodyPr>
          <a:lstStyle/>
          <a:p>
            <a:r>
              <a:rPr lang="en-US" sz="1900" b="0" i="0" dirty="0">
                <a:solidFill>
                  <a:srgbClr val="000000"/>
                </a:solidFill>
                <a:effectLst/>
                <a:latin typeface="Calibir"/>
              </a:rPr>
              <a:t>Dear Dr. Keivanian,</a:t>
            </a:r>
            <a:br>
              <a:rPr lang="en-US" sz="1900" dirty="0">
                <a:latin typeface="Calibir"/>
              </a:rPr>
            </a:br>
            <a:br>
              <a:rPr lang="en-US" sz="1900" dirty="0">
                <a:latin typeface="Calibir"/>
              </a:rPr>
            </a:br>
            <a:r>
              <a:rPr lang="en-US" sz="1900" b="0" i="0" dirty="0">
                <a:solidFill>
                  <a:srgbClr val="000000"/>
                </a:solidFill>
                <a:effectLst/>
                <a:latin typeface="Calibir"/>
              </a:rPr>
              <a:t>I am a student in 32555 - Fundamentals of Software Engineering, and I have some questions regarding the first assignment. These are:</a:t>
            </a:r>
            <a:br>
              <a:rPr lang="en-US" sz="1900" dirty="0">
                <a:latin typeface="Calibir"/>
              </a:rPr>
            </a:br>
            <a:br>
              <a:rPr lang="en-US" sz="1900" dirty="0">
                <a:latin typeface="Calibir"/>
              </a:rPr>
            </a:br>
            <a:r>
              <a:rPr lang="en-US" sz="1900" b="0" i="0" dirty="0">
                <a:solidFill>
                  <a:srgbClr val="000000"/>
                </a:solidFill>
                <a:effectLst/>
                <a:latin typeface="Calibir"/>
              </a:rPr>
              <a:t>1. Are the CLI and GUI systems, which convert users' commands into function calls, considered "actors"?</a:t>
            </a:r>
            <a:br>
              <a:rPr lang="en-US" sz="1900" dirty="0">
                <a:latin typeface="Calibir"/>
              </a:rPr>
            </a:br>
            <a:r>
              <a:rPr lang="en-US" sz="1900" b="0" i="0" dirty="0">
                <a:solidFill>
                  <a:srgbClr val="000000"/>
                </a:solidFill>
                <a:effectLst/>
                <a:latin typeface="Calibir"/>
              </a:rPr>
              <a:t>2. I have done some reading and found out that there are primary actors and secondary (supporting) actors. It seems that sometimes the "computer system" can be considered a secondary actor that provides some service (validating email pattern, saving data, etc.), like illustrated in the attached picture. Are we supposed to identify secondary actors in this assignment? If we have to classify secondary actors, do we have to write user stories for them?</a:t>
            </a:r>
            <a:br>
              <a:rPr lang="en-US" sz="1900" dirty="0">
                <a:latin typeface="Calibir"/>
              </a:rPr>
            </a:br>
            <a:r>
              <a:rPr lang="en-US" sz="1900" b="0" i="0" dirty="0">
                <a:solidFill>
                  <a:srgbClr val="000000"/>
                </a:solidFill>
                <a:effectLst/>
                <a:latin typeface="Calibir"/>
              </a:rPr>
              <a:t>3. The brief says that the user story IDs have to have 3 digits, with the hundredth digit specifying the feature number, but if we have more than 10 features, how should we assign numbers to the features (i.e. is it 1000, 1001, etc.)? </a:t>
            </a:r>
            <a:br>
              <a:rPr lang="en-US" sz="1900" dirty="0">
                <a:latin typeface="Calibir"/>
              </a:rPr>
            </a:br>
            <a:r>
              <a:rPr lang="en-US" sz="1900" b="0" i="0" dirty="0">
                <a:solidFill>
                  <a:srgbClr val="000000"/>
                </a:solidFill>
                <a:effectLst/>
                <a:latin typeface="Calibir"/>
              </a:rPr>
              <a:t>4. Are the user stories more detailed steps for achieving a feature? For example, the feature is "enroll", and it is broken down into 3 user stories: (101) adding subject, (102) removing subjects, (103) viewing subjects. Or is this too specific, and we should have one user story for one feature?</a:t>
            </a:r>
            <a:br>
              <a:rPr lang="en-US" sz="1900" dirty="0">
                <a:latin typeface="Calibir"/>
              </a:rPr>
            </a:br>
            <a:br>
              <a:rPr lang="en-US" sz="1900" dirty="0">
                <a:latin typeface="Calibir"/>
              </a:rPr>
            </a:br>
            <a:r>
              <a:rPr lang="en-US" sz="1900" b="0" i="0" dirty="0">
                <a:solidFill>
                  <a:srgbClr val="000000"/>
                </a:solidFill>
                <a:effectLst/>
                <a:latin typeface="Calibir"/>
              </a:rPr>
              <a:t>I would really appreciate your help in answering these questions.</a:t>
            </a:r>
            <a:br>
              <a:rPr lang="en-US" sz="1900" dirty="0">
                <a:latin typeface="Calibir"/>
              </a:rPr>
            </a:br>
            <a:br>
              <a:rPr lang="en-US" sz="1900" dirty="0">
                <a:latin typeface="Calibir"/>
              </a:rPr>
            </a:br>
            <a:r>
              <a:rPr lang="en-US" sz="1900" b="0" i="0" dirty="0">
                <a:solidFill>
                  <a:srgbClr val="000000"/>
                </a:solidFill>
                <a:effectLst/>
                <a:latin typeface="Calibir"/>
              </a:rPr>
              <a:t>Thank you very much!</a:t>
            </a:r>
            <a:br>
              <a:rPr lang="en-US" sz="1900" dirty="0">
                <a:latin typeface="Calibir"/>
              </a:rPr>
            </a:br>
            <a:r>
              <a:rPr lang="en-US" sz="1900" b="0" i="0" dirty="0">
                <a:solidFill>
                  <a:srgbClr val="000000"/>
                </a:solidFill>
                <a:effectLst/>
                <a:latin typeface="Calibir"/>
              </a:rPr>
              <a:t>Best regards,</a:t>
            </a:r>
            <a:endParaRPr lang="en-US" sz="1900" dirty="0">
              <a:latin typeface="Calibir"/>
            </a:endParaRPr>
          </a:p>
        </p:txBody>
      </p:sp>
    </p:spTree>
    <p:extLst>
      <p:ext uri="{BB962C8B-B14F-4D97-AF65-F5344CB8AC3E}">
        <p14:creationId xmlns:p14="http://schemas.microsoft.com/office/powerpoint/2010/main" val="1710417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25EDA-EB6E-0E59-A313-80DD47684D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ECF3C55-6759-E4D5-09BD-3CB8746A3A5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A9F5D6A1-2ECC-70D7-666F-F165E43C2AA8}"/>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1. Are CLI/GUI systems “actors”?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No.</a:t>
            </a:r>
          </a:p>
          <a:p>
            <a:pPr marL="914400" lvl="1" indent="-457200">
              <a:lnSpc>
                <a:spcPct val="150000"/>
              </a:lnSpc>
              <a:buFont typeface="Arial" panose="020B0604020202020204" pitchFamily="34" charset="0"/>
              <a:buChar char="•"/>
            </a:pPr>
            <a:r>
              <a:rPr lang="en-US" sz="2800" dirty="0">
                <a:latin typeface="Calibir"/>
              </a:rPr>
              <a:t>Actors are people or external systems that interact </a:t>
            </a:r>
            <a:r>
              <a:rPr lang="en-US" sz="2800" i="1" dirty="0">
                <a:latin typeface="Calibir"/>
              </a:rPr>
              <a:t>with</a:t>
            </a:r>
            <a:r>
              <a:rPr lang="en-US" sz="2800" dirty="0">
                <a:latin typeface="Calibir"/>
              </a:rPr>
              <a:t> your system.</a:t>
            </a:r>
          </a:p>
          <a:p>
            <a:pPr marL="914400" lvl="1" indent="-457200">
              <a:lnSpc>
                <a:spcPct val="150000"/>
              </a:lnSpc>
              <a:buFont typeface="Arial" panose="020B0604020202020204" pitchFamily="34" charset="0"/>
              <a:buChar char="•"/>
            </a:pPr>
            <a:r>
              <a:rPr lang="en-US" sz="2800" dirty="0">
                <a:latin typeface="Calibir"/>
              </a:rPr>
              <a:t>In this assignment: Student and Admin are the main actors.</a:t>
            </a:r>
          </a:p>
          <a:p>
            <a:pPr marL="914400" lvl="1" indent="-457200">
              <a:lnSpc>
                <a:spcPct val="150000"/>
              </a:lnSpc>
              <a:buFont typeface="Arial" panose="020B0604020202020204" pitchFamily="34" charset="0"/>
              <a:buChar char="•"/>
            </a:pPr>
            <a:r>
              <a:rPr lang="en-US" sz="2800" dirty="0">
                <a:latin typeface="Calibir"/>
              </a:rPr>
              <a:t>CLI and GUI are just </a:t>
            </a:r>
            <a:r>
              <a:rPr lang="en-US" sz="2800" i="1" dirty="0">
                <a:latin typeface="Calibir"/>
              </a:rPr>
              <a:t>interfaces</a:t>
            </a:r>
            <a:r>
              <a:rPr lang="en-US" sz="2800" dirty="0">
                <a:latin typeface="Calibir"/>
              </a:rPr>
              <a:t> (ways to use the system), not actors.</a:t>
            </a:r>
          </a:p>
        </p:txBody>
      </p:sp>
    </p:spTree>
    <p:extLst>
      <p:ext uri="{BB962C8B-B14F-4D97-AF65-F5344CB8AC3E}">
        <p14:creationId xmlns:p14="http://schemas.microsoft.com/office/powerpoint/2010/main" val="2343898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FBAC-DEB8-6B01-1331-3C92BA7741F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CA56E1D-3C45-0B6F-BBFA-05CF0ADA0A3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2B754B84-98B2-0F15-0FA1-C7541CC494AB}"/>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2. Do we need secondary actors (like Credit Authorizer in the diagram)?</a:t>
            </a:r>
          </a:p>
          <a:p>
            <a:pPr marL="914400" lvl="1" indent="-457200">
              <a:lnSpc>
                <a:spcPct val="150000"/>
              </a:lnSpc>
              <a:buFont typeface="Arial" panose="020B0604020202020204" pitchFamily="34" charset="0"/>
              <a:buChar char="•"/>
            </a:pPr>
            <a:r>
              <a:rPr lang="en-US" sz="2800" dirty="0">
                <a:latin typeface="Calibir"/>
              </a:rPr>
              <a:t>In our assignment, you don’t need to add secondary/supporting actors.</a:t>
            </a:r>
          </a:p>
          <a:p>
            <a:pPr marL="914400" lvl="1" indent="-457200">
              <a:lnSpc>
                <a:spcPct val="150000"/>
              </a:lnSpc>
              <a:buFont typeface="Arial" panose="020B0604020202020204" pitchFamily="34" charset="0"/>
              <a:buChar char="•"/>
            </a:pPr>
            <a:r>
              <a:rPr lang="en-US" sz="2800" dirty="0">
                <a:latin typeface="Calibir"/>
              </a:rPr>
              <a:t>Things like </a:t>
            </a:r>
            <a:r>
              <a:rPr lang="en-US" sz="2800" i="1" dirty="0">
                <a:latin typeface="Calibir"/>
              </a:rPr>
              <a:t>validating emails</a:t>
            </a:r>
            <a:r>
              <a:rPr lang="en-US" sz="2800" dirty="0">
                <a:latin typeface="Calibir"/>
              </a:rPr>
              <a:t>, </a:t>
            </a:r>
            <a:r>
              <a:rPr lang="en-US" sz="2800" i="1" dirty="0">
                <a:latin typeface="Calibir"/>
              </a:rPr>
              <a:t>saving data</a:t>
            </a:r>
            <a:r>
              <a:rPr lang="en-US" sz="2800" dirty="0">
                <a:latin typeface="Calibir"/>
              </a:rPr>
              <a:t> are internal system tasks, not separate actors.</a:t>
            </a:r>
          </a:p>
          <a:p>
            <a:pPr marL="914400" lvl="1" indent="-457200">
              <a:lnSpc>
                <a:spcPct val="150000"/>
              </a:lnSpc>
              <a:buFont typeface="Arial" panose="020B0604020202020204" pitchFamily="34" charset="0"/>
              <a:buChar char="•"/>
            </a:pPr>
            <a:r>
              <a:rPr lang="en-US" sz="2800" dirty="0">
                <a:latin typeface="Calibir"/>
              </a:rPr>
              <a:t>So: only focus on Student and Admin.</a:t>
            </a:r>
          </a:p>
        </p:txBody>
      </p:sp>
    </p:spTree>
    <p:extLst>
      <p:ext uri="{BB962C8B-B14F-4D97-AF65-F5344CB8AC3E}">
        <p14:creationId xmlns:p14="http://schemas.microsoft.com/office/powerpoint/2010/main" val="38909302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F6148-5539-E2B2-EE47-6BAD299A4CB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3FE4F53-78F8-88E9-D959-04058EA32038}"/>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F6928BE3-15EA-2547-2EA7-C2AAB12070B1}"/>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b="1" dirty="0">
                <a:latin typeface="Calibir"/>
              </a:rPr>
              <a:t>3. User story IDs – what if more than 10 features?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Each feature uses its own “hundreds digit”.</a:t>
            </a:r>
          </a:p>
          <a:p>
            <a:pPr marL="1371600" lvl="2" indent="-457200">
              <a:lnSpc>
                <a:spcPct val="150000"/>
              </a:lnSpc>
              <a:buFont typeface="Arial" panose="020B0604020202020204" pitchFamily="34" charset="0"/>
              <a:buChar char="•"/>
            </a:pPr>
            <a:r>
              <a:rPr lang="en-US" sz="2800" dirty="0">
                <a:latin typeface="Calibir"/>
              </a:rPr>
              <a:t>Example: Login → 100 series, Register → 200 series.</a:t>
            </a:r>
          </a:p>
          <a:p>
            <a:pPr marL="914400" lvl="1" indent="-457200">
              <a:lnSpc>
                <a:spcPct val="150000"/>
              </a:lnSpc>
              <a:buFont typeface="Arial" panose="020B0604020202020204" pitchFamily="34" charset="0"/>
              <a:buChar char="•"/>
            </a:pPr>
            <a:r>
              <a:rPr lang="en-US" sz="2800" dirty="0">
                <a:latin typeface="Calibir"/>
              </a:rPr>
              <a:t>You won’t have more than 9–10 top features here (the brief is smaller).</a:t>
            </a:r>
          </a:p>
          <a:p>
            <a:pPr marL="914400" lvl="1" indent="-457200">
              <a:lnSpc>
                <a:spcPct val="150000"/>
              </a:lnSpc>
              <a:buFont typeface="Arial" panose="020B0604020202020204" pitchFamily="34" charset="0"/>
              <a:buChar char="•"/>
            </a:pPr>
            <a:r>
              <a:rPr lang="en-US" sz="2800" dirty="0">
                <a:latin typeface="Calibir"/>
              </a:rPr>
              <a:t>Keep IDs 3-digit (e.g., 101, 102, 103).</a:t>
            </a:r>
          </a:p>
          <a:p>
            <a:pPr marL="914400" lvl="1" indent="-457200">
              <a:lnSpc>
                <a:spcPct val="150000"/>
              </a:lnSpc>
              <a:buFont typeface="Arial" panose="020B0604020202020204" pitchFamily="34" charset="0"/>
              <a:buChar char="•"/>
            </a:pPr>
            <a:r>
              <a:rPr lang="en-US" sz="2800" dirty="0">
                <a:latin typeface="Calibir"/>
              </a:rPr>
              <a:t>Don’t use 1000+. Stay with 3 digits only.</a:t>
            </a:r>
          </a:p>
        </p:txBody>
      </p:sp>
    </p:spTree>
    <p:extLst>
      <p:ext uri="{BB962C8B-B14F-4D97-AF65-F5344CB8AC3E}">
        <p14:creationId xmlns:p14="http://schemas.microsoft.com/office/powerpoint/2010/main" val="380457037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6E33D-DD2A-09A0-7E2A-47123B1E418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3E0A75F-0DA1-D44A-C5CE-B66D6AB6656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4E3BDC2B-F717-C081-0B75-FDBEC6B73106}"/>
              </a:ext>
            </a:extLst>
          </p:cNvPr>
          <p:cNvSpPr txBox="1"/>
          <p:nvPr/>
        </p:nvSpPr>
        <p:spPr>
          <a:xfrm>
            <a:off x="0" y="759147"/>
            <a:ext cx="11975690" cy="4549835"/>
          </a:xfrm>
          <a:prstGeom prst="rect">
            <a:avLst/>
          </a:prstGeom>
          <a:noFill/>
        </p:spPr>
        <p:txBody>
          <a:bodyPr wrap="square">
            <a:spAutoFit/>
          </a:bodyPr>
          <a:lstStyle/>
          <a:p>
            <a:pPr>
              <a:lnSpc>
                <a:spcPct val="150000"/>
              </a:lnSpc>
            </a:pPr>
            <a:r>
              <a:rPr lang="en-US" sz="2800" b="1" dirty="0">
                <a:latin typeface="Calibir"/>
              </a:rPr>
              <a:t>4. Are user stories detailed steps or one story per feature?</a:t>
            </a:r>
          </a:p>
          <a:p>
            <a:pPr marL="914400" lvl="1" indent="-457200">
              <a:lnSpc>
                <a:spcPct val="150000"/>
              </a:lnSpc>
              <a:buFont typeface="Arial" panose="020B0604020202020204" pitchFamily="34" charset="0"/>
              <a:buChar char="•"/>
            </a:pPr>
            <a:r>
              <a:rPr lang="en-US" sz="2800" dirty="0">
                <a:latin typeface="Calibir"/>
              </a:rPr>
              <a:t>Think of a feature broken into a few simple stories.</a:t>
            </a:r>
          </a:p>
          <a:p>
            <a:pPr marL="914400" lvl="1" indent="-457200">
              <a:lnSpc>
                <a:spcPct val="150000"/>
              </a:lnSpc>
              <a:buFont typeface="Arial" panose="020B0604020202020204" pitchFamily="34" charset="0"/>
              <a:buChar char="•"/>
            </a:pPr>
            <a:r>
              <a:rPr lang="en-US" sz="2800" dirty="0">
                <a:latin typeface="Calibir"/>
              </a:rPr>
              <a:t>Example (Feature = “</a:t>
            </a:r>
            <a:r>
              <a:rPr lang="en-US" sz="2800" dirty="0" err="1">
                <a:latin typeface="Calibir"/>
              </a:rPr>
              <a:t>Enrol</a:t>
            </a:r>
            <a:r>
              <a:rPr lang="en-US" sz="2800" dirty="0">
                <a:latin typeface="Calibir"/>
              </a:rPr>
              <a:t>”):</a:t>
            </a:r>
          </a:p>
          <a:p>
            <a:pPr marL="1371600" lvl="2" indent="-457200">
              <a:lnSpc>
                <a:spcPct val="150000"/>
              </a:lnSpc>
              <a:buFont typeface="Arial" panose="020B0604020202020204" pitchFamily="34" charset="0"/>
              <a:buChar char="•"/>
            </a:pPr>
            <a:r>
              <a:rPr lang="en-US" sz="2800" dirty="0">
                <a:latin typeface="Calibir"/>
              </a:rPr>
              <a:t>301: Add a subject automatically</a:t>
            </a:r>
          </a:p>
          <a:p>
            <a:pPr marL="1371600" lvl="2" indent="-457200">
              <a:lnSpc>
                <a:spcPct val="150000"/>
              </a:lnSpc>
              <a:buFont typeface="Arial" panose="020B0604020202020204" pitchFamily="34" charset="0"/>
              <a:buChar char="•"/>
            </a:pPr>
            <a:r>
              <a:rPr lang="en-US" sz="2800" dirty="0">
                <a:latin typeface="Calibir"/>
              </a:rPr>
              <a:t>302: Show error if &gt;4 subjects</a:t>
            </a:r>
          </a:p>
          <a:p>
            <a:pPr marL="1371600" lvl="2" indent="-457200">
              <a:lnSpc>
                <a:spcPct val="150000"/>
              </a:lnSpc>
              <a:buFont typeface="Arial" panose="020B0604020202020204" pitchFamily="34" charset="0"/>
              <a:buChar char="•"/>
            </a:pPr>
            <a:r>
              <a:rPr lang="en-US" sz="2800" dirty="0">
                <a:latin typeface="Calibir"/>
              </a:rPr>
              <a:t>303: Generate subject mark + grade</a:t>
            </a:r>
          </a:p>
          <a:p>
            <a:pPr marL="914400" lvl="1" indent="-457200">
              <a:lnSpc>
                <a:spcPct val="150000"/>
              </a:lnSpc>
              <a:buFont typeface="Arial" panose="020B0604020202020204" pitchFamily="34" charset="0"/>
              <a:buChar char="•"/>
            </a:pPr>
            <a:r>
              <a:rPr lang="en-US" sz="2800" dirty="0">
                <a:latin typeface="Calibir"/>
              </a:rPr>
              <a:t>So yes, one feature = a few small user stories.</a:t>
            </a:r>
          </a:p>
        </p:txBody>
      </p:sp>
    </p:spTree>
    <p:extLst>
      <p:ext uri="{BB962C8B-B14F-4D97-AF65-F5344CB8AC3E}">
        <p14:creationId xmlns:p14="http://schemas.microsoft.com/office/powerpoint/2010/main" val="27877817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AAB6-6C5A-7C6A-C341-DBC5BBF4CDA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749BFB7-03C9-B6B8-3642-D8C9620EAA47}"/>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B3808B00-D5E6-9708-CE23-ED7BE03C6E1E}"/>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Key takeaway for students: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Actors: only Student and Admin</a:t>
            </a:r>
          </a:p>
          <a:p>
            <a:pPr marL="914400" lvl="1" indent="-457200">
              <a:lnSpc>
                <a:spcPct val="150000"/>
              </a:lnSpc>
              <a:buFont typeface="Arial" panose="020B0604020202020204" pitchFamily="34" charset="0"/>
              <a:buChar char="•"/>
            </a:pPr>
            <a:r>
              <a:rPr lang="en-US" sz="2800" dirty="0">
                <a:latin typeface="Calibir"/>
              </a:rPr>
              <a:t>No secondary actors needed</a:t>
            </a:r>
          </a:p>
          <a:p>
            <a:pPr marL="914400" lvl="1" indent="-457200">
              <a:lnSpc>
                <a:spcPct val="150000"/>
              </a:lnSpc>
              <a:buFont typeface="Arial" panose="020B0604020202020204" pitchFamily="34" charset="0"/>
              <a:buChar char="•"/>
            </a:pPr>
            <a:r>
              <a:rPr lang="en-US" sz="2800" dirty="0">
                <a:latin typeface="Calibir"/>
              </a:rPr>
              <a:t>User stories: break down features into simple steps</a:t>
            </a:r>
          </a:p>
          <a:p>
            <a:pPr marL="914400" lvl="1" indent="-457200">
              <a:lnSpc>
                <a:spcPct val="150000"/>
              </a:lnSpc>
              <a:buFont typeface="Arial" panose="020B0604020202020204" pitchFamily="34" charset="0"/>
              <a:buChar char="•"/>
            </a:pPr>
            <a:r>
              <a:rPr lang="en-US" sz="2800" dirty="0">
                <a:latin typeface="Calibir"/>
              </a:rPr>
              <a:t>IDs: always 3 digits (100, 101, 102…)</a:t>
            </a:r>
          </a:p>
        </p:txBody>
      </p:sp>
    </p:spTree>
    <p:extLst>
      <p:ext uri="{BB962C8B-B14F-4D97-AF65-F5344CB8AC3E}">
        <p14:creationId xmlns:p14="http://schemas.microsoft.com/office/powerpoint/2010/main" val="7557742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EEF6A-BFF7-6805-FFD0-89231DF5727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358E81E-6FB0-316E-7DF3-13833D88FCD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1A191ED0-D8A3-E172-EF69-3E1B72A77345}"/>
              </a:ext>
            </a:extLst>
          </p:cNvPr>
          <p:cNvSpPr txBox="1"/>
          <p:nvPr/>
        </p:nvSpPr>
        <p:spPr>
          <a:xfrm>
            <a:off x="0" y="759147"/>
            <a:ext cx="11975690" cy="6186309"/>
          </a:xfrm>
          <a:prstGeom prst="rect">
            <a:avLst/>
          </a:prstGeom>
          <a:noFill/>
        </p:spPr>
        <p:txBody>
          <a:bodyPr wrap="square">
            <a:spAutoFit/>
          </a:bodyPr>
          <a:lstStyle/>
          <a:p>
            <a:pPr fontAlgn="base"/>
            <a:r>
              <a:rPr lang="en-US" dirty="0">
                <a:latin typeface="Calibir"/>
              </a:rPr>
              <a:t>Dear Dr. Keivanian,</a:t>
            </a:r>
            <a:br>
              <a:rPr lang="en-US" dirty="0">
                <a:latin typeface="Calibir"/>
              </a:rPr>
            </a:br>
            <a:br>
              <a:rPr lang="en-US" dirty="0">
                <a:latin typeface="Calibir"/>
              </a:rPr>
            </a:br>
            <a:r>
              <a:rPr lang="en-US" dirty="0">
                <a:latin typeface="Calibir"/>
              </a:rPr>
              <a:t>Thank you for your insightful response.</a:t>
            </a:r>
            <a:br>
              <a:rPr lang="en-US" dirty="0">
                <a:latin typeface="Calibir"/>
              </a:rPr>
            </a:br>
            <a:br>
              <a:rPr lang="en-US" dirty="0">
                <a:latin typeface="Calibir"/>
              </a:rPr>
            </a:br>
            <a:r>
              <a:rPr lang="en-US" dirty="0">
                <a:latin typeface="Calibir"/>
              </a:rPr>
              <a:t>However, I still have some doubts about the assignment.</a:t>
            </a:r>
            <a:br>
              <a:rPr lang="en-US" dirty="0">
                <a:latin typeface="Calibir"/>
              </a:rPr>
            </a:br>
            <a:br>
              <a:rPr lang="en-US" dirty="0">
                <a:latin typeface="Calibir"/>
              </a:rPr>
            </a:br>
            <a:endParaRPr lang="en-US" dirty="0">
              <a:latin typeface="Calibir"/>
            </a:endParaRPr>
          </a:p>
          <a:p>
            <a:pPr fontAlgn="base"/>
            <a:r>
              <a:rPr lang="en-US" dirty="0">
                <a:latin typeface="Calibir"/>
              </a:rPr>
              <a:t>Regarding the second and fourth answer in your response, these raise another question, which is that in the assignment brief, the user stories will be mapped into a backlog table. However, the example user stories in the assignment brief have no actor in them (e.g. "</a:t>
            </a:r>
            <a:r>
              <a:rPr lang="en-US" i="1" dirty="0">
                <a:latin typeface="Calibir"/>
              </a:rPr>
              <a:t>match username and password with the ones on file</a:t>
            </a:r>
            <a:r>
              <a:rPr lang="en-US" dirty="0">
                <a:latin typeface="Calibir"/>
              </a:rPr>
              <a:t>"), but the backlog table contains a User field. I have two questions about this:</a:t>
            </a:r>
          </a:p>
          <a:p>
            <a:pPr fontAlgn="base"/>
            <a:r>
              <a:rPr lang="en-US" dirty="0">
                <a:latin typeface="Calibir"/>
              </a:rPr>
              <a:t>1. Some functions seem to not be executed by the student/admin, such as "</a:t>
            </a:r>
            <a:r>
              <a:rPr lang="en-US" i="1" dirty="0">
                <a:latin typeface="Calibir"/>
              </a:rPr>
              <a:t>verify username and password against patterns</a:t>
            </a:r>
            <a:r>
              <a:rPr lang="en-US" dirty="0">
                <a:latin typeface="Calibir"/>
              </a:rPr>
              <a:t>". What should these function's User be in the backlog table?</a:t>
            </a:r>
          </a:p>
          <a:p>
            <a:pPr fontAlgn="base"/>
            <a:r>
              <a:rPr lang="en-US" dirty="0">
                <a:latin typeface="Calibir"/>
              </a:rPr>
              <a:t>2. In Week 5's slide, the user story is formatted as "</a:t>
            </a:r>
            <a:r>
              <a:rPr lang="en-US" i="1" dirty="0">
                <a:latin typeface="Calibir"/>
              </a:rPr>
              <a:t>As a ..., I want to ... so that I can ...</a:t>
            </a:r>
            <a:r>
              <a:rPr lang="en-US" dirty="0">
                <a:latin typeface="Calibir"/>
              </a:rPr>
              <a:t>". Should we follow this format for the assignment or the one mentioned above in your previous email? And if we should follow the format in Week 5's slide, how should we express functions executed by the system? (e.g. "</a:t>
            </a:r>
            <a:r>
              <a:rPr lang="en-US" i="1" dirty="0">
                <a:latin typeface="Calibir"/>
              </a:rPr>
              <a:t>verify username and password against patterns</a:t>
            </a:r>
            <a:r>
              <a:rPr lang="en-US" dirty="0">
                <a:latin typeface="Calibir"/>
              </a:rPr>
              <a:t>")</a:t>
            </a:r>
          </a:p>
          <a:p>
            <a:pPr fontAlgn="base"/>
            <a:br>
              <a:rPr lang="en-US" dirty="0">
                <a:latin typeface="Calibir"/>
              </a:rPr>
            </a:br>
            <a:r>
              <a:rPr lang="en-US" dirty="0">
                <a:latin typeface="Calibir"/>
              </a:rPr>
              <a:t>I would really appreciate your help answering these questions.</a:t>
            </a:r>
            <a:br>
              <a:rPr lang="en-US" dirty="0">
                <a:latin typeface="Calibir"/>
              </a:rPr>
            </a:br>
            <a:br>
              <a:rPr lang="en-US" dirty="0">
                <a:latin typeface="Calibir"/>
              </a:rPr>
            </a:br>
            <a:r>
              <a:rPr lang="en-US" dirty="0">
                <a:latin typeface="Calibir"/>
              </a:rPr>
              <a:t>Thank you very much!</a:t>
            </a:r>
            <a:br>
              <a:rPr lang="en-US" dirty="0">
                <a:latin typeface="Calibir"/>
              </a:rPr>
            </a:br>
            <a:br>
              <a:rPr lang="en-US" dirty="0">
                <a:latin typeface="Calibir"/>
              </a:rPr>
            </a:br>
            <a:r>
              <a:rPr lang="en-US" dirty="0">
                <a:latin typeface="Calibir"/>
              </a:rPr>
              <a:t>Best regards,</a:t>
            </a:r>
          </a:p>
        </p:txBody>
      </p:sp>
    </p:spTree>
    <p:extLst>
      <p:ext uri="{BB962C8B-B14F-4D97-AF65-F5344CB8AC3E}">
        <p14:creationId xmlns:p14="http://schemas.microsoft.com/office/powerpoint/2010/main" val="349040952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F5BD5-3792-BBA9-5719-E582719551A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5226B91-9992-CE24-D220-FB81F0EA2F83}"/>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5D505F35-9213-B236-3DC7-6BDEA0B20B7A}"/>
              </a:ext>
            </a:extLst>
          </p:cNvPr>
          <p:cNvSpPr txBox="1"/>
          <p:nvPr/>
        </p:nvSpPr>
        <p:spPr>
          <a:xfrm>
            <a:off x="0" y="759147"/>
            <a:ext cx="11975690" cy="5196166"/>
          </a:xfrm>
          <a:prstGeom prst="rect">
            <a:avLst/>
          </a:prstGeom>
          <a:noFill/>
        </p:spPr>
        <p:txBody>
          <a:bodyPr wrap="square">
            <a:spAutoFit/>
          </a:bodyPr>
          <a:lstStyle/>
          <a:p>
            <a:pPr>
              <a:lnSpc>
                <a:spcPct val="150000"/>
              </a:lnSpc>
            </a:pPr>
            <a:r>
              <a:rPr lang="en-US" sz="2800" dirty="0">
                <a:latin typeface="Calibir"/>
              </a:rPr>
              <a:t>Hi Student,</a:t>
            </a:r>
          </a:p>
          <a:p>
            <a:pPr>
              <a:lnSpc>
                <a:spcPct val="150000"/>
              </a:lnSpc>
            </a:pPr>
            <a:r>
              <a:rPr lang="en-US" sz="2800" dirty="0">
                <a:latin typeface="Calibir"/>
              </a:rPr>
              <a:t>Great follow-up—thanks for reading carefully. I’ve uploaded an updated Week 5 handout with clearer examples; it’s now on Canvas. Below is a concise answer you can use right away.</a:t>
            </a:r>
          </a:p>
          <a:p>
            <a:pPr>
              <a:lnSpc>
                <a:spcPct val="150000"/>
              </a:lnSpc>
            </a:pPr>
            <a:r>
              <a:rPr lang="en-US" sz="2800" dirty="0">
                <a:latin typeface="Calibir"/>
              </a:rPr>
              <a:t>Clarification: “User” in the backlog &amp; story wording</a:t>
            </a:r>
          </a:p>
          <a:p>
            <a:pPr>
              <a:lnSpc>
                <a:spcPct val="150000"/>
              </a:lnSpc>
            </a:pPr>
            <a:r>
              <a:rPr lang="en-US" sz="2800" dirty="0">
                <a:latin typeface="Calibir"/>
              </a:rPr>
              <a:t>1) Who is the “User” when the step isn’t done by Student/Admin?</a:t>
            </a:r>
            <a:br>
              <a:rPr lang="en-US" sz="2800" dirty="0">
                <a:latin typeface="Calibir"/>
              </a:rPr>
            </a:br>
            <a:r>
              <a:rPr lang="en-US" sz="2800" dirty="0">
                <a:latin typeface="Calibir"/>
              </a:rPr>
              <a:t>Use System in the </a:t>
            </a:r>
            <a:r>
              <a:rPr lang="en-US" sz="2800" i="1" dirty="0">
                <a:latin typeface="Calibir"/>
              </a:rPr>
              <a:t>User</a:t>
            </a:r>
            <a:r>
              <a:rPr lang="en-US" sz="2800" dirty="0">
                <a:latin typeface="Calibir"/>
              </a:rPr>
              <a:t> column for internal steps (validation, ID generation, saving/loading, etc.). You do not need extra/secondary actors.</a:t>
            </a:r>
          </a:p>
        </p:txBody>
      </p:sp>
    </p:spTree>
    <p:extLst>
      <p:ext uri="{BB962C8B-B14F-4D97-AF65-F5344CB8AC3E}">
        <p14:creationId xmlns:p14="http://schemas.microsoft.com/office/powerpoint/2010/main" val="99520873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635FE-DD4C-E5E7-539E-C401E5863EE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DF853D1-1BA7-EF36-4738-945ED9194E1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6524B264-E7E2-BA0C-E23C-2D97F77C5695}"/>
              </a:ext>
            </a:extLst>
          </p:cNvPr>
          <p:cNvSpPr txBox="1"/>
          <p:nvPr/>
        </p:nvSpPr>
        <p:spPr>
          <a:xfrm>
            <a:off x="0" y="759147"/>
            <a:ext cx="11975690" cy="5842497"/>
          </a:xfrm>
          <a:prstGeom prst="rect">
            <a:avLst/>
          </a:prstGeom>
          <a:noFill/>
        </p:spPr>
        <p:txBody>
          <a:bodyPr wrap="square">
            <a:spAutoFit/>
          </a:bodyPr>
          <a:lstStyle/>
          <a:p>
            <a:pPr>
              <a:lnSpc>
                <a:spcPct val="150000"/>
              </a:lnSpc>
            </a:pPr>
            <a:r>
              <a:rPr lang="en-US" sz="2800" dirty="0">
                <a:latin typeface="Calibir"/>
              </a:rPr>
              <a:t>Example (Login feature, 1xx):</a:t>
            </a:r>
          </a:p>
          <a:p>
            <a:pPr marL="457200" indent="-457200">
              <a:lnSpc>
                <a:spcPct val="150000"/>
              </a:lnSpc>
              <a:buFont typeface="Arial" panose="020B0604020202020204" pitchFamily="34" charset="0"/>
              <a:buChar char="•"/>
            </a:pPr>
            <a:r>
              <a:rPr lang="en-US" sz="2800" dirty="0">
                <a:latin typeface="Calibir"/>
              </a:rPr>
              <a:t>100 | Student | Submit email &amp; password | If match → go to Student menu | login()</a:t>
            </a:r>
          </a:p>
          <a:p>
            <a:pPr marL="457200" indent="-457200">
              <a:lnSpc>
                <a:spcPct val="150000"/>
              </a:lnSpc>
              <a:buFont typeface="Arial" panose="020B0604020202020204" pitchFamily="34" charset="0"/>
              <a:buChar char="•"/>
            </a:pPr>
            <a:r>
              <a:rPr lang="en-US" sz="2800" dirty="0">
                <a:latin typeface="Calibir"/>
              </a:rPr>
              <a:t>105 | System | Validate email/password pattern | Pattern error shown if invalid | </a:t>
            </a:r>
            <a:r>
              <a:rPr lang="en-US" sz="2800" dirty="0" err="1">
                <a:latin typeface="Calibir"/>
              </a:rPr>
              <a:t>validateCredentials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110 | System | Compare credentials with file | Success/Failure decided | </a:t>
            </a:r>
            <a:r>
              <a:rPr lang="en-US" sz="2800" dirty="0" err="1">
                <a:latin typeface="Calibir"/>
              </a:rPr>
              <a:t>checkCredentials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120 | System | Show “credentials don’t match” | Error message displayed | </a:t>
            </a:r>
            <a:r>
              <a:rPr lang="en-US" sz="2800" dirty="0" err="1">
                <a:latin typeface="Calibir"/>
              </a:rPr>
              <a:t>showAuthError</a:t>
            </a:r>
            <a:r>
              <a:rPr lang="en-US" sz="2800" dirty="0">
                <a:latin typeface="Calibir"/>
              </a:rPr>
              <a:t>()</a:t>
            </a:r>
          </a:p>
        </p:txBody>
      </p:sp>
    </p:spTree>
    <p:extLst>
      <p:ext uri="{BB962C8B-B14F-4D97-AF65-F5344CB8AC3E}">
        <p14:creationId xmlns:p14="http://schemas.microsoft.com/office/powerpoint/2010/main" val="335149488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6A0A-0A41-B1FF-FD58-834529AC8CB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C14C400-58E2-0BBE-6B67-E97272A2CB1A}"/>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D0F9AE50-9390-05D0-3472-66F9BB8B77CF}"/>
              </a:ext>
            </a:extLst>
          </p:cNvPr>
          <p:cNvSpPr txBox="1"/>
          <p:nvPr/>
        </p:nvSpPr>
        <p:spPr>
          <a:xfrm>
            <a:off x="0" y="491517"/>
            <a:ext cx="11975690" cy="6488828"/>
          </a:xfrm>
          <a:prstGeom prst="rect">
            <a:avLst/>
          </a:prstGeom>
          <a:noFill/>
        </p:spPr>
        <p:txBody>
          <a:bodyPr wrap="square">
            <a:spAutoFit/>
          </a:bodyPr>
          <a:lstStyle/>
          <a:p>
            <a:pPr>
              <a:lnSpc>
                <a:spcPct val="150000"/>
              </a:lnSpc>
            </a:pPr>
            <a:r>
              <a:rPr lang="en-US" sz="2800" b="1" dirty="0">
                <a:latin typeface="Calibir"/>
              </a:rPr>
              <a:t>2) Which user-story wording should we follow?</a:t>
            </a:r>
            <a:br>
              <a:rPr lang="en-US" sz="2800" b="1" dirty="0">
                <a:latin typeface="Calibir"/>
              </a:rPr>
            </a:br>
            <a:r>
              <a:rPr lang="en-US" sz="2800" b="1" dirty="0">
                <a:latin typeface="Calibir"/>
              </a:rPr>
              <a:t>Either style is acceptable—just be consistent:</a:t>
            </a:r>
          </a:p>
          <a:p>
            <a:pPr marL="457200" indent="-457200">
              <a:lnSpc>
                <a:spcPct val="150000"/>
              </a:lnSpc>
              <a:buFont typeface="Arial" panose="020B0604020202020204" pitchFamily="34" charset="0"/>
              <a:buChar char="•"/>
            </a:pPr>
            <a:r>
              <a:rPr lang="en-US" sz="2800" dirty="0">
                <a:latin typeface="Calibir"/>
              </a:rPr>
              <a:t>Concise style (like the brief): “Verify username and password against patterns.”</a:t>
            </a:r>
          </a:p>
          <a:p>
            <a:pPr marL="914400" lvl="1" indent="-457200">
              <a:lnSpc>
                <a:spcPct val="150000"/>
              </a:lnSpc>
              <a:buFont typeface="Arial" panose="020B0604020202020204" pitchFamily="34" charset="0"/>
              <a:buChar char="•"/>
            </a:pPr>
            <a:r>
              <a:rPr lang="en-US" sz="2800" dirty="0">
                <a:latin typeface="Calibir"/>
              </a:rPr>
              <a:t>In the table: </a:t>
            </a:r>
            <a:r>
              <a:rPr lang="en-US" sz="2800" i="1" dirty="0">
                <a:latin typeface="Calibir"/>
              </a:rPr>
              <a:t>User = System</a:t>
            </a:r>
            <a:r>
              <a:rPr lang="en-US" sz="2800" dirty="0">
                <a:latin typeface="Calibir"/>
              </a:rPr>
              <a:t>, </a:t>
            </a:r>
            <a:r>
              <a:rPr lang="en-US" sz="2800" i="1" dirty="0">
                <a:latin typeface="Calibir"/>
              </a:rPr>
              <a:t>Action = Validate credentials</a:t>
            </a:r>
            <a:r>
              <a:rPr lang="en-US" sz="2800" dirty="0">
                <a:latin typeface="Calibir"/>
              </a:rPr>
              <a:t>, </a:t>
            </a:r>
            <a:r>
              <a:rPr lang="en-US" sz="2800" i="1" dirty="0">
                <a:latin typeface="Calibir"/>
              </a:rPr>
              <a:t>Result = Error shown if invalid</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“As a … I want … so that …” style (Week 5 slide):</a:t>
            </a:r>
          </a:p>
          <a:p>
            <a:pPr marL="914400" lvl="1" indent="-457200">
              <a:lnSpc>
                <a:spcPct val="150000"/>
              </a:lnSpc>
              <a:buFont typeface="Arial" panose="020B0604020202020204" pitchFamily="34" charset="0"/>
              <a:buChar char="•"/>
            </a:pPr>
            <a:r>
              <a:rPr lang="en-US" sz="2800" i="1" dirty="0">
                <a:latin typeface="Calibir"/>
              </a:rPr>
              <a:t>“As a system, I validate the email/password so that only correctly formatted credentials are accepted.”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In the table, still put System in the </a:t>
            </a:r>
            <a:r>
              <a:rPr lang="en-US" sz="2800" i="1" dirty="0">
                <a:latin typeface="Calibir"/>
              </a:rPr>
              <a:t>User</a:t>
            </a:r>
            <a:r>
              <a:rPr lang="en-US" sz="2800" dirty="0">
                <a:latin typeface="Calibir"/>
              </a:rPr>
              <a:t> column.</a:t>
            </a:r>
          </a:p>
        </p:txBody>
      </p:sp>
    </p:spTree>
    <p:extLst>
      <p:ext uri="{BB962C8B-B14F-4D97-AF65-F5344CB8AC3E}">
        <p14:creationId xmlns:p14="http://schemas.microsoft.com/office/powerpoint/2010/main" val="334583522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120AF-26AE-43A5-7DD4-7F3F559D081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9DECD35-D345-54D7-2FF8-CE83FD011972}"/>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CD38F79E-3A8F-AF79-5133-A41C1D3B1664}"/>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dirty="0">
                <a:latin typeface="Calibir"/>
              </a:rPr>
              <a:t>Markers care that your stories are atomic, testable, correctly mapped, and that </a:t>
            </a:r>
            <a:r>
              <a:rPr lang="en-US" sz="2800" i="1" dirty="0">
                <a:latin typeface="Calibir"/>
              </a:rPr>
              <a:t>User</a:t>
            </a:r>
            <a:r>
              <a:rPr lang="en-US" sz="2800" dirty="0">
                <a:latin typeface="Calibir"/>
              </a:rPr>
              <a:t> is Student / Admin / System only. Don’t invent actors (CLI/GUI ≠ actors).</a:t>
            </a:r>
          </a:p>
          <a:p>
            <a:pPr>
              <a:lnSpc>
                <a:spcPct val="150000"/>
              </a:lnSpc>
            </a:pPr>
            <a:r>
              <a:rPr lang="en-US" sz="2800" dirty="0">
                <a:latin typeface="Calibir"/>
              </a:rPr>
              <a:t>Quick checklist (for your team)</a:t>
            </a:r>
          </a:p>
          <a:p>
            <a:pPr marL="914400" lvl="1" indent="-457200">
              <a:lnSpc>
                <a:spcPct val="150000"/>
              </a:lnSpc>
              <a:buFont typeface="Arial" panose="020B0604020202020204" pitchFamily="34" charset="0"/>
              <a:buChar char="•"/>
            </a:pPr>
            <a:r>
              <a:rPr lang="en-US" sz="2800" dirty="0">
                <a:latin typeface="Calibir"/>
              </a:rPr>
              <a:t>Use 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Keep one action per story (no “and then…”).</a:t>
            </a:r>
          </a:p>
          <a:p>
            <a:pPr marL="914400" lvl="1" indent="-457200">
              <a:lnSpc>
                <a:spcPct val="150000"/>
              </a:lnSpc>
              <a:buFont typeface="Arial" panose="020B0604020202020204" pitchFamily="34" charset="0"/>
              <a:buChar char="•"/>
            </a:pPr>
            <a:r>
              <a:rPr lang="en-US" sz="2800" dirty="0">
                <a:latin typeface="Calibir"/>
              </a:rPr>
              <a:t>Map every requirement → at least one story → appears in your Use Case and Class diagrams.</a:t>
            </a:r>
          </a:p>
          <a:p>
            <a:pPr marL="914400" lvl="1" indent="-457200">
              <a:lnSpc>
                <a:spcPct val="150000"/>
              </a:lnSpc>
              <a:buFont typeface="Arial" panose="020B0604020202020204" pitchFamily="34" charset="0"/>
              <a:buChar char="•"/>
            </a:pPr>
            <a:r>
              <a:rPr lang="en-US" sz="2800" dirty="0">
                <a:latin typeface="Calibir"/>
              </a:rPr>
              <a:t>Internal tasks = System as the user.</a:t>
            </a:r>
          </a:p>
        </p:txBody>
      </p:sp>
    </p:spTree>
    <p:extLst>
      <p:ext uri="{BB962C8B-B14F-4D97-AF65-F5344CB8AC3E}">
        <p14:creationId xmlns:p14="http://schemas.microsoft.com/office/powerpoint/2010/main" val="177299280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C8268-73E1-6866-0B62-492180A99D8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3C1EDC-543B-D346-BC2B-56F4C20274B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FE6416EB-5215-0636-BF02-FD479CE835E3}"/>
              </a:ext>
            </a:extLst>
          </p:cNvPr>
          <p:cNvSpPr txBox="1"/>
          <p:nvPr/>
        </p:nvSpPr>
        <p:spPr>
          <a:xfrm>
            <a:off x="108155" y="830917"/>
            <a:ext cx="11975690" cy="4549835"/>
          </a:xfrm>
          <a:prstGeom prst="rect">
            <a:avLst/>
          </a:prstGeom>
          <a:noFill/>
        </p:spPr>
        <p:txBody>
          <a:bodyPr wrap="square">
            <a:spAutoFit/>
          </a:bodyPr>
          <a:lstStyle/>
          <a:p>
            <a:pPr>
              <a:lnSpc>
                <a:spcPct val="150000"/>
              </a:lnSpc>
            </a:pPr>
            <a:r>
              <a:rPr lang="en-US" sz="2800" dirty="0">
                <a:latin typeface="Calibir"/>
              </a:rPr>
              <a:t>Main reference remains the Canvas assignment page; the slides are there to guide you:</a:t>
            </a:r>
            <a:br>
              <a:rPr lang="en-US" sz="2800" dirty="0">
                <a:latin typeface="Calibir"/>
              </a:rPr>
            </a:br>
            <a:r>
              <a:rPr lang="en-US" sz="2800" dirty="0">
                <a:latin typeface="Calibir"/>
                <a:hlinkClick r:id="rId2"/>
              </a:rPr>
              <a:t>https://canvas.uts.edu.au/courses/36509/assignments</a:t>
            </a:r>
            <a:endParaRPr lang="en-US" sz="2800" dirty="0">
              <a:latin typeface="Calibir"/>
            </a:endParaRPr>
          </a:p>
          <a:p>
            <a:pPr>
              <a:lnSpc>
                <a:spcPct val="150000"/>
              </a:lnSpc>
            </a:pPr>
            <a:r>
              <a:rPr lang="en-US" sz="2800" dirty="0">
                <a:latin typeface="Calibir"/>
              </a:rPr>
              <a:t>If anything else feels fuzzy, ping me and I’ll fold it into the shared clarifications.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br>
              <a:rPr lang="en-US" sz="2800" dirty="0">
                <a:latin typeface="Calibir"/>
              </a:rPr>
            </a:br>
            <a:r>
              <a:rPr lang="en-US" sz="2800" dirty="0">
                <a:latin typeface="Calibir"/>
              </a:rPr>
              <a:t>32555 — Fundamentals of Software Engineering</a:t>
            </a:r>
          </a:p>
        </p:txBody>
      </p:sp>
    </p:spTree>
    <p:extLst>
      <p:ext uri="{BB962C8B-B14F-4D97-AF65-F5344CB8AC3E}">
        <p14:creationId xmlns:p14="http://schemas.microsoft.com/office/powerpoint/2010/main" val="182129480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1AC9-1E78-4EC4-8A4B-63F1C789810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4532CDD-DE24-601F-F110-3297F8CA6C3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88159F2D-FFA1-A0EC-66F4-DE9B379C82AD}"/>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b="1" dirty="0">
                <a:latin typeface="Calibir"/>
              </a:rPr>
              <a:t>In short:</a:t>
            </a:r>
          </a:p>
          <a:p>
            <a:pPr>
              <a:lnSpc>
                <a:spcPct val="150000"/>
              </a:lnSpc>
            </a:pPr>
            <a:r>
              <a:rPr lang="en-US" sz="2800" dirty="0">
                <a:latin typeface="Calibir"/>
              </a:rPr>
              <a:t>Who is the “User” in backlog?</a:t>
            </a:r>
          </a:p>
          <a:p>
            <a:pPr marL="800100" lvl="1" indent="-342900">
              <a:lnSpc>
                <a:spcPct val="150000"/>
              </a:lnSpc>
              <a:buFont typeface="Arial" panose="020B0604020202020204" pitchFamily="34" charset="0"/>
              <a:buChar char="•"/>
            </a:pPr>
            <a:r>
              <a:rPr lang="en-US" sz="2800" dirty="0">
                <a:latin typeface="Calibir"/>
              </a:rPr>
              <a:t>Use Student or Admin when they act.</a:t>
            </a:r>
          </a:p>
          <a:p>
            <a:pPr marL="800100" lvl="1" indent="-342900">
              <a:lnSpc>
                <a:spcPct val="150000"/>
              </a:lnSpc>
              <a:buFont typeface="Arial" panose="020B0604020202020204" pitchFamily="34" charset="0"/>
              <a:buChar char="•"/>
            </a:pPr>
            <a:r>
              <a:rPr lang="en-US" sz="2800" dirty="0">
                <a:latin typeface="Calibir"/>
              </a:rPr>
              <a:t>Use System for internal steps (validation, ID generation, saving/loading).</a:t>
            </a:r>
          </a:p>
          <a:p>
            <a:pPr marL="800100" lvl="1" indent="-342900">
              <a:lnSpc>
                <a:spcPct val="150000"/>
              </a:lnSpc>
              <a:buFont typeface="Arial" panose="020B0604020202020204" pitchFamily="34" charset="0"/>
              <a:buChar char="•"/>
            </a:pPr>
            <a:r>
              <a:rPr lang="en-US" sz="2800" dirty="0">
                <a:latin typeface="Calibir"/>
              </a:rPr>
              <a:t>Don’t invent new actors (CLI/GUI ≠ actors).</a:t>
            </a:r>
          </a:p>
          <a:p>
            <a:pPr>
              <a:lnSpc>
                <a:spcPct val="150000"/>
              </a:lnSpc>
            </a:pPr>
            <a:r>
              <a:rPr lang="en-US" sz="2800" dirty="0">
                <a:latin typeface="Calibir"/>
              </a:rPr>
              <a:t>Example (Login, 1xx series):</a:t>
            </a:r>
          </a:p>
          <a:p>
            <a:pPr marL="800100" lvl="1" indent="-342900">
              <a:lnSpc>
                <a:spcPct val="150000"/>
              </a:lnSpc>
              <a:buFont typeface="Arial" panose="020B0604020202020204" pitchFamily="34" charset="0"/>
              <a:buChar char="•"/>
            </a:pPr>
            <a:r>
              <a:rPr lang="en-US" sz="2800" dirty="0">
                <a:latin typeface="Calibir"/>
              </a:rPr>
              <a:t>100 | Student | Submit email &amp; password → Student menu if valid</a:t>
            </a:r>
          </a:p>
          <a:p>
            <a:pPr marL="800100" lvl="1" indent="-342900">
              <a:lnSpc>
                <a:spcPct val="150000"/>
              </a:lnSpc>
              <a:buFont typeface="Arial" panose="020B0604020202020204" pitchFamily="34" charset="0"/>
              <a:buChar char="•"/>
            </a:pPr>
            <a:r>
              <a:rPr lang="en-US" sz="2800" dirty="0">
                <a:latin typeface="Calibir"/>
              </a:rPr>
              <a:t>105 | System | Validate email/password → Show error if invalid</a:t>
            </a:r>
          </a:p>
        </p:txBody>
      </p:sp>
    </p:spTree>
    <p:extLst>
      <p:ext uri="{BB962C8B-B14F-4D97-AF65-F5344CB8AC3E}">
        <p14:creationId xmlns:p14="http://schemas.microsoft.com/office/powerpoint/2010/main" val="240582026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093A-7D4A-681C-E559-58454860288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658A0AF-27CF-A9AC-05AD-F4C7703D24B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9932B734-7EAC-ACD5-E983-319BFCDB6DE8}"/>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Wording styles: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Concise: </a:t>
            </a:r>
            <a:r>
              <a:rPr lang="en-US" sz="2800" i="1" dirty="0">
                <a:latin typeface="Calibir"/>
              </a:rPr>
              <a:t>“Verify username and password against patterns.”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Long: </a:t>
            </a:r>
            <a:r>
              <a:rPr lang="en-US" sz="2800" i="1" dirty="0">
                <a:latin typeface="Calibir"/>
              </a:rPr>
              <a:t>“As a system, I validate email/password so that only valid ones are accepted.”</a:t>
            </a:r>
            <a:br>
              <a:rPr lang="en-US" sz="2800" dirty="0">
                <a:latin typeface="Calibir"/>
              </a:rPr>
            </a:br>
            <a:r>
              <a:rPr lang="en-US" sz="2800" dirty="0">
                <a:latin typeface="Calibir"/>
              </a:rPr>
              <a:t>Both are fine — just stay consistent.</a:t>
            </a:r>
          </a:p>
        </p:txBody>
      </p:sp>
    </p:spTree>
    <p:extLst>
      <p:ext uri="{BB962C8B-B14F-4D97-AF65-F5344CB8AC3E}">
        <p14:creationId xmlns:p14="http://schemas.microsoft.com/office/powerpoint/2010/main" val="69122318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8A6F8-E853-8509-B874-15413E50F71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2F3851-F707-556C-26CF-52FD7F4FA088}"/>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A09CC1FA-C3EB-A441-5EB3-4B62F518D1BF}"/>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Checklist: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One action per story.</a:t>
            </a:r>
          </a:p>
          <a:p>
            <a:pPr marL="914400" lvl="1" indent="-457200">
              <a:lnSpc>
                <a:spcPct val="150000"/>
              </a:lnSpc>
              <a:buFont typeface="Arial" panose="020B0604020202020204" pitchFamily="34" charset="0"/>
              <a:buChar char="•"/>
            </a:pPr>
            <a:r>
              <a:rPr lang="en-US" sz="2800" dirty="0">
                <a:latin typeface="Calibir"/>
              </a:rPr>
              <a:t>Every requirement → at least one story → seen in UC + Class diagrams.</a:t>
            </a:r>
          </a:p>
          <a:p>
            <a:pPr>
              <a:lnSpc>
                <a:spcPct val="150000"/>
              </a:lnSpc>
            </a:pPr>
            <a:r>
              <a:rPr lang="en-US" sz="2800" i="1" dirty="0">
                <a:latin typeface="Calibir"/>
              </a:rPr>
              <a:t>Main reference = Canvas Assignment 1 page.</a:t>
            </a:r>
            <a:endParaRPr lang="en-US" sz="2800" dirty="0">
              <a:latin typeface="Calibir"/>
            </a:endParaRPr>
          </a:p>
        </p:txBody>
      </p:sp>
    </p:spTree>
    <p:extLst>
      <p:ext uri="{BB962C8B-B14F-4D97-AF65-F5344CB8AC3E}">
        <p14:creationId xmlns:p14="http://schemas.microsoft.com/office/powerpoint/2010/main" val="308032928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C050-9D91-F33B-1DFC-0F33C688F9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ACC57-8ABF-979E-522F-51AB2EDF5731}"/>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B5E60B2B-6FF5-0E22-EBAD-90D1AB2E2118}"/>
              </a:ext>
            </a:extLst>
          </p:cNvPr>
          <p:cNvSpPr txBox="1"/>
          <p:nvPr/>
        </p:nvSpPr>
        <p:spPr>
          <a:xfrm>
            <a:off x="0" y="759147"/>
            <a:ext cx="11975690" cy="5262979"/>
          </a:xfrm>
          <a:prstGeom prst="rect">
            <a:avLst/>
          </a:prstGeom>
          <a:noFill/>
        </p:spPr>
        <p:txBody>
          <a:bodyPr wrap="square">
            <a:spAutoFit/>
          </a:bodyPr>
          <a:lstStyle/>
          <a:p>
            <a:pPr fontAlgn="base"/>
            <a:r>
              <a:rPr lang="en-US" sz="2800" dirty="0">
                <a:latin typeface="Calibir"/>
              </a:rPr>
              <a:t>Dear Dr. Farshid,</a:t>
            </a:r>
          </a:p>
          <a:p>
            <a:pPr fontAlgn="base"/>
            <a:br>
              <a:rPr lang="en-US" sz="2800" dirty="0">
                <a:latin typeface="Calibir"/>
              </a:rPr>
            </a:br>
            <a:r>
              <a:rPr lang="en-US" sz="2800" dirty="0">
                <a:latin typeface="Calibir"/>
              </a:rPr>
              <a:t>I am Kevin from Group 4 from Tuesday 4-6 </a:t>
            </a:r>
            <a:r>
              <a:rPr lang="en-US" sz="2800" dirty="0" err="1">
                <a:latin typeface="Calibir"/>
              </a:rPr>
              <a:t>p.m</a:t>
            </a:r>
            <a:r>
              <a:rPr lang="en-US" sz="2800" dirty="0">
                <a:latin typeface="Calibir"/>
              </a:rPr>
              <a:t> tutorial. I have a question regarding the Assessment 1. </a:t>
            </a:r>
          </a:p>
          <a:p>
            <a:pPr fontAlgn="base"/>
            <a:br>
              <a:rPr lang="en-US" sz="2800" dirty="0">
                <a:latin typeface="Calibir"/>
              </a:rPr>
            </a:br>
            <a:r>
              <a:rPr lang="en-US" sz="2800" dirty="0">
                <a:latin typeface="Calibir"/>
              </a:rPr>
              <a:t>On the assessment, we have to add UML use case diagram and UML class diagram. Should we make them separately according to each category </a:t>
            </a:r>
            <a:r>
              <a:rPr lang="en-US" sz="2800" dirty="0" err="1">
                <a:latin typeface="Calibir"/>
              </a:rPr>
              <a:t>e.g</a:t>
            </a:r>
            <a:r>
              <a:rPr lang="en-US" sz="2800" dirty="0">
                <a:latin typeface="Calibir"/>
              </a:rPr>
              <a:t> one for registration, one for enrolment or could we just combine them altogether ?</a:t>
            </a:r>
          </a:p>
          <a:p>
            <a:pPr fontAlgn="base"/>
            <a:endParaRPr lang="en-US" sz="2800" dirty="0">
              <a:latin typeface="Calibir"/>
            </a:endParaRPr>
          </a:p>
          <a:p>
            <a:pPr fontAlgn="base"/>
            <a:r>
              <a:rPr lang="en-US" sz="2800" dirty="0">
                <a:latin typeface="Calibir"/>
              </a:rPr>
              <a:t>Thank you</a:t>
            </a:r>
          </a:p>
          <a:p>
            <a:pPr fontAlgn="base"/>
            <a:br>
              <a:rPr lang="en-US" sz="2800" dirty="0">
                <a:latin typeface="Calibir"/>
              </a:rPr>
            </a:br>
            <a:r>
              <a:rPr lang="en-US" sz="2800" dirty="0">
                <a:latin typeface="Calibir"/>
              </a:rPr>
              <a:t>Best regards,</a:t>
            </a:r>
          </a:p>
        </p:txBody>
      </p:sp>
    </p:spTree>
    <p:extLst>
      <p:ext uri="{BB962C8B-B14F-4D97-AF65-F5344CB8AC3E}">
        <p14:creationId xmlns:p14="http://schemas.microsoft.com/office/powerpoint/2010/main" val="13688092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26675-9D61-898E-16FC-9C08F5B33CB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8F01DB4-C248-BCF2-52DD-38B598974D03}"/>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C75C377-B6E3-8350-FC76-BE628467C584}"/>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question. For Assessment 1 – Part 1, you should create one comprehensive UML Use Case diagram and one comprehensive UML Class diagram that cover the entire system, not separate diagrams for each feature (e.g., registration, enrolment).</a:t>
            </a:r>
          </a:p>
          <a:p>
            <a:pPr>
              <a:lnSpc>
                <a:spcPct val="150000"/>
              </a:lnSpc>
            </a:pPr>
            <a:r>
              <a:rPr lang="en-US" sz="2800" dirty="0">
                <a:latin typeface="Calibir"/>
              </a:rPr>
              <a:t>This means:</a:t>
            </a:r>
          </a:p>
        </p:txBody>
      </p:sp>
    </p:spTree>
    <p:extLst>
      <p:ext uri="{BB962C8B-B14F-4D97-AF65-F5344CB8AC3E}">
        <p14:creationId xmlns:p14="http://schemas.microsoft.com/office/powerpoint/2010/main" val="25776286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B9F6B-AB9F-E8EB-627A-2995EA396D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5238E82-12F5-A51E-61A2-17648D0A0408}"/>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0B35F899-094F-CE60-4C5A-CEE0D18A6F3B}"/>
              </a:ext>
            </a:extLst>
          </p:cNvPr>
          <p:cNvSpPr txBox="1"/>
          <p:nvPr/>
        </p:nvSpPr>
        <p:spPr>
          <a:xfrm>
            <a:off x="0" y="1477248"/>
            <a:ext cx="11975690" cy="390350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All student operations (register, </a:t>
            </a:r>
            <a:r>
              <a:rPr lang="en-US" sz="2800" dirty="0" err="1">
                <a:latin typeface="Calibir"/>
              </a:rPr>
              <a:t>enrol</a:t>
            </a:r>
            <a:r>
              <a:rPr lang="en-US" sz="2800" dirty="0">
                <a:latin typeface="Calibir"/>
              </a:rPr>
              <a:t>, drop, view, change password) and admin operations (view, group PASS/FAIL, remove student, clear data) should appear in a single Use Case diagram, connected to the relevant actors.</a:t>
            </a:r>
          </a:p>
          <a:p>
            <a:pPr marL="342900" indent="-342900">
              <a:lnSpc>
                <a:spcPct val="150000"/>
              </a:lnSpc>
              <a:buFont typeface="Arial" panose="020B0604020202020204" pitchFamily="34" charset="0"/>
              <a:buChar char="•"/>
            </a:pPr>
            <a:r>
              <a:rPr lang="en-US" sz="2800" dirty="0">
                <a:latin typeface="Calibir"/>
              </a:rPr>
              <a:t>The Class diagram should represent all core classes (e.g., Student, Subject, </a:t>
            </a:r>
            <a:r>
              <a:rPr lang="en-US" sz="2800" dirty="0" err="1">
                <a:latin typeface="Calibir"/>
              </a:rPr>
              <a:t>DataStore</a:t>
            </a:r>
            <a:r>
              <a:rPr lang="en-US" sz="2800" dirty="0">
                <a:latin typeface="Calibir"/>
              </a:rPr>
              <a:t>, </a:t>
            </a:r>
            <a:r>
              <a:rPr lang="en-US" sz="2800" dirty="0" err="1">
                <a:latin typeface="Calibir"/>
              </a:rPr>
              <a:t>AuthService</a:t>
            </a:r>
            <a:r>
              <a:rPr lang="en-US" sz="2800" dirty="0">
                <a:latin typeface="Calibir"/>
              </a:rPr>
              <a:t>, Admin role/class) in one diagram, with attributes, methods, and relationships.</a:t>
            </a:r>
          </a:p>
        </p:txBody>
      </p:sp>
    </p:spTree>
    <p:extLst>
      <p:ext uri="{BB962C8B-B14F-4D97-AF65-F5344CB8AC3E}">
        <p14:creationId xmlns:p14="http://schemas.microsoft.com/office/powerpoint/2010/main" val="10024992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BEC3A-67FA-8FD2-F013-E429E81288C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F9D661B-178A-5ED1-04B8-BA98BC51CBDD}"/>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5119CBC-ECE5-B9B4-9681-348370685A66}"/>
              </a:ext>
            </a:extLst>
          </p:cNvPr>
          <p:cNvSpPr txBox="1"/>
          <p:nvPr/>
        </p:nvSpPr>
        <p:spPr>
          <a:xfrm>
            <a:off x="0" y="759147"/>
            <a:ext cx="11975690" cy="2610843"/>
          </a:xfrm>
          <a:prstGeom prst="rect">
            <a:avLst/>
          </a:prstGeom>
          <a:noFill/>
        </p:spPr>
        <p:txBody>
          <a:bodyPr wrap="square">
            <a:spAutoFit/>
          </a:bodyPr>
          <a:lstStyle/>
          <a:p>
            <a:pPr>
              <a:lnSpc>
                <a:spcPct val="150000"/>
              </a:lnSpc>
            </a:pPr>
            <a:r>
              <a:rPr lang="en-US" sz="2800" dirty="0">
                <a:latin typeface="Calibir"/>
              </a:rPr>
              <a:t>This ensures consistency and traceability across the system and aligns with the assignment brief and marking criteria.</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41728166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20209-25F0-8925-FCE8-6202A4A9E3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86F78-E6C8-E314-9034-0CFC0763C6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4A3A4008-3977-902F-0A78-9009DDF79B83}"/>
              </a:ext>
            </a:extLst>
          </p:cNvPr>
          <p:cNvSpPr txBox="1"/>
          <p:nvPr/>
        </p:nvSpPr>
        <p:spPr>
          <a:xfrm>
            <a:off x="113371" y="1154082"/>
            <a:ext cx="1196525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it is</a:t>
            </a:r>
            <a:r>
              <a:rPr lang="en-US" sz="2800" dirty="0">
                <a:latin typeface="Calibir"/>
              </a:rPr>
              <a:t>: Small tasks written as “stories.”</a:t>
            </a:r>
          </a:p>
          <a:p>
            <a:pPr marL="457200" indent="-457200">
              <a:lnSpc>
                <a:spcPct val="150000"/>
              </a:lnSpc>
              <a:buFont typeface="Arial" panose="020B0604020202020204" pitchFamily="34" charset="0"/>
              <a:buChar char="•"/>
            </a:pPr>
            <a:r>
              <a:rPr lang="en-US" sz="2800" b="1" dirty="0">
                <a:latin typeface="Calibir"/>
              </a:rPr>
              <a:t>Format</a:t>
            </a:r>
            <a:r>
              <a:rPr lang="en-US" sz="2800" dirty="0">
                <a:latin typeface="Calibir"/>
              </a:rPr>
              <a:t>: ID | User | Action | Result | Function.</a:t>
            </a:r>
          </a:p>
          <a:p>
            <a:pPr marL="457200" indent="-457200">
              <a:lnSpc>
                <a:spcPct val="150000"/>
              </a:lnSpc>
              <a:buFont typeface="Arial" panose="020B0604020202020204" pitchFamily="34" charset="0"/>
              <a:buChar char="•"/>
            </a:pPr>
            <a:r>
              <a:rPr lang="en-US" sz="2800" b="1" dirty="0">
                <a:latin typeface="Calibir"/>
              </a:rPr>
              <a:t>ID rule</a:t>
            </a:r>
            <a:r>
              <a:rPr lang="en-US" sz="2800" dirty="0">
                <a:latin typeface="Calibir"/>
              </a:rPr>
              <a:t>: 3 digits → same hundreds digit = same feature.</a:t>
            </a:r>
          </a:p>
          <a:p>
            <a:pPr marL="457200" indent="-457200">
              <a:lnSpc>
                <a:spcPct val="150000"/>
              </a:lnSpc>
              <a:buFont typeface="Arial" panose="020B0604020202020204" pitchFamily="34" charset="0"/>
              <a:buChar char="•"/>
            </a:pPr>
            <a:r>
              <a:rPr lang="en-US" sz="2800" b="1" dirty="0">
                <a:latin typeface="Calibir"/>
              </a:rPr>
              <a:t>Example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100 Student logs in with email/password → success/fail → login()</a:t>
            </a:r>
          </a:p>
          <a:p>
            <a:pPr marL="914400" lvl="1" indent="-457200">
              <a:lnSpc>
                <a:spcPct val="150000"/>
              </a:lnSpc>
              <a:buFont typeface="Arial" panose="020B0604020202020204" pitchFamily="34" charset="0"/>
              <a:buChar char="•"/>
            </a:pPr>
            <a:r>
              <a:rPr lang="en-US" sz="2800" dirty="0">
                <a:latin typeface="Calibir"/>
              </a:rPr>
              <a:t>105 System validates credentials → error message → </a:t>
            </a:r>
            <a:r>
              <a:rPr lang="en-US" sz="2800" dirty="0" err="1">
                <a:latin typeface="Calibir"/>
              </a:rPr>
              <a:t>validateCredentials</a:t>
            </a:r>
            <a:r>
              <a:rPr lang="en-US" sz="2800" dirty="0">
                <a:latin typeface="Calibir"/>
              </a:rPr>
              <a:t>()</a:t>
            </a:r>
          </a:p>
        </p:txBody>
      </p:sp>
    </p:spTree>
    <p:extLst>
      <p:ext uri="{BB962C8B-B14F-4D97-AF65-F5344CB8AC3E}">
        <p14:creationId xmlns:p14="http://schemas.microsoft.com/office/powerpoint/2010/main" val="23712012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5A36A-FAF5-7987-8A76-A5D2E41EA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D22A9-0632-A46F-FFBE-6F038E28828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0CC29C62-B3FC-1066-F9D4-A46980BC1BB8}"/>
              </a:ext>
            </a:extLst>
          </p:cNvPr>
          <p:cNvSpPr txBox="1"/>
          <p:nvPr/>
        </p:nvSpPr>
        <p:spPr>
          <a:xfrm>
            <a:off x="113371" y="1154082"/>
            <a:ext cx="11965258" cy="4549835"/>
          </a:xfrm>
          <a:prstGeom prst="rect">
            <a:avLst/>
          </a:prstGeom>
          <a:noFill/>
        </p:spPr>
        <p:txBody>
          <a:bodyPr wrap="square">
            <a:spAutoFit/>
          </a:bodyPr>
          <a:lstStyle/>
          <a:p>
            <a:pPr>
              <a:lnSpc>
                <a:spcPct val="150000"/>
              </a:lnSpc>
              <a:buNone/>
            </a:pPr>
            <a:r>
              <a:rPr lang="en-US" sz="2800" b="1" dirty="0">
                <a:latin typeface="Calibir"/>
              </a:rPr>
              <a:t>Step-by-step (Do’s &amp; Don’ts)</a:t>
            </a:r>
          </a:p>
          <a:p>
            <a:pPr marL="177800">
              <a:lnSpc>
                <a:spcPct val="150000"/>
              </a:lnSpc>
              <a:buNone/>
            </a:pPr>
            <a:r>
              <a:rPr lang="en-US" sz="2800" dirty="0">
                <a:latin typeface="Calibir"/>
              </a:rPr>
              <a:t>✔ Break down into small stories (2–5 per feature).</a:t>
            </a:r>
            <a:br>
              <a:rPr lang="en-US" sz="2800" dirty="0">
                <a:latin typeface="Calibir"/>
              </a:rPr>
            </a:br>
            <a:r>
              <a:rPr lang="en-US" sz="2800" dirty="0">
                <a:latin typeface="Calibir"/>
              </a:rPr>
              <a:t>✔ Use Student/Admin/System only.</a:t>
            </a:r>
            <a:br>
              <a:rPr lang="en-US" sz="2800" dirty="0">
                <a:latin typeface="Calibir"/>
              </a:rPr>
            </a:br>
            <a:r>
              <a:rPr lang="en-US" sz="2800" dirty="0">
                <a:latin typeface="Calibir"/>
              </a:rPr>
              <a:t>✔ Group IDs (1xx = Login, 2xx = Register, 3xx = </a:t>
            </a:r>
            <a:r>
              <a:rPr lang="en-US" sz="2800" dirty="0" err="1">
                <a:latin typeface="Calibir"/>
              </a:rPr>
              <a:t>Enrol</a:t>
            </a:r>
            <a:r>
              <a:rPr lang="en-US" sz="2800" dirty="0">
                <a:latin typeface="Calibir"/>
              </a:rPr>
              <a:t>, </a:t>
            </a:r>
            <a:r>
              <a:rPr lang="en-US" sz="2800" dirty="0" err="1">
                <a:latin typeface="Calibir"/>
              </a:rPr>
              <a:t>etc</a:t>
            </a:r>
            <a:r>
              <a:rPr lang="en-US" sz="2800" dirty="0">
                <a:latin typeface="Calibir"/>
              </a:rPr>
              <a:t>).</a:t>
            </a:r>
            <a:br>
              <a:rPr lang="en-US" sz="2800" dirty="0">
                <a:latin typeface="Calibir"/>
              </a:rPr>
            </a:br>
            <a:r>
              <a:rPr lang="en-US" sz="2800" dirty="0">
                <a:highlight>
                  <a:srgbClr val="FF0000"/>
                </a:highlight>
                <a:latin typeface="Calibir"/>
              </a:rPr>
              <a:t>X</a:t>
            </a:r>
            <a:r>
              <a:rPr lang="en-US" sz="2800" dirty="0">
                <a:latin typeface="Calibir"/>
              </a:rPr>
              <a:t> Don’t combine multiple actions in one story.</a:t>
            </a:r>
            <a:br>
              <a:rPr lang="en-US" sz="2800" dirty="0">
                <a:latin typeface="Calibir"/>
              </a:rPr>
            </a:br>
            <a:r>
              <a:rPr lang="en-US" sz="2800" dirty="0">
                <a:highlight>
                  <a:srgbClr val="FF0000"/>
                </a:highlight>
                <a:latin typeface="Calibir"/>
              </a:rPr>
              <a:t>X</a:t>
            </a:r>
            <a:r>
              <a:rPr lang="en-US" sz="2800" dirty="0">
                <a:latin typeface="Calibir"/>
              </a:rPr>
              <a:t> Don’t add UI details.</a:t>
            </a:r>
            <a:br>
              <a:rPr lang="en-US" sz="2800" dirty="0">
                <a:latin typeface="Calibir"/>
              </a:rPr>
            </a:br>
            <a:r>
              <a:rPr lang="en-US" sz="2800" dirty="0">
                <a:highlight>
                  <a:srgbClr val="FF0000"/>
                </a:highlight>
                <a:latin typeface="Calibir"/>
              </a:rPr>
              <a:t>X</a:t>
            </a:r>
            <a:r>
              <a:rPr lang="en-US" sz="2800" dirty="0">
                <a:latin typeface="Calibir"/>
              </a:rPr>
              <a:t> Don’t invent new actors.</a:t>
            </a:r>
          </a:p>
        </p:txBody>
      </p:sp>
    </p:spTree>
    <p:extLst>
      <p:ext uri="{BB962C8B-B14F-4D97-AF65-F5344CB8AC3E}">
        <p14:creationId xmlns:p14="http://schemas.microsoft.com/office/powerpoint/2010/main" val="12532325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711CE-071A-B811-3349-DB3C76A53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15D97-4467-3A52-E260-A877C7047BC1}"/>
              </a:ext>
            </a:extLst>
          </p:cNvPr>
          <p:cNvSpPr>
            <a:spLocks noGrp="1"/>
          </p:cNvSpPr>
          <p:nvPr>
            <p:ph type="title"/>
          </p:nvPr>
        </p:nvSpPr>
        <p:spPr>
          <a:xfrm>
            <a:off x="0" y="0"/>
            <a:ext cx="12192000" cy="657922"/>
          </a:xfrm>
        </p:spPr>
        <p:txBody>
          <a:bodyPr anchor="b">
            <a:normAutofit/>
          </a:bodyPr>
          <a:lstStyle/>
          <a:p>
            <a:r>
              <a:rPr lang="en-US" sz="4000" dirty="0">
                <a:latin typeface="Calibir"/>
              </a:rPr>
              <a:t>UML Use Case Diagram — Clarified</a:t>
            </a:r>
            <a:endParaRPr lang="en-AU" sz="4000" b="1" dirty="0">
              <a:latin typeface="Calibir"/>
            </a:endParaRPr>
          </a:p>
        </p:txBody>
      </p:sp>
      <p:sp>
        <p:nvSpPr>
          <p:cNvPr id="4" name="TextBox 3">
            <a:extLst>
              <a:ext uri="{FF2B5EF4-FFF2-40B4-BE49-F238E27FC236}">
                <a16:creationId xmlns:a16="http://schemas.microsoft.com/office/drawing/2014/main" id="{6D7E76C2-31D8-BAAA-CCC2-89002ACDD152}"/>
              </a:ext>
            </a:extLst>
          </p:cNvPr>
          <p:cNvSpPr txBox="1"/>
          <p:nvPr/>
        </p:nvSpPr>
        <p:spPr>
          <a:xfrm>
            <a:off x="0" y="698901"/>
            <a:ext cx="11965258" cy="583961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Shows who (actor) does what (use case).</a:t>
            </a:r>
          </a:p>
          <a:p>
            <a:pPr marL="457200" indent="-457200">
              <a:lnSpc>
                <a:spcPct val="150000"/>
              </a:lnSpc>
              <a:buFont typeface="Arial" panose="020B0604020202020204" pitchFamily="34" charset="0"/>
              <a:buChar char="•"/>
            </a:pPr>
            <a:r>
              <a:rPr lang="en-US" sz="2800" dirty="0">
                <a:latin typeface="Calibir"/>
              </a:rPr>
              <a:t>Add relationships:</a:t>
            </a:r>
          </a:p>
          <a:p>
            <a:pPr marL="914400" lvl="1" indent="-457200">
              <a:lnSpc>
                <a:spcPct val="150000"/>
              </a:lnSpc>
              <a:buFont typeface="Arial" panose="020B0604020202020204" pitchFamily="34" charset="0"/>
              <a:buChar char="•"/>
            </a:pPr>
            <a:r>
              <a:rPr lang="en-US" sz="2800" dirty="0">
                <a:latin typeface="Calibir"/>
              </a:rPr>
              <a:t>&lt;&lt;include&gt;&gt; → always happens.</a:t>
            </a:r>
          </a:p>
          <a:p>
            <a:pPr marL="914400" lvl="1" indent="-457200">
              <a:lnSpc>
                <a:spcPct val="150000"/>
              </a:lnSpc>
              <a:buFont typeface="Arial" panose="020B0604020202020204" pitchFamily="34" charset="0"/>
              <a:buChar char="•"/>
            </a:pPr>
            <a:r>
              <a:rPr lang="en-US" sz="2800" dirty="0">
                <a:latin typeface="Calibir"/>
              </a:rPr>
              <a:t>&lt;&lt;extend&gt;&gt; → sometimes happens.</a:t>
            </a:r>
          </a:p>
          <a:p>
            <a:pPr marL="457200" indent="-457200">
              <a:lnSpc>
                <a:spcPct val="150000"/>
              </a:lnSpc>
              <a:buFont typeface="Arial" panose="020B0604020202020204" pitchFamily="34" charset="0"/>
              <a:buChar char="•"/>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Student → Register (includes Validate Email, Generate ID).</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(includes Assign Mark &amp; Grade, Save Data).</a:t>
            </a:r>
          </a:p>
          <a:p>
            <a:pPr marL="914400" lvl="1" indent="-457200">
              <a:lnSpc>
                <a:spcPct val="150000"/>
              </a:lnSpc>
              <a:buFont typeface="Arial" panose="020B0604020202020204" pitchFamily="34" charset="0"/>
              <a:buChar char="•"/>
            </a:pPr>
            <a:r>
              <a:rPr lang="en-US" sz="2800" dirty="0">
                <a:latin typeface="Calibir"/>
              </a:rPr>
              <a:t>Login → extend → Show Error.</a:t>
            </a:r>
          </a:p>
          <a:p>
            <a:pPr>
              <a:lnSpc>
                <a:spcPct val="150000"/>
              </a:lnSpc>
              <a:buNone/>
            </a:pPr>
            <a:r>
              <a:rPr lang="en-US" sz="2800" dirty="0">
                <a:latin typeface="Calibir"/>
              </a:rPr>
              <a:t>Avoid adding CLI/GUI as use cases. Only focus on real user/system actions.</a:t>
            </a:r>
          </a:p>
        </p:txBody>
      </p:sp>
    </p:spTree>
    <p:extLst>
      <p:ext uri="{BB962C8B-B14F-4D97-AF65-F5344CB8AC3E}">
        <p14:creationId xmlns:p14="http://schemas.microsoft.com/office/powerpoint/2010/main" val="181128022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7075-94E3-58BC-851A-0E77B495E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2EC20-D766-3D4A-C2C5-7054D50961C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AF300C41-F683-7339-4485-49F35E180F97}"/>
              </a:ext>
            </a:extLst>
          </p:cNvPr>
          <p:cNvSpPr txBox="1"/>
          <p:nvPr/>
        </p:nvSpPr>
        <p:spPr>
          <a:xfrm>
            <a:off x="0" y="698901"/>
            <a:ext cx="11965258"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Classes</a:t>
            </a:r>
            <a:r>
              <a:rPr lang="en-US" altLang="en-US" sz="2800" dirty="0">
                <a:latin typeface="Calibir"/>
              </a:rPr>
              <a:t>: Student, Subject, Admin, </a:t>
            </a:r>
            <a:r>
              <a:rPr lang="en-US" altLang="en-US" sz="2800" dirty="0" err="1">
                <a:latin typeface="Calibir"/>
              </a:rPr>
              <a:t>DataStore</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Attributes (fields)</a:t>
            </a:r>
            <a:r>
              <a:rPr lang="en-US" altLang="en-US" sz="2800" dirty="0">
                <a:latin typeface="Calibir"/>
              </a:rPr>
              <a:t>: id, name, email, etc.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Methods</a:t>
            </a:r>
            <a:r>
              <a:rPr lang="en-US" altLang="en-US" sz="2800" dirty="0">
                <a:latin typeface="Calibir"/>
              </a:rPr>
              <a:t>: </a:t>
            </a:r>
            <a:r>
              <a:rPr lang="en-US" altLang="en-US" sz="2800" dirty="0" err="1">
                <a:latin typeface="Calibir"/>
              </a:rPr>
              <a:t>enrol</a:t>
            </a:r>
            <a:r>
              <a:rPr lang="en-US" altLang="en-US" sz="2800" dirty="0">
                <a:latin typeface="Calibir"/>
              </a:rPr>
              <a:t>(), drop(), view().</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Visibility</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public (accessible everywhere).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private (class only).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protected (class + children).</a:t>
            </a:r>
          </a:p>
        </p:txBody>
      </p:sp>
    </p:spTree>
    <p:extLst>
      <p:ext uri="{BB962C8B-B14F-4D97-AF65-F5344CB8AC3E}">
        <p14:creationId xmlns:p14="http://schemas.microsoft.com/office/powerpoint/2010/main" val="5378604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0E4E0-0BC7-CA01-23BD-994DFA502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EFE2D-7BFF-B572-DD9F-DBB9ECBB9AB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7E2CF557-2101-99F3-F2D1-B6844B10594E}"/>
              </a:ext>
            </a:extLst>
          </p:cNvPr>
          <p:cNvSpPr txBox="1"/>
          <p:nvPr/>
        </p:nvSpPr>
        <p:spPr>
          <a:xfrm>
            <a:off x="0" y="698901"/>
            <a:ext cx="11965258"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Relationships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Student ↔ Subject (association, 1..4).</a:t>
            </a:r>
          </a:p>
          <a:p>
            <a:pPr marL="914400" lvl="1" indent="-457200">
              <a:lnSpc>
                <a:spcPct val="150000"/>
              </a:lnSpc>
              <a:buFont typeface="Arial" panose="020B0604020202020204" pitchFamily="34" charset="0"/>
              <a:buChar char="•"/>
            </a:pPr>
            <a:r>
              <a:rPr lang="en-US" sz="2800" dirty="0">
                <a:latin typeface="Calibir"/>
              </a:rPr>
              <a:t>Permit ↔ Vehicle (composition example).</a:t>
            </a:r>
          </a:p>
          <a:p>
            <a:pPr marL="914400" lvl="1" indent="-457200">
              <a:lnSpc>
                <a:spcPct val="150000"/>
              </a:lnSpc>
              <a:buFont typeface="Arial" panose="020B0604020202020204" pitchFamily="34" charset="0"/>
              <a:buChar char="•"/>
            </a:pPr>
            <a:r>
              <a:rPr lang="en-US" sz="2800" dirty="0">
                <a:latin typeface="Calibir"/>
              </a:rPr>
              <a:t>Student/Admin → inherit from User (generalization).</a:t>
            </a:r>
          </a:p>
          <a:p>
            <a:pPr>
              <a:lnSpc>
                <a:spcPct val="150000"/>
              </a:lnSpc>
            </a:pPr>
            <a:r>
              <a:rPr lang="en-US" sz="2800" dirty="0">
                <a:latin typeface="Calibir"/>
              </a:rPr>
              <a:t>Avoid: mixing too many details (keep it high-level, consistent with Part 2 code).</a:t>
            </a:r>
          </a:p>
        </p:txBody>
      </p:sp>
    </p:spTree>
    <p:extLst>
      <p:ext uri="{BB962C8B-B14F-4D97-AF65-F5344CB8AC3E}">
        <p14:creationId xmlns:p14="http://schemas.microsoft.com/office/powerpoint/2010/main" val="365071183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E8E3E-6A9E-DF61-85A4-680BF38D08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ABCF36-1FF1-1F81-ACD7-875DAF29FC4E}"/>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B971FE3D-61A3-9074-9B9E-3C722F01A07D}"/>
              </a:ext>
            </a:extLst>
          </p:cNvPr>
          <p:cNvSpPr txBox="1"/>
          <p:nvPr/>
        </p:nvSpPr>
        <p:spPr>
          <a:xfrm>
            <a:off x="0" y="866170"/>
            <a:ext cx="11965258" cy="5803512"/>
          </a:xfrm>
          <a:prstGeom prst="rect">
            <a:avLst/>
          </a:prstGeom>
          <a:noFill/>
        </p:spPr>
        <p:txBody>
          <a:bodyPr wrap="square">
            <a:spAutoFit/>
          </a:bodyPr>
          <a:lstStyle/>
          <a:p>
            <a:pPr>
              <a:lnSpc>
                <a:spcPct val="150000"/>
              </a:lnSpc>
            </a:pPr>
            <a:r>
              <a:rPr lang="en-US" sz="2500" dirty="0">
                <a:latin typeface="Calibir"/>
              </a:rPr>
              <a:t>Dear Professor,</a:t>
            </a:r>
          </a:p>
          <a:p>
            <a:pPr>
              <a:lnSpc>
                <a:spcPct val="150000"/>
              </a:lnSpc>
            </a:pPr>
            <a:r>
              <a:rPr lang="en-US" sz="2500" dirty="0">
                <a:latin typeface="Calibir"/>
              </a:rPr>
              <a:t>I hope this message finds you well.</a:t>
            </a:r>
          </a:p>
          <a:p>
            <a:pPr>
              <a:lnSpc>
                <a:spcPct val="150000"/>
              </a:lnSpc>
            </a:pPr>
            <a:r>
              <a:rPr lang="en-US" sz="2500" dirty="0">
                <a:latin typeface="Calibir"/>
              </a:rPr>
              <a:t>Our group has been working on the assignment, and we would like to kindly ask for your feedback.</a:t>
            </a:r>
          </a:p>
          <a:p>
            <a:pPr>
              <a:lnSpc>
                <a:spcPct val="150000"/>
              </a:lnSpc>
            </a:pPr>
            <a:r>
              <a:rPr lang="en-US" sz="2500" dirty="0">
                <a:latin typeface="Calibir"/>
              </a:rPr>
              <a:t>Could you please review our current content and let us know if any errors or areas require adjustment?</a:t>
            </a:r>
          </a:p>
          <a:p>
            <a:pPr>
              <a:lnSpc>
                <a:spcPct val="150000"/>
              </a:lnSpc>
            </a:pPr>
            <a:r>
              <a:rPr lang="en-US" sz="2500" dirty="0">
                <a:latin typeface="Calibir"/>
              </a:rPr>
              <a:t>We want to make sure that we are on the right track before proceeding further. Your guidance would be greatly appreciated.</a:t>
            </a:r>
          </a:p>
          <a:p>
            <a:pPr>
              <a:lnSpc>
                <a:spcPct val="150000"/>
              </a:lnSpc>
            </a:pPr>
            <a:r>
              <a:rPr lang="en-US" sz="2500" dirty="0">
                <a:latin typeface="Calibir"/>
              </a:rPr>
              <a:t>Thank you very much for your time and support.</a:t>
            </a:r>
          </a:p>
          <a:p>
            <a:pPr>
              <a:lnSpc>
                <a:spcPct val="150000"/>
              </a:lnSpc>
            </a:pPr>
            <a:r>
              <a:rPr lang="en-US" sz="2500" dirty="0">
                <a:latin typeface="Calibir"/>
              </a:rPr>
              <a:t>Best regards,</a:t>
            </a:r>
          </a:p>
        </p:txBody>
      </p:sp>
    </p:spTree>
    <p:extLst>
      <p:ext uri="{BB962C8B-B14F-4D97-AF65-F5344CB8AC3E}">
        <p14:creationId xmlns:p14="http://schemas.microsoft.com/office/powerpoint/2010/main" val="2586315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56350-18FE-FC39-823C-7E0680AB66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255589-F6D3-AA36-9F69-5FA08639326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E3288CA8-315C-4322-1BA1-5F22AFE014E3}"/>
              </a:ext>
            </a:extLst>
          </p:cNvPr>
          <p:cNvSpPr txBox="1"/>
          <p:nvPr/>
        </p:nvSpPr>
        <p:spPr>
          <a:xfrm>
            <a:off x="0" y="657922"/>
            <a:ext cx="11965258" cy="6260368"/>
          </a:xfrm>
          <a:prstGeom prst="rect">
            <a:avLst/>
          </a:prstGeom>
          <a:noFill/>
        </p:spPr>
        <p:txBody>
          <a:bodyPr wrap="square">
            <a:spAutoFit/>
          </a:bodyPr>
          <a:lstStyle/>
          <a:p>
            <a:pPr>
              <a:lnSpc>
                <a:spcPct val="150000"/>
              </a:lnSpc>
            </a:pPr>
            <a:r>
              <a:rPr lang="en-US" sz="2700" dirty="0">
                <a:latin typeface="Calibir"/>
              </a:rPr>
              <a:t>Dear Student,</a:t>
            </a:r>
          </a:p>
          <a:p>
            <a:pPr>
              <a:lnSpc>
                <a:spcPct val="150000"/>
              </a:lnSpc>
            </a:pPr>
            <a:r>
              <a:rPr lang="en-US" sz="2700" dirty="0">
                <a:latin typeface="Calibir"/>
              </a:rPr>
              <a:t>Thank you for sharing your draft report and diagrams — it is clear that your team has put significant effort into aligning your work with the assignment brief. I reviewed both the use case diagram and the class diagram, and overall you are on the right track. A few clarifications and suggestions:</a:t>
            </a:r>
          </a:p>
          <a:p>
            <a:pPr>
              <a:lnSpc>
                <a:spcPct val="150000"/>
              </a:lnSpc>
            </a:pPr>
            <a:r>
              <a:rPr lang="en-US" sz="2700" b="1" dirty="0">
                <a:latin typeface="Calibir"/>
              </a:rPr>
              <a:t>Use Case Diagram</a:t>
            </a:r>
            <a:endParaRPr lang="en-US" sz="2700" dirty="0">
              <a:latin typeface="Calibir"/>
            </a:endParaRPr>
          </a:p>
          <a:p>
            <a:pPr marL="457200" indent="-457200">
              <a:lnSpc>
                <a:spcPct val="150000"/>
              </a:lnSpc>
              <a:buFont typeface="Wingdings" panose="05000000000000000000" pitchFamily="2" charset="2"/>
              <a:buChar char="ü"/>
            </a:pPr>
            <a:r>
              <a:rPr lang="en-US" sz="2700" dirty="0">
                <a:latin typeface="Calibir"/>
              </a:rPr>
              <a:t>Good job showing both Student and Admin actors clearly.</a:t>
            </a:r>
          </a:p>
          <a:p>
            <a:pPr marL="457200" indent="-457200">
              <a:lnSpc>
                <a:spcPct val="150000"/>
              </a:lnSpc>
              <a:buFont typeface="Wingdings" panose="05000000000000000000" pitchFamily="2" charset="2"/>
              <a:buChar char="ü"/>
            </a:pPr>
            <a:r>
              <a:rPr lang="en-US" sz="2700" dirty="0">
                <a:latin typeface="Calibir"/>
              </a:rPr>
              <a:t>Internal system actions (e.g., validate email/password, generate IDs, assign random marks, save/load data) are correctly modeled as &lt;&lt;include&gt;&gt; relationships.</a:t>
            </a:r>
          </a:p>
        </p:txBody>
      </p:sp>
    </p:spTree>
    <p:extLst>
      <p:ext uri="{BB962C8B-B14F-4D97-AF65-F5344CB8AC3E}">
        <p14:creationId xmlns:p14="http://schemas.microsoft.com/office/powerpoint/2010/main" val="134960819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1B15B-7AF4-2301-543A-F7B723062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EC2093-EEBD-F260-50DB-DEE5045746D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F410B201-94BD-BB76-B94D-5FA17479EFED}"/>
              </a:ext>
            </a:extLst>
          </p:cNvPr>
          <p:cNvSpPr txBox="1"/>
          <p:nvPr/>
        </p:nvSpPr>
        <p:spPr>
          <a:xfrm>
            <a:off x="0" y="657922"/>
            <a:ext cx="11965258" cy="5637121"/>
          </a:xfrm>
          <a:prstGeom prst="rect">
            <a:avLst/>
          </a:prstGeom>
          <a:noFill/>
        </p:spPr>
        <p:txBody>
          <a:bodyPr wrap="square">
            <a:spAutoFit/>
          </a:bodyPr>
          <a:lstStyle/>
          <a:p>
            <a:pPr marL="457200" indent="-457200">
              <a:lnSpc>
                <a:spcPct val="150000"/>
              </a:lnSpc>
              <a:buFont typeface="Wingdings" panose="05000000000000000000" pitchFamily="2" charset="2"/>
              <a:buChar char="ü"/>
            </a:pPr>
            <a:r>
              <a:rPr lang="en-US" sz="2700" dirty="0">
                <a:latin typeface="Calibir"/>
              </a:rPr>
              <a:t>Error-handling via &lt;&lt;extend&gt;&gt; (e.g., invalid credentials, weak password, subject not found) is accurate.</a:t>
            </a:r>
          </a:p>
          <a:p>
            <a:pPr>
              <a:lnSpc>
                <a:spcPct val="150000"/>
              </a:lnSpc>
            </a:pPr>
            <a:r>
              <a:rPr lang="en-US" sz="2700" dirty="0">
                <a:latin typeface="Calibir"/>
              </a:rPr>
              <a:t>Tip: keep UC labels concise (e.g., “UC200 Register” rather than “Register account”) but ensure naming matches your backlog table.</a:t>
            </a:r>
          </a:p>
          <a:p>
            <a:pPr>
              <a:lnSpc>
                <a:spcPct val="150000"/>
              </a:lnSpc>
            </a:pPr>
            <a:r>
              <a:rPr lang="en-US" sz="2700" b="1" dirty="0">
                <a:latin typeface="Calibir"/>
              </a:rPr>
              <a:t>Class Diagram</a:t>
            </a:r>
            <a:endParaRPr lang="en-US" sz="2700" dirty="0">
              <a:latin typeface="Calibir"/>
            </a:endParaRPr>
          </a:p>
          <a:p>
            <a:pPr marL="457200" indent="-457200">
              <a:lnSpc>
                <a:spcPct val="150000"/>
              </a:lnSpc>
              <a:buFont typeface="Wingdings" panose="05000000000000000000" pitchFamily="2" charset="2"/>
              <a:buChar char="ü"/>
            </a:pPr>
            <a:r>
              <a:rPr lang="en-US" sz="2700" dirty="0">
                <a:latin typeface="Calibir"/>
              </a:rPr>
              <a:t>Splitting responsibilities into Student, Subject, Admin, </a:t>
            </a:r>
            <a:r>
              <a:rPr lang="en-US" sz="2700" dirty="0" err="1">
                <a:latin typeface="Calibir"/>
              </a:rPr>
              <a:t>StudentRepository</a:t>
            </a:r>
            <a:r>
              <a:rPr lang="en-US" sz="2700" dirty="0">
                <a:latin typeface="Calibir"/>
              </a:rPr>
              <a:t>, Validator, </a:t>
            </a:r>
            <a:r>
              <a:rPr lang="en-US" sz="2700" dirty="0" err="1">
                <a:latin typeface="Calibir"/>
              </a:rPr>
              <a:t>IdGenerator</a:t>
            </a:r>
            <a:r>
              <a:rPr lang="en-US" sz="2700" dirty="0">
                <a:latin typeface="Calibir"/>
              </a:rPr>
              <a:t>, and </a:t>
            </a:r>
            <a:r>
              <a:rPr lang="en-US" sz="2700" dirty="0" err="1">
                <a:latin typeface="Calibir"/>
              </a:rPr>
              <a:t>GradeCalculator</a:t>
            </a:r>
            <a:r>
              <a:rPr lang="en-US" sz="2700" dirty="0">
                <a:latin typeface="Calibir"/>
              </a:rPr>
              <a:t> is well done.</a:t>
            </a:r>
          </a:p>
          <a:p>
            <a:pPr marL="457200" indent="-457200">
              <a:lnSpc>
                <a:spcPct val="150000"/>
              </a:lnSpc>
              <a:buFont typeface="Wingdings" panose="05000000000000000000" pitchFamily="2" charset="2"/>
              <a:buChar char="ü"/>
            </a:pPr>
            <a:r>
              <a:rPr lang="en-US" sz="2700" dirty="0">
                <a:latin typeface="Calibir"/>
              </a:rPr>
              <a:t>Associations and multiplicities (Student 1 → 0..4 Subjects) are correct.</a:t>
            </a:r>
          </a:p>
          <a:p>
            <a:pPr marL="457200" indent="-457200">
              <a:lnSpc>
                <a:spcPct val="150000"/>
              </a:lnSpc>
              <a:buFont typeface="Wingdings" panose="05000000000000000000" pitchFamily="2" charset="2"/>
              <a:buChar char="ü"/>
            </a:pPr>
            <a:r>
              <a:rPr lang="en-US" sz="2700" dirty="0">
                <a:latin typeface="Calibir"/>
              </a:rPr>
              <a:t>Including </a:t>
            </a:r>
            <a:r>
              <a:rPr lang="en-US" sz="2700" dirty="0" err="1">
                <a:latin typeface="Calibir"/>
              </a:rPr>
              <a:t>students.data</a:t>
            </a:r>
            <a:r>
              <a:rPr lang="en-US" sz="2700" dirty="0">
                <a:latin typeface="Calibir"/>
              </a:rPr>
              <a:t> as a file artifact is a nice touch.</a:t>
            </a:r>
          </a:p>
        </p:txBody>
      </p:sp>
    </p:spTree>
    <p:extLst>
      <p:ext uri="{BB962C8B-B14F-4D97-AF65-F5344CB8AC3E}">
        <p14:creationId xmlns:p14="http://schemas.microsoft.com/office/powerpoint/2010/main" val="22546948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794B3-F287-F96B-233F-1035C01FE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2A73D-A026-CDB1-20B2-133D89041A6E}"/>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CE5046D5-F965-342F-E263-830E7D3D2459}"/>
              </a:ext>
            </a:extLst>
          </p:cNvPr>
          <p:cNvSpPr txBox="1"/>
          <p:nvPr/>
        </p:nvSpPr>
        <p:spPr>
          <a:xfrm>
            <a:off x="0" y="657922"/>
            <a:ext cx="11965258" cy="3144130"/>
          </a:xfrm>
          <a:prstGeom prst="rect">
            <a:avLst/>
          </a:prstGeom>
          <a:noFill/>
        </p:spPr>
        <p:txBody>
          <a:bodyPr wrap="square">
            <a:spAutoFit/>
          </a:bodyPr>
          <a:lstStyle/>
          <a:p>
            <a:pPr marL="457200" indent="-457200">
              <a:lnSpc>
                <a:spcPct val="150000"/>
              </a:lnSpc>
              <a:buFont typeface="Wingdings" panose="05000000000000000000" pitchFamily="2" charset="2"/>
              <a:buChar char="§"/>
            </a:pPr>
            <a:r>
              <a:rPr lang="en-US" sz="2700" dirty="0">
                <a:latin typeface="Calibir"/>
              </a:rPr>
              <a:t>Small refinement: You could treat Validator, </a:t>
            </a:r>
            <a:r>
              <a:rPr lang="en-US" sz="2700" dirty="0" err="1">
                <a:latin typeface="Calibir"/>
              </a:rPr>
              <a:t>IdGenerator</a:t>
            </a:r>
            <a:r>
              <a:rPr lang="en-US" sz="2700" dirty="0">
                <a:latin typeface="Calibir"/>
              </a:rPr>
              <a:t>, and </a:t>
            </a:r>
            <a:r>
              <a:rPr lang="en-US" sz="2700" dirty="0" err="1">
                <a:latin typeface="Calibir"/>
              </a:rPr>
              <a:t>GradeCalculator</a:t>
            </a:r>
            <a:r>
              <a:rPr lang="en-US" sz="2700" dirty="0">
                <a:latin typeface="Calibir"/>
              </a:rPr>
              <a:t> as utility/service classes (static-style), but it is acceptable to show them as full classes as you have done.</a:t>
            </a:r>
          </a:p>
          <a:p>
            <a:pPr marL="457200" indent="-457200">
              <a:lnSpc>
                <a:spcPct val="150000"/>
              </a:lnSpc>
              <a:buFont typeface="Wingdings" panose="05000000000000000000" pitchFamily="2" charset="2"/>
              <a:buChar char="§"/>
            </a:pPr>
            <a:r>
              <a:rPr lang="en-US" sz="2700" dirty="0">
                <a:latin typeface="Calibir"/>
              </a:rPr>
              <a:t>Admin does not require attributes (like </a:t>
            </a:r>
            <a:r>
              <a:rPr lang="en-US" sz="2700" dirty="0" err="1">
                <a:latin typeface="Calibir"/>
              </a:rPr>
              <a:t>adminId</a:t>
            </a:r>
            <a:r>
              <a:rPr lang="en-US" sz="2700" dirty="0">
                <a:latin typeface="Calibir"/>
              </a:rPr>
              <a:t>) for this assignment — modelling it as a role/controller with only management functions is sufficient.</a:t>
            </a:r>
          </a:p>
        </p:txBody>
      </p:sp>
    </p:spTree>
    <p:extLst>
      <p:ext uri="{BB962C8B-B14F-4D97-AF65-F5344CB8AC3E}">
        <p14:creationId xmlns:p14="http://schemas.microsoft.com/office/powerpoint/2010/main" val="349230638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981AA-1054-68FE-5978-85EAB574F7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2EDA8-DA43-B9D5-8E22-95071021C4F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C9BD56BE-529E-2AEF-F439-E6F19D388D17}"/>
              </a:ext>
            </a:extLst>
          </p:cNvPr>
          <p:cNvSpPr txBox="1"/>
          <p:nvPr/>
        </p:nvSpPr>
        <p:spPr>
          <a:xfrm>
            <a:off x="0" y="657922"/>
            <a:ext cx="11965258" cy="5013873"/>
          </a:xfrm>
          <a:prstGeom prst="rect">
            <a:avLst/>
          </a:prstGeom>
          <a:noFill/>
        </p:spPr>
        <p:txBody>
          <a:bodyPr wrap="square">
            <a:spAutoFit/>
          </a:bodyPr>
          <a:lstStyle/>
          <a:p>
            <a:pPr>
              <a:lnSpc>
                <a:spcPct val="150000"/>
              </a:lnSpc>
            </a:pPr>
            <a:r>
              <a:rPr lang="en-US" sz="2700" b="1" dirty="0">
                <a:latin typeface="Calibir"/>
              </a:rPr>
              <a:t>General Feedback</a:t>
            </a:r>
            <a:endParaRPr lang="en-US" sz="2700" dirty="0">
              <a:latin typeface="Calibir"/>
            </a:endParaRPr>
          </a:p>
          <a:p>
            <a:pPr marL="457200" indent="-457200">
              <a:lnSpc>
                <a:spcPct val="150000"/>
              </a:lnSpc>
              <a:buFont typeface="Arial" panose="020B0604020202020204" pitchFamily="34" charset="0"/>
              <a:buChar char="•"/>
            </a:pPr>
            <a:r>
              <a:rPr lang="en-US" sz="2700" dirty="0">
                <a:latin typeface="Calibir"/>
              </a:rPr>
              <a:t>Your backlog, use case diagram, and class diagram are consistent, which is a key marking criterion.</a:t>
            </a:r>
          </a:p>
          <a:p>
            <a:pPr marL="457200" indent="-457200">
              <a:lnSpc>
                <a:spcPct val="150000"/>
              </a:lnSpc>
              <a:buFont typeface="Arial" panose="020B0604020202020204" pitchFamily="34" charset="0"/>
              <a:buChar char="•"/>
            </a:pPr>
            <a:r>
              <a:rPr lang="en-US" sz="2700" dirty="0">
                <a:latin typeface="Calibir"/>
              </a:rPr>
              <a:t>Your report structure is clear, and your system rules align with the Part 1 brief (email, password, ID formats, enrolment cap, mark ranges, grade bands, PASS/FAIL rule).</a:t>
            </a:r>
          </a:p>
          <a:p>
            <a:pPr marL="457200" indent="-457200">
              <a:lnSpc>
                <a:spcPct val="150000"/>
              </a:lnSpc>
              <a:buFont typeface="Arial" panose="020B0604020202020204" pitchFamily="34" charset="0"/>
              <a:buChar char="•"/>
            </a:pPr>
            <a:r>
              <a:rPr lang="en-US" sz="2700" dirty="0">
                <a:latin typeface="Calibir"/>
              </a:rPr>
              <a:t>At this stage, no major corrections are required — only minor refinements for naming consistency and clarity.</a:t>
            </a:r>
          </a:p>
        </p:txBody>
      </p:sp>
    </p:spTree>
    <p:extLst>
      <p:ext uri="{BB962C8B-B14F-4D97-AF65-F5344CB8AC3E}">
        <p14:creationId xmlns:p14="http://schemas.microsoft.com/office/powerpoint/2010/main" val="421557840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8AA6-9BCA-5089-1FF6-F056F30678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C4C9CD-1410-26DF-3965-F93CF640303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Sample Diagrams &amp; Feedback</a:t>
            </a:r>
            <a:endParaRPr lang="en-AU" sz="4000" b="1" dirty="0">
              <a:latin typeface="Calibir"/>
            </a:endParaRPr>
          </a:p>
        </p:txBody>
      </p:sp>
      <p:sp>
        <p:nvSpPr>
          <p:cNvPr id="4" name="TextBox 3">
            <a:extLst>
              <a:ext uri="{FF2B5EF4-FFF2-40B4-BE49-F238E27FC236}">
                <a16:creationId xmlns:a16="http://schemas.microsoft.com/office/drawing/2014/main" id="{E15FE1BD-1217-AB73-1524-8D0D5511DCEF}"/>
              </a:ext>
            </a:extLst>
          </p:cNvPr>
          <p:cNvSpPr txBox="1"/>
          <p:nvPr/>
        </p:nvSpPr>
        <p:spPr>
          <a:xfrm>
            <a:off x="0" y="657922"/>
            <a:ext cx="11965258" cy="2520883"/>
          </a:xfrm>
          <a:prstGeom prst="rect">
            <a:avLst/>
          </a:prstGeom>
          <a:noFill/>
        </p:spPr>
        <p:txBody>
          <a:bodyPr wrap="square">
            <a:spAutoFit/>
          </a:bodyPr>
          <a:lstStyle/>
          <a:p>
            <a:pPr>
              <a:lnSpc>
                <a:spcPct val="150000"/>
              </a:lnSpc>
            </a:pPr>
            <a:r>
              <a:rPr lang="en-US" sz="2700" dirty="0">
                <a:latin typeface="Calibir"/>
              </a:rPr>
              <a:t>You are progressing very well — if you keep the consistency between backlog → use case → class diagram, your submission will meet the assessment requirements.</a:t>
            </a:r>
          </a:p>
          <a:p>
            <a:pPr>
              <a:lnSpc>
                <a:spcPct val="150000"/>
              </a:lnSpc>
            </a:pPr>
            <a:r>
              <a:rPr lang="en-US" sz="2700" dirty="0">
                <a:latin typeface="Calibir"/>
              </a:rPr>
              <a:t>Best regards,</a:t>
            </a:r>
            <a:br>
              <a:rPr lang="en-US" sz="2700" dirty="0">
                <a:latin typeface="Calibir"/>
              </a:rPr>
            </a:br>
            <a:r>
              <a:rPr lang="en-US" sz="2700" dirty="0">
                <a:latin typeface="Calibir"/>
              </a:rPr>
              <a:t>Dr. Farshid Keivanian</a:t>
            </a:r>
          </a:p>
        </p:txBody>
      </p:sp>
    </p:spTree>
    <p:extLst>
      <p:ext uri="{BB962C8B-B14F-4D97-AF65-F5344CB8AC3E}">
        <p14:creationId xmlns:p14="http://schemas.microsoft.com/office/powerpoint/2010/main" val="8831108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7EB39-647C-51CC-6FA4-633C3CF891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DB8CA-0A10-109B-32BB-37157BAD4E47}"/>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99FF10C-270C-EBE5-6C64-1F2A0C31CE71}"/>
              </a:ext>
            </a:extLst>
          </p:cNvPr>
          <p:cNvSpPr txBox="1"/>
          <p:nvPr/>
        </p:nvSpPr>
        <p:spPr>
          <a:xfrm>
            <a:off x="0" y="698901"/>
            <a:ext cx="11965258" cy="4549835"/>
          </a:xfrm>
          <a:prstGeom prst="rect">
            <a:avLst/>
          </a:prstGeom>
          <a:noFill/>
        </p:spPr>
        <p:txBody>
          <a:bodyPr wrap="square">
            <a:spAutoFit/>
          </a:bodyPr>
          <a:lstStyle/>
          <a:p>
            <a:pPr fontAlgn="base">
              <a:lnSpc>
                <a:spcPct val="150000"/>
              </a:lnSpc>
            </a:pPr>
            <a:r>
              <a:rPr lang="en-US" sz="2800" dirty="0">
                <a:latin typeface="Calibir"/>
              </a:rPr>
              <a:t>Dear Dr. Keivanian,</a:t>
            </a:r>
          </a:p>
          <a:p>
            <a:pPr fontAlgn="base">
              <a:lnSpc>
                <a:spcPct val="150000"/>
              </a:lnSpc>
            </a:pPr>
            <a:r>
              <a:rPr lang="en-US" sz="2800" dirty="0">
                <a:latin typeface="Calibir"/>
              </a:rPr>
              <a:t>We are Group #... – Tuesday 4 PM (Cmp1-01) in [32555 Fundamentals of Software Development]. </a:t>
            </a:r>
          </a:p>
          <a:p>
            <a:pPr fontAlgn="base">
              <a:lnSpc>
                <a:spcPct val="150000"/>
              </a:lnSpc>
            </a:pPr>
            <a:r>
              <a:rPr lang="en-US" sz="2800" dirty="0">
                <a:latin typeface="Calibir"/>
              </a:rPr>
              <a:t>we are aligning our class diagram design with the five classes shown in your “Week 5 – Preparation for Group Assignment” slide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We have a few questions. </a:t>
            </a:r>
          </a:p>
          <a:p>
            <a:pPr fontAlgn="base">
              <a:lnSpc>
                <a:spcPct val="150000"/>
              </a:lnSpc>
            </a:pPr>
            <a:r>
              <a:rPr lang="en-US" sz="2800" dirty="0">
                <a:latin typeface="Calibir"/>
              </a:rPr>
              <a:t>This is our class diagram draft, </a:t>
            </a:r>
          </a:p>
        </p:txBody>
      </p:sp>
    </p:spTree>
    <p:extLst>
      <p:ext uri="{BB962C8B-B14F-4D97-AF65-F5344CB8AC3E}">
        <p14:creationId xmlns:p14="http://schemas.microsoft.com/office/powerpoint/2010/main" val="42865252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17E7D-04E2-0A87-C7B8-371DCF048D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79101-9018-E237-2CE7-FE5C9C102379}"/>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276C765-27D3-EB9D-EB74-46CA282BDD80}"/>
              </a:ext>
            </a:extLst>
          </p:cNvPr>
          <p:cNvSpPr txBox="1"/>
          <p:nvPr/>
        </p:nvSpPr>
        <p:spPr>
          <a:xfrm>
            <a:off x="0" y="698901"/>
            <a:ext cx="11965258" cy="5693866"/>
          </a:xfrm>
          <a:prstGeom prst="rect">
            <a:avLst/>
          </a:prstGeom>
          <a:noFill/>
        </p:spPr>
        <p:txBody>
          <a:bodyPr wrap="square">
            <a:spAutoFit/>
          </a:bodyPr>
          <a:lstStyle/>
          <a:p>
            <a:pPr fontAlgn="base"/>
            <a:r>
              <a:rPr lang="en-US" sz="2600" b="1" dirty="0">
                <a:latin typeface="Calibir"/>
              </a:rPr>
              <a:t>Question 1</a:t>
            </a:r>
          </a:p>
          <a:p>
            <a:pPr fontAlgn="base"/>
            <a:r>
              <a:rPr lang="en-US" sz="2600" dirty="0">
                <a:latin typeface="Calibir"/>
              </a:rPr>
              <a:t>Should </a:t>
            </a:r>
            <a:r>
              <a:rPr lang="en-US" sz="2600" dirty="0" err="1">
                <a:latin typeface="Calibir"/>
              </a:rPr>
              <a:t>changePassword</a:t>
            </a:r>
            <a:r>
              <a:rPr lang="en-US" sz="2600" dirty="0">
                <a:latin typeface="Calibir"/>
              </a:rPr>
              <a:t> method live in Student (self-management of credentials) or in </a:t>
            </a:r>
            <a:r>
              <a:rPr lang="en-US" sz="2600" dirty="0" err="1">
                <a:latin typeface="Calibir"/>
              </a:rPr>
              <a:t>AuthService</a:t>
            </a:r>
            <a:r>
              <a:rPr lang="en-US" sz="2600" dirty="0">
                <a:latin typeface="Calibir"/>
              </a:rPr>
              <a:t> (relates to security concern)? Would placing it in both classes be acceptable, or is that redundant for this assignment?</a:t>
            </a:r>
          </a:p>
          <a:p>
            <a:pPr fontAlgn="base"/>
            <a:endParaRPr lang="en-US" sz="2600" dirty="0">
              <a:latin typeface="Calibir"/>
            </a:endParaRPr>
          </a:p>
          <a:p>
            <a:pPr fontAlgn="base"/>
            <a:r>
              <a:rPr lang="en-US" sz="2600" b="1" dirty="0">
                <a:latin typeface="Calibir"/>
              </a:rPr>
              <a:t>Question 2</a:t>
            </a:r>
            <a:br>
              <a:rPr lang="en-US" sz="2600" dirty="0">
                <a:latin typeface="Calibir"/>
              </a:rPr>
            </a:br>
            <a:r>
              <a:rPr lang="en-US" sz="2600" dirty="0">
                <a:latin typeface="Calibir"/>
              </a:rPr>
              <a:t>marks and grades seem to belong to the Student–Subject relationship. would it be acceptable to make an association class (such as Enrolment) to model this relationship? Or should we keep the mark and grade attributes inside the Subject class?</a:t>
            </a:r>
          </a:p>
          <a:p>
            <a:pPr fontAlgn="base"/>
            <a:endParaRPr lang="en-US" sz="2600" dirty="0">
              <a:latin typeface="Calibir"/>
            </a:endParaRPr>
          </a:p>
          <a:p>
            <a:pPr fontAlgn="base"/>
            <a:r>
              <a:rPr lang="en-US" sz="2600" b="1" dirty="0">
                <a:latin typeface="Calibir"/>
              </a:rPr>
              <a:t>Question 3</a:t>
            </a:r>
            <a:br>
              <a:rPr lang="en-US" sz="2600" dirty="0">
                <a:latin typeface="Calibir"/>
              </a:rPr>
            </a:br>
            <a:r>
              <a:rPr lang="en-US" sz="2600" dirty="0">
                <a:latin typeface="Calibir"/>
              </a:rPr>
              <a:t>And also, some examples add a separate utility class to centralize </a:t>
            </a:r>
            <a:r>
              <a:rPr lang="en-US" sz="2600" dirty="0" err="1">
                <a:latin typeface="Calibir"/>
              </a:rPr>
              <a:t>validateEmail</a:t>
            </a:r>
            <a:r>
              <a:rPr lang="en-US" sz="2600" dirty="0">
                <a:latin typeface="Calibir"/>
              </a:rPr>
              <a:t>, </a:t>
            </a:r>
            <a:r>
              <a:rPr lang="en-US" sz="2600" dirty="0" err="1">
                <a:latin typeface="Calibir"/>
              </a:rPr>
              <a:t>validatePassword</a:t>
            </a:r>
            <a:r>
              <a:rPr lang="en-US" sz="2600" dirty="0">
                <a:latin typeface="Calibir"/>
              </a:rPr>
              <a:t>, and </a:t>
            </a:r>
            <a:r>
              <a:rPr lang="en-US" sz="2600" dirty="0" err="1">
                <a:latin typeface="Calibir"/>
              </a:rPr>
              <a:t>generateStudentId</a:t>
            </a:r>
            <a:r>
              <a:rPr lang="en-US" sz="2600" dirty="0">
                <a:latin typeface="Calibir"/>
              </a:rPr>
              <a:t>. Would adding such a class be appropriate, or would you prefer we keep these functions inside the existing five classes?</a:t>
            </a:r>
          </a:p>
        </p:txBody>
      </p:sp>
    </p:spTree>
    <p:extLst>
      <p:ext uri="{BB962C8B-B14F-4D97-AF65-F5344CB8AC3E}">
        <p14:creationId xmlns:p14="http://schemas.microsoft.com/office/powerpoint/2010/main" val="34670567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C2445-1FAA-86BA-1E4A-4B37829E0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90FF3E-29FF-E268-430C-355E06A71EC1}"/>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575B5670-0575-924B-24D7-AB5BCA840045}"/>
              </a:ext>
            </a:extLst>
          </p:cNvPr>
          <p:cNvSpPr txBox="1"/>
          <p:nvPr/>
        </p:nvSpPr>
        <p:spPr>
          <a:xfrm>
            <a:off x="0" y="698901"/>
            <a:ext cx="11965258" cy="4832092"/>
          </a:xfrm>
          <a:prstGeom prst="rect">
            <a:avLst/>
          </a:prstGeom>
          <a:noFill/>
        </p:spPr>
        <p:txBody>
          <a:bodyPr wrap="square">
            <a:spAutoFit/>
          </a:bodyPr>
          <a:lstStyle/>
          <a:p>
            <a:pPr fontAlgn="base"/>
            <a:r>
              <a:rPr lang="en-US" sz="2800" b="1" dirty="0">
                <a:latin typeface="Calibir"/>
              </a:rPr>
              <a:t>Question 4</a:t>
            </a:r>
          </a:p>
          <a:p>
            <a:pPr fontAlgn="base"/>
            <a:r>
              <a:rPr lang="en-US" sz="2800" dirty="0">
                <a:latin typeface="Calibir"/>
              </a:rPr>
              <a:t>For Admin class, should we include attributes such as </a:t>
            </a:r>
            <a:r>
              <a:rPr lang="en-US" sz="2800" dirty="0" err="1">
                <a:latin typeface="Calibir"/>
              </a:rPr>
              <a:t>adminId</a:t>
            </a:r>
            <a:r>
              <a:rPr lang="en-US" sz="2800" dirty="0">
                <a:latin typeface="Calibir"/>
              </a:rPr>
              <a:t> or name, email (treating Admin as a real user), or is it sufficient for Admin to expose only management functions (e.g., list students, delete student, view grades)? I’m not entirely sure, but in a previous lab (Bank System), I didn’t model an Admin login, so I wanted to clarify it. </a:t>
            </a:r>
          </a:p>
          <a:p>
            <a:pPr fontAlgn="base"/>
            <a:br>
              <a:rPr lang="en-US" sz="2800" dirty="0">
                <a:latin typeface="Calibir"/>
              </a:rPr>
            </a:br>
            <a:endParaRPr lang="en-US" sz="2800" dirty="0">
              <a:latin typeface="Calibir"/>
            </a:endParaRPr>
          </a:p>
          <a:p>
            <a:pPr fontAlgn="base"/>
            <a:r>
              <a:rPr lang="en-US" sz="2800" dirty="0">
                <a:latin typeface="Calibir"/>
              </a:rPr>
              <a:t>Since this is our first time working on analysis and design of development process, we may find some parts challenging and might make a few mistakes along the way. We kindly ask for your understanding. Thank you so much!</a:t>
            </a:r>
          </a:p>
        </p:txBody>
      </p:sp>
    </p:spTree>
    <p:extLst>
      <p:ext uri="{BB962C8B-B14F-4D97-AF65-F5344CB8AC3E}">
        <p14:creationId xmlns:p14="http://schemas.microsoft.com/office/powerpoint/2010/main" val="9547449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0A396-315C-F901-2727-6F72CDE71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DDA5E0-D463-B995-6F15-F3019048212F}"/>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28DC90F1-E324-3D49-A590-731B1BFAB77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dirty="0">
                <a:latin typeface="Calibir"/>
              </a:rPr>
              <a:t>Dear students,</a:t>
            </a:r>
          </a:p>
          <a:p>
            <a:pPr>
              <a:lnSpc>
                <a:spcPct val="150000"/>
              </a:lnSpc>
            </a:pPr>
            <a:r>
              <a:rPr lang="en-US" sz="2800" dirty="0">
                <a:latin typeface="Calibir"/>
              </a:rPr>
              <a:t>Thank you for sharing your thoughtful draft and questions. It’s great to see your group working carefully on the design. Please find clarifications below:</a:t>
            </a:r>
          </a:p>
          <a:p>
            <a:pPr>
              <a:lnSpc>
                <a:spcPct val="150000"/>
              </a:lnSpc>
            </a:pPr>
            <a:r>
              <a:rPr lang="en-US" sz="2800" b="1" dirty="0">
                <a:latin typeface="Calibir"/>
              </a:rPr>
              <a:t>Q1. </a:t>
            </a:r>
            <a:r>
              <a:rPr lang="en-US" sz="2800" b="1" dirty="0" err="1">
                <a:latin typeface="Calibir"/>
              </a:rPr>
              <a:t>changePassword</a:t>
            </a:r>
            <a:r>
              <a:rPr lang="en-US" sz="2800" b="1" dirty="0">
                <a:latin typeface="Calibir"/>
              </a:rPr>
              <a:t> – Student vs </a:t>
            </a:r>
            <a:r>
              <a:rPr lang="en-US" sz="2800" b="1" dirty="0" err="1">
                <a:latin typeface="Calibir"/>
              </a:rPr>
              <a:t>AuthService</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For this assignment, it is acceptable to place </a:t>
            </a:r>
            <a:r>
              <a:rPr lang="en-US" sz="2800" dirty="0" err="1">
                <a:latin typeface="Calibir"/>
              </a:rPr>
              <a:t>changePassword</a:t>
            </a:r>
            <a:r>
              <a:rPr lang="en-US" sz="2800" dirty="0">
                <a:latin typeface="Calibir"/>
              </a:rPr>
              <a:t> inside </a:t>
            </a:r>
            <a:r>
              <a:rPr lang="en-US" sz="2800" dirty="0" err="1">
                <a:latin typeface="Calibir"/>
              </a:rPr>
              <a:t>AuthService</a:t>
            </a:r>
            <a:r>
              <a:rPr lang="en-US" sz="2800" dirty="0">
                <a:latin typeface="Calibir"/>
              </a:rPr>
              <a:t>, since it relates to authentication/security logic.</a:t>
            </a:r>
          </a:p>
          <a:p>
            <a:pPr marL="811213" indent="-457200">
              <a:lnSpc>
                <a:spcPct val="150000"/>
              </a:lnSpc>
              <a:buFont typeface="Arial" panose="020B0604020202020204" pitchFamily="34" charset="0"/>
              <a:buChar char="•"/>
            </a:pPr>
            <a:r>
              <a:rPr lang="en-US" sz="2800" dirty="0">
                <a:latin typeface="Calibir"/>
              </a:rPr>
              <a:t>If you also show it inside Student as a self-operation, that may be seen as redundant. To keep your diagram clean and consistent, I recommend placing it in </a:t>
            </a:r>
            <a:r>
              <a:rPr lang="en-US" sz="2800" dirty="0" err="1">
                <a:latin typeface="Calibir"/>
              </a:rPr>
              <a:t>AuthService</a:t>
            </a:r>
            <a:r>
              <a:rPr lang="en-US" sz="2800" dirty="0">
                <a:latin typeface="Calibir"/>
              </a:rPr>
              <a:t> only.</a:t>
            </a:r>
          </a:p>
        </p:txBody>
      </p:sp>
    </p:spTree>
    <p:extLst>
      <p:ext uri="{BB962C8B-B14F-4D97-AF65-F5344CB8AC3E}">
        <p14:creationId xmlns:p14="http://schemas.microsoft.com/office/powerpoint/2010/main" val="71749071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AB2A0-0EC8-D457-BB6A-C972C7723E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59B5F-154F-22B2-95C4-FAF8F0724E9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603B4D15-04CF-4FA8-33AE-E183BDC612EF}"/>
              </a:ext>
            </a:extLst>
          </p:cNvPr>
          <p:cNvSpPr txBox="1"/>
          <p:nvPr/>
        </p:nvSpPr>
        <p:spPr>
          <a:xfrm>
            <a:off x="0" y="698901"/>
            <a:ext cx="11965258" cy="5196166"/>
          </a:xfrm>
          <a:prstGeom prst="rect">
            <a:avLst/>
          </a:prstGeom>
          <a:noFill/>
        </p:spPr>
        <p:txBody>
          <a:bodyPr wrap="square">
            <a:spAutoFit/>
          </a:bodyPr>
          <a:lstStyle/>
          <a:p>
            <a:pPr>
              <a:lnSpc>
                <a:spcPct val="150000"/>
              </a:lnSpc>
            </a:pPr>
            <a:r>
              <a:rPr lang="en-US" sz="2800" b="1" dirty="0">
                <a:latin typeface="Calibir"/>
              </a:rPr>
              <a:t>Q2. Marks/Grades – association class vs Subject</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You are right: marks and grades belong to the enrolment relationship (Student ↔ Subject), not inside Subject itself.</a:t>
            </a:r>
          </a:p>
          <a:p>
            <a:pPr marL="722313" indent="-457200">
              <a:lnSpc>
                <a:spcPct val="150000"/>
              </a:lnSpc>
              <a:buFont typeface="Arial" panose="020B0604020202020204" pitchFamily="34" charset="0"/>
              <a:buChar char="•"/>
            </a:pPr>
            <a:r>
              <a:rPr lang="en-US" sz="2800" dirty="0">
                <a:latin typeface="Calibir"/>
              </a:rPr>
              <a:t>If you want to be precise, you may introduce an association class (Enrolment) that holds mark and grade.</a:t>
            </a:r>
          </a:p>
          <a:p>
            <a:pPr marL="722313" indent="-457200">
              <a:lnSpc>
                <a:spcPct val="150000"/>
              </a:lnSpc>
              <a:buFont typeface="Arial" panose="020B0604020202020204" pitchFamily="34" charset="0"/>
              <a:buChar char="•"/>
            </a:pPr>
            <a:r>
              <a:rPr lang="en-US" sz="2800" dirty="0">
                <a:latin typeface="Calibir"/>
              </a:rPr>
              <a:t>Alternatively, you can store them as part of the Student’s enrolment map (Student → Subject + mark/grade). Either is acceptable, but avoid putting mark and grade directly inside Subject.</a:t>
            </a:r>
          </a:p>
        </p:txBody>
      </p:sp>
    </p:spTree>
    <p:extLst>
      <p:ext uri="{BB962C8B-B14F-4D97-AF65-F5344CB8AC3E}">
        <p14:creationId xmlns:p14="http://schemas.microsoft.com/office/powerpoint/2010/main" val="33040950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AE097-8458-0152-E321-43607158C8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4AB6E1-A50B-70E5-A660-DFC181A8EB35}"/>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EC9C598A-96D1-82F7-F717-5AED505E82CE}"/>
              </a:ext>
            </a:extLst>
          </p:cNvPr>
          <p:cNvSpPr txBox="1"/>
          <p:nvPr/>
        </p:nvSpPr>
        <p:spPr>
          <a:xfrm>
            <a:off x="0" y="698901"/>
            <a:ext cx="11965258" cy="5842497"/>
          </a:xfrm>
          <a:prstGeom prst="rect">
            <a:avLst/>
          </a:prstGeom>
          <a:noFill/>
        </p:spPr>
        <p:txBody>
          <a:bodyPr wrap="square">
            <a:spAutoFit/>
          </a:bodyPr>
          <a:lstStyle/>
          <a:p>
            <a:pPr>
              <a:lnSpc>
                <a:spcPct val="150000"/>
              </a:lnSpc>
            </a:pPr>
            <a:r>
              <a:rPr lang="en-US" sz="2800" b="1" dirty="0">
                <a:latin typeface="Calibir"/>
              </a:rPr>
              <a:t>Q3. Utility class for validation/ID generation</a:t>
            </a:r>
            <a:endParaRPr lang="en-US" sz="2800" dirty="0">
              <a:latin typeface="Calibir"/>
            </a:endParaRPr>
          </a:p>
          <a:p>
            <a:pPr marL="722313" indent="-457200">
              <a:lnSpc>
                <a:spcPct val="150000"/>
              </a:lnSpc>
              <a:buFont typeface="Arial" panose="020B0604020202020204" pitchFamily="34" charset="0"/>
              <a:buChar char="•"/>
            </a:pPr>
            <a:r>
              <a:rPr lang="en-US" sz="2800" dirty="0">
                <a:latin typeface="Calibir"/>
              </a:rPr>
              <a:t>Adding a utility/helper class (e.g., Validator or </a:t>
            </a:r>
            <a:r>
              <a:rPr lang="en-US" sz="2800" dirty="0" err="1">
                <a:latin typeface="Calibir"/>
              </a:rPr>
              <a:t>IdGenerator</a:t>
            </a:r>
            <a:r>
              <a:rPr lang="en-US" sz="2800" dirty="0">
                <a:latin typeface="Calibir"/>
              </a:rPr>
              <a:t>) is fine in real-world systems.</a:t>
            </a:r>
          </a:p>
          <a:p>
            <a:pPr marL="722313" indent="-457200">
              <a:lnSpc>
                <a:spcPct val="150000"/>
              </a:lnSpc>
              <a:buFont typeface="Arial" panose="020B0604020202020204" pitchFamily="34" charset="0"/>
              <a:buChar char="•"/>
            </a:pPr>
            <a:r>
              <a:rPr lang="en-US" sz="2800" dirty="0">
                <a:latin typeface="Calibir"/>
              </a:rPr>
              <a:t>For this assignment, it is simpler to keep </a:t>
            </a:r>
            <a:r>
              <a:rPr lang="en-US" sz="2800" dirty="0" err="1">
                <a:latin typeface="Calibir"/>
              </a:rPr>
              <a:t>validateEmail</a:t>
            </a:r>
            <a:r>
              <a:rPr lang="en-US" sz="2800" dirty="0">
                <a:latin typeface="Calibir"/>
              </a:rPr>
              <a:t>, </a:t>
            </a:r>
            <a:r>
              <a:rPr lang="en-US" sz="2800" dirty="0" err="1">
                <a:latin typeface="Calibir"/>
              </a:rPr>
              <a:t>validatePassword</a:t>
            </a:r>
            <a:r>
              <a:rPr lang="en-US" sz="2800" dirty="0">
                <a:latin typeface="Calibir"/>
              </a:rPr>
              <a:t>, and </a:t>
            </a:r>
            <a:r>
              <a:rPr lang="en-US" sz="2800" dirty="0" err="1">
                <a:latin typeface="Calibir"/>
              </a:rPr>
              <a:t>generateStudentId</a:t>
            </a:r>
            <a:r>
              <a:rPr lang="en-US" sz="2800" dirty="0">
                <a:latin typeface="Calibir"/>
              </a:rPr>
              <a:t> inside </a:t>
            </a:r>
            <a:r>
              <a:rPr lang="en-US" sz="2800" dirty="0" err="1">
                <a:latin typeface="Calibir"/>
              </a:rPr>
              <a:t>AuthService</a:t>
            </a:r>
            <a:r>
              <a:rPr lang="en-US" sz="2800" dirty="0">
                <a:latin typeface="Calibir"/>
              </a:rPr>
              <a:t> (since that class already handles registration/login).</a:t>
            </a:r>
          </a:p>
          <a:p>
            <a:pPr marL="722313" indent="-457200">
              <a:lnSpc>
                <a:spcPct val="150000"/>
              </a:lnSpc>
              <a:buFont typeface="Arial" panose="020B0604020202020204" pitchFamily="34" charset="0"/>
              <a:buChar char="•"/>
            </a:pPr>
            <a:r>
              <a:rPr lang="en-US" sz="2800" dirty="0">
                <a:latin typeface="Calibir"/>
              </a:rPr>
              <a:t>You don’t lose marks either way, but sticking to the 5 main 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 keeps your diagram consistent with the brief.</a:t>
            </a:r>
          </a:p>
        </p:txBody>
      </p:sp>
    </p:spTree>
    <p:extLst>
      <p:ext uri="{BB962C8B-B14F-4D97-AF65-F5344CB8AC3E}">
        <p14:creationId xmlns:p14="http://schemas.microsoft.com/office/powerpoint/2010/main" val="207873932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0EA14-94D3-881E-FF01-C2B8B2332D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3ECD1-F3AA-F1FC-D4A0-F625EF797E28}"/>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9870D00E-37AE-053D-0D41-FDE96AD3FE13}"/>
              </a:ext>
            </a:extLst>
          </p:cNvPr>
          <p:cNvSpPr txBox="1"/>
          <p:nvPr/>
        </p:nvSpPr>
        <p:spPr>
          <a:xfrm>
            <a:off x="0" y="698901"/>
            <a:ext cx="11965258" cy="4549835"/>
          </a:xfrm>
          <a:prstGeom prst="rect">
            <a:avLst/>
          </a:prstGeom>
          <a:noFill/>
        </p:spPr>
        <p:txBody>
          <a:bodyPr wrap="square">
            <a:spAutoFit/>
          </a:bodyPr>
          <a:lstStyle/>
          <a:p>
            <a:pPr>
              <a:lnSpc>
                <a:spcPct val="150000"/>
              </a:lnSpc>
            </a:pPr>
            <a:r>
              <a:rPr lang="en-US" sz="2800" b="1" dirty="0">
                <a:latin typeface="Calibir"/>
              </a:rPr>
              <a:t>Q4. Admin class attributes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In this assignment, Admins don’t need registration or login (they are predefined).</a:t>
            </a:r>
          </a:p>
          <a:p>
            <a:pPr marL="811213" indent="-457200">
              <a:lnSpc>
                <a:spcPct val="150000"/>
              </a:lnSpc>
              <a:buFont typeface="Arial" panose="020B0604020202020204" pitchFamily="34" charset="0"/>
              <a:buChar char="•"/>
            </a:pPr>
            <a:r>
              <a:rPr lang="en-US" sz="2800" dirty="0">
                <a:latin typeface="Calibir"/>
              </a:rPr>
              <a:t>So you don’t need to add </a:t>
            </a:r>
            <a:r>
              <a:rPr lang="en-US" sz="2800" dirty="0" err="1">
                <a:latin typeface="Calibir"/>
              </a:rPr>
              <a:t>adminId</a:t>
            </a:r>
            <a:r>
              <a:rPr lang="en-US" sz="2800" dirty="0">
                <a:latin typeface="Calibir"/>
              </a:rPr>
              <a:t>, email, or password as attributes.</a:t>
            </a:r>
          </a:p>
          <a:p>
            <a:pPr marL="811213" indent="-457200">
              <a:lnSpc>
                <a:spcPct val="150000"/>
              </a:lnSpc>
              <a:buFont typeface="Arial" panose="020B0604020202020204" pitchFamily="34" charset="0"/>
              <a:buChar char="•"/>
            </a:pPr>
            <a:r>
              <a:rPr lang="en-US" sz="2800" dirty="0">
                <a:latin typeface="Calibir"/>
              </a:rPr>
              <a:t>It is sufficient for Admin to only expose the required management operations (</a:t>
            </a:r>
            <a:r>
              <a:rPr lang="en-US" sz="2800" dirty="0" err="1">
                <a:latin typeface="Calibir"/>
              </a:rPr>
              <a:t>listStudents</a:t>
            </a:r>
            <a:r>
              <a:rPr lang="en-US" sz="2800" dirty="0">
                <a:latin typeface="Calibir"/>
              </a:rPr>
              <a:t>, </a:t>
            </a:r>
            <a:r>
              <a:rPr lang="en-US" sz="2800" dirty="0" err="1">
                <a:latin typeface="Calibir"/>
              </a:rPr>
              <a:t>deleteStudent</a:t>
            </a:r>
            <a:r>
              <a:rPr lang="en-US" sz="2800" dirty="0">
                <a:latin typeface="Calibir"/>
              </a:rPr>
              <a:t>, </a:t>
            </a:r>
            <a:r>
              <a:rPr lang="en-US" sz="2800" dirty="0" err="1">
                <a:latin typeface="Calibir"/>
              </a:rPr>
              <a:t>viewGrades</a:t>
            </a:r>
            <a:r>
              <a:rPr lang="en-US" sz="2800" dirty="0">
                <a:latin typeface="Calibir"/>
              </a:rPr>
              <a:t>, </a:t>
            </a:r>
            <a:r>
              <a:rPr lang="en-US" sz="2800" dirty="0" err="1">
                <a:latin typeface="Calibir"/>
              </a:rPr>
              <a:t>clearData</a:t>
            </a:r>
            <a:r>
              <a:rPr lang="en-US" sz="2800" dirty="0">
                <a:latin typeface="Calibir"/>
              </a:rPr>
              <a:t>, etc.).</a:t>
            </a:r>
          </a:p>
          <a:p>
            <a:pPr marL="811213" indent="-457200">
              <a:lnSpc>
                <a:spcPct val="150000"/>
              </a:lnSpc>
              <a:buFont typeface="Arial" panose="020B0604020202020204" pitchFamily="34" charset="0"/>
              <a:buChar char="•"/>
            </a:pPr>
            <a:r>
              <a:rPr lang="en-US" sz="2800" dirty="0">
                <a:latin typeface="Calibir"/>
              </a:rPr>
              <a:t>Treat Admin as a role/facade, not as a full user entity like Student.</a:t>
            </a:r>
          </a:p>
        </p:txBody>
      </p:sp>
    </p:spTree>
    <p:extLst>
      <p:ext uri="{BB962C8B-B14F-4D97-AF65-F5344CB8AC3E}">
        <p14:creationId xmlns:p14="http://schemas.microsoft.com/office/powerpoint/2010/main" val="41267339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9C744-FF10-B75E-1E49-F799D5775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28C437-AD62-03A5-C747-55C8B7A06463}"/>
              </a:ext>
            </a:extLst>
          </p:cNvPr>
          <p:cNvSpPr>
            <a:spLocks noGrp="1"/>
          </p:cNvSpPr>
          <p:nvPr>
            <p:ph type="title"/>
          </p:nvPr>
        </p:nvSpPr>
        <p:spPr>
          <a:xfrm>
            <a:off x="0" y="0"/>
            <a:ext cx="12192000" cy="657922"/>
          </a:xfrm>
        </p:spPr>
        <p:txBody>
          <a:bodyPr anchor="b">
            <a:normAutofit/>
          </a:bodyPr>
          <a:lstStyle/>
          <a:p>
            <a:r>
              <a:rPr lang="en-US" sz="4000" dirty="0">
                <a:latin typeface="Calibir"/>
              </a:rPr>
              <a:t>Assignment 1 – Part 1: Class Diagram Design Clarifications</a:t>
            </a:r>
            <a:endParaRPr lang="en-AU" sz="4000" b="1" dirty="0">
              <a:latin typeface="Calibir"/>
            </a:endParaRPr>
          </a:p>
        </p:txBody>
      </p:sp>
      <p:sp>
        <p:nvSpPr>
          <p:cNvPr id="4" name="TextBox 3">
            <a:extLst>
              <a:ext uri="{FF2B5EF4-FFF2-40B4-BE49-F238E27FC236}">
                <a16:creationId xmlns:a16="http://schemas.microsoft.com/office/drawing/2014/main" id="{C702D0F0-6969-432C-1505-36B49689BFBF}"/>
              </a:ext>
            </a:extLst>
          </p:cNvPr>
          <p:cNvSpPr txBox="1"/>
          <p:nvPr/>
        </p:nvSpPr>
        <p:spPr>
          <a:xfrm>
            <a:off x="0" y="521920"/>
            <a:ext cx="11965258" cy="6488828"/>
          </a:xfrm>
          <a:prstGeom prst="rect">
            <a:avLst/>
          </a:prstGeom>
          <a:noFill/>
        </p:spPr>
        <p:txBody>
          <a:bodyPr wrap="square">
            <a:spAutoFit/>
          </a:bodyPr>
          <a:lstStyle/>
          <a:p>
            <a:pPr>
              <a:lnSpc>
                <a:spcPct val="150000"/>
              </a:lnSpc>
            </a:pPr>
            <a:r>
              <a:rPr lang="en-US" sz="2800" b="1" dirty="0">
                <a:latin typeface="Calibir"/>
              </a:rPr>
              <a:t>Key takeaway:</a:t>
            </a:r>
            <a:br>
              <a:rPr lang="en-US" sz="2800" dirty="0">
                <a:latin typeface="Calibir"/>
              </a:rPr>
            </a:br>
            <a:r>
              <a:rPr lang="en-US" sz="2800" dirty="0">
                <a:latin typeface="Calibir"/>
              </a:rPr>
              <a:t>Keep your class diagram simple and aligned with the assignment brief. Stick with the five main classes, place </a:t>
            </a:r>
            <a:r>
              <a:rPr lang="en-US" sz="2800" dirty="0" err="1">
                <a:latin typeface="Calibir"/>
              </a:rPr>
              <a:t>changePassword</a:t>
            </a:r>
            <a:r>
              <a:rPr lang="en-US" sz="2800" dirty="0">
                <a:latin typeface="Calibir"/>
              </a:rPr>
              <a:t> in </a:t>
            </a:r>
            <a:r>
              <a:rPr lang="en-US" sz="2800" dirty="0" err="1">
                <a:latin typeface="Calibir"/>
              </a:rPr>
              <a:t>AuthService</a:t>
            </a:r>
            <a:r>
              <a:rPr lang="en-US" sz="2800" dirty="0">
                <a:latin typeface="Calibir"/>
              </a:rPr>
              <a:t>, model marks/grades in the Student–Subject relationship (not Subject directly), keep validation logic in </a:t>
            </a:r>
            <a:r>
              <a:rPr lang="en-US" sz="2800" dirty="0" err="1">
                <a:latin typeface="Calibir"/>
              </a:rPr>
              <a:t>AuthService</a:t>
            </a:r>
            <a:r>
              <a:rPr lang="en-US" sz="2800" dirty="0">
                <a:latin typeface="Calibir"/>
              </a:rPr>
              <a:t>, and treat Admin as an operations role only.</a:t>
            </a:r>
          </a:p>
          <a:p>
            <a:pPr>
              <a:lnSpc>
                <a:spcPct val="150000"/>
              </a:lnSpc>
            </a:pPr>
            <a:r>
              <a:rPr lang="en-US" sz="2800" dirty="0">
                <a:latin typeface="Calibir"/>
              </a:rPr>
              <a:t>You’re on the right track — very good progress so far. Don’t worry about overcomplicating the design; clarity and alignment with requirements are what matter most.</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123974592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D415-992D-F119-0C8D-97AD25A0DC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2A774F-6FDF-8062-02DC-D523CBADB787}"/>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A832D39A-DF64-65C8-75E0-D8F09ADF25D3}"/>
              </a:ext>
            </a:extLst>
          </p:cNvPr>
          <p:cNvSpPr txBox="1"/>
          <p:nvPr/>
        </p:nvSpPr>
        <p:spPr>
          <a:xfrm>
            <a:off x="0" y="980449"/>
            <a:ext cx="12002814" cy="5909310"/>
          </a:xfrm>
          <a:prstGeom prst="rect">
            <a:avLst/>
          </a:prstGeom>
          <a:noFill/>
        </p:spPr>
        <p:txBody>
          <a:bodyPr wrap="square">
            <a:spAutoFit/>
          </a:bodyPr>
          <a:lstStyle/>
          <a:p>
            <a:r>
              <a:rPr lang="en-US" b="0" i="0" dirty="0">
                <a:solidFill>
                  <a:srgbClr val="252B2B"/>
                </a:solidFill>
                <a:effectLst/>
                <a:latin typeface="Calibir"/>
              </a:rPr>
              <a:t>Hi Professor,</a:t>
            </a:r>
            <a:br>
              <a:rPr lang="en-US" dirty="0">
                <a:latin typeface="Calibir"/>
              </a:rPr>
            </a:br>
            <a:br>
              <a:rPr lang="en-US" dirty="0">
                <a:latin typeface="Calibir"/>
              </a:rPr>
            </a:br>
            <a:r>
              <a:rPr lang="en-US" b="0" i="0" dirty="0">
                <a:solidFill>
                  <a:srgbClr val="252B2B"/>
                </a:solidFill>
                <a:effectLst/>
                <a:latin typeface="Calibir"/>
              </a:rPr>
              <a:t>I hope you're well. Our group is currently working on Assessment 1 – Part 1, and we have a few questions regarding the </a:t>
            </a:r>
            <a:r>
              <a:rPr lang="en-US" b="0" i="0" dirty="0" err="1">
                <a:solidFill>
                  <a:srgbClr val="252B2B"/>
                </a:solidFill>
                <a:effectLst/>
                <a:latin typeface="Calibir"/>
              </a:rPr>
              <a:t>CLIUniApp</a:t>
            </a:r>
            <a:r>
              <a:rPr lang="en-US" b="0" i="0" dirty="0">
                <a:solidFill>
                  <a:srgbClr val="252B2B"/>
                </a:solidFill>
                <a:effectLst/>
                <a:latin typeface="Calibir"/>
              </a:rPr>
              <a:t> and how it should be represented in our requirement planning document:</a:t>
            </a:r>
            <a:br>
              <a:rPr lang="en-US" dirty="0">
                <a:latin typeface="Calibir"/>
              </a:rPr>
            </a:br>
            <a:br>
              <a:rPr lang="en-US" dirty="0">
                <a:latin typeface="Calibir"/>
              </a:rPr>
            </a:br>
            <a:r>
              <a:rPr lang="en-US" b="0" i="0" dirty="0">
                <a:solidFill>
                  <a:srgbClr val="252B2B"/>
                </a:solidFill>
                <a:effectLst/>
                <a:latin typeface="Calibir"/>
              </a:rPr>
              <a:t>How should we integrate the CLI into our requirement planning? Should we reflect CLI functionalities in the use case diagram and user story backlog only, or is there another diagram/table we should include?</a:t>
            </a:r>
            <a:br>
              <a:rPr lang="en-US" dirty="0">
                <a:latin typeface="Calibir"/>
              </a:rPr>
            </a:br>
            <a:br>
              <a:rPr lang="en-US" dirty="0">
                <a:latin typeface="Calibir"/>
              </a:rPr>
            </a:br>
            <a:r>
              <a:rPr lang="en-US" b="0" i="0" dirty="0">
                <a:solidFill>
                  <a:srgbClr val="252B2B"/>
                </a:solidFill>
                <a:effectLst/>
                <a:latin typeface="Calibir"/>
              </a:rPr>
              <a:t>For the class diagram, do we need to provide examples of actual data rows (e.g., in JSON format), or is it sufficient to just design the class structure and relationships?</a:t>
            </a:r>
            <a:br>
              <a:rPr lang="en-US" dirty="0">
                <a:latin typeface="Calibir"/>
              </a:rPr>
            </a:br>
            <a:br>
              <a:rPr lang="en-US" dirty="0">
                <a:latin typeface="Calibir"/>
              </a:rPr>
            </a:br>
            <a:r>
              <a:rPr lang="en-US" b="0" i="0" dirty="0">
                <a:solidFill>
                  <a:srgbClr val="252B2B"/>
                </a:solidFill>
                <a:effectLst/>
                <a:latin typeface="Calibir"/>
              </a:rPr>
              <a:t>Should linking fields such as </a:t>
            </a:r>
            <a:r>
              <a:rPr lang="en-US" b="0" i="0" dirty="0" err="1">
                <a:solidFill>
                  <a:srgbClr val="252B2B"/>
                </a:solidFill>
                <a:effectLst/>
                <a:latin typeface="Calibir"/>
              </a:rPr>
              <a:t>student_id</a:t>
            </a:r>
            <a:r>
              <a:rPr lang="en-US" b="0" i="0" dirty="0">
                <a:solidFill>
                  <a:srgbClr val="252B2B"/>
                </a:solidFill>
                <a:effectLst/>
                <a:latin typeface="Calibir"/>
              </a:rPr>
              <a:t> in the enrolment table be explicitly included in the class diagram to show relationships between classes?</a:t>
            </a:r>
            <a:br>
              <a:rPr lang="en-US" dirty="0">
                <a:latin typeface="Calibir"/>
              </a:rPr>
            </a:br>
            <a:br>
              <a:rPr lang="en-US" dirty="0">
                <a:latin typeface="Calibir"/>
              </a:rPr>
            </a:br>
            <a:r>
              <a:rPr lang="en-US" b="0" i="0" dirty="0">
                <a:solidFill>
                  <a:srgbClr val="252B2B"/>
                </a:solidFill>
                <a:effectLst/>
                <a:latin typeface="Calibir"/>
              </a:rPr>
              <a:t>Also, may we ask which slide(s) in the lecture materials would be most helpful for us to refer to when designing our diagrams and fulfilling the assignment requirements?</a:t>
            </a:r>
            <a:br>
              <a:rPr lang="en-US" dirty="0">
                <a:latin typeface="Calibir"/>
              </a:rPr>
            </a:br>
            <a:br>
              <a:rPr lang="en-US" dirty="0">
                <a:latin typeface="Calibir"/>
              </a:rPr>
            </a:br>
            <a:r>
              <a:rPr lang="en-US" b="0" i="0" dirty="0">
                <a:solidFill>
                  <a:srgbClr val="252B2B"/>
                </a:solidFill>
                <a:effectLst/>
                <a:latin typeface="Calibir"/>
              </a:rPr>
              <a:t>Would providing the use case diagram and class diagram be sufficient for you to clarify these questions?</a:t>
            </a:r>
            <a:br>
              <a:rPr lang="en-US" dirty="0">
                <a:latin typeface="Calibir"/>
              </a:rPr>
            </a:br>
            <a:br>
              <a:rPr lang="en-US" dirty="0">
                <a:latin typeface="Calibir"/>
              </a:rPr>
            </a:br>
            <a:r>
              <a:rPr lang="en-US" b="0" i="0" dirty="0">
                <a:solidFill>
                  <a:srgbClr val="252B2B"/>
                </a:solidFill>
                <a:effectLst/>
                <a:latin typeface="Calibir"/>
              </a:rPr>
              <a:t>Thank you very much for your guidance!</a:t>
            </a:r>
            <a:br>
              <a:rPr lang="en-US" dirty="0">
                <a:latin typeface="Calibir"/>
              </a:rPr>
            </a:br>
            <a:r>
              <a:rPr lang="en-US" b="0" i="0" dirty="0">
                <a:solidFill>
                  <a:srgbClr val="252B2B"/>
                </a:solidFill>
                <a:effectLst/>
                <a:latin typeface="Calibir"/>
              </a:rPr>
              <a:t>Best regards,</a:t>
            </a:r>
            <a:endParaRPr lang="en-US" dirty="0">
              <a:latin typeface="Calibir"/>
            </a:endParaRPr>
          </a:p>
        </p:txBody>
      </p:sp>
    </p:spTree>
    <p:extLst>
      <p:ext uri="{BB962C8B-B14F-4D97-AF65-F5344CB8AC3E}">
        <p14:creationId xmlns:p14="http://schemas.microsoft.com/office/powerpoint/2010/main" val="116556015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BA94D-D028-BB00-B8EF-0B1081F499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C703EA-7A07-C67F-1CF3-F08E21E9F412}"/>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CF8621FC-05FB-A403-0219-0F6117179F8C}"/>
              </a:ext>
            </a:extLst>
          </p:cNvPr>
          <p:cNvSpPr txBox="1"/>
          <p:nvPr/>
        </p:nvSpPr>
        <p:spPr>
          <a:xfrm>
            <a:off x="0" y="790878"/>
            <a:ext cx="12002814" cy="6146170"/>
          </a:xfrm>
          <a:prstGeom prst="rect">
            <a:avLst/>
          </a:prstGeom>
          <a:noFill/>
        </p:spPr>
        <p:txBody>
          <a:bodyPr wrap="square">
            <a:spAutoFit/>
          </a:bodyPr>
          <a:lstStyle/>
          <a:p>
            <a:pPr>
              <a:lnSpc>
                <a:spcPct val="150000"/>
              </a:lnSpc>
            </a:pPr>
            <a:r>
              <a:rPr lang="en-US" sz="2650" dirty="0">
                <a:latin typeface="Calibir"/>
              </a:rPr>
              <a:t>Dear Student,</a:t>
            </a:r>
          </a:p>
          <a:p>
            <a:pPr>
              <a:lnSpc>
                <a:spcPct val="150000"/>
              </a:lnSpc>
            </a:pPr>
            <a:r>
              <a:rPr lang="en-US" sz="2650" dirty="0">
                <a:latin typeface="Calibir"/>
              </a:rPr>
              <a:t>Thank you for sharing your diagrams and questions — you are on the right track. Let me clarify each point for Assignment 1 – Part 1:</a:t>
            </a:r>
          </a:p>
          <a:p>
            <a:pPr>
              <a:lnSpc>
                <a:spcPct val="150000"/>
              </a:lnSpc>
            </a:pPr>
            <a:r>
              <a:rPr lang="en-US" sz="2650" dirty="0">
                <a:latin typeface="Calibir"/>
              </a:rPr>
              <a:t>1) Representing the CLI</a:t>
            </a:r>
            <a:br>
              <a:rPr lang="en-US" sz="2650" dirty="0">
                <a:latin typeface="Calibir"/>
              </a:rPr>
            </a:br>
            <a:r>
              <a:rPr lang="en-US" sz="2650" dirty="0">
                <a:latin typeface="Calibir"/>
              </a:rPr>
              <a:t>The CLI (</a:t>
            </a:r>
            <a:r>
              <a:rPr lang="en-US" sz="2650" dirty="0" err="1">
                <a:latin typeface="Calibir"/>
              </a:rPr>
              <a:t>CLIUniApp</a:t>
            </a:r>
            <a:r>
              <a:rPr lang="en-US" sz="2650" dirty="0">
                <a:latin typeface="Calibir"/>
              </a:rPr>
              <a:t>) is just the </a:t>
            </a:r>
            <a:r>
              <a:rPr lang="en-US" sz="2650" i="1" dirty="0">
                <a:latin typeface="Calibir"/>
              </a:rPr>
              <a:t>interface</a:t>
            </a:r>
            <a:r>
              <a:rPr lang="en-US" sz="2650" dirty="0">
                <a:latin typeface="Calibir"/>
              </a:rPr>
              <a:t> to the system, not an actor. You don’t need to model CLI itself in the class diagram. Instead:</a:t>
            </a:r>
          </a:p>
          <a:p>
            <a:pPr marL="457200" indent="-457200">
              <a:lnSpc>
                <a:spcPct val="150000"/>
              </a:lnSpc>
              <a:buFont typeface="Arial" panose="020B0604020202020204" pitchFamily="34" charset="0"/>
              <a:buChar char="•"/>
            </a:pPr>
            <a:r>
              <a:rPr lang="en-US" sz="2650" dirty="0">
                <a:latin typeface="Calibir"/>
              </a:rPr>
              <a:t>In the Use Case Diagram, just focus on </a:t>
            </a:r>
            <a:r>
              <a:rPr lang="en-US" sz="2650" i="1" dirty="0">
                <a:latin typeface="Calibir"/>
              </a:rPr>
              <a:t>Student</a:t>
            </a:r>
            <a:r>
              <a:rPr lang="en-US" sz="2650" dirty="0">
                <a:latin typeface="Calibir"/>
              </a:rPr>
              <a:t> and </a:t>
            </a:r>
            <a:r>
              <a:rPr lang="en-US" sz="2650" i="1" dirty="0">
                <a:latin typeface="Calibir"/>
              </a:rPr>
              <a:t>Admin</a:t>
            </a:r>
            <a:r>
              <a:rPr lang="en-US" sz="2650" dirty="0">
                <a:latin typeface="Calibir"/>
              </a:rPr>
              <a:t> as the actors.</a:t>
            </a:r>
          </a:p>
          <a:p>
            <a:pPr marL="457200" indent="-457200">
              <a:lnSpc>
                <a:spcPct val="150000"/>
              </a:lnSpc>
              <a:buFont typeface="Arial" panose="020B0604020202020204" pitchFamily="34" charset="0"/>
              <a:buChar char="•"/>
            </a:pPr>
            <a:r>
              <a:rPr lang="en-US" sz="2650" dirty="0">
                <a:latin typeface="Calibir"/>
              </a:rPr>
              <a:t>In the User Story Backlog, describe actions they perform through the CLI (e.g., “Student </a:t>
            </a:r>
            <a:r>
              <a:rPr lang="en-US" sz="2650" dirty="0" err="1">
                <a:latin typeface="Calibir"/>
              </a:rPr>
              <a:t>enrols</a:t>
            </a:r>
            <a:r>
              <a:rPr lang="en-US" sz="2650" dirty="0">
                <a:latin typeface="Calibir"/>
              </a:rPr>
              <a:t> in subject”).</a:t>
            </a:r>
            <a:br>
              <a:rPr lang="en-US" sz="2650" dirty="0">
                <a:latin typeface="Calibir"/>
              </a:rPr>
            </a:br>
            <a:r>
              <a:rPr lang="en-US" sz="2650" dirty="0">
                <a:latin typeface="Calibir"/>
              </a:rPr>
              <a:t>No extra diagram/table is required beyond backlog + diagrams already listed.</a:t>
            </a:r>
          </a:p>
        </p:txBody>
      </p:sp>
    </p:spTree>
    <p:extLst>
      <p:ext uri="{BB962C8B-B14F-4D97-AF65-F5344CB8AC3E}">
        <p14:creationId xmlns:p14="http://schemas.microsoft.com/office/powerpoint/2010/main" val="28851871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CE873-B41B-4900-7E83-3D63C9B17A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B996C-B5D1-7874-51DB-DE796524D44D}"/>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F9E97F2A-7C59-C509-5725-A4B5CD669A20}"/>
              </a:ext>
            </a:extLst>
          </p:cNvPr>
          <p:cNvSpPr txBox="1"/>
          <p:nvPr/>
        </p:nvSpPr>
        <p:spPr>
          <a:xfrm>
            <a:off x="0" y="1061544"/>
            <a:ext cx="12002814" cy="5637121"/>
          </a:xfrm>
          <a:prstGeom prst="rect">
            <a:avLst/>
          </a:prstGeom>
          <a:noFill/>
        </p:spPr>
        <p:txBody>
          <a:bodyPr wrap="square">
            <a:spAutoFit/>
          </a:bodyPr>
          <a:lstStyle/>
          <a:p>
            <a:pPr>
              <a:lnSpc>
                <a:spcPct val="150000"/>
              </a:lnSpc>
            </a:pPr>
            <a:r>
              <a:rPr lang="en-US" sz="2700" dirty="0">
                <a:latin typeface="Calibir"/>
              </a:rPr>
              <a:t>2) Class Diagram vs Data Examples</a:t>
            </a:r>
            <a:br>
              <a:rPr lang="en-US" sz="2700" dirty="0">
                <a:latin typeface="Calibir"/>
              </a:rPr>
            </a:br>
            <a:r>
              <a:rPr lang="en-US" sz="2700" dirty="0">
                <a:latin typeface="Calibir"/>
              </a:rPr>
              <a:t>For Part 1, you only need to design class structure and relationships (attributes, methods, multiplicities). You do not need to provide actual data rows (e.g., JSON/CSV) in the class diagram. Data format design is optional and only for illustration.</a:t>
            </a:r>
          </a:p>
          <a:p>
            <a:pPr>
              <a:lnSpc>
                <a:spcPct val="150000"/>
              </a:lnSpc>
            </a:pPr>
            <a:r>
              <a:rPr lang="en-US" sz="2700" dirty="0">
                <a:latin typeface="Calibir"/>
              </a:rPr>
              <a:t>3) Linking Fields (IDs in Enrolment)</a:t>
            </a:r>
            <a:br>
              <a:rPr lang="en-US" sz="2700" dirty="0">
                <a:latin typeface="Calibir"/>
              </a:rPr>
            </a:br>
            <a:r>
              <a:rPr lang="en-US" sz="2700" dirty="0">
                <a:latin typeface="Calibir"/>
              </a:rPr>
              <a:t>Yes — linking fields like </a:t>
            </a:r>
            <a:r>
              <a:rPr lang="en-US" sz="2700" dirty="0" err="1">
                <a:latin typeface="Calibir"/>
              </a:rPr>
              <a:t>student_id</a:t>
            </a:r>
            <a:r>
              <a:rPr lang="en-US" sz="2700" dirty="0">
                <a:latin typeface="Calibir"/>
              </a:rPr>
              <a:t> and </a:t>
            </a:r>
            <a:r>
              <a:rPr lang="en-US" sz="2700" dirty="0" err="1">
                <a:latin typeface="Calibir"/>
              </a:rPr>
              <a:t>subject_id</a:t>
            </a:r>
            <a:r>
              <a:rPr lang="en-US" sz="2700" dirty="0">
                <a:latin typeface="Calibir"/>
              </a:rPr>
              <a:t> in your Enrolment class are correct and a good way to explicitly model the relationships. This matches the requirement that each Student can </a:t>
            </a:r>
            <a:r>
              <a:rPr lang="en-US" sz="2700" dirty="0" err="1">
                <a:latin typeface="Calibir"/>
              </a:rPr>
              <a:t>enrol</a:t>
            </a:r>
            <a:r>
              <a:rPr lang="en-US" sz="2700" dirty="0">
                <a:latin typeface="Calibir"/>
              </a:rPr>
              <a:t> in up to 4 Subjects.</a:t>
            </a:r>
          </a:p>
        </p:txBody>
      </p:sp>
    </p:spTree>
    <p:extLst>
      <p:ext uri="{BB962C8B-B14F-4D97-AF65-F5344CB8AC3E}">
        <p14:creationId xmlns:p14="http://schemas.microsoft.com/office/powerpoint/2010/main" val="281737781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D9D8-1C28-9291-B489-192EA7FC1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C0A7-C3A1-FAC2-A9BC-45B5151B6366}"/>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31EEE515-8EC5-6115-9C33-216034185A66}"/>
              </a:ext>
            </a:extLst>
          </p:cNvPr>
          <p:cNvSpPr txBox="1"/>
          <p:nvPr/>
        </p:nvSpPr>
        <p:spPr>
          <a:xfrm>
            <a:off x="0" y="1061544"/>
            <a:ext cx="12002814" cy="3903504"/>
          </a:xfrm>
          <a:prstGeom prst="rect">
            <a:avLst/>
          </a:prstGeom>
          <a:noFill/>
        </p:spPr>
        <p:txBody>
          <a:bodyPr wrap="square">
            <a:spAutoFit/>
          </a:bodyPr>
          <a:lstStyle/>
          <a:p>
            <a:pPr>
              <a:lnSpc>
                <a:spcPct val="150000"/>
              </a:lnSpc>
            </a:pPr>
            <a:r>
              <a:rPr lang="en-US" sz="2800" dirty="0">
                <a:latin typeface="Calibir"/>
              </a:rPr>
              <a:t>4) Reference Slides</a:t>
            </a:r>
            <a:br>
              <a:rPr lang="en-US" sz="2800" dirty="0">
                <a:latin typeface="Calibir"/>
              </a:rPr>
            </a:br>
            <a:r>
              <a:rPr lang="en-US" sz="2800" dirty="0">
                <a:latin typeface="Calibir"/>
              </a:rPr>
              <a:t>The most relevant are:</a:t>
            </a:r>
          </a:p>
          <a:p>
            <a:pPr marL="457200" indent="-457200">
              <a:lnSpc>
                <a:spcPct val="150000"/>
              </a:lnSpc>
              <a:buFont typeface="Arial" panose="020B0604020202020204" pitchFamily="34" charset="0"/>
              <a:buChar char="•"/>
            </a:pPr>
            <a:r>
              <a:rPr lang="en-US" sz="2800" dirty="0">
                <a:latin typeface="Calibir"/>
              </a:rPr>
              <a:t>Week 5: </a:t>
            </a:r>
            <a:r>
              <a:rPr lang="en-US" sz="2800" i="1" dirty="0">
                <a:latin typeface="Calibir"/>
              </a:rPr>
              <a:t>Step-by-Step Tasks</a:t>
            </a:r>
            <a:r>
              <a:rPr lang="en-US" sz="2800" dirty="0">
                <a:latin typeface="Calibir"/>
              </a:rPr>
              <a:t> and </a:t>
            </a:r>
            <a:r>
              <a:rPr lang="en-US" sz="2800" i="1" dirty="0">
                <a:latin typeface="Calibir"/>
              </a:rPr>
              <a:t>System Rules</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Week 6/7: </a:t>
            </a:r>
            <a:r>
              <a:rPr lang="en-US" sz="2800" i="1" dirty="0">
                <a:latin typeface="Calibir"/>
              </a:rPr>
              <a:t>Use Case &amp; Class Diagram Clarifications</a:t>
            </a:r>
            <a:br>
              <a:rPr lang="en-US" sz="2800" dirty="0">
                <a:latin typeface="Calibir"/>
              </a:rPr>
            </a:br>
            <a:r>
              <a:rPr lang="en-US" sz="2800" dirty="0">
                <a:latin typeface="Calibir"/>
              </a:rPr>
              <a:t>These cover scope, user story backlog, and how to align UC and Class diagrams with the brief.</a:t>
            </a:r>
          </a:p>
        </p:txBody>
      </p:sp>
    </p:spTree>
    <p:extLst>
      <p:ext uri="{BB962C8B-B14F-4D97-AF65-F5344CB8AC3E}">
        <p14:creationId xmlns:p14="http://schemas.microsoft.com/office/powerpoint/2010/main" val="50424949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5AF9A-873C-4D9E-105B-CA5E17368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CA56C-69A6-D4A4-1D60-0EF845499439}"/>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9F4B52B1-0659-D19E-C1AD-E019945DA938}"/>
              </a:ext>
            </a:extLst>
          </p:cNvPr>
          <p:cNvSpPr txBox="1"/>
          <p:nvPr/>
        </p:nvSpPr>
        <p:spPr>
          <a:xfrm>
            <a:off x="0" y="1061544"/>
            <a:ext cx="12002814" cy="2610843"/>
          </a:xfrm>
          <a:prstGeom prst="rect">
            <a:avLst/>
          </a:prstGeom>
          <a:noFill/>
        </p:spPr>
        <p:txBody>
          <a:bodyPr wrap="square">
            <a:spAutoFit/>
          </a:bodyPr>
          <a:lstStyle/>
          <a:p>
            <a:pPr>
              <a:lnSpc>
                <a:spcPct val="150000"/>
              </a:lnSpc>
            </a:pPr>
            <a:r>
              <a:rPr lang="en-US" sz="2800" dirty="0">
                <a:latin typeface="Calibir"/>
              </a:rPr>
              <a:t>5) Submission Expectation</a:t>
            </a:r>
            <a:br>
              <a:rPr lang="en-US" sz="2800" dirty="0">
                <a:latin typeface="Calibir"/>
              </a:rPr>
            </a:br>
            <a:r>
              <a:rPr lang="en-US" sz="2800" dirty="0">
                <a:latin typeface="Calibir"/>
              </a:rPr>
              <a:t>Yes — providing the Use Case Diagram and Class Diagram, alongside your backlog table, is sufficient to meet Part 1 deliverables. You don’t need to add extra diagrams for CLI or data tables.</a:t>
            </a:r>
          </a:p>
        </p:txBody>
      </p:sp>
    </p:spTree>
    <p:extLst>
      <p:ext uri="{BB962C8B-B14F-4D97-AF65-F5344CB8AC3E}">
        <p14:creationId xmlns:p14="http://schemas.microsoft.com/office/powerpoint/2010/main" val="34094761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DDF93-7580-9FA9-FDD0-38C6E48DC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23AEA6-F2B2-4BFD-F5CC-A850B40E19FF}"/>
              </a:ext>
            </a:extLst>
          </p:cNvPr>
          <p:cNvSpPr>
            <a:spLocks noGrp="1"/>
          </p:cNvSpPr>
          <p:nvPr>
            <p:ph type="title"/>
          </p:nvPr>
        </p:nvSpPr>
        <p:spPr>
          <a:xfrm>
            <a:off x="0" y="-1"/>
            <a:ext cx="12192000" cy="1061545"/>
          </a:xfrm>
        </p:spPr>
        <p:txBody>
          <a:bodyPr anchor="b">
            <a:normAutofit fontScale="90000"/>
          </a:bodyPr>
          <a:lstStyle/>
          <a:p>
            <a:r>
              <a:rPr lang="en-US" sz="4000" dirty="0">
                <a:latin typeface="Calibir"/>
              </a:rPr>
              <a:t>Assignment 1 – Part 1: CLI Representation, Data, and Relationships Clarified</a:t>
            </a:r>
            <a:endParaRPr lang="en-AU" sz="4000" b="1" dirty="0">
              <a:latin typeface="Calibir"/>
            </a:endParaRPr>
          </a:p>
        </p:txBody>
      </p:sp>
      <p:sp>
        <p:nvSpPr>
          <p:cNvPr id="5" name="TextBox 4">
            <a:extLst>
              <a:ext uri="{FF2B5EF4-FFF2-40B4-BE49-F238E27FC236}">
                <a16:creationId xmlns:a16="http://schemas.microsoft.com/office/drawing/2014/main" id="{1DF6B81D-7529-96A0-75F8-A0A807068EBA}"/>
              </a:ext>
            </a:extLst>
          </p:cNvPr>
          <p:cNvSpPr txBox="1"/>
          <p:nvPr/>
        </p:nvSpPr>
        <p:spPr>
          <a:xfrm>
            <a:off x="0" y="1061544"/>
            <a:ext cx="12002814" cy="5842497"/>
          </a:xfrm>
          <a:prstGeom prst="rect">
            <a:avLst/>
          </a:prstGeom>
          <a:noFill/>
        </p:spPr>
        <p:txBody>
          <a:bodyPr wrap="square">
            <a:spAutoFit/>
          </a:bodyPr>
          <a:lstStyle/>
          <a:p>
            <a:pPr>
              <a:lnSpc>
                <a:spcPct val="150000"/>
              </a:lnSpc>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CLI is not an actor — model Student/Admin actions only.</a:t>
            </a:r>
          </a:p>
          <a:p>
            <a:pPr marL="914400" lvl="1" indent="-457200">
              <a:lnSpc>
                <a:spcPct val="150000"/>
              </a:lnSpc>
              <a:buFont typeface="Arial" panose="020B0604020202020204" pitchFamily="34" charset="0"/>
              <a:buChar char="•"/>
            </a:pPr>
            <a:r>
              <a:rPr lang="en-US" sz="2800" dirty="0">
                <a:latin typeface="Calibir"/>
              </a:rPr>
              <a:t>Class diagram = structure, not sample data.</a:t>
            </a:r>
          </a:p>
          <a:p>
            <a:pPr marL="914400" lvl="1" indent="-457200">
              <a:lnSpc>
                <a:spcPct val="150000"/>
              </a:lnSpc>
              <a:buFont typeface="Arial" panose="020B0604020202020204" pitchFamily="34" charset="0"/>
              <a:buChar char="•"/>
            </a:pPr>
            <a:r>
              <a:rPr lang="en-US" sz="2800" dirty="0">
                <a:latin typeface="Calibir"/>
              </a:rPr>
              <a:t>Linking IDs in Enrolment is correct.</a:t>
            </a:r>
          </a:p>
          <a:p>
            <a:pPr marL="914400" lvl="1" indent="-457200">
              <a:lnSpc>
                <a:spcPct val="150000"/>
              </a:lnSpc>
              <a:buFont typeface="Arial" panose="020B0604020202020204" pitchFamily="34" charset="0"/>
              <a:buChar char="•"/>
            </a:pPr>
            <a:r>
              <a:rPr lang="en-US" sz="2800" dirty="0">
                <a:latin typeface="Calibir"/>
              </a:rPr>
              <a:t>Use backlog + UC + Class diagrams as your core deliverables.</a:t>
            </a:r>
          </a:p>
          <a:p>
            <a:pPr>
              <a:lnSpc>
                <a:spcPct val="150000"/>
              </a:lnSpc>
            </a:pPr>
            <a:r>
              <a:rPr lang="en-US" sz="2800" dirty="0">
                <a:latin typeface="Calibir"/>
              </a:rPr>
              <a:t>You are on the right track — keep refining clarity and consistency, and you’ll align perfectly with Part 1 requirements.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20871998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60EF0-D4C5-AAFB-BFBB-3C8BB7925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3C124-AF08-9A8F-6C0E-927435691A0A}"/>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DAC4DA50-5953-375D-F028-6C697B5C4922}"/>
              </a:ext>
            </a:extLst>
          </p:cNvPr>
          <p:cNvSpPr txBox="1"/>
          <p:nvPr/>
        </p:nvSpPr>
        <p:spPr>
          <a:xfrm>
            <a:off x="0" y="1282648"/>
            <a:ext cx="11965258" cy="5355312"/>
          </a:xfrm>
          <a:prstGeom prst="rect">
            <a:avLst/>
          </a:prstGeom>
          <a:noFill/>
        </p:spPr>
        <p:txBody>
          <a:bodyPr wrap="square">
            <a:spAutoFit/>
          </a:bodyPr>
          <a:lstStyle/>
          <a:p>
            <a:pPr fontAlgn="base"/>
            <a:r>
              <a:rPr lang="en-US" dirty="0">
                <a:latin typeface="Calibir"/>
              </a:rPr>
              <a:t>Dear Dr. Farshid Keivanian,</a:t>
            </a:r>
          </a:p>
          <a:p>
            <a:pPr fontAlgn="base"/>
            <a:endParaRPr lang="en-US" dirty="0">
              <a:latin typeface="Calibir"/>
            </a:endParaRPr>
          </a:p>
          <a:p>
            <a:pPr fontAlgn="base"/>
            <a:r>
              <a:rPr lang="en-US" dirty="0">
                <a:latin typeface="Calibir"/>
              </a:rPr>
              <a:t>I hope this message finds you well.</a:t>
            </a:r>
          </a:p>
          <a:p>
            <a:pPr fontAlgn="base"/>
            <a:endParaRPr lang="en-US" dirty="0">
              <a:latin typeface="Calibir"/>
            </a:endParaRPr>
          </a:p>
          <a:p>
            <a:pPr fontAlgn="base"/>
            <a:r>
              <a:rPr lang="en-US" dirty="0">
                <a:latin typeface="Calibir"/>
              </a:rPr>
              <a:t>I am a student from 32555-Fundamental of Software Development cmp-08, and I have some questions regarding Assignment 1 part 1:</a:t>
            </a:r>
          </a:p>
          <a:p>
            <a:pPr marL="342900" indent="-342900" fontAlgn="base">
              <a:buFont typeface="+mj-lt"/>
              <a:buAutoNum type="arabicPeriod"/>
            </a:pPr>
            <a:r>
              <a:rPr lang="en-US" dirty="0">
                <a:latin typeface="Calibir"/>
              </a:rPr>
              <a:t>With user stories backlogs, do we also need include the user stories, or is the requirements table itself fine.</a:t>
            </a:r>
          </a:p>
          <a:p>
            <a:pPr marL="342900" indent="-342900" fontAlgn="base">
              <a:buFont typeface="+mj-lt"/>
              <a:buAutoNum type="arabicPeriod"/>
            </a:pPr>
            <a:r>
              <a:rPr lang="en-US" dirty="0">
                <a:latin typeface="Calibir"/>
              </a:rPr>
              <a:t>Do we need to worry about duplicate results for students who are enrolled in more than 1 subject when the admin views grade/category.</a:t>
            </a:r>
          </a:p>
          <a:p>
            <a:pPr marL="342900" indent="-342900" fontAlgn="base">
              <a:buFont typeface="+mj-lt"/>
              <a:buAutoNum type="arabicPeriod"/>
            </a:pPr>
            <a:r>
              <a:rPr lang="en-US" dirty="0">
                <a:latin typeface="Calibir"/>
              </a:rPr>
              <a:t>Questions about Scope Summary and tiny </a:t>
            </a:r>
            <a:r>
              <a:rPr lang="en-US" dirty="0" err="1">
                <a:latin typeface="Calibir"/>
              </a:rPr>
              <a:t>traceabiliy</a:t>
            </a:r>
            <a:r>
              <a:rPr lang="en-US" dirty="0">
                <a:latin typeface="Calibir"/>
              </a:rPr>
              <a:t> table and Contribution:</a:t>
            </a:r>
          </a:p>
          <a:p>
            <a:pPr marL="742950" lvl="1" indent="-285750" fontAlgn="base">
              <a:buFont typeface="Arial" panose="020B0604020202020204" pitchFamily="34" charset="0"/>
              <a:buChar char="•"/>
            </a:pPr>
            <a:r>
              <a:rPr lang="en-US" dirty="0">
                <a:latin typeface="Calibir"/>
              </a:rPr>
              <a:t>What exactly should be included in the Scope Summary and Tiny Traceability Table?</a:t>
            </a:r>
          </a:p>
          <a:p>
            <a:pPr marL="742950" lvl="1" indent="-285750" fontAlgn="base">
              <a:buFont typeface="Arial" panose="020B0604020202020204" pitchFamily="34" charset="0"/>
              <a:buChar char="•"/>
            </a:pPr>
            <a:r>
              <a:rPr lang="en-US" dirty="0">
                <a:latin typeface="Calibir"/>
              </a:rPr>
              <a:t>According to Assignment Task 1 on Canva, the main marks are allocated to the User Story, Use Case Diagram and Class Diagram. Are there any mark allocated to the Scope, Data File Design and Tiny Traceability Table?</a:t>
            </a:r>
          </a:p>
          <a:p>
            <a:pPr marL="742950" lvl="1" indent="-285750" fontAlgn="base">
              <a:buFont typeface="Arial" panose="020B0604020202020204" pitchFamily="34" charset="0"/>
              <a:buChar char="•"/>
            </a:pPr>
            <a:r>
              <a:rPr lang="en-US" dirty="0">
                <a:latin typeface="Calibir"/>
              </a:rPr>
              <a:t>Regarding to the Contribution section: if a teammate did not contribute to the main marked </a:t>
            </a:r>
            <a:r>
              <a:rPr lang="en-US" dirty="0" err="1">
                <a:latin typeface="Calibir"/>
              </a:rPr>
              <a:t>conponents</a:t>
            </a:r>
            <a:r>
              <a:rPr lang="en-US" dirty="0">
                <a:latin typeface="Calibir"/>
              </a:rPr>
              <a:t>(e.g. Use Case Diagram),but contributed to Data File Design or Tiny Traceability Table, how should we reflect his/her contribution?</a:t>
            </a:r>
          </a:p>
          <a:p>
            <a:pPr marL="742950" lvl="1" indent="-285750" fontAlgn="base">
              <a:buFont typeface="Arial" panose="020B0604020202020204" pitchFamily="34" charset="0"/>
              <a:buChar char="•"/>
            </a:pPr>
            <a:r>
              <a:rPr lang="en-US" dirty="0">
                <a:latin typeface="Calibir"/>
              </a:rPr>
              <a:t>Should we express contribution as a percentage, or is it acceptable to simply describe who worked on which parts and who assisted with what?</a:t>
            </a:r>
          </a:p>
          <a:p>
            <a:pPr fontAlgn="base"/>
            <a:r>
              <a:rPr lang="en-US" dirty="0">
                <a:latin typeface="Calibir"/>
              </a:rPr>
              <a:t>Thank you very much for your time and guidance.</a:t>
            </a:r>
          </a:p>
          <a:p>
            <a:pPr fontAlgn="base"/>
            <a:r>
              <a:rPr lang="en-US" dirty="0">
                <a:latin typeface="Calibir"/>
              </a:rPr>
              <a:t>Kind regards,</a:t>
            </a:r>
          </a:p>
        </p:txBody>
      </p:sp>
    </p:spTree>
    <p:extLst>
      <p:ext uri="{BB962C8B-B14F-4D97-AF65-F5344CB8AC3E}">
        <p14:creationId xmlns:p14="http://schemas.microsoft.com/office/powerpoint/2010/main" val="13318993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DA15F-88F4-1439-9AAE-1F62596872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A00F1-FFB1-5F43-6C22-DE848679CA3F}"/>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B0F1934F-A665-8859-B9D2-1A43504778E3}"/>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thoughtful questions. These are very relevant, and I’ll include them in the shared clarification slides so the whole class benefits. Below is a concise response for you now:</a:t>
            </a:r>
          </a:p>
          <a:p>
            <a:pPr>
              <a:lnSpc>
                <a:spcPct val="150000"/>
              </a:lnSpc>
            </a:pPr>
            <a:r>
              <a:rPr lang="en-US" sz="2800" b="1" dirty="0">
                <a:latin typeface="Calibir"/>
              </a:rPr>
              <a:t>1. User Story Backlog</a:t>
            </a:r>
            <a:br>
              <a:rPr lang="en-US" sz="2800" dirty="0">
                <a:latin typeface="Calibir"/>
              </a:rPr>
            </a:br>
            <a:r>
              <a:rPr lang="en-US" sz="2800" dirty="0">
                <a:latin typeface="Calibir"/>
              </a:rPr>
              <a:t>Yes, you must include the </a:t>
            </a:r>
            <a:r>
              <a:rPr lang="en-US" sz="2800" i="1" dirty="0">
                <a:latin typeface="Calibir"/>
              </a:rPr>
              <a:t>user stories</a:t>
            </a:r>
            <a:r>
              <a:rPr lang="en-US" sz="2800" dirty="0">
                <a:latin typeface="Calibir"/>
              </a:rPr>
              <a:t> in a requirements table (the backlog). The table itself is the required format — just ensure each row corresponds to a clear user story with ID, User, Action, Result, and Function.</a:t>
            </a:r>
          </a:p>
        </p:txBody>
      </p:sp>
    </p:spTree>
    <p:extLst>
      <p:ext uri="{BB962C8B-B14F-4D97-AF65-F5344CB8AC3E}">
        <p14:creationId xmlns:p14="http://schemas.microsoft.com/office/powerpoint/2010/main" val="192360105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54CF6-DB21-E57F-0118-7560DFDBD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2169A-0397-DD0E-6C1C-4481E429D6F5}"/>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555DBE44-1FE1-2147-EF13-7574689A23E1}"/>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b="1" dirty="0">
                <a:latin typeface="Calibir"/>
              </a:rPr>
              <a:t>2. Duplicate Results for Admin Views</a:t>
            </a:r>
            <a:br>
              <a:rPr lang="en-US" sz="2800" dirty="0">
                <a:latin typeface="Calibir"/>
              </a:rPr>
            </a:br>
            <a:r>
              <a:rPr lang="en-US" sz="2800" dirty="0">
                <a:latin typeface="Calibir"/>
              </a:rPr>
              <a:t>You do not need to handle duplicate results in Part 1. The focus is on </a:t>
            </a:r>
            <a:r>
              <a:rPr lang="en-US" sz="2800" i="1" dirty="0">
                <a:latin typeface="Calibir"/>
              </a:rPr>
              <a:t>design and requirements analysis</a:t>
            </a:r>
            <a:r>
              <a:rPr lang="en-US" sz="2800" dirty="0">
                <a:latin typeface="Calibir"/>
              </a:rPr>
              <a:t>, not implementation detail. Simply showing that an admin can view and group students by grade or PASS/FAIL is enough.</a:t>
            </a:r>
          </a:p>
          <a:p>
            <a:pPr>
              <a:lnSpc>
                <a:spcPct val="150000"/>
              </a:lnSpc>
            </a:pPr>
            <a:r>
              <a:rPr lang="en-US" sz="2800" b="1" dirty="0">
                <a:latin typeface="Calibir"/>
              </a:rPr>
              <a:t>3. Scope Summary &amp; Tiny Traceability Table</a:t>
            </a:r>
            <a:endParaRPr lang="en-US" sz="2800" dirty="0">
              <a:latin typeface="Calibir"/>
            </a:endParaRPr>
          </a:p>
          <a:p>
            <a:pPr marL="457200" indent="-457200">
              <a:lnSpc>
                <a:spcPct val="150000"/>
              </a:lnSpc>
              <a:buFont typeface="Arial" panose="020B0604020202020204" pitchFamily="34" charset="0"/>
              <a:buChar char="•"/>
            </a:pPr>
            <a:r>
              <a:rPr lang="en-US" sz="2800" i="1" dirty="0">
                <a:latin typeface="Calibir"/>
              </a:rPr>
              <a:t>Scope Summary</a:t>
            </a:r>
            <a:r>
              <a:rPr lang="en-US" sz="2800" dirty="0">
                <a:latin typeface="Calibir"/>
              </a:rPr>
              <a:t>: A short section listing what is in scope (Student and Admin operations, system rules) and what is out of scope (GUI, multi-semester enrolments).</a:t>
            </a:r>
          </a:p>
        </p:txBody>
      </p:sp>
    </p:spTree>
    <p:extLst>
      <p:ext uri="{BB962C8B-B14F-4D97-AF65-F5344CB8AC3E}">
        <p14:creationId xmlns:p14="http://schemas.microsoft.com/office/powerpoint/2010/main" val="28017563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8730-11AB-18E6-929E-740931A417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DF6BD-A1E4-C62E-C306-F3EB35B7551F}"/>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55928EA6-1624-E74A-CA74-A7F3D606A820}"/>
              </a:ext>
            </a:extLst>
          </p:cNvPr>
          <p:cNvSpPr txBox="1"/>
          <p:nvPr/>
        </p:nvSpPr>
        <p:spPr>
          <a:xfrm>
            <a:off x="0" y="1103972"/>
            <a:ext cx="11965258"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i="1" dirty="0">
                <a:latin typeface="Calibir"/>
              </a:rPr>
              <a:t>Tiny Traceability Table</a:t>
            </a:r>
            <a:r>
              <a:rPr lang="en-US" sz="2800" dirty="0">
                <a:latin typeface="Calibir"/>
              </a:rPr>
              <a:t>: A brief table that links requirements → user stories → use cases → class diagram. It doesn’t need to be long; the goal is to show consistency.</a:t>
            </a:r>
          </a:p>
          <a:p>
            <a:pPr>
              <a:lnSpc>
                <a:spcPct val="150000"/>
              </a:lnSpc>
            </a:pPr>
            <a:r>
              <a:rPr lang="en-US" sz="2800" b="1" dirty="0">
                <a:latin typeface="Calibir"/>
              </a:rPr>
              <a:t>4. Marks for Scope, Data File Design, Traceability</a:t>
            </a:r>
            <a:br>
              <a:rPr lang="en-US" sz="2800" dirty="0">
                <a:latin typeface="Calibir"/>
              </a:rPr>
            </a:br>
            <a:r>
              <a:rPr lang="en-US" sz="2800" dirty="0">
                <a:latin typeface="Calibir"/>
              </a:rPr>
              <a:t>The marking rubric (on Canvas) awards marks mainly for User Story Backlog, Use Case Diagram, and Class Diagram. Scope, data file design, and traceability are </a:t>
            </a:r>
            <a:r>
              <a:rPr lang="en-US" sz="2800" i="1" dirty="0">
                <a:latin typeface="Calibir"/>
              </a:rPr>
              <a:t>supporting sections</a:t>
            </a:r>
            <a:r>
              <a:rPr lang="en-US" sz="2800" dirty="0">
                <a:latin typeface="Calibir"/>
              </a:rPr>
              <a:t>. They don’t have separate marks, but they help demonstrate completeness, consistency, and professionalism, which supports your grade.</a:t>
            </a:r>
          </a:p>
        </p:txBody>
      </p:sp>
    </p:spTree>
    <p:extLst>
      <p:ext uri="{BB962C8B-B14F-4D97-AF65-F5344CB8AC3E}">
        <p14:creationId xmlns:p14="http://schemas.microsoft.com/office/powerpoint/2010/main" val="142993451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41927-244A-6E27-6658-180FD4D1C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1E7A8A-025B-B66E-E6CE-E58D445B75E6}"/>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80CEDE07-AE1B-4AF5-C934-FC869EB3D677}"/>
              </a:ext>
            </a:extLst>
          </p:cNvPr>
          <p:cNvSpPr txBox="1"/>
          <p:nvPr/>
        </p:nvSpPr>
        <p:spPr>
          <a:xfrm>
            <a:off x="0" y="1103972"/>
            <a:ext cx="11965258" cy="5196166"/>
          </a:xfrm>
          <a:prstGeom prst="rect">
            <a:avLst/>
          </a:prstGeom>
          <a:noFill/>
        </p:spPr>
        <p:txBody>
          <a:bodyPr wrap="square">
            <a:spAutoFit/>
          </a:bodyPr>
          <a:lstStyle/>
          <a:p>
            <a:pPr>
              <a:lnSpc>
                <a:spcPct val="150000"/>
              </a:lnSpc>
            </a:pPr>
            <a:r>
              <a:rPr lang="en-US" sz="2800" b="1" dirty="0">
                <a:latin typeface="Calibir"/>
              </a:rPr>
              <a:t>5. Contribution Section</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Contributions should reflect who worked on which part, including supporting sections (scope, data file, traceability).</a:t>
            </a:r>
          </a:p>
          <a:p>
            <a:pPr marL="457200" indent="-457200">
              <a:lnSpc>
                <a:spcPct val="150000"/>
              </a:lnSpc>
              <a:buFont typeface="Arial" panose="020B0604020202020204" pitchFamily="34" charset="0"/>
              <a:buChar char="•"/>
            </a:pPr>
            <a:r>
              <a:rPr lang="en-US" sz="2800" dirty="0">
                <a:latin typeface="Calibir"/>
              </a:rPr>
              <a:t>It’s acceptable to write </a:t>
            </a:r>
            <a:r>
              <a:rPr lang="en-US" sz="2800" i="1" dirty="0">
                <a:latin typeface="Calibir"/>
              </a:rPr>
              <a:t>“Member A: User Stories + Traceability, Member B: Use Case Diagram, Member C: Class Diagram, Member D: Data File Design + proofreading”</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Percentages are not required. A clear description of contributions and assistance is enough.</a:t>
            </a:r>
          </a:p>
        </p:txBody>
      </p:sp>
    </p:spTree>
    <p:extLst>
      <p:ext uri="{BB962C8B-B14F-4D97-AF65-F5344CB8AC3E}">
        <p14:creationId xmlns:p14="http://schemas.microsoft.com/office/powerpoint/2010/main" val="334331900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8FB0F-450D-C965-BDD3-299D2F6580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83C4E-314F-6129-FEA0-FD99D06046E8}"/>
              </a:ext>
            </a:extLst>
          </p:cNvPr>
          <p:cNvSpPr>
            <a:spLocks noGrp="1"/>
          </p:cNvSpPr>
          <p:nvPr>
            <p:ph type="title"/>
          </p:nvPr>
        </p:nvSpPr>
        <p:spPr>
          <a:xfrm>
            <a:off x="0" y="0"/>
            <a:ext cx="12192000" cy="1103972"/>
          </a:xfrm>
        </p:spPr>
        <p:txBody>
          <a:bodyPr anchor="b">
            <a:normAutofit fontScale="90000"/>
          </a:bodyPr>
          <a:lstStyle/>
          <a:p>
            <a:r>
              <a:rPr lang="en-US" sz="4000" dirty="0">
                <a:latin typeface="Calibir"/>
              </a:rPr>
              <a:t>Assignment 1 – Part 1: Scope, Traceability, and Contribution Clarifications</a:t>
            </a:r>
            <a:endParaRPr lang="en-AU" sz="4000" b="1" dirty="0">
              <a:latin typeface="Calibir"/>
            </a:endParaRPr>
          </a:p>
        </p:txBody>
      </p:sp>
      <p:sp>
        <p:nvSpPr>
          <p:cNvPr id="4" name="TextBox 3">
            <a:extLst>
              <a:ext uri="{FF2B5EF4-FFF2-40B4-BE49-F238E27FC236}">
                <a16:creationId xmlns:a16="http://schemas.microsoft.com/office/drawing/2014/main" id="{1DFCE3E9-C937-19AC-D763-FD76BABED979}"/>
              </a:ext>
            </a:extLst>
          </p:cNvPr>
          <p:cNvSpPr txBox="1"/>
          <p:nvPr/>
        </p:nvSpPr>
        <p:spPr>
          <a:xfrm>
            <a:off x="0" y="1103972"/>
            <a:ext cx="11965258" cy="3257174"/>
          </a:xfrm>
          <a:prstGeom prst="rect">
            <a:avLst/>
          </a:prstGeom>
          <a:noFill/>
        </p:spPr>
        <p:txBody>
          <a:bodyPr wrap="square">
            <a:spAutoFit/>
          </a:bodyPr>
          <a:lstStyle/>
          <a:p>
            <a:pPr>
              <a:lnSpc>
                <a:spcPct val="150000"/>
              </a:lnSpc>
            </a:pPr>
            <a:r>
              <a:rPr lang="en-US" sz="2800" b="1" dirty="0">
                <a:latin typeface="Calibir"/>
              </a:rPr>
              <a:t>Key takeaway</a:t>
            </a:r>
            <a:r>
              <a:rPr lang="en-US" sz="2800" dirty="0">
                <a:latin typeface="Calibir"/>
              </a:rPr>
              <a:t>: Focus marks are on Backlog + Use Case + Class Diagram, but supporting sections (scope, traceability, data file design) are expected in the report. Contributions should reflect </a:t>
            </a:r>
            <a:r>
              <a:rPr lang="en-US" sz="2800" i="1" dirty="0">
                <a:latin typeface="Calibir"/>
              </a:rPr>
              <a:t>all</a:t>
            </a:r>
            <a:r>
              <a:rPr lang="en-US" sz="2800" dirty="0">
                <a:latin typeface="Calibir"/>
              </a:rPr>
              <a:t> work, not just the marked sections.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84710770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C1886-86CC-EC27-DA58-DCC5F2274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4883D-C173-04C0-A21A-7E14CF8662B8}"/>
              </a:ext>
            </a:extLst>
          </p:cNvPr>
          <p:cNvSpPr>
            <a:spLocks noGrp="1"/>
          </p:cNvSpPr>
          <p:nvPr>
            <p:ph type="title"/>
          </p:nvPr>
        </p:nvSpPr>
        <p:spPr>
          <a:xfrm>
            <a:off x="0" y="0"/>
            <a:ext cx="12192000" cy="657922"/>
          </a:xfrm>
        </p:spPr>
        <p:txBody>
          <a:bodyPr anchor="b">
            <a:normAutofit/>
          </a:bodyPr>
          <a:lstStyle/>
          <a:p>
            <a:r>
              <a:rPr lang="en-US" sz="4000" dirty="0">
                <a:latin typeface="Calibir"/>
              </a:rPr>
              <a:t>Marking Scheme</a:t>
            </a:r>
            <a:endParaRPr lang="en-AU" sz="4000" b="1" dirty="0">
              <a:latin typeface="Calibir"/>
            </a:endParaRPr>
          </a:p>
        </p:txBody>
      </p:sp>
      <p:sp>
        <p:nvSpPr>
          <p:cNvPr id="4" name="TextBox 3">
            <a:extLst>
              <a:ext uri="{FF2B5EF4-FFF2-40B4-BE49-F238E27FC236}">
                <a16:creationId xmlns:a16="http://schemas.microsoft.com/office/drawing/2014/main" id="{6CDED074-DBF0-F468-751C-6E347BA70A0C}"/>
              </a:ext>
            </a:extLst>
          </p:cNvPr>
          <p:cNvSpPr txBox="1"/>
          <p:nvPr/>
        </p:nvSpPr>
        <p:spPr>
          <a:xfrm>
            <a:off x="0" y="1103972"/>
            <a:ext cx="11965258" cy="2610843"/>
          </a:xfrm>
          <a:prstGeom prst="rect">
            <a:avLst/>
          </a:prstGeom>
          <a:noFill/>
        </p:spPr>
        <p:txBody>
          <a:bodyPr wrap="square">
            <a:spAutoFit/>
          </a:bodyPr>
          <a:lstStyle/>
          <a:p>
            <a:pPr>
              <a:lnSpc>
                <a:spcPct val="150000"/>
              </a:lnSpc>
              <a:buNone/>
            </a:pPr>
            <a:r>
              <a:rPr lang="en-US" sz="2800" b="1" dirty="0">
                <a:latin typeface="Calibir"/>
              </a:rPr>
              <a:t>How You’ll Be Marked (15 marks)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User story backlog (5)</a:t>
            </a:r>
            <a:r>
              <a:rPr lang="en-US" sz="2800" dirty="0">
                <a:latin typeface="Calibir"/>
              </a:rPr>
              <a:t> → specific, consistent, correct IDs.</a:t>
            </a:r>
          </a:p>
          <a:p>
            <a:pPr marL="914400" lvl="1" indent="-457200">
              <a:lnSpc>
                <a:spcPct val="150000"/>
              </a:lnSpc>
              <a:buFont typeface="Arial" panose="020B0604020202020204" pitchFamily="34" charset="0"/>
              <a:buChar char="•"/>
            </a:pPr>
            <a:r>
              <a:rPr lang="en-US" sz="2800" b="1" dirty="0">
                <a:latin typeface="Calibir"/>
              </a:rPr>
              <a:t>Use case diagram (5)</a:t>
            </a:r>
            <a:r>
              <a:rPr lang="en-US" sz="2800" dirty="0">
                <a:latin typeface="Calibir"/>
              </a:rPr>
              <a:t> → correct actors/relationships, labelled.</a:t>
            </a:r>
          </a:p>
          <a:p>
            <a:pPr marL="914400" lvl="1" indent="-457200">
              <a:lnSpc>
                <a:spcPct val="150000"/>
              </a:lnSpc>
              <a:buFont typeface="Arial" panose="020B0604020202020204" pitchFamily="34" charset="0"/>
              <a:buChar char="•"/>
            </a:pPr>
            <a:r>
              <a:rPr lang="en-US" sz="2800" b="1" dirty="0">
                <a:latin typeface="Calibir"/>
              </a:rPr>
              <a:t>Class diagram (5)</a:t>
            </a:r>
            <a:r>
              <a:rPr lang="en-US" sz="2800" dirty="0">
                <a:latin typeface="Calibir"/>
              </a:rPr>
              <a:t> → correct classes, fields, methods, multiplicity.</a:t>
            </a:r>
          </a:p>
        </p:txBody>
      </p:sp>
    </p:spTree>
    <p:extLst>
      <p:ext uri="{BB962C8B-B14F-4D97-AF65-F5344CB8AC3E}">
        <p14:creationId xmlns:p14="http://schemas.microsoft.com/office/powerpoint/2010/main" val="353844087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1E9E3-36E8-05C4-28B6-4FF2178A3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F428E3-9849-6320-8D48-D5246D942F66}"/>
              </a:ext>
            </a:extLst>
          </p:cNvPr>
          <p:cNvSpPr>
            <a:spLocks noGrp="1"/>
          </p:cNvSpPr>
          <p:nvPr>
            <p:ph type="title"/>
          </p:nvPr>
        </p:nvSpPr>
        <p:spPr>
          <a:xfrm>
            <a:off x="0" y="0"/>
            <a:ext cx="12192000" cy="657922"/>
          </a:xfrm>
        </p:spPr>
        <p:txBody>
          <a:bodyPr anchor="b">
            <a:normAutofit/>
          </a:bodyPr>
          <a:lstStyle/>
          <a:p>
            <a:r>
              <a:rPr lang="en-US" sz="4000" dirty="0">
                <a:latin typeface="Calibir"/>
              </a:rPr>
              <a:t>Deliverables &amp; Contribution</a:t>
            </a:r>
            <a:endParaRPr lang="en-AU" sz="4000" b="1" dirty="0">
              <a:latin typeface="Calibir"/>
            </a:endParaRPr>
          </a:p>
        </p:txBody>
      </p:sp>
      <p:sp>
        <p:nvSpPr>
          <p:cNvPr id="4" name="TextBox 3">
            <a:extLst>
              <a:ext uri="{FF2B5EF4-FFF2-40B4-BE49-F238E27FC236}">
                <a16:creationId xmlns:a16="http://schemas.microsoft.com/office/drawing/2014/main" id="{27ECF5CA-1404-22FF-1B51-84837878ABC5}"/>
              </a:ext>
            </a:extLst>
          </p:cNvPr>
          <p:cNvSpPr txBox="1"/>
          <p:nvPr/>
        </p:nvSpPr>
        <p:spPr>
          <a:xfrm>
            <a:off x="98623" y="413416"/>
            <a:ext cx="11965258" cy="6488828"/>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Submit one .docx or .pdf per group.</a:t>
            </a:r>
          </a:p>
          <a:p>
            <a:pPr marL="914400" lvl="1" indent="-457200">
              <a:lnSpc>
                <a:spcPct val="150000"/>
              </a:lnSpc>
              <a:buFont typeface="Arial" panose="020B0604020202020204" pitchFamily="34" charset="0"/>
              <a:buChar char="•"/>
            </a:pPr>
            <a:r>
              <a:rPr lang="en-US" sz="2800" dirty="0">
                <a:latin typeface="Calibir"/>
              </a:rPr>
              <a:t>File name: group&lt;group-number&gt;-Cmp1&lt;lab-number&gt;.docx.</a:t>
            </a:r>
          </a:p>
          <a:p>
            <a:pPr marL="914400" lvl="1" indent="-457200">
              <a:lnSpc>
                <a:spcPct val="150000"/>
              </a:lnSpc>
              <a:buFont typeface="Arial" panose="020B0604020202020204" pitchFamily="34" charset="0"/>
              <a:buChar char="•"/>
            </a:pPr>
            <a:r>
              <a:rPr lang="en-US" sz="2800" dirty="0">
                <a:latin typeface="Calibir"/>
              </a:rPr>
              <a:t>Equal contribution (</a:t>
            </a:r>
            <a:r>
              <a:rPr lang="en-US" sz="2800" dirty="0" err="1">
                <a:latin typeface="Calibir"/>
              </a:rPr>
              <a:t>Sparkplus</a:t>
            </a:r>
            <a:r>
              <a:rPr lang="en-US" sz="2800" dirty="0">
                <a:latin typeface="Calibir"/>
              </a:rPr>
              <a:t> peer rating).</a:t>
            </a:r>
          </a:p>
          <a:p>
            <a:pPr marL="914400" lvl="1" indent="-457200">
              <a:lnSpc>
                <a:spcPct val="150000"/>
              </a:lnSpc>
              <a:buFont typeface="Arial" panose="020B0604020202020204" pitchFamily="34" charset="0"/>
              <a:buChar char="•"/>
            </a:pPr>
            <a:r>
              <a:rPr lang="en-US" sz="2800" dirty="0">
                <a:latin typeface="Calibir"/>
              </a:rPr>
              <a:t>Due: Sunday, Week 7.</a:t>
            </a:r>
          </a:p>
          <a:p>
            <a:pPr marL="914400" lvl="1" indent="-457200">
              <a:lnSpc>
                <a:spcPct val="150000"/>
              </a:lnSpc>
              <a:buFont typeface="Arial" panose="020B0604020202020204" pitchFamily="34" charset="0"/>
              <a:buChar char="•"/>
            </a:pPr>
            <a:r>
              <a:rPr lang="en-US" sz="2800" dirty="0">
                <a:latin typeface="Calibir"/>
              </a:rPr>
              <a:t>Late = penalties.</a:t>
            </a:r>
          </a:p>
          <a:p>
            <a:pPr marL="914400" lvl="1" indent="-457200">
              <a:lnSpc>
                <a:spcPct val="150000"/>
              </a:lnSpc>
              <a:buFont typeface="Arial" panose="020B0604020202020204" pitchFamily="34" charset="0"/>
              <a:buChar char="•"/>
            </a:pPr>
            <a:r>
              <a:rPr lang="en-US" sz="2800" dirty="0">
                <a:latin typeface="Calibir"/>
              </a:rPr>
              <a:t>Misconduct = 0.</a:t>
            </a:r>
          </a:p>
          <a:p>
            <a:pPr>
              <a:lnSpc>
                <a:spcPct val="150000"/>
              </a:lnSpc>
              <a:buNone/>
            </a:pPr>
            <a:r>
              <a:rPr lang="en-US" sz="2800" dirty="0">
                <a:latin typeface="Calibir"/>
              </a:rPr>
              <a:t>Extra Clarification:</a:t>
            </a:r>
          </a:p>
          <a:p>
            <a:pPr marL="914400" lvl="1" indent="-457200">
              <a:lnSpc>
                <a:spcPct val="150000"/>
              </a:lnSpc>
              <a:buFont typeface="Arial" panose="020B0604020202020204" pitchFamily="34" charset="0"/>
              <a:buChar char="•"/>
            </a:pPr>
            <a:r>
              <a:rPr lang="en-US" sz="2800" dirty="0">
                <a:latin typeface="Calibir"/>
              </a:rPr>
              <a:t>Work together on backlog, use case, class diagram.</a:t>
            </a:r>
          </a:p>
          <a:p>
            <a:pPr marL="914400" lvl="1" indent="-457200">
              <a:lnSpc>
                <a:spcPct val="150000"/>
              </a:lnSpc>
              <a:buFont typeface="Arial" panose="020B0604020202020204" pitchFamily="34" charset="0"/>
              <a:buChar char="•"/>
            </a:pPr>
            <a:r>
              <a:rPr lang="en-US" sz="2800" dirty="0">
                <a:latin typeface="Calibir"/>
              </a:rPr>
              <a:t>Keep it consistent across all parts (story IDs → functions → later code).</a:t>
            </a:r>
          </a:p>
          <a:p>
            <a:pPr marL="914400" lvl="1" indent="-457200">
              <a:lnSpc>
                <a:spcPct val="150000"/>
              </a:lnSpc>
              <a:buFont typeface="Arial" panose="020B0604020202020204" pitchFamily="34" charset="0"/>
              <a:buChar char="•"/>
            </a:pPr>
            <a:r>
              <a:rPr lang="en-US" sz="2800" dirty="0">
                <a:latin typeface="Calibir"/>
              </a:rPr>
              <a:t>Don’t wait until last day — diagrams + backlog take time to refine.</a:t>
            </a:r>
          </a:p>
        </p:txBody>
      </p:sp>
    </p:spTree>
    <p:extLst>
      <p:ext uri="{BB962C8B-B14F-4D97-AF65-F5344CB8AC3E}">
        <p14:creationId xmlns:p14="http://schemas.microsoft.com/office/powerpoint/2010/main" val="9963581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a:bodyPr>
          <a:lstStyle/>
          <a:p>
            <a:r>
              <a:rPr lang="en-US" sz="4000" dirty="0">
                <a:latin typeface="Calibir"/>
              </a:rPr>
              <a:t>Reference Note for Students</a:t>
            </a:r>
            <a:endParaRPr lang="en-AU" sz="4000" dirty="0">
              <a:latin typeface="Calibir"/>
            </a:endParaRPr>
          </a:p>
        </p:txBody>
      </p:sp>
      <p:sp>
        <p:nvSpPr>
          <p:cNvPr id="5" name="TextBox 4">
            <a:extLst>
              <a:ext uri="{FF2B5EF4-FFF2-40B4-BE49-F238E27FC236}">
                <a16:creationId xmlns:a16="http://schemas.microsoft.com/office/drawing/2014/main" id="{B16CA4C2-BCCC-2D6B-3331-1123316546C4}"/>
              </a:ext>
            </a:extLst>
          </p:cNvPr>
          <p:cNvSpPr txBox="1"/>
          <p:nvPr/>
        </p:nvSpPr>
        <p:spPr>
          <a:xfrm>
            <a:off x="0" y="1303283"/>
            <a:ext cx="12002814" cy="4549835"/>
          </a:xfrm>
          <a:prstGeom prst="rect">
            <a:avLst/>
          </a:prstGeom>
          <a:noFill/>
        </p:spPr>
        <p:txBody>
          <a:bodyPr wrap="square">
            <a:spAutoFit/>
          </a:bodyPr>
          <a:lstStyle/>
          <a:p>
            <a:pPr>
              <a:lnSpc>
                <a:spcPct val="150000"/>
              </a:lnSpc>
              <a:buNone/>
            </a:pPr>
            <a:r>
              <a:rPr lang="en-US" sz="2800" dirty="0">
                <a:latin typeface="Calibir"/>
              </a:rPr>
              <a:t>The main reference for this assignment is the official instructions provided on Canvas:</a:t>
            </a:r>
            <a:br>
              <a:rPr lang="en-US" sz="2800" dirty="0">
                <a:latin typeface="Calibir"/>
              </a:rPr>
            </a:br>
            <a:r>
              <a:rPr lang="en-US" sz="2800" dirty="0">
                <a:latin typeface="Calibir"/>
              </a:rPr>
              <a:t>Assignments – Part 1: Analysis and Design</a:t>
            </a:r>
          </a:p>
          <a:p>
            <a:pPr>
              <a:lnSpc>
                <a:spcPct val="150000"/>
              </a:lnSpc>
              <a:buNone/>
            </a:pPr>
            <a:r>
              <a:rPr lang="en-US" sz="2800" dirty="0">
                <a:latin typeface="Calibir"/>
              </a:rPr>
              <a:t>This PowerPoint is designed to guide you and clarify the task where things might feel confusing.</a:t>
            </a:r>
            <a:br>
              <a:rPr lang="en-US" sz="2800" dirty="0">
                <a:latin typeface="Calibir"/>
              </a:rPr>
            </a:br>
            <a:r>
              <a:rPr lang="en-US" sz="2800" dirty="0">
                <a:latin typeface="Calibir"/>
              </a:rPr>
              <a:t>If you are ever unsure, please always go back to the official Canvas instructions as the source of truth.</a:t>
            </a:r>
          </a:p>
        </p:txBody>
      </p:sp>
    </p:spTree>
    <p:extLst>
      <p:ext uri="{BB962C8B-B14F-4D97-AF65-F5344CB8AC3E}">
        <p14:creationId xmlns:p14="http://schemas.microsoft.com/office/powerpoint/2010/main" val="261477970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2559</TotalTime>
  <Words>11386</Words>
  <Application>Microsoft Office PowerPoint</Application>
  <PresentationFormat>Widescreen</PresentationFormat>
  <Paragraphs>935</Paragraphs>
  <Slides>126</Slides>
  <Notes>34</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126</vt:i4>
      </vt:variant>
    </vt:vector>
  </HeadingPairs>
  <TitlesOfParts>
    <vt:vector size="135" baseType="lpstr">
      <vt:lpstr>Aptos</vt:lpstr>
      <vt:lpstr>Aptos Display</vt:lpstr>
      <vt:lpstr>Arial</vt:lpstr>
      <vt:lpstr>Calibir</vt:lpstr>
      <vt:lpstr>Calibri</vt:lpstr>
      <vt:lpstr>Calibri Light</vt:lpstr>
      <vt:lpstr>Wingdings</vt:lpstr>
      <vt:lpstr>Office Theme</vt:lpstr>
      <vt:lpstr>1_Office Theme</vt:lpstr>
      <vt:lpstr>32555 – Fundamentals of Software Development</vt:lpstr>
      <vt:lpstr>Welcome to 32555 – Fundamentals of Software Development</vt:lpstr>
      <vt:lpstr>Welcome to 32555 – Fundamentals of Software Development</vt:lpstr>
      <vt:lpstr>Have you attended your enrolled session?</vt:lpstr>
      <vt:lpstr>Week 7 Outline</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Group Assignement – Part 1: Clarification Slides</vt:lpstr>
      <vt:lpstr>Project Brief – Simplified</vt:lpstr>
      <vt:lpstr>Project Brief – Simplified</vt:lpstr>
      <vt:lpstr>Project Brief – Simplified</vt:lpstr>
      <vt:lpstr>Project Brief – Simplified</vt:lpstr>
      <vt:lpstr>Project Brief – Simplified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Admin, IDs, and Deliverables Clarified</vt:lpstr>
      <vt:lpstr>Assignment 1 – Part 1: Use Case Diagram Clarifications</vt:lpstr>
      <vt:lpstr>Assignment 1 – Part 1: Use Case Diagram Clarifications</vt:lpstr>
      <vt:lpstr>Assignment 1 – Part 1: Use Case Diagram Clarifications</vt:lpstr>
      <vt:lpstr>Assignment 1 – Part 1: Use Case Diagram Clarifications</vt:lpstr>
      <vt:lpstr>Assignment 1 – Part 1: Use Case Diagram Clarifications</vt:lpstr>
      <vt:lpstr>User Story Backlog –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PowerPoint Presentation</vt:lpstr>
      <vt:lpstr>User Story Backlog – Clarified</vt:lpstr>
      <vt:lpstr>User Story Backlog – Clarified</vt:lpstr>
      <vt:lpstr>User Story Backlog –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 Case &amp; Class Diagrams – One Comprehensive View</vt:lpstr>
      <vt:lpstr>Use Case &amp; Class Diagrams – One Comprehensive View</vt:lpstr>
      <vt:lpstr>Use Case &amp; Class Diagrams – One Comprehensive View</vt:lpstr>
      <vt:lpstr>Use Case &amp; Class Diagrams – One Comprehensive View</vt:lpstr>
      <vt:lpstr>User Story Backlog — Clarified</vt:lpstr>
      <vt:lpstr>User Story Backlog — Clarified</vt:lpstr>
      <vt:lpstr>UML Use Case Diagram — Clarified</vt:lpstr>
      <vt:lpstr>UML Class Diagram — Clarified</vt:lpstr>
      <vt:lpstr>UML Class Diagram — Clarified</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Sample Diagrams &amp; Feedback</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Class Diagram Design Clarifications</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CLI Representation, Data, and Relationships Clarified</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Assignment 1 – Part 1: Scope, Traceability, and Contribution Clarifications</vt:lpstr>
      <vt:lpstr>Marking Scheme</vt:lpstr>
      <vt:lpstr>Deliverables &amp; Contribution</vt:lpstr>
      <vt:lpstr>Reference Note for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744</cp:revision>
  <dcterms:created xsi:type="dcterms:W3CDTF">2025-07-28T16:39:25Z</dcterms:created>
  <dcterms:modified xsi:type="dcterms:W3CDTF">2026-09-09T02:56:26Z</dcterms:modified>
</cp:coreProperties>
</file>