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0"/>
  </p:notesMasterIdLst>
  <p:sldIdLst>
    <p:sldId id="256" r:id="rId3"/>
    <p:sldId id="2467" r:id="rId4"/>
    <p:sldId id="2634" r:id="rId5"/>
    <p:sldId id="2592" r:id="rId6"/>
    <p:sldId id="2764" r:id="rId7"/>
    <p:sldId id="2773" r:id="rId8"/>
    <p:sldId id="2774" r:id="rId9"/>
    <p:sldId id="2765" r:id="rId10"/>
    <p:sldId id="2775" r:id="rId11"/>
    <p:sldId id="2776" r:id="rId12"/>
    <p:sldId id="2766" r:id="rId13"/>
    <p:sldId id="2777" r:id="rId14"/>
    <p:sldId id="2778" r:id="rId15"/>
    <p:sldId id="2779" r:id="rId16"/>
    <p:sldId id="2780" r:id="rId17"/>
    <p:sldId id="2781" r:id="rId18"/>
    <p:sldId id="2784" r:id="rId19"/>
    <p:sldId id="2783" r:id="rId20"/>
    <p:sldId id="2782" r:id="rId21"/>
    <p:sldId id="2768" r:id="rId22"/>
    <p:sldId id="2769" r:id="rId23"/>
    <p:sldId id="2770" r:id="rId24"/>
    <p:sldId id="2771" r:id="rId25"/>
    <p:sldId id="2772" r:id="rId26"/>
    <p:sldId id="2635" r:id="rId27"/>
    <p:sldId id="2732" r:id="rId28"/>
    <p:sldId id="2733" r:id="rId29"/>
    <p:sldId id="2734" r:id="rId30"/>
    <p:sldId id="2735" r:id="rId31"/>
    <p:sldId id="2736" r:id="rId32"/>
    <p:sldId id="2740" r:id="rId33"/>
    <p:sldId id="2741" r:id="rId34"/>
    <p:sldId id="2742" r:id="rId35"/>
    <p:sldId id="2743" r:id="rId36"/>
    <p:sldId id="2739" r:id="rId37"/>
    <p:sldId id="2744" r:id="rId38"/>
    <p:sldId id="2746" r:id="rId39"/>
    <p:sldId id="2747" r:id="rId40"/>
    <p:sldId id="2737" r:id="rId41"/>
    <p:sldId id="2785" r:id="rId42"/>
    <p:sldId id="2749" r:id="rId43"/>
    <p:sldId id="2750" r:id="rId44"/>
    <p:sldId id="2751" r:id="rId45"/>
    <p:sldId id="2752" r:id="rId46"/>
    <p:sldId id="2748" r:id="rId47"/>
    <p:sldId id="2753" r:id="rId48"/>
    <p:sldId id="2754" r:id="rId49"/>
    <p:sldId id="2757" r:id="rId50"/>
    <p:sldId id="2758" r:id="rId51"/>
    <p:sldId id="2759" r:id="rId52"/>
    <p:sldId id="2760" r:id="rId53"/>
    <p:sldId id="2761" r:id="rId54"/>
    <p:sldId id="2756" r:id="rId55"/>
    <p:sldId id="2755" r:id="rId56"/>
    <p:sldId id="2762" r:id="rId57"/>
    <p:sldId id="2763" r:id="rId58"/>
    <p:sldId id="2738" r:id="rId59"/>
    <p:sldId id="2786" r:id="rId60"/>
    <p:sldId id="2788" r:id="rId61"/>
    <p:sldId id="2789" r:id="rId62"/>
    <p:sldId id="2787" r:id="rId63"/>
    <p:sldId id="2790" r:id="rId64"/>
    <p:sldId id="2791" r:id="rId65"/>
    <p:sldId id="2792" r:id="rId66"/>
    <p:sldId id="2793" r:id="rId67"/>
    <p:sldId id="2794" r:id="rId68"/>
    <p:sldId id="74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253"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2/09/2025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2/09/2025</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2/09/2025</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2/09/2025</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2/09/2025</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Farshid.Keivanian@uts.edu.au"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15.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3063992" y="1407171"/>
            <a:ext cx="8737863" cy="3105506"/>
          </a:xfrm>
        </p:spPr>
        <p:txBody>
          <a:bodyPr anchor="b">
            <a:noAutofit/>
          </a:bodyPr>
          <a:lstStyle/>
          <a:p>
            <a:pPr algn="l">
              <a:lnSpc>
                <a:spcPct val="150000"/>
              </a:lnSpc>
            </a:pPr>
            <a:r>
              <a:rPr lang="en-US" sz="4800" dirty="0">
                <a:latin typeface="Calibir"/>
              </a:rPr>
              <a:t>Introduction to Software Engineering (ISE102)</a:t>
            </a:r>
            <a:br>
              <a:rPr lang="en-US" sz="4800" dirty="0">
                <a:latin typeface="Calibir"/>
              </a:rPr>
            </a:br>
            <a:r>
              <a:rPr lang="en-US" sz="4800" dirty="0">
                <a:latin typeface="Calibir"/>
              </a:rPr>
              <a:t>Tutorial Week 6</a:t>
            </a:r>
            <a:endParaRPr lang="en-AU" sz="4800" dirty="0">
              <a:latin typeface="Calibir"/>
            </a:endParaRPr>
          </a:p>
        </p:txBody>
      </p:sp>
      <p:pic>
        <p:nvPicPr>
          <p:cNvPr id="6" name="Picture 5" descr="A person wearing glasses and a blue shirt&#10;&#10;AI-generated content may be incorrect.">
            <a:extLst>
              <a:ext uri="{FF2B5EF4-FFF2-40B4-BE49-F238E27FC236}">
                <a16:creationId xmlns:a16="http://schemas.microsoft.com/office/drawing/2014/main" id="{6073E74C-6F0F-4134-F922-9D911600F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90145" y="1199407"/>
            <a:ext cx="2673847" cy="3521034"/>
          </a:xfrm>
          <a:prstGeom prst="rect">
            <a:avLst/>
          </a:prstGeom>
        </p:spPr>
      </p:pic>
    </p:spTree>
    <p:extLst>
      <p:ext uri="{BB962C8B-B14F-4D97-AF65-F5344CB8AC3E}">
        <p14:creationId xmlns:p14="http://schemas.microsoft.com/office/powerpoint/2010/main" val="276994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6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823057"/>
            <a:ext cx="12192000" cy="5724644"/>
          </a:xfrm>
          <a:prstGeom prst="rect">
            <a:avLst/>
          </a:prstGeom>
          <a:noFill/>
        </p:spPr>
        <p:txBody>
          <a:bodyPr wrap="square">
            <a:spAutoFit/>
          </a:bodyPr>
          <a:lstStyle/>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Example &amp; Activity — Campus Parking Permit System (intro to UML, relationships, real-world system)</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Group Assignment – Part 1: What to do / submit / avoid</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Group Assignment – Part 2: Build hints (Python-first, JavaFX minority)</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Group Assignment – Part 3: Showcase tips</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Optional mini coding nudges: Email &amp; Password Patterns</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Activity 2: Allow student. subdomain too </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Activity 3: Allow optional - or _ before digits in password</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Activity 4: Generate Random Marks and Assign Grades</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Activity 5: Make randomness reproducible</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Activity 6: Add student ID and PASS/FAIL</a:t>
            </a:r>
          </a:p>
          <a:p>
            <a:pPr marL="514350" indent="-514350">
              <a:spcAft>
                <a:spcPts val="800"/>
              </a:spcAft>
              <a:buFont typeface="+mj-lt"/>
              <a:buAutoNum type="arabicPeriod"/>
            </a:pPr>
            <a:r>
              <a:rPr lang="en-US" sz="2200" kern="100" dirty="0">
                <a:latin typeface="Calibir"/>
                <a:ea typeface="Aptos" panose="020B0004020202020204" pitchFamily="34" charset="0"/>
                <a:cs typeface="Arial" panose="020B0604020202020204" pitchFamily="34" charset="0"/>
              </a:rPr>
              <a:t>Activity 7: Grade Classification Based on University Rules</a:t>
            </a:r>
          </a:p>
          <a:p>
            <a:pPr marL="514350" indent="-514350">
              <a:spcAft>
                <a:spcPts val="800"/>
              </a:spcAft>
              <a:buFont typeface="+mj-lt"/>
              <a:buAutoNum type="arabicPeriod"/>
            </a:pPr>
            <a:r>
              <a:rPr lang="en-US" sz="2200" dirty="0">
                <a:latin typeface="Calibir"/>
              </a:rPr>
              <a:t>Example &amp; Activity — Event Ticketing Lite</a:t>
            </a:r>
            <a:endParaRPr lang="en-US" sz="2200" kern="100" dirty="0">
              <a:latin typeface="Calibir"/>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0009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pic>
        <p:nvPicPr>
          <p:cNvPr id="3" name="Picture 2">
            <a:extLst>
              <a:ext uri="{FF2B5EF4-FFF2-40B4-BE49-F238E27FC236}">
                <a16:creationId xmlns:a16="http://schemas.microsoft.com/office/drawing/2014/main" id="{CD4C78DA-EA34-3EF7-4935-1E6251F4954C}"/>
              </a:ext>
            </a:extLst>
          </p:cNvPr>
          <p:cNvPicPr>
            <a:picLocks noChangeAspect="1"/>
          </p:cNvPicPr>
          <p:nvPr/>
        </p:nvPicPr>
        <p:blipFill>
          <a:blip r:embed="rId2"/>
          <a:srcRect b="5253"/>
          <a:stretch>
            <a:fillRect/>
          </a:stretch>
        </p:blipFill>
        <p:spPr>
          <a:xfrm>
            <a:off x="1698186" y="756745"/>
            <a:ext cx="8795628" cy="4687614"/>
          </a:xfrm>
          <a:prstGeom prst="rect">
            <a:avLst/>
          </a:prstGeom>
        </p:spPr>
      </p:pic>
      <p:sp>
        <p:nvSpPr>
          <p:cNvPr id="5" name="TextBox 4">
            <a:extLst>
              <a:ext uri="{FF2B5EF4-FFF2-40B4-BE49-F238E27FC236}">
                <a16:creationId xmlns:a16="http://schemas.microsoft.com/office/drawing/2014/main" id="{CC20B5C0-803C-5E96-374C-6D1E59E4C47A}"/>
              </a:ext>
            </a:extLst>
          </p:cNvPr>
          <p:cNvSpPr txBox="1"/>
          <p:nvPr/>
        </p:nvSpPr>
        <p:spPr>
          <a:xfrm>
            <a:off x="110359" y="5444359"/>
            <a:ext cx="11971282" cy="136280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Please send me an email listing your group members and kindly CC all members of your group in the same email. This will help us keep everything clear and ensure everyone is informed. </a:t>
            </a:r>
            <a:r>
              <a:rPr kumimoji="0" lang="en-US" sz="1900" b="0" i="0" u="none" strike="noStrike" kern="1200" cap="none" spc="0" normalizeH="0" baseline="0" noProof="0" dirty="0">
                <a:ln>
                  <a:noFill/>
                </a:ln>
                <a:solidFill>
                  <a:prstClr val="black"/>
                </a:solidFill>
                <a:effectLst/>
                <a:uLnTx/>
                <a:uFillTx/>
                <a:latin typeface="Calibir"/>
                <a:ea typeface="+mn-ea"/>
                <a:cs typeface="+mn-cs"/>
                <a:hlinkClick r:id="rId3"/>
              </a:rPr>
              <a:t>Farshid.Keivanian@uts.edu.au</a:t>
            </a:r>
            <a:r>
              <a:rPr kumimoji="0" lang="en-US" sz="1900" b="0" i="0" u="none" strike="noStrike" kern="1200" cap="none" spc="0" normalizeH="0" baseline="0" noProof="0" dirty="0">
                <a:ln>
                  <a:noFill/>
                </a:ln>
                <a:solidFill>
                  <a:prstClr val="black"/>
                </a:solidFill>
                <a:effectLst/>
                <a:uLnTx/>
                <a:uFillTx/>
                <a:latin typeface="Calibir"/>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Once I receive your email, I will fill in the online sheet with your group details and share it with the Unit Coordinator.</a:t>
            </a:r>
          </a:p>
        </p:txBody>
      </p:sp>
    </p:spTree>
    <p:extLst>
      <p:ext uri="{BB962C8B-B14F-4D97-AF65-F5344CB8AC3E}">
        <p14:creationId xmlns:p14="http://schemas.microsoft.com/office/powerpoint/2010/main" val="274633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
        <p:nvSpPr>
          <p:cNvPr id="6" name="TextBox 5">
            <a:extLst>
              <a:ext uri="{FF2B5EF4-FFF2-40B4-BE49-F238E27FC236}">
                <a16:creationId xmlns:a16="http://schemas.microsoft.com/office/drawing/2014/main" id="{B093FA69-7860-F88D-7261-9EFCD7048713}"/>
              </a:ext>
            </a:extLst>
          </p:cNvPr>
          <p:cNvSpPr txBox="1"/>
          <p:nvPr/>
        </p:nvSpPr>
        <p:spPr>
          <a:xfrm>
            <a:off x="0" y="988143"/>
            <a:ext cx="12192000" cy="5842497"/>
          </a:xfrm>
          <a:prstGeom prst="rect">
            <a:avLst/>
          </a:prstGeom>
          <a:noFill/>
        </p:spPr>
        <p:txBody>
          <a:bodyPr wrap="square">
            <a:spAutoFit/>
          </a:bodyPr>
          <a:lstStyle/>
          <a:p>
            <a:pPr>
              <a:lnSpc>
                <a:spcPct val="150000"/>
              </a:lnSpc>
              <a:buNone/>
            </a:pPr>
            <a:r>
              <a:rPr lang="en-US" sz="2800" i="1" dirty="0">
                <a:latin typeface="Calibir"/>
              </a:rPr>
              <a:t>(Associations, multiplicity, inheritance, composition, dependency)</a:t>
            </a:r>
            <a:endParaRPr lang="en-US" sz="2800" dirty="0">
              <a:latin typeface="Calibir"/>
            </a:endParaRPr>
          </a:p>
          <a:p>
            <a:pPr>
              <a:lnSpc>
                <a:spcPct val="150000"/>
              </a:lnSpc>
              <a:buNone/>
            </a:pPr>
            <a:r>
              <a:rPr lang="en-US" sz="2800" b="1" dirty="0">
                <a:latin typeface="Calibir"/>
              </a:rPr>
              <a:t>Mini case</a:t>
            </a:r>
          </a:p>
          <a:p>
            <a:pPr>
              <a:lnSpc>
                <a:spcPct val="150000"/>
              </a:lnSpc>
              <a:buNone/>
            </a:pPr>
            <a:r>
              <a:rPr lang="en-US" sz="2800" dirty="0">
                <a:latin typeface="Calibir"/>
              </a:rPr>
              <a:t>Students and staff request Parking Permits per semester. A Permit is for one vehicle (plate number) and is valid for one car park zone. Users can hold at most 1 active permit per semester. Security Officers can revoke permits. Payment is Card or Voucher (two subclasses of Payment). When revoked, the permit becomes inactive.</a:t>
            </a:r>
          </a:p>
          <a:p>
            <a:pPr>
              <a:lnSpc>
                <a:spcPct val="150000"/>
              </a:lnSpc>
              <a:buNone/>
            </a:pPr>
            <a:r>
              <a:rPr lang="en-US" sz="2800" dirty="0">
                <a:latin typeface="Calibir"/>
              </a:rPr>
              <a:t>Think about: Candidate Classes, </a:t>
            </a:r>
            <a:br>
              <a:rPr lang="en-US" sz="2800" dirty="0">
                <a:latin typeface="Calibir"/>
              </a:rPr>
            </a:br>
            <a:r>
              <a:rPr lang="en-US" sz="2800" dirty="0">
                <a:latin typeface="Calibir"/>
              </a:rPr>
              <a:t>Attributes, Methods, Key Relationship, Multiplicities, </a:t>
            </a:r>
            <a:r>
              <a:rPr lang="en-US" sz="2800" dirty="0" err="1">
                <a:latin typeface="Calibir"/>
              </a:rPr>
              <a:t>etc</a:t>
            </a:r>
            <a:endParaRPr lang="en-US" sz="2800" dirty="0">
              <a:latin typeface="Calibir"/>
            </a:endParaRPr>
          </a:p>
        </p:txBody>
      </p:sp>
    </p:spTree>
    <p:extLst>
      <p:ext uri="{BB962C8B-B14F-4D97-AF65-F5344CB8AC3E}">
        <p14:creationId xmlns:p14="http://schemas.microsoft.com/office/powerpoint/2010/main" val="257319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093FA69-7860-F88D-7261-9EFCD7048713}"/>
              </a:ext>
            </a:extLst>
          </p:cNvPr>
          <p:cNvSpPr txBox="1"/>
          <p:nvPr/>
        </p:nvSpPr>
        <p:spPr>
          <a:xfrm>
            <a:off x="0" y="988143"/>
            <a:ext cx="12192000" cy="2610843"/>
          </a:xfrm>
          <a:prstGeom prst="rect">
            <a:avLst/>
          </a:prstGeom>
          <a:noFill/>
        </p:spPr>
        <p:txBody>
          <a:bodyPr wrap="square">
            <a:spAutoFit/>
          </a:bodyPr>
          <a:lstStyle/>
          <a:p>
            <a:pPr>
              <a:lnSpc>
                <a:spcPct val="150000"/>
              </a:lnSpc>
            </a:pPr>
            <a:r>
              <a:rPr lang="en-US" sz="2800" b="1" dirty="0">
                <a:latin typeface="Calibir"/>
              </a:rPr>
              <a:t>1. Candidate Classes (Rectangles)</a:t>
            </a:r>
          </a:p>
          <a:p>
            <a:pPr>
              <a:lnSpc>
                <a:spcPct val="150000"/>
              </a:lnSpc>
            </a:pPr>
            <a:r>
              <a:rPr lang="en-US" sz="2800" dirty="0">
                <a:latin typeface="Calibir"/>
              </a:rPr>
              <a:t>Think of classes as blueprints, like a recipe card:</a:t>
            </a:r>
          </a:p>
          <a:p>
            <a:pPr marL="457200" indent="-457200">
              <a:lnSpc>
                <a:spcPct val="150000"/>
              </a:lnSpc>
              <a:buFont typeface="Arial" panose="020B0604020202020204" pitchFamily="34" charset="0"/>
              <a:buChar char="•"/>
            </a:pPr>
            <a:r>
              <a:rPr lang="en-US" sz="2800" dirty="0">
                <a:latin typeface="Calibir"/>
              </a:rPr>
              <a:t>User (abstract – means you can’t create a "User" directly, only Student or Staff)</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StudentUser</a:t>
            </a:r>
            <a:r>
              <a:rPr lang="en-US" sz="2800" dirty="0">
                <a:latin typeface="Calibir"/>
              </a:rPr>
              <a:t>, </a:t>
            </a:r>
            <a:r>
              <a:rPr lang="en-US" sz="2800" dirty="0" err="1">
                <a:latin typeface="Calibir"/>
              </a:rPr>
              <a:t>StaffUser</a:t>
            </a:r>
            <a:endParaRPr lang="en-US" sz="2800" dirty="0">
              <a:latin typeface="Calibir"/>
            </a:endParaRPr>
          </a:p>
        </p:txBody>
      </p:sp>
      <p:sp>
        <p:nvSpPr>
          <p:cNvPr id="5" name="Rectangle 4">
            <a:extLst>
              <a:ext uri="{FF2B5EF4-FFF2-40B4-BE49-F238E27FC236}">
                <a16:creationId xmlns:a16="http://schemas.microsoft.com/office/drawing/2014/main" id="{3C503604-97A8-528A-890D-BE51C42FF8D5}"/>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8" name="Rectangle 7">
            <a:extLst>
              <a:ext uri="{FF2B5EF4-FFF2-40B4-BE49-F238E27FC236}">
                <a16:creationId xmlns:a16="http://schemas.microsoft.com/office/drawing/2014/main" id="{6A76BE5E-899D-6313-BF03-094030D9D297}"/>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StudentUser</a:t>
            </a:r>
            <a:r>
              <a:rPr lang="en-US" sz="2800" dirty="0">
                <a:latin typeface="Calibir"/>
              </a:rPr>
              <a:t> (inherits User)</a:t>
            </a:r>
          </a:p>
        </p:txBody>
      </p:sp>
      <p:sp>
        <p:nvSpPr>
          <p:cNvPr id="9" name="Rectangle 8">
            <a:extLst>
              <a:ext uri="{FF2B5EF4-FFF2-40B4-BE49-F238E27FC236}">
                <a16:creationId xmlns:a16="http://schemas.microsoft.com/office/drawing/2014/main" id="{814FC595-507F-BA18-1C08-F514F07B6266}"/>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StaffUser</a:t>
            </a:r>
            <a:br>
              <a:rPr lang="en-US" sz="2800" dirty="0">
                <a:latin typeface="Calibir"/>
              </a:rPr>
            </a:br>
            <a:r>
              <a:rPr lang="en-US" sz="2800" dirty="0">
                <a:latin typeface="Calibir"/>
              </a:rPr>
              <a:t>(inherits User)</a:t>
            </a:r>
          </a:p>
        </p:txBody>
      </p:sp>
      <p:cxnSp>
        <p:nvCxnSpPr>
          <p:cNvPr id="11" name="Straight Arrow Connector 10">
            <a:extLst>
              <a:ext uri="{FF2B5EF4-FFF2-40B4-BE49-F238E27FC236}">
                <a16:creationId xmlns:a16="http://schemas.microsoft.com/office/drawing/2014/main" id="{6DBFFA68-0C8B-DDCD-A359-1B98DC0972AE}"/>
              </a:ext>
            </a:extLst>
          </p:cNvPr>
          <p:cNvCxnSpPr>
            <a:cxnSpLocks/>
            <a:stCxn id="5"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6A99516E-871E-662E-BCF6-350D786AFE7D}"/>
              </a:ext>
            </a:extLst>
          </p:cNvPr>
          <p:cNvCxnSpPr>
            <a:cxnSpLocks/>
            <a:stCxn id="5" idx="2"/>
            <a:endCxn id="9"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7" name="Title 1">
            <a:extLst>
              <a:ext uri="{FF2B5EF4-FFF2-40B4-BE49-F238E27FC236}">
                <a16:creationId xmlns:a16="http://schemas.microsoft.com/office/drawing/2014/main" id="{AE738C55-9819-74D2-84DE-F81EDF661A38}"/>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405756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2EFB-1FA9-81BA-E14A-045C38CFA33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EF3F42-DFD3-4AF6-DBDB-A2B48F1A9D6D}"/>
              </a:ext>
            </a:extLst>
          </p:cNvPr>
          <p:cNvSpPr txBox="1"/>
          <p:nvPr/>
        </p:nvSpPr>
        <p:spPr>
          <a:xfrm>
            <a:off x="0" y="988143"/>
            <a:ext cx="12192000"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Permit (id, zone, plate, status, semester)</a:t>
            </a:r>
          </a:p>
          <a:p>
            <a:pPr marL="457200" indent="-457200">
              <a:lnSpc>
                <a:spcPct val="150000"/>
              </a:lnSpc>
              <a:buFont typeface="Arial" panose="020B0604020202020204" pitchFamily="34" charset="0"/>
              <a:buChar char="•"/>
            </a:pPr>
            <a:r>
              <a:rPr lang="en-US" sz="2800" dirty="0">
                <a:latin typeface="Calibir"/>
              </a:rPr>
              <a:t>Payment (abstract)</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CardPayment</a:t>
            </a:r>
            <a:r>
              <a:rPr lang="en-US" sz="2800" dirty="0">
                <a:latin typeface="Calibir"/>
              </a:rPr>
              <a:t>, </a:t>
            </a:r>
            <a:r>
              <a:rPr lang="en-US" sz="2800" dirty="0" err="1">
                <a:latin typeface="Calibir"/>
              </a:rPr>
              <a:t>VoucherPayment</a:t>
            </a:r>
            <a:endParaRPr lang="en-US" sz="2800" dirty="0">
              <a:latin typeface="Calibir"/>
            </a:endParaRPr>
          </a:p>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a:latin typeface="Calibir"/>
              </a:rPr>
              <a:t>ParkingDB (acts like a system storage)</a:t>
            </a:r>
          </a:p>
        </p:txBody>
      </p:sp>
      <p:sp>
        <p:nvSpPr>
          <p:cNvPr id="3" name="Rectangle 2">
            <a:extLst>
              <a:ext uri="{FF2B5EF4-FFF2-40B4-BE49-F238E27FC236}">
                <a16:creationId xmlns:a16="http://schemas.microsoft.com/office/drawing/2014/main" id="{F233D850-0F36-E268-425E-1C643EDD56C6}"/>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Payment &lt;&lt;abstract&gt;&gt;</a:t>
            </a:r>
          </a:p>
        </p:txBody>
      </p:sp>
      <p:sp>
        <p:nvSpPr>
          <p:cNvPr id="4" name="Rectangle 3">
            <a:extLst>
              <a:ext uri="{FF2B5EF4-FFF2-40B4-BE49-F238E27FC236}">
                <a16:creationId xmlns:a16="http://schemas.microsoft.com/office/drawing/2014/main" id="{3C3E352D-4630-9C1F-312F-E2B5F766059D}"/>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CardPayment</a:t>
            </a:r>
            <a:r>
              <a:rPr lang="en-US" sz="2800" dirty="0">
                <a:latin typeface="Calibir"/>
              </a:rPr>
              <a:t> (inherits User)</a:t>
            </a:r>
          </a:p>
        </p:txBody>
      </p:sp>
      <p:sp>
        <p:nvSpPr>
          <p:cNvPr id="7" name="Rectangle 6">
            <a:extLst>
              <a:ext uri="{FF2B5EF4-FFF2-40B4-BE49-F238E27FC236}">
                <a16:creationId xmlns:a16="http://schemas.microsoft.com/office/drawing/2014/main" id="{7046671D-0A37-2258-0B73-404185756ADA}"/>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VoucherPayment</a:t>
            </a:r>
            <a:br>
              <a:rPr lang="en-US" sz="2800" dirty="0">
                <a:latin typeface="Calibir"/>
              </a:rPr>
            </a:br>
            <a:r>
              <a:rPr lang="en-US" sz="2800" dirty="0">
                <a:latin typeface="Calibir"/>
              </a:rPr>
              <a:t>(inherits User)</a:t>
            </a:r>
          </a:p>
        </p:txBody>
      </p:sp>
      <p:cxnSp>
        <p:nvCxnSpPr>
          <p:cNvPr id="8" name="Straight Arrow Connector 7">
            <a:extLst>
              <a:ext uri="{FF2B5EF4-FFF2-40B4-BE49-F238E27FC236}">
                <a16:creationId xmlns:a16="http://schemas.microsoft.com/office/drawing/2014/main" id="{56F36708-EC8F-1624-DC02-8D37F0653463}"/>
              </a:ext>
            </a:extLst>
          </p:cNvPr>
          <p:cNvCxnSpPr>
            <a:cxnSpLocks/>
            <a:stCxn id="3"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929ACB55-1311-9E1A-7222-52C6D0459A47}"/>
              </a:ext>
            </a:extLst>
          </p:cNvPr>
          <p:cNvCxnSpPr>
            <a:cxnSpLocks/>
            <a:stCxn id="3" idx="2"/>
            <a:endCxn id="7"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13" name="Rectangle 12">
            <a:extLst>
              <a:ext uri="{FF2B5EF4-FFF2-40B4-BE49-F238E27FC236}">
                <a16:creationId xmlns:a16="http://schemas.microsoft.com/office/drawing/2014/main" id="{A1649AFF-8CE3-C873-ACBB-4E805F2B8D5C}"/>
              </a:ext>
            </a:extLst>
          </p:cNvPr>
          <p:cNvSpPr/>
          <p:nvPr/>
        </p:nvSpPr>
        <p:spPr>
          <a:xfrm>
            <a:off x="7064478" y="754868"/>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a:t>
            </a:r>
          </a:p>
        </p:txBody>
      </p:sp>
      <p:sp>
        <p:nvSpPr>
          <p:cNvPr id="15" name="TextBox 14">
            <a:extLst>
              <a:ext uri="{FF2B5EF4-FFF2-40B4-BE49-F238E27FC236}">
                <a16:creationId xmlns:a16="http://schemas.microsoft.com/office/drawing/2014/main" id="{B8490423-87D1-D12F-487C-407FADDFCE39}"/>
              </a:ext>
            </a:extLst>
          </p:cNvPr>
          <p:cNvSpPr txBox="1"/>
          <p:nvPr/>
        </p:nvSpPr>
        <p:spPr>
          <a:xfrm>
            <a:off x="0" y="4887601"/>
            <a:ext cx="5230762" cy="1964512"/>
          </a:xfrm>
          <a:prstGeom prst="rect">
            <a:avLst/>
          </a:prstGeom>
          <a:noFill/>
        </p:spPr>
        <p:txBody>
          <a:bodyPr wrap="square">
            <a:spAutoFit/>
          </a:bodyPr>
          <a:lstStyle/>
          <a:p>
            <a:pPr>
              <a:lnSpc>
                <a:spcPct val="150000"/>
              </a:lnSpc>
            </a:pPr>
            <a:r>
              <a:rPr lang="en-US" sz="2800" dirty="0" err="1">
                <a:latin typeface="Calibir"/>
              </a:rPr>
              <a:t>CardPayment</a:t>
            </a:r>
            <a:r>
              <a:rPr lang="en-US" sz="2800" dirty="0">
                <a:latin typeface="Calibir"/>
              </a:rPr>
              <a:t> and </a:t>
            </a:r>
            <a:r>
              <a:rPr lang="en-US" sz="2800" dirty="0" err="1">
                <a:latin typeface="Calibir"/>
              </a:rPr>
              <a:t>VoucherPayment</a:t>
            </a:r>
            <a:r>
              <a:rPr lang="en-US" sz="2800" dirty="0">
                <a:latin typeface="Calibir"/>
              </a:rPr>
              <a:t> inherit from abstract Payment.</a:t>
            </a:r>
          </a:p>
        </p:txBody>
      </p:sp>
      <p:sp>
        <p:nvSpPr>
          <p:cNvPr id="11" name="Title 1">
            <a:extLst>
              <a:ext uri="{FF2B5EF4-FFF2-40B4-BE49-F238E27FC236}">
                <a16:creationId xmlns:a16="http://schemas.microsoft.com/office/drawing/2014/main" id="{7E3C58B0-A885-33CD-D3F5-F23BBD015267}"/>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3967735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9880C-D1B9-1F8B-C59B-ED61CD361CB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38218C1-6B28-D786-3087-5B041EA81095}"/>
              </a:ext>
            </a:extLst>
          </p:cNvPr>
          <p:cNvSpPr txBox="1"/>
          <p:nvPr/>
        </p:nvSpPr>
        <p:spPr>
          <a:xfrm>
            <a:off x="0" y="988143"/>
            <a:ext cx="12192000"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Permit (id, zone, plate, status, semester)</a:t>
            </a:r>
          </a:p>
          <a:p>
            <a:pPr marL="457200" indent="-457200">
              <a:lnSpc>
                <a:spcPct val="150000"/>
              </a:lnSpc>
              <a:buFont typeface="Arial" panose="020B0604020202020204" pitchFamily="34" charset="0"/>
              <a:buChar char="•"/>
            </a:pPr>
            <a:r>
              <a:rPr lang="en-US" sz="2800" dirty="0">
                <a:latin typeface="Calibir"/>
              </a:rPr>
              <a:t>Payment (abstract)</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CardPayment</a:t>
            </a:r>
            <a:r>
              <a:rPr lang="en-US" sz="2800" dirty="0">
                <a:latin typeface="Calibir"/>
              </a:rPr>
              <a:t>, </a:t>
            </a:r>
            <a:r>
              <a:rPr lang="en-US" sz="2800" dirty="0" err="1">
                <a:latin typeface="Calibir"/>
              </a:rPr>
              <a:t>VoucherPayment</a:t>
            </a:r>
            <a:endParaRPr lang="en-US" sz="2800" dirty="0">
              <a:latin typeface="Calibir"/>
            </a:endParaRPr>
          </a:p>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a:latin typeface="Calibir"/>
              </a:rPr>
              <a:t>ParkingDB (acts like a system storage)</a:t>
            </a:r>
          </a:p>
        </p:txBody>
      </p:sp>
      <p:sp>
        <p:nvSpPr>
          <p:cNvPr id="3" name="Rectangle 2">
            <a:extLst>
              <a:ext uri="{FF2B5EF4-FFF2-40B4-BE49-F238E27FC236}">
                <a16:creationId xmlns:a16="http://schemas.microsoft.com/office/drawing/2014/main" id="{73006575-0932-442C-0034-1C90AFDF5BD2}"/>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ParkingDB</a:t>
            </a:r>
          </a:p>
        </p:txBody>
      </p:sp>
      <p:sp>
        <p:nvSpPr>
          <p:cNvPr id="13" name="Rectangle 12">
            <a:extLst>
              <a:ext uri="{FF2B5EF4-FFF2-40B4-BE49-F238E27FC236}">
                <a16:creationId xmlns:a16="http://schemas.microsoft.com/office/drawing/2014/main" id="{05A505A0-F01B-8C17-C0A3-3CC99E588EA0}"/>
              </a:ext>
            </a:extLst>
          </p:cNvPr>
          <p:cNvSpPr/>
          <p:nvPr/>
        </p:nvSpPr>
        <p:spPr>
          <a:xfrm>
            <a:off x="7064478" y="754868"/>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SecurityOfficer</a:t>
            </a:r>
            <a:endParaRPr lang="en-US" sz="2800" dirty="0">
              <a:latin typeface="Calibir"/>
            </a:endParaRPr>
          </a:p>
        </p:txBody>
      </p:sp>
      <p:sp>
        <p:nvSpPr>
          <p:cNvPr id="7" name="Title 1">
            <a:extLst>
              <a:ext uri="{FF2B5EF4-FFF2-40B4-BE49-F238E27FC236}">
                <a16:creationId xmlns:a16="http://schemas.microsoft.com/office/drawing/2014/main" id="{13CE8A54-551D-885A-746B-60E381BF58C6}"/>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48636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D21D6-04E1-552E-F393-5E21C2A8878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E1C7307-6ECD-4F4B-3DB2-EC2EE9E0F12B}"/>
              </a:ext>
            </a:extLst>
          </p:cNvPr>
          <p:cNvSpPr txBox="1"/>
          <p:nvPr/>
        </p:nvSpPr>
        <p:spPr>
          <a:xfrm>
            <a:off x="0" y="988142"/>
            <a:ext cx="5127523" cy="4549835"/>
          </a:xfrm>
          <a:prstGeom prst="rect">
            <a:avLst/>
          </a:prstGeom>
          <a:noFill/>
        </p:spPr>
        <p:txBody>
          <a:bodyPr wrap="square">
            <a:spAutoFit/>
          </a:bodyPr>
          <a:lstStyle/>
          <a:p>
            <a:pPr>
              <a:lnSpc>
                <a:spcPct val="150000"/>
              </a:lnSpc>
            </a:pPr>
            <a:r>
              <a:rPr lang="en-US" sz="2800" b="1" dirty="0">
                <a:latin typeface="Calibir"/>
              </a:rPr>
              <a:t>2. Attributes (inside rectangles)</a:t>
            </a:r>
          </a:p>
          <a:p>
            <a:pPr>
              <a:lnSpc>
                <a:spcPct val="150000"/>
              </a:lnSpc>
            </a:pPr>
            <a:r>
              <a:rPr lang="en-US" sz="2800" dirty="0">
                <a:latin typeface="Calibir"/>
              </a:rPr>
              <a:t>Attributes are the "data fields."</a:t>
            </a:r>
            <a:br>
              <a:rPr lang="en-US" sz="2800" dirty="0">
                <a:latin typeface="Calibir"/>
              </a:rPr>
            </a:b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User → id, name, email, role (Student or Staff)</a:t>
            </a:r>
          </a:p>
          <a:p>
            <a:pPr marL="914400" lvl="1" indent="-457200">
              <a:lnSpc>
                <a:spcPct val="150000"/>
              </a:lnSpc>
              <a:buFont typeface="Arial" panose="020B0604020202020204" pitchFamily="34" charset="0"/>
              <a:buChar char="•"/>
            </a:pPr>
            <a:r>
              <a:rPr lang="en-US" sz="2800" dirty="0">
                <a:latin typeface="Calibir"/>
              </a:rPr>
              <a:t>Permit → id, zone, plate, status, semester</a:t>
            </a:r>
          </a:p>
        </p:txBody>
      </p:sp>
      <p:sp>
        <p:nvSpPr>
          <p:cNvPr id="15" name="Rectangle 14">
            <a:extLst>
              <a:ext uri="{FF2B5EF4-FFF2-40B4-BE49-F238E27FC236}">
                <a16:creationId xmlns:a16="http://schemas.microsoft.com/office/drawing/2014/main" id="{ABD6B752-270F-A7C1-B0B7-E37CF05C8373}"/>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6FB36EE1-6A9F-4E61-7BF8-6F724FE1BD7F}"/>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A1CB5FBB-32D4-967B-566A-5D8CC2F259D8}"/>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BF90537D-C7F4-BE03-63D0-E309D0D77FF8}"/>
              </a:ext>
            </a:extLst>
          </p:cNvPr>
          <p:cNvSpPr/>
          <p:nvPr/>
        </p:nvSpPr>
        <p:spPr>
          <a:xfrm>
            <a:off x="5444613" y="476503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C9CAA7D7-BD41-F2BD-5E49-D6D1402CBFF4}"/>
              </a:ext>
            </a:extLst>
          </p:cNvPr>
          <p:cNvSpPr/>
          <p:nvPr/>
        </p:nvSpPr>
        <p:spPr>
          <a:xfrm>
            <a:off x="5444613" y="544698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6AAD5FF0-6205-B31A-50EF-E96E14EC8595}"/>
              </a:ext>
            </a:extLst>
          </p:cNvPr>
          <p:cNvSpPr/>
          <p:nvPr/>
        </p:nvSpPr>
        <p:spPr>
          <a:xfrm>
            <a:off x="5444613" y="61103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9CC9BDE6-C1EC-F06A-2B32-CA7717FAB31E}"/>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F20FA66F-49E8-7D55-DCFC-23262DF3F69C}"/>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FCEA3440-C767-F624-CC08-954F335C31C4}"/>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AD95AF00-444A-E009-DA4A-4CDB0CC09305}"/>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EBA47345-2963-FC83-EAFF-392FF8C15060}"/>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CD6898F5-97B3-F49A-9681-7D9F2CCB56E5}"/>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022091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A617-F877-42B5-2843-A648DA667AE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B87E48F-35B6-0B9A-BFA1-3F9011A995EB}"/>
              </a:ext>
            </a:extLst>
          </p:cNvPr>
          <p:cNvSpPr txBox="1"/>
          <p:nvPr/>
        </p:nvSpPr>
        <p:spPr>
          <a:xfrm>
            <a:off x="0" y="988142"/>
            <a:ext cx="5127523"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err="1">
                <a:latin typeface="Calibir"/>
              </a:rPr>
              <a:t>VehicleInfo</a:t>
            </a:r>
            <a:r>
              <a:rPr lang="en-US" sz="2800" dirty="0">
                <a:latin typeface="Calibir"/>
              </a:rPr>
              <a:t> (plate, make)</a:t>
            </a:r>
          </a:p>
          <a:p>
            <a:pPr marL="457200" indent="-457200">
              <a:lnSpc>
                <a:spcPct val="150000"/>
              </a:lnSpc>
              <a:buFont typeface="Arial" panose="020B0604020202020204" pitchFamily="34" charset="0"/>
              <a:buChar char="•"/>
            </a:pPr>
            <a:r>
              <a:rPr lang="en-US" sz="2800" dirty="0">
                <a:latin typeface="Calibir"/>
              </a:rPr>
              <a:t>ParkingDB (</a:t>
            </a:r>
            <a:r>
              <a:rPr lang="en-US" sz="2800" dirty="0" err="1">
                <a:latin typeface="Calibir"/>
              </a:rPr>
              <a:t>savePermit</a:t>
            </a:r>
            <a:r>
              <a:rPr lang="en-US" sz="2800" dirty="0">
                <a:latin typeface="Calibir"/>
              </a:rPr>
              <a:t>(), </a:t>
            </a:r>
            <a:r>
              <a:rPr lang="en-US" sz="2800" dirty="0" err="1">
                <a:latin typeface="Calibir"/>
              </a:rPr>
              <a:t>readPermit</a:t>
            </a:r>
            <a:r>
              <a:rPr lang="en-US" sz="2800" dirty="0">
                <a:latin typeface="Calibir"/>
              </a:rPr>
              <a:t>())</a:t>
            </a:r>
          </a:p>
        </p:txBody>
      </p:sp>
      <p:sp>
        <p:nvSpPr>
          <p:cNvPr id="3" name="Rectangle 2">
            <a:extLst>
              <a:ext uri="{FF2B5EF4-FFF2-40B4-BE49-F238E27FC236}">
                <a16:creationId xmlns:a16="http://schemas.microsoft.com/office/drawing/2014/main" id="{833B77D5-D69B-5C7B-2F0A-AE5B65FBA186}"/>
              </a:ext>
            </a:extLst>
          </p:cNvPr>
          <p:cNvSpPr/>
          <p:nvPr/>
        </p:nvSpPr>
        <p:spPr>
          <a:xfrm>
            <a:off x="8952271" y="530942"/>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SecurityOfficer</a:t>
            </a:r>
            <a:endParaRPr lang="en-US" sz="2800" dirty="0">
              <a:latin typeface="Calibir"/>
            </a:endParaRPr>
          </a:p>
        </p:txBody>
      </p:sp>
      <p:sp>
        <p:nvSpPr>
          <p:cNvPr id="10" name="Rectangle 9">
            <a:extLst>
              <a:ext uri="{FF2B5EF4-FFF2-40B4-BE49-F238E27FC236}">
                <a16:creationId xmlns:a16="http://schemas.microsoft.com/office/drawing/2014/main" id="{E45ECF06-AA4E-5C13-E8CE-E202A582D610}"/>
              </a:ext>
            </a:extLst>
          </p:cNvPr>
          <p:cNvSpPr/>
          <p:nvPr/>
        </p:nvSpPr>
        <p:spPr>
          <a:xfrm>
            <a:off x="8952270" y="1839436"/>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11" name="Rectangle 10">
            <a:extLst>
              <a:ext uri="{FF2B5EF4-FFF2-40B4-BE49-F238E27FC236}">
                <a16:creationId xmlns:a16="http://schemas.microsoft.com/office/drawing/2014/main" id="{9AA21895-1D9F-A065-0E13-9355903F8A70}"/>
              </a:ext>
            </a:extLst>
          </p:cNvPr>
          <p:cNvSpPr/>
          <p:nvPr/>
        </p:nvSpPr>
        <p:spPr>
          <a:xfrm>
            <a:off x="8952270" y="251209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5" name="Rectangle 14">
            <a:extLst>
              <a:ext uri="{FF2B5EF4-FFF2-40B4-BE49-F238E27FC236}">
                <a16:creationId xmlns:a16="http://schemas.microsoft.com/office/drawing/2014/main" id="{34C41D10-EBD9-3B01-5A6F-BB1E029493CA}"/>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16" name="Rectangle 15">
            <a:extLst>
              <a:ext uri="{FF2B5EF4-FFF2-40B4-BE49-F238E27FC236}">
                <a16:creationId xmlns:a16="http://schemas.microsoft.com/office/drawing/2014/main" id="{0F6C5D30-AA3F-867E-9BC2-E1C9F16C123E}"/>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7" name="Rectangle 16">
            <a:extLst>
              <a:ext uri="{FF2B5EF4-FFF2-40B4-BE49-F238E27FC236}">
                <a16:creationId xmlns:a16="http://schemas.microsoft.com/office/drawing/2014/main" id="{0843170B-694D-4471-FC28-A8D53D695C9F}"/>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4" name="Rectangle 3">
            <a:extLst>
              <a:ext uri="{FF2B5EF4-FFF2-40B4-BE49-F238E27FC236}">
                <a16:creationId xmlns:a16="http://schemas.microsoft.com/office/drawing/2014/main" id="{9ADFE41B-60F3-0378-8507-204A99D7AD3B}"/>
              </a:ext>
            </a:extLst>
          </p:cNvPr>
          <p:cNvSpPr/>
          <p:nvPr/>
        </p:nvSpPr>
        <p:spPr>
          <a:xfrm>
            <a:off x="1757517" y="4120079"/>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ParkingDB</a:t>
            </a:r>
          </a:p>
        </p:txBody>
      </p:sp>
      <p:sp>
        <p:nvSpPr>
          <p:cNvPr id="5" name="Rectangle 4">
            <a:extLst>
              <a:ext uri="{FF2B5EF4-FFF2-40B4-BE49-F238E27FC236}">
                <a16:creationId xmlns:a16="http://schemas.microsoft.com/office/drawing/2014/main" id="{274D9E5F-D196-2FAB-E3C2-571F0180D0EC}"/>
              </a:ext>
            </a:extLst>
          </p:cNvPr>
          <p:cNvSpPr/>
          <p:nvPr/>
        </p:nvSpPr>
        <p:spPr>
          <a:xfrm>
            <a:off x="1757516" y="5428573"/>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savePermit</a:t>
            </a:r>
            <a:r>
              <a:rPr lang="en-US" sz="2800" dirty="0">
                <a:latin typeface="Calibir"/>
              </a:rPr>
              <a:t>()</a:t>
            </a:r>
          </a:p>
        </p:txBody>
      </p:sp>
      <p:sp>
        <p:nvSpPr>
          <p:cNvPr id="7" name="Rectangle 6">
            <a:extLst>
              <a:ext uri="{FF2B5EF4-FFF2-40B4-BE49-F238E27FC236}">
                <a16:creationId xmlns:a16="http://schemas.microsoft.com/office/drawing/2014/main" id="{5EB2F1AF-086E-D355-8DA9-2A514354475F}"/>
              </a:ext>
            </a:extLst>
          </p:cNvPr>
          <p:cNvSpPr/>
          <p:nvPr/>
        </p:nvSpPr>
        <p:spPr>
          <a:xfrm>
            <a:off x="1757516" y="6101235"/>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readPermit</a:t>
            </a:r>
            <a:r>
              <a:rPr lang="en-US" sz="2800" dirty="0">
                <a:latin typeface="Calibir"/>
              </a:rPr>
              <a:t>()</a:t>
            </a:r>
          </a:p>
        </p:txBody>
      </p:sp>
      <p:sp>
        <p:nvSpPr>
          <p:cNvPr id="14" name="Title 1">
            <a:extLst>
              <a:ext uri="{FF2B5EF4-FFF2-40B4-BE49-F238E27FC236}">
                <a16:creationId xmlns:a16="http://schemas.microsoft.com/office/drawing/2014/main" id="{61CE8868-FCCC-AE60-AE39-ED12196F7D80}"/>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415537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F28EB-0427-2AC1-C9D1-C8A862521F4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23F08A5-F545-5FDE-07F3-2E8B1193E5A5}"/>
              </a:ext>
            </a:extLst>
          </p:cNvPr>
          <p:cNvSpPr txBox="1"/>
          <p:nvPr/>
        </p:nvSpPr>
        <p:spPr>
          <a:xfrm>
            <a:off x="0" y="988142"/>
            <a:ext cx="5127523"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err="1">
                <a:latin typeface="Calibir"/>
              </a:rPr>
              <a:t>VoucherPayment</a:t>
            </a:r>
            <a:r>
              <a:rPr lang="en-US" sz="2800" dirty="0">
                <a:latin typeface="Calibir"/>
              </a:rPr>
              <a:t> (</a:t>
            </a:r>
            <a:r>
              <a:rPr lang="en-US" sz="2800" dirty="0" err="1">
                <a:latin typeface="Calibir"/>
              </a:rPr>
              <a:t>voucherid</a:t>
            </a:r>
            <a:r>
              <a:rPr lang="en-US" sz="2800" dirty="0">
                <a:latin typeface="Calibir"/>
              </a:rPr>
              <a:t>)</a:t>
            </a:r>
          </a:p>
          <a:p>
            <a:pPr marL="457200" indent="-457200">
              <a:lnSpc>
                <a:spcPct val="150000"/>
              </a:lnSpc>
              <a:buFont typeface="Arial" panose="020B0604020202020204" pitchFamily="34" charset="0"/>
              <a:buChar char="•"/>
            </a:pPr>
            <a:r>
              <a:rPr lang="en-US" sz="2800" dirty="0" err="1">
                <a:latin typeface="Calibir"/>
              </a:rPr>
              <a:t>CardPayment</a:t>
            </a:r>
            <a:r>
              <a:rPr lang="en-US" sz="2800" dirty="0">
                <a:latin typeface="Calibir"/>
              </a:rPr>
              <a:t> (</a:t>
            </a:r>
            <a:r>
              <a:rPr lang="en-US" sz="2800" dirty="0" err="1">
                <a:latin typeface="Calibir"/>
              </a:rPr>
              <a:t>cardNo</a:t>
            </a:r>
            <a:r>
              <a:rPr lang="en-US" sz="2800" dirty="0">
                <a:latin typeface="Calibir"/>
              </a:rPr>
              <a:t>, </a:t>
            </a:r>
            <a:r>
              <a:rPr lang="en-US" sz="2800" dirty="0" err="1">
                <a:latin typeface="Calibir"/>
              </a:rPr>
              <a:t>authNo</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Payment (amount, time)</a:t>
            </a:r>
          </a:p>
        </p:txBody>
      </p:sp>
      <p:sp>
        <p:nvSpPr>
          <p:cNvPr id="3" name="Rectangle 2">
            <a:extLst>
              <a:ext uri="{FF2B5EF4-FFF2-40B4-BE49-F238E27FC236}">
                <a16:creationId xmlns:a16="http://schemas.microsoft.com/office/drawing/2014/main" id="{D073E096-E5FE-0A72-210F-9DBD45F6F331}"/>
              </a:ext>
            </a:extLst>
          </p:cNvPr>
          <p:cNvSpPr/>
          <p:nvPr/>
        </p:nvSpPr>
        <p:spPr>
          <a:xfrm>
            <a:off x="8952271" y="530942"/>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VoucherPayment</a:t>
            </a:r>
            <a:endParaRPr lang="en-US" sz="2800" dirty="0">
              <a:latin typeface="Calibir"/>
            </a:endParaRPr>
          </a:p>
        </p:txBody>
      </p:sp>
      <p:sp>
        <p:nvSpPr>
          <p:cNvPr id="10" name="Rectangle 9">
            <a:extLst>
              <a:ext uri="{FF2B5EF4-FFF2-40B4-BE49-F238E27FC236}">
                <a16:creationId xmlns:a16="http://schemas.microsoft.com/office/drawing/2014/main" id="{8BDFB6D6-149E-4D98-07E1-675165BF1564}"/>
              </a:ext>
            </a:extLst>
          </p:cNvPr>
          <p:cNvSpPr/>
          <p:nvPr/>
        </p:nvSpPr>
        <p:spPr>
          <a:xfrm>
            <a:off x="8952270" y="1839436"/>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a:t>
            </a:r>
            <a:r>
              <a:rPr lang="en-US" sz="2800" dirty="0" err="1">
                <a:latin typeface="Calibir"/>
              </a:rPr>
              <a:t>voucherid</a:t>
            </a:r>
            <a:endParaRPr lang="en-US" sz="2800" dirty="0">
              <a:latin typeface="Calibir"/>
            </a:endParaRPr>
          </a:p>
        </p:txBody>
      </p:sp>
      <p:sp>
        <p:nvSpPr>
          <p:cNvPr id="15" name="Rectangle 14">
            <a:extLst>
              <a:ext uri="{FF2B5EF4-FFF2-40B4-BE49-F238E27FC236}">
                <a16:creationId xmlns:a16="http://schemas.microsoft.com/office/drawing/2014/main" id="{B6196047-B086-75A5-3034-4B4C4E7D29EA}"/>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CardPayment</a:t>
            </a:r>
            <a:endParaRPr lang="en-US" sz="2800" dirty="0">
              <a:latin typeface="Calibir"/>
            </a:endParaRPr>
          </a:p>
        </p:txBody>
      </p:sp>
      <p:sp>
        <p:nvSpPr>
          <p:cNvPr id="16" name="Rectangle 15">
            <a:extLst>
              <a:ext uri="{FF2B5EF4-FFF2-40B4-BE49-F238E27FC236}">
                <a16:creationId xmlns:a16="http://schemas.microsoft.com/office/drawing/2014/main" id="{183C2AC7-B32A-CFFE-782E-A6094C15AB50}"/>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cardNo</a:t>
            </a:r>
            <a:endParaRPr lang="en-US" sz="2800" dirty="0">
              <a:latin typeface="Calibir"/>
            </a:endParaRPr>
          </a:p>
        </p:txBody>
      </p:sp>
      <p:sp>
        <p:nvSpPr>
          <p:cNvPr id="17" name="Rectangle 16">
            <a:extLst>
              <a:ext uri="{FF2B5EF4-FFF2-40B4-BE49-F238E27FC236}">
                <a16:creationId xmlns:a16="http://schemas.microsoft.com/office/drawing/2014/main" id="{1498CC7A-136D-3BFA-BA3B-207ADC0D2384}"/>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authNo</a:t>
            </a:r>
            <a:endParaRPr lang="en-US" sz="2800" dirty="0">
              <a:latin typeface="Calibir"/>
            </a:endParaRPr>
          </a:p>
        </p:txBody>
      </p:sp>
      <p:sp>
        <p:nvSpPr>
          <p:cNvPr id="4" name="Rectangle 3">
            <a:extLst>
              <a:ext uri="{FF2B5EF4-FFF2-40B4-BE49-F238E27FC236}">
                <a16:creationId xmlns:a16="http://schemas.microsoft.com/office/drawing/2014/main" id="{B3DBDBF7-AADB-C7C4-A151-37B0CCFC4A60}"/>
              </a:ext>
            </a:extLst>
          </p:cNvPr>
          <p:cNvSpPr/>
          <p:nvPr/>
        </p:nvSpPr>
        <p:spPr>
          <a:xfrm>
            <a:off x="1757517" y="4120079"/>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Payment</a:t>
            </a:r>
          </a:p>
        </p:txBody>
      </p:sp>
      <p:sp>
        <p:nvSpPr>
          <p:cNvPr id="5" name="Rectangle 4">
            <a:extLst>
              <a:ext uri="{FF2B5EF4-FFF2-40B4-BE49-F238E27FC236}">
                <a16:creationId xmlns:a16="http://schemas.microsoft.com/office/drawing/2014/main" id="{6E39093E-1553-8BB3-740E-EE02C41CE451}"/>
              </a:ext>
            </a:extLst>
          </p:cNvPr>
          <p:cNvSpPr/>
          <p:nvPr/>
        </p:nvSpPr>
        <p:spPr>
          <a:xfrm>
            <a:off x="1757516" y="5428573"/>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+amount</a:t>
            </a:r>
          </a:p>
        </p:txBody>
      </p:sp>
      <p:sp>
        <p:nvSpPr>
          <p:cNvPr id="7" name="Rectangle 6">
            <a:extLst>
              <a:ext uri="{FF2B5EF4-FFF2-40B4-BE49-F238E27FC236}">
                <a16:creationId xmlns:a16="http://schemas.microsoft.com/office/drawing/2014/main" id="{7F624C04-5EBE-F43B-371B-A5E9970EEA7D}"/>
              </a:ext>
            </a:extLst>
          </p:cNvPr>
          <p:cNvSpPr/>
          <p:nvPr/>
        </p:nvSpPr>
        <p:spPr>
          <a:xfrm>
            <a:off x="1757516" y="6101235"/>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+time</a:t>
            </a:r>
          </a:p>
        </p:txBody>
      </p:sp>
      <p:sp>
        <p:nvSpPr>
          <p:cNvPr id="11" name="Title 1">
            <a:extLst>
              <a:ext uri="{FF2B5EF4-FFF2-40B4-BE49-F238E27FC236}">
                <a16:creationId xmlns:a16="http://schemas.microsoft.com/office/drawing/2014/main" id="{23A543AF-8667-2B6E-AAE5-7C35C24D6CAD}"/>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3957348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8692-7B7F-2834-A11F-7857494F0DC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AFAE2A-3E22-4882-7346-CB8520B2E595}"/>
              </a:ext>
            </a:extLst>
          </p:cNvPr>
          <p:cNvSpPr txBox="1"/>
          <p:nvPr/>
        </p:nvSpPr>
        <p:spPr>
          <a:xfrm>
            <a:off x="0" y="184586"/>
            <a:ext cx="8834282" cy="6488828"/>
          </a:xfrm>
          <a:prstGeom prst="rect">
            <a:avLst/>
          </a:prstGeom>
          <a:noFill/>
        </p:spPr>
        <p:txBody>
          <a:bodyPr wrap="square">
            <a:spAutoFit/>
          </a:bodyPr>
          <a:lstStyle/>
          <a:p>
            <a:pPr>
              <a:lnSpc>
                <a:spcPct val="150000"/>
              </a:lnSpc>
            </a:pPr>
            <a:r>
              <a:rPr lang="en-US" sz="2700" b="1" dirty="0">
                <a:latin typeface="Calibir"/>
              </a:rPr>
              <a:t>What does the “+” mean?</a:t>
            </a:r>
          </a:p>
          <a:p>
            <a:pPr>
              <a:lnSpc>
                <a:spcPct val="150000"/>
              </a:lnSpc>
            </a:pPr>
            <a:r>
              <a:rPr lang="en-US" sz="2700" dirty="0">
                <a:latin typeface="Calibir"/>
              </a:rPr>
              <a:t>In UML, symbols in front of attributes/methods show visibility (who can access it):</a:t>
            </a:r>
          </a:p>
          <a:p>
            <a:pPr marL="457200" indent="-457200">
              <a:lnSpc>
                <a:spcPct val="150000"/>
              </a:lnSpc>
              <a:buFont typeface="Arial" panose="020B0604020202020204" pitchFamily="34" charset="0"/>
              <a:buChar char="•"/>
            </a:pPr>
            <a:r>
              <a:rPr lang="en-US" sz="2700" dirty="0">
                <a:latin typeface="Calibir"/>
              </a:rPr>
              <a:t>+ public – anyone can access it (other classes too).</a:t>
            </a:r>
          </a:p>
          <a:p>
            <a:pPr marL="457200" indent="-457200">
              <a:lnSpc>
                <a:spcPct val="150000"/>
              </a:lnSpc>
              <a:buFont typeface="Arial" panose="020B0604020202020204" pitchFamily="34" charset="0"/>
              <a:buChar char="•"/>
            </a:pPr>
            <a:r>
              <a:rPr lang="en-US" sz="2700" dirty="0">
                <a:latin typeface="Calibir"/>
              </a:rPr>
              <a:t>- private – only the class itself can access it.</a:t>
            </a:r>
          </a:p>
          <a:p>
            <a:pPr marL="457200" indent="-457200">
              <a:lnSpc>
                <a:spcPct val="150000"/>
              </a:lnSpc>
              <a:buFont typeface="Arial" panose="020B0604020202020204" pitchFamily="34" charset="0"/>
              <a:buChar char="•"/>
            </a:pPr>
            <a:r>
              <a:rPr lang="en-US" sz="2700" dirty="0">
                <a:latin typeface="Calibir"/>
              </a:rPr>
              <a:t># protected – the class and its subclasses (children) can access it.</a:t>
            </a:r>
          </a:p>
          <a:p>
            <a:pPr marL="457200" indent="-457200">
              <a:lnSpc>
                <a:spcPct val="150000"/>
              </a:lnSpc>
              <a:buFont typeface="Arial" panose="020B0604020202020204" pitchFamily="34" charset="0"/>
              <a:buChar char="•"/>
            </a:pPr>
            <a:r>
              <a:rPr lang="en-US" sz="2700" dirty="0">
                <a:latin typeface="Calibir"/>
              </a:rPr>
              <a:t>~ package – only classes in the same package/module can access it.</a:t>
            </a:r>
          </a:p>
          <a:p>
            <a:pPr>
              <a:lnSpc>
                <a:spcPct val="150000"/>
              </a:lnSpc>
            </a:pPr>
            <a:r>
              <a:rPr lang="en-US" sz="2700" dirty="0">
                <a:latin typeface="Calibir"/>
              </a:rPr>
              <a:t>So in the diagram we see, +name means </a:t>
            </a:r>
            <a:r>
              <a:rPr lang="en-US" sz="2700" i="1" dirty="0">
                <a:latin typeface="Calibir"/>
              </a:rPr>
              <a:t>name is public</a:t>
            </a:r>
            <a:r>
              <a:rPr lang="en-US" sz="2700" dirty="0">
                <a:latin typeface="Calibir"/>
              </a:rPr>
              <a:t>.</a:t>
            </a:r>
          </a:p>
        </p:txBody>
      </p:sp>
      <p:sp>
        <p:nvSpPr>
          <p:cNvPr id="3" name="Rectangle 2">
            <a:extLst>
              <a:ext uri="{FF2B5EF4-FFF2-40B4-BE49-F238E27FC236}">
                <a16:creationId xmlns:a16="http://schemas.microsoft.com/office/drawing/2014/main" id="{1A34D81F-0A4F-43EE-1893-9A4F00BC3D34}"/>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4" name="Rectangle 3">
            <a:extLst>
              <a:ext uri="{FF2B5EF4-FFF2-40B4-BE49-F238E27FC236}">
                <a16:creationId xmlns:a16="http://schemas.microsoft.com/office/drawing/2014/main" id="{C15BFAED-607B-75AB-C5DB-2E14C73154E0}"/>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5" name="Rectangle 4">
            <a:extLst>
              <a:ext uri="{FF2B5EF4-FFF2-40B4-BE49-F238E27FC236}">
                <a16:creationId xmlns:a16="http://schemas.microsoft.com/office/drawing/2014/main" id="{103603E5-7F97-AC4E-5616-F50914305FA5}"/>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7" name="Rectangle 6">
            <a:extLst>
              <a:ext uri="{FF2B5EF4-FFF2-40B4-BE49-F238E27FC236}">
                <a16:creationId xmlns:a16="http://schemas.microsoft.com/office/drawing/2014/main" id="{4B2B80B5-DEBA-9592-8BE7-FA9B43B287E2}"/>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8" name="Rectangle 7">
            <a:extLst>
              <a:ext uri="{FF2B5EF4-FFF2-40B4-BE49-F238E27FC236}">
                <a16:creationId xmlns:a16="http://schemas.microsoft.com/office/drawing/2014/main" id="{6B17BCD6-3798-22F7-E42F-54C436BC45F2}"/>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Tree>
    <p:extLst>
      <p:ext uri="{BB962C8B-B14F-4D97-AF65-F5344CB8AC3E}">
        <p14:creationId xmlns:p14="http://schemas.microsoft.com/office/powerpoint/2010/main" val="318439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1000"/>
                                        <p:tgtEl>
                                          <p:spTgt spid="6">
                                            <p:txEl>
                                              <p:pRg st="4" end="4"/>
                                            </p:txEl>
                                          </p:spTgt>
                                        </p:tgtEl>
                                      </p:cBhvr>
                                    </p:animEffect>
                                    <p:anim calcmode="lin" valueType="num">
                                      <p:cBhvr>
                                        <p:cTn id="2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1000"/>
                                        <p:tgtEl>
                                          <p:spTgt spid="6">
                                            <p:txEl>
                                              <p:pRg st="5" end="5"/>
                                            </p:txEl>
                                          </p:spTgt>
                                        </p:tgtEl>
                                      </p:cBhvr>
                                    </p:animEffect>
                                    <p:anim calcmode="lin" valueType="num">
                                      <p:cBhvr>
                                        <p:cTn id="2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1000"/>
                                        <p:tgtEl>
                                          <p:spTgt spid="6">
                                            <p:txEl>
                                              <p:pRg st="6" end="6"/>
                                            </p:txEl>
                                          </p:spTgt>
                                        </p:tgtEl>
                                      </p:cBhvr>
                                    </p:animEffect>
                                    <p:anim calcmode="lin" valueType="num">
                                      <p:cBhvr>
                                        <p:cTn id="3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6BC69-4C40-2E36-A5B4-829FCDEA35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698654B-6DF2-4F17-A863-F6686D80CDB2}"/>
              </a:ext>
            </a:extLst>
          </p:cNvPr>
          <p:cNvSpPr txBox="1"/>
          <p:nvPr/>
        </p:nvSpPr>
        <p:spPr>
          <a:xfrm>
            <a:off x="0" y="1064165"/>
            <a:ext cx="12192000" cy="4549835"/>
          </a:xfrm>
          <a:prstGeom prst="rect">
            <a:avLst/>
          </a:prstGeom>
          <a:noFill/>
        </p:spPr>
        <p:txBody>
          <a:bodyPr wrap="square">
            <a:spAutoFit/>
          </a:bodyPr>
          <a:lstStyle/>
          <a:p>
            <a:pPr>
              <a:lnSpc>
                <a:spcPct val="150000"/>
              </a:lnSpc>
            </a:pPr>
            <a:r>
              <a:rPr lang="en-US" sz="2800" b="1" dirty="0">
                <a:latin typeface="Calibir"/>
              </a:rPr>
              <a:t>3. Methods (actions, shown as ovals linked)</a:t>
            </a:r>
          </a:p>
          <a:p>
            <a:pPr>
              <a:lnSpc>
                <a:spcPct val="150000"/>
              </a:lnSpc>
            </a:pPr>
            <a:r>
              <a:rPr lang="en-US" sz="2800" dirty="0">
                <a:latin typeface="Calibir"/>
              </a:rPr>
              <a:t>Think of methods as actions the class can do:</a:t>
            </a:r>
          </a:p>
          <a:p>
            <a:pPr marL="914400" lvl="1" indent="-457200">
              <a:lnSpc>
                <a:spcPct val="150000"/>
              </a:lnSpc>
              <a:buFont typeface="Arial" panose="020B0604020202020204" pitchFamily="34" charset="0"/>
              <a:buChar char="•"/>
            </a:pPr>
            <a:r>
              <a:rPr lang="en-US" sz="2800" dirty="0">
                <a:latin typeface="Calibir"/>
              </a:rPr>
              <a:t>User: </a:t>
            </a:r>
            <a:r>
              <a:rPr lang="en-US" sz="2800" dirty="0" err="1">
                <a:latin typeface="Calibir"/>
              </a:rPr>
              <a:t>requestPermit</a:t>
            </a:r>
            <a:r>
              <a:rPr lang="en-US" sz="2800" dirty="0">
                <a:latin typeface="Calibir"/>
              </a:rPr>
              <a:t>(), login()</a:t>
            </a:r>
          </a:p>
          <a:p>
            <a:pPr marL="914400" lvl="1" indent="-457200">
              <a:lnSpc>
                <a:spcPct val="150000"/>
              </a:lnSpc>
              <a:buFont typeface="Arial" panose="020B0604020202020204" pitchFamily="34" charset="0"/>
              <a:buChar char="•"/>
            </a:pPr>
            <a:r>
              <a:rPr lang="en-US" sz="2800" dirty="0">
                <a:latin typeface="Calibir"/>
              </a:rPr>
              <a:t>Permit: activate(), revoke(), </a:t>
            </a:r>
            <a:r>
              <a:rPr lang="en-US" sz="2800" dirty="0" err="1">
                <a:latin typeface="Calibir"/>
              </a:rPr>
              <a:t>assignVehicle</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Payment: </a:t>
            </a:r>
            <a:r>
              <a:rPr lang="en-US" sz="2800" dirty="0" err="1">
                <a:latin typeface="Calibir"/>
              </a:rPr>
              <a:t>processPayment</a:t>
            </a:r>
            <a:r>
              <a:rPr lang="en-US" sz="2800" dirty="0">
                <a:latin typeface="Calibir"/>
              </a:rPr>
              <a:t>()</a:t>
            </a:r>
          </a:p>
          <a:p>
            <a:pPr marL="914400" lvl="1"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a:t>
            </a:r>
            <a:r>
              <a:rPr lang="en-US" sz="2800" dirty="0" err="1">
                <a:latin typeface="Calibir"/>
              </a:rPr>
              <a:t>revokePermit</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ParkingDB: </a:t>
            </a:r>
            <a:r>
              <a:rPr lang="en-US" sz="2800" dirty="0" err="1">
                <a:latin typeface="Calibir"/>
              </a:rPr>
              <a:t>savePermit</a:t>
            </a:r>
            <a:r>
              <a:rPr lang="en-US" sz="2800" dirty="0">
                <a:latin typeface="Calibir"/>
              </a:rPr>
              <a:t>(), </a:t>
            </a:r>
            <a:r>
              <a:rPr lang="en-US" sz="2800" dirty="0" err="1">
                <a:latin typeface="Calibir"/>
              </a:rPr>
              <a:t>readPermit</a:t>
            </a:r>
            <a:r>
              <a:rPr lang="en-US" sz="2800" dirty="0">
                <a:latin typeface="Calibir"/>
              </a:rPr>
              <a:t>()</a:t>
            </a:r>
          </a:p>
        </p:txBody>
      </p:sp>
      <p:sp>
        <p:nvSpPr>
          <p:cNvPr id="9" name="Rectangle 8">
            <a:extLst>
              <a:ext uri="{FF2B5EF4-FFF2-40B4-BE49-F238E27FC236}">
                <a16:creationId xmlns:a16="http://schemas.microsoft.com/office/drawing/2014/main" id="{69DBBBC3-9A74-53A9-6168-E96B9810E1DF}"/>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10" name="Rectangle 9">
            <a:extLst>
              <a:ext uri="{FF2B5EF4-FFF2-40B4-BE49-F238E27FC236}">
                <a16:creationId xmlns:a16="http://schemas.microsoft.com/office/drawing/2014/main" id="{A48EFC43-69A2-5C05-17A6-158CB304860B}"/>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483FEB86-EA74-6EE5-1E08-3162DB2A88CD}"/>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12" name="Rectangle 11">
            <a:extLst>
              <a:ext uri="{FF2B5EF4-FFF2-40B4-BE49-F238E27FC236}">
                <a16:creationId xmlns:a16="http://schemas.microsoft.com/office/drawing/2014/main" id="{86BC5C1F-C934-B146-D8D1-C36630822FD1}"/>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13" name="Rectangle 12">
            <a:extLst>
              <a:ext uri="{FF2B5EF4-FFF2-40B4-BE49-F238E27FC236}">
                <a16:creationId xmlns:a16="http://schemas.microsoft.com/office/drawing/2014/main" id="{7D3FADC4-60D6-4FF0-20A4-546B70D9518B}"/>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1BF08EED-F5EC-12EA-DF06-5FF307A3D99C}"/>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3418381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DC65B-2468-9439-1BD2-4A712A5D5F3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0E8E848-7487-CDF7-6FBB-F44BBC58EF7F}"/>
              </a:ext>
            </a:extLst>
          </p:cNvPr>
          <p:cNvSpPr txBox="1"/>
          <p:nvPr/>
        </p:nvSpPr>
        <p:spPr>
          <a:xfrm>
            <a:off x="0" y="0"/>
            <a:ext cx="8952269" cy="6387728"/>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500" b="1" dirty="0">
                <a:highlight>
                  <a:srgbClr val="FFFF00"/>
                </a:highlight>
                <a:latin typeface="Calibir"/>
              </a:rPr>
              <a:t>User Class</a:t>
            </a:r>
            <a:r>
              <a:rPr lang="en-US" altLang="en-US" sz="2500" dirty="0">
                <a:highlight>
                  <a:srgbClr val="FFFF00"/>
                </a:highlight>
                <a:latin typeface="Calibir"/>
              </a:rPr>
              <a:t> (Rectangle: data blueprint).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User (abstract)</a:t>
            </a:r>
            <a:r>
              <a:rPr lang="en-US" altLang="en-US" sz="2500" dirty="0">
                <a:latin typeface="Calibir"/>
              </a:rPr>
              <a:t>: we don’t create a plain User; you create </a:t>
            </a:r>
            <a:r>
              <a:rPr lang="en-US" altLang="en-US" sz="2500" b="1" dirty="0" err="1">
                <a:latin typeface="Calibir"/>
              </a:rPr>
              <a:t>StudentUser</a:t>
            </a:r>
            <a:r>
              <a:rPr lang="en-US" altLang="en-US" sz="2500" dirty="0">
                <a:latin typeface="Calibir"/>
              </a:rPr>
              <a:t> or </a:t>
            </a:r>
            <a:r>
              <a:rPr lang="en-US" altLang="en-US" sz="2500" b="1" dirty="0" err="1">
                <a:latin typeface="Calibir"/>
              </a:rPr>
              <a:t>StaffUser</a:t>
            </a:r>
            <a:r>
              <a:rPr lang="en-US" altLang="en-US" sz="2500" dirty="0">
                <a:latin typeface="Calibir"/>
              </a:rPr>
              <a:t> (inheritance shown by hollow-triangle arrows).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Attributes (top middle section)</a:t>
            </a:r>
            <a:endParaRPr lang="en-US" altLang="en-US" sz="2500" dirty="0">
              <a:latin typeface="Calibir"/>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+id: int, +name: string, +email: string are public.</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#role is protected (User + its children can see it).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Methods (bottom middle section)</a:t>
            </a:r>
            <a:endParaRPr lang="en-US" altLang="en-US" sz="2500" dirty="0">
              <a:latin typeface="Calibir"/>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+login(email, password): bool</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t>
            </a:r>
            <a:r>
              <a:rPr lang="en-US" altLang="en-US" sz="2500" dirty="0" err="1">
                <a:latin typeface="Calibir"/>
              </a:rPr>
              <a:t>requestPermit</a:t>
            </a:r>
            <a:r>
              <a:rPr lang="en-US" altLang="en-US" sz="2500" dirty="0">
                <a:latin typeface="Calibir"/>
              </a:rPr>
              <a:t>(plate, zone, semester): Permit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t>
            </a:r>
            <a:r>
              <a:rPr lang="en-US" altLang="en-US" sz="2500" dirty="0" err="1">
                <a:latin typeface="Calibir"/>
              </a:rPr>
              <a:t>cancelRequest</a:t>
            </a:r>
            <a:r>
              <a:rPr lang="en-US" altLang="en-US" sz="2500" dirty="0">
                <a:latin typeface="Calibir"/>
              </a:rPr>
              <a:t>() is package visibility (same module only).</a:t>
            </a:r>
          </a:p>
        </p:txBody>
      </p:sp>
      <p:sp>
        <p:nvSpPr>
          <p:cNvPr id="13" name="Rectangle 12">
            <a:extLst>
              <a:ext uri="{FF2B5EF4-FFF2-40B4-BE49-F238E27FC236}">
                <a16:creationId xmlns:a16="http://schemas.microsoft.com/office/drawing/2014/main" id="{AE1BA78E-619A-EC7A-400B-F507409C2A5A}"/>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14" name="Rectangle 13">
            <a:extLst>
              <a:ext uri="{FF2B5EF4-FFF2-40B4-BE49-F238E27FC236}">
                <a16:creationId xmlns:a16="http://schemas.microsoft.com/office/drawing/2014/main" id="{37D51F67-F96E-D641-101E-9D16F6121140}"/>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15" name="Rectangle 14">
            <a:extLst>
              <a:ext uri="{FF2B5EF4-FFF2-40B4-BE49-F238E27FC236}">
                <a16:creationId xmlns:a16="http://schemas.microsoft.com/office/drawing/2014/main" id="{DE0E122E-E87D-0048-8534-D340540E9E6F}"/>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16" name="Rectangle 15">
            <a:extLst>
              <a:ext uri="{FF2B5EF4-FFF2-40B4-BE49-F238E27FC236}">
                <a16:creationId xmlns:a16="http://schemas.microsoft.com/office/drawing/2014/main" id="{30C19380-BED8-C886-041B-B20BECA13D43}"/>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17" name="Rectangle 16">
            <a:extLst>
              <a:ext uri="{FF2B5EF4-FFF2-40B4-BE49-F238E27FC236}">
                <a16:creationId xmlns:a16="http://schemas.microsoft.com/office/drawing/2014/main" id="{C7BCEC73-0A38-7D2C-6A44-7765BDA3D803}"/>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20" name="Rectangle 19">
            <a:extLst>
              <a:ext uri="{FF2B5EF4-FFF2-40B4-BE49-F238E27FC236}">
                <a16:creationId xmlns:a16="http://schemas.microsoft.com/office/drawing/2014/main" id="{18E0B01D-A951-4D14-AAFD-61BAD6389F46}"/>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21" name="Oval 20">
            <a:extLst>
              <a:ext uri="{FF2B5EF4-FFF2-40B4-BE49-F238E27FC236}">
                <a16:creationId xmlns:a16="http://schemas.microsoft.com/office/drawing/2014/main" id="{5D8975A5-D04C-E93C-BAF9-CB0DAAC8C04D}"/>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24" name="Oval 23">
            <a:extLst>
              <a:ext uri="{FF2B5EF4-FFF2-40B4-BE49-F238E27FC236}">
                <a16:creationId xmlns:a16="http://schemas.microsoft.com/office/drawing/2014/main" id="{FAB1D955-D30C-F4FB-F00A-76E641314109}"/>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25" name="Oval 24">
            <a:extLst>
              <a:ext uri="{FF2B5EF4-FFF2-40B4-BE49-F238E27FC236}">
                <a16:creationId xmlns:a16="http://schemas.microsoft.com/office/drawing/2014/main" id="{AF1DB5F5-9004-145C-9509-3EF6FC4479FC}"/>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26" name="Rectangle 2">
            <a:extLst>
              <a:ext uri="{FF2B5EF4-FFF2-40B4-BE49-F238E27FC236}">
                <a16:creationId xmlns:a16="http://schemas.microsoft.com/office/drawing/2014/main" id="{C9DD9BF6-8E00-0F68-7DDD-F758C39DCA1A}"/>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6855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E3CF-B896-6801-6BB3-9B7BA5EB797A}"/>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AF7F6C5B-8205-695F-36E6-A30C46D55A80}"/>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DDE7343C-C77A-447E-FD9D-7D10CC023037}"/>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3ED12868-EFCD-D7ED-758B-031A5C3C2A84}"/>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6" name="TextBox 5">
            <a:extLst>
              <a:ext uri="{FF2B5EF4-FFF2-40B4-BE49-F238E27FC236}">
                <a16:creationId xmlns:a16="http://schemas.microsoft.com/office/drawing/2014/main" id="{040C0682-00FC-15BB-2C6D-014231DA732D}"/>
              </a:ext>
            </a:extLst>
          </p:cNvPr>
          <p:cNvSpPr txBox="1"/>
          <p:nvPr/>
        </p:nvSpPr>
        <p:spPr>
          <a:xfrm>
            <a:off x="0" y="0"/>
            <a:ext cx="8952269" cy="1964512"/>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highlight>
                  <a:srgbClr val="FFFF00"/>
                </a:highlight>
                <a:latin typeface="Calibir"/>
              </a:rPr>
              <a:t>User - Action label on relationship</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line from User to Permit is labeled “requests” to use an action verb/or from Permit to User “requests by”.</a:t>
            </a:r>
          </a:p>
        </p:txBody>
      </p:sp>
      <p:sp>
        <p:nvSpPr>
          <p:cNvPr id="26" name="Rectangle 2">
            <a:extLst>
              <a:ext uri="{FF2B5EF4-FFF2-40B4-BE49-F238E27FC236}">
                <a16:creationId xmlns:a16="http://schemas.microsoft.com/office/drawing/2014/main" id="{0FEAC2C2-4AB5-8417-C46F-95828AE2CA3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0AF2C3C6-AB9E-AAE9-8DBD-8C97080AC705}"/>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E5F2883D-DE82-C81E-3C12-CD9E2D296555}"/>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1E28DC36-50D7-7B6A-A5B0-BED49CBBDE11}"/>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2A197EFC-9EB8-FD62-12BE-771F63FEDD74}"/>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F3C986BE-EEC7-C450-26B3-1D04F05B0967}"/>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BA18A22B-BED8-E110-CAB4-BEB55A9020AF}"/>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EF38D2A5-3465-E2A6-FE59-01700E63F67E}"/>
              </a:ext>
            </a:extLst>
          </p:cNvPr>
          <p:cNvSpPr txBox="1"/>
          <p:nvPr/>
        </p:nvSpPr>
        <p:spPr>
          <a:xfrm>
            <a:off x="24583" y="1932016"/>
            <a:ext cx="4043509" cy="501387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700" dirty="0">
                <a:latin typeface="Calibir"/>
              </a:rPr>
              <a:t>Permit (per semester)</a:t>
            </a:r>
          </a:p>
          <a:p>
            <a:pPr lvl="1" eaLnBrk="0" fontAlgn="base" hangingPunct="0">
              <a:lnSpc>
                <a:spcPct val="150000"/>
              </a:lnSpc>
              <a:spcBef>
                <a:spcPct val="0"/>
              </a:spcBef>
              <a:spcAft>
                <a:spcPct val="0"/>
              </a:spcAft>
            </a:pPr>
            <a:r>
              <a:rPr lang="en-US" altLang="en-US" sz="2700" dirty="0">
                <a:latin typeface="Calibir"/>
              </a:rPr>
              <a:t>A</a:t>
            </a:r>
            <a:r>
              <a:rPr lang="en-US" altLang="en-US" sz="2700" i="1" dirty="0">
                <a:latin typeface="Calibir"/>
              </a:rPr>
              <a:t> user may have zero or one active permit in a semester</a:t>
            </a:r>
            <a:r>
              <a:rPr lang="en-US" altLang="en-US" sz="2700" dirty="0">
                <a:latin typeface="Calibir"/>
              </a:rPr>
              <a:t> (optional on the permit side).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700" dirty="0">
                <a:latin typeface="Calibir"/>
              </a:rPr>
              <a:t>A permit is requested by only one user at a time (mandatory)</a:t>
            </a:r>
          </a:p>
        </p:txBody>
      </p:sp>
      <p:sp>
        <p:nvSpPr>
          <p:cNvPr id="27" name="Rectangle 26">
            <a:extLst>
              <a:ext uri="{FF2B5EF4-FFF2-40B4-BE49-F238E27FC236}">
                <a16:creationId xmlns:a16="http://schemas.microsoft.com/office/drawing/2014/main" id="{EA41423C-5084-1AFB-C347-343C8422E7FC}"/>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3415F8D4-65C5-9871-7413-3B9007631F9F}"/>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FFCAD849-F3B8-A8E2-D2BF-60FA72D4C862}"/>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17FB6C6E-ED74-378D-DCE4-70716C696953}"/>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A5410973-D114-895D-35B7-92E15D3B23C4}"/>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570FBF02-CD59-F1A4-424E-E1D4FDE7AA14}"/>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043E2A28-5DD7-1ACF-3AE6-23893DC3D536}"/>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ACAA0684-0ED3-302E-29CA-598EDE10CF14}"/>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BD49019A-B241-F5FB-CDB6-80CFBD505016}"/>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93954BFE-D408-2F7B-9FBB-899C890C2CD6}"/>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D907E527-20AF-6D58-9385-7A8D0446A645}"/>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6A977301-0142-EDF3-CDC5-3BFE646961D5}"/>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1481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B81F-0A99-EB46-CD16-F968D85CF595}"/>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99FD7A87-FE98-7DBC-DE48-A12653BF15FF}"/>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76C202C0-A9B2-2296-E208-1FCFBB0F742A}"/>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A4C9EEA9-9B27-21CF-4493-20714F9F86AA}"/>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26" name="Rectangle 2">
            <a:extLst>
              <a:ext uri="{FF2B5EF4-FFF2-40B4-BE49-F238E27FC236}">
                <a16:creationId xmlns:a16="http://schemas.microsoft.com/office/drawing/2014/main" id="{23452494-1857-DD09-295F-9D99BDF337A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469175FD-438F-395B-7889-F0116C7D20A7}"/>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8B488DC9-E215-1465-AA95-9F344D6D37B2}"/>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C575DDC3-88EF-D5D6-9849-527B6B8FAB54}"/>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2499175E-8869-323D-3EBC-E58954A09AB8}"/>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144FC9CD-B56A-7E99-D0FF-2184A3AFBED3}"/>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259291A0-9EDA-EAA8-3247-D7F451F5F4BE}"/>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E6230F7D-664C-FD85-34A0-7174568450CC}"/>
              </a:ext>
            </a:extLst>
          </p:cNvPr>
          <p:cNvSpPr txBox="1"/>
          <p:nvPr/>
        </p:nvSpPr>
        <p:spPr>
          <a:xfrm>
            <a:off x="0" y="21486"/>
            <a:ext cx="4068089" cy="6883616"/>
          </a:xfrm>
          <a:prstGeom prst="rect">
            <a:avLst/>
          </a:prstGeom>
          <a:noFill/>
        </p:spPr>
        <p:txBody>
          <a:bodyPr wrap="square">
            <a:spAutoFit/>
          </a:bodyPr>
          <a:lstStyle/>
          <a:p>
            <a:pPr>
              <a:lnSpc>
                <a:spcPct val="150000"/>
              </a:lnSpc>
            </a:pPr>
            <a:r>
              <a:rPr lang="en-US" sz="2700" b="1" dirty="0">
                <a:highlight>
                  <a:srgbClr val="FFFF00"/>
                </a:highlight>
                <a:latin typeface="Calibir"/>
              </a:rPr>
              <a:t>4. Multiplicity (numbers on relationships)</a:t>
            </a:r>
          </a:p>
          <a:p>
            <a:pPr>
              <a:lnSpc>
                <a:spcPct val="150000"/>
              </a:lnSpc>
            </a:pPr>
            <a:r>
              <a:rPr lang="en-US" sz="2700" dirty="0">
                <a:latin typeface="Calibir"/>
              </a:rPr>
              <a:t>Multiplicity means "how many objects can connect."</a:t>
            </a:r>
          </a:p>
          <a:p>
            <a:pPr marL="457200" indent="-457200">
              <a:lnSpc>
                <a:spcPct val="150000"/>
              </a:lnSpc>
              <a:buFont typeface="Arial" panose="020B0604020202020204" pitchFamily="34" charset="0"/>
              <a:buChar char="•"/>
            </a:pPr>
            <a:r>
              <a:rPr lang="en-US" sz="2700" dirty="0">
                <a:latin typeface="Calibir"/>
              </a:rPr>
              <a:t>User (1) ── (0..1) Permit</a:t>
            </a:r>
            <a:br>
              <a:rPr lang="en-US" sz="2700" dirty="0">
                <a:latin typeface="Calibir"/>
              </a:rPr>
            </a:br>
            <a:r>
              <a:rPr lang="en-US" sz="2700" dirty="0">
                <a:latin typeface="Calibir"/>
              </a:rPr>
              <a:t>→ One user can have at most 1 permit per semester.</a:t>
            </a:r>
            <a:br>
              <a:rPr lang="en-US" sz="2700" dirty="0">
                <a:latin typeface="Calibir"/>
              </a:rPr>
            </a:br>
            <a:r>
              <a:rPr lang="en-US" sz="2700" dirty="0">
                <a:latin typeface="Calibir"/>
              </a:rPr>
              <a:t>→ Permit is optional (0..1 means may not exist).</a:t>
            </a:r>
          </a:p>
        </p:txBody>
      </p:sp>
      <p:sp>
        <p:nvSpPr>
          <p:cNvPr id="27" name="Rectangle 26">
            <a:extLst>
              <a:ext uri="{FF2B5EF4-FFF2-40B4-BE49-F238E27FC236}">
                <a16:creationId xmlns:a16="http://schemas.microsoft.com/office/drawing/2014/main" id="{976030E4-5C5E-2C95-8DEC-4468CA968C66}"/>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1D5DF6D9-694B-5317-E5BB-8E63C7926486}"/>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43D46B92-642F-9387-2710-20B42E5FC6D1}"/>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13411496-F7CA-A9F7-9508-B0724F20EB77}"/>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17FABA0F-9ED7-F0DC-2BCA-3E76AF81AF3F}"/>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949CBA13-EE17-2360-989E-C5F8FFB6BECB}"/>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95917CD3-FAC5-D52E-CB2E-2D7C82E57EA9}"/>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F9F52443-5154-3D93-488A-82E449D5752A}"/>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1E1C2469-ED01-E876-0290-8BBBCFDFCBDD}"/>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ED4BA837-FC39-B8C2-0758-054FAEB6F358}"/>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89B5E7FB-94EF-9075-6692-9FD5349F030A}"/>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D5D4B7C9-15C4-118D-C0BE-25AEDB8C1BD7}"/>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7721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7D1E0-8E02-C261-22EF-2E4B7BF7C6A3}"/>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6B1846A9-4AF2-6E55-D504-0B3BF22D4CF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619370C-4436-7CD6-ED77-E88462FD499B}"/>
              </a:ext>
            </a:extLst>
          </p:cNvPr>
          <p:cNvSpPr txBox="1"/>
          <p:nvPr/>
        </p:nvSpPr>
        <p:spPr>
          <a:xfrm>
            <a:off x="0" y="1002978"/>
            <a:ext cx="12192000" cy="4549835"/>
          </a:xfrm>
          <a:prstGeom prst="rect">
            <a:avLst/>
          </a:prstGeom>
          <a:noFill/>
        </p:spPr>
        <p:txBody>
          <a:bodyPr wrap="square">
            <a:spAutoFit/>
          </a:bodyPr>
          <a:lstStyle/>
          <a:p>
            <a:pPr>
              <a:lnSpc>
                <a:spcPct val="150000"/>
              </a:lnSpc>
            </a:pPr>
            <a:r>
              <a:rPr lang="en-US" sz="2800" dirty="0">
                <a:latin typeface="Calibir"/>
              </a:rPr>
              <a:t>We have completed the </a:t>
            </a:r>
            <a:r>
              <a:rPr lang="en-US" sz="2800" b="1" dirty="0">
                <a:latin typeface="Calibir"/>
              </a:rPr>
              <a:t>User–Permit</a:t>
            </a:r>
            <a:r>
              <a:rPr lang="en-US" sz="2800" dirty="0">
                <a:latin typeface="Calibir"/>
              </a:rPr>
              <a:t> part together. Now, please design the rest of the UML diagram by adding:</a:t>
            </a:r>
          </a:p>
          <a:p>
            <a:pPr marL="457200" indent="-457200">
              <a:lnSpc>
                <a:spcPct val="150000"/>
              </a:lnSpc>
              <a:buFont typeface="Arial" panose="020B0604020202020204" pitchFamily="34" charset="0"/>
              <a:buChar char="•"/>
            </a:pPr>
            <a:r>
              <a:rPr lang="en-US" sz="2800" b="1" dirty="0">
                <a:latin typeface="Calibir"/>
              </a:rPr>
              <a:t>Permit–Payment</a:t>
            </a:r>
            <a:r>
              <a:rPr lang="en-US" sz="2800" dirty="0">
                <a:latin typeface="Calibir"/>
              </a:rPr>
              <a:t> (mandatory relationship, action label ‘requires’).</a:t>
            </a:r>
          </a:p>
          <a:p>
            <a:pPr marL="457200" indent="-457200">
              <a:lnSpc>
                <a:spcPct val="150000"/>
              </a:lnSpc>
              <a:buFont typeface="Arial" panose="020B0604020202020204" pitchFamily="34" charset="0"/>
              <a:buChar char="•"/>
            </a:pPr>
            <a:r>
              <a:rPr lang="en-US" sz="2800" b="1" dirty="0" err="1">
                <a:latin typeface="Calibir"/>
              </a:rPr>
              <a:t>SecurityOfficer</a:t>
            </a:r>
            <a:r>
              <a:rPr lang="en-US" sz="2800" b="1" dirty="0">
                <a:latin typeface="Calibir"/>
              </a:rPr>
              <a:t>–Permit</a:t>
            </a:r>
            <a:r>
              <a:rPr lang="en-US" sz="2800" dirty="0">
                <a:latin typeface="Calibir"/>
              </a:rPr>
              <a:t> (dependency with revoke action).</a:t>
            </a:r>
          </a:p>
          <a:p>
            <a:pPr marL="457200" indent="-457200">
              <a:lnSpc>
                <a:spcPct val="150000"/>
              </a:lnSpc>
              <a:buFont typeface="Arial" panose="020B0604020202020204" pitchFamily="34" charset="0"/>
              <a:buChar char="•"/>
            </a:pPr>
            <a:r>
              <a:rPr lang="en-US" sz="2800" b="1" dirty="0">
                <a:latin typeface="Calibir"/>
              </a:rPr>
              <a:t>Permit–</a:t>
            </a:r>
            <a:r>
              <a:rPr lang="en-US" sz="2800" b="1" dirty="0" err="1">
                <a:latin typeface="Calibir"/>
              </a:rPr>
              <a:t>VehicleInfo</a:t>
            </a:r>
            <a:r>
              <a:rPr lang="en-US" sz="2800" dirty="0">
                <a:latin typeface="Calibir"/>
              </a:rPr>
              <a:t> (composition, black diamond).</a:t>
            </a:r>
            <a:br>
              <a:rPr lang="en-US" sz="2800" dirty="0">
                <a:latin typeface="Calibir"/>
              </a:rPr>
            </a:br>
            <a:r>
              <a:rPr lang="en-US" sz="2800" dirty="0">
                <a:latin typeface="Calibir"/>
              </a:rPr>
              <a:t>Remember to use rectangles for classes, ovals for methods, and mark multiplicity (0..1, 1, etc.).”</a:t>
            </a:r>
          </a:p>
        </p:txBody>
      </p:sp>
      <p:pic>
        <p:nvPicPr>
          <p:cNvPr id="4" name="Timer">
            <a:hlinkClick r:id="" action="ppaction://media"/>
            <a:extLst>
              <a:ext uri="{FF2B5EF4-FFF2-40B4-BE49-F238E27FC236}">
                <a16:creationId xmlns:a16="http://schemas.microsoft.com/office/drawing/2014/main" id="{ADC29056-D138-487B-B7DD-08245108F9C6}"/>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92" t="44731" r="40718" b="40645"/>
          <a:stretch>
            <a:fillRect/>
          </a:stretch>
        </p:blipFill>
        <p:spPr>
          <a:xfrm>
            <a:off x="5117690" y="5257520"/>
            <a:ext cx="2241756" cy="1002890"/>
          </a:xfrm>
          <a:prstGeom prst="rect">
            <a:avLst/>
          </a:prstGeom>
          <a:ln w="38100">
            <a:solidFill>
              <a:srgbClr val="FF0000"/>
            </a:solidFill>
          </a:ln>
        </p:spPr>
      </p:pic>
      <p:sp>
        <p:nvSpPr>
          <p:cNvPr id="2" name="Title 1">
            <a:extLst>
              <a:ext uri="{FF2B5EF4-FFF2-40B4-BE49-F238E27FC236}">
                <a16:creationId xmlns:a16="http://schemas.microsoft.com/office/drawing/2014/main" id="{9EB49885-93A8-6CED-BCD7-36C123FE3101}"/>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3965028517"/>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1F24D-6074-C30A-9BB1-BA6C92ECC670}"/>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CE85CB4F-9819-78A7-AA87-A4D41ECA0E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79D5C65-FF75-C6D6-C65D-4B9A4E783D10}"/>
              </a:ext>
            </a:extLst>
          </p:cNvPr>
          <p:cNvSpPr txBox="1"/>
          <p:nvPr/>
        </p:nvSpPr>
        <p:spPr>
          <a:xfrm>
            <a:off x="0" y="1002978"/>
            <a:ext cx="12192000" cy="5637121"/>
          </a:xfrm>
          <a:prstGeom prst="rect">
            <a:avLst/>
          </a:prstGeom>
          <a:noFill/>
        </p:spPr>
        <p:txBody>
          <a:bodyPr wrap="square">
            <a:spAutoFit/>
          </a:bodyPr>
          <a:lstStyle/>
          <a:p>
            <a:pPr>
              <a:lnSpc>
                <a:spcPct val="150000"/>
              </a:lnSpc>
            </a:pPr>
            <a:r>
              <a:rPr lang="en-US" sz="2700" b="1" dirty="0">
                <a:latin typeface="Calibir"/>
              </a:rPr>
              <a:t>Complete the UML Relationships</a:t>
            </a:r>
          </a:p>
          <a:p>
            <a:pPr marL="514350" indent="-514350">
              <a:lnSpc>
                <a:spcPct val="150000"/>
              </a:lnSpc>
              <a:buFont typeface="+mj-lt"/>
              <a:buAutoNum type="arabicPeriod"/>
            </a:pPr>
            <a:r>
              <a:rPr lang="en-US" sz="2700" b="1" dirty="0">
                <a:latin typeface="Calibir"/>
              </a:rPr>
              <a:t>Permit–Payment (mandatory)</a:t>
            </a:r>
            <a:endParaRPr lang="en-US" sz="2700" dirty="0">
              <a:latin typeface="Calibir"/>
            </a:endParaRPr>
          </a:p>
          <a:p>
            <a:pPr marL="914400" lvl="1" indent="-457200">
              <a:lnSpc>
                <a:spcPct val="150000"/>
              </a:lnSpc>
              <a:buFont typeface="Arial" panose="020B0604020202020204" pitchFamily="34" charset="0"/>
              <a:buChar char="•"/>
            </a:pPr>
            <a:r>
              <a:rPr lang="en-US" sz="2700" dirty="0">
                <a:latin typeface="Calibir"/>
              </a:rPr>
              <a:t>Permit (1) ── (1) Payment</a:t>
            </a:r>
          </a:p>
          <a:p>
            <a:pPr marL="914400" lvl="1" indent="-457200">
              <a:lnSpc>
                <a:spcPct val="150000"/>
              </a:lnSpc>
              <a:buFont typeface="Arial" panose="020B0604020202020204" pitchFamily="34" charset="0"/>
              <a:buChar char="•"/>
            </a:pPr>
            <a:r>
              <a:rPr lang="en-US" sz="2700" dirty="0">
                <a:latin typeface="Calibir"/>
              </a:rPr>
              <a:t>Action: “requires”</a:t>
            </a:r>
          </a:p>
          <a:p>
            <a:pPr marL="914400" lvl="1" indent="-457200">
              <a:lnSpc>
                <a:spcPct val="150000"/>
              </a:lnSpc>
              <a:buFont typeface="Arial" panose="020B0604020202020204" pitchFamily="34" charset="0"/>
              <a:buChar char="•"/>
            </a:pPr>
            <a:r>
              <a:rPr lang="en-US" sz="2700" dirty="0">
                <a:latin typeface="Calibir"/>
              </a:rPr>
              <a:t>Explain: every permit must have exactly one payment when created.</a:t>
            </a:r>
          </a:p>
          <a:p>
            <a:pPr marL="514350" indent="-514350">
              <a:lnSpc>
                <a:spcPct val="150000"/>
              </a:lnSpc>
              <a:buFont typeface="+mj-lt"/>
              <a:buAutoNum type="arabicPeriod"/>
            </a:pPr>
            <a:r>
              <a:rPr lang="en-US" sz="2700" b="1" dirty="0" err="1">
                <a:latin typeface="Calibir"/>
              </a:rPr>
              <a:t>SecurityOfficer</a:t>
            </a:r>
            <a:r>
              <a:rPr lang="en-US" sz="2700" b="1" dirty="0">
                <a:latin typeface="Calibir"/>
              </a:rPr>
              <a:t>–Permit (dependency)</a:t>
            </a:r>
            <a:endParaRPr lang="en-US" sz="2700" dirty="0">
              <a:latin typeface="Calibir"/>
            </a:endParaRPr>
          </a:p>
          <a:p>
            <a:pPr marL="914400" lvl="1" indent="-457200">
              <a:lnSpc>
                <a:spcPct val="150000"/>
              </a:lnSpc>
              <a:buFont typeface="Arial" panose="020B0604020202020204" pitchFamily="34" charset="0"/>
              <a:buChar char="•"/>
            </a:pPr>
            <a:r>
              <a:rPr lang="en-US" sz="2700" dirty="0">
                <a:latin typeface="Calibir"/>
              </a:rPr>
              <a:t>Dashed arrow </a:t>
            </a:r>
            <a:r>
              <a:rPr lang="en-US" sz="2700" dirty="0" err="1">
                <a:latin typeface="Calibir"/>
              </a:rPr>
              <a:t>SecurityOfficer</a:t>
            </a:r>
            <a:r>
              <a:rPr lang="en-US" sz="2700" dirty="0">
                <a:latin typeface="Calibir"/>
              </a:rPr>
              <a:t> ──&gt; Permit</a:t>
            </a:r>
          </a:p>
          <a:p>
            <a:pPr marL="914400" lvl="1" indent="-457200">
              <a:lnSpc>
                <a:spcPct val="150000"/>
              </a:lnSpc>
              <a:buFont typeface="Arial" panose="020B0604020202020204" pitchFamily="34" charset="0"/>
              <a:buChar char="•"/>
            </a:pPr>
            <a:r>
              <a:rPr lang="en-US" sz="2700" dirty="0">
                <a:latin typeface="Calibir"/>
              </a:rPr>
              <a:t>Action: “revoke()”</a:t>
            </a:r>
          </a:p>
          <a:p>
            <a:pPr marL="914400" lvl="1" indent="-457200">
              <a:lnSpc>
                <a:spcPct val="150000"/>
              </a:lnSpc>
              <a:buFont typeface="Arial" panose="020B0604020202020204" pitchFamily="34" charset="0"/>
              <a:buChar char="•"/>
            </a:pPr>
            <a:r>
              <a:rPr lang="en-US" sz="2700" dirty="0">
                <a:latin typeface="Calibir"/>
              </a:rPr>
              <a:t>Explain: dependency, because </a:t>
            </a:r>
            <a:r>
              <a:rPr lang="en-US" sz="2700" dirty="0" err="1">
                <a:latin typeface="Calibir"/>
              </a:rPr>
              <a:t>SecurityOfficer</a:t>
            </a:r>
            <a:r>
              <a:rPr lang="en-US" sz="2700" dirty="0">
                <a:latin typeface="Calibir"/>
              </a:rPr>
              <a:t> needs Permit to perform revoke.</a:t>
            </a:r>
          </a:p>
        </p:txBody>
      </p:sp>
      <p:sp>
        <p:nvSpPr>
          <p:cNvPr id="6" name="Title 1">
            <a:extLst>
              <a:ext uri="{FF2B5EF4-FFF2-40B4-BE49-F238E27FC236}">
                <a16:creationId xmlns:a16="http://schemas.microsoft.com/office/drawing/2014/main" id="{D75478D2-BCDA-4D6C-96CE-3F5A017BD450}"/>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400616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A597-A317-6FD3-99BB-DC7530320EEB}"/>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92D77C22-A22D-E655-A716-83CF830F72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6DC365D-9CA1-B79A-EA8F-1403A4EB06EC}"/>
              </a:ext>
            </a:extLst>
          </p:cNvPr>
          <p:cNvSpPr txBox="1"/>
          <p:nvPr/>
        </p:nvSpPr>
        <p:spPr>
          <a:xfrm>
            <a:off x="0" y="1002978"/>
            <a:ext cx="12192000" cy="2610843"/>
          </a:xfrm>
          <a:prstGeom prst="rect">
            <a:avLst/>
          </a:prstGeom>
          <a:noFill/>
        </p:spPr>
        <p:txBody>
          <a:bodyPr wrap="square">
            <a:spAutoFit/>
          </a:bodyPr>
          <a:lstStyle/>
          <a:p>
            <a:pPr marL="514350" indent="-514350">
              <a:lnSpc>
                <a:spcPct val="150000"/>
              </a:lnSpc>
              <a:buFont typeface="+mj-lt"/>
              <a:buAutoNum type="arabicPeriod" startAt="3"/>
            </a:pPr>
            <a:r>
              <a:rPr lang="en-US" sz="2800" b="1" dirty="0">
                <a:latin typeface="Calibir"/>
              </a:rPr>
              <a:t>Permit–</a:t>
            </a:r>
            <a:r>
              <a:rPr lang="en-US" sz="2800" b="1" dirty="0" err="1">
                <a:latin typeface="Calibir"/>
              </a:rPr>
              <a:t>VehicleInfo</a:t>
            </a:r>
            <a:r>
              <a:rPr lang="en-US" sz="2800" b="1" dirty="0">
                <a:latin typeface="Calibir"/>
              </a:rPr>
              <a:t> (composition)</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Black diamond at Permit side.</a:t>
            </a:r>
          </a:p>
          <a:p>
            <a:pPr marL="914400" lvl="1" indent="-457200">
              <a:lnSpc>
                <a:spcPct val="150000"/>
              </a:lnSpc>
              <a:buFont typeface="Arial" panose="020B0604020202020204" pitchFamily="34" charset="0"/>
              <a:buChar char="•"/>
            </a:pPr>
            <a:r>
              <a:rPr lang="en-US" sz="2800" dirty="0">
                <a:latin typeface="Calibir"/>
              </a:rPr>
              <a:t>Multiplicity: 1 Permit → 1 </a:t>
            </a:r>
            <a:r>
              <a:rPr lang="en-US" sz="2800" dirty="0" err="1">
                <a:latin typeface="Calibir"/>
              </a:rPr>
              <a:t>VehicleInfo</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Explain: if Permit is deleted, </a:t>
            </a:r>
            <a:r>
              <a:rPr lang="en-US" sz="2800" dirty="0" err="1">
                <a:latin typeface="Calibir"/>
              </a:rPr>
              <a:t>VehicleInfo</a:t>
            </a:r>
            <a:r>
              <a:rPr lang="en-US" sz="2800" dirty="0">
                <a:latin typeface="Calibir"/>
              </a:rPr>
              <a:t> is deleted too.</a:t>
            </a:r>
          </a:p>
        </p:txBody>
      </p:sp>
      <p:sp>
        <p:nvSpPr>
          <p:cNvPr id="4" name="Title 1">
            <a:extLst>
              <a:ext uri="{FF2B5EF4-FFF2-40B4-BE49-F238E27FC236}">
                <a16:creationId xmlns:a16="http://schemas.microsoft.com/office/drawing/2014/main" id="{1B5F97DA-26EC-63F2-527A-92E16597A7BB}"/>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476890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BD46-3A3A-6D8E-F935-C7C768B20FD4}"/>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9E935C70-0145-944C-23F3-0CEF4BE99C3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509012A7-0B51-5DD0-0365-9C2A5248B1F5}"/>
              </a:ext>
            </a:extLst>
          </p:cNvPr>
          <p:cNvSpPr txBox="1"/>
          <p:nvPr/>
        </p:nvSpPr>
        <p:spPr>
          <a:xfrm>
            <a:off x="0" y="1477248"/>
            <a:ext cx="12192000" cy="3903504"/>
          </a:xfrm>
          <a:prstGeom prst="rect">
            <a:avLst/>
          </a:prstGeom>
          <a:noFill/>
        </p:spPr>
        <p:txBody>
          <a:bodyPr wrap="square">
            <a:spAutoFit/>
          </a:bodyPr>
          <a:lstStyle/>
          <a:p>
            <a:pPr>
              <a:lnSpc>
                <a:spcPct val="150000"/>
              </a:lnSpc>
            </a:pPr>
            <a:r>
              <a:rPr lang="en-US" sz="2800" dirty="0">
                <a:latin typeface="Calibir"/>
              </a:rPr>
              <a:t>Permit (1) ── (1) Payment</a:t>
            </a:r>
            <a:br>
              <a:rPr lang="en-US" sz="2800" dirty="0">
                <a:latin typeface="Calibir"/>
              </a:rPr>
            </a:br>
            <a:r>
              <a:rPr lang="en-US" sz="2800" dirty="0">
                <a:latin typeface="Calibir"/>
              </a:rPr>
              <a:t>→ Every permit needs exactly one payment at the time of issue.</a:t>
            </a:r>
          </a:p>
          <a:p>
            <a:pPr>
              <a:lnSpc>
                <a:spcPct val="150000"/>
              </a:lnSpc>
            </a:pPr>
            <a:r>
              <a:rPr lang="en-US" sz="2800" dirty="0" err="1">
                <a:latin typeface="Calibir"/>
              </a:rPr>
              <a:t>SecurityOfficer</a:t>
            </a:r>
            <a:r>
              <a:rPr lang="en-US" sz="2800" dirty="0">
                <a:latin typeface="Calibir"/>
              </a:rPr>
              <a:t> ──&gt; Permit</a:t>
            </a:r>
            <a:br>
              <a:rPr lang="en-US" sz="2800" dirty="0">
                <a:latin typeface="Calibir"/>
              </a:rPr>
            </a:br>
            <a:r>
              <a:rPr lang="en-US" sz="2800" dirty="0">
                <a:latin typeface="Calibir"/>
              </a:rPr>
              <a:t>→ A Security Officer can revoke (dependency arrow).</a:t>
            </a:r>
          </a:p>
          <a:p>
            <a:pPr>
              <a:lnSpc>
                <a:spcPct val="150000"/>
              </a:lnSpc>
            </a:pPr>
            <a:r>
              <a:rPr lang="en-US" sz="2800" dirty="0">
                <a:latin typeface="Calibir"/>
              </a:rPr>
              <a:t>Permit ── </a:t>
            </a:r>
            <a:r>
              <a:rPr lang="en-US" sz="2800" dirty="0" err="1">
                <a:latin typeface="Calibir"/>
              </a:rPr>
              <a:t>VehicleInfo</a:t>
            </a:r>
            <a:r>
              <a:rPr lang="en-US" sz="2800" dirty="0">
                <a:latin typeface="Calibir"/>
              </a:rPr>
              <a:t> (composition)</a:t>
            </a:r>
            <a:br>
              <a:rPr lang="en-US" sz="2800" dirty="0">
                <a:latin typeface="Calibir"/>
              </a:rPr>
            </a:br>
            <a:r>
              <a:rPr lang="en-US" sz="2800" dirty="0">
                <a:latin typeface="Calibir"/>
              </a:rPr>
              <a:t>→ Permit owns vehicle info (plate, make). If permit deleted → vehicle info deleted.</a:t>
            </a:r>
          </a:p>
        </p:txBody>
      </p:sp>
      <p:sp>
        <p:nvSpPr>
          <p:cNvPr id="4" name="Title 1">
            <a:extLst>
              <a:ext uri="{FF2B5EF4-FFF2-40B4-BE49-F238E27FC236}">
                <a16:creationId xmlns:a16="http://schemas.microsoft.com/office/drawing/2014/main" id="{6E131795-A694-8243-CD4E-7E28148771D9}"/>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014931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504D2-3C7B-F19D-63A4-0CE03D8B9EC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CBE576-7C68-44B2-8E76-2285D9F83B46}"/>
              </a:ext>
            </a:extLst>
          </p:cNvPr>
          <p:cNvSpPr txBox="1"/>
          <p:nvPr/>
        </p:nvSpPr>
        <p:spPr>
          <a:xfrm>
            <a:off x="0" y="1074106"/>
            <a:ext cx="12192000" cy="1964512"/>
          </a:xfrm>
          <a:prstGeom prst="rect">
            <a:avLst/>
          </a:prstGeom>
          <a:noFill/>
        </p:spPr>
        <p:txBody>
          <a:bodyPr wrap="square">
            <a:spAutoFit/>
          </a:bodyPr>
          <a:lstStyle/>
          <a:p>
            <a:pPr>
              <a:lnSpc>
                <a:spcPct val="150000"/>
              </a:lnSpc>
            </a:pPr>
            <a:r>
              <a:rPr lang="en-US" sz="2800" b="1" dirty="0">
                <a:latin typeface="Calibir"/>
              </a:rPr>
              <a:t>5. Optional vs Mandatory</a:t>
            </a:r>
          </a:p>
          <a:p>
            <a:pPr marL="914400" lvl="1" indent="-457200">
              <a:lnSpc>
                <a:spcPct val="150000"/>
              </a:lnSpc>
              <a:buFont typeface="Arial" panose="020B0604020202020204" pitchFamily="34" charset="0"/>
              <a:buChar char="•"/>
            </a:pPr>
            <a:r>
              <a:rPr lang="en-US" sz="2800" dirty="0">
                <a:latin typeface="Calibir"/>
              </a:rPr>
              <a:t>Optional: Permit for a User (not all users will request one).</a:t>
            </a:r>
          </a:p>
          <a:p>
            <a:pPr marL="914400" lvl="1" indent="-457200">
              <a:lnSpc>
                <a:spcPct val="150000"/>
              </a:lnSpc>
              <a:buFont typeface="Arial" panose="020B0604020202020204" pitchFamily="34" charset="0"/>
              <a:buChar char="•"/>
            </a:pPr>
            <a:r>
              <a:rPr lang="en-US" sz="2800" dirty="0">
                <a:latin typeface="Calibir"/>
              </a:rPr>
              <a:t>Mandatory: Payment for Permit (no free permits).</a:t>
            </a:r>
          </a:p>
        </p:txBody>
      </p:sp>
      <p:sp>
        <p:nvSpPr>
          <p:cNvPr id="3" name="Title 1">
            <a:extLst>
              <a:ext uri="{FF2B5EF4-FFF2-40B4-BE49-F238E27FC236}">
                <a16:creationId xmlns:a16="http://schemas.microsoft.com/office/drawing/2014/main" id="{4585EE6D-2273-B814-669C-E2F50FA13BD4}"/>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024589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C4C98-8BE6-5B09-5DE4-8713890AF0F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B6A1F45-C5E2-B532-6E4F-069F54400FD7}"/>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6. Action Verbs</a:t>
            </a:r>
          </a:p>
          <a:p>
            <a:pPr>
              <a:lnSpc>
                <a:spcPct val="150000"/>
              </a:lnSpc>
            </a:pPr>
            <a:r>
              <a:rPr lang="en-US" sz="2800" dirty="0">
                <a:latin typeface="Calibir"/>
              </a:rPr>
              <a:t>Relationships should use verbs:</a:t>
            </a:r>
          </a:p>
          <a:p>
            <a:pPr marL="914400" lvl="1" indent="-457200">
              <a:lnSpc>
                <a:spcPct val="150000"/>
              </a:lnSpc>
              <a:buFont typeface="Arial" panose="020B0604020202020204" pitchFamily="34" charset="0"/>
              <a:buChar char="•"/>
            </a:pPr>
            <a:r>
              <a:rPr lang="en-US" sz="2800" dirty="0">
                <a:latin typeface="Calibir"/>
              </a:rPr>
              <a:t>User requests Permit.</a:t>
            </a:r>
          </a:p>
          <a:p>
            <a:pPr marL="914400" lvl="1" indent="-457200">
              <a:lnSpc>
                <a:spcPct val="150000"/>
              </a:lnSpc>
              <a:buFont typeface="Arial" panose="020B0604020202020204" pitchFamily="34" charset="0"/>
              <a:buChar char="•"/>
            </a:pPr>
            <a:r>
              <a:rPr lang="en-US" sz="2800" dirty="0">
                <a:latin typeface="Calibir"/>
              </a:rPr>
              <a:t>Permit requires Payment.</a:t>
            </a:r>
          </a:p>
          <a:p>
            <a:pPr marL="914400" lvl="1" indent="-457200">
              <a:lnSpc>
                <a:spcPct val="150000"/>
              </a:lnSpc>
              <a:buFont typeface="Arial" panose="020B0604020202020204" pitchFamily="34" charset="0"/>
              <a:buChar char="•"/>
            </a:pPr>
            <a:r>
              <a:rPr lang="en-US" sz="2800" dirty="0">
                <a:latin typeface="Calibir"/>
              </a:rPr>
              <a:t>Security Officer revokes Permit.</a:t>
            </a:r>
          </a:p>
          <a:p>
            <a:pPr marL="914400" lvl="1" indent="-457200">
              <a:lnSpc>
                <a:spcPct val="150000"/>
              </a:lnSpc>
              <a:buFont typeface="Arial" panose="020B0604020202020204" pitchFamily="34" charset="0"/>
              <a:buChar char="•"/>
            </a:pPr>
            <a:r>
              <a:rPr lang="en-US" sz="2800" dirty="0">
                <a:latin typeface="Calibir"/>
              </a:rPr>
              <a:t>ParkingDB stores Permits.</a:t>
            </a:r>
          </a:p>
        </p:txBody>
      </p:sp>
      <p:sp>
        <p:nvSpPr>
          <p:cNvPr id="3" name="Title 1">
            <a:extLst>
              <a:ext uri="{FF2B5EF4-FFF2-40B4-BE49-F238E27FC236}">
                <a16:creationId xmlns:a16="http://schemas.microsoft.com/office/drawing/2014/main" id="{5B958C0B-CF3A-F231-69E7-5ABD4DC1FC87}"/>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430793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3CEC9-CAC3-5090-289F-9832F91FCC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48C125-7E70-C0A2-AC04-0F1C6486B01E}"/>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7. Include / Exclude (use cases)</a:t>
            </a:r>
          </a:p>
          <a:p>
            <a:pPr marL="914400" lvl="1" indent="-457200">
              <a:lnSpc>
                <a:spcPct val="150000"/>
              </a:lnSpc>
              <a:buFont typeface="Arial" panose="020B0604020202020204" pitchFamily="34" charset="0"/>
              <a:buChar char="•"/>
            </a:pPr>
            <a:r>
              <a:rPr lang="en-US" sz="2800" b="1" dirty="0">
                <a:latin typeface="Calibir"/>
              </a:rPr>
              <a:t>100 User logs in</a:t>
            </a:r>
            <a:r>
              <a:rPr lang="en-US" sz="2800" dirty="0">
                <a:latin typeface="Calibir"/>
              </a:rPr>
              <a:t> → </a:t>
            </a:r>
            <a:r>
              <a:rPr lang="en-US" sz="2800" i="1" dirty="0">
                <a:latin typeface="Calibir"/>
              </a:rPr>
              <a:t>include</a:t>
            </a:r>
            <a:r>
              <a:rPr lang="en-US" sz="2800" dirty="0">
                <a:latin typeface="Calibir"/>
              </a:rPr>
              <a:t> validate credentials.</a:t>
            </a:r>
          </a:p>
          <a:p>
            <a:pPr marL="914400" lvl="1" indent="-457200">
              <a:lnSpc>
                <a:spcPct val="150000"/>
              </a:lnSpc>
              <a:buFont typeface="Arial" panose="020B0604020202020204" pitchFamily="34" charset="0"/>
              <a:buChar char="•"/>
            </a:pPr>
            <a:r>
              <a:rPr lang="en-US" sz="2800" b="1" dirty="0">
                <a:latin typeface="Calibir"/>
              </a:rPr>
              <a:t>200 Request permit</a:t>
            </a:r>
            <a:r>
              <a:rPr lang="en-US" sz="2800" dirty="0">
                <a:latin typeface="Calibir"/>
              </a:rPr>
              <a:t> → </a:t>
            </a:r>
            <a:r>
              <a:rPr lang="en-US" sz="2800" i="1" dirty="0">
                <a:latin typeface="Calibir"/>
              </a:rPr>
              <a:t>include</a:t>
            </a:r>
            <a:r>
              <a:rPr lang="en-US" sz="2800" dirty="0">
                <a:latin typeface="Calibir"/>
              </a:rPr>
              <a:t> take payment, save record.</a:t>
            </a:r>
          </a:p>
          <a:p>
            <a:pPr marL="914400" lvl="1" indent="-457200">
              <a:lnSpc>
                <a:spcPct val="150000"/>
              </a:lnSpc>
              <a:buFont typeface="Arial" panose="020B0604020202020204" pitchFamily="34" charset="0"/>
              <a:buChar char="•"/>
            </a:pPr>
            <a:r>
              <a:rPr lang="en-US" sz="2800" b="1" dirty="0">
                <a:latin typeface="Calibir"/>
              </a:rPr>
              <a:t>210 Prevent &gt;1 active permit</a:t>
            </a:r>
            <a:r>
              <a:rPr lang="en-US" sz="2800" dirty="0">
                <a:latin typeface="Calibir"/>
              </a:rPr>
              <a:t> → </a:t>
            </a:r>
            <a:r>
              <a:rPr lang="en-US" sz="2800" i="1" dirty="0">
                <a:latin typeface="Calibir"/>
              </a:rPr>
              <a:t>exclude</a:t>
            </a:r>
            <a:r>
              <a:rPr lang="en-US" sz="2800" dirty="0">
                <a:latin typeface="Calibir"/>
              </a:rPr>
              <a:t> if user already has permit.</a:t>
            </a:r>
          </a:p>
          <a:p>
            <a:pPr marL="914400" lvl="1" indent="-457200">
              <a:lnSpc>
                <a:spcPct val="150000"/>
              </a:lnSpc>
              <a:buFont typeface="Arial" panose="020B0604020202020204" pitchFamily="34" charset="0"/>
              <a:buChar char="•"/>
            </a:pPr>
            <a:r>
              <a:rPr lang="en-US" sz="2800" b="1" dirty="0">
                <a:latin typeface="Calibir"/>
              </a:rPr>
              <a:t>300 Security revokes permit</a:t>
            </a:r>
            <a:r>
              <a:rPr lang="en-US" sz="2800" dirty="0">
                <a:latin typeface="Calibir"/>
              </a:rPr>
              <a:t> → </a:t>
            </a:r>
            <a:r>
              <a:rPr lang="en-US" sz="2800" i="1" dirty="0">
                <a:latin typeface="Calibir"/>
              </a:rPr>
              <a:t>include</a:t>
            </a:r>
            <a:r>
              <a:rPr lang="en-US" sz="2800" dirty="0">
                <a:latin typeface="Calibir"/>
              </a:rPr>
              <a:t> change status to inactive.</a:t>
            </a:r>
          </a:p>
          <a:p>
            <a:pPr marL="914400" lvl="1" indent="-457200">
              <a:lnSpc>
                <a:spcPct val="150000"/>
              </a:lnSpc>
              <a:buFont typeface="Arial" panose="020B0604020202020204" pitchFamily="34" charset="0"/>
              <a:buChar char="•"/>
            </a:pPr>
            <a:r>
              <a:rPr lang="en-US" sz="2800" b="1" dirty="0">
                <a:latin typeface="Calibir"/>
              </a:rPr>
              <a:t>400 Admin lists permits</a:t>
            </a:r>
            <a:r>
              <a:rPr lang="en-US" sz="2800" dirty="0">
                <a:latin typeface="Calibir"/>
              </a:rPr>
              <a:t> → </a:t>
            </a:r>
            <a:r>
              <a:rPr lang="en-US" sz="2800" i="1" dirty="0">
                <a:latin typeface="Calibir"/>
              </a:rPr>
              <a:t>include</a:t>
            </a:r>
            <a:r>
              <a:rPr lang="en-US" sz="2800" dirty="0">
                <a:latin typeface="Calibir"/>
              </a:rPr>
              <a:t> filter by zone, semester.</a:t>
            </a:r>
          </a:p>
        </p:txBody>
      </p:sp>
      <p:sp>
        <p:nvSpPr>
          <p:cNvPr id="3" name="Title 1">
            <a:extLst>
              <a:ext uri="{FF2B5EF4-FFF2-40B4-BE49-F238E27FC236}">
                <a16:creationId xmlns:a16="http://schemas.microsoft.com/office/drawing/2014/main" id="{ACB3D3D8-990C-0FB2-D8C2-EA001890EACA}"/>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680055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E4EEB-432E-A5F9-FCEE-35F7ACD23CC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6003699-4997-53EA-7FBB-30C145609D7E}"/>
              </a:ext>
            </a:extLst>
          </p:cNvPr>
          <p:cNvSpPr txBox="1"/>
          <p:nvPr/>
        </p:nvSpPr>
        <p:spPr>
          <a:xfrm>
            <a:off x="0" y="1074106"/>
            <a:ext cx="12192000" cy="2610843"/>
          </a:xfrm>
          <a:prstGeom prst="rect">
            <a:avLst/>
          </a:prstGeom>
          <a:noFill/>
        </p:spPr>
        <p:txBody>
          <a:bodyPr wrap="square">
            <a:spAutoFit/>
          </a:bodyPr>
          <a:lstStyle/>
          <a:p>
            <a:pPr>
              <a:lnSpc>
                <a:spcPct val="150000"/>
              </a:lnSpc>
            </a:pPr>
            <a:r>
              <a:rPr lang="en-US" sz="2800" b="1" dirty="0">
                <a:latin typeface="Calibir"/>
              </a:rPr>
              <a:t>8. Dependency</a:t>
            </a:r>
          </a:p>
          <a:p>
            <a:pPr marL="914400" lvl="1" indent="-457200">
              <a:lnSpc>
                <a:spcPct val="150000"/>
              </a:lnSpc>
              <a:buFont typeface="Arial" panose="020B0604020202020204" pitchFamily="34" charset="0"/>
              <a:buChar char="•"/>
            </a:pPr>
            <a:r>
              <a:rPr lang="en-US" sz="2800" dirty="0">
                <a:latin typeface="Calibir"/>
              </a:rPr>
              <a:t>Dependency means one class needs another to do something.</a:t>
            </a:r>
          </a:p>
          <a:p>
            <a:pPr marL="914400" lvl="1" indent="-457200">
              <a:lnSpc>
                <a:spcPct val="150000"/>
              </a:lnSpc>
              <a:buFont typeface="Arial" panose="020B0604020202020204" pitchFamily="34" charset="0"/>
              <a:buChar char="•"/>
            </a:pPr>
            <a:r>
              <a:rPr lang="en-US" sz="2800" dirty="0">
                <a:latin typeface="Calibir"/>
              </a:rPr>
              <a:t>Example: </a:t>
            </a:r>
            <a:r>
              <a:rPr lang="en-US" sz="2800" dirty="0" err="1">
                <a:latin typeface="Calibir"/>
              </a:rPr>
              <a:t>SecurityOfficer</a:t>
            </a:r>
            <a:r>
              <a:rPr lang="en-US" sz="2800" dirty="0">
                <a:latin typeface="Calibir"/>
              </a:rPr>
              <a:t> → Permit (dependency: revoke()).</a:t>
            </a:r>
            <a:br>
              <a:rPr lang="en-US" sz="2800" dirty="0">
                <a:latin typeface="Calibir"/>
              </a:rPr>
            </a:br>
            <a:r>
              <a:rPr lang="en-US" sz="2800" dirty="0">
                <a:latin typeface="Calibir"/>
              </a:rPr>
              <a:t>Without Permit, revoke() makes no sense.</a:t>
            </a:r>
          </a:p>
        </p:txBody>
      </p:sp>
      <p:sp>
        <p:nvSpPr>
          <p:cNvPr id="3" name="Title 1">
            <a:extLst>
              <a:ext uri="{FF2B5EF4-FFF2-40B4-BE49-F238E27FC236}">
                <a16:creationId xmlns:a16="http://schemas.microsoft.com/office/drawing/2014/main" id="{E458516B-83C2-17D3-4B38-E63C5F6A8EDF}"/>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1285260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4C9-73EE-0C2D-FD16-CC99A6CC01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C0E711F-BAA4-EE8A-4972-2CED1729C937}"/>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9. Composition vs Aggregation</a:t>
            </a:r>
          </a:p>
          <a:p>
            <a:pPr marL="914400" lvl="1" indent="-457200">
              <a:lnSpc>
                <a:spcPct val="150000"/>
              </a:lnSpc>
              <a:buFont typeface="Arial" panose="020B0604020202020204" pitchFamily="34" charset="0"/>
              <a:buChar char="•"/>
            </a:pPr>
            <a:r>
              <a:rPr lang="en-US" sz="2800" dirty="0">
                <a:latin typeface="Calibir"/>
              </a:rPr>
              <a:t>Permit – </a:t>
            </a:r>
            <a:r>
              <a:rPr lang="en-US" sz="2800" dirty="0" err="1">
                <a:latin typeface="Calibir"/>
              </a:rPr>
              <a:t>VehicleInfo</a:t>
            </a:r>
            <a:r>
              <a:rPr lang="en-US" sz="2800" dirty="0">
                <a:latin typeface="Calibir"/>
              </a:rPr>
              <a:t> = Composition (solid diamond).</a:t>
            </a:r>
          </a:p>
          <a:p>
            <a:pPr marL="914400" lvl="1" indent="-457200">
              <a:lnSpc>
                <a:spcPct val="150000"/>
              </a:lnSpc>
              <a:buFont typeface="Arial" panose="020B0604020202020204" pitchFamily="34" charset="0"/>
              <a:buChar char="•"/>
            </a:pPr>
            <a:r>
              <a:rPr lang="en-US" sz="2800" dirty="0">
                <a:latin typeface="Calibir"/>
              </a:rPr>
              <a:t>Permit has </a:t>
            </a:r>
            <a:r>
              <a:rPr lang="en-US" sz="2800" dirty="0" err="1">
                <a:latin typeface="Calibir"/>
              </a:rPr>
              <a:t>VehicleInfo</a:t>
            </a:r>
            <a:r>
              <a:rPr lang="en-US" sz="2800" dirty="0">
                <a:latin typeface="Calibir"/>
              </a:rPr>
              <a:t> (plate, make) — if permit deleted, vehicle info goes too.</a:t>
            </a:r>
          </a:p>
          <a:p>
            <a:pPr marL="914400" lvl="1" indent="-457200">
              <a:lnSpc>
                <a:spcPct val="150000"/>
              </a:lnSpc>
              <a:buFont typeface="Arial" panose="020B0604020202020204" pitchFamily="34" charset="0"/>
              <a:buChar char="•"/>
            </a:pPr>
            <a:r>
              <a:rPr lang="en-US" sz="2800" dirty="0">
                <a:latin typeface="Calibir"/>
              </a:rPr>
              <a:t>Reason: Vehicle info cannot exist separately from Permit.</a:t>
            </a:r>
            <a:br>
              <a:rPr lang="en-US" sz="2800" dirty="0">
                <a:latin typeface="Calibir"/>
              </a:rPr>
            </a:br>
            <a:r>
              <a:rPr lang="en-US" sz="2800" dirty="0">
                <a:latin typeface="Calibir"/>
              </a:rPr>
              <a:t>(When permit deleted, vehicle info goes away too.)</a:t>
            </a:r>
          </a:p>
        </p:txBody>
      </p:sp>
      <p:sp>
        <p:nvSpPr>
          <p:cNvPr id="3" name="Title 1">
            <a:extLst>
              <a:ext uri="{FF2B5EF4-FFF2-40B4-BE49-F238E27FC236}">
                <a16:creationId xmlns:a16="http://schemas.microsoft.com/office/drawing/2014/main" id="{D5EF3E76-D4BF-5AF5-B393-F1B50CD4A5E1}"/>
              </a:ext>
            </a:extLst>
          </p:cNvPr>
          <p:cNvSpPr>
            <a:spLocks noGrp="1"/>
          </p:cNvSpPr>
          <p:nvPr>
            <p:ph type="title"/>
          </p:nvPr>
        </p:nvSpPr>
        <p:spPr>
          <a:xfrm>
            <a:off x="0" y="0"/>
            <a:ext cx="12192000" cy="1074106"/>
          </a:xfrm>
        </p:spPr>
        <p:txBody>
          <a:bodyPr anchor="b">
            <a:normAutofit fontScale="90000"/>
          </a:bodyPr>
          <a:lstStyle/>
          <a:p>
            <a:r>
              <a:rPr lang="en-US" sz="4000" dirty="0">
                <a:latin typeface="Calibir"/>
              </a:rPr>
              <a:t>Example &amp; Activity — Campus Parking Permit System (intro to UML, relationships, real-world system)</a:t>
            </a:r>
            <a:endParaRPr lang="en-AU" sz="4000" b="1" dirty="0">
              <a:latin typeface="Calibir"/>
            </a:endParaRPr>
          </a:p>
        </p:txBody>
      </p:sp>
    </p:spTree>
    <p:extLst>
      <p:ext uri="{BB962C8B-B14F-4D97-AF65-F5344CB8AC3E}">
        <p14:creationId xmlns:p14="http://schemas.microsoft.com/office/powerpoint/2010/main" val="650521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AF4D-CE09-92F4-C8F3-5BBBA4D93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62E3-B0A5-6165-6115-B11BF5F57594}"/>
              </a:ext>
            </a:extLst>
          </p:cNvPr>
          <p:cNvSpPr>
            <a:spLocks noGrp="1"/>
          </p:cNvSpPr>
          <p:nvPr>
            <p:ph type="title"/>
          </p:nvPr>
        </p:nvSpPr>
        <p:spPr>
          <a:xfrm>
            <a:off x="0" y="0"/>
            <a:ext cx="12192000" cy="672662"/>
          </a:xfrm>
        </p:spPr>
        <p:txBody>
          <a:bodyPr anchor="b">
            <a:normAutofit/>
          </a:bodyPr>
          <a:lstStyle/>
          <a:p>
            <a:r>
              <a:rPr lang="en-US" sz="3300" b="1" dirty="0">
                <a:latin typeface="Calibir"/>
              </a:rPr>
              <a:t>Group Assignment – Part 1: What to do / submit / avoid</a:t>
            </a:r>
            <a:endParaRPr lang="en-AU" sz="3300" b="1" dirty="0">
              <a:latin typeface="Calibir"/>
            </a:endParaRPr>
          </a:p>
        </p:txBody>
      </p:sp>
      <p:sp>
        <p:nvSpPr>
          <p:cNvPr id="3" name="Rectangle 1">
            <a:extLst>
              <a:ext uri="{FF2B5EF4-FFF2-40B4-BE49-F238E27FC236}">
                <a16:creationId xmlns:a16="http://schemas.microsoft.com/office/drawing/2014/main" id="{04E865F2-2F56-2554-3B7F-410CC6B90348}"/>
              </a:ext>
            </a:extLst>
          </p:cNvPr>
          <p:cNvSpPr>
            <a:spLocks noChangeArrowheads="1"/>
          </p:cNvSpPr>
          <p:nvPr/>
        </p:nvSpPr>
        <p:spPr bwMode="auto">
          <a:xfrm>
            <a:off x="0" y="774608"/>
            <a:ext cx="12192000"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Do:</a:t>
            </a:r>
          </a:p>
          <a:p>
            <a:pPr marL="914400" lvl="1" indent="-457200">
              <a:lnSpc>
                <a:spcPct val="150000"/>
              </a:lnSpc>
              <a:buFont typeface="Arial" panose="020B0604020202020204" pitchFamily="34" charset="0"/>
              <a:buChar char="•"/>
            </a:pPr>
            <a:r>
              <a:rPr lang="en-US" sz="2800" dirty="0">
                <a:latin typeface="Calibir"/>
              </a:rPr>
              <a:t>Scope summary (what’s in / out).</a:t>
            </a:r>
          </a:p>
          <a:p>
            <a:pPr marL="914400" lvl="1" indent="-457200">
              <a:lnSpc>
                <a:spcPct val="150000"/>
              </a:lnSpc>
              <a:buFont typeface="Arial" panose="020B0604020202020204" pitchFamily="34" charset="0"/>
              <a:buChar char="•"/>
            </a:pPr>
            <a:r>
              <a:rPr lang="en-US" sz="2800" dirty="0">
                <a:latin typeface="Calibir"/>
              </a:rPr>
              <a:t>Backlog table with 3-digit IDs grouped by feature.</a:t>
            </a:r>
          </a:p>
          <a:p>
            <a:pPr marL="914400" lvl="1" indent="-457200">
              <a:lnSpc>
                <a:spcPct val="150000"/>
              </a:lnSpc>
              <a:buFont typeface="Arial" panose="020B0604020202020204" pitchFamily="34" charset="0"/>
              <a:buChar char="•"/>
            </a:pPr>
            <a:r>
              <a:rPr lang="en-US" sz="2800" dirty="0">
                <a:latin typeface="Calibir"/>
              </a:rPr>
              <a:t>Use case diagram + 1–2 lines per actor/use case.</a:t>
            </a:r>
          </a:p>
          <a:p>
            <a:pPr marL="914400" lvl="1" indent="-457200">
              <a:lnSpc>
                <a:spcPct val="150000"/>
              </a:lnSpc>
              <a:buFont typeface="Arial" panose="020B0604020202020204" pitchFamily="34" charset="0"/>
              <a:buChar char="•"/>
            </a:pPr>
            <a:r>
              <a:rPr lang="en-US" sz="2800" dirty="0">
                <a:latin typeface="Calibir"/>
              </a:rPr>
              <a:t>Class diagram with visibility, multiplicity, relationships.</a:t>
            </a:r>
          </a:p>
          <a:p>
            <a:pPr marL="914400" lvl="1" indent="-457200">
              <a:lnSpc>
                <a:spcPct val="150000"/>
              </a:lnSpc>
              <a:buFont typeface="Arial" panose="020B0604020202020204" pitchFamily="34" charset="0"/>
              <a:buChar char="•"/>
            </a:pPr>
            <a:r>
              <a:rPr lang="en-US" sz="2800" dirty="0">
                <a:latin typeface="Calibir"/>
              </a:rPr>
              <a:t>Data file design (JSON/CSV example lines).</a:t>
            </a:r>
          </a:p>
          <a:p>
            <a:pPr marL="914400" lvl="1" indent="-457200">
              <a:lnSpc>
                <a:spcPct val="150000"/>
              </a:lnSpc>
              <a:buFont typeface="Arial" panose="020B0604020202020204" pitchFamily="34" charset="0"/>
              <a:buChar char="•"/>
            </a:pPr>
            <a:r>
              <a:rPr lang="en-US" sz="2800" dirty="0">
                <a:latin typeface="Calibir"/>
              </a:rPr>
              <a:t>Tiny traceability table.</a:t>
            </a:r>
          </a:p>
          <a:p>
            <a:pPr>
              <a:lnSpc>
                <a:spcPct val="150000"/>
              </a:lnSpc>
            </a:pPr>
            <a:r>
              <a:rPr lang="en-US" sz="2800" dirty="0">
                <a:latin typeface="Calibir"/>
              </a:rPr>
              <a:t>Avoid: broad stories, missing multiplicities, unlabeled include/extend, GUI detail (keep CLI focus), ignoring constraints (IDs, regex, grade rules).</a:t>
            </a:r>
          </a:p>
        </p:txBody>
      </p:sp>
    </p:spTree>
    <p:extLst>
      <p:ext uri="{BB962C8B-B14F-4D97-AF65-F5344CB8AC3E}">
        <p14:creationId xmlns:p14="http://schemas.microsoft.com/office/powerpoint/2010/main" val="799984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A188-5B14-DEF5-4D30-B150D73DB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6C6B1-BECF-FCE8-5EC7-705495936B1F}"/>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8E2FBC33-E30E-BA12-DC28-3631A47896F5}"/>
              </a:ext>
            </a:extLst>
          </p:cNvPr>
          <p:cNvSpPr>
            <a:spLocks noChangeArrowheads="1"/>
          </p:cNvSpPr>
          <p:nvPr/>
        </p:nvSpPr>
        <p:spPr bwMode="auto">
          <a:xfrm>
            <a:off x="0" y="1420939"/>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Python CLI structure (suggestion):</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models/Student.py, Subject.py</a:t>
            </a:r>
          </a:p>
          <a:p>
            <a:pPr marL="914400" lvl="1" indent="-457200">
              <a:lnSpc>
                <a:spcPct val="150000"/>
              </a:lnSpc>
              <a:buFont typeface="Arial" panose="020B0604020202020204" pitchFamily="34" charset="0"/>
              <a:buChar char="•"/>
            </a:pPr>
            <a:r>
              <a:rPr lang="en-US" sz="2800" dirty="0">
                <a:latin typeface="Calibir"/>
              </a:rPr>
              <a:t>services/auth.py, id_gen.py, grade.py, store.py</a:t>
            </a:r>
          </a:p>
          <a:p>
            <a:pPr marL="914400" lvl="1" indent="-457200">
              <a:lnSpc>
                <a:spcPct val="150000"/>
              </a:lnSpc>
              <a:buFont typeface="Arial" panose="020B0604020202020204" pitchFamily="34" charset="0"/>
              <a:buChar char="•"/>
            </a:pPr>
            <a:r>
              <a:rPr lang="en-US" sz="2800" dirty="0">
                <a:latin typeface="Calibir"/>
              </a:rPr>
              <a:t>cli/university_menu.py, student_menu.py, admin_menu.py</a:t>
            </a:r>
          </a:p>
          <a:p>
            <a:pPr marL="914400" lvl="1" indent="-457200">
              <a:lnSpc>
                <a:spcPct val="150000"/>
              </a:lnSpc>
              <a:buFont typeface="Arial" panose="020B0604020202020204" pitchFamily="34" charset="0"/>
              <a:buChar char="•"/>
            </a:pPr>
            <a:r>
              <a:rPr lang="en-US" sz="2800" dirty="0">
                <a:latin typeface="Calibir"/>
              </a:rPr>
              <a:t>Data file: </a:t>
            </a:r>
            <a:r>
              <a:rPr lang="en-US" sz="2800" dirty="0" err="1">
                <a:latin typeface="Calibir"/>
              </a:rPr>
              <a:t>students.data</a:t>
            </a:r>
            <a:r>
              <a:rPr lang="en-US" sz="2800" dirty="0">
                <a:latin typeface="Calibir"/>
              </a:rPr>
              <a:t> (JSONL).</a:t>
            </a:r>
          </a:p>
          <a:p>
            <a:pPr marL="914400" lvl="1" indent="-457200">
              <a:lnSpc>
                <a:spcPct val="150000"/>
              </a:lnSpc>
              <a:buFont typeface="Arial" panose="020B0604020202020204" pitchFamily="34" charset="0"/>
              <a:buChar char="•"/>
            </a:pPr>
            <a:r>
              <a:rPr lang="en-US" sz="2800" dirty="0">
                <a:latin typeface="Calibir"/>
              </a:rPr>
              <a:t>Keep regex as constants; wrap file I/O with try/except; always re-write the file after CRUD.</a:t>
            </a:r>
          </a:p>
        </p:txBody>
      </p:sp>
    </p:spTree>
    <p:extLst>
      <p:ext uri="{BB962C8B-B14F-4D97-AF65-F5344CB8AC3E}">
        <p14:creationId xmlns:p14="http://schemas.microsoft.com/office/powerpoint/2010/main" val="1428852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3914-DFB1-7330-AA0D-02A4C6B8E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0CB54-B773-E0CE-14D7-9BB7ADE08829}"/>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B71F7D84-DBF4-B942-A278-8BEFF43A29F3}"/>
              </a:ext>
            </a:extLst>
          </p:cNvPr>
          <p:cNvSpPr>
            <a:spLocks noChangeArrowheads="1"/>
          </p:cNvSpPr>
          <p:nvPr/>
        </p:nvSpPr>
        <p:spPr bwMode="auto">
          <a:xfrm>
            <a:off x="0" y="2390436"/>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JavaFX (optional challenge later):</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MVC folders: model/, controller/, view/ (FXML).</a:t>
            </a:r>
          </a:p>
          <a:p>
            <a:pPr marL="914400" lvl="1" indent="-457200">
              <a:lnSpc>
                <a:spcPct val="150000"/>
              </a:lnSpc>
              <a:buFont typeface="Arial" panose="020B0604020202020204" pitchFamily="34" charset="0"/>
              <a:buChar char="•"/>
            </a:pPr>
            <a:r>
              <a:rPr lang="en-US" sz="2800" dirty="0">
                <a:latin typeface="Calibir"/>
              </a:rPr>
              <a:t>Start with login window → enrolment window.</a:t>
            </a:r>
          </a:p>
          <a:p>
            <a:pPr marL="914400" lvl="1" indent="-457200">
              <a:lnSpc>
                <a:spcPct val="150000"/>
              </a:lnSpc>
              <a:buFont typeface="Arial" panose="020B0604020202020204" pitchFamily="34" charset="0"/>
              <a:buChar char="•"/>
            </a:pPr>
            <a:r>
              <a:rPr lang="en-US" sz="2800" dirty="0">
                <a:latin typeface="Calibir"/>
              </a:rPr>
              <a:t>Read registered students from </a:t>
            </a:r>
            <a:r>
              <a:rPr lang="en-US" sz="2800" dirty="0" err="1">
                <a:latin typeface="Calibir"/>
              </a:rPr>
              <a:t>students.data</a:t>
            </a:r>
            <a:r>
              <a:rPr lang="en-US" sz="2800" dirty="0">
                <a:latin typeface="Calibir"/>
              </a:rPr>
              <a:t>.</a:t>
            </a:r>
          </a:p>
        </p:txBody>
      </p:sp>
    </p:spTree>
    <p:extLst>
      <p:ext uri="{BB962C8B-B14F-4D97-AF65-F5344CB8AC3E}">
        <p14:creationId xmlns:p14="http://schemas.microsoft.com/office/powerpoint/2010/main" val="3555556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B6E0-D345-A311-4B34-F88736AC4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CAAF1-F83B-6092-2219-929CE7742800}"/>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D8622D64-C2E7-AE96-9FFA-72EF3F66BA37}"/>
              </a:ext>
            </a:extLst>
          </p:cNvPr>
          <p:cNvSpPr>
            <a:spLocks noChangeArrowheads="1"/>
          </p:cNvSpPr>
          <p:nvPr/>
        </p:nvSpPr>
        <p:spPr bwMode="auto">
          <a:xfrm>
            <a:off x="0" y="1744106"/>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Coding do/avoid:</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Do unit-size functions (e.g., </a:t>
            </a:r>
            <a:r>
              <a:rPr lang="en-US" sz="2800" dirty="0" err="1">
                <a:latin typeface="Calibir"/>
              </a:rPr>
              <a:t>assign_mark_and_grade</a:t>
            </a:r>
            <a:r>
              <a:rPr lang="en-US" sz="2800" dirty="0">
                <a:latin typeface="Calibir"/>
              </a:rPr>
              <a:t>()), no giant methods.</a:t>
            </a:r>
          </a:p>
          <a:p>
            <a:pPr marL="914400" lvl="1" indent="-457200">
              <a:lnSpc>
                <a:spcPct val="150000"/>
              </a:lnSpc>
              <a:buFont typeface="Arial" panose="020B0604020202020204" pitchFamily="34" charset="0"/>
              <a:buChar char="•"/>
            </a:pPr>
            <a:r>
              <a:rPr lang="en-US" sz="2800" dirty="0">
                <a:latin typeface="Calibir"/>
              </a:rPr>
              <a:t>Do input validation; mirror sample I/O wording.</a:t>
            </a:r>
          </a:p>
          <a:p>
            <a:pPr marL="914400" lvl="1" indent="-457200">
              <a:lnSpc>
                <a:spcPct val="150000"/>
              </a:lnSpc>
              <a:buFont typeface="Arial" panose="020B0604020202020204" pitchFamily="34" charset="0"/>
              <a:buChar char="•"/>
            </a:pPr>
            <a:r>
              <a:rPr lang="en-US" sz="2800" dirty="0">
                <a:latin typeface="Calibir"/>
              </a:rPr>
              <a:t>Avoid plaintext passwords in examples (hash in design; for Part 2, at minimum note hashing TODO).</a:t>
            </a:r>
          </a:p>
          <a:p>
            <a:pPr marL="914400" lvl="1" indent="-457200">
              <a:lnSpc>
                <a:spcPct val="150000"/>
              </a:lnSpc>
              <a:buFont typeface="Arial" panose="020B0604020202020204" pitchFamily="34" charset="0"/>
              <a:buChar char="•"/>
            </a:pPr>
            <a:r>
              <a:rPr lang="en-US" sz="2800" dirty="0">
                <a:latin typeface="Calibir"/>
              </a:rPr>
              <a:t>Avoid mixing model and menu logic; keep menus thin.</a:t>
            </a:r>
          </a:p>
        </p:txBody>
      </p:sp>
    </p:spTree>
    <p:extLst>
      <p:ext uri="{BB962C8B-B14F-4D97-AF65-F5344CB8AC3E}">
        <p14:creationId xmlns:p14="http://schemas.microsoft.com/office/powerpoint/2010/main" val="2956361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52624-4228-858F-B9E8-7D8C334A5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7764C-CD11-2A9D-8F44-8CF5A33819E4}"/>
              </a:ext>
            </a:extLst>
          </p:cNvPr>
          <p:cNvSpPr>
            <a:spLocks noGrp="1"/>
          </p:cNvSpPr>
          <p:nvPr>
            <p:ph type="title"/>
          </p:nvPr>
        </p:nvSpPr>
        <p:spPr>
          <a:xfrm>
            <a:off x="0" y="0"/>
            <a:ext cx="12192000" cy="651641"/>
          </a:xfrm>
        </p:spPr>
        <p:txBody>
          <a:bodyPr anchor="b">
            <a:normAutofit/>
          </a:bodyPr>
          <a:lstStyle/>
          <a:p>
            <a:r>
              <a:rPr lang="en-US" sz="3300" b="1" dirty="0">
                <a:latin typeface="Calibir"/>
              </a:rPr>
              <a:t>Group Assignment – Part 3: Showcase tips</a:t>
            </a:r>
            <a:endParaRPr lang="en-AU" sz="3300" b="1" dirty="0">
              <a:latin typeface="Calibir"/>
            </a:endParaRPr>
          </a:p>
        </p:txBody>
      </p:sp>
      <p:sp>
        <p:nvSpPr>
          <p:cNvPr id="3" name="Rectangle 1">
            <a:extLst>
              <a:ext uri="{FF2B5EF4-FFF2-40B4-BE49-F238E27FC236}">
                <a16:creationId xmlns:a16="http://schemas.microsoft.com/office/drawing/2014/main" id="{D399C664-60C1-3319-A4A0-6081EC566515}"/>
              </a:ext>
            </a:extLst>
          </p:cNvPr>
          <p:cNvSpPr>
            <a:spLocks noChangeArrowheads="1"/>
          </p:cNvSpPr>
          <p:nvPr/>
        </p:nvSpPr>
        <p:spPr bwMode="auto">
          <a:xfrm>
            <a:off x="0" y="1097775"/>
            <a:ext cx="12192000"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Plan a 5–7 min script:</a:t>
            </a:r>
          </a:p>
          <a:p>
            <a:pPr marL="971550" lvl="1" indent="-514350">
              <a:lnSpc>
                <a:spcPct val="150000"/>
              </a:lnSpc>
              <a:buFont typeface="+mj-lt"/>
              <a:buAutoNum type="arabicPeriod"/>
            </a:pPr>
            <a:r>
              <a:rPr lang="en-US" sz="2800" dirty="0">
                <a:latin typeface="Calibir"/>
              </a:rPr>
              <a:t>Open app → show University → Student/Admin navigation.</a:t>
            </a:r>
          </a:p>
          <a:p>
            <a:pPr marL="971550" lvl="1" indent="-514350">
              <a:lnSpc>
                <a:spcPct val="150000"/>
              </a:lnSpc>
              <a:buFont typeface="+mj-lt"/>
              <a:buAutoNum type="arabicPeriod"/>
            </a:pPr>
            <a:r>
              <a:rPr lang="en-US" sz="2800" dirty="0">
                <a:latin typeface="Calibir"/>
              </a:rPr>
              <a:t>Student flow: register/login → </a:t>
            </a:r>
            <a:r>
              <a:rPr lang="en-US" sz="2800" dirty="0" err="1">
                <a:latin typeface="Calibir"/>
              </a:rPr>
              <a:t>enrol</a:t>
            </a:r>
            <a:r>
              <a:rPr lang="en-US" sz="2800" dirty="0">
                <a:latin typeface="Calibir"/>
              </a:rPr>
              <a:t> (cap at 4) → show → remove → change password.</a:t>
            </a:r>
          </a:p>
          <a:p>
            <a:pPr marL="971550" lvl="1" indent="-514350">
              <a:lnSpc>
                <a:spcPct val="150000"/>
              </a:lnSpc>
              <a:buFont typeface="+mj-lt"/>
              <a:buAutoNum type="arabicPeriod"/>
            </a:pPr>
            <a:r>
              <a:rPr lang="en-US" sz="2800" dirty="0">
                <a:latin typeface="Calibir"/>
              </a:rPr>
              <a:t>Admin flow: list → group by grade → PASS/FAIL → remove → clear.</a:t>
            </a:r>
          </a:p>
          <a:p>
            <a:pPr marL="971550" lvl="1" indent="-514350">
              <a:lnSpc>
                <a:spcPct val="150000"/>
              </a:lnSpc>
              <a:buFont typeface="+mj-lt"/>
              <a:buAutoNum type="arabicPeriod"/>
            </a:pPr>
            <a:r>
              <a:rPr lang="en-US" sz="2800" dirty="0">
                <a:latin typeface="Calibir"/>
              </a:rPr>
              <a:t>Code walkthrough: each member shows their class/function for ~45–60s (what it does, where it’s called).</a:t>
            </a:r>
            <a:br>
              <a:rPr lang="en-US" sz="2800" dirty="0">
                <a:latin typeface="Calibir"/>
              </a:rPr>
            </a:br>
            <a:r>
              <a:rPr lang="en-US" sz="2800" dirty="0">
                <a:latin typeface="Calibir"/>
              </a:rPr>
              <a:t>Avoid: live debugging on stage; changing scope; reading long code blocks.</a:t>
            </a:r>
          </a:p>
        </p:txBody>
      </p:sp>
    </p:spTree>
    <p:extLst>
      <p:ext uri="{BB962C8B-B14F-4D97-AF65-F5344CB8AC3E}">
        <p14:creationId xmlns:p14="http://schemas.microsoft.com/office/powerpoint/2010/main" val="269981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A8C7-6992-3DE3-5215-DA420B13E14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D9E7E18-4F4A-A094-9679-9F2BD4C95390}"/>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5B7FBDEE-2D42-6643-5C80-CCFB5E8E471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6B789D03-E49A-6B0E-8C11-82EAEB12D1BC}"/>
              </a:ext>
            </a:extLst>
          </p:cNvPr>
          <p:cNvSpPr txBox="1"/>
          <p:nvPr/>
        </p:nvSpPr>
        <p:spPr>
          <a:xfrm>
            <a:off x="9807676" y="1616247"/>
            <a:ext cx="2197511" cy="3903504"/>
          </a:xfrm>
          <a:prstGeom prst="rect">
            <a:avLst/>
          </a:prstGeom>
          <a:noFill/>
        </p:spPr>
        <p:txBody>
          <a:bodyPr wrap="square">
            <a:spAutoFit/>
          </a:bodyPr>
          <a:lstStyle/>
          <a:p>
            <a:pPr>
              <a:lnSpc>
                <a:spcPct val="150000"/>
              </a:lnSpc>
            </a:pPr>
            <a:r>
              <a:rPr lang="en-US" sz="2800" b="1" dirty="0">
                <a:highlight>
                  <a:srgbClr val="FFFF00"/>
                </a:highlight>
                <a:latin typeface="Calibir"/>
              </a:rPr>
              <a:t>1. import re</a:t>
            </a:r>
            <a:br>
              <a:rPr lang="en-US" sz="2800" dirty="0">
                <a:latin typeface="Calibir"/>
              </a:rPr>
            </a:br>
            <a:r>
              <a:rPr lang="en-US" sz="2800" dirty="0">
                <a:latin typeface="Calibir"/>
              </a:rPr>
              <a:t>Loads Python’s regular expression module.</a:t>
            </a:r>
          </a:p>
        </p:txBody>
      </p:sp>
      <p:sp>
        <p:nvSpPr>
          <p:cNvPr id="14" name="Rectangle: Rounded Corners 13">
            <a:extLst>
              <a:ext uri="{FF2B5EF4-FFF2-40B4-BE49-F238E27FC236}">
                <a16:creationId xmlns:a16="http://schemas.microsoft.com/office/drawing/2014/main" id="{A1B3BD5E-EDE4-BE2C-9FAE-9DABC5B3A627}"/>
              </a:ext>
            </a:extLst>
          </p:cNvPr>
          <p:cNvSpPr/>
          <p:nvPr/>
        </p:nvSpPr>
        <p:spPr>
          <a:xfrm>
            <a:off x="0" y="1401094"/>
            <a:ext cx="2035277" cy="35396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56CF4DD9-9B51-27E4-9609-C324C54A45CC}"/>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Optional mini coding nudges: Email &amp; Password Patterns</a:t>
            </a:r>
            <a:endParaRPr lang="en-AU" sz="3300" b="1" dirty="0">
              <a:latin typeface="Calibir"/>
            </a:endParaRPr>
          </a:p>
        </p:txBody>
      </p:sp>
    </p:spTree>
    <p:extLst>
      <p:ext uri="{BB962C8B-B14F-4D97-AF65-F5344CB8AC3E}">
        <p14:creationId xmlns:p14="http://schemas.microsoft.com/office/powerpoint/2010/main" val="2619286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B73-6F81-6AB7-8717-FC42B03C3CF4}"/>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FFF7A493-791C-1C00-09BF-1A28E725C01B}"/>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9D15A95C-ED46-C0D3-A527-C2B924F1A9E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40C203C4-E152-D6F9-CB30-6F3BCB509367}"/>
              </a:ext>
            </a:extLst>
          </p:cNvPr>
          <p:cNvSpPr txBox="1"/>
          <p:nvPr/>
        </p:nvSpPr>
        <p:spPr>
          <a:xfrm>
            <a:off x="9807676" y="228190"/>
            <a:ext cx="2384324" cy="6641690"/>
          </a:xfrm>
          <a:prstGeom prst="rect">
            <a:avLst/>
          </a:prstGeom>
          <a:noFill/>
        </p:spPr>
        <p:txBody>
          <a:bodyPr wrap="square">
            <a:spAutoFit/>
          </a:bodyPr>
          <a:lstStyle/>
          <a:p>
            <a:pPr lvl="0" eaLnBrk="0" fontAlgn="base" hangingPunct="0">
              <a:lnSpc>
                <a:spcPct val="150000"/>
              </a:lnSpc>
              <a:spcBef>
                <a:spcPct val="0"/>
              </a:spcBef>
              <a:spcAft>
                <a:spcPct val="0"/>
              </a:spcAft>
            </a:pPr>
            <a:r>
              <a:rPr lang="en-US" sz="2200" b="1" dirty="0">
                <a:highlight>
                  <a:srgbClr val="FFFF00"/>
                </a:highlight>
                <a:latin typeface="Calibir"/>
              </a:rPr>
              <a:t>2. Patterns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 start; $ end → match the whole string</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[\w.\-]+ → one or more letters/digits/underscore/dot/hyphen before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@university\.com → literal domain (the dot is escaped)</a:t>
            </a:r>
          </a:p>
        </p:txBody>
      </p:sp>
      <p:sp>
        <p:nvSpPr>
          <p:cNvPr id="14" name="Rectangle: Rounded Corners 13">
            <a:extLst>
              <a:ext uri="{FF2B5EF4-FFF2-40B4-BE49-F238E27FC236}">
                <a16:creationId xmlns:a16="http://schemas.microsoft.com/office/drawing/2014/main" id="{CB08654B-999F-FDB1-545E-D2A6358F94B4}"/>
              </a:ext>
            </a:extLst>
          </p:cNvPr>
          <p:cNvSpPr/>
          <p:nvPr/>
        </p:nvSpPr>
        <p:spPr>
          <a:xfrm>
            <a:off x="-2" y="1755058"/>
            <a:ext cx="5707628" cy="57518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CB1E0F61-2DA0-FFD2-6B4C-6C660BE8748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Optional mini coding nudges: Email &amp; Password Patterns</a:t>
            </a:r>
            <a:endParaRPr lang="en-AU" sz="3300" b="1" dirty="0">
              <a:latin typeface="Calibir"/>
            </a:endParaRPr>
          </a:p>
        </p:txBody>
      </p:sp>
    </p:spTree>
    <p:extLst>
      <p:ext uri="{BB962C8B-B14F-4D97-AF65-F5344CB8AC3E}">
        <p14:creationId xmlns:p14="http://schemas.microsoft.com/office/powerpoint/2010/main" val="3422406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55F4-C476-2267-100B-B770EF9DDE3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8D30403-F057-8511-11A0-7D133FECDFBA}"/>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AA737974-7696-7CD8-6B42-8C93AC9D2717}"/>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99FAD95B-5493-F94C-EB0F-42803C8AC7FC}"/>
              </a:ext>
            </a:extLst>
          </p:cNvPr>
          <p:cNvSpPr txBox="1"/>
          <p:nvPr/>
        </p:nvSpPr>
        <p:spPr>
          <a:xfrm>
            <a:off x="9807676" y="0"/>
            <a:ext cx="2384324" cy="695767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Start with one uppercase [A-Z]</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Then ≥4 letters [A-Za-z]{4,} → total letters ≥5</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Then ≥3 digits \d{3,}</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Anchored with ^ and $</a:t>
            </a:r>
          </a:p>
        </p:txBody>
      </p:sp>
      <p:sp>
        <p:nvSpPr>
          <p:cNvPr id="14" name="Rectangle: Rounded Corners 13">
            <a:extLst>
              <a:ext uri="{FF2B5EF4-FFF2-40B4-BE49-F238E27FC236}">
                <a16:creationId xmlns:a16="http://schemas.microsoft.com/office/drawing/2014/main" id="{CE8547BB-8948-7A3F-807F-27D5610D826C}"/>
              </a:ext>
            </a:extLst>
          </p:cNvPr>
          <p:cNvSpPr/>
          <p:nvPr/>
        </p:nvSpPr>
        <p:spPr>
          <a:xfrm>
            <a:off x="-2" y="2300748"/>
            <a:ext cx="9719190" cy="6194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C7327F0-FD14-8D05-D6D1-20CB744E8AA6}"/>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Optional mini coding nudges: Email &amp; Password Patterns</a:t>
            </a:r>
            <a:endParaRPr lang="en-AU" sz="3300" b="1" dirty="0">
              <a:latin typeface="Calibir"/>
            </a:endParaRPr>
          </a:p>
        </p:txBody>
      </p:sp>
    </p:spTree>
    <p:extLst>
      <p:ext uri="{BB962C8B-B14F-4D97-AF65-F5344CB8AC3E}">
        <p14:creationId xmlns:p14="http://schemas.microsoft.com/office/powerpoint/2010/main" val="2448155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6121-14D2-7B93-7BF8-21CDF420814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A4E97B0-F2F0-C357-930C-A073997EB84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52A96B00-AB4F-FB11-9B3B-7FD4F07C4523}"/>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5394B218-FC28-8EC5-F174-5E48B8AF69F2}"/>
              </a:ext>
            </a:extLst>
          </p:cNvPr>
          <p:cNvSpPr txBox="1"/>
          <p:nvPr/>
        </p:nvSpPr>
        <p:spPr>
          <a:xfrm>
            <a:off x="9807676" y="0"/>
            <a:ext cx="2384324" cy="325717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3. Validators</a:t>
            </a:r>
          </a:p>
          <a:p>
            <a:pPr lvl="0" eaLnBrk="0" fontAlgn="base" hangingPunct="0">
              <a:lnSpc>
                <a:spcPct val="150000"/>
              </a:lnSpc>
              <a:spcBef>
                <a:spcPct val="0"/>
              </a:spcBef>
              <a:spcAft>
                <a:spcPct val="0"/>
              </a:spcAft>
            </a:pPr>
            <a:r>
              <a:rPr lang="en-US" sz="2800" dirty="0">
                <a:latin typeface="Calibir"/>
              </a:rPr>
              <a:t>Return True/False depending on pattern match.</a:t>
            </a:r>
            <a:endParaRPr lang="en-US" altLang="en-US" sz="2800" dirty="0">
              <a:latin typeface="Calibir"/>
            </a:endParaRPr>
          </a:p>
        </p:txBody>
      </p:sp>
      <p:sp>
        <p:nvSpPr>
          <p:cNvPr id="14" name="Rectangle: Rounded Corners 13">
            <a:extLst>
              <a:ext uri="{FF2B5EF4-FFF2-40B4-BE49-F238E27FC236}">
                <a16:creationId xmlns:a16="http://schemas.microsoft.com/office/drawing/2014/main" id="{1248388B-4ACE-62B0-69DD-5F0F9AA90DB5}"/>
              </a:ext>
            </a:extLst>
          </p:cNvPr>
          <p:cNvSpPr/>
          <p:nvPr/>
        </p:nvSpPr>
        <p:spPr>
          <a:xfrm>
            <a:off x="-2" y="2899423"/>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DE39F51D-2CB2-DDA8-978A-A7D047CE1118}"/>
              </a:ext>
            </a:extLst>
          </p:cNvPr>
          <p:cNvSpPr/>
          <p:nvPr/>
        </p:nvSpPr>
        <p:spPr>
          <a:xfrm>
            <a:off x="-2" y="3744507"/>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AADA02C-0411-0AAF-119E-BA1EEBF71614}"/>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Optional mini coding nudges: Email &amp; Password Patterns</a:t>
            </a:r>
            <a:endParaRPr lang="en-AU" sz="3300" b="1" dirty="0">
              <a:latin typeface="Calibir"/>
            </a:endParaRPr>
          </a:p>
        </p:txBody>
      </p:sp>
    </p:spTree>
    <p:extLst>
      <p:ext uri="{BB962C8B-B14F-4D97-AF65-F5344CB8AC3E}">
        <p14:creationId xmlns:p14="http://schemas.microsoft.com/office/powerpoint/2010/main" val="3033551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48CE-D9C3-FE0F-DDFD-9F094692EBD9}"/>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133DE91E-36CA-5D8F-628E-05BF6CCA0F9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D19EB2D2-B71B-B675-C4AC-F864E063652C}"/>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0C10C594-0DEC-34A8-0DBF-ECC7DA065640}"/>
              </a:ext>
            </a:extLst>
          </p:cNvPr>
          <p:cNvSpPr txBox="1"/>
          <p:nvPr/>
        </p:nvSpPr>
        <p:spPr>
          <a:xfrm>
            <a:off x="9807676" y="-5614"/>
            <a:ext cx="2384324" cy="3907095"/>
          </a:xfrm>
          <a:prstGeom prst="rect">
            <a:avLst/>
          </a:prstGeom>
          <a:noFill/>
        </p:spPr>
        <p:txBody>
          <a:bodyPr wrap="square">
            <a:spAutoFit/>
          </a:bodyPr>
          <a:lstStyle/>
          <a:p>
            <a:pPr lvl="0" eaLnBrk="0" fontAlgn="base" hangingPunct="0">
              <a:lnSpc>
                <a:spcPct val="150000"/>
              </a:lnSpc>
              <a:spcBef>
                <a:spcPct val="0"/>
              </a:spcBef>
              <a:spcAft>
                <a:spcPct val="0"/>
              </a:spcAft>
            </a:pPr>
            <a:r>
              <a:rPr lang="en-US" sz="2800" b="1" dirty="0">
                <a:latin typeface="Calibir"/>
              </a:rPr>
              <a:t>4.  Quick test</a:t>
            </a:r>
            <a:br>
              <a:rPr lang="en-US" sz="2800" dirty="0">
                <a:latin typeface="Calibir"/>
              </a:rPr>
            </a:br>
            <a:r>
              <a:rPr lang="en-US" sz="2800" dirty="0">
                <a:latin typeface="Calibir"/>
              </a:rPr>
              <a:t>Loops over sample emails/passwords and prints results.</a:t>
            </a:r>
            <a:endParaRPr lang="en-US" altLang="en-US" sz="2800" dirty="0">
              <a:latin typeface="Calibir"/>
            </a:endParaRPr>
          </a:p>
        </p:txBody>
      </p:sp>
      <p:sp>
        <p:nvSpPr>
          <p:cNvPr id="4" name="Rectangle: Rounded Corners 3">
            <a:extLst>
              <a:ext uri="{FF2B5EF4-FFF2-40B4-BE49-F238E27FC236}">
                <a16:creationId xmlns:a16="http://schemas.microsoft.com/office/drawing/2014/main" id="{FD9959F6-74BB-8FEC-E3F2-FBE2AA7322E4}"/>
              </a:ext>
            </a:extLst>
          </p:cNvPr>
          <p:cNvSpPr/>
          <p:nvPr/>
        </p:nvSpPr>
        <p:spPr>
          <a:xfrm>
            <a:off x="-2" y="4660095"/>
            <a:ext cx="9719190" cy="209466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02A31154-E406-5334-B2B0-E8E328F75D9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Optional mini coding nudges: Email &amp; Password Patterns</a:t>
            </a:r>
            <a:endParaRPr lang="en-AU" sz="3300" b="1" dirty="0">
              <a:latin typeface="Calibir"/>
            </a:endParaRPr>
          </a:p>
        </p:txBody>
      </p:sp>
    </p:spTree>
    <p:extLst>
      <p:ext uri="{BB962C8B-B14F-4D97-AF65-F5344CB8AC3E}">
        <p14:creationId xmlns:p14="http://schemas.microsoft.com/office/powerpoint/2010/main" val="2933401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EE21-5469-E498-9419-BEAEA0394A6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A040189-5F1C-C405-CFF3-C4CAD63B290C}"/>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Results:</a:t>
            </a:r>
          </a:p>
        </p:txBody>
      </p:sp>
      <p:pic>
        <p:nvPicPr>
          <p:cNvPr id="9" name="Picture 8">
            <a:extLst>
              <a:ext uri="{FF2B5EF4-FFF2-40B4-BE49-F238E27FC236}">
                <a16:creationId xmlns:a16="http://schemas.microsoft.com/office/drawing/2014/main" id="{1D20BF2A-FC9E-1ED9-DF80-910FA4114356}"/>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pic>
        <p:nvPicPr>
          <p:cNvPr id="11" name="Picture 10">
            <a:extLst>
              <a:ext uri="{FF2B5EF4-FFF2-40B4-BE49-F238E27FC236}">
                <a16:creationId xmlns:a16="http://schemas.microsoft.com/office/drawing/2014/main" id="{34270EC1-F932-0242-6840-C48A67966B57}"/>
              </a:ext>
            </a:extLst>
          </p:cNvPr>
          <p:cNvPicPr>
            <a:picLocks noChangeAspect="1"/>
          </p:cNvPicPr>
          <p:nvPr/>
        </p:nvPicPr>
        <p:blipFill>
          <a:blip r:embed="rId3"/>
          <a:srcRect l="54073" t="24946" r="20765" b="55699"/>
          <a:stretch>
            <a:fillRect/>
          </a:stretch>
        </p:blipFill>
        <p:spPr>
          <a:xfrm>
            <a:off x="7020232" y="4632979"/>
            <a:ext cx="5142271" cy="2225021"/>
          </a:xfrm>
          <a:prstGeom prst="rect">
            <a:avLst/>
          </a:prstGeom>
          <a:ln w="38100">
            <a:solidFill>
              <a:srgbClr val="FF0000"/>
            </a:solidFill>
          </a:ln>
        </p:spPr>
      </p:pic>
      <p:sp>
        <p:nvSpPr>
          <p:cNvPr id="10" name="Title 1">
            <a:extLst>
              <a:ext uri="{FF2B5EF4-FFF2-40B4-BE49-F238E27FC236}">
                <a16:creationId xmlns:a16="http://schemas.microsoft.com/office/drawing/2014/main" id="{E730E0F6-850B-4EAD-6E4D-8B638458DFD7}"/>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Optional mini coding nudges: Email &amp; Password Patterns</a:t>
            </a:r>
            <a:endParaRPr lang="en-AU" sz="3300" b="1" dirty="0">
              <a:latin typeface="Calibir"/>
            </a:endParaRPr>
          </a:p>
        </p:txBody>
      </p:sp>
    </p:spTree>
    <p:extLst>
      <p:ext uri="{BB962C8B-B14F-4D97-AF65-F5344CB8AC3E}">
        <p14:creationId xmlns:p14="http://schemas.microsoft.com/office/powerpoint/2010/main" val="3422077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13B8-E13A-5E3D-4FC7-FDD7353E7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5094E-DA83-C4BA-F21E-5FA5FA72500B}"/>
              </a:ext>
            </a:extLst>
          </p:cNvPr>
          <p:cNvSpPr>
            <a:spLocks noGrp="1"/>
          </p:cNvSpPr>
          <p:nvPr>
            <p:ph type="title"/>
          </p:nvPr>
        </p:nvSpPr>
        <p:spPr>
          <a:xfrm>
            <a:off x="0" y="0"/>
            <a:ext cx="12192000" cy="663677"/>
          </a:xfrm>
        </p:spPr>
        <p:txBody>
          <a:bodyPr anchor="b">
            <a:normAutofit/>
          </a:bodyPr>
          <a:lstStyle/>
          <a:p>
            <a:r>
              <a:rPr lang="en-US" sz="3300" b="1" dirty="0">
                <a:latin typeface="Calibir"/>
              </a:rPr>
              <a:t>Activity 2: Allow student. subdomain too </a:t>
            </a:r>
            <a:endParaRPr lang="en-AU" sz="3300" b="1" dirty="0">
              <a:latin typeface="Calibir"/>
            </a:endParaRPr>
          </a:p>
        </p:txBody>
      </p:sp>
      <p:sp>
        <p:nvSpPr>
          <p:cNvPr id="3" name="Rectangle 1">
            <a:extLst>
              <a:ext uri="{FF2B5EF4-FFF2-40B4-BE49-F238E27FC236}">
                <a16:creationId xmlns:a16="http://schemas.microsoft.com/office/drawing/2014/main" id="{93578E5F-2D1E-F891-E483-D96BDD101E86}"/>
              </a:ext>
            </a:extLst>
          </p:cNvPr>
          <p:cNvSpPr>
            <a:spLocks noChangeArrowheads="1"/>
          </p:cNvSpPr>
          <p:nvPr/>
        </p:nvSpPr>
        <p:spPr bwMode="auto">
          <a:xfrm>
            <a:off x="-29497" y="871919"/>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Task for students</a:t>
            </a:r>
          </a:p>
          <a:p>
            <a:pPr>
              <a:lnSpc>
                <a:spcPct val="150000"/>
              </a:lnSpc>
            </a:pPr>
            <a:r>
              <a:rPr lang="en-US" sz="2800" dirty="0">
                <a:latin typeface="Calibir"/>
              </a:rPr>
              <a:t>Update the email rule so it accepts either </a:t>
            </a:r>
            <a:r>
              <a:rPr lang="en-US" sz="2800" dirty="0">
                <a:highlight>
                  <a:srgbClr val="FFFF00"/>
                </a:highlight>
                <a:latin typeface="Calibir"/>
              </a:rPr>
              <a:t>@university.com</a:t>
            </a:r>
            <a:r>
              <a:rPr lang="en-US" sz="2800" dirty="0">
                <a:latin typeface="Calibir"/>
              </a:rPr>
              <a:t> or </a:t>
            </a:r>
            <a:r>
              <a:rPr lang="en-US" sz="2800" dirty="0">
                <a:highlight>
                  <a:srgbClr val="FFFF00"/>
                </a:highlight>
                <a:latin typeface="Calibir"/>
              </a:rPr>
              <a:t>@student.university.com</a:t>
            </a:r>
            <a:r>
              <a:rPr lang="en-US" sz="2800" dirty="0">
                <a:latin typeface="Calibir"/>
              </a:rPr>
              <a:t>.</a:t>
            </a:r>
          </a:p>
        </p:txBody>
      </p:sp>
      <p:pic>
        <p:nvPicPr>
          <p:cNvPr id="5" name="Picture 4">
            <a:extLst>
              <a:ext uri="{FF2B5EF4-FFF2-40B4-BE49-F238E27FC236}">
                <a16:creationId xmlns:a16="http://schemas.microsoft.com/office/drawing/2014/main" id="{A9F742ED-2459-59BB-0D5A-8FC89AE5BB48}"/>
              </a:ext>
            </a:extLst>
          </p:cNvPr>
          <p:cNvPicPr>
            <a:picLocks noChangeAspect="1"/>
          </p:cNvPicPr>
          <p:nvPr/>
        </p:nvPicPr>
        <p:blipFill>
          <a:blip r:embed="rId4"/>
          <a:srcRect l="8346" t="11187" r="8913" b="51614"/>
          <a:stretch>
            <a:fillRect/>
          </a:stretch>
        </p:blipFill>
        <p:spPr>
          <a:xfrm>
            <a:off x="1" y="3111084"/>
            <a:ext cx="12191999" cy="3083239"/>
          </a:xfrm>
          <a:prstGeom prst="rect">
            <a:avLst/>
          </a:prstGeom>
        </p:spPr>
      </p:pic>
      <p:pic>
        <p:nvPicPr>
          <p:cNvPr id="4" name="Timer">
            <a:hlinkClick r:id="" action="ppaction://media"/>
            <a:extLst>
              <a:ext uri="{FF2B5EF4-FFF2-40B4-BE49-F238E27FC236}">
                <a16:creationId xmlns:a16="http://schemas.microsoft.com/office/drawing/2014/main" id="{147CAD8E-FD80-8E5F-40ED-0B331A36F629}"/>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08" t="44516" r="40718" b="39785"/>
          <a:stretch>
            <a:fillRect/>
          </a:stretch>
        </p:blipFill>
        <p:spPr>
          <a:xfrm>
            <a:off x="9861753" y="1854175"/>
            <a:ext cx="2300750" cy="1076632"/>
          </a:xfrm>
          <a:prstGeom prst="rect">
            <a:avLst/>
          </a:prstGeom>
          <a:ln w="38100">
            <a:solidFill>
              <a:srgbClr val="FF0000"/>
            </a:solidFill>
          </a:ln>
        </p:spPr>
      </p:pic>
    </p:spTree>
    <p:extLst>
      <p:ext uri="{BB962C8B-B14F-4D97-AF65-F5344CB8AC3E}">
        <p14:creationId xmlns:p14="http://schemas.microsoft.com/office/powerpoint/2010/main" val="3666637119"/>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7C45-16C3-7D3F-5ED5-22AFD7DD86F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0AEB238-8BA6-99FC-D85F-84E272E44162}"/>
              </a:ext>
            </a:extLst>
          </p:cNvPr>
          <p:cNvPicPr>
            <a:picLocks noChangeAspect="1"/>
          </p:cNvPicPr>
          <p:nvPr/>
        </p:nvPicPr>
        <p:blipFill>
          <a:blip r:embed="rId2"/>
          <a:srcRect l="7863" r="7460" b="17144"/>
          <a:stretch>
            <a:fillRect/>
          </a:stretch>
        </p:blipFill>
        <p:spPr>
          <a:xfrm>
            <a:off x="0" y="73742"/>
            <a:ext cx="12192000" cy="6710516"/>
          </a:xfrm>
          <a:prstGeom prst="rect">
            <a:avLst/>
          </a:prstGeom>
        </p:spPr>
      </p:pic>
    </p:spTree>
    <p:extLst>
      <p:ext uri="{BB962C8B-B14F-4D97-AF65-F5344CB8AC3E}">
        <p14:creationId xmlns:p14="http://schemas.microsoft.com/office/powerpoint/2010/main" val="419168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1A9E-7BF5-323B-5264-443A2D2A3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C5720-1FDB-5606-216B-F83D2996E4B5}"/>
              </a:ext>
            </a:extLst>
          </p:cNvPr>
          <p:cNvSpPr>
            <a:spLocks noGrp="1"/>
          </p:cNvSpPr>
          <p:nvPr>
            <p:ph type="title"/>
          </p:nvPr>
        </p:nvSpPr>
        <p:spPr>
          <a:xfrm>
            <a:off x="0" y="0"/>
            <a:ext cx="12192000" cy="669415"/>
          </a:xfrm>
        </p:spPr>
        <p:txBody>
          <a:bodyPr anchor="b">
            <a:normAutofit/>
          </a:bodyPr>
          <a:lstStyle/>
          <a:p>
            <a:r>
              <a:rPr lang="en-US" sz="3300" b="1" dirty="0">
                <a:latin typeface="Calibir"/>
              </a:rPr>
              <a:t>Activity 3: Allow optional </a:t>
            </a:r>
            <a:r>
              <a:rPr lang="en-US" sz="3300" b="1" dirty="0">
                <a:highlight>
                  <a:srgbClr val="FFFF00"/>
                </a:highlight>
                <a:latin typeface="Calibir"/>
              </a:rPr>
              <a:t>- or _ </a:t>
            </a:r>
            <a:r>
              <a:rPr lang="en-US" sz="3300" b="1" dirty="0">
                <a:latin typeface="Calibir"/>
              </a:rPr>
              <a:t>before digits in password</a:t>
            </a:r>
            <a:endParaRPr lang="en-AU" sz="3300" b="1" dirty="0">
              <a:latin typeface="Calibir"/>
            </a:endParaRPr>
          </a:p>
        </p:txBody>
      </p:sp>
      <p:sp>
        <p:nvSpPr>
          <p:cNvPr id="4" name="TextBox 3">
            <a:extLst>
              <a:ext uri="{FF2B5EF4-FFF2-40B4-BE49-F238E27FC236}">
                <a16:creationId xmlns:a16="http://schemas.microsoft.com/office/drawing/2014/main" id="{2FF89BED-24CE-A7B9-95C1-D2563B71442D}"/>
              </a:ext>
            </a:extLst>
          </p:cNvPr>
          <p:cNvSpPr txBox="1"/>
          <p:nvPr/>
        </p:nvSpPr>
        <p:spPr>
          <a:xfrm>
            <a:off x="-113070" y="1024701"/>
            <a:ext cx="6209070" cy="523220"/>
          </a:xfrm>
          <a:prstGeom prst="rect">
            <a:avLst/>
          </a:prstGeom>
          <a:noFill/>
        </p:spPr>
        <p:txBody>
          <a:bodyPr wrap="square">
            <a:spAutoFit/>
          </a:bodyPr>
          <a:lstStyle/>
          <a:p>
            <a:r>
              <a:rPr lang="en-US" sz="2800" dirty="0">
                <a:latin typeface="Calibir"/>
              </a:rPr>
              <a:t>Change just the password regex line:</a:t>
            </a:r>
          </a:p>
        </p:txBody>
      </p:sp>
      <p:sp>
        <p:nvSpPr>
          <p:cNvPr id="6" name="TextBox 5">
            <a:extLst>
              <a:ext uri="{FF2B5EF4-FFF2-40B4-BE49-F238E27FC236}">
                <a16:creationId xmlns:a16="http://schemas.microsoft.com/office/drawing/2014/main" id="{95A21027-EC31-1412-F0A9-90B5DA6336CA}"/>
              </a:ext>
            </a:extLst>
          </p:cNvPr>
          <p:cNvSpPr txBox="1"/>
          <p:nvPr/>
        </p:nvSpPr>
        <p:spPr>
          <a:xfrm>
            <a:off x="0" y="1547921"/>
            <a:ext cx="12192000" cy="669414"/>
          </a:xfrm>
          <a:prstGeom prst="rect">
            <a:avLst/>
          </a:prstGeom>
          <a:solidFill>
            <a:schemeClr val="tx1"/>
          </a:solidFill>
        </p:spPr>
        <p:txBody>
          <a:bodyPr wrap="square">
            <a:spAutoFit/>
          </a:bodyPr>
          <a:lstStyle/>
          <a:p>
            <a:pPr>
              <a:lnSpc>
                <a:spcPct val="150000"/>
              </a:lnSpc>
              <a:buNone/>
            </a:pPr>
            <a:r>
              <a:rPr lang="pl-PL" sz="2800" b="0" dirty="0">
                <a:solidFill>
                  <a:srgbClr val="4FC1FF"/>
                </a:solidFill>
                <a:effectLst/>
                <a:latin typeface="Consolas" panose="020B0609020204030204" pitchFamily="49" charset="0"/>
              </a:rPr>
              <a:t>PWD_RE</a:t>
            </a:r>
            <a:r>
              <a:rPr lang="pl-PL" sz="2800" b="0" dirty="0">
                <a:solidFill>
                  <a:srgbClr val="CCCCCC"/>
                </a:solidFill>
                <a:effectLst/>
                <a:latin typeface="Consolas" panose="020B0609020204030204" pitchFamily="49" charset="0"/>
              </a:rPr>
              <a:t>   </a:t>
            </a:r>
            <a:r>
              <a:rPr lang="pl-PL" sz="2800" b="0" dirty="0">
                <a:solidFill>
                  <a:srgbClr val="D4D4D4"/>
                </a:solidFill>
                <a:effectLst/>
                <a:latin typeface="Consolas" panose="020B0609020204030204" pitchFamily="49" charset="0"/>
              </a:rPr>
              <a:t>=</a:t>
            </a:r>
            <a:r>
              <a:rPr lang="pl-PL" sz="2800" b="0" dirty="0">
                <a:solidFill>
                  <a:srgbClr val="CCCCCC"/>
                </a:solidFill>
                <a:effectLst/>
                <a:latin typeface="Consolas" panose="020B0609020204030204" pitchFamily="49" charset="0"/>
              </a:rPr>
              <a:t> </a:t>
            </a:r>
            <a:r>
              <a:rPr lang="pl-PL" sz="2800" b="0" dirty="0">
                <a:solidFill>
                  <a:srgbClr val="569CD6"/>
                </a:solidFill>
                <a:effectLst/>
                <a:latin typeface="Consolas" panose="020B0609020204030204" pitchFamily="49" charset="0"/>
              </a:rPr>
              <a:t>r</a:t>
            </a:r>
            <a:r>
              <a:rPr lang="pl-PL" sz="2800" b="0" dirty="0">
                <a:solidFill>
                  <a:srgbClr val="D16969"/>
                </a:solidFill>
                <a:effectLst/>
                <a:latin typeface="Consolas" panose="020B0609020204030204" pitchFamily="49" charset="0"/>
              </a:rPr>
              <a:t>'^</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A-Za-z</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{4,}</a:t>
            </a:r>
            <a:r>
              <a:rPr lang="pl-PL" sz="2800" b="0" dirty="0">
                <a:solidFill>
                  <a:srgbClr val="D16969"/>
                </a:solidFill>
                <a:effectLst/>
                <a:latin typeface="Consolas" panose="020B0609020204030204" pitchFamily="49" charset="0"/>
              </a:rPr>
              <a:t>\d</a:t>
            </a:r>
            <a:r>
              <a:rPr lang="pl-PL" sz="2800" b="0" dirty="0">
                <a:solidFill>
                  <a:srgbClr val="D7BA7D"/>
                </a:solidFill>
                <a:effectLst/>
                <a:latin typeface="Consolas" panose="020B0609020204030204" pitchFamily="49" charset="0"/>
              </a:rPr>
              <a:t>{3,}</a:t>
            </a:r>
            <a:r>
              <a:rPr lang="pl-PL" sz="2800" b="0" dirty="0">
                <a:solidFill>
                  <a:srgbClr val="D16969"/>
                </a:solidFill>
                <a:effectLst/>
                <a:latin typeface="Consolas" panose="020B0609020204030204" pitchFamily="49" charset="0"/>
              </a:rPr>
              <a:t>$'</a:t>
            </a:r>
            <a:endParaRPr lang="pl-PL" sz="2800" b="0" dirty="0">
              <a:solidFill>
                <a:srgbClr val="CCCCCC"/>
              </a:solidFill>
              <a:effectLst/>
              <a:latin typeface="Consolas" panose="020B0609020204030204" pitchFamily="49" charset="0"/>
            </a:endParaRPr>
          </a:p>
        </p:txBody>
      </p:sp>
      <p:sp>
        <p:nvSpPr>
          <p:cNvPr id="8" name="TextBox 7">
            <a:extLst>
              <a:ext uri="{FF2B5EF4-FFF2-40B4-BE49-F238E27FC236}">
                <a16:creationId xmlns:a16="http://schemas.microsoft.com/office/drawing/2014/main" id="{528AF03B-714C-C1F0-1386-A25A40268B57}"/>
              </a:ext>
            </a:extLst>
          </p:cNvPr>
          <p:cNvSpPr txBox="1"/>
          <p:nvPr/>
        </p:nvSpPr>
        <p:spPr>
          <a:xfrm>
            <a:off x="0" y="3094293"/>
            <a:ext cx="12192000" cy="669414"/>
          </a:xfrm>
          <a:prstGeom prst="rect">
            <a:avLst/>
          </a:prstGeom>
          <a:solidFill>
            <a:schemeClr val="tx1"/>
          </a:solidFill>
        </p:spPr>
        <p:txBody>
          <a:bodyPr wrap="square">
            <a:spAutoFit/>
          </a:bodyPr>
          <a:lstStyle/>
          <a:p>
            <a:pPr>
              <a:lnSpc>
                <a:spcPct val="150000"/>
              </a:lnSpc>
              <a:buNone/>
            </a:pPr>
            <a:r>
              <a:rPr lang="pl-PL" sz="2800" b="0" dirty="0">
                <a:solidFill>
                  <a:srgbClr val="4FC1FF"/>
                </a:solidFill>
                <a:effectLst/>
                <a:latin typeface="Consolas" panose="020B0609020204030204" pitchFamily="49" charset="0"/>
              </a:rPr>
              <a:t>PWD_RE</a:t>
            </a:r>
            <a:r>
              <a:rPr lang="pl-PL" sz="2800" b="0" dirty="0">
                <a:solidFill>
                  <a:srgbClr val="CCCCCC"/>
                </a:solidFill>
                <a:effectLst/>
                <a:latin typeface="Consolas" panose="020B0609020204030204" pitchFamily="49" charset="0"/>
              </a:rPr>
              <a:t> </a:t>
            </a:r>
            <a:r>
              <a:rPr lang="pl-PL" sz="2800" b="0" dirty="0">
                <a:solidFill>
                  <a:srgbClr val="D4D4D4"/>
                </a:solidFill>
                <a:effectLst/>
                <a:latin typeface="Consolas" panose="020B0609020204030204" pitchFamily="49" charset="0"/>
              </a:rPr>
              <a:t>=</a:t>
            </a:r>
            <a:r>
              <a:rPr lang="pl-PL" sz="2800" b="0" dirty="0">
                <a:solidFill>
                  <a:srgbClr val="CCCCCC"/>
                </a:solidFill>
                <a:effectLst/>
                <a:latin typeface="Consolas" panose="020B0609020204030204" pitchFamily="49" charset="0"/>
              </a:rPr>
              <a:t> </a:t>
            </a:r>
            <a:r>
              <a:rPr lang="pl-PL" sz="2800" b="0" dirty="0">
                <a:solidFill>
                  <a:srgbClr val="569CD6"/>
                </a:solidFill>
                <a:effectLst/>
                <a:latin typeface="Consolas" panose="020B0609020204030204" pitchFamily="49" charset="0"/>
              </a:rPr>
              <a:t>r</a:t>
            </a:r>
            <a:r>
              <a:rPr lang="pl-PL" sz="2800" b="0" dirty="0">
                <a:solidFill>
                  <a:srgbClr val="D16969"/>
                </a:solidFill>
                <a:effectLst/>
                <a:latin typeface="Consolas" panose="020B0609020204030204" pitchFamily="49" charset="0"/>
              </a:rPr>
              <a:t>'^</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A-Za-z</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{4,}</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-_</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a:t>
            </a:r>
            <a:r>
              <a:rPr lang="pl-PL" sz="2800" b="0" dirty="0">
                <a:solidFill>
                  <a:srgbClr val="D16969"/>
                </a:solidFill>
                <a:effectLst/>
                <a:latin typeface="Consolas" panose="020B0609020204030204" pitchFamily="49" charset="0"/>
              </a:rPr>
              <a:t>\d</a:t>
            </a:r>
            <a:r>
              <a:rPr lang="pl-PL" sz="2800" b="0" dirty="0">
                <a:solidFill>
                  <a:srgbClr val="D7BA7D"/>
                </a:solidFill>
                <a:effectLst/>
                <a:latin typeface="Consolas" panose="020B0609020204030204" pitchFamily="49" charset="0"/>
              </a:rPr>
              <a:t>{3,}</a:t>
            </a:r>
            <a:r>
              <a:rPr lang="pl-PL" sz="2800" b="0" dirty="0">
                <a:solidFill>
                  <a:srgbClr val="D16969"/>
                </a:solidFill>
                <a:effectLst/>
                <a:latin typeface="Consolas" panose="020B0609020204030204" pitchFamily="49" charset="0"/>
              </a:rPr>
              <a:t>$'</a:t>
            </a:r>
            <a:endParaRPr lang="pl-PL" sz="2800" b="0" dirty="0">
              <a:solidFill>
                <a:srgbClr val="CCCCCC"/>
              </a:solidFill>
              <a:effectLst/>
              <a:latin typeface="Consolas" panose="020B0609020204030204" pitchFamily="49" charset="0"/>
            </a:endParaRPr>
          </a:p>
        </p:txBody>
      </p:sp>
      <p:cxnSp>
        <p:nvCxnSpPr>
          <p:cNvPr id="10" name="Connector: Elbow 9">
            <a:extLst>
              <a:ext uri="{FF2B5EF4-FFF2-40B4-BE49-F238E27FC236}">
                <a16:creationId xmlns:a16="http://schemas.microsoft.com/office/drawing/2014/main" id="{A53400AC-4E6A-0530-A0E5-3125A8A70762}"/>
              </a:ext>
            </a:extLst>
          </p:cNvPr>
          <p:cNvCxnSpPr>
            <a:cxnSpLocks/>
            <a:endCxn id="8" idx="0"/>
          </p:cNvCxnSpPr>
          <p:nvPr/>
        </p:nvCxnSpPr>
        <p:spPr>
          <a:xfrm rot="16200000" flipH="1">
            <a:off x="5256856" y="2255149"/>
            <a:ext cx="876958" cy="801329"/>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3" name="Timer">
            <a:hlinkClick r:id="" action="ppaction://media"/>
            <a:extLst>
              <a:ext uri="{FF2B5EF4-FFF2-40B4-BE49-F238E27FC236}">
                <a16:creationId xmlns:a16="http://schemas.microsoft.com/office/drawing/2014/main" id="{28ED16FE-63F0-F48D-7F55-45B61DBB69D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4945625" y="4102349"/>
            <a:ext cx="2300750" cy="1076632"/>
          </a:xfrm>
          <a:prstGeom prst="rect">
            <a:avLst/>
          </a:prstGeom>
          <a:ln w="38100">
            <a:solidFill>
              <a:srgbClr val="FF0000"/>
            </a:solidFill>
          </a:ln>
        </p:spPr>
      </p:pic>
    </p:spTree>
    <p:extLst>
      <p:ext uri="{BB962C8B-B14F-4D97-AF65-F5344CB8AC3E}">
        <p14:creationId xmlns:p14="http://schemas.microsoft.com/office/powerpoint/2010/main" val="1639002003"/>
      </p:ext>
    </p:extLst>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E2B45-44E4-F827-979C-0479E622B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E36A4-8D28-68CE-484A-55CBA5333CA1}"/>
              </a:ext>
            </a:extLst>
          </p:cNvPr>
          <p:cNvSpPr>
            <a:spLocks noGrp="1"/>
          </p:cNvSpPr>
          <p:nvPr>
            <p:ph type="title"/>
          </p:nvPr>
        </p:nvSpPr>
        <p:spPr>
          <a:xfrm>
            <a:off x="0" y="1"/>
            <a:ext cx="12192000" cy="664282"/>
          </a:xfrm>
        </p:spPr>
        <p:txBody>
          <a:bodyPr anchor="b">
            <a:normAutofit/>
          </a:bodyPr>
          <a:lstStyle/>
          <a:p>
            <a:r>
              <a:rPr lang="en-US" sz="3300" b="1" dirty="0">
                <a:latin typeface="Calibir"/>
              </a:rPr>
              <a:t>Activity 4: Generate Random Marks and Assign Grades</a:t>
            </a:r>
            <a:endParaRPr lang="en-AU" sz="3300" b="1" dirty="0">
              <a:latin typeface="Calibir"/>
            </a:endParaRPr>
          </a:p>
        </p:txBody>
      </p:sp>
      <p:sp>
        <p:nvSpPr>
          <p:cNvPr id="5" name="TextBox 4">
            <a:extLst>
              <a:ext uri="{FF2B5EF4-FFF2-40B4-BE49-F238E27FC236}">
                <a16:creationId xmlns:a16="http://schemas.microsoft.com/office/drawing/2014/main" id="{241112B4-FC3B-E129-7352-A32F6E0975D7}"/>
              </a:ext>
            </a:extLst>
          </p:cNvPr>
          <p:cNvSpPr txBox="1"/>
          <p:nvPr/>
        </p:nvSpPr>
        <p:spPr>
          <a:xfrm>
            <a:off x="0" y="825190"/>
            <a:ext cx="12021014" cy="2251065"/>
          </a:xfrm>
          <a:prstGeom prst="rect">
            <a:avLst/>
          </a:prstGeom>
          <a:noFill/>
        </p:spPr>
        <p:txBody>
          <a:bodyPr wrap="square">
            <a:spAutoFit/>
          </a:bodyPr>
          <a:lstStyle/>
          <a:p>
            <a:pPr marL="514350" indent="-514350">
              <a:lnSpc>
                <a:spcPct val="150000"/>
              </a:lnSpc>
              <a:buFont typeface="+mj-lt"/>
              <a:buAutoNum type="arabicPeriod"/>
            </a:pPr>
            <a:r>
              <a:rPr lang="en-US" sz="2400" dirty="0">
                <a:latin typeface="Calibir"/>
              </a:rPr>
              <a:t>Write a function (grade(mark)) that takes a numeric mark and returns a grade (Z, P, C, D, HD) based on the mark range.</a:t>
            </a:r>
          </a:p>
          <a:p>
            <a:pPr marL="514350" indent="-514350">
              <a:lnSpc>
                <a:spcPct val="150000"/>
              </a:lnSpc>
              <a:buFont typeface="+mj-lt"/>
              <a:buAutoNum type="arabicPeriod"/>
            </a:pPr>
            <a:r>
              <a:rPr lang="en-US" sz="2400" dirty="0">
                <a:latin typeface="Calibir"/>
              </a:rPr>
              <a:t>Generate a random mark between 25 and 100 using </a:t>
            </a:r>
            <a:r>
              <a:rPr lang="en-US" sz="2400" dirty="0" err="1">
                <a:latin typeface="Calibir"/>
              </a:rPr>
              <a:t>randint</a:t>
            </a:r>
            <a:r>
              <a:rPr lang="en-US" sz="2400" dirty="0">
                <a:latin typeface="Calibir"/>
              </a:rPr>
              <a:t>.</a:t>
            </a:r>
          </a:p>
          <a:p>
            <a:pPr marL="514350" indent="-514350">
              <a:lnSpc>
                <a:spcPct val="150000"/>
              </a:lnSpc>
              <a:buFont typeface="+mj-lt"/>
              <a:buAutoNum type="arabicPeriod"/>
            </a:pPr>
            <a:r>
              <a:rPr lang="en-US" sz="2400" dirty="0">
                <a:latin typeface="Calibir"/>
              </a:rPr>
              <a:t>Generate a random student ID (padded with zeros to 3 digits).</a:t>
            </a:r>
          </a:p>
        </p:txBody>
      </p:sp>
      <p:sp>
        <p:nvSpPr>
          <p:cNvPr id="6" name="TextBox 5">
            <a:extLst>
              <a:ext uri="{FF2B5EF4-FFF2-40B4-BE49-F238E27FC236}">
                <a16:creationId xmlns:a16="http://schemas.microsoft.com/office/drawing/2014/main" id="{DC040AE5-75E2-F6A9-59C1-514633F0CEC1}"/>
              </a:ext>
            </a:extLst>
          </p:cNvPr>
          <p:cNvSpPr txBox="1"/>
          <p:nvPr/>
        </p:nvSpPr>
        <p:spPr>
          <a:xfrm>
            <a:off x="0" y="3076255"/>
            <a:ext cx="12021014" cy="2805063"/>
          </a:xfrm>
          <a:prstGeom prst="rect">
            <a:avLst/>
          </a:prstGeom>
          <a:noFill/>
        </p:spPr>
        <p:txBody>
          <a:bodyPr wrap="square">
            <a:spAutoFit/>
          </a:bodyPr>
          <a:lstStyle/>
          <a:p>
            <a:pPr marL="514350" indent="-514350">
              <a:lnSpc>
                <a:spcPct val="150000"/>
              </a:lnSpc>
              <a:buFont typeface="+mj-lt"/>
              <a:buAutoNum type="arabicPeriod" startAt="4"/>
            </a:pPr>
            <a:r>
              <a:rPr lang="en-US" sz="2400" dirty="0">
                <a:latin typeface="Calibir"/>
              </a:rPr>
              <a:t>Store the results in a dictionary with keys:</a:t>
            </a:r>
          </a:p>
          <a:p>
            <a:pPr marL="914400" lvl="1" indent="-457200">
              <a:lnSpc>
                <a:spcPct val="150000"/>
              </a:lnSpc>
              <a:buFont typeface="Arial" panose="020B0604020202020204" pitchFamily="34" charset="0"/>
              <a:buChar char="•"/>
            </a:pPr>
            <a:r>
              <a:rPr lang="en-US" sz="2400" dirty="0">
                <a:latin typeface="Calibir"/>
              </a:rPr>
              <a:t>"id" → the random student ID</a:t>
            </a:r>
          </a:p>
          <a:p>
            <a:pPr marL="914400" lvl="1" indent="-457200">
              <a:lnSpc>
                <a:spcPct val="150000"/>
              </a:lnSpc>
              <a:buFont typeface="Arial" panose="020B0604020202020204" pitchFamily="34" charset="0"/>
              <a:buChar char="•"/>
            </a:pPr>
            <a:r>
              <a:rPr lang="en-US" sz="2400" dirty="0">
                <a:latin typeface="Calibir"/>
              </a:rPr>
              <a:t>"mark" → the generated mark</a:t>
            </a:r>
          </a:p>
          <a:p>
            <a:pPr marL="914400" lvl="1" indent="-457200">
              <a:lnSpc>
                <a:spcPct val="150000"/>
              </a:lnSpc>
              <a:buFont typeface="Arial" panose="020B0604020202020204" pitchFamily="34" charset="0"/>
              <a:buChar char="•"/>
            </a:pPr>
            <a:r>
              <a:rPr lang="en-US" sz="2400" dirty="0">
                <a:latin typeface="Calibir"/>
              </a:rPr>
              <a:t>"grade" → the grade returned by the function</a:t>
            </a:r>
          </a:p>
          <a:p>
            <a:pPr marL="514350" indent="-514350">
              <a:lnSpc>
                <a:spcPct val="150000"/>
              </a:lnSpc>
              <a:buFont typeface="+mj-lt"/>
              <a:buAutoNum type="arabicPeriod" startAt="5"/>
            </a:pPr>
            <a:r>
              <a:rPr lang="en-US" sz="2400" dirty="0">
                <a:latin typeface="Calibir"/>
              </a:rPr>
              <a:t>Print the dictionary showing one student’s mark and grade.</a:t>
            </a:r>
          </a:p>
        </p:txBody>
      </p:sp>
      <p:pic>
        <p:nvPicPr>
          <p:cNvPr id="7" name="Timer">
            <a:hlinkClick r:id="" action="ppaction://media"/>
            <a:extLst>
              <a:ext uri="{FF2B5EF4-FFF2-40B4-BE49-F238E27FC236}">
                <a16:creationId xmlns:a16="http://schemas.microsoft.com/office/drawing/2014/main" id="{E8BCF29E-CDF1-8484-15E1-689BAD3E6EF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7588464" y="3823569"/>
            <a:ext cx="2300750" cy="1076632"/>
          </a:xfrm>
          <a:prstGeom prst="rect">
            <a:avLst/>
          </a:prstGeom>
          <a:ln w="38100">
            <a:solidFill>
              <a:srgbClr val="FF0000"/>
            </a:solidFill>
          </a:ln>
        </p:spPr>
      </p:pic>
      <p:sp>
        <p:nvSpPr>
          <p:cNvPr id="9" name="TextBox 8">
            <a:extLst>
              <a:ext uri="{FF2B5EF4-FFF2-40B4-BE49-F238E27FC236}">
                <a16:creationId xmlns:a16="http://schemas.microsoft.com/office/drawing/2014/main" id="{B993442A-2118-FECA-ABDB-245C3202A87B}"/>
              </a:ext>
            </a:extLst>
          </p:cNvPr>
          <p:cNvSpPr txBox="1"/>
          <p:nvPr/>
        </p:nvSpPr>
        <p:spPr>
          <a:xfrm>
            <a:off x="0" y="5957895"/>
            <a:ext cx="12192000" cy="880369"/>
          </a:xfrm>
          <a:prstGeom prst="rect">
            <a:avLst/>
          </a:prstGeom>
          <a:noFill/>
        </p:spPr>
        <p:txBody>
          <a:bodyPr wrap="square">
            <a:spAutoFit/>
          </a:bodyPr>
          <a:lstStyle/>
          <a:p>
            <a:pPr>
              <a:lnSpc>
                <a:spcPct val="150000"/>
              </a:lnSpc>
            </a:pPr>
            <a:r>
              <a:rPr lang="en-US" dirty="0">
                <a:latin typeface="Calibir"/>
              </a:rPr>
              <a:t>In short, write a Python program that assigns a random mark to a student, calculates the grade, and prints the student’s ID, mark, and grade</a:t>
            </a:r>
          </a:p>
        </p:txBody>
      </p:sp>
    </p:spTree>
    <p:extLst>
      <p:ext uri="{BB962C8B-B14F-4D97-AF65-F5344CB8AC3E}">
        <p14:creationId xmlns:p14="http://schemas.microsoft.com/office/powerpoint/2010/main" val="3704487026"/>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367B-2C16-5B04-81BE-71A749D87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32244-B4CA-67D1-96CA-65215D921C3F}"/>
              </a:ext>
            </a:extLst>
          </p:cNvPr>
          <p:cNvSpPr>
            <a:spLocks noGrp="1"/>
          </p:cNvSpPr>
          <p:nvPr>
            <p:ph type="title"/>
          </p:nvPr>
        </p:nvSpPr>
        <p:spPr>
          <a:xfrm>
            <a:off x="0" y="1"/>
            <a:ext cx="12192000" cy="664282"/>
          </a:xfrm>
        </p:spPr>
        <p:txBody>
          <a:bodyPr anchor="b">
            <a:normAutofit/>
          </a:bodyPr>
          <a:lstStyle/>
          <a:p>
            <a:r>
              <a:rPr lang="en-US" sz="3300" b="1" dirty="0">
                <a:latin typeface="Calibir"/>
              </a:rPr>
              <a:t>Activity 4: Generate Random Marks and Assign Grades</a:t>
            </a:r>
            <a:endParaRPr lang="en-AU" sz="3300" b="1" dirty="0">
              <a:latin typeface="Calibir"/>
            </a:endParaRPr>
          </a:p>
        </p:txBody>
      </p:sp>
      <p:sp>
        <p:nvSpPr>
          <p:cNvPr id="3" name="Rectangle 1">
            <a:extLst>
              <a:ext uri="{FF2B5EF4-FFF2-40B4-BE49-F238E27FC236}">
                <a16:creationId xmlns:a16="http://schemas.microsoft.com/office/drawing/2014/main" id="{1568DB40-5EFC-E5B7-06C2-3DFD616FE9FA}"/>
              </a:ext>
            </a:extLst>
          </p:cNvPr>
          <p:cNvSpPr>
            <a:spLocks noChangeArrowheads="1"/>
          </p:cNvSpPr>
          <p:nvPr/>
        </p:nvSpPr>
        <p:spPr bwMode="auto">
          <a:xfrm>
            <a:off x="0" y="56887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Zero-pad IDs:</a:t>
            </a:r>
          </a:p>
        </p:txBody>
      </p:sp>
      <p:pic>
        <p:nvPicPr>
          <p:cNvPr id="10" name="Picture 9">
            <a:extLst>
              <a:ext uri="{FF2B5EF4-FFF2-40B4-BE49-F238E27FC236}">
                <a16:creationId xmlns:a16="http://schemas.microsoft.com/office/drawing/2014/main" id="{7E19A9C0-BB75-2E41-164F-537769F0AF4E}"/>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C330A143-860C-FF8F-598D-866FCAE7B553}"/>
              </a:ext>
            </a:extLst>
          </p:cNvPr>
          <p:cNvSpPr txBox="1"/>
          <p:nvPr/>
        </p:nvSpPr>
        <p:spPr>
          <a:xfrm>
            <a:off x="108155" y="5395768"/>
            <a:ext cx="11975690" cy="671851"/>
          </a:xfrm>
          <a:prstGeom prst="rect">
            <a:avLst/>
          </a:prstGeom>
          <a:noFill/>
        </p:spPr>
        <p:txBody>
          <a:bodyPr wrap="square">
            <a:spAutoFit/>
          </a:bodyPr>
          <a:lstStyle/>
          <a:p>
            <a:pPr>
              <a:lnSpc>
                <a:spcPct val="150000"/>
              </a:lnSpc>
            </a:pPr>
            <a:r>
              <a:rPr lang="en-US" sz="2800" dirty="0">
                <a:latin typeface="Calibir"/>
              </a:rPr>
              <a:t>Imports </a:t>
            </a:r>
            <a:r>
              <a:rPr lang="en-US" sz="2800" dirty="0" err="1">
                <a:latin typeface="Calibir"/>
              </a:rPr>
              <a:t>randint</a:t>
            </a:r>
            <a:r>
              <a:rPr lang="en-US" sz="2800" dirty="0">
                <a:latin typeface="Calibir"/>
              </a:rPr>
              <a:t>(a, b) to make random integers including both ends.</a:t>
            </a:r>
          </a:p>
        </p:txBody>
      </p:sp>
      <p:sp>
        <p:nvSpPr>
          <p:cNvPr id="15" name="Rectangle: Rounded Corners 14">
            <a:extLst>
              <a:ext uri="{FF2B5EF4-FFF2-40B4-BE49-F238E27FC236}">
                <a16:creationId xmlns:a16="http://schemas.microsoft.com/office/drawing/2014/main" id="{DC98D152-5263-5A24-2FBB-87857293E246}"/>
              </a:ext>
            </a:extLst>
          </p:cNvPr>
          <p:cNvSpPr/>
          <p:nvPr/>
        </p:nvSpPr>
        <p:spPr>
          <a:xfrm>
            <a:off x="0" y="1336133"/>
            <a:ext cx="4970206" cy="52216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73258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E012-52EF-54F7-75F0-8E4B01041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5CEBB-829E-0109-A359-FD7C0C2E210A}"/>
              </a:ext>
            </a:extLst>
          </p:cNvPr>
          <p:cNvSpPr>
            <a:spLocks noGrp="1"/>
          </p:cNvSpPr>
          <p:nvPr>
            <p:ph type="title"/>
          </p:nvPr>
        </p:nvSpPr>
        <p:spPr>
          <a:xfrm>
            <a:off x="0" y="1"/>
            <a:ext cx="12192000" cy="675442"/>
          </a:xfrm>
        </p:spPr>
        <p:txBody>
          <a:bodyPr anchor="b">
            <a:normAutofit/>
          </a:bodyPr>
          <a:lstStyle/>
          <a:p>
            <a:r>
              <a:rPr lang="en-US" sz="3300" b="1" dirty="0">
                <a:latin typeface="Calibir"/>
              </a:rPr>
              <a:t>Activity 4: Generate Random Marks and Assign Grades</a:t>
            </a:r>
            <a:endParaRPr lang="en-AU" sz="3300" b="1" dirty="0">
              <a:latin typeface="Calibir"/>
            </a:endParaRPr>
          </a:p>
        </p:txBody>
      </p:sp>
      <p:sp>
        <p:nvSpPr>
          <p:cNvPr id="3" name="Rectangle 1">
            <a:extLst>
              <a:ext uri="{FF2B5EF4-FFF2-40B4-BE49-F238E27FC236}">
                <a16:creationId xmlns:a16="http://schemas.microsoft.com/office/drawing/2014/main" id="{F74296A1-A2E2-7494-6786-F0D52F33CB7C}"/>
              </a:ext>
            </a:extLst>
          </p:cNvPr>
          <p:cNvSpPr>
            <a:spLocks noChangeArrowheads="1"/>
          </p:cNvSpPr>
          <p:nvPr/>
        </p:nvSpPr>
        <p:spPr bwMode="auto">
          <a:xfrm>
            <a:off x="0" y="56887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Zero-pad IDs:</a:t>
            </a:r>
          </a:p>
        </p:txBody>
      </p:sp>
      <p:pic>
        <p:nvPicPr>
          <p:cNvPr id="10" name="Picture 9">
            <a:extLst>
              <a:ext uri="{FF2B5EF4-FFF2-40B4-BE49-F238E27FC236}">
                <a16:creationId xmlns:a16="http://schemas.microsoft.com/office/drawing/2014/main" id="{BF1422A8-912E-5D27-03FB-46809221C7F7}"/>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6BA4513A-045B-0A12-E823-4F8AE4DDBF66}"/>
              </a:ext>
            </a:extLst>
          </p:cNvPr>
          <p:cNvSpPr txBox="1"/>
          <p:nvPr/>
        </p:nvSpPr>
        <p:spPr>
          <a:xfrm>
            <a:off x="108155" y="5395768"/>
            <a:ext cx="11975690" cy="131818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 function that turns a numeric mark into a grade using the required bands:</a:t>
            </a:r>
          </a:p>
          <a:p>
            <a:pPr marL="914400" lvl="1" indent="-457200">
              <a:lnSpc>
                <a:spcPct val="150000"/>
              </a:lnSpc>
              <a:buFont typeface="Arial" panose="020B0604020202020204" pitchFamily="34" charset="0"/>
              <a:buChar char="•"/>
            </a:pPr>
            <a:r>
              <a:rPr lang="en-US" sz="2800" dirty="0">
                <a:latin typeface="Calibir"/>
              </a:rPr>
              <a:t>&lt;50 → Z, 50–64 → P, 65–74 → C, 75–84 → D, ≥85 → HD.</a:t>
            </a:r>
          </a:p>
        </p:txBody>
      </p:sp>
      <p:sp>
        <p:nvSpPr>
          <p:cNvPr id="15" name="Rectangle: Rounded Corners 14">
            <a:extLst>
              <a:ext uri="{FF2B5EF4-FFF2-40B4-BE49-F238E27FC236}">
                <a16:creationId xmlns:a16="http://schemas.microsoft.com/office/drawing/2014/main" id="{FBF0F1DA-C024-1A53-68C6-D6257448E4A6}"/>
              </a:ext>
            </a:extLst>
          </p:cNvPr>
          <p:cNvSpPr/>
          <p:nvPr/>
        </p:nvSpPr>
        <p:spPr>
          <a:xfrm>
            <a:off x="0" y="2280028"/>
            <a:ext cx="12192000" cy="114897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9477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4AC7-5530-6213-E618-9A8EC8A31E1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1F4792D-A557-C653-7692-2547D71F249A}"/>
              </a:ext>
            </a:extLst>
          </p:cNvPr>
          <p:cNvSpPr>
            <a:spLocks noChangeArrowheads="1"/>
          </p:cNvSpPr>
          <p:nvPr/>
        </p:nvSpPr>
        <p:spPr bwMode="auto">
          <a:xfrm>
            <a:off x="0" y="56887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Zero-pad IDs:</a:t>
            </a:r>
          </a:p>
        </p:txBody>
      </p:sp>
      <p:pic>
        <p:nvPicPr>
          <p:cNvPr id="10" name="Picture 9">
            <a:extLst>
              <a:ext uri="{FF2B5EF4-FFF2-40B4-BE49-F238E27FC236}">
                <a16:creationId xmlns:a16="http://schemas.microsoft.com/office/drawing/2014/main" id="{093A5513-C570-041C-8C50-8FFC25D36342}"/>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20329A1B-C980-72C3-C4AD-097FE25DFA21}"/>
              </a:ext>
            </a:extLst>
          </p:cNvPr>
          <p:cNvSpPr txBox="1"/>
          <p:nvPr/>
        </p:nvSpPr>
        <p:spPr>
          <a:xfrm>
            <a:off x="108155" y="5395768"/>
            <a:ext cx="11975690" cy="67544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Picks one random mark from 25 to 100.</a:t>
            </a:r>
          </a:p>
        </p:txBody>
      </p:sp>
      <p:sp>
        <p:nvSpPr>
          <p:cNvPr id="15" name="Rectangle: Rounded Corners 14">
            <a:extLst>
              <a:ext uri="{FF2B5EF4-FFF2-40B4-BE49-F238E27FC236}">
                <a16:creationId xmlns:a16="http://schemas.microsoft.com/office/drawing/2014/main" id="{2D0EA56E-A65E-9484-B47B-AFADBE0C98AC}"/>
              </a:ext>
            </a:extLst>
          </p:cNvPr>
          <p:cNvSpPr/>
          <p:nvPr/>
        </p:nvSpPr>
        <p:spPr>
          <a:xfrm>
            <a:off x="0" y="3952567"/>
            <a:ext cx="12192000" cy="4424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4CE99AA-80FC-1400-7D49-11C5E1317941}"/>
              </a:ext>
            </a:extLst>
          </p:cNvPr>
          <p:cNvSpPr>
            <a:spLocks noGrp="1"/>
          </p:cNvSpPr>
          <p:nvPr>
            <p:ph type="title"/>
          </p:nvPr>
        </p:nvSpPr>
        <p:spPr>
          <a:xfrm>
            <a:off x="0" y="1"/>
            <a:ext cx="12192000" cy="675442"/>
          </a:xfrm>
        </p:spPr>
        <p:txBody>
          <a:bodyPr anchor="b">
            <a:normAutofit/>
          </a:bodyPr>
          <a:lstStyle/>
          <a:p>
            <a:r>
              <a:rPr lang="en-US" sz="3300" b="1" dirty="0">
                <a:latin typeface="Calibir"/>
              </a:rPr>
              <a:t>Activity 4: Generate Random Marks and Assign Grades</a:t>
            </a:r>
            <a:endParaRPr lang="en-AU" sz="3300" b="1" dirty="0">
              <a:latin typeface="Calibir"/>
            </a:endParaRPr>
          </a:p>
        </p:txBody>
      </p:sp>
    </p:spTree>
    <p:extLst>
      <p:ext uri="{BB962C8B-B14F-4D97-AF65-F5344CB8AC3E}">
        <p14:creationId xmlns:p14="http://schemas.microsoft.com/office/powerpoint/2010/main" val="32028541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C31F-B20E-BF52-F272-B60B92A72DA6}"/>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00DD58BF-4372-B9CC-2E69-689263C9F151}"/>
              </a:ext>
            </a:extLst>
          </p:cNvPr>
          <p:cNvSpPr>
            <a:spLocks noChangeArrowheads="1"/>
          </p:cNvSpPr>
          <p:nvPr/>
        </p:nvSpPr>
        <p:spPr bwMode="auto">
          <a:xfrm>
            <a:off x="0" y="49513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Zero-pad IDs:</a:t>
            </a:r>
          </a:p>
        </p:txBody>
      </p:sp>
      <p:pic>
        <p:nvPicPr>
          <p:cNvPr id="10" name="Picture 9">
            <a:extLst>
              <a:ext uri="{FF2B5EF4-FFF2-40B4-BE49-F238E27FC236}">
                <a16:creationId xmlns:a16="http://schemas.microsoft.com/office/drawing/2014/main" id="{082EC6D9-C61A-2A67-D7D8-5E7E796D8A13}"/>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870620F0-0FDE-2916-027E-5CD139D76214}"/>
              </a:ext>
            </a:extLst>
          </p:cNvPr>
          <p:cNvSpPr txBox="1"/>
          <p:nvPr/>
        </p:nvSpPr>
        <p:spPr>
          <a:xfrm>
            <a:off x="0" y="5146634"/>
            <a:ext cx="11975690" cy="1711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ir"/>
              </a:rPr>
              <a:t>Creates a small record (a Python </a:t>
            </a:r>
            <a:r>
              <a:rPr lang="en-US" dirty="0" err="1">
                <a:latin typeface="Calibir"/>
              </a:rPr>
              <a:t>dict</a:t>
            </a:r>
            <a:r>
              <a:rPr lang="en-US" dirty="0">
                <a:latin typeface="Calibir"/>
              </a:rPr>
              <a:t>) for one subject:</a:t>
            </a:r>
          </a:p>
          <a:p>
            <a:pPr marL="742950" lvl="1" indent="-285750">
              <a:lnSpc>
                <a:spcPct val="150000"/>
              </a:lnSpc>
              <a:buFont typeface="Arial" panose="020B0604020202020204" pitchFamily="34" charset="0"/>
              <a:buChar char="•"/>
            </a:pPr>
            <a:r>
              <a:rPr lang="en-US" dirty="0">
                <a:latin typeface="Calibir"/>
              </a:rPr>
              <a:t>"id" is a random number 1..999, padded to 3 digits like "007".</a:t>
            </a:r>
          </a:p>
          <a:p>
            <a:pPr marL="742950" lvl="1" indent="-285750">
              <a:lnSpc>
                <a:spcPct val="150000"/>
              </a:lnSpc>
              <a:buFont typeface="Arial" panose="020B0604020202020204" pitchFamily="34" charset="0"/>
              <a:buChar char="•"/>
            </a:pPr>
            <a:r>
              <a:rPr lang="en-US" dirty="0">
                <a:latin typeface="Calibir"/>
              </a:rPr>
              <a:t>"mark" is the number above.</a:t>
            </a:r>
          </a:p>
          <a:p>
            <a:pPr marL="742950" lvl="1" indent="-285750">
              <a:lnSpc>
                <a:spcPct val="150000"/>
              </a:lnSpc>
              <a:buFont typeface="Arial" panose="020B0604020202020204" pitchFamily="34" charset="0"/>
              <a:buChar char="•"/>
            </a:pPr>
            <a:r>
              <a:rPr lang="en-US" dirty="0">
                <a:latin typeface="Calibir"/>
              </a:rPr>
              <a:t>"grade" is computed by calling grade(mark).</a:t>
            </a:r>
          </a:p>
        </p:txBody>
      </p:sp>
      <p:sp>
        <p:nvSpPr>
          <p:cNvPr id="15" name="Rectangle: Rounded Corners 14">
            <a:extLst>
              <a:ext uri="{FF2B5EF4-FFF2-40B4-BE49-F238E27FC236}">
                <a16:creationId xmlns:a16="http://schemas.microsoft.com/office/drawing/2014/main" id="{358471D5-55CB-A03B-C7C5-E9A37AAE35F8}"/>
              </a:ext>
            </a:extLst>
          </p:cNvPr>
          <p:cNvSpPr/>
          <p:nvPr/>
        </p:nvSpPr>
        <p:spPr>
          <a:xfrm>
            <a:off x="0" y="4089471"/>
            <a:ext cx="12192000" cy="70375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9672D859-0D50-E5F3-2D2C-4EB9A66C9353}"/>
              </a:ext>
            </a:extLst>
          </p:cNvPr>
          <p:cNvSpPr>
            <a:spLocks noGrp="1"/>
          </p:cNvSpPr>
          <p:nvPr>
            <p:ph type="title"/>
          </p:nvPr>
        </p:nvSpPr>
        <p:spPr>
          <a:xfrm>
            <a:off x="0" y="1"/>
            <a:ext cx="12192000" cy="675442"/>
          </a:xfrm>
        </p:spPr>
        <p:txBody>
          <a:bodyPr anchor="b">
            <a:normAutofit/>
          </a:bodyPr>
          <a:lstStyle/>
          <a:p>
            <a:r>
              <a:rPr lang="en-US" sz="3300" b="1" dirty="0">
                <a:latin typeface="Calibir"/>
              </a:rPr>
              <a:t>Activity 4: Generate Random Marks and Assign Grades</a:t>
            </a:r>
            <a:endParaRPr lang="en-AU" sz="3300" b="1" dirty="0">
              <a:latin typeface="Calibir"/>
            </a:endParaRPr>
          </a:p>
        </p:txBody>
      </p:sp>
    </p:spTree>
    <p:extLst>
      <p:ext uri="{BB962C8B-B14F-4D97-AF65-F5344CB8AC3E}">
        <p14:creationId xmlns:p14="http://schemas.microsoft.com/office/powerpoint/2010/main" val="19544541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4CFE-02DE-EDC6-74D7-CBF4ADA2346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D75A71C2-6858-11A2-EEA5-59A1C972537B}"/>
              </a:ext>
            </a:extLst>
          </p:cNvPr>
          <p:cNvSpPr>
            <a:spLocks noChangeArrowheads="1"/>
          </p:cNvSpPr>
          <p:nvPr/>
        </p:nvSpPr>
        <p:spPr bwMode="auto">
          <a:xfrm>
            <a:off x="0" y="49513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Zero-pad IDs:</a:t>
            </a:r>
          </a:p>
        </p:txBody>
      </p:sp>
      <p:pic>
        <p:nvPicPr>
          <p:cNvPr id="10" name="Picture 9">
            <a:extLst>
              <a:ext uri="{FF2B5EF4-FFF2-40B4-BE49-F238E27FC236}">
                <a16:creationId xmlns:a16="http://schemas.microsoft.com/office/drawing/2014/main" id="{2F2AE8EC-61F3-E4FA-05A3-5C3111E421A0}"/>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CEAD2E2A-C7B4-14AC-B859-42BAB4C535A8}"/>
              </a:ext>
            </a:extLst>
          </p:cNvPr>
          <p:cNvSpPr txBox="1"/>
          <p:nvPr/>
        </p:nvSpPr>
        <p:spPr>
          <a:xfrm>
            <a:off x="0" y="5146634"/>
            <a:ext cx="11975690" cy="6718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dirty="0">
                <a:latin typeface="Calibir"/>
              </a:rPr>
              <a:t>Prints something like: {'id': '087', 'mark': 78, 'grade': 'D'}.</a:t>
            </a:r>
          </a:p>
        </p:txBody>
      </p:sp>
      <p:sp>
        <p:nvSpPr>
          <p:cNvPr id="15" name="Rectangle: Rounded Corners 14">
            <a:extLst>
              <a:ext uri="{FF2B5EF4-FFF2-40B4-BE49-F238E27FC236}">
                <a16:creationId xmlns:a16="http://schemas.microsoft.com/office/drawing/2014/main" id="{4D7E6645-ED8B-A605-3FF1-3C7C4C846E21}"/>
              </a:ext>
            </a:extLst>
          </p:cNvPr>
          <p:cNvSpPr/>
          <p:nvPr/>
        </p:nvSpPr>
        <p:spPr>
          <a:xfrm>
            <a:off x="0" y="4837471"/>
            <a:ext cx="12192000" cy="28383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6F451AF-C219-827D-AF43-906D282B8595}"/>
              </a:ext>
            </a:extLst>
          </p:cNvPr>
          <p:cNvSpPr>
            <a:spLocks noGrp="1"/>
          </p:cNvSpPr>
          <p:nvPr>
            <p:ph type="title"/>
          </p:nvPr>
        </p:nvSpPr>
        <p:spPr>
          <a:xfrm>
            <a:off x="0" y="1"/>
            <a:ext cx="12192000" cy="675442"/>
          </a:xfrm>
        </p:spPr>
        <p:txBody>
          <a:bodyPr anchor="b">
            <a:normAutofit/>
          </a:bodyPr>
          <a:lstStyle/>
          <a:p>
            <a:r>
              <a:rPr lang="en-US" sz="3300" b="1" dirty="0">
                <a:latin typeface="Calibir"/>
              </a:rPr>
              <a:t>Activity 4: Generate Random Marks and Assign Grades</a:t>
            </a:r>
            <a:endParaRPr lang="en-AU" sz="3300" b="1" dirty="0">
              <a:latin typeface="Calibir"/>
            </a:endParaRPr>
          </a:p>
        </p:txBody>
      </p:sp>
    </p:spTree>
    <p:extLst>
      <p:ext uri="{BB962C8B-B14F-4D97-AF65-F5344CB8AC3E}">
        <p14:creationId xmlns:p14="http://schemas.microsoft.com/office/powerpoint/2010/main" val="28334037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5331-CCD2-6446-2B66-2ED08EFF34A1}"/>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29DC7591-42A8-54E0-B72C-4FB27F3DAEC8}"/>
              </a:ext>
            </a:extLst>
          </p:cNvPr>
          <p:cNvSpPr>
            <a:spLocks noChangeArrowheads="1"/>
          </p:cNvSpPr>
          <p:nvPr/>
        </p:nvSpPr>
        <p:spPr bwMode="auto">
          <a:xfrm>
            <a:off x="0" y="867186"/>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Zero-pad IDs:</a:t>
            </a:r>
          </a:p>
        </p:txBody>
      </p:sp>
      <p:pic>
        <p:nvPicPr>
          <p:cNvPr id="10" name="Picture 9">
            <a:extLst>
              <a:ext uri="{FF2B5EF4-FFF2-40B4-BE49-F238E27FC236}">
                <a16:creationId xmlns:a16="http://schemas.microsoft.com/office/drawing/2014/main" id="{E4635C1B-2DF4-514E-9CDB-B3C0035F4DFD}"/>
              </a:ext>
            </a:extLst>
          </p:cNvPr>
          <p:cNvPicPr>
            <a:picLocks noChangeAspect="1"/>
          </p:cNvPicPr>
          <p:nvPr/>
        </p:nvPicPr>
        <p:blipFill>
          <a:blip r:embed="rId2"/>
          <a:srcRect l="8133" t="20722" r="7741" b="29479"/>
          <a:stretch>
            <a:fillRect/>
          </a:stretch>
        </p:blipFill>
        <p:spPr>
          <a:xfrm>
            <a:off x="0" y="1721385"/>
            <a:ext cx="12192000" cy="4059635"/>
          </a:xfrm>
          <a:prstGeom prst="rect">
            <a:avLst/>
          </a:prstGeom>
        </p:spPr>
      </p:pic>
      <p:pic>
        <p:nvPicPr>
          <p:cNvPr id="12" name="Picture 11">
            <a:extLst>
              <a:ext uri="{FF2B5EF4-FFF2-40B4-BE49-F238E27FC236}">
                <a16:creationId xmlns:a16="http://schemas.microsoft.com/office/drawing/2014/main" id="{E4C6CA85-346E-A380-5337-AD86681AC37B}"/>
              </a:ext>
            </a:extLst>
          </p:cNvPr>
          <p:cNvPicPr>
            <a:picLocks noChangeAspect="1"/>
          </p:cNvPicPr>
          <p:nvPr/>
        </p:nvPicPr>
        <p:blipFill>
          <a:blip r:embed="rId3"/>
          <a:srcRect l="55161" t="30752" r="5041" b="56129"/>
          <a:stretch>
            <a:fillRect/>
          </a:stretch>
        </p:blipFill>
        <p:spPr>
          <a:xfrm>
            <a:off x="6383373" y="5781020"/>
            <a:ext cx="5808627" cy="1076980"/>
          </a:xfrm>
          <a:prstGeom prst="rect">
            <a:avLst/>
          </a:prstGeom>
        </p:spPr>
      </p:pic>
      <p:sp>
        <p:nvSpPr>
          <p:cNvPr id="6" name="Title 1">
            <a:extLst>
              <a:ext uri="{FF2B5EF4-FFF2-40B4-BE49-F238E27FC236}">
                <a16:creationId xmlns:a16="http://schemas.microsoft.com/office/drawing/2014/main" id="{09981BEB-260D-A3A9-27DC-7532F58BA0D1}"/>
              </a:ext>
            </a:extLst>
          </p:cNvPr>
          <p:cNvSpPr>
            <a:spLocks noGrp="1"/>
          </p:cNvSpPr>
          <p:nvPr>
            <p:ph type="title"/>
          </p:nvPr>
        </p:nvSpPr>
        <p:spPr>
          <a:xfrm>
            <a:off x="0" y="1"/>
            <a:ext cx="12192000" cy="675442"/>
          </a:xfrm>
        </p:spPr>
        <p:txBody>
          <a:bodyPr anchor="b">
            <a:normAutofit/>
          </a:bodyPr>
          <a:lstStyle/>
          <a:p>
            <a:r>
              <a:rPr lang="en-US" sz="3300" b="1" dirty="0">
                <a:latin typeface="Calibir"/>
              </a:rPr>
              <a:t>Activity 4: Generate Random Marks and Assign Grades</a:t>
            </a:r>
            <a:endParaRPr lang="en-AU" sz="3300" b="1" dirty="0">
              <a:latin typeface="Calibir"/>
            </a:endParaRPr>
          </a:p>
        </p:txBody>
      </p:sp>
    </p:spTree>
    <p:extLst>
      <p:ext uri="{BB962C8B-B14F-4D97-AF65-F5344CB8AC3E}">
        <p14:creationId xmlns:p14="http://schemas.microsoft.com/office/powerpoint/2010/main" val="2871585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2CF0-5702-4604-9C80-794302E1F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A7072-6CE9-52C7-B231-5DDEB675EDC2}"/>
              </a:ext>
            </a:extLst>
          </p:cNvPr>
          <p:cNvSpPr>
            <a:spLocks noGrp="1"/>
          </p:cNvSpPr>
          <p:nvPr>
            <p:ph type="title"/>
          </p:nvPr>
        </p:nvSpPr>
        <p:spPr>
          <a:xfrm>
            <a:off x="0" y="0"/>
            <a:ext cx="12192000" cy="675441"/>
          </a:xfrm>
        </p:spPr>
        <p:txBody>
          <a:bodyPr anchor="b">
            <a:normAutofit/>
          </a:bodyPr>
          <a:lstStyle/>
          <a:p>
            <a:r>
              <a:rPr lang="en-US" sz="3300" b="1" dirty="0">
                <a:latin typeface="Calibir"/>
              </a:rPr>
              <a:t>Activity 5: Make randomness reproducible</a:t>
            </a:r>
            <a:endParaRPr lang="en-AU" sz="3300" b="1" dirty="0">
              <a:latin typeface="Calibir"/>
            </a:endParaRPr>
          </a:p>
        </p:txBody>
      </p:sp>
      <p:sp>
        <p:nvSpPr>
          <p:cNvPr id="3" name="Rectangle 1">
            <a:extLst>
              <a:ext uri="{FF2B5EF4-FFF2-40B4-BE49-F238E27FC236}">
                <a16:creationId xmlns:a16="http://schemas.microsoft.com/office/drawing/2014/main" id="{4A61B51B-8ACA-78D6-766F-1A982FE62536}"/>
              </a:ext>
            </a:extLst>
          </p:cNvPr>
          <p:cNvSpPr>
            <a:spLocks noChangeArrowheads="1"/>
          </p:cNvSpPr>
          <p:nvPr/>
        </p:nvSpPr>
        <p:spPr bwMode="auto">
          <a:xfrm>
            <a:off x="0" y="867186"/>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Task:</a:t>
            </a:r>
            <a:r>
              <a:rPr lang="en-US" sz="2800" dirty="0">
                <a:latin typeface="Calibir"/>
              </a:rPr>
              <a:t> Add a seed so repeated runs give the same result (useful for testing).</a:t>
            </a:r>
          </a:p>
        </p:txBody>
      </p:sp>
      <p:pic>
        <p:nvPicPr>
          <p:cNvPr id="11" name="Picture 10">
            <a:extLst>
              <a:ext uri="{FF2B5EF4-FFF2-40B4-BE49-F238E27FC236}">
                <a16:creationId xmlns:a16="http://schemas.microsoft.com/office/drawing/2014/main" id="{814D7886-54FA-3988-F773-9EAEA07B9581}"/>
              </a:ext>
            </a:extLst>
          </p:cNvPr>
          <p:cNvPicPr>
            <a:picLocks noChangeAspect="1"/>
          </p:cNvPicPr>
          <p:nvPr/>
        </p:nvPicPr>
        <p:blipFill>
          <a:blip r:embed="rId4"/>
          <a:srcRect l="8487" t="27311" r="8704" b="37850"/>
          <a:stretch>
            <a:fillRect/>
          </a:stretch>
        </p:blipFill>
        <p:spPr>
          <a:xfrm>
            <a:off x="0" y="1542627"/>
            <a:ext cx="12192000" cy="2837794"/>
          </a:xfrm>
          <a:prstGeom prst="rect">
            <a:avLst/>
          </a:prstGeom>
        </p:spPr>
      </p:pic>
      <p:pic>
        <p:nvPicPr>
          <p:cNvPr id="13" name="Timer">
            <a:hlinkClick r:id="" action="ppaction://media"/>
            <a:extLst>
              <a:ext uri="{FF2B5EF4-FFF2-40B4-BE49-F238E27FC236}">
                <a16:creationId xmlns:a16="http://schemas.microsoft.com/office/drawing/2014/main" id="{24B7B170-7046-7457-8430-E1C124EEB7F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08" t="44516" r="40718" b="39785"/>
          <a:stretch>
            <a:fillRect/>
          </a:stretch>
        </p:blipFill>
        <p:spPr>
          <a:xfrm>
            <a:off x="4945625" y="4380421"/>
            <a:ext cx="2300750" cy="1076632"/>
          </a:xfrm>
          <a:prstGeom prst="rect">
            <a:avLst/>
          </a:prstGeom>
          <a:ln w="38100">
            <a:solidFill>
              <a:srgbClr val="FF0000"/>
            </a:solidFill>
          </a:ln>
        </p:spPr>
      </p:pic>
    </p:spTree>
    <p:extLst>
      <p:ext uri="{BB962C8B-B14F-4D97-AF65-F5344CB8AC3E}">
        <p14:creationId xmlns:p14="http://schemas.microsoft.com/office/powerpoint/2010/main" val="1527590904"/>
      </p:ext>
    </p:extLst>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B27A-A4D5-488E-393F-5FE5D8C68F3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D265859-D071-9235-F972-61C5B0F17D05}"/>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8B86193B-75E3-A29D-19B9-34CA3C981327}"/>
              </a:ext>
            </a:extLst>
          </p:cNvPr>
          <p:cNvSpPr txBox="1"/>
          <p:nvPr/>
        </p:nvSpPr>
        <p:spPr>
          <a:xfrm>
            <a:off x="4918" y="4492093"/>
            <a:ext cx="12187082" cy="2341025"/>
          </a:xfrm>
          <a:prstGeom prst="rect">
            <a:avLst/>
          </a:prstGeom>
          <a:noFill/>
        </p:spPr>
        <p:txBody>
          <a:bodyPr wrap="square">
            <a:spAutoFit/>
          </a:bodyPr>
          <a:lstStyle/>
          <a:p>
            <a:pPr>
              <a:lnSpc>
                <a:spcPct val="150000"/>
              </a:lnSpc>
              <a:buNone/>
            </a:pPr>
            <a:r>
              <a:rPr lang="en-US" sz="2500" dirty="0">
                <a:latin typeface="Calibir"/>
              </a:rPr>
              <a:t>Brings in two functions from Python’s random library:</a:t>
            </a:r>
          </a:p>
          <a:p>
            <a:pPr marL="342900" indent="-342900">
              <a:lnSpc>
                <a:spcPct val="150000"/>
              </a:lnSpc>
              <a:buFont typeface="Arial" panose="020B0604020202020204" pitchFamily="34" charset="0"/>
              <a:buChar char="•"/>
            </a:pPr>
            <a:r>
              <a:rPr lang="en-US" sz="2500" b="1" dirty="0" err="1">
                <a:latin typeface="Calibir"/>
              </a:rPr>
              <a:t>randint</a:t>
            </a:r>
            <a:r>
              <a:rPr lang="en-US" sz="2500" b="1" dirty="0">
                <a:latin typeface="Calibir"/>
              </a:rPr>
              <a:t>(a, b):</a:t>
            </a:r>
            <a:r>
              <a:rPr lang="en-US" sz="2500" dirty="0">
                <a:latin typeface="Calibir"/>
              </a:rPr>
              <a:t> makes a random whole number between </a:t>
            </a:r>
            <a:r>
              <a:rPr lang="en-US" sz="2500" i="1" dirty="0">
                <a:latin typeface="Calibir"/>
              </a:rPr>
              <a:t>a</a:t>
            </a:r>
            <a:r>
              <a:rPr lang="en-US" sz="2500" dirty="0">
                <a:latin typeface="Calibir"/>
              </a:rPr>
              <a:t> and </a:t>
            </a:r>
            <a:r>
              <a:rPr lang="en-US" sz="2500" i="1" dirty="0">
                <a:latin typeface="Calibir"/>
              </a:rPr>
              <a:t>b</a:t>
            </a:r>
            <a:r>
              <a:rPr lang="en-US" sz="2500" dirty="0">
                <a:latin typeface="Calibir"/>
              </a:rPr>
              <a:t> (both included).</a:t>
            </a:r>
          </a:p>
          <a:p>
            <a:pPr marL="342900" indent="-342900">
              <a:lnSpc>
                <a:spcPct val="150000"/>
              </a:lnSpc>
              <a:buFont typeface="Arial" panose="020B0604020202020204" pitchFamily="34" charset="0"/>
              <a:buChar char="•"/>
            </a:pPr>
            <a:r>
              <a:rPr lang="en-US" sz="2500" b="1" dirty="0">
                <a:latin typeface="Calibir"/>
              </a:rPr>
              <a:t>seed(x):</a:t>
            </a:r>
            <a:r>
              <a:rPr lang="en-US" sz="2500" dirty="0">
                <a:latin typeface="Calibir"/>
              </a:rPr>
              <a:t> fixes the random numbers so you get the same result each time (useful for testing).</a:t>
            </a:r>
          </a:p>
        </p:txBody>
      </p:sp>
      <p:sp>
        <p:nvSpPr>
          <p:cNvPr id="17" name="Rectangle: Rounded Corners 16">
            <a:extLst>
              <a:ext uri="{FF2B5EF4-FFF2-40B4-BE49-F238E27FC236}">
                <a16:creationId xmlns:a16="http://schemas.microsoft.com/office/drawing/2014/main" id="{E092E793-7146-1455-BE4D-6410CDA0E657}"/>
              </a:ext>
            </a:extLst>
          </p:cNvPr>
          <p:cNvSpPr/>
          <p:nvPr/>
        </p:nvSpPr>
        <p:spPr>
          <a:xfrm>
            <a:off x="0" y="0"/>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92748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1B89-FA68-FB97-85BA-CEE0AB10F02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FEB327F-8552-9355-E0EE-52336C590B48}"/>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DC9CAD25-0B00-CC87-DE5F-24B3C074C940}"/>
              </a:ext>
            </a:extLst>
          </p:cNvPr>
          <p:cNvSpPr txBox="1"/>
          <p:nvPr/>
        </p:nvSpPr>
        <p:spPr>
          <a:xfrm>
            <a:off x="4918" y="4492093"/>
            <a:ext cx="12187082" cy="1964512"/>
          </a:xfrm>
          <a:prstGeom prst="rect">
            <a:avLst/>
          </a:prstGeom>
          <a:noFill/>
        </p:spPr>
        <p:txBody>
          <a:bodyPr wrap="square">
            <a:spAutoFit/>
          </a:bodyPr>
          <a:lstStyle/>
          <a:p>
            <a:pPr>
              <a:lnSpc>
                <a:spcPct val="150000"/>
              </a:lnSpc>
            </a:pPr>
            <a:r>
              <a:rPr lang="en-US" sz="2800" dirty="0">
                <a:latin typeface="Calibir"/>
              </a:rPr>
              <a:t>Sets the “starting point” for the random generator.</a:t>
            </a:r>
          </a:p>
          <a:p>
            <a:pPr marL="457200" indent="-457200">
              <a:lnSpc>
                <a:spcPct val="150000"/>
              </a:lnSpc>
              <a:buFont typeface="Arial" panose="020B0604020202020204" pitchFamily="34" charset="0"/>
              <a:buChar char="•"/>
            </a:pPr>
            <a:r>
              <a:rPr lang="en-US" sz="2800" dirty="0">
                <a:latin typeface="Calibir"/>
              </a:rPr>
              <a:t>Without this, each run gives different results.</a:t>
            </a:r>
          </a:p>
          <a:p>
            <a:pPr marL="457200" indent="-457200">
              <a:lnSpc>
                <a:spcPct val="150000"/>
              </a:lnSpc>
              <a:buFont typeface="Arial" panose="020B0604020202020204" pitchFamily="34" charset="0"/>
              <a:buChar char="•"/>
            </a:pPr>
            <a:r>
              <a:rPr lang="en-US" sz="2800" dirty="0">
                <a:latin typeface="Calibir"/>
              </a:rPr>
              <a:t>With it, the numbers repeat every time, which makes testing easier.</a:t>
            </a:r>
          </a:p>
        </p:txBody>
      </p:sp>
      <p:sp>
        <p:nvSpPr>
          <p:cNvPr id="17" name="Rectangle: Rounded Corners 16">
            <a:extLst>
              <a:ext uri="{FF2B5EF4-FFF2-40B4-BE49-F238E27FC236}">
                <a16:creationId xmlns:a16="http://schemas.microsoft.com/office/drawing/2014/main" id="{95081BA2-F5D7-82E9-829F-5161CE212529}"/>
              </a:ext>
            </a:extLst>
          </p:cNvPr>
          <p:cNvSpPr/>
          <p:nvPr/>
        </p:nvSpPr>
        <p:spPr>
          <a:xfrm>
            <a:off x="0" y="412955"/>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035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FF11-FA7F-4840-DD1C-AC3328B2C0D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78571E9-6E79-2214-EAA8-08E6AE43A32D}"/>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BCCBA27-6B87-3E76-EDE3-88CD9AAB314E}"/>
              </a:ext>
            </a:extLst>
          </p:cNvPr>
          <p:cNvSpPr txBox="1"/>
          <p:nvPr/>
        </p:nvSpPr>
        <p:spPr>
          <a:xfrm>
            <a:off x="4918" y="4549676"/>
            <a:ext cx="12187082" cy="2308324"/>
          </a:xfrm>
          <a:prstGeom prst="rect">
            <a:avLst/>
          </a:prstGeom>
          <a:noFill/>
        </p:spPr>
        <p:txBody>
          <a:bodyPr wrap="square">
            <a:spAutoFit/>
          </a:bodyPr>
          <a:lstStyle/>
          <a:p>
            <a:r>
              <a:rPr lang="en-US" dirty="0">
                <a:latin typeface="Calibir"/>
              </a:rPr>
              <a:t>Defines a function called grade:</a:t>
            </a:r>
          </a:p>
          <a:p>
            <a:pPr marL="285750" indent="-285750">
              <a:buFont typeface="Arial" panose="020B0604020202020204" pitchFamily="34" charset="0"/>
              <a:buChar char="•"/>
            </a:pPr>
            <a:r>
              <a:rPr lang="en-US" dirty="0">
                <a:latin typeface="Calibir"/>
              </a:rPr>
              <a:t>Input: a number (mark) between 25–100.</a:t>
            </a:r>
          </a:p>
          <a:p>
            <a:pPr marL="285750" indent="-285750">
              <a:buFont typeface="Arial" panose="020B0604020202020204" pitchFamily="34" charset="0"/>
              <a:buChar char="•"/>
            </a:pPr>
            <a:r>
              <a:rPr lang="en-US" dirty="0">
                <a:latin typeface="Calibir"/>
              </a:rPr>
              <a:t>Output: a single letter grade, based on rules:</a:t>
            </a:r>
          </a:p>
          <a:p>
            <a:pPr marL="742950" lvl="1" indent="-285750">
              <a:buFont typeface="Arial" panose="020B0604020202020204" pitchFamily="34" charset="0"/>
              <a:buChar char="•"/>
            </a:pPr>
            <a:r>
              <a:rPr lang="en-US" dirty="0">
                <a:latin typeface="Calibir"/>
              </a:rPr>
              <a:t>&lt;50 → 'Z'</a:t>
            </a:r>
          </a:p>
          <a:p>
            <a:pPr marL="742950" lvl="1" indent="-285750">
              <a:buFont typeface="Arial" panose="020B0604020202020204" pitchFamily="34" charset="0"/>
              <a:buChar char="•"/>
            </a:pPr>
            <a:r>
              <a:rPr lang="en-US" dirty="0">
                <a:latin typeface="Calibir"/>
              </a:rPr>
              <a:t>50–64 → 'P'</a:t>
            </a:r>
          </a:p>
          <a:p>
            <a:pPr marL="742950" lvl="1" indent="-285750">
              <a:buFont typeface="Arial" panose="020B0604020202020204" pitchFamily="34" charset="0"/>
              <a:buChar char="•"/>
            </a:pPr>
            <a:r>
              <a:rPr lang="en-US" dirty="0">
                <a:latin typeface="Calibir"/>
              </a:rPr>
              <a:t>65–74 → 'C'</a:t>
            </a:r>
          </a:p>
          <a:p>
            <a:pPr marL="742950" lvl="1" indent="-285750">
              <a:buFont typeface="Arial" panose="020B0604020202020204" pitchFamily="34" charset="0"/>
              <a:buChar char="•"/>
            </a:pPr>
            <a:r>
              <a:rPr lang="en-US" dirty="0">
                <a:latin typeface="Calibir"/>
              </a:rPr>
              <a:t>75–84 → 'D'</a:t>
            </a:r>
          </a:p>
          <a:p>
            <a:pPr marL="742950" lvl="1" indent="-285750">
              <a:buFont typeface="Arial" panose="020B0604020202020204" pitchFamily="34" charset="0"/>
              <a:buChar char="•"/>
            </a:pPr>
            <a:r>
              <a:rPr lang="en-US" dirty="0">
                <a:latin typeface="Calibir"/>
              </a:rPr>
              <a:t>≥85 → 'HD'</a:t>
            </a:r>
          </a:p>
        </p:txBody>
      </p:sp>
      <p:sp>
        <p:nvSpPr>
          <p:cNvPr id="17" name="Rectangle: Rounded Corners 16">
            <a:extLst>
              <a:ext uri="{FF2B5EF4-FFF2-40B4-BE49-F238E27FC236}">
                <a16:creationId xmlns:a16="http://schemas.microsoft.com/office/drawing/2014/main" id="{414CB668-00F5-BF6E-9D96-0D2E37211A05}"/>
              </a:ext>
            </a:extLst>
          </p:cNvPr>
          <p:cNvSpPr/>
          <p:nvPr/>
        </p:nvSpPr>
        <p:spPr>
          <a:xfrm>
            <a:off x="0" y="1194618"/>
            <a:ext cx="11446516" cy="14453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600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6F8B-9A21-B81B-1E12-3CCC4E61F50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99C8307-B848-33E3-604B-A03E8A2A4AA9}"/>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F0F24D1F-9384-6C6D-3480-EA4AA3100F14}"/>
              </a:ext>
            </a:extLst>
          </p:cNvPr>
          <p:cNvSpPr txBox="1"/>
          <p:nvPr/>
        </p:nvSpPr>
        <p:spPr>
          <a:xfrm>
            <a:off x="4918" y="4549676"/>
            <a:ext cx="12187082" cy="1318181"/>
          </a:xfrm>
          <a:prstGeom prst="rect">
            <a:avLst/>
          </a:prstGeom>
          <a:noFill/>
        </p:spPr>
        <p:txBody>
          <a:bodyPr wrap="square">
            <a:spAutoFit/>
          </a:bodyPr>
          <a:lstStyle/>
          <a:p>
            <a:pPr>
              <a:lnSpc>
                <a:spcPct val="150000"/>
              </a:lnSpc>
            </a:pPr>
            <a:r>
              <a:rPr lang="en-US" sz="2800" dirty="0">
                <a:latin typeface="Calibir"/>
              </a:rPr>
              <a:t>Generates one random exam mark between 25 and 100 and stores it in the variable mark.</a:t>
            </a:r>
          </a:p>
        </p:txBody>
      </p:sp>
      <p:sp>
        <p:nvSpPr>
          <p:cNvPr id="17" name="Rectangle: Rounded Corners 16">
            <a:extLst>
              <a:ext uri="{FF2B5EF4-FFF2-40B4-BE49-F238E27FC236}">
                <a16:creationId xmlns:a16="http://schemas.microsoft.com/office/drawing/2014/main" id="{E69C6A40-43C6-CAD1-52DC-EFA83768B749}"/>
              </a:ext>
            </a:extLst>
          </p:cNvPr>
          <p:cNvSpPr/>
          <p:nvPr/>
        </p:nvSpPr>
        <p:spPr>
          <a:xfrm>
            <a:off x="0" y="2802193"/>
            <a:ext cx="11446516" cy="479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90911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BD3F-04CA-05D7-713E-E57E9C767F1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3D06D8C-1779-4BC3-5344-E0D73482218E}"/>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6285111E-FECA-A8C4-5A9A-A6949FBC4C58}"/>
              </a:ext>
            </a:extLst>
          </p:cNvPr>
          <p:cNvSpPr txBox="1"/>
          <p:nvPr/>
        </p:nvSpPr>
        <p:spPr>
          <a:xfrm>
            <a:off x="4918" y="4549676"/>
            <a:ext cx="12187082" cy="2071208"/>
          </a:xfrm>
          <a:prstGeom prst="rect">
            <a:avLst/>
          </a:prstGeom>
          <a:noFill/>
        </p:spPr>
        <p:txBody>
          <a:bodyPr wrap="square">
            <a:spAutoFit/>
          </a:bodyPr>
          <a:lstStyle/>
          <a:p>
            <a:pPr>
              <a:lnSpc>
                <a:spcPct val="150000"/>
              </a:lnSpc>
            </a:pPr>
            <a:r>
              <a:rPr lang="en-US" sz="2200" dirty="0">
                <a:latin typeface="Calibir"/>
              </a:rPr>
              <a:t>Creates a dictionary (like a mini record) for one subject:</a:t>
            </a:r>
          </a:p>
          <a:p>
            <a:pPr marL="800100" lvl="1" indent="-342900">
              <a:lnSpc>
                <a:spcPct val="150000"/>
              </a:lnSpc>
              <a:buFont typeface="Arial" panose="020B0604020202020204" pitchFamily="34" charset="0"/>
              <a:buChar char="•"/>
            </a:pPr>
            <a:r>
              <a:rPr lang="en-US" sz="2200" dirty="0">
                <a:latin typeface="Calibir"/>
              </a:rPr>
              <a:t>"id" → random number 1–999, but .</a:t>
            </a:r>
            <a:r>
              <a:rPr lang="en-US" sz="2200" dirty="0" err="1">
                <a:latin typeface="Calibir"/>
              </a:rPr>
              <a:t>zfill</a:t>
            </a:r>
            <a:r>
              <a:rPr lang="en-US" sz="2200" dirty="0">
                <a:latin typeface="Calibir"/>
              </a:rPr>
              <a:t>(3) pads it with zeros so it always looks like 001, 045, 234.</a:t>
            </a:r>
          </a:p>
          <a:p>
            <a:pPr marL="800100" lvl="1" indent="-342900">
              <a:lnSpc>
                <a:spcPct val="150000"/>
              </a:lnSpc>
              <a:buFont typeface="Arial" panose="020B0604020202020204" pitchFamily="34" charset="0"/>
              <a:buChar char="•"/>
            </a:pPr>
            <a:r>
              <a:rPr lang="en-US" sz="2200" dirty="0">
                <a:latin typeface="Calibir"/>
              </a:rPr>
              <a:t>"mark" → the random mark generated above.</a:t>
            </a:r>
          </a:p>
          <a:p>
            <a:pPr marL="800100" lvl="1" indent="-342900">
              <a:lnSpc>
                <a:spcPct val="150000"/>
              </a:lnSpc>
              <a:buFont typeface="Arial" panose="020B0604020202020204" pitchFamily="34" charset="0"/>
              <a:buChar char="•"/>
            </a:pPr>
            <a:r>
              <a:rPr lang="en-US" sz="2200" dirty="0">
                <a:latin typeface="Calibir"/>
              </a:rPr>
              <a:t>"grade" → the letter grade, calculated by calling grade(mark).</a:t>
            </a:r>
          </a:p>
        </p:txBody>
      </p:sp>
      <p:sp>
        <p:nvSpPr>
          <p:cNvPr id="17" name="Rectangle: Rounded Corners 16">
            <a:extLst>
              <a:ext uri="{FF2B5EF4-FFF2-40B4-BE49-F238E27FC236}">
                <a16:creationId xmlns:a16="http://schemas.microsoft.com/office/drawing/2014/main" id="{4EC6C0CE-A446-8726-C5D2-D091CFBBF6CB}"/>
              </a:ext>
            </a:extLst>
          </p:cNvPr>
          <p:cNvSpPr/>
          <p:nvPr/>
        </p:nvSpPr>
        <p:spPr>
          <a:xfrm>
            <a:off x="0" y="3189337"/>
            <a:ext cx="11446516" cy="89596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68959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3371-0412-E369-5B8F-26C506D0B61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EB0AF30-011F-CB17-33B5-299991194184}"/>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9A34096-3988-2194-BE21-15BC119E1293}"/>
              </a:ext>
            </a:extLst>
          </p:cNvPr>
          <p:cNvSpPr txBox="1"/>
          <p:nvPr/>
        </p:nvSpPr>
        <p:spPr>
          <a:xfrm>
            <a:off x="4918" y="4549676"/>
            <a:ext cx="12187082" cy="671851"/>
          </a:xfrm>
          <a:prstGeom prst="rect">
            <a:avLst/>
          </a:prstGeom>
          <a:noFill/>
        </p:spPr>
        <p:txBody>
          <a:bodyPr wrap="square">
            <a:spAutoFit/>
          </a:bodyPr>
          <a:lstStyle/>
          <a:p>
            <a:pPr>
              <a:lnSpc>
                <a:spcPct val="150000"/>
              </a:lnSpc>
            </a:pPr>
            <a:r>
              <a:rPr lang="en-US" sz="2800" dirty="0">
                <a:latin typeface="Calibir"/>
              </a:rPr>
              <a:t>Shows the whole dictionary on screen.</a:t>
            </a:r>
          </a:p>
        </p:txBody>
      </p:sp>
      <p:sp>
        <p:nvSpPr>
          <p:cNvPr id="17" name="Rectangle: Rounded Corners 16">
            <a:extLst>
              <a:ext uri="{FF2B5EF4-FFF2-40B4-BE49-F238E27FC236}">
                <a16:creationId xmlns:a16="http://schemas.microsoft.com/office/drawing/2014/main" id="{3397D35E-4F8D-146D-27B6-C90B62DDA6B6}"/>
              </a:ext>
            </a:extLst>
          </p:cNvPr>
          <p:cNvSpPr/>
          <p:nvPr/>
        </p:nvSpPr>
        <p:spPr>
          <a:xfrm>
            <a:off x="0" y="4055805"/>
            <a:ext cx="11446516" cy="4362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92547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F57A-D6C4-71BC-8329-D487A07FBB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3CC8A6-03F2-7212-E5FF-1857EFF80198}"/>
              </a:ext>
            </a:extLst>
          </p:cNvPr>
          <p:cNvSpPr txBox="1"/>
          <p:nvPr/>
        </p:nvSpPr>
        <p:spPr>
          <a:xfrm>
            <a:off x="0" y="1327693"/>
            <a:ext cx="12192000" cy="4832092"/>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random</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import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seed</a:t>
            </a: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seed</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42</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reproducible results</a:t>
            </a:r>
            <a:endParaRPr lang="en-US" sz="2800" b="0" dirty="0">
              <a:solidFill>
                <a:srgbClr val="CCCCCC"/>
              </a:solidFill>
              <a:effectLst/>
              <a:latin typeface="Consolas" panose="020B0609020204030204" pitchFamily="49" charset="0"/>
            </a:endParaRPr>
          </a:p>
          <a:p>
            <a:pPr>
              <a:buNone/>
            </a:pPr>
            <a:br>
              <a:rPr lang="en-US" sz="2800" b="0" dirty="0">
                <a:solidFill>
                  <a:srgbClr val="CCCCCC"/>
                </a:solidFill>
                <a:effectLst/>
                <a:latin typeface="Consolas" panose="020B0609020204030204" pitchFamily="49" charset="0"/>
              </a:rPr>
            </a:b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 -&gt; </a:t>
            </a:r>
            <a:r>
              <a:rPr lang="en-US" sz="2800" b="0" dirty="0">
                <a:solidFill>
                  <a:srgbClr val="4EC9B0"/>
                </a:solidFill>
                <a:effectLst/>
                <a:latin typeface="Consolas" panose="020B0609020204030204" pitchFamily="49" charset="0"/>
              </a:rPr>
              <a:t>str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return</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'Z'</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50</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'P'</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65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'C'</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75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'D'</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85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'HD'</a:t>
            </a:r>
            <a:endParaRPr lang="en-US" sz="2800" b="0" dirty="0">
              <a:solidFill>
                <a:srgbClr val="CCCCCC"/>
              </a:solidFill>
              <a:effectLst/>
              <a:latin typeface="Consolas" panose="020B0609020204030204" pitchFamily="49" charset="0"/>
            </a:endParaRPr>
          </a:p>
          <a:p>
            <a:pPr>
              <a:buNone/>
            </a:pP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25</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100</a:t>
            </a:r>
            <a:r>
              <a:rPr lang="en-US" sz="2800" b="0" dirty="0">
                <a:solidFill>
                  <a:srgbClr val="CCCCCC"/>
                </a:solidFill>
                <a:effectLst/>
                <a:latin typeface="Consolas" panose="020B0609020204030204" pitchFamily="49" charset="0"/>
              </a:rPr>
              <a:t>)</a:t>
            </a:r>
          </a:p>
          <a:p>
            <a:pPr>
              <a:buNone/>
            </a:pPr>
            <a:r>
              <a:rPr lang="en-US" sz="2800" b="0" dirty="0">
                <a:solidFill>
                  <a:srgbClr val="9CDCFE"/>
                </a:solidFill>
                <a:effectLst/>
                <a:latin typeface="Consolas" panose="020B0609020204030204" pitchFamily="49" charset="0"/>
              </a:rPr>
              <a:t>subject</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"id"</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str</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999</a:t>
            </a:r>
            <a:r>
              <a:rPr lang="en-US" sz="2800" b="0" dirty="0">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zfill</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3</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a:t>
            </a:r>
          </a:p>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subject</a:t>
            </a:r>
            <a:r>
              <a:rPr lang="en-US" sz="2800" b="0" dirty="0">
                <a:solidFill>
                  <a:srgbClr val="CCCCCC"/>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F0948710-BB3E-0F79-6E57-3B78F0721129}"/>
              </a:ext>
            </a:extLst>
          </p:cNvPr>
          <p:cNvPicPr>
            <a:picLocks noChangeAspect="1"/>
          </p:cNvPicPr>
          <p:nvPr/>
        </p:nvPicPr>
        <p:blipFill>
          <a:blip r:embed="rId2"/>
          <a:srcRect l="54799" t="36344" r="4798" b="50000"/>
          <a:stretch>
            <a:fillRect/>
          </a:stretch>
        </p:blipFill>
        <p:spPr>
          <a:xfrm>
            <a:off x="4896465" y="5470975"/>
            <a:ext cx="7295535" cy="1387026"/>
          </a:xfrm>
          <a:prstGeom prst="rect">
            <a:avLst/>
          </a:prstGeom>
          <a:ln w="38100">
            <a:solidFill>
              <a:srgbClr val="FF0000"/>
            </a:solidFill>
          </a:ln>
        </p:spPr>
      </p:pic>
      <p:sp>
        <p:nvSpPr>
          <p:cNvPr id="4" name="TextBox 3">
            <a:extLst>
              <a:ext uri="{FF2B5EF4-FFF2-40B4-BE49-F238E27FC236}">
                <a16:creationId xmlns:a16="http://schemas.microsoft.com/office/drawing/2014/main" id="{90D7FA78-C385-F648-CE96-0F97FE053E87}"/>
              </a:ext>
            </a:extLst>
          </p:cNvPr>
          <p:cNvSpPr txBox="1"/>
          <p:nvPr/>
        </p:nvSpPr>
        <p:spPr>
          <a:xfrm>
            <a:off x="6581467" y="1283449"/>
            <a:ext cx="5610533" cy="1785104"/>
          </a:xfrm>
          <a:prstGeom prst="rect">
            <a:avLst/>
          </a:prstGeom>
          <a:solidFill>
            <a:schemeClr val="bg1"/>
          </a:solidFill>
          <a:ln w="38100">
            <a:solidFill>
              <a:srgbClr val="FF0000"/>
            </a:solidFill>
          </a:ln>
        </p:spPr>
        <p:txBody>
          <a:bodyPr wrap="square">
            <a:spAutoFit/>
          </a:bodyPr>
          <a:lstStyle/>
          <a:p>
            <a:pPr>
              <a:buNone/>
            </a:pPr>
            <a:r>
              <a:rPr lang="en-US" sz="2200" dirty="0">
                <a:latin typeface="Calibir"/>
              </a:rPr>
              <a:t>In short:</a:t>
            </a:r>
          </a:p>
          <a:p>
            <a:pPr marL="342900" indent="-342900">
              <a:buFont typeface="Arial" panose="020B0604020202020204" pitchFamily="34" charset="0"/>
              <a:buChar char="•"/>
            </a:pPr>
            <a:r>
              <a:rPr lang="en-US" sz="2200" dirty="0">
                <a:latin typeface="Calibir"/>
              </a:rPr>
              <a:t>Fix the random seed,</a:t>
            </a:r>
          </a:p>
          <a:p>
            <a:pPr marL="342900" indent="-342900">
              <a:buFont typeface="Arial" panose="020B0604020202020204" pitchFamily="34" charset="0"/>
              <a:buChar char="•"/>
            </a:pPr>
            <a:r>
              <a:rPr lang="en-US" sz="2200" dirty="0">
                <a:latin typeface="Calibir"/>
              </a:rPr>
              <a:t>Generate a random mark + subject ID,</a:t>
            </a:r>
          </a:p>
          <a:p>
            <a:pPr marL="342900" indent="-342900">
              <a:buFont typeface="Arial" panose="020B0604020202020204" pitchFamily="34" charset="0"/>
              <a:buChar char="•"/>
            </a:pPr>
            <a:r>
              <a:rPr lang="en-US" sz="2200" dirty="0">
                <a:latin typeface="Calibir"/>
              </a:rPr>
              <a:t>Work out the grade,</a:t>
            </a:r>
          </a:p>
          <a:p>
            <a:pPr marL="342900" indent="-342900">
              <a:buFont typeface="Arial" panose="020B0604020202020204" pitchFamily="34" charset="0"/>
              <a:buChar char="•"/>
            </a:pPr>
            <a:r>
              <a:rPr lang="en-US" sz="2200" dirty="0">
                <a:latin typeface="Calibir"/>
              </a:rPr>
              <a:t>Print the record.</a:t>
            </a:r>
          </a:p>
        </p:txBody>
      </p:sp>
      <p:sp>
        <p:nvSpPr>
          <p:cNvPr id="8" name="Title 1">
            <a:extLst>
              <a:ext uri="{FF2B5EF4-FFF2-40B4-BE49-F238E27FC236}">
                <a16:creationId xmlns:a16="http://schemas.microsoft.com/office/drawing/2014/main" id="{B58D9E25-77D4-94D4-7B5C-4BC07790135A}"/>
              </a:ext>
            </a:extLst>
          </p:cNvPr>
          <p:cNvSpPr>
            <a:spLocks noGrp="1"/>
          </p:cNvSpPr>
          <p:nvPr>
            <p:ph type="title"/>
          </p:nvPr>
        </p:nvSpPr>
        <p:spPr>
          <a:xfrm>
            <a:off x="0" y="0"/>
            <a:ext cx="12192000" cy="675441"/>
          </a:xfrm>
        </p:spPr>
        <p:txBody>
          <a:bodyPr anchor="b">
            <a:normAutofit/>
          </a:bodyPr>
          <a:lstStyle/>
          <a:p>
            <a:r>
              <a:rPr lang="en-US" sz="3300" b="1" dirty="0">
                <a:latin typeface="Calibir"/>
              </a:rPr>
              <a:t>Activity 5: Make randomness reproducible</a:t>
            </a:r>
            <a:endParaRPr lang="en-AU" sz="3300" b="1" dirty="0">
              <a:latin typeface="Calibir"/>
            </a:endParaRPr>
          </a:p>
        </p:txBody>
      </p:sp>
    </p:spTree>
    <p:extLst>
      <p:ext uri="{BB962C8B-B14F-4D97-AF65-F5344CB8AC3E}">
        <p14:creationId xmlns:p14="http://schemas.microsoft.com/office/powerpoint/2010/main" val="3380296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5E17A-DFCD-2872-5B35-F441EDC718B3}"/>
              </a:ext>
            </a:extLst>
          </p:cNvPr>
          <p:cNvSpPr>
            <a:spLocks noGrp="1"/>
          </p:cNvSpPr>
          <p:nvPr>
            <p:ph type="title"/>
          </p:nvPr>
        </p:nvSpPr>
        <p:spPr>
          <a:xfrm>
            <a:off x="0" y="0"/>
            <a:ext cx="12192000" cy="557561"/>
          </a:xfrm>
        </p:spPr>
        <p:txBody>
          <a:bodyPr anchor="b">
            <a:normAutofit/>
          </a:bodyPr>
          <a:lstStyle/>
          <a:p>
            <a:r>
              <a:rPr lang="en-US" sz="3300" b="1" dirty="0">
                <a:latin typeface="Calibir"/>
              </a:rPr>
              <a:t>Activity 6: Add student ID and PASS/FAIL</a:t>
            </a:r>
            <a:endParaRPr lang="en-AU" sz="3300" b="1" dirty="0">
              <a:latin typeface="Calibir"/>
            </a:endParaRPr>
          </a:p>
        </p:txBody>
      </p:sp>
      <p:sp>
        <p:nvSpPr>
          <p:cNvPr id="4" name="TextBox 3">
            <a:extLst>
              <a:ext uri="{FF2B5EF4-FFF2-40B4-BE49-F238E27FC236}">
                <a16:creationId xmlns:a16="http://schemas.microsoft.com/office/drawing/2014/main" id="{C655CE28-7134-0543-249D-22F7239F953D}"/>
              </a:ext>
            </a:extLst>
          </p:cNvPr>
          <p:cNvSpPr txBox="1"/>
          <p:nvPr/>
        </p:nvSpPr>
        <p:spPr>
          <a:xfrm>
            <a:off x="0" y="557561"/>
            <a:ext cx="12192000" cy="1318181"/>
          </a:xfrm>
          <a:prstGeom prst="rect">
            <a:avLst/>
          </a:prstGeom>
          <a:noFill/>
        </p:spPr>
        <p:txBody>
          <a:bodyPr wrap="square">
            <a:spAutoFit/>
          </a:bodyPr>
          <a:lstStyle/>
          <a:p>
            <a:pPr>
              <a:lnSpc>
                <a:spcPct val="150000"/>
              </a:lnSpc>
            </a:pPr>
            <a:r>
              <a:rPr lang="en-US" sz="2800" b="1" dirty="0">
                <a:latin typeface="Calibir"/>
              </a:rPr>
              <a:t>Task: </a:t>
            </a:r>
            <a:r>
              <a:rPr lang="en-US" sz="2800" dirty="0">
                <a:latin typeface="Calibir"/>
              </a:rPr>
              <a:t>Add a 6-digit student ID and a pass/fail flag (pass if mark ≥ 50).</a:t>
            </a:r>
            <a:br>
              <a:rPr lang="en-US" sz="2800" dirty="0">
                <a:latin typeface="Calibir"/>
              </a:rPr>
            </a:br>
            <a:r>
              <a:rPr lang="en-US" sz="2800" b="1" dirty="0">
                <a:latin typeface="Calibir"/>
              </a:rPr>
              <a:t>Hint: </a:t>
            </a:r>
            <a:r>
              <a:rPr lang="en-US" sz="2800" dirty="0">
                <a:latin typeface="Calibir"/>
              </a:rPr>
              <a:t>Use </a:t>
            </a:r>
            <a:r>
              <a:rPr lang="en-US" sz="2800" dirty="0" err="1">
                <a:latin typeface="Calibir"/>
              </a:rPr>
              <a:t>zfill</a:t>
            </a:r>
            <a:r>
              <a:rPr lang="en-US" sz="2800" dirty="0">
                <a:latin typeface="Calibir"/>
              </a:rPr>
              <a:t>(6) for the student ID.</a:t>
            </a:r>
          </a:p>
        </p:txBody>
      </p:sp>
      <p:pic>
        <p:nvPicPr>
          <p:cNvPr id="6" name="Timer">
            <a:hlinkClick r:id="" action="ppaction://media"/>
            <a:extLst>
              <a:ext uri="{FF2B5EF4-FFF2-40B4-BE49-F238E27FC236}">
                <a16:creationId xmlns:a16="http://schemas.microsoft.com/office/drawing/2014/main" id="{606FD39E-5BD4-067B-6EB9-74F602A394B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6428736" y="1356671"/>
            <a:ext cx="2300750" cy="1076632"/>
          </a:xfrm>
          <a:prstGeom prst="rect">
            <a:avLst/>
          </a:prstGeom>
          <a:ln w="38100">
            <a:solidFill>
              <a:srgbClr val="FF0000"/>
            </a:solidFill>
          </a:ln>
        </p:spPr>
      </p:pic>
    </p:spTree>
    <p:extLst>
      <p:ext uri="{BB962C8B-B14F-4D97-AF65-F5344CB8AC3E}">
        <p14:creationId xmlns:p14="http://schemas.microsoft.com/office/powerpoint/2010/main" val="3326400137"/>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0150E7F-8EEF-BA55-1D9E-E2C646D20FCE}"/>
              </a:ext>
            </a:extLst>
          </p:cNvPr>
          <p:cNvPicPr>
            <a:picLocks noChangeAspect="1"/>
          </p:cNvPicPr>
          <p:nvPr/>
        </p:nvPicPr>
        <p:blipFill>
          <a:blip r:embed="rId2"/>
          <a:srcRect l="8226" t="11188" r="8065" b="18495"/>
          <a:stretch>
            <a:fillRect/>
          </a:stretch>
        </p:blipFill>
        <p:spPr>
          <a:xfrm>
            <a:off x="0" y="680225"/>
            <a:ext cx="12192000" cy="5760844"/>
          </a:xfrm>
          <a:prstGeom prst="rect">
            <a:avLst/>
          </a:prstGeom>
        </p:spPr>
      </p:pic>
      <p:sp>
        <p:nvSpPr>
          <p:cNvPr id="2" name="Title 1">
            <a:extLst>
              <a:ext uri="{FF2B5EF4-FFF2-40B4-BE49-F238E27FC236}">
                <a16:creationId xmlns:a16="http://schemas.microsoft.com/office/drawing/2014/main" id="{29CDC4F1-D7BC-6FD1-158F-1C8E2E7B6197}"/>
              </a:ext>
            </a:extLst>
          </p:cNvPr>
          <p:cNvSpPr>
            <a:spLocks noGrp="1"/>
          </p:cNvSpPr>
          <p:nvPr>
            <p:ph type="title"/>
          </p:nvPr>
        </p:nvSpPr>
        <p:spPr>
          <a:xfrm>
            <a:off x="0" y="0"/>
            <a:ext cx="12192000" cy="557561"/>
          </a:xfrm>
        </p:spPr>
        <p:txBody>
          <a:bodyPr anchor="b">
            <a:normAutofit/>
          </a:bodyPr>
          <a:lstStyle/>
          <a:p>
            <a:r>
              <a:rPr lang="en-US" sz="3300" b="1" dirty="0">
                <a:latin typeface="Calibir"/>
              </a:rPr>
              <a:t>Activity 6: Add student ID and PASS/FAIL</a:t>
            </a:r>
            <a:endParaRPr lang="en-AU" sz="3300" b="1" dirty="0">
              <a:latin typeface="Calibir"/>
            </a:endParaRPr>
          </a:p>
        </p:txBody>
      </p:sp>
    </p:spTree>
    <p:extLst>
      <p:ext uri="{BB962C8B-B14F-4D97-AF65-F5344CB8AC3E}">
        <p14:creationId xmlns:p14="http://schemas.microsoft.com/office/powerpoint/2010/main" val="7461884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232E-93B2-4DE0-26D4-99AEF1F95CC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D21DCC1-CDDB-5758-7DF2-A1CC75DAC53F}"/>
              </a:ext>
            </a:extLst>
          </p:cNvPr>
          <p:cNvPicPr>
            <a:picLocks noChangeAspect="1"/>
          </p:cNvPicPr>
          <p:nvPr/>
        </p:nvPicPr>
        <p:blipFill>
          <a:blip r:embed="rId2"/>
          <a:srcRect l="8226" t="11188" r="8065" b="18495"/>
          <a:stretch>
            <a:fillRect/>
          </a:stretch>
        </p:blipFill>
        <p:spPr>
          <a:xfrm>
            <a:off x="0" y="767255"/>
            <a:ext cx="12192000" cy="5760844"/>
          </a:xfrm>
          <a:prstGeom prst="rect">
            <a:avLst/>
          </a:prstGeom>
        </p:spPr>
      </p:pic>
      <p:sp>
        <p:nvSpPr>
          <p:cNvPr id="10" name="TextBox 9">
            <a:extLst>
              <a:ext uri="{FF2B5EF4-FFF2-40B4-BE49-F238E27FC236}">
                <a16:creationId xmlns:a16="http://schemas.microsoft.com/office/drawing/2014/main" id="{6BE2C579-DD2B-2976-D047-3DC4085AB51D}"/>
              </a:ext>
            </a:extLst>
          </p:cNvPr>
          <p:cNvSpPr txBox="1"/>
          <p:nvPr/>
        </p:nvSpPr>
        <p:spPr>
          <a:xfrm>
            <a:off x="4321277" y="4529054"/>
            <a:ext cx="7870723" cy="954107"/>
          </a:xfrm>
          <a:prstGeom prst="rect">
            <a:avLst/>
          </a:prstGeom>
          <a:solidFill>
            <a:schemeClr val="tx1"/>
          </a:solidFill>
          <a:ln w="38100">
            <a:solidFill>
              <a:srgbClr val="FF0000"/>
            </a:solidFill>
          </a:ln>
        </p:spPr>
        <p:txBody>
          <a:bodyPr wrap="square">
            <a:spAutoFit/>
          </a:bodyPr>
          <a:lstStyle/>
          <a:p>
            <a:r>
              <a:rPr lang="en-US" sz="2800" b="0" i="0" dirty="0">
                <a:solidFill>
                  <a:srgbClr val="CCCCCC"/>
                </a:solidFill>
                <a:effectLst/>
                <a:latin typeface="Consolas" panose="020B0609020204030204" pitchFamily="49" charset="0"/>
              </a:rPr>
              <a:t>Student 256788 → Subject 229: mark 60, grade P (PASS)</a:t>
            </a:r>
            <a:endParaRPr lang="en-US" sz="2800" dirty="0"/>
          </a:p>
        </p:txBody>
      </p:sp>
      <p:sp>
        <p:nvSpPr>
          <p:cNvPr id="5" name="Title 1">
            <a:extLst>
              <a:ext uri="{FF2B5EF4-FFF2-40B4-BE49-F238E27FC236}">
                <a16:creationId xmlns:a16="http://schemas.microsoft.com/office/drawing/2014/main" id="{9DD15ECA-CD2A-72E1-4F5C-2B298C814604}"/>
              </a:ext>
            </a:extLst>
          </p:cNvPr>
          <p:cNvSpPr>
            <a:spLocks noGrp="1"/>
          </p:cNvSpPr>
          <p:nvPr>
            <p:ph type="title"/>
          </p:nvPr>
        </p:nvSpPr>
        <p:spPr>
          <a:xfrm>
            <a:off x="0" y="0"/>
            <a:ext cx="12192000" cy="557561"/>
          </a:xfrm>
        </p:spPr>
        <p:txBody>
          <a:bodyPr anchor="b">
            <a:normAutofit/>
          </a:bodyPr>
          <a:lstStyle/>
          <a:p>
            <a:r>
              <a:rPr lang="en-US" sz="3300" b="1" dirty="0">
                <a:latin typeface="Calibir"/>
              </a:rPr>
              <a:t>Activity 6: Add student ID and PASS/FAIL</a:t>
            </a:r>
            <a:endParaRPr lang="en-AU" sz="3300" b="1" dirty="0">
              <a:latin typeface="Calibir"/>
            </a:endParaRPr>
          </a:p>
        </p:txBody>
      </p:sp>
    </p:spTree>
    <p:extLst>
      <p:ext uri="{BB962C8B-B14F-4D97-AF65-F5344CB8AC3E}">
        <p14:creationId xmlns:p14="http://schemas.microsoft.com/office/powerpoint/2010/main" val="22879547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BAF17-4BE6-44DA-7E53-495A484DB08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FE8980F-11DF-0BC6-1538-CE1A5603DCBC}"/>
              </a:ext>
            </a:extLst>
          </p:cNvPr>
          <p:cNvSpPr>
            <a:spLocks noGrp="1"/>
          </p:cNvSpPr>
          <p:nvPr>
            <p:ph type="title"/>
          </p:nvPr>
        </p:nvSpPr>
        <p:spPr>
          <a:xfrm>
            <a:off x="0" y="0"/>
            <a:ext cx="12192000" cy="557561"/>
          </a:xfrm>
        </p:spPr>
        <p:txBody>
          <a:bodyPr anchor="b">
            <a:normAutofit/>
          </a:bodyPr>
          <a:lstStyle/>
          <a:p>
            <a:r>
              <a:rPr lang="en-US" sz="3300" b="1" dirty="0">
                <a:latin typeface="Calibir"/>
              </a:rPr>
              <a:t>Activity 7: Grade Classification Based on University Rules</a:t>
            </a:r>
            <a:endParaRPr lang="en-AU" sz="3300" b="1" dirty="0">
              <a:latin typeface="Calibir"/>
            </a:endParaRPr>
          </a:p>
        </p:txBody>
      </p:sp>
      <p:sp>
        <p:nvSpPr>
          <p:cNvPr id="9" name="TextBox 8">
            <a:extLst>
              <a:ext uri="{FF2B5EF4-FFF2-40B4-BE49-F238E27FC236}">
                <a16:creationId xmlns:a16="http://schemas.microsoft.com/office/drawing/2014/main" id="{C54E2F65-1097-5C3F-0D8F-37768829834D}"/>
              </a:ext>
            </a:extLst>
          </p:cNvPr>
          <p:cNvSpPr txBox="1"/>
          <p:nvPr/>
        </p:nvSpPr>
        <p:spPr>
          <a:xfrm>
            <a:off x="0" y="701085"/>
            <a:ext cx="12021014" cy="5196166"/>
          </a:xfrm>
          <a:prstGeom prst="rect">
            <a:avLst/>
          </a:prstGeom>
          <a:noFill/>
        </p:spPr>
        <p:txBody>
          <a:bodyPr wrap="square">
            <a:spAutoFit/>
          </a:bodyPr>
          <a:lstStyle/>
          <a:p>
            <a:pPr marL="457200" indent="-457200">
              <a:lnSpc>
                <a:spcPct val="150000"/>
              </a:lnSpc>
              <a:buFont typeface="+mj-lt"/>
              <a:buAutoNum type="arabicPeriod"/>
            </a:pPr>
            <a:r>
              <a:rPr lang="en-US" sz="2800" dirty="0">
                <a:latin typeface="Calibir"/>
              </a:rPr>
              <a:t>Write a function grade(mark: int) -&gt; str that returns the grade according to UTS rules.</a:t>
            </a:r>
          </a:p>
          <a:p>
            <a:pPr marL="457200" indent="-457200">
              <a:lnSpc>
                <a:spcPct val="150000"/>
              </a:lnSpc>
              <a:buFont typeface="+mj-lt"/>
              <a:buAutoNum type="arabicPeriod"/>
            </a:pPr>
            <a:r>
              <a:rPr lang="en-US" sz="2800" dirty="0">
                <a:latin typeface="Calibir"/>
              </a:rPr>
              <a:t>Use if–else conditions (or chained expressions).</a:t>
            </a:r>
          </a:p>
          <a:p>
            <a:pPr marL="457200" indent="-457200">
              <a:lnSpc>
                <a:spcPct val="150000"/>
              </a:lnSpc>
              <a:buFont typeface="+mj-lt"/>
              <a:buAutoNum type="arabicPeriod"/>
            </a:pPr>
            <a:r>
              <a:rPr lang="en-US" sz="2800" dirty="0">
                <a:latin typeface="Calibir"/>
              </a:rPr>
              <a:t>Test your function with example marks [42, 58, 70, 82, 95].</a:t>
            </a:r>
          </a:p>
          <a:p>
            <a:pPr marL="457200" indent="-457200">
              <a:lnSpc>
                <a:spcPct val="150000"/>
              </a:lnSpc>
              <a:buFont typeface="+mj-lt"/>
              <a:buAutoNum type="arabicPeriod"/>
            </a:pPr>
            <a:r>
              <a:rPr lang="en-US" sz="2800" dirty="0">
                <a:latin typeface="Calibir"/>
              </a:rPr>
              <a:t>Print each mark alongside its grade.</a:t>
            </a:r>
          </a:p>
          <a:p>
            <a:pPr>
              <a:lnSpc>
                <a:spcPct val="150000"/>
              </a:lnSpc>
              <a:buNone/>
            </a:pPr>
            <a:r>
              <a:rPr lang="en-US" sz="2800" dirty="0">
                <a:latin typeface="Calibir"/>
              </a:rPr>
              <a:t>You’ve basically turned the earlier </a:t>
            </a:r>
            <a:r>
              <a:rPr lang="en-US" sz="2800" dirty="0" err="1">
                <a:latin typeface="Calibir"/>
              </a:rPr>
              <a:t>randomised</a:t>
            </a:r>
            <a:r>
              <a:rPr lang="en-US" sz="2800" dirty="0">
                <a:latin typeface="Calibir"/>
              </a:rPr>
              <a:t> activity into a deterministic grading demo — perfect for classroom explanation before students move to random generation.</a:t>
            </a:r>
          </a:p>
        </p:txBody>
      </p:sp>
      <p:pic>
        <p:nvPicPr>
          <p:cNvPr id="10" name="Timer">
            <a:hlinkClick r:id="" action="ppaction://media"/>
            <a:extLst>
              <a:ext uri="{FF2B5EF4-FFF2-40B4-BE49-F238E27FC236}">
                <a16:creationId xmlns:a16="http://schemas.microsoft.com/office/drawing/2014/main" id="{7D7E2DE4-45F3-2355-6727-029F2213575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502459"/>
            <a:ext cx="2300750" cy="1076632"/>
          </a:xfrm>
          <a:prstGeom prst="rect">
            <a:avLst/>
          </a:prstGeom>
          <a:ln w="38100">
            <a:solidFill>
              <a:srgbClr val="FF0000"/>
            </a:solidFill>
          </a:ln>
        </p:spPr>
      </p:pic>
    </p:spTree>
    <p:extLst>
      <p:ext uri="{BB962C8B-B14F-4D97-AF65-F5344CB8AC3E}">
        <p14:creationId xmlns:p14="http://schemas.microsoft.com/office/powerpoint/2010/main" val="2037480726"/>
      </p:ext>
    </p:extLst>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41392-8C03-A9F6-0537-562820D5D9C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C0A072A-9998-8E78-0196-C0A535A0B3B3}"/>
              </a:ext>
            </a:extLst>
          </p:cNvPr>
          <p:cNvSpPr>
            <a:spLocks noGrp="1"/>
          </p:cNvSpPr>
          <p:nvPr>
            <p:ph type="title"/>
          </p:nvPr>
        </p:nvSpPr>
        <p:spPr>
          <a:xfrm>
            <a:off x="0" y="0"/>
            <a:ext cx="12192000" cy="557561"/>
          </a:xfrm>
        </p:spPr>
        <p:txBody>
          <a:bodyPr anchor="b">
            <a:normAutofit/>
          </a:bodyPr>
          <a:lstStyle/>
          <a:p>
            <a:r>
              <a:rPr lang="en-US" sz="3300" b="1" dirty="0">
                <a:latin typeface="Calibir"/>
              </a:rPr>
              <a:t>Activity 7: Grade Classification Based on University Rules</a:t>
            </a:r>
            <a:endParaRPr lang="en-AU" sz="3300" b="1" dirty="0">
              <a:latin typeface="Calibir"/>
            </a:endParaRPr>
          </a:p>
        </p:txBody>
      </p:sp>
      <p:pic>
        <p:nvPicPr>
          <p:cNvPr id="10" name="Picture 9">
            <a:extLst>
              <a:ext uri="{FF2B5EF4-FFF2-40B4-BE49-F238E27FC236}">
                <a16:creationId xmlns:a16="http://schemas.microsoft.com/office/drawing/2014/main" id="{71F1BD05-E900-DB68-2FBA-CF950FD9959C}"/>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5FF0D093-1C6E-7166-046E-9DCB66E8C2CD}"/>
              </a:ext>
            </a:extLst>
          </p:cNvPr>
          <p:cNvSpPr>
            <a:spLocks noChangeArrowheads="1"/>
          </p:cNvSpPr>
          <p:nvPr/>
        </p:nvSpPr>
        <p:spPr bwMode="auto">
          <a:xfrm>
            <a:off x="7393259" y="1218279"/>
            <a:ext cx="4616604"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mark: int -&gt; str are type hints: input is an integer, output is a string.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The big return uses a chain of checks from lowest to highest.</a:t>
            </a:r>
          </a:p>
        </p:txBody>
      </p:sp>
    </p:spTree>
    <p:extLst>
      <p:ext uri="{BB962C8B-B14F-4D97-AF65-F5344CB8AC3E}">
        <p14:creationId xmlns:p14="http://schemas.microsoft.com/office/powerpoint/2010/main" val="17831633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191E-03CC-1104-849C-B8859AEA9F4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F13F243-0A12-F379-F82A-C6A45180FBD1}"/>
              </a:ext>
            </a:extLst>
          </p:cNvPr>
          <p:cNvSpPr>
            <a:spLocks noGrp="1"/>
          </p:cNvSpPr>
          <p:nvPr>
            <p:ph type="title"/>
          </p:nvPr>
        </p:nvSpPr>
        <p:spPr>
          <a:xfrm>
            <a:off x="0" y="0"/>
            <a:ext cx="7256206" cy="973394"/>
          </a:xfrm>
        </p:spPr>
        <p:txBody>
          <a:bodyPr anchor="b">
            <a:normAutofit fontScale="90000"/>
          </a:bodyPr>
          <a:lstStyle/>
          <a:p>
            <a:r>
              <a:rPr lang="en-US" sz="3300" b="1" dirty="0">
                <a:latin typeface="Calibir"/>
              </a:rPr>
              <a:t>Activity 7: Grade Classification Based on University Rules</a:t>
            </a:r>
            <a:endParaRPr lang="en-AU" sz="3300" b="1" dirty="0">
              <a:latin typeface="Calibir"/>
            </a:endParaRPr>
          </a:p>
        </p:txBody>
      </p:sp>
      <p:pic>
        <p:nvPicPr>
          <p:cNvPr id="10" name="Picture 9">
            <a:extLst>
              <a:ext uri="{FF2B5EF4-FFF2-40B4-BE49-F238E27FC236}">
                <a16:creationId xmlns:a16="http://schemas.microsoft.com/office/drawing/2014/main" id="{65E500FA-7DEC-B4EF-798F-1CC310B0A616}"/>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A26851B0-BFEF-3CD6-402F-01B008882B95}"/>
              </a:ext>
            </a:extLst>
          </p:cNvPr>
          <p:cNvSpPr>
            <a:spLocks noChangeArrowheads="1"/>
          </p:cNvSpPr>
          <p:nvPr/>
        </p:nvSpPr>
        <p:spPr bwMode="auto">
          <a:xfrm>
            <a:off x="7393259" y="173789"/>
            <a:ext cx="4798741" cy="638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Python evaluates them in order:</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If mark &lt; 50, stop and return 'Z'.</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65, return 'P'.</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75, return 'C'.</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85, return 'D'.</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(so mark ≥ 85), return 'HD'.</a:t>
            </a:r>
          </a:p>
        </p:txBody>
      </p:sp>
    </p:spTree>
    <p:extLst>
      <p:ext uri="{BB962C8B-B14F-4D97-AF65-F5344CB8AC3E}">
        <p14:creationId xmlns:p14="http://schemas.microsoft.com/office/powerpoint/2010/main" val="5822395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07F30-6C04-A002-4136-BC0BE5146C9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56E7ADF-DC50-05BD-FC44-2969ACF16D61}"/>
              </a:ext>
            </a:extLst>
          </p:cNvPr>
          <p:cNvSpPr>
            <a:spLocks noGrp="1"/>
          </p:cNvSpPr>
          <p:nvPr>
            <p:ph type="title"/>
          </p:nvPr>
        </p:nvSpPr>
        <p:spPr>
          <a:xfrm>
            <a:off x="0" y="0"/>
            <a:ext cx="7256206" cy="973394"/>
          </a:xfrm>
        </p:spPr>
        <p:txBody>
          <a:bodyPr anchor="b">
            <a:normAutofit fontScale="90000"/>
          </a:bodyPr>
          <a:lstStyle/>
          <a:p>
            <a:r>
              <a:rPr lang="en-US" sz="3300" b="1" dirty="0">
                <a:latin typeface="Calibir"/>
              </a:rPr>
              <a:t>Activity 7: Grade Classification Based on University Rules</a:t>
            </a:r>
            <a:endParaRPr lang="en-AU" sz="3300" b="1" dirty="0">
              <a:latin typeface="Calibir"/>
            </a:endParaRPr>
          </a:p>
        </p:txBody>
      </p:sp>
      <p:pic>
        <p:nvPicPr>
          <p:cNvPr id="10" name="Picture 9">
            <a:extLst>
              <a:ext uri="{FF2B5EF4-FFF2-40B4-BE49-F238E27FC236}">
                <a16:creationId xmlns:a16="http://schemas.microsoft.com/office/drawing/2014/main" id="{7B2B0F85-1E27-5D87-6CDD-6E8D72FC8574}"/>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C8D5C90E-1F59-F0F0-1BB0-F7B4CB376ABB}"/>
              </a:ext>
            </a:extLst>
          </p:cNvPr>
          <p:cNvSpPr>
            <a:spLocks noChangeArrowheads="1"/>
          </p:cNvSpPr>
          <p:nvPr/>
        </p:nvSpPr>
        <p:spPr bwMode="auto">
          <a:xfrm>
            <a:off x="7393259" y="1735500"/>
            <a:ext cx="4798741"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Boundaries (exact edges)</a:t>
            </a:r>
          </a:p>
          <a:p>
            <a:pPr marL="914400" lvl="1" indent="-457200">
              <a:lnSpc>
                <a:spcPct val="150000"/>
              </a:lnSpc>
              <a:buFont typeface="Arial" panose="020B0604020202020204" pitchFamily="34" charset="0"/>
              <a:buChar char="•"/>
            </a:pPr>
            <a:r>
              <a:rPr lang="en-US" sz="2800" dirty="0">
                <a:latin typeface="Calibir"/>
              </a:rPr>
              <a:t>50 → P (not Z)</a:t>
            </a:r>
          </a:p>
          <a:p>
            <a:pPr marL="914400" lvl="1" indent="-457200">
              <a:lnSpc>
                <a:spcPct val="150000"/>
              </a:lnSpc>
              <a:buFont typeface="Arial" panose="020B0604020202020204" pitchFamily="34" charset="0"/>
              <a:buChar char="•"/>
            </a:pPr>
            <a:r>
              <a:rPr lang="en-US" sz="2800" dirty="0">
                <a:latin typeface="Calibir"/>
              </a:rPr>
              <a:t>65 → C</a:t>
            </a:r>
          </a:p>
          <a:p>
            <a:pPr marL="914400" lvl="1" indent="-457200">
              <a:lnSpc>
                <a:spcPct val="150000"/>
              </a:lnSpc>
              <a:buFont typeface="Arial" panose="020B0604020202020204" pitchFamily="34" charset="0"/>
              <a:buChar char="•"/>
            </a:pPr>
            <a:r>
              <a:rPr lang="en-US" sz="2800" dirty="0">
                <a:latin typeface="Calibir"/>
              </a:rPr>
              <a:t>75 → D</a:t>
            </a:r>
          </a:p>
          <a:p>
            <a:pPr marL="914400" lvl="1" indent="-457200">
              <a:lnSpc>
                <a:spcPct val="150000"/>
              </a:lnSpc>
              <a:buFont typeface="Arial" panose="020B0604020202020204" pitchFamily="34" charset="0"/>
              <a:buChar char="•"/>
            </a:pPr>
            <a:r>
              <a:rPr lang="en-US" sz="2800" dirty="0">
                <a:latin typeface="Calibir"/>
              </a:rPr>
              <a:t>85 → HD</a:t>
            </a:r>
          </a:p>
        </p:txBody>
      </p:sp>
    </p:spTree>
    <p:extLst>
      <p:ext uri="{BB962C8B-B14F-4D97-AF65-F5344CB8AC3E}">
        <p14:creationId xmlns:p14="http://schemas.microsoft.com/office/powerpoint/2010/main" val="33347480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5AAD-3FC8-6C3C-2478-67F26A9EFDC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A47F253-B172-5C88-F41B-200F7DB62054}"/>
              </a:ext>
            </a:extLst>
          </p:cNvPr>
          <p:cNvSpPr>
            <a:spLocks noGrp="1"/>
          </p:cNvSpPr>
          <p:nvPr>
            <p:ph type="title"/>
          </p:nvPr>
        </p:nvSpPr>
        <p:spPr>
          <a:xfrm>
            <a:off x="0" y="0"/>
            <a:ext cx="12192000" cy="557561"/>
          </a:xfrm>
        </p:spPr>
        <p:txBody>
          <a:bodyPr anchor="b">
            <a:normAutofit/>
          </a:bodyPr>
          <a:lstStyle/>
          <a:p>
            <a:r>
              <a:rPr lang="en-US" sz="3300" b="1" dirty="0">
                <a:latin typeface="Calibir"/>
              </a:rPr>
              <a:t>Activity 7: Grade Classification Based on University Rules</a:t>
            </a:r>
            <a:endParaRPr lang="en-AU" sz="3300" b="1" dirty="0">
              <a:latin typeface="Calibir"/>
            </a:endParaRPr>
          </a:p>
        </p:txBody>
      </p:sp>
      <p:pic>
        <p:nvPicPr>
          <p:cNvPr id="10" name="Picture 9">
            <a:extLst>
              <a:ext uri="{FF2B5EF4-FFF2-40B4-BE49-F238E27FC236}">
                <a16:creationId xmlns:a16="http://schemas.microsoft.com/office/drawing/2014/main" id="{508A8AA2-268A-8943-1EBF-8B298079C096}"/>
              </a:ext>
            </a:extLst>
          </p:cNvPr>
          <p:cNvPicPr>
            <a:picLocks noChangeAspect="1"/>
          </p:cNvPicPr>
          <p:nvPr/>
        </p:nvPicPr>
        <p:blipFill>
          <a:blip r:embed="rId2"/>
          <a:srcRect l="6494" t="23171" r="66171" b="30388"/>
          <a:stretch>
            <a:fillRect/>
          </a:stretch>
        </p:blipFill>
        <p:spPr>
          <a:xfrm>
            <a:off x="0" y="858643"/>
            <a:ext cx="12192000" cy="5825568"/>
          </a:xfrm>
          <a:prstGeom prst="rect">
            <a:avLst/>
          </a:prstGeom>
        </p:spPr>
      </p:pic>
      <p:sp>
        <p:nvSpPr>
          <p:cNvPr id="3" name="TextBox 2">
            <a:extLst>
              <a:ext uri="{FF2B5EF4-FFF2-40B4-BE49-F238E27FC236}">
                <a16:creationId xmlns:a16="http://schemas.microsoft.com/office/drawing/2014/main" id="{D68416E2-49B4-7266-6F67-49449DB2B90D}"/>
              </a:ext>
            </a:extLst>
          </p:cNvPr>
          <p:cNvSpPr txBox="1"/>
          <p:nvPr/>
        </p:nvSpPr>
        <p:spPr>
          <a:xfrm>
            <a:off x="6012426" y="5521834"/>
            <a:ext cx="6179574" cy="1318181"/>
          </a:xfrm>
          <a:prstGeom prst="rect">
            <a:avLst/>
          </a:prstGeom>
          <a:solidFill>
            <a:schemeClr val="bg1"/>
          </a:solidFill>
          <a:ln w="38100">
            <a:solidFill>
              <a:srgbClr val="FF0000"/>
            </a:solidFill>
          </a:ln>
        </p:spPr>
        <p:txBody>
          <a:bodyPr wrap="square">
            <a:spAutoFit/>
          </a:bodyPr>
          <a:lstStyle/>
          <a:p>
            <a:pPr>
              <a:lnSpc>
                <a:spcPct val="150000"/>
              </a:lnSpc>
            </a:pPr>
            <a:r>
              <a:rPr lang="en-US" sz="2800" dirty="0">
                <a:latin typeface="Calibir"/>
              </a:rPr>
              <a:t>That’s all—it’s just a top-to-bottom check that stops at the first band that fits.</a:t>
            </a:r>
          </a:p>
        </p:txBody>
      </p:sp>
    </p:spTree>
    <p:extLst>
      <p:ext uri="{BB962C8B-B14F-4D97-AF65-F5344CB8AC3E}">
        <p14:creationId xmlns:p14="http://schemas.microsoft.com/office/powerpoint/2010/main" val="32415138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6A9D-9039-9642-5CCF-67EA32DF83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F579FD-B7B2-6D6E-2A39-1FB7E494FC55}"/>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C05DAAD9-B5BE-B2CA-19CB-E4F747A7C518}"/>
              </a:ext>
            </a:extLst>
          </p:cNvPr>
          <p:cNvSpPr txBox="1"/>
          <p:nvPr/>
        </p:nvSpPr>
        <p:spPr>
          <a:xfrm>
            <a:off x="0" y="1114097"/>
            <a:ext cx="11939752" cy="4549835"/>
          </a:xfrm>
          <a:prstGeom prst="rect">
            <a:avLst/>
          </a:prstGeom>
          <a:noFill/>
        </p:spPr>
        <p:txBody>
          <a:bodyPr wrap="square">
            <a:spAutoFit/>
          </a:bodyPr>
          <a:lstStyle/>
          <a:p>
            <a:pPr>
              <a:lnSpc>
                <a:spcPct val="150000"/>
              </a:lnSpc>
              <a:buNone/>
            </a:pPr>
            <a:r>
              <a:rPr lang="en-US" sz="2800" b="1" dirty="0">
                <a:latin typeface="Calibir"/>
              </a:rPr>
              <a:t>Mini case</a:t>
            </a:r>
          </a:p>
          <a:p>
            <a:pPr>
              <a:lnSpc>
                <a:spcPct val="150000"/>
              </a:lnSpc>
              <a:buNone/>
            </a:pPr>
            <a:r>
              <a:rPr lang="en-US" sz="2800" dirty="0">
                <a:latin typeface="Calibir"/>
              </a:rPr>
              <a:t>Users create Events (title, date). Users can book Tickets. One user can book many tickets; an event has many tickets → many-to-many via Booking association class (</a:t>
            </a:r>
            <a:r>
              <a:rPr lang="en-US" sz="2800" dirty="0" err="1">
                <a:latin typeface="Calibir"/>
              </a:rPr>
              <a:t>bookingId</a:t>
            </a:r>
            <a:r>
              <a:rPr lang="en-US" sz="2800" dirty="0">
                <a:latin typeface="Calibir"/>
              </a:rPr>
              <a:t>, qty, timestamp). An event may have a parent event (series) → reflexive association. Tickets can be PENDING/CONFIRMED/CANCELLED (simple state).</a:t>
            </a:r>
          </a:p>
          <a:p>
            <a:pPr>
              <a:lnSpc>
                <a:spcPct val="150000"/>
              </a:lnSpc>
              <a:buNone/>
            </a:pPr>
            <a:r>
              <a:rPr lang="en-US" sz="2800" dirty="0">
                <a:latin typeface="Calibir"/>
              </a:rPr>
              <a:t>Think of Candidate Classes, Key Relationships, Sample Backlogs IDs, </a:t>
            </a:r>
          </a:p>
        </p:txBody>
      </p:sp>
      <p:pic>
        <p:nvPicPr>
          <p:cNvPr id="11" name="Timer">
            <a:hlinkClick r:id="" action="ppaction://media"/>
            <a:extLst>
              <a:ext uri="{FF2B5EF4-FFF2-40B4-BE49-F238E27FC236}">
                <a16:creationId xmlns:a16="http://schemas.microsoft.com/office/drawing/2014/main" id="{EF062D43-C47D-2B2E-C45C-C44A1087D16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63932"/>
            <a:ext cx="2300750" cy="1076632"/>
          </a:xfrm>
          <a:prstGeom prst="rect">
            <a:avLst/>
          </a:prstGeom>
          <a:ln w="38100">
            <a:solidFill>
              <a:srgbClr val="FF0000"/>
            </a:solidFill>
          </a:ln>
        </p:spPr>
      </p:pic>
    </p:spTree>
    <p:extLst>
      <p:ext uri="{BB962C8B-B14F-4D97-AF65-F5344CB8AC3E}">
        <p14:creationId xmlns:p14="http://schemas.microsoft.com/office/powerpoint/2010/main" val="1393456581"/>
      </p:ext>
    </p:extLst>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6A9D-9039-9642-5CCF-67EA32DF83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F579FD-B7B2-6D6E-2A39-1FB7E494FC55}"/>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C05DAAD9-B5BE-B2CA-19CB-E4F747A7C518}"/>
              </a:ext>
            </a:extLst>
          </p:cNvPr>
          <p:cNvSpPr txBox="1"/>
          <p:nvPr/>
        </p:nvSpPr>
        <p:spPr>
          <a:xfrm>
            <a:off x="0" y="1114097"/>
            <a:ext cx="11939752" cy="3903504"/>
          </a:xfrm>
          <a:prstGeom prst="rect">
            <a:avLst/>
          </a:prstGeom>
          <a:noFill/>
        </p:spPr>
        <p:txBody>
          <a:bodyPr wrap="square">
            <a:spAutoFit/>
          </a:bodyPr>
          <a:lstStyle/>
          <a:p>
            <a:pPr>
              <a:lnSpc>
                <a:spcPct val="150000"/>
              </a:lnSpc>
            </a:pPr>
            <a:r>
              <a:rPr lang="en-US" sz="2800" b="1" dirty="0">
                <a:latin typeface="Calibir"/>
              </a:rPr>
              <a:t>Candidate classes</a:t>
            </a:r>
          </a:p>
          <a:p>
            <a:pPr marL="914400" lvl="1" indent="-457200">
              <a:lnSpc>
                <a:spcPct val="150000"/>
              </a:lnSpc>
              <a:buFont typeface="Arial" panose="020B0604020202020204" pitchFamily="34" charset="0"/>
              <a:buChar char="•"/>
            </a:pPr>
            <a:r>
              <a:rPr lang="en-US" sz="2800" dirty="0">
                <a:latin typeface="Calibir"/>
              </a:rPr>
              <a:t>User (id, name, email)</a:t>
            </a:r>
          </a:p>
          <a:p>
            <a:pPr marL="914400" lvl="1" indent="-457200">
              <a:lnSpc>
                <a:spcPct val="150000"/>
              </a:lnSpc>
              <a:buFont typeface="Arial" panose="020B0604020202020204" pitchFamily="34" charset="0"/>
              <a:buChar char="•"/>
            </a:pPr>
            <a:r>
              <a:rPr lang="en-US" sz="2800" dirty="0">
                <a:latin typeface="Calibir"/>
              </a:rPr>
              <a:t>Event (id, title, date, </a:t>
            </a:r>
            <a:r>
              <a:rPr lang="en-US" sz="2800" dirty="0" err="1">
                <a:latin typeface="Calibir"/>
              </a:rPr>
              <a:t>parentEvent</a:t>
            </a:r>
            <a:r>
              <a:rPr lang="en-US" sz="2800" dirty="0">
                <a:latin typeface="Calibir"/>
              </a:rPr>
              <a:t>?) </a:t>
            </a:r>
            <a:r>
              <a:rPr lang="en-US" sz="2800" i="1" dirty="0">
                <a:latin typeface="Calibir"/>
              </a:rPr>
              <a:t>(reflexive)</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Ticket (id, price, state)</a:t>
            </a:r>
          </a:p>
          <a:p>
            <a:pPr marL="914400" lvl="1" indent="-457200">
              <a:lnSpc>
                <a:spcPct val="150000"/>
              </a:lnSpc>
              <a:buFont typeface="Arial" panose="020B0604020202020204" pitchFamily="34" charset="0"/>
              <a:buChar char="•"/>
            </a:pPr>
            <a:r>
              <a:rPr lang="en-US" sz="2800" dirty="0">
                <a:latin typeface="Calibir"/>
              </a:rPr>
              <a:t>Booking </a:t>
            </a:r>
            <a:r>
              <a:rPr lang="en-US" sz="2800" i="1" dirty="0">
                <a:latin typeface="Calibir"/>
              </a:rPr>
              <a:t>(association class between User and Event)</a:t>
            </a:r>
            <a:r>
              <a:rPr lang="en-US" sz="2800" dirty="0">
                <a:latin typeface="Calibir"/>
              </a:rPr>
              <a:t>: qty, timestamp</a:t>
            </a:r>
          </a:p>
          <a:p>
            <a:pPr marL="914400" lvl="1" indent="-457200">
              <a:lnSpc>
                <a:spcPct val="150000"/>
              </a:lnSpc>
              <a:buFont typeface="Arial" panose="020B0604020202020204" pitchFamily="34" charset="0"/>
              <a:buChar char="•"/>
            </a:pPr>
            <a:r>
              <a:rPr lang="en-US" sz="2800" dirty="0">
                <a:latin typeface="Calibir"/>
              </a:rPr>
              <a:t>Store for file I/O</a:t>
            </a:r>
          </a:p>
        </p:txBody>
      </p:sp>
    </p:spTree>
    <p:extLst>
      <p:ext uri="{BB962C8B-B14F-4D97-AF65-F5344CB8AC3E}">
        <p14:creationId xmlns:p14="http://schemas.microsoft.com/office/powerpoint/2010/main" val="31269687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51496-E844-AA00-56FD-97FBF3CF48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A7EDC9-EAF9-4E85-715F-4E18B0042E07}"/>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931B7AAC-9D59-23E7-4CC2-4DC6A146186F}"/>
              </a:ext>
            </a:extLst>
          </p:cNvPr>
          <p:cNvSpPr txBox="1"/>
          <p:nvPr/>
        </p:nvSpPr>
        <p:spPr>
          <a:xfrm>
            <a:off x="0" y="1114097"/>
            <a:ext cx="11939752" cy="2610843"/>
          </a:xfrm>
          <a:prstGeom prst="rect">
            <a:avLst/>
          </a:prstGeom>
          <a:noFill/>
        </p:spPr>
        <p:txBody>
          <a:bodyPr wrap="square">
            <a:spAutoFit/>
          </a:bodyPr>
          <a:lstStyle/>
          <a:p>
            <a:pPr>
              <a:lnSpc>
                <a:spcPct val="150000"/>
              </a:lnSpc>
            </a:pPr>
            <a:r>
              <a:rPr lang="en-US" sz="2800" b="1" dirty="0">
                <a:latin typeface="Calibir"/>
              </a:rPr>
              <a:t>Key relationships</a:t>
            </a:r>
          </a:p>
          <a:p>
            <a:pPr marL="914400" lvl="1" indent="-457200">
              <a:lnSpc>
                <a:spcPct val="150000"/>
              </a:lnSpc>
              <a:buFont typeface="Arial" panose="020B0604020202020204" pitchFamily="34" charset="0"/>
              <a:buChar char="•"/>
            </a:pPr>
            <a:r>
              <a:rPr lang="en-US" sz="2800" dirty="0">
                <a:latin typeface="Calibir"/>
              </a:rPr>
              <a:t>User M ── M Event through Booking (association class)</a:t>
            </a:r>
          </a:p>
          <a:p>
            <a:pPr marL="914400" lvl="1" indent="-457200">
              <a:lnSpc>
                <a:spcPct val="150000"/>
              </a:lnSpc>
              <a:buFont typeface="Arial" panose="020B0604020202020204" pitchFamily="34" charset="0"/>
              <a:buChar char="•"/>
            </a:pPr>
            <a:r>
              <a:rPr lang="en-US" sz="2800" dirty="0">
                <a:latin typeface="Calibir"/>
              </a:rPr>
              <a:t>Event 0, 1 ── 0, M Event </a:t>
            </a:r>
            <a:r>
              <a:rPr lang="en-US" sz="2800" i="1" dirty="0">
                <a:latin typeface="Calibir"/>
              </a:rPr>
              <a:t>(reflexive “is part of series”)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Booking 1 ── M Ticket </a:t>
            </a:r>
            <a:r>
              <a:rPr lang="en-US" sz="2800" i="1" dirty="0">
                <a:latin typeface="Calibir"/>
              </a:rPr>
              <a:t>(composition: tickets belong to that booking)</a:t>
            </a:r>
            <a:endParaRPr lang="en-US" sz="2800" dirty="0">
              <a:latin typeface="Calibir"/>
            </a:endParaRPr>
          </a:p>
        </p:txBody>
      </p:sp>
    </p:spTree>
    <p:extLst>
      <p:ext uri="{BB962C8B-B14F-4D97-AF65-F5344CB8AC3E}">
        <p14:creationId xmlns:p14="http://schemas.microsoft.com/office/powerpoint/2010/main" val="27212171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C179-14D2-DADB-A460-B6A80F0985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0A92F7-7CA9-F20D-D73D-C7BE8936E194}"/>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7145F417-5C3A-9844-D350-DEBB457E3305}"/>
              </a:ext>
            </a:extLst>
          </p:cNvPr>
          <p:cNvSpPr txBox="1"/>
          <p:nvPr/>
        </p:nvSpPr>
        <p:spPr>
          <a:xfrm>
            <a:off x="0" y="1114097"/>
            <a:ext cx="11939752" cy="3903504"/>
          </a:xfrm>
          <a:prstGeom prst="rect">
            <a:avLst/>
          </a:prstGeom>
          <a:noFill/>
        </p:spPr>
        <p:txBody>
          <a:bodyPr wrap="square">
            <a:spAutoFit/>
          </a:bodyPr>
          <a:lstStyle/>
          <a:p>
            <a:pPr>
              <a:lnSpc>
                <a:spcPct val="150000"/>
              </a:lnSpc>
            </a:pPr>
            <a:r>
              <a:rPr lang="en-US" sz="2800" b="1" dirty="0">
                <a:latin typeface="Calibir"/>
              </a:rPr>
              <a:t>Sample backlog IDs</a:t>
            </a:r>
          </a:p>
          <a:p>
            <a:pPr marL="914400" lvl="1" indent="-457200">
              <a:lnSpc>
                <a:spcPct val="150000"/>
              </a:lnSpc>
              <a:buFont typeface="Arial" panose="020B0604020202020204" pitchFamily="34" charset="0"/>
              <a:buChar char="•"/>
            </a:pPr>
            <a:r>
              <a:rPr lang="en-US" sz="2800" dirty="0">
                <a:latin typeface="Calibir"/>
              </a:rPr>
              <a:t>100 Register/login user</a:t>
            </a:r>
          </a:p>
          <a:p>
            <a:pPr marL="914400" lvl="1" indent="-457200">
              <a:lnSpc>
                <a:spcPct val="150000"/>
              </a:lnSpc>
              <a:buFont typeface="Arial" panose="020B0604020202020204" pitchFamily="34" charset="0"/>
              <a:buChar char="•"/>
            </a:pPr>
            <a:r>
              <a:rPr lang="en-US" sz="2800" dirty="0">
                <a:latin typeface="Calibir"/>
              </a:rPr>
              <a:t>200 Create event</a:t>
            </a:r>
          </a:p>
          <a:p>
            <a:pPr marL="914400" lvl="1" indent="-457200">
              <a:lnSpc>
                <a:spcPct val="150000"/>
              </a:lnSpc>
              <a:buFont typeface="Arial" panose="020B0604020202020204" pitchFamily="34" charset="0"/>
              <a:buChar char="•"/>
            </a:pPr>
            <a:r>
              <a:rPr lang="en-US" sz="2800" dirty="0">
                <a:latin typeface="Calibir"/>
              </a:rPr>
              <a:t>300 Book tickets / include check availability / include save</a:t>
            </a:r>
          </a:p>
          <a:p>
            <a:pPr marL="914400" lvl="1" indent="-457200">
              <a:lnSpc>
                <a:spcPct val="150000"/>
              </a:lnSpc>
              <a:buFont typeface="Arial" panose="020B0604020202020204" pitchFamily="34" charset="0"/>
              <a:buChar char="•"/>
            </a:pPr>
            <a:r>
              <a:rPr lang="en-US" sz="2800" dirty="0">
                <a:latin typeface="Calibir"/>
              </a:rPr>
              <a:t>310 Cancel booking / extend show refund notice</a:t>
            </a:r>
          </a:p>
          <a:p>
            <a:pPr marL="914400" lvl="1" indent="-457200">
              <a:lnSpc>
                <a:spcPct val="150000"/>
              </a:lnSpc>
              <a:buFont typeface="Arial" panose="020B0604020202020204" pitchFamily="34" charset="0"/>
              <a:buChar char="•"/>
            </a:pPr>
            <a:r>
              <a:rPr lang="en-US" sz="2800" dirty="0">
                <a:latin typeface="Calibir"/>
              </a:rPr>
              <a:t>400 List events and my bookings</a:t>
            </a:r>
          </a:p>
        </p:txBody>
      </p:sp>
    </p:spTree>
    <p:extLst>
      <p:ext uri="{BB962C8B-B14F-4D97-AF65-F5344CB8AC3E}">
        <p14:creationId xmlns:p14="http://schemas.microsoft.com/office/powerpoint/2010/main" val="39818987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D944C-D1D0-75E0-ABB0-35E64CC755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863223-E91C-C1AB-3067-BF2F6A12E9FF}"/>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7434FC6D-DD37-ED20-F1F2-4A1A6C31D185}"/>
              </a:ext>
            </a:extLst>
          </p:cNvPr>
          <p:cNvSpPr txBox="1"/>
          <p:nvPr/>
        </p:nvSpPr>
        <p:spPr>
          <a:xfrm>
            <a:off x="0" y="1114097"/>
            <a:ext cx="11939752" cy="4549835"/>
          </a:xfrm>
          <a:prstGeom prst="rect">
            <a:avLst/>
          </a:prstGeom>
          <a:noFill/>
        </p:spPr>
        <p:txBody>
          <a:bodyPr wrap="square">
            <a:spAutoFit/>
          </a:bodyPr>
          <a:lstStyle/>
          <a:p>
            <a:pPr>
              <a:lnSpc>
                <a:spcPct val="150000"/>
              </a:lnSpc>
            </a:pPr>
            <a:r>
              <a:rPr lang="en-US" sz="2800" dirty="0">
                <a:latin typeface="Calibir"/>
              </a:rPr>
              <a:t>Activity:</a:t>
            </a:r>
          </a:p>
          <a:p>
            <a:pPr marL="514350" indent="-514350">
              <a:lnSpc>
                <a:spcPct val="150000"/>
              </a:lnSpc>
              <a:buFont typeface="+mj-lt"/>
              <a:buAutoNum type="arabicPeriod"/>
            </a:pPr>
            <a:r>
              <a:rPr lang="en-US" sz="2800" dirty="0">
                <a:latin typeface="Calibir"/>
              </a:rPr>
              <a:t>Association class practice: Draw Booking between User and Event with attributes; add multiplicities on both sides.</a:t>
            </a:r>
          </a:p>
          <a:p>
            <a:pPr marL="514350" indent="-514350">
              <a:lnSpc>
                <a:spcPct val="150000"/>
              </a:lnSpc>
              <a:buFont typeface="+mj-lt"/>
              <a:buAutoNum type="arabicPeriod"/>
            </a:pPr>
            <a:r>
              <a:rPr lang="en-US" sz="2800" dirty="0">
                <a:latin typeface="Calibir"/>
              </a:rPr>
              <a:t>Reflexive association: Add Event → Event “</a:t>
            </a:r>
            <a:r>
              <a:rPr lang="en-US" sz="2800" dirty="0" err="1">
                <a:latin typeface="Calibir"/>
              </a:rPr>
              <a:t>parentOf</a:t>
            </a:r>
            <a:r>
              <a:rPr lang="en-US" sz="2800" dirty="0">
                <a:latin typeface="Calibir"/>
              </a:rPr>
              <a:t>”; mark multiplicity 0..1 to 0..M.</a:t>
            </a:r>
          </a:p>
          <a:p>
            <a:pPr marL="514350" indent="-514350">
              <a:lnSpc>
                <a:spcPct val="150000"/>
              </a:lnSpc>
              <a:buFont typeface="+mj-lt"/>
              <a:buAutoNum type="arabicPeriod"/>
            </a:pPr>
            <a:r>
              <a:rPr lang="en-US" sz="2800" dirty="0">
                <a:latin typeface="Calibir"/>
              </a:rPr>
              <a:t>State note: Add a note listing </a:t>
            </a:r>
            <a:r>
              <a:rPr lang="en-US" sz="2800" dirty="0" err="1">
                <a:latin typeface="Calibir"/>
              </a:rPr>
              <a:t>Ticket.state</a:t>
            </a:r>
            <a:r>
              <a:rPr lang="en-US" sz="2800" dirty="0">
                <a:latin typeface="Calibir"/>
              </a:rPr>
              <a:t> ∈ {PENDING, CONFIRMED, CANCELLED} and link it to cancellation use case as an extend.</a:t>
            </a:r>
          </a:p>
        </p:txBody>
      </p:sp>
      <p:pic>
        <p:nvPicPr>
          <p:cNvPr id="2" name="Timer">
            <a:hlinkClick r:id="" action="ppaction://media"/>
            <a:extLst>
              <a:ext uri="{FF2B5EF4-FFF2-40B4-BE49-F238E27FC236}">
                <a16:creationId xmlns:a16="http://schemas.microsoft.com/office/drawing/2014/main" id="{60E3F09C-F4D3-3C5D-94B5-CF1883D0A883}"/>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63932"/>
            <a:ext cx="2300750" cy="1076632"/>
          </a:xfrm>
          <a:prstGeom prst="rect">
            <a:avLst/>
          </a:prstGeom>
          <a:ln w="38100">
            <a:solidFill>
              <a:srgbClr val="FF0000"/>
            </a:solidFill>
          </a:ln>
        </p:spPr>
      </p:pic>
    </p:spTree>
    <p:extLst>
      <p:ext uri="{BB962C8B-B14F-4D97-AF65-F5344CB8AC3E}">
        <p14:creationId xmlns:p14="http://schemas.microsoft.com/office/powerpoint/2010/main" val="2940426533"/>
      </p:ext>
    </p:extLst>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1885</TotalTime>
  <Words>3995</Words>
  <Application>Microsoft Office PowerPoint</Application>
  <PresentationFormat>Widescreen</PresentationFormat>
  <Paragraphs>416</Paragraphs>
  <Slides>67</Slides>
  <Notes>0</Notes>
  <HiddenSlides>0</HiddenSlides>
  <MMClips>9</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67</vt:i4>
      </vt:variant>
    </vt:vector>
  </HeadingPairs>
  <TitlesOfParts>
    <vt:vector size="76" baseType="lpstr">
      <vt:lpstr>Aptos</vt:lpstr>
      <vt:lpstr>Aptos Display</vt:lpstr>
      <vt:lpstr>Arial</vt:lpstr>
      <vt:lpstr>Calibir</vt:lpstr>
      <vt:lpstr>Calibri</vt:lpstr>
      <vt:lpstr>Calibri Light</vt:lpstr>
      <vt:lpstr>Consolas</vt:lpstr>
      <vt:lpstr>Office Theme</vt:lpstr>
      <vt:lpstr>1_Office Theme</vt:lpstr>
      <vt:lpstr>Introduction to Software Engineering (ISE102) Tutorial Week 6</vt:lpstr>
      <vt:lpstr>Week 6 Outline</vt:lpstr>
      <vt:lpstr>Have you formed your group?</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PowerPoint Presentation</vt:lpstr>
      <vt:lpstr>Example &amp; Activity — Campus Parking Permit System (intro to UML, relationships, real-world system)</vt:lpstr>
      <vt:lpstr>PowerPoint Presentation</vt:lpstr>
      <vt:lpstr>PowerPoint Presentation</vt:lpstr>
      <vt:lpstr>PowerPoint Presentation</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Example &amp; Activity — Campus Parking Permit System (intro to UML, relationships, real-world system)</vt:lpstr>
      <vt:lpstr>Group Assignment – Part 1: What to do / submit / avoid</vt:lpstr>
      <vt:lpstr>Group Assignment – Part 2: Build hints (Python-first, JavaFX minority)</vt:lpstr>
      <vt:lpstr>Group Assignment – Part 2: Build hints (Python-first, JavaFX minority)</vt:lpstr>
      <vt:lpstr>Group Assignment – Part 2: Build hints (Python-first, JavaFX minority)</vt:lpstr>
      <vt:lpstr>Group Assignment – Part 3: Showcase tips</vt:lpstr>
      <vt:lpstr>Optional mini coding nudges: Email &amp; Password Patterns</vt:lpstr>
      <vt:lpstr>Optional mini coding nudges: Email &amp; Password Patterns</vt:lpstr>
      <vt:lpstr>Optional mini coding nudges: Email &amp; Password Patterns</vt:lpstr>
      <vt:lpstr>Optional mini coding nudges: Email &amp; Password Patterns</vt:lpstr>
      <vt:lpstr>Optional mini coding nudges: Email &amp; Password Patterns</vt:lpstr>
      <vt:lpstr>Optional mini coding nudges: Email &amp; Password Patterns</vt:lpstr>
      <vt:lpstr>Activity 2: Allow student. subdomain too </vt:lpstr>
      <vt:lpstr>PowerPoint Presentation</vt:lpstr>
      <vt:lpstr>Activity 3: Allow optional - or _ before digits in password</vt:lpstr>
      <vt:lpstr>Activity 4: Generate Random Marks and Assign Grades</vt:lpstr>
      <vt:lpstr>Activity 4: Generate Random Marks and Assign Grades</vt:lpstr>
      <vt:lpstr>Activity 4: Generate Random Marks and Assign Grades</vt:lpstr>
      <vt:lpstr>Activity 4: Generate Random Marks and Assign Grades</vt:lpstr>
      <vt:lpstr>Activity 4: Generate Random Marks and Assign Grades</vt:lpstr>
      <vt:lpstr>Activity 4: Generate Random Marks and Assign Grades</vt:lpstr>
      <vt:lpstr>Activity 4: Generate Random Marks and Assign Grades</vt:lpstr>
      <vt:lpstr>Activity 5: Make randomness reproducible</vt:lpstr>
      <vt:lpstr>PowerPoint Presentation</vt:lpstr>
      <vt:lpstr>PowerPoint Presentation</vt:lpstr>
      <vt:lpstr>PowerPoint Presentation</vt:lpstr>
      <vt:lpstr>PowerPoint Presentation</vt:lpstr>
      <vt:lpstr>PowerPoint Presentation</vt:lpstr>
      <vt:lpstr>PowerPoint Presentation</vt:lpstr>
      <vt:lpstr>Activity 5: Make randomness reproducible</vt:lpstr>
      <vt:lpstr>Activity 6: Add student ID and PASS/FAIL</vt:lpstr>
      <vt:lpstr>Activity 6: Add student ID and PASS/FAIL</vt:lpstr>
      <vt:lpstr>Activity 6: Add student ID and PASS/FAIL</vt:lpstr>
      <vt:lpstr>Activity 7: Grade Classification Based on University Rules</vt:lpstr>
      <vt:lpstr>Activity 7: Grade Classification Based on University Rules</vt:lpstr>
      <vt:lpstr>Activity 7: Grade Classification Based on University Rules</vt:lpstr>
      <vt:lpstr>Activity 7: Grade Classification Based on University Rules</vt:lpstr>
      <vt:lpstr>Activity 7: Grade Classification Based on University Rules</vt:lpstr>
      <vt:lpstr>Example &amp; Activity — Event Ticketing Lite</vt:lpstr>
      <vt:lpstr>Example &amp; Activity — Event Ticketing Lite</vt:lpstr>
      <vt:lpstr>Example &amp; Activity — Event Ticketing Lite</vt:lpstr>
      <vt:lpstr>Example &amp; Activity — Event Ticketing Lite</vt:lpstr>
      <vt:lpstr>Example &amp; Activity — Event Ticketing Lite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581</cp:revision>
  <dcterms:created xsi:type="dcterms:W3CDTF">2025-07-28T16:39:25Z</dcterms:created>
  <dcterms:modified xsi:type="dcterms:W3CDTF">2025-09-02T06:17:12Z</dcterms:modified>
</cp:coreProperties>
</file>