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1"/>
  </p:notesMasterIdLst>
  <p:sldIdLst>
    <p:sldId id="2522" r:id="rId2"/>
    <p:sldId id="2443" r:id="rId3"/>
    <p:sldId id="2633" r:id="rId4"/>
    <p:sldId id="2467" r:id="rId5"/>
    <p:sldId id="2731" r:id="rId6"/>
    <p:sldId id="2632" r:id="rId7"/>
    <p:sldId id="2638" r:id="rId8"/>
    <p:sldId id="2592" r:id="rId9"/>
    <p:sldId id="2635" r:id="rId10"/>
    <p:sldId id="2637" r:id="rId11"/>
    <p:sldId id="2636" r:id="rId12"/>
    <p:sldId id="2732" r:id="rId13"/>
    <p:sldId id="2733" r:id="rId14"/>
    <p:sldId id="2734" r:id="rId15"/>
    <p:sldId id="2735" r:id="rId16"/>
    <p:sldId id="2752" r:id="rId17"/>
    <p:sldId id="2736" r:id="rId18"/>
    <p:sldId id="2747" r:id="rId19"/>
    <p:sldId id="2737" r:id="rId20"/>
    <p:sldId id="2753" r:id="rId21"/>
    <p:sldId id="2754" r:id="rId22"/>
    <p:sldId id="2738" r:id="rId23"/>
    <p:sldId id="2739" r:id="rId24"/>
    <p:sldId id="2749" r:id="rId25"/>
    <p:sldId id="2740" r:id="rId26"/>
    <p:sldId id="2741" r:id="rId27"/>
    <p:sldId id="2751" r:id="rId28"/>
    <p:sldId id="2742" r:id="rId29"/>
    <p:sldId id="2743" r:id="rId30"/>
    <p:sldId id="2744" r:id="rId31"/>
    <p:sldId id="2746" r:id="rId32"/>
    <p:sldId id="2650" r:id="rId33"/>
    <p:sldId id="2750" r:id="rId34"/>
    <p:sldId id="2868" r:id="rId35"/>
    <p:sldId id="2651" r:id="rId36"/>
    <p:sldId id="2663" r:id="rId37"/>
    <p:sldId id="2664" r:id="rId38"/>
    <p:sldId id="257" r:id="rId39"/>
    <p:sldId id="352" r:id="rId40"/>
    <p:sldId id="2755" r:id="rId41"/>
    <p:sldId id="2756" r:id="rId42"/>
    <p:sldId id="2757" r:id="rId43"/>
    <p:sldId id="2758" r:id="rId44"/>
    <p:sldId id="2759" r:id="rId45"/>
    <p:sldId id="2760" r:id="rId46"/>
    <p:sldId id="2761" r:id="rId47"/>
    <p:sldId id="2762" r:id="rId48"/>
    <p:sldId id="2763" r:id="rId49"/>
    <p:sldId id="2764" r:id="rId50"/>
    <p:sldId id="2765" r:id="rId51"/>
    <p:sldId id="2766" r:id="rId52"/>
    <p:sldId id="2767" r:id="rId53"/>
    <p:sldId id="2768" r:id="rId54"/>
    <p:sldId id="2769" r:id="rId55"/>
    <p:sldId id="2770" r:id="rId56"/>
    <p:sldId id="2771" r:id="rId57"/>
    <p:sldId id="2772" r:id="rId58"/>
    <p:sldId id="2773" r:id="rId59"/>
    <p:sldId id="2774" r:id="rId60"/>
    <p:sldId id="2775" r:id="rId61"/>
    <p:sldId id="2776" r:id="rId62"/>
    <p:sldId id="2777" r:id="rId63"/>
    <p:sldId id="2778" r:id="rId64"/>
    <p:sldId id="2779" r:id="rId65"/>
    <p:sldId id="2780" r:id="rId66"/>
    <p:sldId id="2781" r:id="rId67"/>
    <p:sldId id="2782" r:id="rId68"/>
    <p:sldId id="2783" r:id="rId69"/>
    <p:sldId id="2784" r:id="rId70"/>
    <p:sldId id="2785" r:id="rId71"/>
    <p:sldId id="2787" r:id="rId72"/>
    <p:sldId id="341" r:id="rId73"/>
    <p:sldId id="2786" r:id="rId74"/>
    <p:sldId id="2788" r:id="rId75"/>
    <p:sldId id="2789" r:id="rId76"/>
    <p:sldId id="2790" r:id="rId77"/>
    <p:sldId id="2791" r:id="rId78"/>
    <p:sldId id="2792" r:id="rId79"/>
    <p:sldId id="2793" r:id="rId80"/>
    <p:sldId id="2794" r:id="rId81"/>
    <p:sldId id="2795" r:id="rId82"/>
    <p:sldId id="2796" r:id="rId83"/>
    <p:sldId id="2797" r:id="rId84"/>
    <p:sldId id="2798" r:id="rId85"/>
    <p:sldId id="2799" r:id="rId86"/>
    <p:sldId id="2800" r:id="rId87"/>
    <p:sldId id="2801" r:id="rId88"/>
    <p:sldId id="2802" r:id="rId89"/>
    <p:sldId id="2803" r:id="rId90"/>
    <p:sldId id="342" r:id="rId91"/>
    <p:sldId id="2804" r:id="rId92"/>
    <p:sldId id="2805" r:id="rId93"/>
    <p:sldId id="2806" r:id="rId94"/>
    <p:sldId id="2807" r:id="rId95"/>
    <p:sldId id="2808" r:id="rId96"/>
    <p:sldId id="2809" r:id="rId97"/>
    <p:sldId id="2810" r:id="rId98"/>
    <p:sldId id="2811" r:id="rId99"/>
    <p:sldId id="2812" r:id="rId100"/>
    <p:sldId id="2813" r:id="rId101"/>
    <p:sldId id="2814" r:id="rId102"/>
    <p:sldId id="2815" r:id="rId103"/>
    <p:sldId id="2816" r:id="rId104"/>
    <p:sldId id="2817" r:id="rId105"/>
    <p:sldId id="2818" r:id="rId106"/>
    <p:sldId id="347" r:id="rId107"/>
    <p:sldId id="2819" r:id="rId108"/>
    <p:sldId id="2820" r:id="rId109"/>
    <p:sldId id="2821" r:id="rId110"/>
    <p:sldId id="2822" r:id="rId111"/>
    <p:sldId id="2823" r:id="rId112"/>
    <p:sldId id="2824" r:id="rId113"/>
    <p:sldId id="2825" r:id="rId114"/>
    <p:sldId id="2826" r:id="rId115"/>
    <p:sldId id="2827" r:id="rId116"/>
    <p:sldId id="2828" r:id="rId117"/>
    <p:sldId id="2829" r:id="rId118"/>
    <p:sldId id="348" r:id="rId119"/>
    <p:sldId id="2830" r:id="rId120"/>
    <p:sldId id="2831" r:id="rId121"/>
    <p:sldId id="2832" r:id="rId122"/>
    <p:sldId id="2833" r:id="rId123"/>
    <p:sldId id="2834" r:id="rId124"/>
    <p:sldId id="2835" r:id="rId125"/>
    <p:sldId id="2836" r:id="rId126"/>
    <p:sldId id="2837" r:id="rId127"/>
    <p:sldId id="2838" r:id="rId128"/>
    <p:sldId id="2839" r:id="rId129"/>
    <p:sldId id="2840" r:id="rId130"/>
    <p:sldId id="2841" r:id="rId131"/>
    <p:sldId id="2842" r:id="rId132"/>
    <p:sldId id="2843" r:id="rId133"/>
    <p:sldId id="2844" r:id="rId134"/>
    <p:sldId id="355" r:id="rId135"/>
    <p:sldId id="2845" r:id="rId136"/>
    <p:sldId id="2846" r:id="rId137"/>
    <p:sldId id="2847" r:id="rId138"/>
    <p:sldId id="2848" r:id="rId139"/>
    <p:sldId id="2849" r:id="rId140"/>
    <p:sldId id="2850" r:id="rId141"/>
    <p:sldId id="2851" r:id="rId142"/>
    <p:sldId id="2852" r:id="rId143"/>
    <p:sldId id="2853" r:id="rId144"/>
    <p:sldId id="2854" r:id="rId145"/>
    <p:sldId id="2855" r:id="rId146"/>
    <p:sldId id="2856" r:id="rId147"/>
    <p:sldId id="2857" r:id="rId148"/>
    <p:sldId id="2858" r:id="rId149"/>
    <p:sldId id="2859" r:id="rId150"/>
    <p:sldId id="2860" r:id="rId151"/>
    <p:sldId id="2861" r:id="rId152"/>
    <p:sldId id="2862" r:id="rId153"/>
    <p:sldId id="2863" r:id="rId154"/>
    <p:sldId id="2864" r:id="rId155"/>
    <p:sldId id="2865" r:id="rId156"/>
    <p:sldId id="2866" r:id="rId157"/>
    <p:sldId id="2867" r:id="rId158"/>
    <p:sldId id="1889" r:id="rId159"/>
    <p:sldId id="2524"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023"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25/08/2026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ef0b59b6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1ef0b59b6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540536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222FE29-F4D8-03E7-222E-9BD19D0B75B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600C6D6-955E-E7C5-8146-3056FC7484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9F4D0F9-5100-F751-EB19-CE9A32DEFA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525306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ADDADF7-193B-99BD-D786-AA4D0B66EF2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E5597BD-ADF4-1103-16DE-0958A553F8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3E001D0-A8F8-2F21-4A2F-B24D5CAFB7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60901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24D3C86-5055-F5FA-CB32-55E937F7F5A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C7908FC-D33F-7522-42C9-CC02CBDBDA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FA61350-88E1-0D8F-52C2-B7762476F5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102055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572E19C-8784-DCFB-960E-21CC93AA06C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3A91219-D862-2567-8830-473EB3AFC3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584AAA6-67CF-4705-2074-8DE7893110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794582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6277003-877A-C333-FA81-62F45A554E4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7FBB8EF-8572-7E49-4984-E3B727A391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E54C1DE-084A-1C48-03DA-CEBF9EB07F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132637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3891174-7102-7E41-933A-EC41E2E2D7C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D946025-60F6-3B03-BBD4-5208E76CC6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CB69536-17F5-5569-33F2-A8496D4C8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620432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358E8B1-B8D0-DB9B-B6F8-6BBCA994365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00C254C-B2D7-F113-2514-13D01D6A96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B6D8C0F-FA30-C01A-CF74-C3B4C96A65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384913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94567A0-776D-3590-E773-5A0D94B6E20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3A30B82-B99F-D0EB-C13C-E72196F607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3B4CE7E-9EFD-6BA4-CC08-D5BDC13E85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821691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F99CD43-5FF4-889B-CB0C-7F9C6A7D563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01FEB44-9CF4-0A10-4233-8375D3446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3054276-98E1-8B71-002D-DEE301BF24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281664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6BE300E-B93D-7E2F-1A97-D94EBC062FD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BF10904-F0C3-00F1-C75F-97616948DD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B7944E3-AD3C-35CF-24AA-908EE7F945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877684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889858D-6217-1AAC-33B4-DF8D7718036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A729E49-B85D-FA3D-3C8F-7F71AF0934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49A5EC5-553D-011D-9EA9-479889E28B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307051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1D479CB-FF8C-F952-E5B0-AAF82FB6126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CAE9C86-0E14-65CB-9BC5-3E9D645F6B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DF869A6-CD70-BE68-6A8C-BF41099213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2896065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DFEAC9A-3A83-495D-358A-C146BE51220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500A102-F43C-9001-8903-7761BA1BFF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2EF580E-95FE-60F4-F0A0-AC1EECA5B4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027254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01F1312-FDC0-06ED-7753-D1801C136E0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8CD1ACE-0875-9E8D-D2FB-C23E8CA7BA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400D10A-9DFD-7E76-C814-C7CE187C80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2321997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34D966E-0F02-AD0A-AA6F-3303DD15332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56E4063-25AC-35C5-B1AA-EF44B4A526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C334470-F52B-B0E4-4B13-5D14FCEFA6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290880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9E4A245-2773-A50B-D177-6DEC72CB0CD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50FAE93-492D-434D-E144-9C3FEF028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605912D-1292-3CC1-6DDE-E8BDEAFF33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242795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4AD73A5-0238-62F6-4120-A7D361D9785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AB2803F-9D0E-871D-3FCE-21A8049B9A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2761931-319B-8F17-A9BB-4CDEF27B28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220009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3181596-D2EC-D90F-CC89-A47D4DF2EFB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75DF3D3-A606-3BC9-21DF-11627B39F2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2BB9259-E056-69A7-10ED-1DDDF4EA8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4023327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A1D87E3-CF72-03CF-800C-8204BED8A2F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8300E12-23C7-54FF-16C2-86FDF59FF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E08668D-BBBF-A0FA-1A5A-ABC35A1B7E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367052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11C519E-7593-2F77-B52C-2ECB20D1D62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F7584AC-A961-BA54-1915-9D94990AD8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9A27F83-704E-86C7-DE54-CAB6C899DA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886102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36FDF96-6C5A-7BE3-80DE-380EB3A02D2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8AD2DD6-81A6-136F-7EC9-F9E1D979F5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545CC18-74DC-40F8-78E2-769C0933ED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26543185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6D55937-0448-656F-0A10-4E3DF9BF628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F6DE22F-78D0-3607-B5B8-2A7A53D029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EDC3F87-1C0E-720D-AA65-C835AF548E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5906244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9300E7B-AD28-7867-F569-54CA9AE7DB9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135B7AE-FC59-439A-E6C1-6B7DF8DB09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2335F1E-18CE-18CE-1C95-E56B21F3A1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56510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E9A45C7-BB86-1D3E-426C-981B0C8524B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C08F1E7-964A-9341-6C45-F413612AE4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F0C25DF-E697-458F-45B5-2B524D1EDC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7369823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F8F324A-2461-F15C-7E4F-408A61D8491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3A91594-B8ED-C413-571B-4F0781BC8D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27FFFFF-C6EC-1820-E09C-D15390D741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26426178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0D8A5DE-667F-DD6B-FA24-5B0F67C828E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EE2ABC4-35DF-1961-7D78-C0755BDC0E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5C283D7-A438-59E1-FA46-809D9C2AF7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8810131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34B0B2C-1D8D-63B0-6D89-B7DD477E9EC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4579160-EBCC-0067-3A04-5DB77658FF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4389DE2-7070-FCBB-DCAB-9C6CA82421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3797464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CACF09D-A4A5-A0BC-602E-100991139C5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942BF92-FF9E-6AE8-DB4D-FB6E57F2E9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D5AF1D3-87EC-306D-4ED6-43B6B91597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904902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B27D796-755C-1249-44E0-8317A3E938B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5810F16-E6D2-005B-C046-6744DFC02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1130530-FF87-69F5-A4D5-73009CEA15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20608673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8729EB3-E3A1-89BE-A8FB-C53CFBB353F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BAAE90F-9259-698D-5DE9-51EE9D5D81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317308C-0D01-C6EF-9F57-7F40C48CD5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40353044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80D4282-07E9-EB03-9A80-775D44D9196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C9159E6-69DD-AABF-553F-495375ABC5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9EC8187-D061-6799-74C2-1097D5C7F8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7316465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B0A570B-AE4F-DD39-87DE-8F2DD491DF5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DFEA0AC-BD15-8743-6287-9C5A0122F2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15B9CA6-48F4-861C-38FB-A1262A34F6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a:t>If you want to show 2 decimal places</a:t>
            </a:r>
          </a:p>
          <a:p>
            <a:pPr marL="0" lvl="0" indent="0" algn="l" rtl="0">
              <a:spcBef>
                <a:spcPts val="0"/>
              </a:spcBef>
              <a:spcAft>
                <a:spcPts val="0"/>
              </a:spcAft>
              <a:buNone/>
            </a:pPr>
            <a:r>
              <a:rPr lang="en-AU" dirty="0" err="1"/>
              <a:t>scanner.next</a:t>
            </a:r>
            <a:r>
              <a:rPr lang="en-AU" dirty="0"/>
              <a:t>() reads only one word</a:t>
            </a:r>
            <a:endParaRPr dirty="0"/>
          </a:p>
        </p:txBody>
      </p:sp>
    </p:spTree>
    <p:extLst>
      <p:ext uri="{BB962C8B-B14F-4D97-AF65-F5344CB8AC3E}">
        <p14:creationId xmlns:p14="http://schemas.microsoft.com/office/powerpoint/2010/main" val="10114921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35380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A20F2CB-0F09-F808-2119-75C0AB6E157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F3CB30A-92D1-A9A7-9267-15C3A12FEF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0292D2A-89C6-DE62-17E8-A7D8C5DF42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6917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14838A3-A689-D1E7-0F52-D146B954EB4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56B9CE1-89ED-DADB-8094-6F58AB7720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EC00D67-42EA-FFE0-9489-8E81F4B390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310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08FD808-9C20-312C-3BD8-7D9ECF08A48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78E661D-7B72-E6E1-BB16-5A6DE029F8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9628067-42BA-7513-DD2D-8957FE5FE2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11601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E861EA4-F08D-4901-4373-7B42D0662F1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8E57748-8856-BC4D-D171-3A57605957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7EEB0D6-0AFF-21D4-EC43-2B8F4917A5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43491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328832E-3209-D151-4597-90CE1013737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9DA7EFF-F526-1234-5838-A316A6CAA9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725AB8F-AC8B-65DE-D8C7-2495CD3055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01014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37FBDC6-5624-3B70-3839-EE4DB5AD66B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D777190-7D39-28C5-CF98-20C4A734DA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18670B2-F48C-3ED2-6F55-A28C00156F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53764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1EF0046-6FAB-725B-475F-BF03DE95AC7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67664ED-8AE8-24DA-2AB2-619AFD97C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26CD1AE-5BF7-C9EF-EC46-C1CD365568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86947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2C0D150-3B03-AEC9-0839-20EB4806BFB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65C37D5-A504-045C-F431-A621E2E872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FB6BE13-2A03-C042-B0A0-1D23CB7A82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53432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C871750-9F97-941E-37DD-F649D11CDEC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463EBB5-762C-2AA0-42E6-760CA16ED8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D4B9FD8-9AB1-0A69-E1D9-F245701370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58736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E4EACBD-ABAB-07AB-E5A5-3F59E1D2D01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4816A2D-4E6F-A619-57F7-3B40FC48DF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9925F4F-B25E-DD9A-41DC-8C19D62281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09068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7F473BE-5765-AECF-F976-2A8C83CA878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EC34F36-C986-E269-D2BA-BC602F9199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4F4A9A6-0454-7B25-9BC0-93F77F9469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620027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E88B356-C3F4-5A62-F001-76CA11C0063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0E94B41-8008-A961-228B-4B09CF0DBE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944575B-DB4F-F347-13AA-A570EA4B2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35946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F9DA5EB-298F-1C90-FA8C-1602E4D3987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A4D6AD7-C006-4A4A-88A3-D88472158D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B2335CF-D361-EBC3-B585-1AB51DAB48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4722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F0E3D9D-60C9-8FD8-F538-F1B4AAC161E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4E48B9A-A077-BD20-49C5-54611FA066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FAC0FA7-339D-5DCA-9E7C-3CA3A3191B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350032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D8CDB86-5DF1-5601-2E1C-631DE7DF912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AEF5D70-4250-0320-222F-E20CF8E919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14A26A4-7546-DB69-0687-94369F037B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93047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46F76B5-1848-0A21-CA60-ED345C84F01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EA24823-8BF0-D7A3-3801-AD13C4D534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38CFDA6B-013C-A3ED-E267-DC796186C1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67460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ED961F8-DE68-4700-0A27-31F9C1A6692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1B3CBB2-DDFD-5E2C-D63C-41503696C0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EF0D2B0-F148-D525-F016-8AB78A167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99646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69534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C74729F-372C-5D06-2716-402634CD066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9D92995-7B1C-AF81-DE99-DD2361E97E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F6AD678-DBB9-0D72-FF32-DACF94A029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26083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8988777-CC15-855F-EF01-1EE18CBAB3A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C113E78-8AFF-334F-265A-81C061E62C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10C4960-6582-07F5-676A-9DB11364E5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11510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F9DC4E2-5BF0-4722-3241-626588A9A90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FDE9DDC-0FFB-43D4-657E-EFDA19C01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BF0146D-C7B5-7435-302E-E90619F78D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59252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F9A25F5-979D-387F-3B2E-035B37AEA94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0D59C07-1C1E-9EE2-DB03-5935B00731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9A5B375-594C-B3CB-9720-0A67B81EC3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43645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DEAF189-FC24-14DE-4E09-7EF2F2FE99C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210348C-A71B-F6DA-52CF-41C1914FA4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24A1EBF-30AC-8809-144E-E3B8C2368C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75396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867922F-6D31-A083-5C14-DD60877AB8B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76A5F37-3614-8247-0A93-673208870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464799C-AB76-43CD-070F-33E053FF963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80078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6C2FECB-E354-61F6-80E8-030C52370A3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77C6595-61A2-FFB5-CF23-0F6FD2784F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87DA5C5-FD4F-B11C-5FCC-CEAADBF8A8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4662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F6D54A8-71BB-2299-86AF-86F2926B947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7B2F72C-0624-D1E9-490B-F6B2D83CCF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BD90DBA-9333-4E16-8AB2-7B8A46375F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7708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5812301-4F12-D2F9-E137-D55069CB350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D4DCDD7-FEEA-59CB-2D62-C7E39004A8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7B5966E-DAE8-134A-938E-5D81BE3929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859240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926FDB0-7C3E-4838-661B-FF89C120291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449C236-76E7-196A-A289-965E0221D1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E84898C-D108-7049-2D8F-E0A8E64AA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01135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755021E-BB05-B3E5-AFC9-F5E209FC4E8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C563F90-0295-5D46-8108-0CDD3B1836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D068368-3AC9-31E2-F546-82D0095EA3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16818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D24475D-B999-AF8D-7269-3D619CE1980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AB3E9D4-37DF-601A-5829-40730A0FE1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C423CBD-2409-1A00-01E6-C96C3CA012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81824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C02FB70-A2AD-B71F-B019-EDA810ED5C0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C904C57-5F51-751F-53EB-75EEEBE6F4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8179FFC-62CB-438D-F2AA-8450BA2C96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14281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0F7BE00-0254-DB17-22EA-F838B81FD95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385152C-DA1A-8992-2536-B1DFEC39EC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93A027E-A9F7-56D9-2029-B129F29C31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53898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165CF2F-D857-C905-7589-7E66CBB6466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3587C23-BDF8-8C2B-BDBD-4E59AC29FB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AC5639C-A15A-C479-B33A-13BDC565C3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42379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12964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BF07C2A-03E1-114C-B9CD-1A0BC7340FD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BD4C562-E2EE-F16A-5B78-062934D63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CFE9433-63B7-E75C-C8AA-A0B2862CEF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53942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112F836-5EB8-50B9-E403-2A9C95CCEB8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330DE29-148C-AA34-D905-60E1E2B8D9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3FD9113-C093-D195-EE40-6974BE8A42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54869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2927226-0133-8EBD-7D4E-6501594021FB}"/>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7201318-B860-EA76-E0CB-929754CA16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B5751441-B57F-2484-F245-15BBC3BED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68932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A9CD017-CB26-45E3-37C3-ADEA50E506F7}"/>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7775B29-E24B-A4F1-3119-50664CAA87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8D1B620-7F0A-AE9F-984B-1B010541B8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760662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3EC51D7-164C-C38D-9D53-2F6F302D9B8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BE8996C-CBCF-89A5-4967-72B0E7A0A7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9675369-9453-C7C2-BCEF-8A00BD4EBB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0146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20ABF84-6401-D0D2-7EE2-91214F33F11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4C734C5-2005-06A2-F4F3-0EFD2EC2EE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A050134-0670-8120-E882-0D6DACCA8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07273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B7051B8-2F84-2286-70C9-CC006B28E30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AF5262AE-E646-CF3C-6580-4426CB2576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4BB2157-4056-AFE5-16C4-4801E104C6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983686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F208018-6D32-616A-F8AD-04EA7B2FE2C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CBE15B3-05DE-0D10-71E6-5EA29D4AF0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B08BBA4-7555-B080-8C84-8BA2A22C23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736468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DA1795B-7A32-F4F7-748A-65B85024482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69FFD4B-482A-6BEF-A8DB-0039777B6D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1C936CD-8911-3478-0390-16E78AB7FE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8039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87B8746-74E7-6BFD-1E52-5C507EA9C6A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390005C-D904-972E-7F20-161FE64B2F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409F532-A559-AED7-7B14-86FED6B409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286871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92871B7-D111-DAD6-BFCC-71B95A252A4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C729857F-8743-C86E-F488-AFC97EF406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46E8EF6-5F6D-542A-0374-52E5CA93F2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620307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11941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10ACC3F-842F-3789-4BA4-C4D0BA7656D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F329C21-BBC7-E2B1-DC68-FBFE0DE999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137C6B7-FD51-CAB9-F64E-D892C00E86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47180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22167C0-914B-271F-BBAF-034B32968AB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F535B99-C0F3-5B6A-E1D8-D88800220A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C149B56-98D7-C9BC-BD7D-421AD82F6C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266289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9E85A7A-6A79-4114-679C-C4973940985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20F3DB8-E182-984D-DD16-A2587EC137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31B2219-A998-8ED8-CD00-3489CD7C90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365224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35CD5CE-F4EC-3FBC-A89F-B520E7A8050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4BA5986-D9A7-A7AB-23A8-9E133E2EAD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2F3F8ED8-FE43-D658-CEE9-5BFEBDEFC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671541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D496CA0-F025-CD76-6124-864D9EE8F8A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50B22E1-92AB-7AC8-EA2A-9839297096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068DF5F6-0E26-03CE-A7C9-602A749E64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61045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A02D66D-CA51-D7B6-1C96-16BCF91580C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28BBC2F-2E49-9D70-C563-AE5BC6D66B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80E5A64-888C-B70D-DA66-63E7C851BF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340967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928313E-61BD-59AB-20B4-9118586A819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648B278-06F1-7924-5D3C-3CCE59811D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14961FD-36CB-6B79-BF46-9776AD81D3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805332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D0ADA42-2B30-A995-A01A-429A1A3B7845}"/>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B3CA635-A60A-2252-236D-34046A6DA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4F80C1B-FB31-93F0-3E60-CA5A6F1F7F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59967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84E8D845-5926-BE1F-CE9A-90A52F0B96D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9F2F1AF-9E8F-2077-7B68-5AB8B6D75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6E49ADC-9B94-1E2D-6F02-62BC57799F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11536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9C24F52-B92A-AD5D-9BC7-19048112919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D232A61-A8AE-9A6C-499A-BEE76DB369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D603CE6C-FB93-59DE-F7DC-F1C2ED53FF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044465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E593478-3302-7D78-4439-C54D48547BA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47BAE907-993B-36B7-1AC1-404308B64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91BCEDBF-5A0A-BFE5-3077-EDF11E6FC1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519178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393EF55-EC57-7A7C-F46A-4B625D92007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075C0E9-541E-8B09-63B0-E779DB4A31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5A74912-EDB0-3CA6-5138-59B3320058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582055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C9D4196-6DDD-4DEA-CC75-3C55C4506F8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D7D419E-10AF-396E-B582-4E14D94699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1C64AFD-94BC-BEA3-4BB0-F0570CEB36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761917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2612408-DC20-65A7-5E42-4BE317F8897E}"/>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937C4D2-0868-488F-4EFE-6A50AE17CD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8B65BBEB-3C56-C261-EECD-C5E190B53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428754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F07DDD6A-5249-B952-B2F5-FACCBE803BA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0AFD07A-2CB1-D505-C564-452544F81C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99EC662-14C8-405D-CBB1-2E508970A2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461769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78dea5054f_1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649535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59587E97-A1FF-9A1C-67D7-E0212D9A661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696FBC4-3543-C690-90B6-95724034C0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9A442BB-5D3D-F3A8-2AEE-7C96E7B448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005764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DD6AAFC-CFFB-6D5B-E2E5-14482E7140C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C2B35B5-656A-E76F-67D0-E73BE2E805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F85D980-37E3-EC27-E905-6881F5D89A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264602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1E7FAD7E-1980-0E44-489E-4100FD1DC89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F661EF6-4862-DECD-5316-AFACAD8728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2419666-253A-D93D-742F-5C8496C487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467128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6D07F50F-4CD7-5B31-C339-BF41242AD1F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AA8D49E-AA26-494F-5B81-0149839435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2359AA9-1E35-B5FC-768E-73B6987041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581936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D359641-04FB-78FC-2A95-15EAD4EAAD41}"/>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5F4B6BD-C433-1A99-97F4-AA2FDBF1B6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9BB4935-5CAD-7C46-C34F-17D6AFD152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773632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95ED624-2380-D411-27BF-CA776856D98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B711DBD-F028-E35C-9134-E4587C4411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EFC0286-C9C4-BA70-713C-A758A1F97F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729846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E9D0503D-14A1-EB8C-D441-8FAAE3E90CE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52EBEB18-EC52-C44C-C80B-3477A0AD13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C17C6ADD-819D-78C9-359B-D53D958922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422913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3D126346-4B1C-3CE3-A52A-607AC7E96ACD}"/>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9C99F182-507B-E6EC-9864-373019C443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DF5A769-354A-C18F-A3D0-C3C2BEC8D0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919028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9BD891F-5206-EB19-0748-670143272B00}"/>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FF145178-55AE-485F-8A40-EC2DB62A45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2D26AB8-AD68-94B6-8C87-57FA15DA81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472558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C98BA60B-4CC5-26FF-01D6-779B88EBA9E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79A5C1B-0B2F-0C26-9C63-BDCA3E50E4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59DC1B2E-BBA6-D918-D6F4-E53EFABADD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493920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6B3F386-7D40-2032-9E2D-C395A1C63188}"/>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726C5093-224B-24A0-0D79-135CC32FBE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93D4324-760E-B70F-791F-A7D45E7D71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005838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26F525D-7A82-7F70-59EB-97FD642EB2F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997E7C8-063D-D23F-0EB9-7A7579C10C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CE4DF2B-0A38-896F-C92C-F2D68A27DC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6810579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1AAD392-2AC4-F43D-744D-20417A04CA29}"/>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6C9CB621-8FDB-04CE-2220-6C5186EBEC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E293C24-5025-0717-227B-A8A019D077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324277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8F87942-C4A4-C217-ABE1-CB82261CA73F}"/>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332DA8B2-1CFF-5AA8-9205-BEDCB7DC16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E02C826-F18C-5BC5-7F1F-0388E0F90A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8733847"/>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B8E1A9C-F9D8-74E2-02A0-9BB1257FBA0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1BAD287E-26DF-2E80-1621-40A48022B9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D266D4D-A08F-8407-E7D1-7AA470ABDE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973878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04A37F5-6AE4-8731-9C78-0276324B1033}"/>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0A2DBD7E-663B-0365-9C63-CB4966F152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162A60C9-EA8B-6D8A-D487-60B29296D8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463989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0AE21DA9-C5D0-DE6B-F6EF-8F113859B99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F5015FA-4FDF-28E4-085E-6485CD4D0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E9653499-BFEC-33E7-9634-33974BC233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299417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D1ECFC6C-FE7B-790B-D67F-889422D4C62C}"/>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8A15E489-F6DD-D6D9-2ED7-EB4057179B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8546449-4620-15FA-BE88-DC48C89971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549836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9C70B2A9-B899-9488-8ED8-BF33A891B904}"/>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9EE0E55-5334-3990-BAF3-CCF64B295B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474C7431-B1B2-D261-A0E8-837258FCFF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924851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F9086BC-A85D-535D-477C-68AE22CA95E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D29A6942-2DCB-4745-B6FA-3BB395932D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A92E0913-9966-4B21-0C62-CE1A37376C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085807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BC6B7780-7FD4-12DB-AFC1-264876B07D16}"/>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BF50C9BE-FB4C-F15D-B8AF-343368CA1C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F4971BF5-FD51-3CD8-12AC-21260C5969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87859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729D0C1D-0BDD-4B0B-0ADD-CB3C05AA4662}"/>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E3D7841D-D2B9-6770-ADE3-6AE179EBCE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7DD06CFB-00F6-7862-C492-15CC61A0A1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24452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AB5F1433-FF6E-7294-89EA-7D67C670467A}"/>
            </a:ext>
          </a:extLst>
        </p:cNvPr>
        <p:cNvGrpSpPr/>
        <p:nvPr/>
      </p:nvGrpSpPr>
      <p:grpSpPr>
        <a:xfrm>
          <a:off x="0" y="0"/>
          <a:ext cx="0" cy="0"/>
          <a:chOff x="0" y="0"/>
          <a:chExt cx="0" cy="0"/>
        </a:xfrm>
      </p:grpSpPr>
      <p:sp>
        <p:nvSpPr>
          <p:cNvPr id="298" name="Google Shape;298;g78dea5054f_1_172:notes">
            <a:extLst>
              <a:ext uri="{FF2B5EF4-FFF2-40B4-BE49-F238E27FC236}">
                <a16:creationId xmlns:a16="http://schemas.microsoft.com/office/drawing/2014/main" id="{22F31F17-EE4D-AB0A-2F9C-F7931D162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78dea5054f_1_172:notes">
            <a:extLst>
              <a:ext uri="{FF2B5EF4-FFF2-40B4-BE49-F238E27FC236}">
                <a16:creationId xmlns:a16="http://schemas.microsoft.com/office/drawing/2014/main" id="{6D16CE91-D1C8-2F74-A38C-F87570D550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4933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25/08/2026</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25/08/2026</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908454" y="1360481"/>
            <a:ext cx="4605340" cy="2387600"/>
          </a:xfrm>
        </p:spPr>
        <p:txBody>
          <a:bodyPr>
            <a:normAutofit/>
          </a:bodyPr>
          <a:lstStyle/>
          <a:p>
            <a:pPr algn="l"/>
            <a:r>
              <a:rPr lang="en-US" sz="3900">
                <a:solidFill>
                  <a:schemeClr val="bg1"/>
                </a:solidFill>
                <a:latin typeface="Calibir"/>
              </a:rPr>
              <a:t>32555 – Fundamentals of Software Development</a:t>
            </a:r>
            <a:endParaRPr lang="en-AU" sz="3900">
              <a:solidFill>
                <a:schemeClr val="bg1"/>
              </a:solidFill>
              <a:latin typeface="Calibir"/>
            </a:endParaRPr>
          </a:p>
        </p:txBody>
      </p:sp>
      <p:pic>
        <p:nvPicPr>
          <p:cNvPr id="3" name="Picture 2">
            <a:extLst>
              <a:ext uri="{FF2B5EF4-FFF2-40B4-BE49-F238E27FC236}">
                <a16:creationId xmlns:a16="http://schemas.microsoft.com/office/drawing/2014/main" id="{A98A4EEB-3C3C-78E4-5144-CBDE3AFA8CA8}"/>
              </a:ext>
            </a:extLst>
          </p:cNvPr>
          <p:cNvPicPr>
            <a:picLocks noChangeAspect="1"/>
          </p:cNvPicPr>
          <p:nvPr/>
        </p:nvPicPr>
        <p:blipFill>
          <a:blip r:embed="rId2">
            <a:alphaModFix/>
            <a:extLst>
              <a:ext uri="{28A0092B-C50C-407E-A947-70E740481C1C}">
                <a14:useLocalDpi xmlns:a14="http://schemas.microsoft.com/office/drawing/2010/main" val="0"/>
              </a:ext>
            </a:extLst>
          </a:blip>
          <a:srcRect l="3847" r="98" b="1"/>
          <a:stretch>
            <a:fillRect/>
          </a:stretch>
        </p:blipFill>
        <p:spPr>
          <a:xfrm>
            <a:off x="5800734" y="1057275"/>
            <a:ext cx="5917401" cy="4743450"/>
          </a:xfrm>
          <a:prstGeom prst="rect">
            <a:avLst/>
          </a:prstGeom>
        </p:spPr>
      </p:pic>
      <p:sp>
        <p:nvSpPr>
          <p:cNvPr id="22" name="Rectangle 2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85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7A11-47AE-C133-8206-569A0BB0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E1848-8E74-13DF-C09C-3CC64A483572}"/>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sp>
        <p:nvSpPr>
          <p:cNvPr id="5" name="Rectangle 1">
            <a:extLst>
              <a:ext uri="{FF2B5EF4-FFF2-40B4-BE49-F238E27FC236}">
                <a16:creationId xmlns:a16="http://schemas.microsoft.com/office/drawing/2014/main" id="{F5185FC6-5CEA-DC1B-A1DF-D2D8A89484E9}"/>
              </a:ext>
            </a:extLst>
          </p:cNvPr>
          <p:cNvSpPr>
            <a:spLocks noChangeArrowheads="1"/>
          </p:cNvSpPr>
          <p:nvPr/>
        </p:nvSpPr>
        <p:spPr bwMode="auto">
          <a:xfrm>
            <a:off x="0" y="837669"/>
            <a:ext cx="12192000" cy="596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ir"/>
                <a:ea typeface="+mn-ea"/>
                <a:cs typeface="+mn-cs"/>
              </a:rPr>
              <a:t>Your Teaching Team:</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ir"/>
                <a:ea typeface="+mn-ea"/>
                <a:cs typeface="+mn-cs"/>
              </a:rPr>
              <a:t>Dr. Yining Hu | Subject Coordinator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Yining is a Lecturer in Software Engineering. She works with many SMEs to develop software and AI solutions through student and research projects at UTS.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yining.hu@uts.edu.au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Xiaojie (Zoe) Lin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Zoe is a full-stack software engineer with an interest in data analysis, specializing in JAVA, R, Python, JavaScript, PHP, Bash, and MATLAB; familiar with AWS.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Xiaojie.Lin@uts.edu.au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Farshid Keivanian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Dr. Farshid Keivanian is an experienced university lecturer and researcher with a PhD in Information Technology. He has over 15 years of teaching experience across Australian institutions, </a:t>
            </a:r>
            <a:r>
              <a:rPr kumimoji="0" lang="en-US" sz="1600" b="0" i="0" u="none" strike="noStrike" kern="1200" cap="none" spc="0" normalizeH="0" baseline="0" noProof="0" dirty="0" err="1">
                <a:ln>
                  <a:noFill/>
                </a:ln>
                <a:solidFill>
                  <a:prstClr val="black"/>
                </a:solidFill>
                <a:effectLst/>
                <a:uLnTx/>
                <a:uFillTx/>
                <a:latin typeface="Calibir"/>
                <a:ea typeface="+mn-ea"/>
                <a:cs typeface="+mn-cs"/>
              </a:rPr>
              <a:t>specialising</a:t>
            </a:r>
            <a:r>
              <a:rPr kumimoji="0" lang="en-US" sz="1600" b="0" i="0" u="none" strike="noStrike" kern="1200" cap="none" spc="0" normalizeH="0" baseline="0" noProof="0" dirty="0">
                <a:ln>
                  <a:noFill/>
                </a:ln>
                <a:solidFill>
                  <a:prstClr val="black"/>
                </a:solidFill>
                <a:effectLst/>
                <a:uLnTx/>
                <a:uFillTx/>
                <a:latin typeface="Calibir"/>
                <a:ea typeface="+mn-ea"/>
                <a:cs typeface="+mn-cs"/>
              </a:rPr>
              <a:t> in software engineering, data science, AI, and cybersecurity.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Farshid.Keivanian@uts.edu.au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Yong Pov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Yong is a full-stack software engineer with experience in React, JavaScript, TypeScript, Java, Python, SQL, and AI-assisted learning platforms.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Yong.Pov@uts.edu.au</a:t>
            </a:r>
          </a:p>
        </p:txBody>
      </p:sp>
    </p:spTree>
    <p:extLst>
      <p:ext uri="{BB962C8B-B14F-4D97-AF65-F5344CB8AC3E}">
        <p14:creationId xmlns:p14="http://schemas.microsoft.com/office/powerpoint/2010/main" val="79433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6DC6-424A-EAE3-87C1-E5765B094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5FDA-B4C2-6DD5-17BE-680D628581FF}"/>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graphicFrame>
        <p:nvGraphicFramePr>
          <p:cNvPr id="3" name="Table 2">
            <a:extLst>
              <a:ext uri="{FF2B5EF4-FFF2-40B4-BE49-F238E27FC236}">
                <a16:creationId xmlns:a16="http://schemas.microsoft.com/office/drawing/2014/main" id="{EE98AB95-B27E-184F-3760-418B8D55B79F}"/>
              </a:ext>
            </a:extLst>
          </p:cNvPr>
          <p:cNvGraphicFramePr>
            <a:graphicFrameLocks noGrp="1"/>
          </p:cNvGraphicFramePr>
          <p:nvPr/>
        </p:nvGraphicFramePr>
        <p:xfrm>
          <a:off x="722671" y="1816610"/>
          <a:ext cx="9792928" cy="3681218"/>
        </p:xfrm>
        <a:graphic>
          <a:graphicData uri="http://schemas.openxmlformats.org/drawingml/2006/table">
            <a:tbl>
              <a:tblPr>
                <a:tableStyleId>{BC89EF96-8CEA-46FF-86C4-4CE0E7609802}</a:tableStyleId>
              </a:tblPr>
              <a:tblGrid>
                <a:gridCol w="1613329">
                  <a:extLst>
                    <a:ext uri="{9D8B030D-6E8A-4147-A177-3AD203B41FA5}">
                      <a16:colId xmlns:a16="http://schemas.microsoft.com/office/drawing/2014/main" val="79494275"/>
                    </a:ext>
                  </a:extLst>
                </a:gridCol>
                <a:gridCol w="2230244">
                  <a:extLst>
                    <a:ext uri="{9D8B030D-6E8A-4147-A177-3AD203B41FA5}">
                      <a16:colId xmlns:a16="http://schemas.microsoft.com/office/drawing/2014/main" val="2506284612"/>
                    </a:ext>
                  </a:extLst>
                </a:gridCol>
                <a:gridCol w="2864347">
                  <a:extLst>
                    <a:ext uri="{9D8B030D-6E8A-4147-A177-3AD203B41FA5}">
                      <a16:colId xmlns:a16="http://schemas.microsoft.com/office/drawing/2014/main" val="2357989121"/>
                    </a:ext>
                  </a:extLst>
                </a:gridCol>
                <a:gridCol w="3085008">
                  <a:extLst>
                    <a:ext uri="{9D8B030D-6E8A-4147-A177-3AD203B41FA5}">
                      <a16:colId xmlns:a16="http://schemas.microsoft.com/office/drawing/2014/main" val="192731506"/>
                    </a:ext>
                  </a:extLst>
                </a:gridCol>
              </a:tblGrid>
              <a:tr h="37063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Cmp1 #</a:t>
                      </a:r>
                      <a:endParaRPr lang="en-US" sz="2800" b="0" i="0" dirty="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Location</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Time</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Tutor</a:t>
                      </a:r>
                      <a:endParaRPr lang="en-US" sz="2800" b="0" i="0">
                        <a:solidFill>
                          <a:srgbClr val="252B2B"/>
                        </a:solidFill>
                        <a:effectLst/>
                        <a:latin typeface="Calibir"/>
                      </a:endParaRPr>
                    </a:p>
                  </a:txBody>
                  <a:tcPr anchor="ctr"/>
                </a:tc>
                <a:extLst>
                  <a:ext uri="{0D108BD9-81ED-4DB2-BD59-A6C34878D82A}">
                    <a16:rowId xmlns:a16="http://schemas.microsoft.com/office/drawing/2014/main" val="4280461216"/>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01</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16:00-18:00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Xiaojie (Zoe) Lin</a:t>
                      </a:r>
                      <a:endParaRPr lang="en-US" sz="2800" b="0" i="0">
                        <a:solidFill>
                          <a:srgbClr val="252B2B"/>
                        </a:solidFill>
                        <a:effectLst/>
                        <a:latin typeface="Calibir"/>
                      </a:endParaRPr>
                    </a:p>
                  </a:txBody>
                  <a:tcPr marL="14630" marR="14630" marT="14630" marB="14630" anchor="ctr"/>
                </a:tc>
                <a:extLst>
                  <a:ext uri="{0D108BD9-81ED-4DB2-BD59-A6C34878D82A}">
                    <a16:rowId xmlns:a16="http://schemas.microsoft.com/office/drawing/2014/main" val="3707997205"/>
                  </a:ext>
                </a:extLst>
              </a:tr>
              <a:tr h="38526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07</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10:00-12:00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2266278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08</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12:00-14:00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Yong Pov</a:t>
                      </a:r>
                      <a:endParaRPr lang="en-US" sz="2800" b="0" i="0" dirty="0">
                        <a:solidFill>
                          <a:srgbClr val="252B2B"/>
                        </a:solidFill>
                        <a:effectLst/>
                        <a:latin typeface="Calibir"/>
                      </a:endParaRPr>
                    </a:p>
                  </a:txBody>
                  <a:tcPr marL="14630" marR="14630" marT="14630" marB="14630" anchor="ctr"/>
                </a:tc>
                <a:extLst>
                  <a:ext uri="{0D108BD9-81ED-4DB2-BD59-A6C34878D82A}">
                    <a16:rowId xmlns:a16="http://schemas.microsoft.com/office/drawing/2014/main" val="13359214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09</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CB11.B1.103</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16:00-18:00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4247187035"/>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10</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12:00-14:00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1381140912"/>
                  </a:ext>
                </a:extLst>
              </a:tr>
            </a:tbl>
          </a:graphicData>
        </a:graphic>
      </p:graphicFrame>
    </p:spTree>
    <p:extLst>
      <p:ext uri="{BB962C8B-B14F-4D97-AF65-F5344CB8AC3E}">
        <p14:creationId xmlns:p14="http://schemas.microsoft.com/office/powerpoint/2010/main" val="158468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5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52554"/>
            <a:ext cx="12192000" cy="5324535"/>
          </a:xfrm>
          <a:prstGeom prst="rect">
            <a:avLst/>
          </a:prstGeom>
          <a:noFill/>
        </p:spPr>
        <p:txBody>
          <a:bodyPr wrap="square">
            <a:spAutoFit/>
          </a:bodyPr>
          <a:lstStyle/>
          <a:p>
            <a:pPr marL="51435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Have you formed your group?</a:t>
            </a:r>
          </a:p>
          <a:p>
            <a:pPr marL="514350" indent="-514350">
              <a:spcAft>
                <a:spcPts val="800"/>
              </a:spcAft>
              <a:buFont typeface="+mj-lt"/>
              <a:buAutoNum type="arabicPeriod"/>
            </a:pPr>
            <a:r>
              <a:rPr lang="en-US" sz="2800" dirty="0">
                <a:latin typeface="Calibir"/>
              </a:rPr>
              <a:t>Assessment Task 1: Case Study – Part 1: Analysis and Design Preparation Guide</a:t>
            </a:r>
            <a:endParaRPr lang="en-US" sz="2800" kern="100" dirty="0">
              <a:latin typeface="Calibir"/>
              <a:ea typeface="Aptos" panose="020B0004020202020204" pitchFamily="34" charset="0"/>
              <a:cs typeface="Arial" panose="020B0604020202020204" pitchFamily="34" charset="0"/>
            </a:endParaRPr>
          </a:p>
          <a:p>
            <a:pPr marL="514350" lvl="0" indent="-514350">
              <a:spcAft>
                <a:spcPts val="800"/>
              </a:spcAft>
              <a:buFont typeface="+mj-lt"/>
              <a:buAutoNum type="arabicPeriod"/>
            </a:pPr>
            <a:r>
              <a:rPr lang="en-US" sz="2800" dirty="0">
                <a:latin typeface="Calibir"/>
              </a:rPr>
              <a:t>Lab 5 Exercises</a:t>
            </a:r>
          </a:p>
          <a:p>
            <a:pPr marL="514350" lvl="0" indent="-514350">
              <a:spcAft>
                <a:spcPts val="800"/>
              </a:spcAft>
              <a:buFont typeface="+mj-lt"/>
              <a:buAutoNum type="arabicPeriod"/>
            </a:pPr>
            <a:r>
              <a:rPr lang="en-US" sz="2800" dirty="0">
                <a:latin typeface="Calibir"/>
              </a:rPr>
              <a:t>Class Diagram Practice</a:t>
            </a:r>
          </a:p>
          <a:p>
            <a:pPr marL="514350" lvl="0" indent="-514350">
              <a:spcAft>
                <a:spcPts val="800"/>
              </a:spcAft>
              <a:buFont typeface="+mj-lt"/>
              <a:buAutoNum type="arabicPeriod"/>
            </a:pPr>
            <a:r>
              <a:rPr lang="en-US" sz="2800" dirty="0">
                <a:latin typeface="Calibir"/>
              </a:rPr>
              <a:t>From UML Diagram to Code: Library Example (Java)</a:t>
            </a:r>
          </a:p>
          <a:p>
            <a:pPr marL="514350" lvl="0" indent="-514350">
              <a:spcAft>
                <a:spcPts val="800"/>
              </a:spcAft>
              <a:buFont typeface="+mj-lt"/>
              <a:buAutoNum type="arabicPeriod"/>
            </a:pPr>
            <a:r>
              <a:rPr lang="en-US" sz="2800" dirty="0">
                <a:latin typeface="Calibir"/>
              </a:rPr>
              <a:t>From UML Diagram to Code: Library Example (Python)</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1 — Show the current count when limit blocks borrowing</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2 — Show total borrowed after a successful borrow</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3 — Show remaining count after a successful return</a:t>
            </a:r>
          </a:p>
          <a:p>
            <a:pPr marL="514350" lvl="0" indent="-514350">
              <a:spcAft>
                <a:spcPts val="800"/>
              </a:spcAft>
              <a:buFont typeface="+mj-lt"/>
              <a:buAutoNum type="arabicPeriod"/>
            </a:pPr>
            <a:r>
              <a:rPr lang="en-US" sz="2800" kern="100" dirty="0">
                <a:latin typeface="Calibir"/>
                <a:ea typeface="Aptos" panose="020B0004020202020204" pitchFamily="34" charset="0"/>
                <a:cs typeface="Arial" panose="020B0604020202020204" pitchFamily="34" charset="0"/>
              </a:rPr>
              <a:t>Activity 4 — Track how many times a book has ever been borrowed</a:t>
            </a:r>
          </a:p>
        </p:txBody>
      </p:sp>
    </p:spTree>
    <p:extLst>
      <p:ext uri="{BB962C8B-B14F-4D97-AF65-F5344CB8AC3E}">
        <p14:creationId xmlns:p14="http://schemas.microsoft.com/office/powerpoint/2010/main" val="3000910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2D336-7811-427D-8BC8-6D419505E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180BBD-6520-1EA8-3BDC-4FB8E90E7817}"/>
              </a:ext>
            </a:extLst>
          </p:cNvPr>
          <p:cNvSpPr>
            <a:spLocks noGrp="1"/>
          </p:cNvSpPr>
          <p:nvPr>
            <p:ph type="title"/>
          </p:nvPr>
        </p:nvSpPr>
        <p:spPr>
          <a:xfrm>
            <a:off x="0" y="1"/>
            <a:ext cx="12192000" cy="672661"/>
          </a:xfrm>
        </p:spPr>
        <p:txBody>
          <a:bodyPr anchor="b">
            <a:normAutofit/>
          </a:bodyPr>
          <a:lstStyle/>
          <a:p>
            <a:r>
              <a:rPr lang="en-US" sz="4000" dirty="0">
                <a:latin typeface="Calibir"/>
              </a:rPr>
              <a:t>Week 5 Outline</a:t>
            </a:r>
            <a:endParaRPr lang="en-AU" sz="4000" b="1" dirty="0">
              <a:latin typeface="Calibir"/>
            </a:endParaRPr>
          </a:p>
        </p:txBody>
      </p:sp>
      <p:sp>
        <p:nvSpPr>
          <p:cNvPr id="5" name="TextBox 4">
            <a:extLst>
              <a:ext uri="{FF2B5EF4-FFF2-40B4-BE49-F238E27FC236}">
                <a16:creationId xmlns:a16="http://schemas.microsoft.com/office/drawing/2014/main" id="{881795D0-7D2C-4583-4731-403F6499812A}"/>
              </a:ext>
            </a:extLst>
          </p:cNvPr>
          <p:cNvSpPr txBox="1"/>
          <p:nvPr/>
        </p:nvSpPr>
        <p:spPr>
          <a:xfrm>
            <a:off x="0" y="852554"/>
            <a:ext cx="12192000" cy="3724096"/>
          </a:xfrm>
          <a:prstGeom prst="rect">
            <a:avLst/>
          </a:prstGeom>
          <a:noFill/>
        </p:spPr>
        <p:txBody>
          <a:bodyPr wrap="square">
            <a:spAutoFit/>
          </a:bodyPr>
          <a:lstStyle/>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5 — Show who already has the book</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6 — Show remaining slots after a successful borrow	</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7 — When returning a book you don’t have, show who actually has it</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8 — Simple email sanity check on member creation</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9 — Tidy book titles on creation</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Activity 10 — Warn on duplicate ISBN when adding to the library</a:t>
            </a:r>
          </a:p>
          <a:p>
            <a:pPr marL="514350" lvl="0" indent="-514350">
              <a:spcAft>
                <a:spcPts val="800"/>
              </a:spcAft>
              <a:buFont typeface="+mj-lt"/>
              <a:buAutoNum type="arabicPeriod" startAt="10"/>
            </a:pPr>
            <a:r>
              <a:rPr lang="en-US" sz="2800" kern="100" dirty="0">
                <a:latin typeface="Calibir"/>
                <a:ea typeface="Aptos" panose="020B0004020202020204" pitchFamily="34" charset="0"/>
                <a:cs typeface="Arial" panose="020B0604020202020204" pitchFamily="34" charset="0"/>
              </a:rPr>
              <a:t>Reference Note for Students</a:t>
            </a:r>
          </a:p>
        </p:txBody>
      </p:sp>
    </p:spTree>
    <p:extLst>
      <p:ext uri="{BB962C8B-B14F-4D97-AF65-F5344CB8AC3E}">
        <p14:creationId xmlns:p14="http://schemas.microsoft.com/office/powerpoint/2010/main" val="3578222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90291-F964-A60C-1C6B-2F570C4BC4C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276A87E-9903-BA3A-FBCA-E4C7EDCD1FEB}"/>
              </a:ext>
            </a:extLst>
          </p:cNvPr>
          <p:cNvPicPr>
            <a:picLocks noChangeAspect="1"/>
          </p:cNvPicPr>
          <p:nvPr/>
        </p:nvPicPr>
        <p:blipFill>
          <a:blip r:embed="rId2"/>
          <a:srcRect t="8122" b="5594"/>
          <a:stretch>
            <a:fillRect/>
          </a:stretch>
        </p:blipFill>
        <p:spPr>
          <a:xfrm>
            <a:off x="0" y="830317"/>
            <a:ext cx="12192000" cy="5917324"/>
          </a:xfrm>
          <a:prstGeom prst="rect">
            <a:avLst/>
          </a:prstGeom>
        </p:spPr>
      </p:pic>
      <p:sp>
        <p:nvSpPr>
          <p:cNvPr id="2" name="Title 1">
            <a:extLst>
              <a:ext uri="{FF2B5EF4-FFF2-40B4-BE49-F238E27FC236}">
                <a16:creationId xmlns:a16="http://schemas.microsoft.com/office/drawing/2014/main" id="{C73BC193-02BF-4E2A-AFEE-B5DEE45B27F8}"/>
              </a:ext>
            </a:extLst>
          </p:cNvPr>
          <p:cNvSpPr>
            <a:spLocks noGrp="1"/>
          </p:cNvSpPr>
          <p:nvPr>
            <p:ph type="title"/>
          </p:nvPr>
        </p:nvSpPr>
        <p:spPr>
          <a:xfrm>
            <a:off x="0" y="1"/>
            <a:ext cx="12192000" cy="756744"/>
          </a:xfrm>
        </p:spPr>
        <p:txBody>
          <a:bodyPr anchor="b">
            <a:normAutofit/>
          </a:bodyPr>
          <a:lstStyle/>
          <a:p>
            <a:r>
              <a:rPr lang="en-US" sz="4000" dirty="0">
                <a:latin typeface="Calibir"/>
              </a:rPr>
              <a:t>Have you formed your group?</a:t>
            </a:r>
            <a:endParaRPr lang="en-AU" sz="4000" b="1" dirty="0">
              <a:latin typeface="Calibir"/>
            </a:endParaRPr>
          </a:p>
        </p:txBody>
      </p:sp>
      <p:sp>
        <p:nvSpPr>
          <p:cNvPr id="7" name="Rectangle: Rounded Corners 6">
            <a:extLst>
              <a:ext uri="{FF2B5EF4-FFF2-40B4-BE49-F238E27FC236}">
                <a16:creationId xmlns:a16="http://schemas.microsoft.com/office/drawing/2014/main" id="{27E66896-DE0D-56C1-372D-2A4F8BAFCFCA}"/>
              </a:ext>
            </a:extLst>
          </p:cNvPr>
          <p:cNvSpPr/>
          <p:nvPr/>
        </p:nvSpPr>
        <p:spPr>
          <a:xfrm>
            <a:off x="772132" y="5404586"/>
            <a:ext cx="531151" cy="207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69189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5F0F5-FD53-CE0F-13C1-2880609F5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B4B8F-1BBF-5623-ECC2-397852ABFB82}"/>
              </a:ext>
            </a:extLst>
          </p:cNvPr>
          <p:cNvSpPr>
            <a:spLocks noGrp="1"/>
          </p:cNvSpPr>
          <p:nvPr>
            <p:ph type="title"/>
          </p:nvPr>
        </p:nvSpPr>
        <p:spPr>
          <a:xfrm>
            <a:off x="0" y="0"/>
            <a:ext cx="12192000" cy="1057617"/>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pic>
        <p:nvPicPr>
          <p:cNvPr id="4" name="Picture 3">
            <a:extLst>
              <a:ext uri="{FF2B5EF4-FFF2-40B4-BE49-F238E27FC236}">
                <a16:creationId xmlns:a16="http://schemas.microsoft.com/office/drawing/2014/main" id="{39257539-71F5-F965-827D-7B64105E5A50}"/>
              </a:ext>
            </a:extLst>
          </p:cNvPr>
          <p:cNvPicPr>
            <a:picLocks noChangeAspect="1"/>
          </p:cNvPicPr>
          <p:nvPr/>
        </p:nvPicPr>
        <p:blipFill>
          <a:blip r:embed="rId2"/>
          <a:srcRect t="7229" r="17229" b="13735"/>
          <a:stretch>
            <a:fillRect/>
          </a:stretch>
        </p:blipFill>
        <p:spPr>
          <a:xfrm>
            <a:off x="1050274" y="1057618"/>
            <a:ext cx="10091451" cy="5420299"/>
          </a:xfrm>
          <a:prstGeom prst="rect">
            <a:avLst/>
          </a:prstGeom>
        </p:spPr>
      </p:pic>
    </p:spTree>
    <p:extLst>
      <p:ext uri="{BB962C8B-B14F-4D97-AF65-F5344CB8AC3E}">
        <p14:creationId xmlns:p14="http://schemas.microsoft.com/office/powerpoint/2010/main" val="1370616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969484"/>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pic>
        <p:nvPicPr>
          <p:cNvPr id="5" name="Picture 4">
            <a:extLst>
              <a:ext uri="{FF2B5EF4-FFF2-40B4-BE49-F238E27FC236}">
                <a16:creationId xmlns:a16="http://schemas.microsoft.com/office/drawing/2014/main" id="{E7724CD8-1155-AA17-E5F3-ADDFF0AD433C}"/>
              </a:ext>
            </a:extLst>
          </p:cNvPr>
          <p:cNvPicPr>
            <a:picLocks noChangeAspect="1"/>
          </p:cNvPicPr>
          <p:nvPr/>
        </p:nvPicPr>
        <p:blipFill>
          <a:blip r:embed="rId2"/>
          <a:srcRect t="8193" b="12491"/>
          <a:stretch>
            <a:fillRect/>
          </a:stretch>
        </p:blipFill>
        <p:spPr>
          <a:xfrm>
            <a:off x="0" y="969484"/>
            <a:ext cx="12192000" cy="5439547"/>
          </a:xfrm>
          <a:prstGeom prst="rect">
            <a:avLst/>
          </a:prstGeom>
        </p:spPr>
      </p:pic>
      <p:sp>
        <p:nvSpPr>
          <p:cNvPr id="3" name="Rectangle: Rounded Corners 2">
            <a:extLst>
              <a:ext uri="{FF2B5EF4-FFF2-40B4-BE49-F238E27FC236}">
                <a16:creationId xmlns:a16="http://schemas.microsoft.com/office/drawing/2014/main" id="{695FC13A-F487-7323-3178-CC771C2AB050}"/>
              </a:ext>
            </a:extLst>
          </p:cNvPr>
          <p:cNvSpPr/>
          <p:nvPr/>
        </p:nvSpPr>
        <p:spPr>
          <a:xfrm>
            <a:off x="2352907" y="3880624"/>
            <a:ext cx="5229922" cy="524108"/>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573199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4AF4D-CE09-92F4-C8F3-5BBBA4D93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B62E3-B0A5-6165-6115-B11BF5F57594}"/>
              </a:ext>
            </a:extLst>
          </p:cNvPr>
          <p:cNvSpPr>
            <a:spLocks noGrp="1"/>
          </p:cNvSpPr>
          <p:nvPr>
            <p:ph type="title"/>
          </p:nvPr>
        </p:nvSpPr>
        <p:spPr>
          <a:xfrm>
            <a:off x="0" y="-1"/>
            <a:ext cx="12192000" cy="1072055"/>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
        <p:nvSpPr>
          <p:cNvPr id="3" name="Rectangle 1">
            <a:extLst>
              <a:ext uri="{FF2B5EF4-FFF2-40B4-BE49-F238E27FC236}">
                <a16:creationId xmlns:a16="http://schemas.microsoft.com/office/drawing/2014/main" id="{04E865F2-2F56-2554-3B7F-410CC6B90348}"/>
              </a:ext>
            </a:extLst>
          </p:cNvPr>
          <p:cNvSpPr>
            <a:spLocks noChangeArrowheads="1"/>
          </p:cNvSpPr>
          <p:nvPr/>
        </p:nvSpPr>
        <p:spPr bwMode="auto">
          <a:xfrm>
            <a:off x="0" y="1744104"/>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General admin (read first)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Groups: 3–4 students. Please </a:t>
            </a:r>
            <a:r>
              <a:rPr lang="en-US" sz="2800" dirty="0" err="1">
                <a:latin typeface="Calibir"/>
              </a:rPr>
              <a:t>finalise</a:t>
            </a:r>
            <a:r>
              <a:rPr lang="en-US" sz="2800" dirty="0">
                <a:latin typeface="Calibir"/>
              </a:rPr>
              <a:t> your group by the end of Week 4 using the Canvas group tool, or speak with your tutor during the lab if you need assistance.</a:t>
            </a:r>
            <a:endParaRPr kumimoji="0" lang="en-US" altLang="en-US" sz="2800" i="0" u="none" strike="noStrike" cap="none" normalizeH="0" baseline="0" dirty="0">
              <a:ln>
                <a:noFill/>
              </a:ln>
              <a:solidFill>
                <a:schemeClr val="tx1"/>
              </a:solidFill>
              <a:effectLst/>
              <a:latin typeface="Calibir"/>
            </a:endParaRPr>
          </a:p>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Submission: One group file for Assessment 1 – Part 1 (PDF or DOCX) by Sunday, 13 September 2026, 11:59 pm (Week 7).</a:t>
            </a:r>
            <a:endParaRPr kumimoji="0" lang="en-US" altLang="en-US" sz="280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799984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E3E0A-D96A-46B7-2EF9-BD7619A3B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B334C-BEB6-EDEB-3A53-337DBBD81937}"/>
              </a:ext>
            </a:extLst>
          </p:cNvPr>
          <p:cNvSpPr>
            <a:spLocks noGrp="1"/>
          </p:cNvSpPr>
          <p:nvPr>
            <p:ph type="title"/>
          </p:nvPr>
        </p:nvSpPr>
        <p:spPr>
          <a:xfrm>
            <a:off x="0" y="0"/>
            <a:ext cx="12192000" cy="1030014"/>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
        <p:nvSpPr>
          <p:cNvPr id="3" name="Rectangle 1">
            <a:extLst>
              <a:ext uri="{FF2B5EF4-FFF2-40B4-BE49-F238E27FC236}">
                <a16:creationId xmlns:a16="http://schemas.microsoft.com/office/drawing/2014/main" id="{8586AA47-69D0-0332-FE83-4C875217C675}"/>
              </a:ext>
            </a:extLst>
          </p:cNvPr>
          <p:cNvSpPr>
            <a:spLocks noChangeArrowheads="1"/>
          </p:cNvSpPr>
          <p:nvPr/>
        </p:nvSpPr>
        <p:spPr bwMode="auto">
          <a:xfrm>
            <a:off x="0" y="1097773"/>
            <a:ext cx="121920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Filename: group-&lt;group-number&gt;-Cmp1&lt;lab-number&gt;.&lt;</a:t>
            </a:r>
            <a:r>
              <a:rPr lang="en-US" sz="2800" dirty="0" err="1">
                <a:latin typeface="Calibir"/>
              </a:rPr>
              <a:t>pdf|docx</a:t>
            </a:r>
            <a:r>
              <a:rPr lang="en-US" sz="2800" dirty="0">
                <a:latin typeface="Calibir"/>
              </a:rPr>
              <a:t>&gt; (e.g., group-07-Cmp103.pdf).</a:t>
            </a:r>
            <a:endParaRPr lang="en-US" altLang="en-US" sz="2800" dirty="0">
              <a:latin typeface="Calibir"/>
            </a:endParaRPr>
          </a:p>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Peer rating (</a:t>
            </a:r>
            <a:r>
              <a:rPr lang="en-US" sz="2800" dirty="0" err="1">
                <a:latin typeface="Calibir"/>
              </a:rPr>
              <a:t>SparkPlus</a:t>
            </a:r>
            <a:r>
              <a:rPr lang="en-US" sz="2800" dirty="0">
                <a:latin typeface="Calibir"/>
              </a:rPr>
              <a:t>): Complete the </a:t>
            </a:r>
            <a:r>
              <a:rPr lang="en-US" sz="2800" dirty="0" err="1">
                <a:latin typeface="Calibir"/>
              </a:rPr>
              <a:t>SparkPlus</a:t>
            </a:r>
            <a:r>
              <a:rPr lang="en-US" sz="2800" dirty="0">
                <a:latin typeface="Calibir"/>
              </a:rPr>
              <a:t> peer-rating task by the deadline shown in Canvas. The current Part 1 </a:t>
            </a:r>
            <a:r>
              <a:rPr lang="en-US" sz="2800" dirty="0" err="1">
                <a:latin typeface="Calibir"/>
              </a:rPr>
              <a:t>SparkPlus</a:t>
            </a:r>
            <a:r>
              <a:rPr lang="en-US" sz="2800" dirty="0">
                <a:latin typeface="Calibir"/>
              </a:rPr>
              <a:t> task is due Sunday, 13 September 2026, 11:55 pm. Please check Canvas for its exact availability window.</a:t>
            </a:r>
            <a:endParaRPr lang="en-US" altLang="en-US" sz="2800" dirty="0">
              <a:latin typeface="Calibir"/>
            </a:endParaRP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Scope: Part 1 is analysis &amp; design only (no code required). Part 2 is implementation; Part 3 is the showcase.</a:t>
            </a:r>
          </a:p>
        </p:txBody>
      </p:sp>
    </p:spTree>
    <p:extLst>
      <p:ext uri="{BB962C8B-B14F-4D97-AF65-F5344CB8AC3E}">
        <p14:creationId xmlns:p14="http://schemas.microsoft.com/office/powerpoint/2010/main" val="1051046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91CEA-0555-92C5-2F9A-9ABD90B54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38537-BF17-D778-1938-E5CC3BBD40B3}"/>
              </a:ext>
            </a:extLst>
          </p:cNvPr>
          <p:cNvSpPr>
            <a:spLocks noGrp="1"/>
          </p:cNvSpPr>
          <p:nvPr>
            <p:ph type="title"/>
          </p:nvPr>
        </p:nvSpPr>
        <p:spPr>
          <a:xfrm>
            <a:off x="0" y="0"/>
            <a:ext cx="12192000" cy="1040524"/>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
        <p:nvSpPr>
          <p:cNvPr id="3" name="Rectangle 1">
            <a:extLst>
              <a:ext uri="{FF2B5EF4-FFF2-40B4-BE49-F238E27FC236}">
                <a16:creationId xmlns:a16="http://schemas.microsoft.com/office/drawing/2014/main" id="{E1C11665-AEBC-8F0D-F17C-4954E4E90D9E}"/>
              </a:ext>
            </a:extLst>
          </p:cNvPr>
          <p:cNvSpPr>
            <a:spLocks noChangeArrowheads="1"/>
          </p:cNvSpPr>
          <p:nvPr/>
        </p:nvSpPr>
        <p:spPr bwMode="auto">
          <a:xfrm>
            <a:off x="0" y="1413698"/>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Step 1 – Define the scope</a:t>
            </a:r>
          </a:p>
          <a:p>
            <a:pPr>
              <a:lnSpc>
                <a:spcPct val="150000"/>
              </a:lnSpc>
            </a:pPr>
            <a:r>
              <a:rPr lang="en-US" sz="2800" b="1" dirty="0">
                <a:latin typeface="Calibir"/>
              </a:rPr>
              <a:t>Actors</a:t>
            </a:r>
            <a:r>
              <a:rPr lang="en-US" sz="2800" dirty="0">
                <a:latin typeface="Calibir"/>
              </a:rPr>
              <a:t>: Student, Admin.</a:t>
            </a:r>
          </a:p>
          <a:p>
            <a:pPr marL="914400" lvl="1" indent="-457200">
              <a:lnSpc>
                <a:spcPct val="150000"/>
              </a:lnSpc>
              <a:buFont typeface="Arial" panose="020B0604020202020204" pitchFamily="34" charset="0"/>
              <a:buChar char="•"/>
            </a:pPr>
            <a:r>
              <a:rPr lang="en-US" sz="2800" b="1" dirty="0">
                <a:latin typeface="Calibir"/>
              </a:rPr>
              <a:t>Students can</a:t>
            </a:r>
            <a:r>
              <a:rPr lang="en-US" sz="2800" dirty="0">
                <a:latin typeface="Calibir"/>
              </a:rPr>
              <a:t>: register, log in, </a:t>
            </a:r>
            <a:r>
              <a:rPr lang="en-US" sz="2800" dirty="0" err="1">
                <a:latin typeface="Calibir"/>
              </a:rPr>
              <a:t>enrol</a:t>
            </a:r>
            <a:r>
              <a:rPr lang="en-US" sz="2800" dirty="0">
                <a:latin typeface="Calibir"/>
              </a:rPr>
              <a:t> in up to 4 subjects, drop a subject, view enrolments, change password.</a:t>
            </a:r>
          </a:p>
          <a:p>
            <a:pPr marL="914400" lvl="1" indent="-457200">
              <a:lnSpc>
                <a:spcPct val="150000"/>
              </a:lnSpc>
              <a:buFont typeface="Arial" panose="020B0604020202020204" pitchFamily="34" charset="0"/>
              <a:buChar char="•"/>
            </a:pPr>
            <a:r>
              <a:rPr lang="en-US" sz="2800" b="1" dirty="0">
                <a:latin typeface="Calibir"/>
              </a:rPr>
              <a:t>Admins can</a:t>
            </a:r>
            <a:r>
              <a:rPr lang="en-US" sz="2800" dirty="0">
                <a:latin typeface="Calibir"/>
              </a:rPr>
              <a:t>: view all students, group students by grade, categorize PASS/FAIL (mark &lt; 50 = FAIL; mark ≥ 50 = PASS), remove a student, clear all data.</a:t>
            </a:r>
          </a:p>
        </p:txBody>
      </p:sp>
    </p:spTree>
    <p:extLst>
      <p:ext uri="{BB962C8B-B14F-4D97-AF65-F5344CB8AC3E}">
        <p14:creationId xmlns:p14="http://schemas.microsoft.com/office/powerpoint/2010/main" val="1619725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2FB7-79DF-9732-1306-1BC111DA0301}"/>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42B44C4-36AC-56C3-77EE-E18D828663BF}"/>
              </a:ext>
            </a:extLst>
          </p:cNvPr>
          <p:cNvSpPr>
            <a:spLocks noChangeArrowheads="1"/>
          </p:cNvSpPr>
          <p:nvPr/>
        </p:nvSpPr>
        <p:spPr bwMode="auto">
          <a:xfrm>
            <a:off x="0" y="-138579"/>
            <a:ext cx="12192000" cy="7135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700" b="1" dirty="0">
                <a:latin typeface="Calibir"/>
              </a:rPr>
              <a:t>System must</a:t>
            </a:r>
            <a:r>
              <a:rPr lang="en-US" altLang="en-US" sz="27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validate email (@university.com) and password pattern (Uppercase first, ≥ 5 letters, ≥ 3 digits),</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generate 6-digit Student IDs (zero-padded) and 3-digit Subject IDs (zero-padded),</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auto-assign a random mark between 25–100 and convert it to grade bands (Z/P/C/D/HD),</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700" dirty="0">
                <a:latin typeface="Calibir"/>
              </a:rPr>
              <a:t>save/load all data from </a:t>
            </a:r>
            <a:r>
              <a:rPr lang="en-US" altLang="en-US" sz="2700" dirty="0" err="1">
                <a:latin typeface="Calibir"/>
              </a:rPr>
              <a:t>students.data</a:t>
            </a:r>
            <a:r>
              <a:rPr lang="en-US" altLang="en-US" sz="27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sz="2700" dirty="0">
                <a:latin typeface="Calibir"/>
              </a:rPr>
              <a:t>Out of scope for Part 1 implementation: coding the GUI. </a:t>
            </a:r>
            <a:r>
              <a:rPr lang="en-US" sz="2700" dirty="0" err="1">
                <a:latin typeface="Calibir"/>
              </a:rPr>
              <a:t>GUIUniApp</a:t>
            </a:r>
            <a:r>
              <a:rPr lang="en-US" sz="2700" dirty="0">
                <a:latin typeface="Calibir"/>
              </a:rPr>
              <a:t> is a Part 2 challenge task. Part 1 focuses on requirements analysis and software design. Multi-semester enrolment is explicitly out of scope for the system.</a:t>
            </a:r>
            <a:endParaRPr lang="en-US" altLang="en-US" sz="2700" dirty="0">
              <a:latin typeface="Calibir"/>
            </a:endParaRPr>
          </a:p>
        </p:txBody>
      </p:sp>
    </p:spTree>
    <p:extLst>
      <p:ext uri="{BB962C8B-B14F-4D97-AF65-F5344CB8AC3E}">
        <p14:creationId xmlns:p14="http://schemas.microsoft.com/office/powerpoint/2010/main" val="299394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A3B38-5B7F-8535-844D-1581BF34C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D8693-74A0-059F-ED37-C0115F55888A}"/>
              </a:ext>
            </a:extLst>
          </p:cNvPr>
          <p:cNvSpPr>
            <a:spLocks noGrp="1"/>
          </p:cNvSpPr>
          <p:nvPr>
            <p:ph type="title"/>
          </p:nvPr>
        </p:nvSpPr>
        <p:spPr>
          <a:xfrm>
            <a:off x="0" y="-1"/>
            <a:ext cx="12192000" cy="1135117"/>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
        <p:nvSpPr>
          <p:cNvPr id="3" name="Rectangle 1">
            <a:extLst>
              <a:ext uri="{FF2B5EF4-FFF2-40B4-BE49-F238E27FC236}">
                <a16:creationId xmlns:a16="http://schemas.microsoft.com/office/drawing/2014/main" id="{4B256CF3-73C0-3CF3-C55F-3503B8C33F1F}"/>
              </a:ext>
            </a:extLst>
          </p:cNvPr>
          <p:cNvSpPr>
            <a:spLocks noChangeArrowheads="1"/>
          </p:cNvSpPr>
          <p:nvPr/>
        </p:nvSpPr>
        <p:spPr bwMode="auto">
          <a:xfrm>
            <a:off x="0" y="1413698"/>
            <a:ext cx="12192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sz="2800" b="1" dirty="0">
                <a:latin typeface="Calibir"/>
              </a:rPr>
              <a:t>Mini story</a:t>
            </a:r>
            <a:br>
              <a:rPr lang="en-US" sz="2800" dirty="0">
                <a:latin typeface="Calibir"/>
              </a:rPr>
            </a:br>
            <a:r>
              <a:rPr lang="en-US" sz="2800" dirty="0">
                <a:latin typeface="Calibir"/>
              </a:rPr>
              <a:t>Leila registers → system validates patterns, creates ID 000123.</a:t>
            </a:r>
            <a:br>
              <a:rPr lang="en-US" sz="2800" dirty="0">
                <a:latin typeface="Calibir"/>
              </a:rPr>
            </a:br>
            <a:r>
              <a:rPr lang="en-US" sz="2800" dirty="0">
                <a:latin typeface="Calibir"/>
              </a:rPr>
              <a:t>She </a:t>
            </a:r>
            <a:r>
              <a:rPr lang="en-US" sz="2800" dirty="0" err="1">
                <a:latin typeface="Calibir"/>
              </a:rPr>
              <a:t>enrols</a:t>
            </a:r>
            <a:r>
              <a:rPr lang="en-US" sz="2800" dirty="0">
                <a:latin typeface="Calibir"/>
              </a:rPr>
              <a:t> in 2 subjects → system creates codes 005 and 018 with marks 72 (C) and 89 (HD).</a:t>
            </a:r>
            <a:br>
              <a:rPr lang="en-US" sz="2800" dirty="0">
                <a:latin typeface="Calibir"/>
              </a:rPr>
            </a:br>
            <a:r>
              <a:rPr lang="en-US" sz="2800" dirty="0">
                <a:latin typeface="Calibir"/>
              </a:rPr>
              <a:t>Admin later </a:t>
            </a:r>
            <a:r>
              <a:rPr lang="en-US" sz="2800" dirty="0" err="1">
                <a:latin typeface="Calibir"/>
              </a:rPr>
              <a:t>categorises</a:t>
            </a:r>
            <a:r>
              <a:rPr lang="en-US" sz="2800" dirty="0">
                <a:latin typeface="Calibir"/>
              </a:rPr>
              <a:t> students into PASS/FAIL according to the required mark rule: mark &lt; 50 → FAIL; mark ≥ 50 → PASS. In this simple example, Leila's two subject marks (72 and 89) are both PASS results.</a:t>
            </a:r>
            <a:endParaRPr lang="en-US" altLang="en-US" sz="2800" dirty="0">
              <a:latin typeface="Calibir"/>
            </a:endParaRPr>
          </a:p>
        </p:txBody>
      </p:sp>
    </p:spTree>
    <p:extLst>
      <p:ext uri="{BB962C8B-B14F-4D97-AF65-F5344CB8AC3E}">
        <p14:creationId xmlns:p14="http://schemas.microsoft.com/office/powerpoint/2010/main" val="2232259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FA1CA-2C22-FA6F-63A6-E8A45D0D437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1F6C4E4-0EAB-D2E7-8F96-F1A3A970631C}"/>
              </a:ext>
            </a:extLst>
          </p:cNvPr>
          <p:cNvSpPr>
            <a:spLocks noChangeArrowheads="1"/>
          </p:cNvSpPr>
          <p:nvPr/>
        </p:nvSpPr>
        <p:spPr bwMode="auto">
          <a:xfrm>
            <a:off x="0" y="108155"/>
            <a:ext cx="12192000" cy="664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200" b="1" dirty="0">
                <a:latin typeface="Calibir"/>
              </a:rPr>
              <a:t>Step 2 – Write user stories (3-digit IDs)</a:t>
            </a:r>
          </a:p>
          <a:p>
            <a:pPr>
              <a:lnSpc>
                <a:spcPct val="150000"/>
              </a:lnSpc>
            </a:pPr>
            <a:r>
              <a:rPr lang="en-US" sz="2200" dirty="0">
                <a:latin typeface="Calibir"/>
              </a:rPr>
              <a:t>A user story may first be written in the form: “As a [user], I want to [do something] so that [result happens].” Then decompose/map the story into the required backlog columns: ID | User | Action | Result/Outcome | Function.</a:t>
            </a:r>
          </a:p>
          <a:p>
            <a:pPr marL="342900" indent="-342900">
              <a:lnSpc>
                <a:spcPct val="150000"/>
              </a:lnSpc>
              <a:buFont typeface="Arial" panose="020B0604020202020204" pitchFamily="34" charset="0"/>
              <a:buChar char="•"/>
            </a:pPr>
            <a:r>
              <a:rPr lang="en-US" sz="2200" dirty="0">
                <a:latin typeface="Calibir"/>
              </a:rPr>
              <a:t>Group IDs by feature (hundreds digit):</a:t>
            </a:r>
          </a:p>
          <a:p>
            <a:pPr marL="800100" lvl="1" indent="-342900">
              <a:lnSpc>
                <a:spcPct val="150000"/>
              </a:lnSpc>
              <a:buFont typeface="Arial" panose="020B0604020202020204" pitchFamily="34" charset="0"/>
              <a:buChar char="•"/>
            </a:pPr>
            <a:r>
              <a:rPr lang="en-US" sz="2200" dirty="0">
                <a:latin typeface="Calibir"/>
              </a:rPr>
              <a:t>1xx = Login</a:t>
            </a:r>
          </a:p>
          <a:p>
            <a:pPr marL="800100" lvl="1" indent="-342900">
              <a:lnSpc>
                <a:spcPct val="150000"/>
              </a:lnSpc>
              <a:buFont typeface="Arial" panose="020B0604020202020204" pitchFamily="34" charset="0"/>
              <a:buChar char="•"/>
            </a:pPr>
            <a:r>
              <a:rPr lang="en-US" sz="2200" dirty="0">
                <a:latin typeface="Calibir"/>
              </a:rPr>
              <a:t>2xx = Register</a:t>
            </a:r>
          </a:p>
          <a:p>
            <a:pPr marL="800100" lvl="1" indent="-342900">
              <a:lnSpc>
                <a:spcPct val="150000"/>
              </a:lnSpc>
              <a:buFont typeface="Arial" panose="020B0604020202020204" pitchFamily="34" charset="0"/>
              <a:buChar char="•"/>
            </a:pPr>
            <a:r>
              <a:rPr lang="en-US" sz="2200" dirty="0">
                <a:latin typeface="Calibir"/>
              </a:rPr>
              <a:t>3xx = </a:t>
            </a:r>
            <a:r>
              <a:rPr lang="en-US" sz="2200" dirty="0" err="1">
                <a:latin typeface="Calibir"/>
              </a:rPr>
              <a:t>Enrol</a:t>
            </a:r>
            <a:endParaRPr lang="en-US" sz="2200" dirty="0">
              <a:latin typeface="Calibir"/>
            </a:endParaRPr>
          </a:p>
          <a:p>
            <a:pPr marL="800100" lvl="1" indent="-342900">
              <a:lnSpc>
                <a:spcPct val="150000"/>
              </a:lnSpc>
              <a:buFont typeface="Arial" panose="020B0604020202020204" pitchFamily="34" charset="0"/>
              <a:buChar char="•"/>
            </a:pPr>
            <a:r>
              <a:rPr lang="en-US" sz="2200" dirty="0">
                <a:latin typeface="Calibir"/>
              </a:rPr>
              <a:t>4xx = Drop</a:t>
            </a:r>
          </a:p>
          <a:p>
            <a:pPr marL="800100" lvl="1" indent="-342900">
              <a:lnSpc>
                <a:spcPct val="150000"/>
              </a:lnSpc>
              <a:buFont typeface="Arial" panose="020B0604020202020204" pitchFamily="34" charset="0"/>
              <a:buChar char="•"/>
            </a:pPr>
            <a:r>
              <a:rPr lang="en-US" sz="2200" dirty="0">
                <a:latin typeface="Calibir"/>
              </a:rPr>
              <a:t>5xx = View</a:t>
            </a:r>
          </a:p>
          <a:p>
            <a:pPr marL="800100" lvl="1" indent="-342900">
              <a:lnSpc>
                <a:spcPct val="150000"/>
              </a:lnSpc>
              <a:buFont typeface="Arial" panose="020B0604020202020204" pitchFamily="34" charset="0"/>
              <a:buChar char="•"/>
            </a:pPr>
            <a:r>
              <a:rPr lang="en-US" sz="2200" dirty="0">
                <a:latin typeface="Calibir"/>
              </a:rPr>
              <a:t>6xx = Change Password</a:t>
            </a:r>
          </a:p>
          <a:p>
            <a:pPr marL="800100" lvl="1" indent="-342900">
              <a:lnSpc>
                <a:spcPct val="150000"/>
              </a:lnSpc>
              <a:buFont typeface="Arial" panose="020B0604020202020204" pitchFamily="34" charset="0"/>
              <a:buChar char="•"/>
            </a:pPr>
            <a:r>
              <a:rPr lang="en-US" sz="2200" dirty="0">
                <a:latin typeface="Calibir"/>
              </a:rPr>
              <a:t>7xx = Admin</a:t>
            </a:r>
          </a:p>
          <a:p>
            <a:pPr marL="800100" lvl="1" indent="-342900">
              <a:lnSpc>
                <a:spcPct val="150000"/>
              </a:lnSpc>
              <a:buFont typeface="Arial" panose="020B0604020202020204" pitchFamily="34" charset="0"/>
              <a:buChar char="•"/>
            </a:pPr>
            <a:r>
              <a:rPr lang="en-US" sz="2200" dirty="0">
                <a:latin typeface="Calibir"/>
              </a:rPr>
              <a:t>8xx = File I/O</a:t>
            </a:r>
          </a:p>
        </p:txBody>
      </p:sp>
      <p:sp>
        <p:nvSpPr>
          <p:cNvPr id="4" name="TextBox 3">
            <a:extLst>
              <a:ext uri="{FF2B5EF4-FFF2-40B4-BE49-F238E27FC236}">
                <a16:creationId xmlns:a16="http://schemas.microsoft.com/office/drawing/2014/main" id="{8BAD3AE2-9E4C-D9F5-FF20-31D623ED02C2}"/>
              </a:ext>
            </a:extLst>
          </p:cNvPr>
          <p:cNvSpPr txBox="1"/>
          <p:nvPr/>
        </p:nvSpPr>
        <p:spPr>
          <a:xfrm>
            <a:off x="4911213" y="2648372"/>
            <a:ext cx="7280787" cy="291810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500" dirty="0">
                <a:latin typeface="Calibir"/>
              </a:rPr>
              <a:t>Each story = one action, one outcome (no “and then…”). Focus primarily on user goals and meaningful system </a:t>
            </a:r>
            <a:r>
              <a:rPr lang="en-US" sz="2500" dirty="0" err="1">
                <a:latin typeface="Calibir"/>
              </a:rPr>
              <a:t>behaviour</a:t>
            </a:r>
            <a:r>
              <a:rPr lang="en-US" sz="2500" dirty="0">
                <a:latin typeface="Calibir"/>
              </a:rPr>
              <a:t>. Internal implementation details do not automatically need their own user story.</a:t>
            </a:r>
          </a:p>
        </p:txBody>
      </p:sp>
    </p:spTree>
    <p:extLst>
      <p:ext uri="{BB962C8B-B14F-4D97-AF65-F5344CB8AC3E}">
        <p14:creationId xmlns:p14="http://schemas.microsoft.com/office/powerpoint/2010/main" val="2031965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0A70E-0E1F-2015-066A-C9BF14BC3F0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EC033B86-2D29-7618-9531-E570CCC86E5C}"/>
              </a:ext>
            </a:extLst>
          </p:cNvPr>
          <p:cNvSpPr>
            <a:spLocks noChangeArrowheads="1"/>
          </p:cNvSpPr>
          <p:nvPr/>
        </p:nvSpPr>
        <p:spPr bwMode="auto">
          <a:xfrm>
            <a:off x="0" y="-86819"/>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Example backlog table</a:t>
            </a:r>
            <a:r>
              <a:rPr lang="en-US" sz="2800" dirty="0">
                <a:latin typeface="Calibir"/>
              </a:rPr>
              <a:t>:</a:t>
            </a:r>
            <a:endParaRPr lang="en-US" sz="2500" dirty="0">
              <a:latin typeface="Calibir"/>
            </a:endParaRPr>
          </a:p>
        </p:txBody>
      </p:sp>
      <p:sp>
        <p:nvSpPr>
          <p:cNvPr id="7" name="TextBox 6">
            <a:extLst>
              <a:ext uri="{FF2B5EF4-FFF2-40B4-BE49-F238E27FC236}">
                <a16:creationId xmlns:a16="http://schemas.microsoft.com/office/drawing/2014/main" id="{4EAC9037-415E-83FA-33AA-8BD69B7FE701}"/>
              </a:ext>
            </a:extLst>
          </p:cNvPr>
          <p:cNvSpPr txBox="1"/>
          <p:nvPr/>
        </p:nvSpPr>
        <p:spPr>
          <a:xfrm>
            <a:off x="0" y="1047135"/>
            <a:ext cx="12064180" cy="3903504"/>
          </a:xfrm>
          <a:prstGeom prst="rect">
            <a:avLst/>
          </a:prstGeom>
          <a:noFill/>
        </p:spPr>
        <p:txBody>
          <a:bodyPr wrap="square">
            <a:spAutoFit/>
          </a:bodyPr>
          <a:lstStyle/>
          <a:p>
            <a:pPr>
              <a:lnSpc>
                <a:spcPct val="150000"/>
              </a:lnSpc>
            </a:pPr>
            <a:r>
              <a:rPr lang="en-US" sz="2800" dirty="0">
                <a:latin typeface="Calibir"/>
              </a:rPr>
              <a:t>Start from the system requirements and identify the main user actions. Give each item a unique 3-digit ID, identify the user/entity, describe one clear action, state the expected result, and provide the related action/function name in the Function column. Keep each row focused on one action and one outcome. Internal checks and validation rules can be documented separately as rules or constraints rather than always becoming separate backlog items.</a:t>
            </a:r>
          </a:p>
        </p:txBody>
      </p:sp>
    </p:spTree>
    <p:extLst>
      <p:ext uri="{BB962C8B-B14F-4D97-AF65-F5344CB8AC3E}">
        <p14:creationId xmlns:p14="http://schemas.microsoft.com/office/powerpoint/2010/main" val="4253413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C80BC-F2F6-E7CD-5789-317C8A4D13C1}"/>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6BB788E-687A-518F-F71A-0DCE92930AD7}"/>
              </a:ext>
            </a:extLst>
          </p:cNvPr>
          <p:cNvSpPr>
            <a:spLocks noChangeArrowheads="1"/>
          </p:cNvSpPr>
          <p:nvPr/>
        </p:nvSpPr>
        <p:spPr bwMode="auto">
          <a:xfrm>
            <a:off x="0" y="-86819"/>
            <a:ext cx="12192000" cy="67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Example backlog table</a:t>
            </a:r>
            <a:r>
              <a:rPr lang="en-US" sz="2800" dirty="0">
                <a:latin typeface="Calibir"/>
              </a:rPr>
              <a:t>:</a:t>
            </a:r>
            <a:endParaRPr lang="en-US" sz="2500" dirty="0">
              <a:latin typeface="Calibir"/>
            </a:endParaRPr>
          </a:p>
        </p:txBody>
      </p:sp>
      <p:graphicFrame>
        <p:nvGraphicFramePr>
          <p:cNvPr id="2" name="Table 1">
            <a:extLst>
              <a:ext uri="{FF2B5EF4-FFF2-40B4-BE49-F238E27FC236}">
                <a16:creationId xmlns:a16="http://schemas.microsoft.com/office/drawing/2014/main" id="{D6C4C214-0C26-16CB-9B35-325BB5142B00}"/>
              </a:ext>
            </a:extLst>
          </p:cNvPr>
          <p:cNvGraphicFramePr>
            <a:graphicFrameLocks noGrp="1"/>
          </p:cNvGraphicFramePr>
          <p:nvPr/>
        </p:nvGraphicFramePr>
        <p:xfrm>
          <a:off x="174702" y="861305"/>
          <a:ext cx="11842595" cy="4572000"/>
        </p:xfrm>
        <a:graphic>
          <a:graphicData uri="http://schemas.openxmlformats.org/drawingml/2006/table">
            <a:tbl>
              <a:tblPr>
                <a:tableStyleId>{BDBED569-4797-4DF1-A0F4-6AAB3CD982D8}</a:tableStyleId>
              </a:tblPr>
              <a:tblGrid>
                <a:gridCol w="1416204">
                  <a:extLst>
                    <a:ext uri="{9D8B030D-6E8A-4147-A177-3AD203B41FA5}">
                      <a16:colId xmlns:a16="http://schemas.microsoft.com/office/drawing/2014/main" val="3872042042"/>
                    </a:ext>
                  </a:extLst>
                </a:gridCol>
                <a:gridCol w="1471961">
                  <a:extLst>
                    <a:ext uri="{9D8B030D-6E8A-4147-A177-3AD203B41FA5}">
                      <a16:colId xmlns:a16="http://schemas.microsoft.com/office/drawing/2014/main" val="458854284"/>
                    </a:ext>
                  </a:extLst>
                </a:gridCol>
                <a:gridCol w="3222703">
                  <a:extLst>
                    <a:ext uri="{9D8B030D-6E8A-4147-A177-3AD203B41FA5}">
                      <a16:colId xmlns:a16="http://schemas.microsoft.com/office/drawing/2014/main" val="3434831272"/>
                    </a:ext>
                  </a:extLst>
                </a:gridCol>
                <a:gridCol w="2749519">
                  <a:extLst>
                    <a:ext uri="{9D8B030D-6E8A-4147-A177-3AD203B41FA5}">
                      <a16:colId xmlns:a16="http://schemas.microsoft.com/office/drawing/2014/main" val="3425096674"/>
                    </a:ext>
                  </a:extLst>
                </a:gridCol>
                <a:gridCol w="2982208">
                  <a:extLst>
                    <a:ext uri="{9D8B030D-6E8A-4147-A177-3AD203B41FA5}">
                      <a16:colId xmlns:a16="http://schemas.microsoft.com/office/drawing/2014/main" val="2428260478"/>
                    </a:ext>
                  </a:extLst>
                </a:gridCol>
              </a:tblGrid>
              <a:tr h="0">
                <a:tc>
                  <a:txBody>
                    <a:bodyPr/>
                    <a:lstStyle/>
                    <a:p>
                      <a:pPr>
                        <a:buNone/>
                      </a:pPr>
                      <a:r>
                        <a:rPr lang="en-US" sz="2400" dirty="0">
                          <a:latin typeface="Calibir"/>
                        </a:rPr>
                        <a:t>ID</a:t>
                      </a:r>
                    </a:p>
                  </a:txBody>
                  <a:tcPr anchor="ctr"/>
                </a:tc>
                <a:tc>
                  <a:txBody>
                    <a:bodyPr/>
                    <a:lstStyle/>
                    <a:p>
                      <a:pPr>
                        <a:buNone/>
                      </a:pPr>
                      <a:r>
                        <a:rPr lang="en-US" sz="2400">
                          <a:latin typeface="Calibir"/>
                        </a:rPr>
                        <a:t>User</a:t>
                      </a:r>
                    </a:p>
                  </a:txBody>
                  <a:tcPr anchor="ctr"/>
                </a:tc>
                <a:tc>
                  <a:txBody>
                    <a:bodyPr/>
                    <a:lstStyle/>
                    <a:p>
                      <a:pPr>
                        <a:buNone/>
                      </a:pPr>
                      <a:r>
                        <a:rPr lang="en-US" sz="2400">
                          <a:latin typeface="Calibir"/>
                        </a:rPr>
                        <a:t>Action</a:t>
                      </a:r>
                    </a:p>
                  </a:txBody>
                  <a:tcPr anchor="ctr"/>
                </a:tc>
                <a:tc>
                  <a:txBody>
                    <a:bodyPr/>
                    <a:lstStyle/>
                    <a:p>
                      <a:pPr>
                        <a:buNone/>
                      </a:pPr>
                      <a:r>
                        <a:rPr lang="en-US" sz="2400">
                          <a:latin typeface="Calibir"/>
                        </a:rPr>
                        <a:t>Result/Outcome</a:t>
                      </a:r>
                    </a:p>
                  </a:txBody>
                  <a:tcPr anchor="ctr"/>
                </a:tc>
                <a:tc>
                  <a:txBody>
                    <a:bodyPr/>
                    <a:lstStyle/>
                    <a:p>
                      <a:pPr>
                        <a:buNone/>
                      </a:pPr>
                      <a:r>
                        <a:rPr lang="en-US" sz="2400">
                          <a:latin typeface="Calibir"/>
                        </a:rPr>
                        <a:t>Function</a:t>
                      </a:r>
                    </a:p>
                  </a:txBody>
                  <a:tcPr anchor="ctr"/>
                </a:tc>
                <a:extLst>
                  <a:ext uri="{0D108BD9-81ED-4DB2-BD59-A6C34878D82A}">
                    <a16:rowId xmlns:a16="http://schemas.microsoft.com/office/drawing/2014/main" val="2662123464"/>
                  </a:ext>
                </a:extLst>
              </a:tr>
              <a:tr h="0">
                <a:tc>
                  <a:txBody>
                    <a:bodyPr/>
                    <a:lstStyle/>
                    <a:p>
                      <a:pPr>
                        <a:buNone/>
                      </a:pPr>
                      <a:r>
                        <a:rPr lang="en-US" sz="2400">
                          <a:latin typeface="Calibir"/>
                        </a:rPr>
                        <a:t>100</a:t>
                      </a:r>
                    </a:p>
                  </a:txBody>
                  <a:tcPr anchor="ctr"/>
                </a:tc>
                <a:tc>
                  <a:txBody>
                    <a:bodyPr/>
                    <a:lstStyle/>
                    <a:p>
                      <a:pPr>
                        <a:buNone/>
                      </a:pPr>
                      <a:r>
                        <a:rPr lang="en-US" sz="2400">
                          <a:latin typeface="Calibir"/>
                        </a:rPr>
                        <a:t>Student</a:t>
                      </a:r>
                    </a:p>
                  </a:txBody>
                  <a:tcPr anchor="ctr"/>
                </a:tc>
                <a:tc>
                  <a:txBody>
                    <a:bodyPr/>
                    <a:lstStyle/>
                    <a:p>
                      <a:pPr>
                        <a:buNone/>
                      </a:pPr>
                      <a:r>
                        <a:rPr lang="en-US" sz="2400">
                          <a:latin typeface="Calibir"/>
                        </a:rPr>
                        <a:t>Enter email + password</a:t>
                      </a:r>
                    </a:p>
                  </a:txBody>
                  <a:tcPr anchor="ctr"/>
                </a:tc>
                <a:tc>
                  <a:txBody>
                    <a:bodyPr/>
                    <a:lstStyle/>
                    <a:p>
                      <a:pPr>
                        <a:buNone/>
                      </a:pPr>
                      <a:r>
                        <a:rPr lang="en-US" sz="2400">
                          <a:latin typeface="Calibir"/>
                        </a:rPr>
                        <a:t>If match → Student menu; else error</a:t>
                      </a:r>
                    </a:p>
                  </a:txBody>
                  <a:tcPr anchor="ctr"/>
                </a:tc>
                <a:tc>
                  <a:txBody>
                    <a:bodyPr/>
                    <a:lstStyle/>
                    <a:p>
                      <a:pPr>
                        <a:buNone/>
                      </a:pPr>
                      <a:r>
                        <a:rPr lang="en-US" sz="2400">
                          <a:latin typeface="Calibir"/>
                        </a:rPr>
                        <a:t>login()</a:t>
                      </a:r>
                    </a:p>
                  </a:txBody>
                  <a:tcPr anchor="ctr"/>
                </a:tc>
                <a:extLst>
                  <a:ext uri="{0D108BD9-81ED-4DB2-BD59-A6C34878D82A}">
                    <a16:rowId xmlns:a16="http://schemas.microsoft.com/office/drawing/2014/main" val="30996758"/>
                  </a:ext>
                </a:extLst>
              </a:tr>
              <a:tr h="0">
                <a:tc>
                  <a:txBody>
                    <a:bodyPr/>
                    <a:lstStyle/>
                    <a:p>
                      <a:pPr>
                        <a:buNone/>
                      </a:pPr>
                      <a:r>
                        <a:rPr lang="en-US" sz="2400">
                          <a:latin typeface="Calibir"/>
                        </a:rPr>
                        <a:t>105</a:t>
                      </a:r>
                    </a:p>
                  </a:txBody>
                  <a:tcPr anchor="ctr"/>
                </a:tc>
                <a:tc>
                  <a:txBody>
                    <a:bodyPr/>
                    <a:lstStyle/>
                    <a:p>
                      <a:pPr>
                        <a:buNone/>
                      </a:pPr>
                      <a:r>
                        <a:rPr lang="en-US" sz="2400">
                          <a:latin typeface="Calibir"/>
                        </a:rPr>
                        <a:t>System</a:t>
                      </a:r>
                    </a:p>
                  </a:txBody>
                  <a:tcPr anchor="ctr"/>
                </a:tc>
                <a:tc>
                  <a:txBody>
                    <a:bodyPr/>
                    <a:lstStyle/>
                    <a:p>
                      <a:pPr>
                        <a:buNone/>
                      </a:pPr>
                      <a:r>
                        <a:rPr lang="en-US" sz="2400">
                          <a:latin typeface="Calibir"/>
                        </a:rPr>
                        <a:t>Validate email/password</a:t>
                      </a:r>
                    </a:p>
                  </a:txBody>
                  <a:tcPr anchor="ctr"/>
                </a:tc>
                <a:tc>
                  <a:txBody>
                    <a:bodyPr/>
                    <a:lstStyle/>
                    <a:p>
                      <a:pPr>
                        <a:buNone/>
                      </a:pPr>
                      <a:r>
                        <a:rPr lang="en-US" sz="2400">
                          <a:latin typeface="Calibir"/>
                        </a:rPr>
                        <a:t>Show pattern error if invalid</a:t>
                      </a:r>
                    </a:p>
                  </a:txBody>
                  <a:tcPr anchor="ctr"/>
                </a:tc>
                <a:tc>
                  <a:txBody>
                    <a:bodyPr/>
                    <a:lstStyle/>
                    <a:p>
                      <a:pPr>
                        <a:buNone/>
                      </a:pPr>
                      <a:r>
                        <a:rPr lang="en-US" sz="2400">
                          <a:latin typeface="Calibir"/>
                        </a:rPr>
                        <a:t>validateCredentials()</a:t>
                      </a:r>
                    </a:p>
                  </a:txBody>
                  <a:tcPr anchor="ctr"/>
                </a:tc>
                <a:extLst>
                  <a:ext uri="{0D108BD9-81ED-4DB2-BD59-A6C34878D82A}">
                    <a16:rowId xmlns:a16="http://schemas.microsoft.com/office/drawing/2014/main" val="1428697471"/>
                  </a:ext>
                </a:extLst>
              </a:tr>
              <a:tr h="0">
                <a:tc>
                  <a:txBody>
                    <a:bodyPr/>
                    <a:lstStyle/>
                    <a:p>
                      <a:pPr>
                        <a:buNone/>
                      </a:pPr>
                      <a:r>
                        <a:rPr lang="en-US" sz="2400">
                          <a:latin typeface="Calibir"/>
                        </a:rPr>
                        <a:t>200</a:t>
                      </a:r>
                    </a:p>
                  </a:txBody>
                  <a:tcPr anchor="ctr"/>
                </a:tc>
                <a:tc>
                  <a:txBody>
                    <a:bodyPr/>
                    <a:lstStyle/>
                    <a:p>
                      <a:pPr>
                        <a:buNone/>
                      </a:pPr>
                      <a:r>
                        <a:rPr lang="en-US" sz="2400">
                          <a:latin typeface="Calibir"/>
                        </a:rPr>
                        <a:t>Student</a:t>
                      </a:r>
                    </a:p>
                  </a:txBody>
                  <a:tcPr anchor="ctr"/>
                </a:tc>
                <a:tc>
                  <a:txBody>
                    <a:bodyPr/>
                    <a:lstStyle/>
                    <a:p>
                      <a:pPr>
                        <a:buNone/>
                      </a:pPr>
                      <a:r>
                        <a:rPr lang="en-US" sz="2400">
                          <a:latin typeface="Calibir"/>
                        </a:rPr>
                        <a:t>Register account</a:t>
                      </a:r>
                    </a:p>
                  </a:txBody>
                  <a:tcPr anchor="ctr"/>
                </a:tc>
                <a:tc>
                  <a:txBody>
                    <a:bodyPr/>
                    <a:lstStyle/>
                    <a:p>
                      <a:pPr>
                        <a:buNone/>
                      </a:pPr>
                      <a:r>
                        <a:rPr lang="en-US" sz="2400">
                          <a:latin typeface="Calibir"/>
                        </a:rPr>
                        <a:t>New 6-digit ID created</a:t>
                      </a:r>
                    </a:p>
                  </a:txBody>
                  <a:tcPr anchor="ctr"/>
                </a:tc>
                <a:tc>
                  <a:txBody>
                    <a:bodyPr/>
                    <a:lstStyle/>
                    <a:p>
                      <a:pPr>
                        <a:buNone/>
                      </a:pPr>
                      <a:r>
                        <a:rPr lang="en-US" sz="2400">
                          <a:latin typeface="Calibir"/>
                        </a:rPr>
                        <a:t>registerStudent()</a:t>
                      </a:r>
                    </a:p>
                  </a:txBody>
                  <a:tcPr anchor="ctr"/>
                </a:tc>
                <a:extLst>
                  <a:ext uri="{0D108BD9-81ED-4DB2-BD59-A6C34878D82A}">
                    <a16:rowId xmlns:a16="http://schemas.microsoft.com/office/drawing/2014/main" val="3157337549"/>
                  </a:ext>
                </a:extLst>
              </a:tr>
              <a:tr h="0">
                <a:tc>
                  <a:txBody>
                    <a:bodyPr/>
                    <a:lstStyle/>
                    <a:p>
                      <a:pPr>
                        <a:buNone/>
                      </a:pPr>
                      <a:r>
                        <a:rPr lang="en-US" sz="2400">
                          <a:latin typeface="Calibir"/>
                        </a:rPr>
                        <a:t>300</a:t>
                      </a:r>
                    </a:p>
                  </a:txBody>
                  <a:tcPr anchor="ctr"/>
                </a:tc>
                <a:tc>
                  <a:txBody>
                    <a:bodyPr/>
                    <a:lstStyle/>
                    <a:p>
                      <a:pPr>
                        <a:buNone/>
                      </a:pPr>
                      <a:r>
                        <a:rPr lang="en-US" sz="2400">
                          <a:latin typeface="Calibir"/>
                        </a:rPr>
                        <a:t>Student</a:t>
                      </a:r>
                    </a:p>
                  </a:txBody>
                  <a:tcPr anchor="ctr"/>
                </a:tc>
                <a:tc>
                  <a:txBody>
                    <a:bodyPr/>
                    <a:lstStyle/>
                    <a:p>
                      <a:pPr>
                        <a:buNone/>
                      </a:pPr>
                      <a:r>
                        <a:rPr lang="en-US" sz="2400">
                          <a:latin typeface="Calibir"/>
                        </a:rPr>
                        <a:t>Enrol in subject</a:t>
                      </a:r>
                    </a:p>
                  </a:txBody>
                  <a:tcPr anchor="ctr"/>
                </a:tc>
                <a:tc>
                  <a:txBody>
                    <a:bodyPr/>
                    <a:lstStyle/>
                    <a:p>
                      <a:pPr>
                        <a:buNone/>
                      </a:pPr>
                      <a:r>
                        <a:rPr lang="en-US" sz="2400">
                          <a:latin typeface="Calibir"/>
                        </a:rPr>
                        <a:t>Subject (3-digit) added with grade</a:t>
                      </a:r>
                    </a:p>
                  </a:txBody>
                  <a:tcPr anchor="ctr"/>
                </a:tc>
                <a:tc>
                  <a:txBody>
                    <a:bodyPr/>
                    <a:lstStyle/>
                    <a:p>
                      <a:pPr>
                        <a:buNone/>
                      </a:pPr>
                      <a:r>
                        <a:rPr lang="en-US" sz="2400">
                          <a:latin typeface="Calibir"/>
                        </a:rPr>
                        <a:t>enrolSubject()</a:t>
                      </a:r>
                    </a:p>
                  </a:txBody>
                  <a:tcPr anchor="ctr"/>
                </a:tc>
                <a:extLst>
                  <a:ext uri="{0D108BD9-81ED-4DB2-BD59-A6C34878D82A}">
                    <a16:rowId xmlns:a16="http://schemas.microsoft.com/office/drawing/2014/main" val="2132668721"/>
                  </a:ext>
                </a:extLst>
              </a:tr>
              <a:tr h="0">
                <a:tc>
                  <a:txBody>
                    <a:bodyPr/>
                    <a:lstStyle/>
                    <a:p>
                      <a:pPr>
                        <a:buNone/>
                      </a:pPr>
                      <a:r>
                        <a:rPr lang="en-US" sz="2400">
                          <a:latin typeface="Calibir"/>
                        </a:rPr>
                        <a:t>700</a:t>
                      </a:r>
                    </a:p>
                  </a:txBody>
                  <a:tcPr anchor="ctr"/>
                </a:tc>
                <a:tc>
                  <a:txBody>
                    <a:bodyPr/>
                    <a:lstStyle/>
                    <a:p>
                      <a:pPr>
                        <a:buNone/>
                      </a:pPr>
                      <a:r>
                        <a:rPr lang="en-US" sz="2400">
                          <a:latin typeface="Calibir"/>
                        </a:rPr>
                        <a:t>Admin</a:t>
                      </a:r>
                    </a:p>
                  </a:txBody>
                  <a:tcPr anchor="ctr"/>
                </a:tc>
                <a:tc>
                  <a:txBody>
                    <a:bodyPr/>
                    <a:lstStyle/>
                    <a:p>
                      <a:pPr>
                        <a:buNone/>
                      </a:pPr>
                      <a:r>
                        <a:rPr lang="en-US" sz="2400">
                          <a:latin typeface="Calibir"/>
                        </a:rPr>
                        <a:t>View all students</a:t>
                      </a:r>
                    </a:p>
                  </a:txBody>
                  <a:tcPr anchor="ctr"/>
                </a:tc>
                <a:tc>
                  <a:txBody>
                    <a:bodyPr/>
                    <a:lstStyle/>
                    <a:p>
                      <a:pPr>
                        <a:buNone/>
                      </a:pPr>
                      <a:r>
                        <a:rPr lang="en-US" sz="2400">
                          <a:latin typeface="Calibir"/>
                        </a:rPr>
                        <a:t>List loaded from students.data</a:t>
                      </a:r>
                    </a:p>
                  </a:txBody>
                  <a:tcPr anchor="ctr"/>
                </a:tc>
                <a:tc>
                  <a:txBody>
                    <a:bodyPr/>
                    <a:lstStyle/>
                    <a:p>
                      <a:pPr>
                        <a:buNone/>
                      </a:pPr>
                      <a:r>
                        <a:rPr lang="en-US" sz="2400" dirty="0" err="1">
                          <a:latin typeface="Calibir"/>
                        </a:rPr>
                        <a:t>adminListAll</a:t>
                      </a:r>
                      <a:r>
                        <a:rPr lang="en-US" sz="2400" dirty="0">
                          <a:latin typeface="Calibir"/>
                        </a:rPr>
                        <a:t>()</a:t>
                      </a:r>
                    </a:p>
                  </a:txBody>
                  <a:tcPr anchor="ctr"/>
                </a:tc>
                <a:extLst>
                  <a:ext uri="{0D108BD9-81ED-4DB2-BD59-A6C34878D82A}">
                    <a16:rowId xmlns:a16="http://schemas.microsoft.com/office/drawing/2014/main" val="2130935418"/>
                  </a:ext>
                </a:extLst>
              </a:tr>
            </a:tbl>
          </a:graphicData>
        </a:graphic>
      </p:graphicFrame>
      <p:sp>
        <p:nvSpPr>
          <p:cNvPr id="5" name="TextBox 4">
            <a:extLst>
              <a:ext uri="{FF2B5EF4-FFF2-40B4-BE49-F238E27FC236}">
                <a16:creationId xmlns:a16="http://schemas.microsoft.com/office/drawing/2014/main" id="{DE42EED4-9599-CE6B-B808-7DE22839EFDD}"/>
              </a:ext>
            </a:extLst>
          </p:cNvPr>
          <p:cNvSpPr txBox="1"/>
          <p:nvPr/>
        </p:nvSpPr>
        <p:spPr>
          <a:xfrm>
            <a:off x="0" y="5705988"/>
            <a:ext cx="12192000" cy="477054"/>
          </a:xfrm>
          <a:prstGeom prst="rect">
            <a:avLst/>
          </a:prstGeom>
          <a:noFill/>
        </p:spPr>
        <p:txBody>
          <a:bodyPr wrap="square">
            <a:spAutoFit/>
          </a:bodyPr>
          <a:lstStyle/>
          <a:p>
            <a:r>
              <a:rPr lang="en-US" sz="2500" dirty="0">
                <a:latin typeface="Calibir"/>
              </a:rPr>
              <a:t>For Example) 300 – Student – </a:t>
            </a:r>
            <a:r>
              <a:rPr lang="en-US" sz="2500" dirty="0" err="1">
                <a:latin typeface="Calibir"/>
              </a:rPr>
              <a:t>Enrol</a:t>
            </a:r>
            <a:r>
              <a:rPr lang="en-US" sz="2500" dirty="0">
                <a:latin typeface="Calibir"/>
              </a:rPr>
              <a:t> in subject – Subject added to the student's enrolments</a:t>
            </a:r>
          </a:p>
        </p:txBody>
      </p:sp>
    </p:spTree>
    <p:extLst>
      <p:ext uri="{BB962C8B-B14F-4D97-AF65-F5344CB8AC3E}">
        <p14:creationId xmlns:p14="http://schemas.microsoft.com/office/powerpoint/2010/main" val="983085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D854F-10A7-53E3-72D9-85EC9CE298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7CE52BC-9C56-C799-0B4B-AE0139FA44F7}"/>
              </a:ext>
            </a:extLst>
          </p:cNvPr>
          <p:cNvSpPr txBox="1"/>
          <p:nvPr/>
        </p:nvSpPr>
        <p:spPr>
          <a:xfrm>
            <a:off x="102220" y="1477248"/>
            <a:ext cx="11987560" cy="3903504"/>
          </a:xfrm>
          <a:prstGeom prst="rect">
            <a:avLst/>
          </a:prstGeom>
          <a:noFill/>
        </p:spPr>
        <p:txBody>
          <a:bodyPr wrap="square">
            <a:spAutoFit/>
          </a:bodyPr>
          <a:lstStyle/>
          <a:p>
            <a:pPr>
              <a:lnSpc>
                <a:spcPct val="150000"/>
              </a:lnSpc>
              <a:buNone/>
            </a:pPr>
            <a:r>
              <a:rPr lang="en-US" sz="2800" b="1" dirty="0">
                <a:latin typeface="Calibir"/>
              </a:rPr>
              <a:t>Step 3 – Draw a Use Case diagram</a:t>
            </a:r>
          </a:p>
          <a:p>
            <a:pPr marL="914400" lvl="1" indent="-457200">
              <a:lnSpc>
                <a:spcPct val="150000"/>
              </a:lnSpc>
              <a:buFont typeface="Arial" panose="020B0604020202020204" pitchFamily="34" charset="0"/>
              <a:buChar char="•"/>
            </a:pPr>
            <a:r>
              <a:rPr lang="en-US" sz="2800" dirty="0">
                <a:latin typeface="Calibir"/>
              </a:rPr>
              <a:t>Actors: Student, Admin.</a:t>
            </a:r>
          </a:p>
          <a:p>
            <a:pPr marL="914400" lvl="1" indent="-457200">
              <a:lnSpc>
                <a:spcPct val="150000"/>
              </a:lnSpc>
              <a:buFont typeface="Arial" panose="020B0604020202020204" pitchFamily="34" charset="0"/>
              <a:buChar char="•"/>
            </a:pPr>
            <a:r>
              <a:rPr lang="en-US" sz="2800" dirty="0">
                <a:latin typeface="Calibir"/>
              </a:rPr>
              <a:t>Use &lt;&lt;include&gt;&gt; when another use case is always required as part of a use case. For example, Register Student may include Validate Registration Details if validation is modelled as a reusable use case. Avoid turning every internal programming step into a separate use case.</a:t>
            </a:r>
          </a:p>
        </p:txBody>
      </p:sp>
      <p:sp>
        <p:nvSpPr>
          <p:cNvPr id="6" name="Title 1">
            <a:extLst>
              <a:ext uri="{FF2B5EF4-FFF2-40B4-BE49-F238E27FC236}">
                <a16:creationId xmlns:a16="http://schemas.microsoft.com/office/drawing/2014/main" id="{3FD5FE5D-F76F-35B9-2DA8-129A064E1DF6}"/>
              </a:ext>
            </a:extLst>
          </p:cNvPr>
          <p:cNvSpPr>
            <a:spLocks noGrp="1"/>
          </p:cNvSpPr>
          <p:nvPr>
            <p:ph type="title"/>
          </p:nvPr>
        </p:nvSpPr>
        <p:spPr>
          <a:xfrm>
            <a:off x="0" y="-1"/>
            <a:ext cx="12192000" cy="1008993"/>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1023144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43F28-C858-1C89-1B2B-20B35F6A33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CF98828-841C-8BDF-4E8B-55C6885A8EF2}"/>
              </a:ext>
            </a:extLst>
          </p:cNvPr>
          <p:cNvSpPr txBox="1"/>
          <p:nvPr/>
        </p:nvSpPr>
        <p:spPr>
          <a:xfrm>
            <a:off x="102220" y="1074497"/>
            <a:ext cx="11987560" cy="5637121"/>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700" dirty="0">
                <a:latin typeface="Calibir"/>
              </a:rPr>
              <a:t>Use &lt;&lt;extend&gt;&gt; for optional or conditional </a:t>
            </a:r>
            <a:r>
              <a:rPr lang="en-US" sz="2700" dirty="0" err="1">
                <a:latin typeface="Calibir"/>
              </a:rPr>
              <a:t>behaviour</a:t>
            </a:r>
            <a:r>
              <a:rPr lang="en-US" sz="2700" dirty="0">
                <a:latin typeface="Calibir"/>
              </a:rPr>
              <a:t>. For example, Show Authentication Error may extend Login when authentication fails. The &lt;&lt;extend&gt;&gt; arrow points from the extending use case toward the base use case.</a:t>
            </a:r>
          </a:p>
          <a:p>
            <a:pPr marL="914400" lvl="1" indent="-457200">
              <a:lnSpc>
                <a:spcPct val="150000"/>
              </a:lnSpc>
              <a:buFont typeface="Arial" panose="020B0604020202020204" pitchFamily="34" charset="0"/>
              <a:buChar char="•"/>
            </a:pPr>
            <a:r>
              <a:rPr lang="en-US" sz="2700" dirty="0">
                <a:latin typeface="Calibir"/>
              </a:rPr>
              <a:t>Create one clear, comprehensive UML Use Case Diagram by identifying the actors, their goals, the relevant use cases, and the relationships between them. Keep the diagram focused on what users want the system to do rather than programming or interface details. Use &lt;&lt;include&gt;&gt; and &lt;&lt;extend&gt;&gt; only where they genuinely clarify a relationship between use cases.</a:t>
            </a:r>
          </a:p>
        </p:txBody>
      </p:sp>
      <p:sp>
        <p:nvSpPr>
          <p:cNvPr id="6" name="Title 1">
            <a:extLst>
              <a:ext uri="{FF2B5EF4-FFF2-40B4-BE49-F238E27FC236}">
                <a16:creationId xmlns:a16="http://schemas.microsoft.com/office/drawing/2014/main" id="{0D257445-0A83-ED36-46AA-0D49CE6EA29E}"/>
              </a:ext>
            </a:extLst>
          </p:cNvPr>
          <p:cNvSpPr>
            <a:spLocks noGrp="1"/>
          </p:cNvSpPr>
          <p:nvPr>
            <p:ph type="title"/>
          </p:nvPr>
        </p:nvSpPr>
        <p:spPr>
          <a:xfrm>
            <a:off x="0" y="-1"/>
            <a:ext cx="12192000" cy="1008993"/>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3146438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0EC39-AD88-2831-1878-3267738019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C1188B-D3FE-5BE5-D248-CE73A574B939}"/>
              </a:ext>
            </a:extLst>
          </p:cNvPr>
          <p:cNvSpPr txBox="1"/>
          <p:nvPr/>
        </p:nvSpPr>
        <p:spPr>
          <a:xfrm>
            <a:off x="102220" y="0"/>
            <a:ext cx="11987560" cy="671851"/>
          </a:xfrm>
          <a:prstGeom prst="rect">
            <a:avLst/>
          </a:prstGeom>
          <a:noFill/>
        </p:spPr>
        <p:txBody>
          <a:bodyPr wrap="square">
            <a:spAutoFit/>
          </a:bodyPr>
          <a:lstStyle/>
          <a:p>
            <a:pPr>
              <a:lnSpc>
                <a:spcPct val="150000"/>
              </a:lnSpc>
            </a:pPr>
            <a:r>
              <a:rPr lang="en-US" sz="2800" b="1" dirty="0">
                <a:latin typeface="Calibir"/>
              </a:rPr>
              <a:t>Step 4 – Draw a UML Class Diagram</a:t>
            </a:r>
          </a:p>
        </p:txBody>
      </p:sp>
      <p:sp>
        <p:nvSpPr>
          <p:cNvPr id="7" name="TextBox 6">
            <a:extLst>
              <a:ext uri="{FF2B5EF4-FFF2-40B4-BE49-F238E27FC236}">
                <a16:creationId xmlns:a16="http://schemas.microsoft.com/office/drawing/2014/main" id="{86C15C0B-CE38-BAC4-7711-EC7DE84AEBB6}"/>
              </a:ext>
            </a:extLst>
          </p:cNvPr>
          <p:cNvSpPr txBox="1"/>
          <p:nvPr/>
        </p:nvSpPr>
        <p:spPr>
          <a:xfrm>
            <a:off x="0" y="2123578"/>
            <a:ext cx="12089780" cy="2610843"/>
          </a:xfrm>
          <a:prstGeom prst="rect">
            <a:avLst/>
          </a:prstGeom>
          <a:noFill/>
        </p:spPr>
        <p:txBody>
          <a:bodyPr wrap="square">
            <a:spAutoFit/>
          </a:bodyPr>
          <a:lstStyle/>
          <a:p>
            <a:pPr>
              <a:lnSpc>
                <a:spcPct val="150000"/>
              </a:lnSpc>
              <a:buNone/>
            </a:pPr>
            <a:r>
              <a:rPr lang="en-US" sz="2800" dirty="0">
                <a:latin typeface="Calibir"/>
              </a:rPr>
              <a:t>Use the requirements and use cases to identify the classes needed by the system.</a:t>
            </a:r>
          </a:p>
          <a:p>
            <a:pPr>
              <a:lnSpc>
                <a:spcPct val="150000"/>
              </a:lnSpc>
              <a:buNone/>
            </a:pPr>
            <a:r>
              <a:rPr lang="en-US" sz="2800" dirty="0">
                <a:latin typeface="Calibir"/>
              </a:rPr>
              <a:t>Possible classes may include Student, Subject, and classes or services needed to support authentication and data storage. Your final class selection should be justified from the requirements rather than treated as a fixed list.</a:t>
            </a:r>
          </a:p>
        </p:txBody>
      </p:sp>
    </p:spTree>
    <p:extLst>
      <p:ext uri="{BB962C8B-B14F-4D97-AF65-F5344CB8AC3E}">
        <p14:creationId xmlns:p14="http://schemas.microsoft.com/office/powerpoint/2010/main" val="2196092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23230-87D6-C9D0-C22D-73B331EE0F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FF30712-0DCD-BAB1-D066-AFC877A8331A}"/>
              </a:ext>
            </a:extLst>
          </p:cNvPr>
          <p:cNvSpPr txBox="1"/>
          <p:nvPr/>
        </p:nvSpPr>
        <p:spPr>
          <a:xfrm>
            <a:off x="102220" y="0"/>
            <a:ext cx="11987560" cy="671851"/>
          </a:xfrm>
          <a:prstGeom prst="rect">
            <a:avLst/>
          </a:prstGeom>
          <a:noFill/>
        </p:spPr>
        <p:txBody>
          <a:bodyPr wrap="square">
            <a:spAutoFit/>
          </a:bodyPr>
          <a:lstStyle/>
          <a:p>
            <a:pPr>
              <a:lnSpc>
                <a:spcPct val="150000"/>
              </a:lnSpc>
            </a:pPr>
            <a:r>
              <a:rPr lang="en-US" sz="2800" b="1" dirty="0">
                <a:latin typeface="Calibir"/>
              </a:rPr>
              <a:t>Step 4 – Draw a UML Class Diagram</a:t>
            </a:r>
          </a:p>
        </p:txBody>
      </p:sp>
      <p:sp>
        <p:nvSpPr>
          <p:cNvPr id="7" name="TextBox 6">
            <a:extLst>
              <a:ext uri="{FF2B5EF4-FFF2-40B4-BE49-F238E27FC236}">
                <a16:creationId xmlns:a16="http://schemas.microsoft.com/office/drawing/2014/main" id="{1DF52319-B55D-0F6C-41A8-B1843F2B3152}"/>
              </a:ext>
            </a:extLst>
          </p:cNvPr>
          <p:cNvSpPr txBox="1"/>
          <p:nvPr/>
        </p:nvSpPr>
        <p:spPr>
          <a:xfrm>
            <a:off x="0" y="899462"/>
            <a:ext cx="12089780" cy="5842497"/>
          </a:xfrm>
          <a:prstGeom prst="rect">
            <a:avLst/>
          </a:prstGeom>
          <a:noFill/>
        </p:spPr>
        <p:txBody>
          <a:bodyPr wrap="square">
            <a:spAutoFit/>
          </a:bodyPr>
          <a:lstStyle/>
          <a:p>
            <a:pPr>
              <a:lnSpc>
                <a:spcPct val="150000"/>
              </a:lnSpc>
              <a:buNone/>
            </a:pPr>
            <a:r>
              <a:rPr lang="en-US" sz="2800" dirty="0">
                <a:latin typeface="Calibir"/>
              </a:rPr>
              <a:t>Consider whether Admin needs to be represented as a class based on the data and </a:t>
            </a:r>
            <a:r>
              <a:rPr lang="en-US" sz="2800" dirty="0" err="1">
                <a:latin typeface="Calibir"/>
              </a:rPr>
              <a:t>behaviour</a:t>
            </a:r>
            <a:r>
              <a:rPr lang="en-US" sz="2800" dirty="0">
                <a:latin typeface="Calibir"/>
              </a:rPr>
              <a:t> it requires. If you include it, keep its role consistent with the requirements and the use-case model.</a:t>
            </a:r>
          </a:p>
          <a:p>
            <a:pPr>
              <a:lnSpc>
                <a:spcPct val="150000"/>
              </a:lnSpc>
              <a:buNone/>
            </a:pPr>
            <a:r>
              <a:rPr lang="en-US" sz="2800" dirty="0">
                <a:latin typeface="Calibir"/>
              </a:rPr>
              <a:t>For each class, show:</a:t>
            </a:r>
          </a:p>
          <a:p>
            <a:pPr marL="342900" lvl="0" indent="-342900">
              <a:lnSpc>
                <a:spcPct val="150000"/>
              </a:lnSpc>
              <a:buFont typeface="Arial" panose="020B0604020202020204" pitchFamily="34" charset="0"/>
              <a:buChar char="•"/>
            </a:pPr>
            <a:r>
              <a:rPr lang="en-US" sz="2800" dirty="0">
                <a:latin typeface="Calibir"/>
              </a:rPr>
              <a:t>appropriate attributes and data types</a:t>
            </a:r>
          </a:p>
          <a:p>
            <a:pPr marL="342900" lvl="0" indent="-342900">
              <a:lnSpc>
                <a:spcPct val="150000"/>
              </a:lnSpc>
              <a:buFont typeface="Arial" panose="020B0604020202020204" pitchFamily="34" charset="0"/>
              <a:buChar char="•"/>
            </a:pPr>
            <a:r>
              <a:rPr lang="en-US" sz="2800" dirty="0">
                <a:latin typeface="Calibir"/>
              </a:rPr>
              <a:t>operations/methods, including parameters and return types where relevant</a:t>
            </a:r>
          </a:p>
          <a:p>
            <a:pPr marL="342900" lvl="0" indent="-342900">
              <a:lnSpc>
                <a:spcPct val="150000"/>
              </a:lnSpc>
              <a:buFont typeface="Arial" panose="020B0604020202020204" pitchFamily="34" charset="0"/>
              <a:buChar char="•"/>
            </a:pPr>
            <a:r>
              <a:rPr lang="en-US" sz="2800" dirty="0">
                <a:latin typeface="Calibir"/>
              </a:rPr>
              <a:t>visibility symbols such as +, -, or #</a:t>
            </a:r>
          </a:p>
          <a:p>
            <a:pPr marL="342900" lvl="0" indent="-342900">
              <a:lnSpc>
                <a:spcPct val="150000"/>
              </a:lnSpc>
              <a:buFont typeface="Arial" panose="020B0604020202020204" pitchFamily="34" charset="0"/>
              <a:buChar char="•"/>
            </a:pPr>
            <a:r>
              <a:rPr lang="en-US" sz="2800" dirty="0">
                <a:latin typeface="Calibir"/>
              </a:rPr>
              <a:t>meaningful relationships between classes</a:t>
            </a:r>
          </a:p>
          <a:p>
            <a:pPr marL="342900" lvl="0" indent="-342900">
              <a:lnSpc>
                <a:spcPct val="150000"/>
              </a:lnSpc>
              <a:buFont typeface="Arial" panose="020B0604020202020204" pitchFamily="34" charset="0"/>
              <a:buChar char="•"/>
            </a:pPr>
            <a:r>
              <a:rPr lang="en-US" sz="2800" dirty="0">
                <a:latin typeface="Calibir"/>
              </a:rPr>
              <a:t>appropriate multiplicities, such as 1, 0..*, 1..*, or 0..4</a:t>
            </a:r>
          </a:p>
        </p:txBody>
      </p:sp>
    </p:spTree>
    <p:extLst>
      <p:ext uri="{BB962C8B-B14F-4D97-AF65-F5344CB8AC3E}">
        <p14:creationId xmlns:p14="http://schemas.microsoft.com/office/powerpoint/2010/main" val="487751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E1C2F-79A0-3167-11B1-941F1D6F9E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BCC568-ABE8-36AC-F653-DA31201559BF}"/>
              </a:ext>
            </a:extLst>
          </p:cNvPr>
          <p:cNvSpPr txBox="1"/>
          <p:nvPr/>
        </p:nvSpPr>
        <p:spPr>
          <a:xfrm>
            <a:off x="102220" y="0"/>
            <a:ext cx="11987560" cy="671851"/>
          </a:xfrm>
          <a:prstGeom prst="rect">
            <a:avLst/>
          </a:prstGeom>
          <a:noFill/>
        </p:spPr>
        <p:txBody>
          <a:bodyPr wrap="square">
            <a:spAutoFit/>
          </a:bodyPr>
          <a:lstStyle/>
          <a:p>
            <a:pPr>
              <a:lnSpc>
                <a:spcPct val="150000"/>
              </a:lnSpc>
            </a:pPr>
            <a:r>
              <a:rPr lang="en-US" sz="2800" b="1" dirty="0">
                <a:latin typeface="Calibir"/>
              </a:rPr>
              <a:t>Step 4 – Draw a UML Class Diagram</a:t>
            </a:r>
          </a:p>
        </p:txBody>
      </p:sp>
      <p:sp>
        <p:nvSpPr>
          <p:cNvPr id="7" name="TextBox 6">
            <a:extLst>
              <a:ext uri="{FF2B5EF4-FFF2-40B4-BE49-F238E27FC236}">
                <a16:creationId xmlns:a16="http://schemas.microsoft.com/office/drawing/2014/main" id="{0AA9DCD1-49F3-9871-C087-142E65053F90}"/>
              </a:ext>
            </a:extLst>
          </p:cNvPr>
          <p:cNvSpPr txBox="1"/>
          <p:nvPr/>
        </p:nvSpPr>
        <p:spPr>
          <a:xfrm>
            <a:off x="0" y="899462"/>
            <a:ext cx="12089780" cy="5196166"/>
          </a:xfrm>
          <a:prstGeom prst="rect">
            <a:avLst/>
          </a:prstGeom>
          <a:noFill/>
        </p:spPr>
        <p:txBody>
          <a:bodyPr wrap="square">
            <a:spAutoFit/>
          </a:bodyPr>
          <a:lstStyle/>
          <a:p>
            <a:pPr>
              <a:lnSpc>
                <a:spcPct val="150000"/>
              </a:lnSpc>
              <a:buNone/>
            </a:pPr>
            <a:r>
              <a:rPr lang="en-US" sz="2800" dirty="0">
                <a:latin typeface="Calibir"/>
              </a:rPr>
              <a:t>Example:</a:t>
            </a:r>
          </a:p>
          <a:p>
            <a:pPr>
              <a:lnSpc>
                <a:spcPct val="150000"/>
              </a:lnSpc>
              <a:buNone/>
            </a:pPr>
            <a:r>
              <a:rPr lang="en-US" sz="2800" dirty="0">
                <a:latin typeface="Calibir"/>
              </a:rPr>
              <a:t>Student 1 ── 0..4 Subject</a:t>
            </a:r>
          </a:p>
          <a:p>
            <a:pPr>
              <a:lnSpc>
                <a:spcPct val="150000"/>
              </a:lnSpc>
              <a:buNone/>
            </a:pPr>
            <a:r>
              <a:rPr lang="en-US" sz="2800" dirty="0">
                <a:latin typeface="Calibir"/>
              </a:rPr>
              <a:t>Use association, inheritance, aggregation, or composition only when the relationship is supported by your design. Do not add relationship types simply to demonstrate UML notation.</a:t>
            </a:r>
          </a:p>
          <a:p>
            <a:pPr>
              <a:lnSpc>
                <a:spcPct val="150000"/>
              </a:lnSpc>
              <a:buNone/>
            </a:pPr>
            <a:r>
              <a:rPr lang="en-US" sz="2800" dirty="0">
                <a:latin typeface="Calibir"/>
              </a:rPr>
              <a:t>Your class diagram should represent the overall system and remain consistent with the requirements and use-case diagram.</a:t>
            </a:r>
          </a:p>
          <a:p>
            <a:pPr>
              <a:lnSpc>
                <a:spcPct val="150000"/>
              </a:lnSpc>
              <a:buNone/>
            </a:pPr>
            <a:r>
              <a:rPr lang="en-US" sz="2800" dirty="0">
                <a:latin typeface="Calibir"/>
              </a:rPr>
              <a:t>Submit one clear, comprehensive UML Class Diagram for the system.</a:t>
            </a:r>
          </a:p>
        </p:txBody>
      </p:sp>
    </p:spTree>
    <p:extLst>
      <p:ext uri="{BB962C8B-B14F-4D97-AF65-F5344CB8AC3E}">
        <p14:creationId xmlns:p14="http://schemas.microsoft.com/office/powerpoint/2010/main" val="1976040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384C1-728D-B53A-9B2B-5A6C020608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8F212CB-1DF4-5006-EB37-B6F214DFE273}"/>
              </a:ext>
            </a:extLst>
          </p:cNvPr>
          <p:cNvSpPr txBox="1"/>
          <p:nvPr/>
        </p:nvSpPr>
        <p:spPr>
          <a:xfrm>
            <a:off x="102220" y="112964"/>
            <a:ext cx="11987560" cy="6683048"/>
          </a:xfrm>
          <a:prstGeom prst="rect">
            <a:avLst/>
          </a:prstGeom>
          <a:noFill/>
        </p:spPr>
        <p:txBody>
          <a:bodyPr wrap="square">
            <a:spAutoFit/>
          </a:bodyPr>
          <a:lstStyle/>
          <a:p>
            <a:pPr>
              <a:lnSpc>
                <a:spcPct val="150000"/>
              </a:lnSpc>
            </a:pPr>
            <a:r>
              <a:rPr lang="en-US" sz="2400" b="1" dirty="0">
                <a:latin typeface="Calibir"/>
              </a:rPr>
              <a:t>Step 5 – System rules</a:t>
            </a:r>
          </a:p>
          <a:p>
            <a:pPr marL="457200" indent="-457200">
              <a:lnSpc>
                <a:spcPct val="150000"/>
              </a:lnSpc>
              <a:buFont typeface="Arial" panose="020B0604020202020204" pitchFamily="34" charset="0"/>
              <a:buChar char="•"/>
            </a:pPr>
            <a:r>
              <a:rPr lang="en-US" sz="2400" b="1" dirty="0">
                <a:latin typeface="Calibir"/>
              </a:rPr>
              <a:t>Email</a:t>
            </a:r>
            <a:r>
              <a:rPr lang="en-US" sz="2400" dirty="0">
                <a:latin typeface="Calibir"/>
              </a:rPr>
              <a:t>: must end with @university.com.</a:t>
            </a:r>
          </a:p>
          <a:p>
            <a:pPr marL="457200" indent="-457200">
              <a:lnSpc>
                <a:spcPct val="150000"/>
              </a:lnSpc>
              <a:buFont typeface="Arial" panose="020B0604020202020204" pitchFamily="34" charset="0"/>
              <a:buChar char="•"/>
            </a:pPr>
            <a:r>
              <a:rPr lang="en-US" sz="2400" b="1" dirty="0">
                <a:latin typeface="Calibir"/>
              </a:rPr>
              <a:t>Password</a:t>
            </a:r>
            <a:r>
              <a:rPr lang="en-US" sz="2400" dirty="0">
                <a:latin typeface="Calibir"/>
              </a:rPr>
              <a:t>: regex → ^[A-Z][A-Za-z]{4,}\d{3,}$.</a:t>
            </a:r>
          </a:p>
          <a:p>
            <a:pPr marL="457200" indent="-457200">
              <a:lnSpc>
                <a:spcPct val="150000"/>
              </a:lnSpc>
              <a:buFont typeface="Arial" panose="020B0604020202020204" pitchFamily="34" charset="0"/>
              <a:buChar char="•"/>
            </a:pPr>
            <a:r>
              <a:rPr lang="en-US" sz="2400" b="1" dirty="0">
                <a:latin typeface="Calibir"/>
              </a:rPr>
              <a:t>Student ID</a:t>
            </a:r>
            <a:r>
              <a:rPr lang="en-US" sz="2400" dirty="0">
                <a:latin typeface="Calibir"/>
              </a:rPr>
              <a:t>: 6-digit zero-padded (e.g., 000045).</a:t>
            </a:r>
          </a:p>
          <a:p>
            <a:pPr marL="457200" indent="-457200">
              <a:lnSpc>
                <a:spcPct val="150000"/>
              </a:lnSpc>
              <a:buFont typeface="Arial" panose="020B0604020202020204" pitchFamily="34" charset="0"/>
              <a:buChar char="•"/>
            </a:pPr>
            <a:r>
              <a:rPr lang="en-US" sz="2400" b="1" dirty="0">
                <a:latin typeface="Calibir"/>
              </a:rPr>
              <a:t>Subject ID is </a:t>
            </a:r>
            <a:r>
              <a:rPr lang="en-US" sz="2400" dirty="0">
                <a:latin typeface="Calibir"/>
              </a:rPr>
              <a:t>unique auto-generated ID from 1 to 999, represented as a 3-digit ID where appropriate (e.g., 007).</a:t>
            </a:r>
          </a:p>
          <a:p>
            <a:pPr marL="457200" indent="-457200">
              <a:lnSpc>
                <a:spcPct val="150000"/>
              </a:lnSpc>
              <a:buFont typeface="Arial" panose="020B0604020202020204" pitchFamily="34" charset="0"/>
              <a:buChar char="•"/>
            </a:pPr>
            <a:r>
              <a:rPr lang="en-US" sz="2400" b="1" dirty="0">
                <a:latin typeface="Calibir"/>
              </a:rPr>
              <a:t>Grades</a:t>
            </a:r>
            <a:r>
              <a:rPr lang="en-US" sz="2400" dirty="0">
                <a:latin typeface="Calibir"/>
              </a:rPr>
              <a:t>:</a:t>
            </a:r>
          </a:p>
          <a:p>
            <a:pPr marL="914400" lvl="1" indent="-457200">
              <a:lnSpc>
                <a:spcPct val="150000"/>
              </a:lnSpc>
              <a:buFont typeface="Arial" panose="020B0604020202020204" pitchFamily="34" charset="0"/>
              <a:buChar char="•"/>
            </a:pPr>
            <a:r>
              <a:rPr lang="en-US" sz="2400" dirty="0">
                <a:latin typeface="Calibir"/>
              </a:rPr>
              <a:t>&lt; 50 → Z</a:t>
            </a:r>
          </a:p>
          <a:p>
            <a:pPr marL="914400" lvl="1" indent="-457200">
              <a:lnSpc>
                <a:spcPct val="150000"/>
              </a:lnSpc>
              <a:buFont typeface="Arial" panose="020B0604020202020204" pitchFamily="34" charset="0"/>
              <a:buChar char="•"/>
            </a:pPr>
            <a:r>
              <a:rPr lang="en-US" sz="2400" dirty="0">
                <a:latin typeface="Calibir"/>
              </a:rPr>
              <a:t>50–64 → P</a:t>
            </a:r>
          </a:p>
          <a:p>
            <a:pPr marL="914400" lvl="1" indent="-457200">
              <a:lnSpc>
                <a:spcPct val="150000"/>
              </a:lnSpc>
              <a:buFont typeface="Arial" panose="020B0604020202020204" pitchFamily="34" charset="0"/>
              <a:buChar char="•"/>
            </a:pPr>
            <a:r>
              <a:rPr lang="en-US" sz="2400" dirty="0">
                <a:latin typeface="Calibir"/>
              </a:rPr>
              <a:t>65–74 → C</a:t>
            </a:r>
          </a:p>
          <a:p>
            <a:pPr marL="914400" lvl="1" indent="-457200">
              <a:lnSpc>
                <a:spcPct val="150000"/>
              </a:lnSpc>
              <a:buFont typeface="Arial" panose="020B0604020202020204" pitchFamily="34" charset="0"/>
              <a:buChar char="•"/>
            </a:pPr>
            <a:r>
              <a:rPr lang="en-US" sz="2400" dirty="0">
                <a:latin typeface="Calibir"/>
              </a:rPr>
              <a:t>75–84 → D</a:t>
            </a:r>
          </a:p>
          <a:p>
            <a:pPr marL="914400" lvl="1" indent="-457200">
              <a:lnSpc>
                <a:spcPct val="150000"/>
              </a:lnSpc>
              <a:buFont typeface="Arial" panose="020B0604020202020204" pitchFamily="34" charset="0"/>
              <a:buChar char="•"/>
            </a:pPr>
            <a:r>
              <a:rPr lang="en-US" sz="2400" dirty="0">
                <a:latin typeface="Calibir"/>
              </a:rPr>
              <a:t>≥ 85 → HD</a:t>
            </a:r>
          </a:p>
        </p:txBody>
      </p:sp>
    </p:spTree>
    <p:extLst>
      <p:ext uri="{BB962C8B-B14F-4D97-AF65-F5344CB8AC3E}">
        <p14:creationId xmlns:p14="http://schemas.microsoft.com/office/powerpoint/2010/main" val="997190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368FB-04FD-529A-01A1-444418F868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9C19537-F82E-EB74-6F4B-DAB8F8937F55}"/>
              </a:ext>
            </a:extLst>
          </p:cNvPr>
          <p:cNvSpPr txBox="1"/>
          <p:nvPr/>
        </p:nvSpPr>
        <p:spPr>
          <a:xfrm>
            <a:off x="102220" y="112964"/>
            <a:ext cx="11987560" cy="3903504"/>
          </a:xfrm>
          <a:prstGeom prst="rect">
            <a:avLst/>
          </a:prstGeom>
          <a:noFill/>
        </p:spPr>
        <p:txBody>
          <a:bodyPr wrap="square">
            <a:spAutoFit/>
          </a:bodyPr>
          <a:lstStyle/>
          <a:p>
            <a:pPr>
              <a:lnSpc>
                <a:spcPct val="150000"/>
              </a:lnSpc>
            </a:pPr>
            <a:r>
              <a:rPr lang="en-US" sz="2800" b="1" dirty="0">
                <a:latin typeface="Calibir"/>
              </a:rPr>
              <a:t>Optional design exercise – </a:t>
            </a:r>
            <a:r>
              <a:rPr lang="en-US" sz="2800" b="1" dirty="0" err="1">
                <a:latin typeface="Calibir"/>
              </a:rPr>
              <a:t>students.data</a:t>
            </a:r>
            <a:br>
              <a:rPr lang="en-US" sz="2800" dirty="0">
                <a:latin typeface="Calibir"/>
              </a:rPr>
            </a:br>
            <a:r>
              <a:rPr lang="en-US" sz="2800" dirty="0">
                <a:latin typeface="Calibir"/>
              </a:rPr>
              <a:t>The requirements state that registered student and enrolment data will be stored in </a:t>
            </a:r>
            <a:r>
              <a:rPr lang="en-US" sz="2800" dirty="0" err="1">
                <a:latin typeface="Calibir"/>
              </a:rPr>
              <a:t>students.data</a:t>
            </a:r>
            <a:r>
              <a:rPr lang="en-US" sz="2800" dirty="0">
                <a:latin typeface="Calibir"/>
              </a:rPr>
              <a:t>. You may show a possible structure for this file to help explain your class/data design. However, a separate data-file design is not one of the three explicitly assessed Part 1 components. The assessed components are the User Story Backlog, UML Use Case Diagram, and UML Class Diagram.</a:t>
            </a:r>
          </a:p>
        </p:txBody>
      </p:sp>
    </p:spTree>
    <p:extLst>
      <p:ext uri="{BB962C8B-B14F-4D97-AF65-F5344CB8AC3E}">
        <p14:creationId xmlns:p14="http://schemas.microsoft.com/office/powerpoint/2010/main" val="50253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C1332-67C3-40DF-FDC5-087FC5FF8F9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5859AC-A25C-E3ED-53A6-3B43B055BDE9}"/>
              </a:ext>
            </a:extLst>
          </p:cNvPr>
          <p:cNvSpPr txBox="1"/>
          <p:nvPr/>
        </p:nvSpPr>
        <p:spPr>
          <a:xfrm>
            <a:off x="102220" y="112964"/>
            <a:ext cx="11987560" cy="1318181"/>
          </a:xfrm>
          <a:prstGeom prst="rect">
            <a:avLst/>
          </a:prstGeom>
          <a:noFill/>
        </p:spPr>
        <p:txBody>
          <a:bodyPr wrap="square">
            <a:spAutoFit/>
          </a:bodyPr>
          <a:lstStyle/>
          <a:p>
            <a:pPr>
              <a:lnSpc>
                <a:spcPct val="150000"/>
              </a:lnSpc>
            </a:pPr>
            <a:r>
              <a:rPr lang="en-US" sz="2800" b="1" dirty="0">
                <a:latin typeface="Calibir"/>
              </a:rPr>
              <a:t>Step 6 – Design the Data File</a:t>
            </a:r>
          </a:p>
          <a:p>
            <a:pPr>
              <a:lnSpc>
                <a:spcPct val="150000"/>
              </a:lnSpc>
            </a:pPr>
            <a:r>
              <a:rPr lang="en-US" sz="2800" dirty="0">
                <a:latin typeface="Calibir"/>
              </a:rPr>
              <a:t>JSON Lines example</a:t>
            </a:r>
          </a:p>
        </p:txBody>
      </p:sp>
      <p:sp>
        <p:nvSpPr>
          <p:cNvPr id="8" name="TextBox 7">
            <a:extLst>
              <a:ext uri="{FF2B5EF4-FFF2-40B4-BE49-F238E27FC236}">
                <a16:creationId xmlns:a16="http://schemas.microsoft.com/office/drawing/2014/main" id="{56B251AE-6323-0213-C0F9-CFE699524699}"/>
              </a:ext>
            </a:extLst>
          </p:cNvPr>
          <p:cNvSpPr txBox="1"/>
          <p:nvPr/>
        </p:nvSpPr>
        <p:spPr>
          <a:xfrm>
            <a:off x="102220" y="3429000"/>
            <a:ext cx="6105292" cy="523220"/>
          </a:xfrm>
          <a:prstGeom prst="rect">
            <a:avLst/>
          </a:prstGeom>
          <a:noFill/>
        </p:spPr>
        <p:txBody>
          <a:bodyPr wrap="square">
            <a:spAutoFit/>
          </a:bodyPr>
          <a:lstStyle/>
          <a:p>
            <a:r>
              <a:rPr lang="en-US" sz="2800" dirty="0">
                <a:latin typeface="Calibir"/>
              </a:rPr>
              <a:t>CSV alternative</a:t>
            </a:r>
          </a:p>
        </p:txBody>
      </p:sp>
      <p:pic>
        <p:nvPicPr>
          <p:cNvPr id="12" name="Picture 11">
            <a:extLst>
              <a:ext uri="{FF2B5EF4-FFF2-40B4-BE49-F238E27FC236}">
                <a16:creationId xmlns:a16="http://schemas.microsoft.com/office/drawing/2014/main" id="{A5242366-BAB3-DECB-032D-4A2ECE81FE0D}"/>
              </a:ext>
            </a:extLst>
          </p:cNvPr>
          <p:cNvPicPr>
            <a:picLocks noChangeAspect="1"/>
          </p:cNvPicPr>
          <p:nvPr/>
        </p:nvPicPr>
        <p:blipFill>
          <a:blip r:embed="rId2"/>
          <a:srcRect l="8323" t="65203" r="9269" b="20325"/>
          <a:stretch>
            <a:fillRect/>
          </a:stretch>
        </p:blipFill>
        <p:spPr>
          <a:xfrm>
            <a:off x="102219" y="4073472"/>
            <a:ext cx="11876821" cy="1173183"/>
          </a:xfrm>
          <a:prstGeom prst="rect">
            <a:avLst/>
          </a:prstGeom>
        </p:spPr>
      </p:pic>
      <p:sp>
        <p:nvSpPr>
          <p:cNvPr id="3" name="TextBox 2">
            <a:extLst>
              <a:ext uri="{FF2B5EF4-FFF2-40B4-BE49-F238E27FC236}">
                <a16:creationId xmlns:a16="http://schemas.microsoft.com/office/drawing/2014/main" id="{9B3A141C-E600-94BD-01EA-A022E105B26E}"/>
              </a:ext>
            </a:extLst>
          </p:cNvPr>
          <p:cNvSpPr txBox="1"/>
          <p:nvPr/>
        </p:nvSpPr>
        <p:spPr>
          <a:xfrm>
            <a:off x="102219" y="1611346"/>
            <a:ext cx="11962980" cy="769441"/>
          </a:xfrm>
          <a:prstGeom prst="rect">
            <a:avLst/>
          </a:prstGeom>
          <a:solidFill>
            <a:schemeClr val="tx1"/>
          </a:solidFill>
        </p:spPr>
        <p:txBody>
          <a:bodyPr wrap="square">
            <a:spAutoFit/>
          </a:bodyPr>
          <a:lstStyle/>
          <a:p>
            <a:r>
              <a:rPr lang="en-US" sz="2200" dirty="0">
                <a:solidFill>
                  <a:schemeClr val="bg1"/>
                </a:solidFill>
                <a:latin typeface="Calibir"/>
              </a:rPr>
              <a:t>{"id":"000123","name":"Leila","email":"leila@university.com","password":"Aabcd123","subjects":[{"code":"007","mark":78,"grade":"D"}]}</a:t>
            </a:r>
          </a:p>
        </p:txBody>
      </p:sp>
    </p:spTree>
    <p:extLst>
      <p:ext uri="{BB962C8B-B14F-4D97-AF65-F5344CB8AC3E}">
        <p14:creationId xmlns:p14="http://schemas.microsoft.com/office/powerpoint/2010/main" val="668976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93374-F5F9-FF40-EA5B-E2AD06FFDA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0F14EE-71FB-34FB-B3D9-5AF6E85127F8}"/>
              </a:ext>
            </a:extLst>
          </p:cNvPr>
          <p:cNvSpPr txBox="1"/>
          <p:nvPr/>
        </p:nvSpPr>
        <p:spPr>
          <a:xfrm>
            <a:off x="102220" y="2123578"/>
            <a:ext cx="11987560" cy="4549835"/>
          </a:xfrm>
          <a:prstGeom prst="rect">
            <a:avLst/>
          </a:prstGeom>
          <a:noFill/>
        </p:spPr>
        <p:txBody>
          <a:bodyPr wrap="square">
            <a:spAutoFit/>
          </a:bodyPr>
          <a:lstStyle/>
          <a:p>
            <a:pPr>
              <a:lnSpc>
                <a:spcPct val="150000"/>
              </a:lnSpc>
            </a:pPr>
            <a:r>
              <a:rPr lang="en-US" sz="2800" b="1" dirty="0">
                <a:latin typeface="Calibir"/>
              </a:rPr>
              <a:t>Step 7 – Quality check</a:t>
            </a:r>
          </a:p>
          <a:p>
            <a:pPr marL="914400" lvl="1" indent="-457200">
              <a:lnSpc>
                <a:spcPct val="150000"/>
              </a:lnSpc>
              <a:buFont typeface="Arial" panose="020B0604020202020204" pitchFamily="34" charset="0"/>
              <a:buChar char="•"/>
            </a:pPr>
            <a:r>
              <a:rPr lang="en-US" sz="2800" dirty="0">
                <a:latin typeface="Calibir"/>
              </a:rPr>
              <a:t>Check traceability across your work: requirement → relevant user story/use case → supporting classes and operations. Not every item needs a one-to-one mapping, but nothing important from the requirements should disappear from the design.</a:t>
            </a:r>
          </a:p>
          <a:p>
            <a:pPr marL="914400" lvl="1" indent="-457200">
              <a:lnSpc>
                <a:spcPct val="150000"/>
              </a:lnSpc>
              <a:buFont typeface="Arial" panose="020B0604020202020204" pitchFamily="34" charset="0"/>
              <a:buChar char="•"/>
            </a:pPr>
            <a:r>
              <a:rPr lang="en-US" sz="2800" dirty="0">
                <a:latin typeface="Calibir"/>
              </a:rPr>
              <a:t>Label multiplicities, include/extend.</a:t>
            </a:r>
          </a:p>
          <a:p>
            <a:pPr marL="914400" lvl="1" indent="-457200">
              <a:lnSpc>
                <a:spcPct val="150000"/>
              </a:lnSpc>
              <a:buFont typeface="Arial" panose="020B0604020202020204" pitchFamily="34" charset="0"/>
              <a:buChar char="•"/>
            </a:pPr>
            <a:r>
              <a:rPr lang="en-US" sz="2800" dirty="0">
                <a:latin typeface="Calibir"/>
              </a:rPr>
              <a:t>Keep naming consistent (e.g., always “</a:t>
            </a:r>
            <a:r>
              <a:rPr lang="en-US" sz="2800" dirty="0" err="1">
                <a:latin typeface="Calibir"/>
              </a:rPr>
              <a:t>Enrol</a:t>
            </a:r>
            <a:r>
              <a:rPr lang="en-US" sz="2800" dirty="0">
                <a:latin typeface="Calibir"/>
              </a:rPr>
              <a:t> Subject”).</a:t>
            </a:r>
          </a:p>
        </p:txBody>
      </p:sp>
      <p:sp>
        <p:nvSpPr>
          <p:cNvPr id="2" name="Title 1">
            <a:extLst>
              <a:ext uri="{FF2B5EF4-FFF2-40B4-BE49-F238E27FC236}">
                <a16:creationId xmlns:a16="http://schemas.microsoft.com/office/drawing/2014/main" id="{D876931C-C74E-5EBD-8205-58FCC4B55787}"/>
              </a:ext>
            </a:extLst>
          </p:cNvPr>
          <p:cNvSpPr>
            <a:spLocks noGrp="1"/>
          </p:cNvSpPr>
          <p:nvPr>
            <p:ph type="title"/>
          </p:nvPr>
        </p:nvSpPr>
        <p:spPr>
          <a:xfrm>
            <a:off x="0" y="-1"/>
            <a:ext cx="12192000" cy="1072055"/>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4144096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8C673-CE92-1280-791E-D6EFDD1BAB9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C2D4CE-1376-7A9A-D666-8E5C688930F6}"/>
              </a:ext>
            </a:extLst>
          </p:cNvPr>
          <p:cNvSpPr txBox="1"/>
          <p:nvPr/>
        </p:nvSpPr>
        <p:spPr>
          <a:xfrm>
            <a:off x="0" y="1060818"/>
            <a:ext cx="11987560" cy="3257174"/>
          </a:xfrm>
          <a:prstGeom prst="rect">
            <a:avLst/>
          </a:prstGeom>
          <a:noFill/>
        </p:spPr>
        <p:txBody>
          <a:bodyPr wrap="square">
            <a:spAutoFit/>
          </a:bodyPr>
          <a:lstStyle/>
          <a:p>
            <a:pPr>
              <a:lnSpc>
                <a:spcPct val="150000"/>
              </a:lnSpc>
            </a:pPr>
            <a:r>
              <a:rPr lang="en-US" sz="2700" b="1" dirty="0">
                <a:latin typeface="Calibir"/>
              </a:rPr>
              <a:t>Recommended group planning – roles and responsibilities</a:t>
            </a:r>
            <a:br>
              <a:rPr lang="en-US" sz="2700" dirty="0">
                <a:latin typeface="Calibir"/>
              </a:rPr>
            </a:br>
            <a:r>
              <a:rPr lang="en-US" sz="2700" dirty="0">
                <a:latin typeface="Calibir"/>
              </a:rPr>
              <a:t>Your group may use a simple roles-and-responsibilities table to </a:t>
            </a:r>
            <a:r>
              <a:rPr lang="en-US" sz="2700" dirty="0" err="1">
                <a:latin typeface="Calibir"/>
              </a:rPr>
              <a:t>organise</a:t>
            </a:r>
            <a:r>
              <a:rPr lang="en-US" sz="2700" dirty="0">
                <a:latin typeface="Calibir"/>
              </a:rPr>
              <a:t> the work. All members are expected to contribute meaningfully to the complete submission and review the final work together. Individual contribution is also assessed through </a:t>
            </a:r>
            <a:r>
              <a:rPr lang="en-US" sz="2700" dirty="0" err="1">
                <a:latin typeface="Calibir"/>
              </a:rPr>
              <a:t>SparkPlus</a:t>
            </a:r>
            <a:r>
              <a:rPr lang="en-US" sz="2700" dirty="0">
                <a:latin typeface="Calibir"/>
              </a:rPr>
              <a:t>.</a:t>
            </a:r>
          </a:p>
        </p:txBody>
      </p:sp>
      <p:graphicFrame>
        <p:nvGraphicFramePr>
          <p:cNvPr id="2" name="Table 1">
            <a:extLst>
              <a:ext uri="{FF2B5EF4-FFF2-40B4-BE49-F238E27FC236}">
                <a16:creationId xmlns:a16="http://schemas.microsoft.com/office/drawing/2014/main" id="{09372D31-0171-5775-0723-C520959B5FC9}"/>
              </a:ext>
            </a:extLst>
          </p:cNvPr>
          <p:cNvGraphicFramePr>
            <a:graphicFrameLocks noGrp="1"/>
          </p:cNvGraphicFramePr>
          <p:nvPr>
            <p:extLst>
              <p:ext uri="{D42A27DB-BD31-4B8C-83A1-F6EECF244321}">
                <p14:modId xmlns:p14="http://schemas.microsoft.com/office/powerpoint/2010/main" val="4119631809"/>
              </p:ext>
            </p:extLst>
          </p:nvPr>
        </p:nvGraphicFramePr>
        <p:xfrm>
          <a:off x="838200" y="4342490"/>
          <a:ext cx="10515600" cy="207264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656184667"/>
                    </a:ext>
                  </a:extLst>
                </a:gridCol>
                <a:gridCol w="3505200">
                  <a:extLst>
                    <a:ext uri="{9D8B030D-6E8A-4147-A177-3AD203B41FA5}">
                      <a16:colId xmlns:a16="http://schemas.microsoft.com/office/drawing/2014/main" val="2384822294"/>
                    </a:ext>
                  </a:extLst>
                </a:gridCol>
                <a:gridCol w="3505200">
                  <a:extLst>
                    <a:ext uri="{9D8B030D-6E8A-4147-A177-3AD203B41FA5}">
                      <a16:colId xmlns:a16="http://schemas.microsoft.com/office/drawing/2014/main" val="812154028"/>
                    </a:ext>
                  </a:extLst>
                </a:gridCol>
              </a:tblGrid>
              <a:tr h="0">
                <a:tc>
                  <a:txBody>
                    <a:bodyPr/>
                    <a:lstStyle/>
                    <a:p>
                      <a:pPr>
                        <a:buNone/>
                      </a:pPr>
                      <a:r>
                        <a:rPr lang="en-US" sz="2800" dirty="0">
                          <a:latin typeface="Calibir"/>
                        </a:rPr>
                        <a:t>Member</a:t>
                      </a:r>
                    </a:p>
                  </a:txBody>
                  <a:tcPr anchor="ctr">
                    <a:solidFill>
                      <a:schemeClr val="accent5">
                        <a:lumMod val="20000"/>
                        <a:lumOff val="80000"/>
                      </a:schemeClr>
                    </a:solidFill>
                  </a:tcPr>
                </a:tc>
                <a:tc>
                  <a:txBody>
                    <a:bodyPr/>
                    <a:lstStyle/>
                    <a:p>
                      <a:pPr>
                        <a:buNone/>
                      </a:pPr>
                      <a:r>
                        <a:rPr lang="en-US" sz="2800" dirty="0">
                          <a:latin typeface="Calibir"/>
                        </a:rPr>
                        <a:t>Main Role</a:t>
                      </a:r>
                    </a:p>
                  </a:txBody>
                  <a:tcPr anchor="ctr">
                    <a:solidFill>
                      <a:schemeClr val="accent5">
                        <a:lumMod val="20000"/>
                        <a:lumOff val="80000"/>
                      </a:schemeClr>
                    </a:solidFill>
                  </a:tcPr>
                </a:tc>
                <a:tc>
                  <a:txBody>
                    <a:bodyPr/>
                    <a:lstStyle/>
                    <a:p>
                      <a:pPr>
                        <a:buNone/>
                      </a:pPr>
                      <a:r>
                        <a:rPr lang="en-US" sz="2800" dirty="0">
                          <a:latin typeface="Calibir"/>
                        </a:rPr>
                        <a:t>Also helps with…</a:t>
                      </a:r>
                    </a:p>
                  </a:txBody>
                  <a:tcPr anchor="ctr">
                    <a:solidFill>
                      <a:schemeClr val="accent5">
                        <a:lumMod val="20000"/>
                        <a:lumOff val="80000"/>
                      </a:schemeClr>
                    </a:solidFill>
                  </a:tcPr>
                </a:tc>
                <a:extLst>
                  <a:ext uri="{0D108BD9-81ED-4DB2-BD59-A6C34878D82A}">
                    <a16:rowId xmlns:a16="http://schemas.microsoft.com/office/drawing/2014/main" val="1529415890"/>
                  </a:ext>
                </a:extLst>
              </a:tr>
              <a:tr h="0">
                <a:tc>
                  <a:txBody>
                    <a:bodyPr/>
                    <a:lstStyle/>
                    <a:p>
                      <a:pPr>
                        <a:buNone/>
                      </a:pPr>
                      <a:r>
                        <a:rPr lang="en-US" sz="2800" dirty="0">
                          <a:latin typeface="Calibir"/>
                        </a:rPr>
                        <a:t>Asha</a:t>
                      </a:r>
                    </a:p>
                  </a:txBody>
                  <a:tcPr anchor="ctr"/>
                </a:tc>
                <a:tc>
                  <a:txBody>
                    <a:bodyPr/>
                    <a:lstStyle/>
                    <a:p>
                      <a:pPr>
                        <a:buNone/>
                      </a:pPr>
                      <a:r>
                        <a:rPr lang="en-US" sz="2800" dirty="0">
                          <a:latin typeface="Calibir"/>
                        </a:rPr>
                        <a:t>User stories/backlog</a:t>
                      </a:r>
                    </a:p>
                  </a:txBody>
                  <a:tcPr anchor="ctr"/>
                </a:tc>
                <a:tc>
                  <a:txBody>
                    <a:bodyPr/>
                    <a:lstStyle/>
                    <a:p>
                      <a:pPr>
                        <a:buNone/>
                      </a:pPr>
                      <a:r>
                        <a:rPr lang="en-US" sz="2800">
                          <a:latin typeface="Calibir"/>
                        </a:rPr>
                        <a:t>Use Case diagram</a:t>
                      </a:r>
                    </a:p>
                  </a:txBody>
                  <a:tcPr anchor="ctr"/>
                </a:tc>
                <a:extLst>
                  <a:ext uri="{0D108BD9-81ED-4DB2-BD59-A6C34878D82A}">
                    <a16:rowId xmlns:a16="http://schemas.microsoft.com/office/drawing/2014/main" val="1570102234"/>
                  </a:ext>
                </a:extLst>
              </a:tr>
              <a:tr h="0">
                <a:tc>
                  <a:txBody>
                    <a:bodyPr/>
                    <a:lstStyle/>
                    <a:p>
                      <a:pPr>
                        <a:buNone/>
                      </a:pPr>
                      <a:r>
                        <a:rPr lang="en-US" sz="2800">
                          <a:latin typeface="Calibir"/>
                        </a:rPr>
                        <a:t>Liam</a:t>
                      </a:r>
                    </a:p>
                  </a:txBody>
                  <a:tcPr anchor="ctr"/>
                </a:tc>
                <a:tc>
                  <a:txBody>
                    <a:bodyPr/>
                    <a:lstStyle/>
                    <a:p>
                      <a:pPr>
                        <a:buNone/>
                      </a:pPr>
                      <a:r>
                        <a:rPr lang="en-US" sz="2800">
                          <a:latin typeface="Calibir"/>
                        </a:rPr>
                        <a:t>Class diagram</a:t>
                      </a:r>
                    </a:p>
                  </a:txBody>
                  <a:tcPr anchor="ctr"/>
                </a:tc>
                <a:tc>
                  <a:txBody>
                    <a:bodyPr/>
                    <a:lstStyle/>
                    <a:p>
                      <a:pPr>
                        <a:buNone/>
                      </a:pPr>
                      <a:r>
                        <a:rPr lang="en-US" sz="2800">
                          <a:latin typeface="Calibir"/>
                        </a:rPr>
                        <a:t>Report formatting</a:t>
                      </a:r>
                    </a:p>
                  </a:txBody>
                  <a:tcPr anchor="ctr"/>
                </a:tc>
                <a:extLst>
                  <a:ext uri="{0D108BD9-81ED-4DB2-BD59-A6C34878D82A}">
                    <a16:rowId xmlns:a16="http://schemas.microsoft.com/office/drawing/2014/main" val="2461465524"/>
                  </a:ext>
                </a:extLst>
              </a:tr>
              <a:tr h="0">
                <a:tc>
                  <a:txBody>
                    <a:bodyPr/>
                    <a:lstStyle/>
                    <a:p>
                      <a:pPr>
                        <a:buNone/>
                      </a:pPr>
                      <a:r>
                        <a:rPr lang="en-US" sz="2800">
                          <a:latin typeface="Calibir"/>
                        </a:rPr>
                        <a:t>Chen</a:t>
                      </a:r>
                    </a:p>
                  </a:txBody>
                  <a:tcPr anchor="ctr"/>
                </a:tc>
                <a:tc>
                  <a:txBody>
                    <a:bodyPr/>
                    <a:lstStyle/>
                    <a:p>
                      <a:pPr>
                        <a:buNone/>
                      </a:pPr>
                      <a:r>
                        <a:rPr lang="en-US" sz="2800">
                          <a:latin typeface="Calibir"/>
                        </a:rPr>
                        <a:t>Data file + rules</a:t>
                      </a:r>
                    </a:p>
                  </a:txBody>
                  <a:tcPr anchor="ctr"/>
                </a:tc>
                <a:tc>
                  <a:txBody>
                    <a:bodyPr/>
                    <a:lstStyle/>
                    <a:p>
                      <a:pPr>
                        <a:buNone/>
                      </a:pPr>
                      <a:r>
                        <a:rPr lang="en-US" sz="2800" dirty="0">
                          <a:latin typeface="Calibir"/>
                        </a:rPr>
                        <a:t>Proofreading</a:t>
                      </a:r>
                    </a:p>
                  </a:txBody>
                  <a:tcPr anchor="ctr"/>
                </a:tc>
                <a:extLst>
                  <a:ext uri="{0D108BD9-81ED-4DB2-BD59-A6C34878D82A}">
                    <a16:rowId xmlns:a16="http://schemas.microsoft.com/office/drawing/2014/main" val="2950042513"/>
                  </a:ext>
                </a:extLst>
              </a:tr>
            </a:tbl>
          </a:graphicData>
        </a:graphic>
      </p:graphicFrame>
      <p:sp>
        <p:nvSpPr>
          <p:cNvPr id="4" name="Title 1">
            <a:extLst>
              <a:ext uri="{FF2B5EF4-FFF2-40B4-BE49-F238E27FC236}">
                <a16:creationId xmlns:a16="http://schemas.microsoft.com/office/drawing/2014/main" id="{FA1FF4BF-297A-6C4A-7AD5-395EF65E30B7}"/>
              </a:ext>
            </a:extLst>
          </p:cNvPr>
          <p:cNvSpPr>
            <a:spLocks noGrp="1"/>
          </p:cNvSpPr>
          <p:nvPr>
            <p:ph type="title"/>
          </p:nvPr>
        </p:nvSpPr>
        <p:spPr>
          <a:xfrm>
            <a:off x="0" y="0"/>
            <a:ext cx="12192000" cy="1060818"/>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1879433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647F6-F0DB-FF35-1469-20C27E9EB88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543174F-C12C-1094-7410-4AA40C205366}"/>
              </a:ext>
            </a:extLst>
          </p:cNvPr>
          <p:cNvSpPr txBox="1"/>
          <p:nvPr/>
        </p:nvSpPr>
        <p:spPr>
          <a:xfrm>
            <a:off x="0" y="1060818"/>
            <a:ext cx="11987560" cy="1964512"/>
          </a:xfrm>
          <a:prstGeom prst="rect">
            <a:avLst/>
          </a:prstGeom>
          <a:noFill/>
        </p:spPr>
        <p:txBody>
          <a:bodyPr wrap="square">
            <a:spAutoFit/>
          </a:bodyPr>
          <a:lstStyle/>
          <a:p>
            <a:pPr>
              <a:lnSpc>
                <a:spcPct val="150000"/>
              </a:lnSpc>
            </a:pPr>
            <a:r>
              <a:rPr lang="en-US" sz="2800" dirty="0">
                <a:latin typeface="Calibir"/>
              </a:rPr>
              <a:t>The table shows primary responsibilities only. All members are expected to contribute meaningfully to the overall group submission and review the final work together.</a:t>
            </a:r>
          </a:p>
        </p:txBody>
      </p:sp>
      <p:graphicFrame>
        <p:nvGraphicFramePr>
          <p:cNvPr id="2" name="Table 1">
            <a:extLst>
              <a:ext uri="{FF2B5EF4-FFF2-40B4-BE49-F238E27FC236}">
                <a16:creationId xmlns:a16="http://schemas.microsoft.com/office/drawing/2014/main" id="{65568A8C-4D01-A718-5484-881B5A98766E}"/>
              </a:ext>
            </a:extLst>
          </p:cNvPr>
          <p:cNvGraphicFramePr>
            <a:graphicFrameLocks noGrp="1"/>
          </p:cNvGraphicFramePr>
          <p:nvPr>
            <p:extLst>
              <p:ext uri="{D42A27DB-BD31-4B8C-83A1-F6EECF244321}">
                <p14:modId xmlns:p14="http://schemas.microsoft.com/office/powerpoint/2010/main" val="1973272431"/>
              </p:ext>
            </p:extLst>
          </p:nvPr>
        </p:nvGraphicFramePr>
        <p:xfrm>
          <a:off x="838200" y="3049828"/>
          <a:ext cx="10515600" cy="207264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656184667"/>
                    </a:ext>
                  </a:extLst>
                </a:gridCol>
                <a:gridCol w="3505200">
                  <a:extLst>
                    <a:ext uri="{9D8B030D-6E8A-4147-A177-3AD203B41FA5}">
                      <a16:colId xmlns:a16="http://schemas.microsoft.com/office/drawing/2014/main" val="2384822294"/>
                    </a:ext>
                  </a:extLst>
                </a:gridCol>
                <a:gridCol w="3505200">
                  <a:extLst>
                    <a:ext uri="{9D8B030D-6E8A-4147-A177-3AD203B41FA5}">
                      <a16:colId xmlns:a16="http://schemas.microsoft.com/office/drawing/2014/main" val="812154028"/>
                    </a:ext>
                  </a:extLst>
                </a:gridCol>
              </a:tblGrid>
              <a:tr h="0">
                <a:tc>
                  <a:txBody>
                    <a:bodyPr/>
                    <a:lstStyle/>
                    <a:p>
                      <a:pPr>
                        <a:buNone/>
                      </a:pPr>
                      <a:r>
                        <a:rPr lang="en-US" sz="2800" dirty="0">
                          <a:latin typeface="Calibir"/>
                        </a:rPr>
                        <a:t>Member</a:t>
                      </a:r>
                    </a:p>
                  </a:txBody>
                  <a:tcPr anchor="ctr">
                    <a:solidFill>
                      <a:schemeClr val="accent5">
                        <a:lumMod val="20000"/>
                        <a:lumOff val="80000"/>
                      </a:schemeClr>
                    </a:solidFill>
                  </a:tcPr>
                </a:tc>
                <a:tc>
                  <a:txBody>
                    <a:bodyPr/>
                    <a:lstStyle/>
                    <a:p>
                      <a:pPr>
                        <a:buNone/>
                      </a:pPr>
                      <a:r>
                        <a:rPr lang="en-US" sz="2800" dirty="0">
                          <a:latin typeface="Calibir"/>
                        </a:rPr>
                        <a:t>Main Role</a:t>
                      </a:r>
                    </a:p>
                  </a:txBody>
                  <a:tcPr anchor="ctr">
                    <a:solidFill>
                      <a:schemeClr val="accent5">
                        <a:lumMod val="20000"/>
                        <a:lumOff val="80000"/>
                      </a:schemeClr>
                    </a:solidFill>
                  </a:tcPr>
                </a:tc>
                <a:tc>
                  <a:txBody>
                    <a:bodyPr/>
                    <a:lstStyle/>
                    <a:p>
                      <a:pPr>
                        <a:buNone/>
                      </a:pPr>
                      <a:r>
                        <a:rPr lang="en-US" sz="2800" dirty="0">
                          <a:latin typeface="Calibir"/>
                        </a:rPr>
                        <a:t>Also helps with…</a:t>
                      </a:r>
                    </a:p>
                  </a:txBody>
                  <a:tcPr anchor="ctr">
                    <a:solidFill>
                      <a:schemeClr val="accent5">
                        <a:lumMod val="20000"/>
                        <a:lumOff val="80000"/>
                      </a:schemeClr>
                    </a:solidFill>
                  </a:tcPr>
                </a:tc>
                <a:extLst>
                  <a:ext uri="{0D108BD9-81ED-4DB2-BD59-A6C34878D82A}">
                    <a16:rowId xmlns:a16="http://schemas.microsoft.com/office/drawing/2014/main" val="1529415890"/>
                  </a:ext>
                </a:extLst>
              </a:tr>
              <a:tr h="0">
                <a:tc>
                  <a:txBody>
                    <a:bodyPr/>
                    <a:lstStyle/>
                    <a:p>
                      <a:pPr>
                        <a:buNone/>
                      </a:pPr>
                      <a:r>
                        <a:rPr lang="en-US" sz="2800" dirty="0">
                          <a:latin typeface="Calibir"/>
                        </a:rPr>
                        <a:t>Asha</a:t>
                      </a:r>
                    </a:p>
                  </a:txBody>
                  <a:tcPr anchor="ctr"/>
                </a:tc>
                <a:tc>
                  <a:txBody>
                    <a:bodyPr/>
                    <a:lstStyle/>
                    <a:p>
                      <a:pPr>
                        <a:buNone/>
                      </a:pPr>
                      <a:r>
                        <a:rPr lang="en-US" sz="2800" dirty="0">
                          <a:latin typeface="Calibir"/>
                        </a:rPr>
                        <a:t>User stories/backlog</a:t>
                      </a:r>
                    </a:p>
                  </a:txBody>
                  <a:tcPr anchor="ctr"/>
                </a:tc>
                <a:tc>
                  <a:txBody>
                    <a:bodyPr/>
                    <a:lstStyle/>
                    <a:p>
                      <a:pPr>
                        <a:buNone/>
                      </a:pPr>
                      <a:r>
                        <a:rPr lang="en-US" sz="2800">
                          <a:latin typeface="Calibir"/>
                        </a:rPr>
                        <a:t>Use Case diagram</a:t>
                      </a:r>
                    </a:p>
                  </a:txBody>
                  <a:tcPr anchor="ctr"/>
                </a:tc>
                <a:extLst>
                  <a:ext uri="{0D108BD9-81ED-4DB2-BD59-A6C34878D82A}">
                    <a16:rowId xmlns:a16="http://schemas.microsoft.com/office/drawing/2014/main" val="1570102234"/>
                  </a:ext>
                </a:extLst>
              </a:tr>
              <a:tr h="0">
                <a:tc>
                  <a:txBody>
                    <a:bodyPr/>
                    <a:lstStyle/>
                    <a:p>
                      <a:pPr>
                        <a:buNone/>
                      </a:pPr>
                      <a:r>
                        <a:rPr lang="en-US" sz="2800">
                          <a:latin typeface="Calibir"/>
                        </a:rPr>
                        <a:t>Liam</a:t>
                      </a:r>
                    </a:p>
                  </a:txBody>
                  <a:tcPr anchor="ctr"/>
                </a:tc>
                <a:tc>
                  <a:txBody>
                    <a:bodyPr/>
                    <a:lstStyle/>
                    <a:p>
                      <a:pPr>
                        <a:buNone/>
                      </a:pPr>
                      <a:r>
                        <a:rPr lang="en-US" sz="2800">
                          <a:latin typeface="Calibir"/>
                        </a:rPr>
                        <a:t>Class diagram</a:t>
                      </a:r>
                    </a:p>
                  </a:txBody>
                  <a:tcPr anchor="ctr"/>
                </a:tc>
                <a:tc>
                  <a:txBody>
                    <a:bodyPr/>
                    <a:lstStyle/>
                    <a:p>
                      <a:pPr>
                        <a:buNone/>
                      </a:pPr>
                      <a:r>
                        <a:rPr lang="en-US" sz="2800">
                          <a:latin typeface="Calibir"/>
                        </a:rPr>
                        <a:t>Report formatting</a:t>
                      </a:r>
                    </a:p>
                  </a:txBody>
                  <a:tcPr anchor="ctr"/>
                </a:tc>
                <a:extLst>
                  <a:ext uri="{0D108BD9-81ED-4DB2-BD59-A6C34878D82A}">
                    <a16:rowId xmlns:a16="http://schemas.microsoft.com/office/drawing/2014/main" val="2461465524"/>
                  </a:ext>
                </a:extLst>
              </a:tr>
              <a:tr h="0">
                <a:tc>
                  <a:txBody>
                    <a:bodyPr/>
                    <a:lstStyle/>
                    <a:p>
                      <a:pPr>
                        <a:buNone/>
                      </a:pPr>
                      <a:r>
                        <a:rPr lang="en-US" sz="2800">
                          <a:latin typeface="Calibir"/>
                        </a:rPr>
                        <a:t>Chen</a:t>
                      </a:r>
                    </a:p>
                  </a:txBody>
                  <a:tcPr anchor="ctr"/>
                </a:tc>
                <a:tc>
                  <a:txBody>
                    <a:bodyPr/>
                    <a:lstStyle/>
                    <a:p>
                      <a:pPr>
                        <a:buNone/>
                      </a:pPr>
                      <a:r>
                        <a:rPr lang="en-US" sz="2800">
                          <a:latin typeface="Calibir"/>
                        </a:rPr>
                        <a:t>Data file + rules</a:t>
                      </a:r>
                    </a:p>
                  </a:txBody>
                  <a:tcPr anchor="ctr"/>
                </a:tc>
                <a:tc>
                  <a:txBody>
                    <a:bodyPr/>
                    <a:lstStyle/>
                    <a:p>
                      <a:pPr>
                        <a:buNone/>
                      </a:pPr>
                      <a:r>
                        <a:rPr lang="en-US" sz="2800" dirty="0">
                          <a:latin typeface="Calibir"/>
                        </a:rPr>
                        <a:t>Proofreading</a:t>
                      </a:r>
                    </a:p>
                  </a:txBody>
                  <a:tcPr anchor="ctr"/>
                </a:tc>
                <a:extLst>
                  <a:ext uri="{0D108BD9-81ED-4DB2-BD59-A6C34878D82A}">
                    <a16:rowId xmlns:a16="http://schemas.microsoft.com/office/drawing/2014/main" val="2950042513"/>
                  </a:ext>
                </a:extLst>
              </a:tr>
            </a:tbl>
          </a:graphicData>
        </a:graphic>
      </p:graphicFrame>
      <p:sp>
        <p:nvSpPr>
          <p:cNvPr id="4" name="Title 1">
            <a:extLst>
              <a:ext uri="{FF2B5EF4-FFF2-40B4-BE49-F238E27FC236}">
                <a16:creationId xmlns:a16="http://schemas.microsoft.com/office/drawing/2014/main" id="{0A17B23A-5489-708E-7076-A407D94117E1}"/>
              </a:ext>
            </a:extLst>
          </p:cNvPr>
          <p:cNvSpPr>
            <a:spLocks noGrp="1"/>
          </p:cNvSpPr>
          <p:nvPr>
            <p:ph type="title"/>
          </p:nvPr>
        </p:nvSpPr>
        <p:spPr>
          <a:xfrm>
            <a:off x="0" y="0"/>
            <a:ext cx="12192000" cy="1060818"/>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
        <p:nvSpPr>
          <p:cNvPr id="6" name="TextBox 5">
            <a:extLst>
              <a:ext uri="{FF2B5EF4-FFF2-40B4-BE49-F238E27FC236}">
                <a16:creationId xmlns:a16="http://schemas.microsoft.com/office/drawing/2014/main" id="{97D802DD-E21E-B856-23F0-E25241165023}"/>
              </a:ext>
            </a:extLst>
          </p:cNvPr>
          <p:cNvSpPr txBox="1"/>
          <p:nvPr/>
        </p:nvSpPr>
        <p:spPr>
          <a:xfrm>
            <a:off x="94593" y="5299536"/>
            <a:ext cx="12002814" cy="1318181"/>
          </a:xfrm>
          <a:prstGeom prst="rect">
            <a:avLst/>
          </a:prstGeom>
          <a:noFill/>
        </p:spPr>
        <p:txBody>
          <a:bodyPr wrap="square">
            <a:spAutoFit/>
          </a:bodyPr>
          <a:lstStyle/>
          <a:p>
            <a:pPr>
              <a:lnSpc>
                <a:spcPct val="150000"/>
              </a:lnSpc>
            </a:pPr>
            <a:r>
              <a:rPr lang="en-US" sz="2800" dirty="0">
                <a:latin typeface="Calibir"/>
              </a:rPr>
              <a:t>Primary roles help </a:t>
            </a:r>
            <a:r>
              <a:rPr lang="en-US" sz="2800" dirty="0" err="1">
                <a:latin typeface="Calibir"/>
              </a:rPr>
              <a:t>organise</a:t>
            </a:r>
            <a:r>
              <a:rPr lang="en-US" sz="2800" dirty="0">
                <a:latin typeface="Calibir"/>
              </a:rPr>
              <a:t> the work, but all group members should review and contribute to the complete submission.</a:t>
            </a:r>
          </a:p>
        </p:txBody>
      </p:sp>
    </p:spTree>
    <p:extLst>
      <p:ext uri="{BB962C8B-B14F-4D97-AF65-F5344CB8AC3E}">
        <p14:creationId xmlns:p14="http://schemas.microsoft.com/office/powerpoint/2010/main" val="1364021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42DE-E970-0DD9-FE67-65BCFF5546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753509-0244-A6B3-E6BD-FCEA9A97B6FF}"/>
              </a:ext>
            </a:extLst>
          </p:cNvPr>
          <p:cNvSpPr txBox="1"/>
          <p:nvPr/>
        </p:nvSpPr>
        <p:spPr>
          <a:xfrm>
            <a:off x="3718" y="42983"/>
            <a:ext cx="12188282" cy="6632072"/>
          </a:xfrm>
          <a:prstGeom prst="rect">
            <a:avLst/>
          </a:prstGeom>
          <a:noFill/>
        </p:spPr>
        <p:txBody>
          <a:bodyPr wrap="square">
            <a:spAutoFit/>
          </a:bodyPr>
          <a:lstStyle/>
          <a:p>
            <a:pPr>
              <a:lnSpc>
                <a:spcPct val="150000"/>
              </a:lnSpc>
            </a:pPr>
            <a:r>
              <a:rPr lang="en-US" sz="2600" b="1" dirty="0">
                <a:latin typeface="Calibir"/>
              </a:rPr>
              <a:t>Submission Checklist (1 file per group)</a:t>
            </a:r>
            <a:endParaRPr lang="en-US" sz="2600" dirty="0">
              <a:latin typeface="Calibir"/>
            </a:endParaRPr>
          </a:p>
          <a:p>
            <a:pPr marL="457200" lvl="0" indent="-457200">
              <a:lnSpc>
                <a:spcPct val="150000"/>
              </a:lnSpc>
              <a:buFont typeface="Arial" panose="020B0604020202020204" pitchFamily="34" charset="0"/>
              <a:buChar char="•"/>
            </a:pPr>
            <a:r>
              <a:rPr lang="en-US" sz="2600" dirty="0">
                <a:latin typeface="Calibir"/>
              </a:rPr>
              <a:t>Cover page/group details </a:t>
            </a:r>
          </a:p>
          <a:p>
            <a:pPr marL="457200" lvl="0" indent="-457200">
              <a:lnSpc>
                <a:spcPct val="150000"/>
              </a:lnSpc>
              <a:buFont typeface="Arial" panose="020B0604020202020204" pitchFamily="34" charset="0"/>
              <a:buChar char="•"/>
            </a:pPr>
            <a:r>
              <a:rPr lang="en-US" sz="2600" dirty="0">
                <a:latin typeface="Calibir"/>
              </a:rPr>
              <a:t>User Story Backlog </a:t>
            </a:r>
          </a:p>
          <a:p>
            <a:pPr marL="457200" lvl="0" indent="-457200">
              <a:lnSpc>
                <a:spcPct val="150000"/>
              </a:lnSpc>
              <a:buFont typeface="Arial" panose="020B0604020202020204" pitchFamily="34" charset="0"/>
              <a:buChar char="•"/>
            </a:pPr>
            <a:r>
              <a:rPr lang="en-US" sz="2600" dirty="0">
                <a:latin typeface="Calibir"/>
              </a:rPr>
              <a:t>UML Use Case Diagram + explanations of actors, goals, use cases and relationships </a:t>
            </a:r>
          </a:p>
          <a:p>
            <a:pPr marL="457200" lvl="0" indent="-457200">
              <a:lnSpc>
                <a:spcPct val="150000"/>
              </a:lnSpc>
              <a:buFont typeface="Arial" panose="020B0604020202020204" pitchFamily="34" charset="0"/>
              <a:buChar char="•"/>
            </a:pPr>
            <a:r>
              <a:rPr lang="en-US" sz="2600" dirty="0">
                <a:latin typeface="Calibir"/>
              </a:rPr>
              <a:t>UML Class Diagram + explanations of classes, fields, methods, visibility, relationships and multiplicities </a:t>
            </a:r>
          </a:p>
          <a:p>
            <a:pPr marL="457200" lvl="0" indent="-457200">
              <a:lnSpc>
                <a:spcPct val="150000"/>
              </a:lnSpc>
              <a:buFont typeface="Arial" panose="020B0604020202020204" pitchFamily="34" charset="0"/>
              <a:buChar char="•"/>
            </a:pPr>
            <a:r>
              <a:rPr lang="en-US" sz="2600" dirty="0">
                <a:latin typeface="Calibir"/>
              </a:rPr>
              <a:t>Any supporting scope/rules information needed to make the analysis clear </a:t>
            </a:r>
          </a:p>
          <a:p>
            <a:pPr>
              <a:lnSpc>
                <a:spcPct val="150000"/>
              </a:lnSpc>
            </a:pPr>
            <a:r>
              <a:rPr lang="en-US" sz="2600" dirty="0">
                <a:latin typeface="Calibir"/>
              </a:rPr>
              <a:t>Optional supporting material may include a proposed </a:t>
            </a:r>
            <a:r>
              <a:rPr lang="en-US" sz="2600" dirty="0" err="1">
                <a:latin typeface="Calibir"/>
              </a:rPr>
              <a:t>students.data</a:t>
            </a:r>
            <a:r>
              <a:rPr lang="en-US" sz="2600" dirty="0">
                <a:latin typeface="Calibir"/>
              </a:rPr>
              <a:t> format or a group contribution plan.</a:t>
            </a:r>
          </a:p>
          <a:p>
            <a:pPr>
              <a:lnSpc>
                <a:spcPct val="150000"/>
              </a:lnSpc>
            </a:pPr>
            <a:r>
              <a:rPr lang="en-US" sz="2600" dirty="0">
                <a:latin typeface="Calibir"/>
              </a:rPr>
              <a:t>File name: group-&lt;group-number&gt;-Cmp1&lt;lab-number&gt;.&lt;</a:t>
            </a:r>
            <a:r>
              <a:rPr lang="en-US" sz="2600" dirty="0" err="1">
                <a:latin typeface="Calibir"/>
              </a:rPr>
              <a:t>pdf|docx</a:t>
            </a:r>
            <a:r>
              <a:rPr lang="en-US" sz="2600" dirty="0">
                <a:latin typeface="Calibir"/>
              </a:rPr>
              <a:t>&gt;</a:t>
            </a:r>
            <a:br>
              <a:rPr lang="en-US" sz="2600" dirty="0">
                <a:latin typeface="Calibir"/>
              </a:rPr>
            </a:br>
            <a:r>
              <a:rPr lang="en-US" sz="2600" dirty="0">
                <a:latin typeface="Calibir"/>
              </a:rPr>
              <a:t>Deadline: Sunday, Week 7.</a:t>
            </a:r>
          </a:p>
        </p:txBody>
      </p:sp>
    </p:spTree>
    <p:extLst>
      <p:ext uri="{BB962C8B-B14F-4D97-AF65-F5344CB8AC3E}">
        <p14:creationId xmlns:p14="http://schemas.microsoft.com/office/powerpoint/2010/main" val="2086263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1822C-95F1-6D7C-C39A-53C61B5AE8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7F7DA4-21EF-9217-CE76-B01BE450D615}"/>
              </a:ext>
            </a:extLst>
          </p:cNvPr>
          <p:cNvSpPr txBox="1"/>
          <p:nvPr/>
        </p:nvSpPr>
        <p:spPr>
          <a:xfrm>
            <a:off x="0" y="1155525"/>
            <a:ext cx="12188282" cy="4546950"/>
          </a:xfrm>
          <a:prstGeom prst="rect">
            <a:avLst/>
          </a:prstGeom>
          <a:noFill/>
        </p:spPr>
        <p:txBody>
          <a:bodyPr wrap="square">
            <a:spAutoFit/>
          </a:bodyPr>
          <a:lstStyle/>
          <a:p>
            <a:pPr>
              <a:lnSpc>
                <a:spcPct val="150000"/>
              </a:lnSpc>
            </a:pPr>
            <a:r>
              <a:rPr lang="en-US" sz="2800" b="1" dirty="0">
                <a:latin typeface="Calibir"/>
              </a:rPr>
              <a:t>Don’ts (common mistakes)</a:t>
            </a:r>
          </a:p>
          <a:p>
            <a:pPr lvl="1">
              <a:lnSpc>
                <a:spcPct val="150000"/>
              </a:lnSpc>
            </a:pPr>
            <a:r>
              <a:rPr lang="en-US" sz="2800" dirty="0">
                <a:highlight>
                  <a:srgbClr val="FF0000"/>
                </a:highlight>
                <a:latin typeface="Calibir"/>
              </a:rPr>
              <a:t>X</a:t>
            </a:r>
            <a:r>
              <a:rPr lang="en-US" sz="2800" dirty="0">
                <a:latin typeface="Calibir"/>
              </a:rPr>
              <a:t> Don’t mix multiple actions in one story.</a:t>
            </a:r>
            <a:br>
              <a:rPr lang="en-US" sz="2800" dirty="0">
                <a:latin typeface="Calibir"/>
              </a:rPr>
            </a:br>
            <a:r>
              <a:rPr lang="en-US" sz="2800" dirty="0">
                <a:highlight>
                  <a:srgbClr val="FF0000"/>
                </a:highlight>
                <a:latin typeface="Calibir"/>
              </a:rPr>
              <a:t>X</a:t>
            </a:r>
            <a:r>
              <a:rPr lang="en-US" sz="2800" dirty="0">
                <a:latin typeface="Calibir"/>
              </a:rPr>
              <a:t> Don’t use inconsistent IDs.</a:t>
            </a:r>
            <a:br>
              <a:rPr lang="en-US" sz="2800" dirty="0">
                <a:latin typeface="Calibir"/>
              </a:rPr>
            </a:br>
            <a:r>
              <a:rPr lang="en-US" sz="2800" dirty="0">
                <a:highlight>
                  <a:srgbClr val="FF0000"/>
                </a:highlight>
                <a:latin typeface="Calibir"/>
              </a:rPr>
              <a:t>X</a:t>
            </a:r>
            <a:r>
              <a:rPr lang="en-US" sz="2800" dirty="0">
                <a:latin typeface="Calibir"/>
              </a:rPr>
              <a:t> Don’t add UI/technical details (CLI/GUI ≠ actors).</a:t>
            </a:r>
            <a:br>
              <a:rPr lang="en-US" sz="2800" dirty="0">
                <a:latin typeface="Calibir"/>
              </a:rPr>
            </a:br>
            <a:r>
              <a:rPr lang="en-US" sz="2800" dirty="0">
                <a:highlight>
                  <a:srgbClr val="FF0000"/>
                </a:highlight>
                <a:latin typeface="Calibir"/>
              </a:rPr>
              <a:t>X</a:t>
            </a:r>
            <a:r>
              <a:rPr lang="en-US" sz="2800" dirty="0">
                <a:latin typeface="Calibir"/>
              </a:rPr>
              <a:t> Don’t forget multiplicities/labels.</a:t>
            </a:r>
            <a:br>
              <a:rPr lang="en-US" sz="2800" dirty="0">
                <a:latin typeface="Calibir"/>
              </a:rPr>
            </a:br>
            <a:r>
              <a:rPr lang="en-US" sz="2800" dirty="0">
                <a:highlight>
                  <a:srgbClr val="FF0000"/>
                </a:highlight>
                <a:latin typeface="Calibir"/>
              </a:rPr>
              <a:t>X</a:t>
            </a:r>
            <a:r>
              <a:rPr lang="en-US" sz="2800" dirty="0">
                <a:latin typeface="Calibir"/>
              </a:rPr>
              <a:t> Don’t design GUI (only Part 2).</a:t>
            </a:r>
            <a:br>
              <a:rPr lang="en-US" sz="2800" dirty="0">
                <a:latin typeface="Calibir"/>
              </a:rPr>
            </a:br>
            <a:r>
              <a:rPr lang="en-US" sz="2800" dirty="0">
                <a:highlight>
                  <a:srgbClr val="FF0000"/>
                </a:highlight>
                <a:latin typeface="Calibir"/>
              </a:rPr>
              <a:t>X</a:t>
            </a:r>
            <a:r>
              <a:rPr lang="en-US" sz="2800" dirty="0">
                <a:latin typeface="Calibir"/>
              </a:rPr>
              <a:t> Don’t submit multiple files (group submits </a:t>
            </a:r>
            <a:r>
              <a:rPr lang="en-US" sz="2800" b="1" dirty="0">
                <a:latin typeface="Calibir"/>
              </a:rPr>
              <a:t>one</a:t>
            </a:r>
            <a:r>
              <a:rPr lang="en-US" sz="2800" dirty="0">
                <a:latin typeface="Calibir"/>
              </a:rPr>
              <a:t> file).</a:t>
            </a:r>
          </a:p>
        </p:txBody>
      </p:sp>
      <p:sp>
        <p:nvSpPr>
          <p:cNvPr id="2" name="Title 1">
            <a:extLst>
              <a:ext uri="{FF2B5EF4-FFF2-40B4-BE49-F238E27FC236}">
                <a16:creationId xmlns:a16="http://schemas.microsoft.com/office/drawing/2014/main" id="{3BF372CB-F942-CBE4-4330-FEB6C6950F29}"/>
              </a:ext>
            </a:extLst>
          </p:cNvPr>
          <p:cNvSpPr>
            <a:spLocks noGrp="1"/>
          </p:cNvSpPr>
          <p:nvPr>
            <p:ph type="title"/>
          </p:nvPr>
        </p:nvSpPr>
        <p:spPr>
          <a:xfrm>
            <a:off x="0" y="0"/>
            <a:ext cx="12192000" cy="1040524"/>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3439177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B113-5C8E-B66C-894C-A44A5C8406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F9ACC1-F62C-88FE-86E7-67576FC22B40}"/>
              </a:ext>
            </a:extLst>
          </p:cNvPr>
          <p:cNvSpPr txBox="1"/>
          <p:nvPr/>
        </p:nvSpPr>
        <p:spPr>
          <a:xfrm>
            <a:off x="0" y="1800413"/>
            <a:ext cx="12188282" cy="1964512"/>
          </a:xfrm>
          <a:prstGeom prst="rect">
            <a:avLst/>
          </a:prstGeom>
          <a:noFill/>
        </p:spPr>
        <p:txBody>
          <a:bodyPr wrap="square">
            <a:spAutoFit/>
          </a:bodyPr>
          <a:lstStyle/>
          <a:p>
            <a:pPr>
              <a:lnSpc>
                <a:spcPct val="150000"/>
              </a:lnSpc>
            </a:pPr>
            <a:r>
              <a:rPr lang="en-US" sz="2800" b="1" dirty="0">
                <a:latin typeface="Calibir"/>
              </a:rPr>
              <a:t>Marking (15 marks)</a:t>
            </a:r>
          </a:p>
          <a:p>
            <a:pPr marL="914400" lvl="1" indent="-457200">
              <a:lnSpc>
                <a:spcPct val="150000"/>
              </a:lnSpc>
              <a:buFont typeface="Arial" panose="020B0604020202020204" pitchFamily="34" charset="0"/>
              <a:buChar char="•"/>
            </a:pPr>
            <a:r>
              <a:rPr lang="en-US" sz="2800" dirty="0">
                <a:latin typeface="Calibir"/>
              </a:rPr>
              <a:t>Part 1 is worth 15 marks. Refer to the official Assessment 1 brief and rubric in Canvas for the marking criteria and allocation of marks.</a:t>
            </a:r>
          </a:p>
        </p:txBody>
      </p:sp>
      <p:sp>
        <p:nvSpPr>
          <p:cNvPr id="2" name="Title 1">
            <a:extLst>
              <a:ext uri="{FF2B5EF4-FFF2-40B4-BE49-F238E27FC236}">
                <a16:creationId xmlns:a16="http://schemas.microsoft.com/office/drawing/2014/main" id="{3F0CA5BB-7B4D-043C-8A56-6E158848537A}"/>
              </a:ext>
            </a:extLst>
          </p:cNvPr>
          <p:cNvSpPr>
            <a:spLocks noGrp="1"/>
          </p:cNvSpPr>
          <p:nvPr>
            <p:ph type="title"/>
          </p:nvPr>
        </p:nvSpPr>
        <p:spPr>
          <a:xfrm>
            <a:off x="0" y="0"/>
            <a:ext cx="12192000" cy="1040524"/>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2468321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CD8E0-9FC4-B180-0FCB-211EC12167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4F6CD8-9B30-607D-E9B1-47EA79CCB0F8}"/>
              </a:ext>
            </a:extLst>
          </p:cNvPr>
          <p:cNvSpPr txBox="1"/>
          <p:nvPr/>
        </p:nvSpPr>
        <p:spPr>
          <a:xfrm>
            <a:off x="3718" y="1800413"/>
            <a:ext cx="12188282" cy="3257174"/>
          </a:xfrm>
          <a:prstGeom prst="rect">
            <a:avLst/>
          </a:prstGeom>
          <a:noFill/>
        </p:spPr>
        <p:txBody>
          <a:bodyPr wrap="square">
            <a:spAutoFit/>
          </a:bodyPr>
          <a:lstStyle/>
          <a:p>
            <a:pPr>
              <a:lnSpc>
                <a:spcPct val="150000"/>
              </a:lnSpc>
            </a:pPr>
            <a:r>
              <a:rPr lang="en-US" sz="2800" b="1" dirty="0">
                <a:latin typeface="Calibir"/>
              </a:rPr>
              <a:t>Tools allowed</a:t>
            </a:r>
          </a:p>
          <a:p>
            <a:pPr marL="914400" lvl="1" indent="-457200">
              <a:lnSpc>
                <a:spcPct val="150000"/>
              </a:lnSpc>
              <a:buFont typeface="Arial" panose="020B0604020202020204" pitchFamily="34" charset="0"/>
              <a:buChar char="•"/>
            </a:pPr>
            <a:r>
              <a:rPr lang="en-US" sz="2800" dirty="0">
                <a:latin typeface="Calibir"/>
              </a:rPr>
              <a:t>Backlog: Word/Excel table.</a:t>
            </a:r>
          </a:p>
          <a:p>
            <a:pPr marL="914400" lvl="1" indent="-457200">
              <a:lnSpc>
                <a:spcPct val="150000"/>
              </a:lnSpc>
              <a:buFont typeface="Arial" panose="020B0604020202020204" pitchFamily="34" charset="0"/>
              <a:buChar char="•"/>
            </a:pPr>
            <a:r>
              <a:rPr lang="en-US" sz="2800" dirty="0">
                <a:latin typeface="Calibir"/>
              </a:rPr>
              <a:t>Diagrams: draw.io, Visio, </a:t>
            </a:r>
            <a:r>
              <a:rPr lang="en-US" sz="2800" dirty="0" err="1">
                <a:latin typeface="Calibir"/>
              </a:rPr>
              <a:t>PlantUML</a:t>
            </a:r>
            <a:r>
              <a:rPr lang="en-US" sz="2800" dirty="0">
                <a:latin typeface="Calibir"/>
              </a:rPr>
              <a:t>, </a:t>
            </a:r>
            <a:r>
              <a:rPr lang="en-US" sz="2800" dirty="0" err="1">
                <a:latin typeface="Calibir"/>
              </a:rPr>
              <a:t>Lucidchart</a:t>
            </a:r>
            <a:r>
              <a:rPr lang="en-US" sz="2800" dirty="0">
                <a:latin typeface="Calibir"/>
              </a:rPr>
              <a:t>, </a:t>
            </a:r>
            <a:r>
              <a:rPr lang="en-US" sz="2800" dirty="0" err="1">
                <a:latin typeface="Calibir"/>
              </a:rPr>
              <a:t>SmartDraw</a:t>
            </a:r>
            <a:r>
              <a:rPr lang="en-US" sz="2800" dirty="0">
                <a:latin typeface="Calibir"/>
              </a:rPr>
              <a:t>, even Word shapes.</a:t>
            </a:r>
          </a:p>
          <a:p>
            <a:pPr marL="914400" lvl="1" indent="-457200">
              <a:lnSpc>
                <a:spcPct val="150000"/>
              </a:lnSpc>
              <a:buFont typeface="Arial" panose="020B0604020202020204" pitchFamily="34" charset="0"/>
              <a:buChar char="•"/>
            </a:pPr>
            <a:r>
              <a:rPr lang="en-US" sz="2800" dirty="0">
                <a:latin typeface="Calibir"/>
              </a:rPr>
              <a:t>No coding required in Part 1 (coding begins in Part 2).</a:t>
            </a:r>
          </a:p>
        </p:txBody>
      </p:sp>
      <p:sp>
        <p:nvSpPr>
          <p:cNvPr id="2" name="Title 1">
            <a:extLst>
              <a:ext uri="{FF2B5EF4-FFF2-40B4-BE49-F238E27FC236}">
                <a16:creationId xmlns:a16="http://schemas.microsoft.com/office/drawing/2014/main" id="{EBDDD5CC-86BB-2C0D-5E12-5B8BC82B3D4A}"/>
              </a:ext>
            </a:extLst>
          </p:cNvPr>
          <p:cNvSpPr>
            <a:spLocks noGrp="1"/>
          </p:cNvSpPr>
          <p:nvPr>
            <p:ph type="title"/>
          </p:nvPr>
        </p:nvSpPr>
        <p:spPr>
          <a:xfrm>
            <a:off x="0" y="-1"/>
            <a:ext cx="12192000" cy="1019503"/>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Tree>
    <p:extLst>
      <p:ext uri="{BB962C8B-B14F-4D97-AF65-F5344CB8AC3E}">
        <p14:creationId xmlns:p14="http://schemas.microsoft.com/office/powerpoint/2010/main" val="3659067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FE3C-33E4-9EF6-77CF-7CEA66B9C1DD}"/>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EB4A865-CE72-8D6F-CB03-69BDB97C0E12}"/>
              </a:ext>
            </a:extLst>
          </p:cNvPr>
          <p:cNvSpPr>
            <a:spLocks noChangeArrowheads="1"/>
          </p:cNvSpPr>
          <p:nvPr/>
        </p:nvSpPr>
        <p:spPr bwMode="auto">
          <a:xfrm>
            <a:off x="0" y="0"/>
            <a:ext cx="12192000"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dirty="0">
                <a:latin typeface="Calibir"/>
              </a:rPr>
              <a:t>No coding is required for Part 1. The code below is for learning purposes only and should not be submitted as part of the Part 1 analysis and design deliverables. It simply illustrates how UML </a:t>
            </a:r>
            <a:br>
              <a:rPr lang="en-US" altLang="en-US" sz="2800" dirty="0">
                <a:latin typeface="Calibir"/>
              </a:rPr>
            </a:br>
            <a:r>
              <a:rPr lang="en-US" altLang="en-US" sz="2800" dirty="0">
                <a:latin typeface="Calibir"/>
              </a:rPr>
              <a:t>attributes and methods </a:t>
            </a:r>
            <a:br>
              <a:rPr lang="en-US" altLang="en-US" sz="2800" dirty="0">
                <a:latin typeface="Calibir"/>
              </a:rPr>
            </a:br>
            <a:r>
              <a:rPr lang="en-US" altLang="en-US" sz="2800" dirty="0">
                <a:latin typeface="Calibir"/>
              </a:rPr>
              <a:t>may later translate into </a:t>
            </a:r>
            <a:br>
              <a:rPr lang="en-US" altLang="en-US" sz="2800" dirty="0">
                <a:latin typeface="Calibir"/>
              </a:rPr>
            </a:br>
            <a:r>
              <a:rPr lang="en-US" altLang="en-US" sz="2800" dirty="0">
                <a:latin typeface="Calibir"/>
              </a:rPr>
              <a:t>code in Part 2.</a:t>
            </a:r>
          </a:p>
        </p:txBody>
      </p:sp>
      <p:pic>
        <p:nvPicPr>
          <p:cNvPr id="6" name="Picture 5">
            <a:extLst>
              <a:ext uri="{FF2B5EF4-FFF2-40B4-BE49-F238E27FC236}">
                <a16:creationId xmlns:a16="http://schemas.microsoft.com/office/drawing/2014/main" id="{14E81B6E-9823-1F48-DB50-35D7D81D20E6}"/>
              </a:ext>
            </a:extLst>
          </p:cNvPr>
          <p:cNvPicPr>
            <a:picLocks noChangeAspect="1"/>
          </p:cNvPicPr>
          <p:nvPr/>
        </p:nvPicPr>
        <p:blipFill>
          <a:blip r:embed="rId2"/>
          <a:srcRect l="32903" t="13119" r="16775" b="32473"/>
          <a:stretch>
            <a:fillRect/>
          </a:stretch>
        </p:blipFill>
        <p:spPr>
          <a:xfrm>
            <a:off x="4630994" y="1316207"/>
            <a:ext cx="7561006" cy="4598400"/>
          </a:xfrm>
          <a:prstGeom prst="rect">
            <a:avLst/>
          </a:prstGeom>
        </p:spPr>
      </p:pic>
      <p:sp>
        <p:nvSpPr>
          <p:cNvPr id="8" name="TextBox 7">
            <a:extLst>
              <a:ext uri="{FF2B5EF4-FFF2-40B4-BE49-F238E27FC236}">
                <a16:creationId xmlns:a16="http://schemas.microsoft.com/office/drawing/2014/main" id="{85B7C594-2436-E3CC-013F-A53B97435E93}"/>
              </a:ext>
            </a:extLst>
          </p:cNvPr>
          <p:cNvSpPr txBox="1"/>
          <p:nvPr/>
        </p:nvSpPr>
        <p:spPr>
          <a:xfrm>
            <a:off x="0" y="5802455"/>
            <a:ext cx="12192000" cy="1055545"/>
          </a:xfrm>
          <a:prstGeom prst="rect">
            <a:avLst/>
          </a:prstGeom>
          <a:solidFill>
            <a:schemeClr val="bg1"/>
          </a:solidFill>
        </p:spPr>
        <p:txBody>
          <a:bodyPr wrap="square">
            <a:spAutoFit/>
          </a:bodyPr>
          <a:lstStyle/>
          <a:p>
            <a:pPr>
              <a:lnSpc>
                <a:spcPct val="150000"/>
              </a:lnSpc>
            </a:pPr>
            <a:r>
              <a:rPr lang="en-US" sz="2200" dirty="0">
                <a:latin typeface="Calibir"/>
              </a:rPr>
              <a:t>See the example class structure above. You may use it only as a learning example to understand how UML attributes and methods could later correspond to implementation code in Part 2.</a:t>
            </a:r>
            <a:endParaRPr lang="en-AU" sz="2200" dirty="0">
              <a:latin typeface="Calibir"/>
            </a:endParaRPr>
          </a:p>
        </p:txBody>
      </p:sp>
    </p:spTree>
    <p:extLst>
      <p:ext uri="{BB962C8B-B14F-4D97-AF65-F5344CB8AC3E}">
        <p14:creationId xmlns:p14="http://schemas.microsoft.com/office/powerpoint/2010/main" val="3840210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D0CCC-6487-B430-0D82-DDCEB461A6F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9260EA9B-88EB-8AEF-FC6E-99AC7575EBF4}"/>
              </a:ext>
            </a:extLst>
          </p:cNvPr>
          <p:cNvSpPr>
            <a:spLocks noChangeArrowheads="1"/>
          </p:cNvSpPr>
          <p:nvPr/>
        </p:nvSpPr>
        <p:spPr bwMode="auto">
          <a:xfrm>
            <a:off x="0" y="1489020"/>
            <a:ext cx="4232787" cy="3903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Calibir"/>
              </a:rPr>
              <a:t>It shows what </a:t>
            </a:r>
            <a:r>
              <a:rPr kumimoji="0" lang="en-US" altLang="en-US" sz="2800" i="0" u="none" strike="noStrike" cap="none" normalizeH="0" baseline="0" dirty="0">
                <a:ln>
                  <a:noFill/>
                </a:ln>
                <a:solidFill>
                  <a:schemeClr val="tx1"/>
                </a:solidFill>
                <a:effectLst/>
                <a:latin typeface="Calibir"/>
              </a:rPr>
              <a:t>attributes</a:t>
            </a:r>
            <a:r>
              <a:rPr kumimoji="0" lang="en-US" altLang="en-US" sz="2800" b="0" i="0" u="none" strike="noStrike" cap="none" normalizeH="0" baseline="0" dirty="0">
                <a:ln>
                  <a:noFill/>
                </a:ln>
                <a:solidFill>
                  <a:schemeClr val="tx1"/>
                </a:solidFill>
                <a:effectLst/>
                <a:latin typeface="Calibir"/>
              </a:rPr>
              <a:t> (like id,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name, email) and </a:t>
            </a:r>
            <a:br>
              <a:rPr kumimoji="0" lang="en-US" altLang="en-US" sz="2800" b="0" i="0" u="none" strike="noStrike" cap="none" normalizeH="0" baseline="0" dirty="0">
                <a:ln>
                  <a:noFill/>
                </a:ln>
                <a:solidFill>
                  <a:schemeClr val="tx1"/>
                </a:solidFill>
                <a:effectLst/>
                <a:latin typeface="Calibir"/>
              </a:rPr>
            </a:br>
            <a:r>
              <a:rPr kumimoji="0" lang="en-US" altLang="en-US" sz="2800" i="0" u="none" strike="noStrike" cap="none" normalizeH="0" baseline="0" dirty="0">
                <a:ln>
                  <a:noFill/>
                </a:ln>
                <a:solidFill>
                  <a:schemeClr val="tx1"/>
                </a:solidFill>
                <a:effectLst/>
                <a:latin typeface="Calibir"/>
              </a:rPr>
              <a:t>methods</a:t>
            </a:r>
            <a:r>
              <a:rPr kumimoji="0" lang="en-US" altLang="en-US" sz="2800" b="0" i="0" u="none" strike="noStrike" cap="none" normalizeH="0" baseline="0" dirty="0">
                <a:ln>
                  <a:noFill/>
                </a:ln>
                <a:solidFill>
                  <a:schemeClr val="tx1"/>
                </a:solidFill>
                <a:effectLst/>
                <a:latin typeface="Calibir"/>
              </a:rPr>
              <a:t> (like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err="1">
                <a:ln>
                  <a:noFill/>
                </a:ln>
                <a:solidFill>
                  <a:schemeClr val="tx1"/>
                </a:solidFill>
                <a:effectLst/>
                <a:latin typeface="Calibir"/>
              </a:rPr>
              <a:t>add_subject</a:t>
            </a:r>
            <a:r>
              <a:rPr kumimoji="0" lang="en-US" altLang="en-US" sz="2800" b="0" i="0" u="none" strike="noStrike" cap="none" normalizeH="0" baseline="0" dirty="0">
                <a:ln>
                  <a:noFill/>
                </a:ln>
                <a:solidFill>
                  <a:schemeClr val="tx1"/>
                </a:solidFill>
                <a:effectLst/>
                <a:latin typeface="Calibir"/>
              </a:rPr>
              <a:t>()) belong in </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each class.</a:t>
            </a:r>
          </a:p>
        </p:txBody>
      </p:sp>
      <p:pic>
        <p:nvPicPr>
          <p:cNvPr id="6" name="Picture 5">
            <a:extLst>
              <a:ext uri="{FF2B5EF4-FFF2-40B4-BE49-F238E27FC236}">
                <a16:creationId xmlns:a16="http://schemas.microsoft.com/office/drawing/2014/main" id="{D5BE9F97-AD58-5B12-705B-FB97687F92D8}"/>
              </a:ext>
            </a:extLst>
          </p:cNvPr>
          <p:cNvPicPr>
            <a:picLocks noChangeAspect="1"/>
          </p:cNvPicPr>
          <p:nvPr/>
        </p:nvPicPr>
        <p:blipFill>
          <a:blip r:embed="rId2"/>
          <a:srcRect l="32903" t="13119" r="16775" b="32473"/>
          <a:stretch>
            <a:fillRect/>
          </a:stretch>
        </p:blipFill>
        <p:spPr>
          <a:xfrm>
            <a:off x="4232787" y="1316206"/>
            <a:ext cx="7959213" cy="4840579"/>
          </a:xfrm>
          <a:prstGeom prst="rect">
            <a:avLst/>
          </a:prstGeom>
        </p:spPr>
      </p:pic>
    </p:spTree>
    <p:extLst>
      <p:ext uri="{BB962C8B-B14F-4D97-AF65-F5344CB8AC3E}">
        <p14:creationId xmlns:p14="http://schemas.microsoft.com/office/powerpoint/2010/main" val="1962812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D446-62C0-BC41-0AE8-2F9861D5847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912F981B-23DE-648A-26CA-D29082D2CFCB}"/>
              </a:ext>
            </a:extLst>
          </p:cNvPr>
          <p:cNvSpPr>
            <a:spLocks noChangeArrowheads="1"/>
          </p:cNvSpPr>
          <p:nvPr/>
        </p:nvSpPr>
        <p:spPr bwMode="auto">
          <a:xfrm>
            <a:off x="0" y="1135590"/>
            <a:ext cx="4232787" cy="4610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sz="2200" dirty="0">
                <a:latin typeface="Calibir"/>
              </a:rPr>
              <a:t>This code is illustrative only. Names such as </a:t>
            </a:r>
            <a:r>
              <a:rPr lang="en-US" sz="2200" dirty="0" err="1">
                <a:latin typeface="Calibir"/>
              </a:rPr>
              <a:t>passwordHash</a:t>
            </a:r>
            <a:r>
              <a:rPr lang="en-US" sz="2200" dirty="0">
                <a:latin typeface="Calibir"/>
              </a:rPr>
              <a:t> represent possible implementation/design choices and are not prescribed by the Assessment 1 brief. You should justify your own class attributes and methods from the requirements.</a:t>
            </a:r>
            <a:endParaRPr kumimoji="0" lang="en-US" altLang="en-US" sz="2200" b="0" i="0" u="none" strike="noStrike" cap="none" normalizeH="0" baseline="0" dirty="0">
              <a:ln>
                <a:noFill/>
              </a:ln>
              <a:solidFill>
                <a:schemeClr val="tx1"/>
              </a:solidFill>
              <a:effectLst/>
              <a:latin typeface="Calibir"/>
            </a:endParaRPr>
          </a:p>
        </p:txBody>
      </p:sp>
      <p:pic>
        <p:nvPicPr>
          <p:cNvPr id="6" name="Picture 5">
            <a:extLst>
              <a:ext uri="{FF2B5EF4-FFF2-40B4-BE49-F238E27FC236}">
                <a16:creationId xmlns:a16="http://schemas.microsoft.com/office/drawing/2014/main" id="{20F8B18B-496A-5B65-715B-5B1235B9C83F}"/>
              </a:ext>
            </a:extLst>
          </p:cNvPr>
          <p:cNvPicPr>
            <a:picLocks noChangeAspect="1"/>
          </p:cNvPicPr>
          <p:nvPr/>
        </p:nvPicPr>
        <p:blipFill>
          <a:blip r:embed="rId2"/>
          <a:srcRect l="32903" t="13119" r="16775" b="32473"/>
          <a:stretch>
            <a:fillRect/>
          </a:stretch>
        </p:blipFill>
        <p:spPr>
          <a:xfrm>
            <a:off x="4232787" y="1316206"/>
            <a:ext cx="7959213" cy="4840579"/>
          </a:xfrm>
          <a:prstGeom prst="rect">
            <a:avLst/>
          </a:prstGeom>
        </p:spPr>
      </p:pic>
    </p:spTree>
    <p:extLst>
      <p:ext uri="{BB962C8B-B14F-4D97-AF65-F5344CB8AC3E}">
        <p14:creationId xmlns:p14="http://schemas.microsoft.com/office/powerpoint/2010/main" val="7045896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68C8-9C1B-CB34-BF75-DCA97415C1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08A62-EB1E-5DA4-9D32-BC16F18E5D5A}"/>
              </a:ext>
            </a:extLst>
          </p:cNvPr>
          <p:cNvSpPr>
            <a:spLocks noGrp="1"/>
          </p:cNvSpPr>
          <p:nvPr>
            <p:ph type="title"/>
          </p:nvPr>
        </p:nvSpPr>
        <p:spPr>
          <a:xfrm>
            <a:off x="0" y="0"/>
            <a:ext cx="12192000" cy="1050842"/>
          </a:xfrm>
        </p:spPr>
        <p:txBody>
          <a:bodyPr anchor="b">
            <a:normAutofit fontScale="90000"/>
          </a:bodyPr>
          <a:lstStyle/>
          <a:p>
            <a:r>
              <a:rPr lang="en-US" sz="4000" dirty="0">
                <a:latin typeface="Calibir"/>
              </a:rPr>
              <a:t>Assessment Task 1: Case Study – Part 1: Analysis and Design Preparation Guide</a:t>
            </a:r>
            <a:endParaRPr lang="en-AU" sz="4000" b="1" dirty="0">
              <a:latin typeface="Calibir"/>
            </a:endParaRPr>
          </a:p>
        </p:txBody>
      </p:sp>
      <p:sp>
        <p:nvSpPr>
          <p:cNvPr id="3" name="Rectangle 1">
            <a:extLst>
              <a:ext uri="{FF2B5EF4-FFF2-40B4-BE49-F238E27FC236}">
                <a16:creationId xmlns:a16="http://schemas.microsoft.com/office/drawing/2014/main" id="{45F257D2-EF40-0838-FE16-868F98EFBE43}"/>
              </a:ext>
            </a:extLst>
          </p:cNvPr>
          <p:cNvSpPr>
            <a:spLocks noChangeArrowheads="1"/>
          </p:cNvSpPr>
          <p:nvPr/>
        </p:nvSpPr>
        <p:spPr bwMode="auto">
          <a:xfrm>
            <a:off x="53542" y="1050842"/>
            <a:ext cx="12084915"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For All Steps</a:t>
            </a:r>
          </a:p>
          <a:p>
            <a:pPr>
              <a:lnSpc>
                <a:spcPct val="150000"/>
              </a:lnSpc>
            </a:pPr>
            <a:r>
              <a:rPr lang="en-US" sz="2800" dirty="0">
                <a:latin typeface="Calibir"/>
              </a:rPr>
              <a:t>Students can use drawing tools (draw.io, </a:t>
            </a:r>
            <a:r>
              <a:rPr lang="en-US" sz="2800" dirty="0" err="1">
                <a:latin typeface="Calibir"/>
              </a:rPr>
              <a:t>Lucidchart</a:t>
            </a:r>
            <a:r>
              <a:rPr lang="en-US" sz="2800" dirty="0">
                <a:latin typeface="Calibir"/>
              </a:rPr>
              <a:t>, Visio, or even Word’s SmartArt/shapes) for:</a:t>
            </a:r>
          </a:p>
          <a:p>
            <a:pPr>
              <a:lnSpc>
                <a:spcPct val="150000"/>
              </a:lnSpc>
            </a:pPr>
            <a:r>
              <a:rPr lang="en-US" sz="2800" b="1" dirty="0">
                <a:latin typeface="Calibir"/>
              </a:rPr>
              <a:t>Step 2:</a:t>
            </a:r>
            <a:r>
              <a:rPr lang="en-US" sz="2800" dirty="0">
                <a:latin typeface="Calibir"/>
              </a:rPr>
              <a:t> Backlog → table in Word/Excel (not a diagram).</a:t>
            </a:r>
          </a:p>
          <a:p>
            <a:pPr>
              <a:lnSpc>
                <a:spcPct val="150000"/>
              </a:lnSpc>
            </a:pPr>
            <a:r>
              <a:rPr lang="en-US" sz="2800" b="1" dirty="0">
                <a:latin typeface="Calibir"/>
              </a:rPr>
              <a:t>Step 3:</a:t>
            </a:r>
            <a:r>
              <a:rPr lang="en-US" sz="2800" dirty="0">
                <a:latin typeface="Calibir"/>
              </a:rPr>
              <a:t> Use case diagram → draw.io or </a:t>
            </a:r>
            <a:r>
              <a:rPr lang="en-US" sz="2800" dirty="0" err="1">
                <a:latin typeface="Calibir"/>
              </a:rPr>
              <a:t>PlantUML</a:t>
            </a:r>
            <a:r>
              <a:rPr lang="en-US" sz="2800" dirty="0">
                <a:latin typeface="Calibir"/>
              </a:rPr>
              <a:t>.</a:t>
            </a:r>
          </a:p>
          <a:p>
            <a:pPr>
              <a:lnSpc>
                <a:spcPct val="150000"/>
              </a:lnSpc>
            </a:pPr>
            <a:r>
              <a:rPr lang="en-US" sz="2800" b="1" dirty="0">
                <a:latin typeface="Calibir"/>
              </a:rPr>
              <a:t>Step 4:</a:t>
            </a:r>
            <a:r>
              <a:rPr lang="en-US" sz="2800" dirty="0">
                <a:latin typeface="Calibir"/>
              </a:rPr>
              <a:t> Class diagram → draw.io, Visio, or </a:t>
            </a:r>
            <a:r>
              <a:rPr lang="en-US" sz="2800" dirty="0" err="1">
                <a:latin typeface="Calibir"/>
              </a:rPr>
              <a:t>PlantUML</a:t>
            </a:r>
            <a:r>
              <a:rPr lang="en-US" sz="2800" dirty="0">
                <a:latin typeface="Calibir"/>
              </a:rPr>
              <a:t>.</a:t>
            </a:r>
          </a:p>
          <a:p>
            <a:pPr>
              <a:lnSpc>
                <a:spcPct val="150000"/>
              </a:lnSpc>
            </a:pPr>
            <a:r>
              <a:rPr lang="en-US" sz="2800" i="1" dirty="0">
                <a:latin typeface="Calibir"/>
              </a:rPr>
              <a:t>Students do not need to write code for diagrams. Coding only starts in Part 2.</a:t>
            </a:r>
            <a:endParaRPr lang="en-US" sz="2800" dirty="0">
              <a:latin typeface="Calibir"/>
            </a:endParaRPr>
          </a:p>
        </p:txBody>
      </p:sp>
    </p:spTree>
    <p:extLst>
      <p:ext uri="{BB962C8B-B14F-4D97-AF65-F5344CB8AC3E}">
        <p14:creationId xmlns:p14="http://schemas.microsoft.com/office/powerpoint/2010/main" val="4270468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6FBD2-B13B-8438-5F6C-66F947D4F520}"/>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C1C6551D-0A6A-014B-BA3E-D1744D37AE31}"/>
              </a:ext>
            </a:extLst>
          </p:cNvPr>
          <p:cNvSpPr>
            <a:spLocks noChangeArrowheads="1"/>
          </p:cNvSpPr>
          <p:nvPr/>
        </p:nvSpPr>
        <p:spPr bwMode="auto">
          <a:xfrm>
            <a:off x="77424" y="672662"/>
            <a:ext cx="7814383"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highlight>
                  <a:srgbClr val="FFFF00"/>
                </a:highlight>
                <a:latin typeface="Calibir"/>
              </a:rPr>
              <a:t>Question and Answer (Canvas Inbox, Live, or Email)</a:t>
            </a:r>
            <a:endParaRPr lang="en-US" altLang="en-US" sz="2800" dirty="0">
              <a:highlight>
                <a:srgbClr val="FFFF00"/>
              </a:highlight>
              <a:latin typeface="Calibir"/>
            </a:endParaRPr>
          </a:p>
        </p:txBody>
      </p:sp>
      <p:sp>
        <p:nvSpPr>
          <p:cNvPr id="4" name="TextBox 3">
            <a:extLst>
              <a:ext uri="{FF2B5EF4-FFF2-40B4-BE49-F238E27FC236}">
                <a16:creationId xmlns:a16="http://schemas.microsoft.com/office/drawing/2014/main" id="{53A3B9E9-40E2-F5BE-7D9D-FA25C77019F9}"/>
              </a:ext>
            </a:extLst>
          </p:cNvPr>
          <p:cNvSpPr txBox="1"/>
          <p:nvPr/>
        </p:nvSpPr>
        <p:spPr>
          <a:xfrm>
            <a:off x="0" y="1513491"/>
            <a:ext cx="12002814" cy="3257174"/>
          </a:xfrm>
          <a:prstGeom prst="rect">
            <a:avLst/>
          </a:prstGeom>
          <a:noFill/>
        </p:spPr>
        <p:txBody>
          <a:bodyPr wrap="square">
            <a:spAutoFit/>
          </a:bodyPr>
          <a:lstStyle/>
          <a:p>
            <a:pPr algn="l" rtl="0" fontAlgn="base">
              <a:lnSpc>
                <a:spcPct val="150000"/>
              </a:lnSpc>
              <a:buNone/>
            </a:pPr>
            <a:r>
              <a:rPr lang="en-US" sz="2800" b="0" i="0" dirty="0">
                <a:solidFill>
                  <a:srgbClr val="242424"/>
                </a:solidFill>
                <a:effectLst/>
                <a:latin typeface="Calibir"/>
              </a:rPr>
              <a:t>Good morning,</a:t>
            </a:r>
          </a:p>
          <a:p>
            <a:pPr algn="l" rtl="0" fontAlgn="base">
              <a:lnSpc>
                <a:spcPct val="150000"/>
              </a:lnSpc>
              <a:buNone/>
            </a:pPr>
            <a:r>
              <a:rPr lang="en-US" sz="2800" b="0" i="0" dirty="0">
                <a:solidFill>
                  <a:srgbClr val="242424"/>
                </a:solidFill>
                <a:effectLst/>
                <a:latin typeface="Calibir"/>
              </a:rPr>
              <a:t>Sir, I have a question for are we allowed to use other drawing app other than Visual diagrams? </a:t>
            </a:r>
          </a:p>
          <a:p>
            <a:pPr algn="l" rtl="0" fontAlgn="base">
              <a:lnSpc>
                <a:spcPct val="150000"/>
              </a:lnSpc>
              <a:buNone/>
            </a:pPr>
            <a:r>
              <a:rPr lang="en-US" sz="2800" b="0" i="0" dirty="0">
                <a:solidFill>
                  <a:srgbClr val="242424"/>
                </a:solidFill>
                <a:effectLst/>
                <a:latin typeface="Calibir"/>
              </a:rPr>
              <a:t>Hope you have a great day!</a:t>
            </a:r>
          </a:p>
          <a:p>
            <a:pPr algn="l" rtl="0" fontAlgn="base">
              <a:lnSpc>
                <a:spcPct val="150000"/>
              </a:lnSpc>
              <a:buNone/>
            </a:pPr>
            <a:r>
              <a:rPr lang="en-US" sz="2800" b="0" i="0" dirty="0">
                <a:solidFill>
                  <a:srgbClr val="242424"/>
                </a:solidFill>
                <a:effectLst/>
                <a:latin typeface="Calibir"/>
              </a:rPr>
              <a:t>Kind regards,</a:t>
            </a:r>
          </a:p>
        </p:txBody>
      </p:sp>
    </p:spTree>
    <p:extLst>
      <p:ext uri="{BB962C8B-B14F-4D97-AF65-F5344CB8AC3E}">
        <p14:creationId xmlns:p14="http://schemas.microsoft.com/office/powerpoint/2010/main" val="106322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7AF6E-9E28-FD0A-B5E9-E9FD538AD3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CB0F56F-8E70-2F56-46A5-E7330082D501}"/>
              </a:ext>
            </a:extLst>
          </p:cNvPr>
          <p:cNvSpPr txBox="1"/>
          <p:nvPr/>
        </p:nvSpPr>
        <p:spPr>
          <a:xfrm>
            <a:off x="0" y="615986"/>
            <a:ext cx="12192000" cy="5626027"/>
          </a:xfrm>
          <a:prstGeom prst="rect">
            <a:avLst/>
          </a:prstGeom>
          <a:noFill/>
        </p:spPr>
        <p:txBody>
          <a:bodyPr wrap="square">
            <a:spAutoFit/>
          </a:bodyPr>
          <a:lstStyle/>
          <a:p>
            <a:pPr>
              <a:lnSpc>
                <a:spcPct val="150000"/>
              </a:lnSpc>
              <a:buNone/>
            </a:pPr>
            <a:r>
              <a:rPr lang="en-US" sz="2200" b="1" dirty="0">
                <a:latin typeface="Calibir"/>
              </a:rPr>
              <a:t>Answer:</a:t>
            </a:r>
          </a:p>
          <a:p>
            <a:pPr>
              <a:lnSpc>
                <a:spcPct val="150000"/>
              </a:lnSpc>
              <a:buNone/>
            </a:pPr>
            <a:r>
              <a:rPr lang="en-US" sz="2200" dirty="0">
                <a:latin typeface="Calibir"/>
              </a:rPr>
              <a:t>Thank you for your question. For Assessment 1 – Part 1, you are not limited to one specific drawing tool. You may use draw.io (diagrams.net), Microsoft Visio, </a:t>
            </a:r>
            <a:r>
              <a:rPr lang="en-US" sz="2200" dirty="0" err="1">
                <a:latin typeface="Calibir"/>
              </a:rPr>
              <a:t>Lucidchart</a:t>
            </a:r>
            <a:r>
              <a:rPr lang="en-US" sz="2200" dirty="0">
                <a:latin typeface="Calibir"/>
              </a:rPr>
              <a:t>, or any other appropriate software to create your Use Case Diagram and Class Diagram, as long as the diagrams are clear, properly labelled, and consistent with the requirements.</a:t>
            </a:r>
          </a:p>
          <a:p>
            <a:pPr>
              <a:lnSpc>
                <a:spcPct val="150000"/>
              </a:lnSpc>
              <a:buNone/>
            </a:pPr>
            <a:r>
              <a:rPr lang="en-US" sz="2200" dirty="0">
                <a:latin typeface="Calibir"/>
              </a:rPr>
              <a:t>Please remember that this part of the assessment focuses on analysis and design, so you are not required to write any code. What matters most is that the required analysis and design artefacts are clear, properly labelled, consistent with the case-study requirements, and meet the Assessment 1 brief and rubric.</a:t>
            </a:r>
          </a:p>
          <a:p>
            <a:pPr>
              <a:lnSpc>
                <a:spcPct val="150000"/>
              </a:lnSpc>
              <a:buNone/>
            </a:pPr>
            <a:r>
              <a:rPr lang="en-US" sz="2200" dirty="0">
                <a:latin typeface="Calibir"/>
              </a:rPr>
              <a:t>You are free to choose whichever diagramming tool you are most comfortable with.</a:t>
            </a:r>
          </a:p>
          <a:p>
            <a:pPr>
              <a:lnSpc>
                <a:spcPct val="150000"/>
              </a:lnSpc>
              <a:buNone/>
            </a:pPr>
            <a:r>
              <a:rPr lang="en-US" sz="2200" dirty="0">
                <a:latin typeface="Calibir"/>
              </a:rPr>
              <a:t>Kind regards,</a:t>
            </a:r>
            <a:br>
              <a:rPr lang="en-US" sz="2200" dirty="0">
                <a:latin typeface="Calibir"/>
              </a:rPr>
            </a:br>
            <a:r>
              <a:rPr lang="en-US" sz="2200" dirty="0">
                <a:latin typeface="Calibir"/>
              </a:rPr>
              <a:t>Dr. Farshid Keivanian</a:t>
            </a:r>
          </a:p>
        </p:txBody>
      </p:sp>
    </p:spTree>
    <p:extLst>
      <p:ext uri="{BB962C8B-B14F-4D97-AF65-F5344CB8AC3E}">
        <p14:creationId xmlns:p14="http://schemas.microsoft.com/office/powerpoint/2010/main" val="36441074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14"/>
          <p:cNvSpPr txBox="1"/>
          <p:nvPr/>
        </p:nvSpPr>
        <p:spPr>
          <a:xfrm>
            <a:off x="563366" y="1440933"/>
            <a:ext cx="10409433" cy="5053200"/>
          </a:xfrm>
          <a:prstGeom prst="rect">
            <a:avLst/>
          </a:prstGeom>
          <a:noFill/>
          <a:ln>
            <a:noFill/>
          </a:ln>
        </p:spPr>
        <p:txBody>
          <a:bodyPr spcFirstLastPara="1" wrap="square" lIns="121900" tIns="121900" rIns="121900" bIns="121900" anchor="t" anchorCtr="0">
            <a:noAutofit/>
          </a:bodyPr>
          <a:lstStyle/>
          <a:p>
            <a:r>
              <a:rPr lang="en-US" sz="3200" dirty="0">
                <a:latin typeface="Economica"/>
                <a:ea typeface="Economica"/>
                <a:cs typeface="Economica"/>
                <a:sym typeface="Economica"/>
              </a:rPr>
              <a:t>  			                              </a:t>
            </a:r>
            <a:r>
              <a:rPr lang="en-US" sz="3200" dirty="0">
                <a:solidFill>
                  <a:schemeClr val="accent6">
                    <a:lumMod val="75000"/>
                  </a:schemeClr>
                </a:solidFill>
                <a:latin typeface="Economica"/>
                <a:ea typeface="Economica"/>
                <a:cs typeface="Economica"/>
                <a:sym typeface="Economica"/>
              </a:rPr>
              <a:t>lab time: 120 minutes</a:t>
            </a:r>
          </a:p>
        </p:txBody>
      </p:sp>
      <p:sp>
        <p:nvSpPr>
          <p:cNvPr id="2" name="TextBox 1">
            <a:extLst>
              <a:ext uri="{FF2B5EF4-FFF2-40B4-BE49-F238E27FC236}">
                <a16:creationId xmlns:a16="http://schemas.microsoft.com/office/drawing/2014/main" id="{9D0F1F70-F36A-7BAC-66A6-6BA207139BBF}"/>
              </a:ext>
            </a:extLst>
          </p:cNvPr>
          <p:cNvSpPr txBox="1"/>
          <p:nvPr/>
        </p:nvSpPr>
        <p:spPr>
          <a:xfrm>
            <a:off x="1625600" y="2514600"/>
            <a:ext cx="8940800" cy="3671133"/>
          </a:xfrm>
          <a:prstGeom prst="rect">
            <a:avLst/>
          </a:prstGeom>
          <a:noFill/>
          <a:ln w="19050">
            <a:solidFill>
              <a:schemeClr val="accent6">
                <a:lumMod val="75000"/>
              </a:schemeClr>
            </a:solidFill>
          </a:ln>
        </p:spPr>
        <p:txBody>
          <a:bodyPr wrap="square" rtlCol="0">
            <a:spAutoFit/>
          </a:bodyPr>
          <a:lstStyle/>
          <a:p>
            <a:pPr>
              <a:lnSpc>
                <a:spcPct val="200000"/>
              </a:lnSpc>
            </a:pPr>
            <a:r>
              <a:rPr lang="en-US" sz="2400" dirty="0">
                <a:latin typeface="Economica" panose="020B0604020202020204" charset="0"/>
              </a:rPr>
              <a:t>Lab 5 has two objectives:</a:t>
            </a:r>
          </a:p>
          <a:p>
            <a:pPr marL="380990" indent="-380990">
              <a:lnSpc>
                <a:spcPct val="200000"/>
              </a:lnSpc>
              <a:buFont typeface="Arial" panose="020B0604020202020204" pitchFamily="34" charset="0"/>
              <a:buChar char="•"/>
            </a:pPr>
            <a:r>
              <a:rPr lang="en-US" sz="2400" dirty="0">
                <a:latin typeface="Economica" panose="020B0604020202020204" charset="0"/>
              </a:rPr>
              <a:t>Primary: Implement the </a:t>
            </a:r>
            <a:r>
              <a:rPr lang="en-US" sz="2400" dirty="0" err="1">
                <a:latin typeface="Economica" panose="020B0604020202020204" charset="0"/>
              </a:rPr>
              <a:t>DeskBankApp</a:t>
            </a:r>
            <a:r>
              <a:rPr lang="en-US" sz="2400" dirty="0">
                <a:latin typeface="Economica" panose="020B0604020202020204" charset="0"/>
              </a:rPr>
              <a:t> [refer to Lab 4]</a:t>
            </a:r>
          </a:p>
          <a:p>
            <a:pPr marL="380990" indent="-380990">
              <a:lnSpc>
                <a:spcPct val="200000"/>
              </a:lnSpc>
              <a:buFont typeface="Arial" panose="020B0604020202020204" pitchFamily="34" charset="0"/>
              <a:buChar char="•"/>
            </a:pPr>
            <a:r>
              <a:rPr lang="en-US" sz="2400" dirty="0">
                <a:latin typeface="Economica" panose="020B0604020202020204" charset="0"/>
              </a:rPr>
              <a:t>Secondary: Complete the practice exercises [ 1 to 5] </a:t>
            </a:r>
          </a:p>
          <a:p>
            <a:pPr>
              <a:lnSpc>
                <a:spcPct val="200000"/>
              </a:lnSpc>
            </a:pPr>
            <a:r>
              <a:rPr lang="en-US" sz="2400" dirty="0">
                <a:latin typeface="Economica" panose="020B0604020202020204" charset="0"/>
              </a:rPr>
              <a:t>Complete </a:t>
            </a:r>
            <a:r>
              <a:rPr lang="en-US" sz="2400">
                <a:latin typeface="Economica" panose="020B0604020202020204" charset="0"/>
              </a:rPr>
              <a:t>the Lab 5 exercises </a:t>
            </a:r>
            <a:r>
              <a:rPr lang="en-US" sz="2400" dirty="0">
                <a:latin typeface="Economica" panose="020B0604020202020204" charset="0"/>
              </a:rPr>
              <a:t>using either Java or Python.</a:t>
            </a:r>
          </a:p>
          <a:p>
            <a:pPr>
              <a:lnSpc>
                <a:spcPct val="200000"/>
              </a:lnSpc>
            </a:pPr>
            <a:r>
              <a:rPr lang="en-US" sz="2400" dirty="0">
                <a:latin typeface="Economica" panose="020B0604020202020204" charset="0"/>
              </a:rPr>
              <a:t>Recommended IDE for Java and Python:  </a:t>
            </a:r>
            <a:r>
              <a:rPr lang="en-US" sz="2400" dirty="0" err="1">
                <a:solidFill>
                  <a:srgbClr val="00B0F0"/>
                </a:solidFill>
                <a:latin typeface="Economica" panose="020B0604020202020204" charset="0"/>
              </a:rPr>
              <a:t>vscode</a:t>
            </a:r>
            <a:endParaRPr lang="en-US" sz="2400" dirty="0">
              <a:solidFill>
                <a:srgbClr val="00B0F0"/>
              </a:solidFill>
              <a:latin typeface="Economica" panose="020B06040202020202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2" name="TextBox 1">
            <a:extLst>
              <a:ext uri="{FF2B5EF4-FFF2-40B4-BE49-F238E27FC236}">
                <a16:creationId xmlns:a16="http://schemas.microsoft.com/office/drawing/2014/main" id="{DD980C27-948C-5A74-3794-543E81ADB7CC}"/>
              </a:ext>
            </a:extLst>
          </p:cNvPr>
          <p:cNvSpPr txBox="1"/>
          <p:nvPr/>
        </p:nvSpPr>
        <p:spPr>
          <a:xfrm>
            <a:off x="0" y="756745"/>
            <a:ext cx="12192000" cy="577979"/>
          </a:xfrm>
          <a:prstGeom prst="rect">
            <a:avLst/>
          </a:prstGeom>
          <a:noFill/>
        </p:spPr>
        <p:txBody>
          <a:bodyPr wrap="square" rtlCol="0">
            <a:spAutoFit/>
          </a:bodyPr>
          <a:lstStyle/>
          <a:p>
            <a:pPr>
              <a:lnSpc>
                <a:spcPct val="150000"/>
              </a:lnSpc>
            </a:pPr>
            <a:r>
              <a:rPr lang="en-GB" sz="2400" dirty="0">
                <a:latin typeface="Economica" panose="020B0604020202020204" charset="0"/>
              </a:rPr>
              <a:t>This exercise is the third implementation of the </a:t>
            </a:r>
            <a:r>
              <a:rPr lang="en-GB" sz="2400" dirty="0" err="1">
                <a:latin typeface="Economica" panose="020B0604020202020204" charset="0"/>
              </a:rPr>
              <a:t>DeskBankApp</a:t>
            </a:r>
            <a:r>
              <a:rPr lang="en-GB" sz="2400" dirty="0">
                <a:latin typeface="Economica" panose="020B0604020202020204" charset="0"/>
              </a:rPr>
              <a:t> case study [refer to Lab4]</a:t>
            </a:r>
            <a:endParaRPr lang="en-US" sz="2400" dirty="0">
              <a:latin typeface="Economica" panose="020B0604020202020204" charset="0"/>
            </a:endParaRPr>
          </a:p>
        </p:txBody>
      </p:sp>
      <p:sp>
        <p:nvSpPr>
          <p:cNvPr id="3" name="TextBox 2">
            <a:extLst>
              <a:ext uri="{FF2B5EF4-FFF2-40B4-BE49-F238E27FC236}">
                <a16:creationId xmlns:a16="http://schemas.microsoft.com/office/drawing/2014/main" id="{8F2E4BF9-C7FD-E400-D7FD-DF1253F29C44}"/>
              </a:ext>
            </a:extLst>
          </p:cNvPr>
          <p:cNvSpPr txBox="1"/>
          <p:nvPr/>
        </p:nvSpPr>
        <p:spPr>
          <a:xfrm>
            <a:off x="8839200" y="2506592"/>
            <a:ext cx="3097429" cy="4173608"/>
          </a:xfrm>
          <a:prstGeom prst="rect">
            <a:avLst/>
          </a:prstGeom>
          <a:noFill/>
          <a:ln>
            <a:solidFill>
              <a:schemeClr val="tx1"/>
            </a:solidFill>
            <a:prstDash val="sysDot"/>
          </a:ln>
        </p:spPr>
        <p:txBody>
          <a:bodyPr wrap="none" rtlCol="0">
            <a:noAutofit/>
          </a:bodyPr>
          <a:lstStyle/>
          <a:p>
            <a:r>
              <a:rPr lang="en-GB" sz="1600" dirty="0">
                <a:latin typeface="Economica" panose="020B0604020202020204" charset="0"/>
              </a:rPr>
              <a:t>Start banking (d/w/s/x): s</a:t>
            </a:r>
          </a:p>
          <a:p>
            <a:r>
              <a:rPr lang="en-GB" sz="1600" dirty="0">
                <a:latin typeface="Economica" panose="020B0604020202020204" charset="0"/>
              </a:rPr>
              <a:t>Starting balance: $1000.00</a:t>
            </a:r>
          </a:p>
          <a:p>
            <a:r>
              <a:rPr lang="en-GB" sz="1600" dirty="0">
                <a:latin typeface="Economica" panose="020B0604020202020204" charset="0"/>
              </a:rPr>
              <a:t>Continue banking (d/w/s/x): d</a:t>
            </a:r>
          </a:p>
          <a:p>
            <a:r>
              <a:rPr lang="en-GB" sz="1600" dirty="0">
                <a:latin typeface="Economica" panose="020B0604020202020204" charset="0"/>
              </a:rPr>
              <a:t>Amount to deposit: $1000</a:t>
            </a:r>
          </a:p>
          <a:p>
            <a:r>
              <a:rPr lang="en-GB" sz="1600" dirty="0">
                <a:latin typeface="Economica" panose="020B0604020202020204" charset="0"/>
              </a:rPr>
              <a:t>Amount deposited: $1000.00</a:t>
            </a:r>
          </a:p>
          <a:p>
            <a:r>
              <a:rPr lang="en-GB" sz="1600" dirty="0">
                <a:latin typeface="Economica" panose="020B0604020202020204" charset="0"/>
              </a:rPr>
              <a:t>Continue banking (d/w/s/x): s</a:t>
            </a:r>
          </a:p>
          <a:p>
            <a:r>
              <a:rPr lang="en-GB" sz="1600" dirty="0">
                <a:latin typeface="Economica" panose="020B0604020202020204" charset="0"/>
              </a:rPr>
              <a:t>Starting balance: $2000.00</a:t>
            </a:r>
          </a:p>
          <a:p>
            <a:r>
              <a:rPr lang="en-GB" sz="1600" dirty="0">
                <a:latin typeface="Economica" panose="020B0604020202020204" charset="0"/>
              </a:rPr>
              <a:t>Continue banking (d/w/s/x): w</a:t>
            </a:r>
          </a:p>
          <a:p>
            <a:r>
              <a:rPr lang="en-GB" sz="1600" dirty="0">
                <a:latin typeface="Economica" panose="020B0604020202020204" charset="0"/>
              </a:rPr>
              <a:t>Amount to withdraw: $5000</a:t>
            </a:r>
          </a:p>
          <a:p>
            <a:r>
              <a:rPr lang="en-GB" sz="1600" dirty="0">
                <a:latin typeface="Economica" panose="020B0604020202020204" charset="0"/>
              </a:rPr>
              <a:t>Insufficient funds</a:t>
            </a:r>
          </a:p>
          <a:p>
            <a:r>
              <a:rPr lang="en-GB" sz="1600" dirty="0">
                <a:latin typeface="Economica" panose="020B0604020202020204" charset="0"/>
              </a:rPr>
              <a:t>Continue banking (d/w/s/x): w</a:t>
            </a:r>
          </a:p>
          <a:p>
            <a:r>
              <a:rPr lang="en-GB" sz="1600" dirty="0">
                <a:latin typeface="Economica" panose="020B0604020202020204" charset="0"/>
              </a:rPr>
              <a:t>Amount to withdraw: $500</a:t>
            </a:r>
          </a:p>
          <a:p>
            <a:r>
              <a:rPr lang="en-GB" sz="1600" dirty="0">
                <a:latin typeface="Economica" panose="020B0604020202020204" charset="0"/>
              </a:rPr>
              <a:t>Amount withdrawn: $500.00</a:t>
            </a:r>
          </a:p>
          <a:p>
            <a:r>
              <a:rPr lang="en-GB" sz="1600" dirty="0">
                <a:latin typeface="Economica" panose="020B0604020202020204" charset="0"/>
              </a:rPr>
              <a:t>Continue banking (d/w/s/x): s</a:t>
            </a:r>
          </a:p>
          <a:p>
            <a:r>
              <a:rPr lang="en-GB" sz="1600" dirty="0">
                <a:latin typeface="Economica" panose="020B0604020202020204" charset="0"/>
              </a:rPr>
              <a:t>Starting balance: $1500.00</a:t>
            </a:r>
          </a:p>
          <a:p>
            <a:r>
              <a:rPr lang="en-GB" sz="1600" dirty="0">
                <a:latin typeface="Economica" panose="020B0604020202020204" charset="0"/>
              </a:rPr>
              <a:t>Continue banking (d/w/s/x): x</a:t>
            </a:r>
            <a:endParaRPr lang="en-US" sz="1600" dirty="0">
              <a:latin typeface="Economica" panose="020B0604020202020204" charset="0"/>
            </a:endParaRPr>
          </a:p>
        </p:txBody>
      </p:sp>
      <p:sp>
        <p:nvSpPr>
          <p:cNvPr id="4" name="TextBox 3">
            <a:extLst>
              <a:ext uri="{FF2B5EF4-FFF2-40B4-BE49-F238E27FC236}">
                <a16:creationId xmlns:a16="http://schemas.microsoft.com/office/drawing/2014/main" id="{C14BD407-337B-2AED-2239-16486355E6B8}"/>
              </a:ext>
            </a:extLst>
          </p:cNvPr>
          <p:cNvSpPr txBox="1"/>
          <p:nvPr/>
        </p:nvSpPr>
        <p:spPr>
          <a:xfrm>
            <a:off x="9725126" y="2014150"/>
            <a:ext cx="1723549" cy="461665"/>
          </a:xfrm>
          <a:prstGeom prst="rect">
            <a:avLst/>
          </a:prstGeom>
          <a:noFill/>
        </p:spPr>
        <p:txBody>
          <a:bodyPr wrap="none" rtlCol="0">
            <a:spAutoFit/>
          </a:bodyPr>
          <a:lstStyle/>
          <a:p>
            <a:r>
              <a:rPr lang="en-US" sz="2400" dirty="0">
                <a:latin typeface="Economica" panose="020B0604020202020204" charset="0"/>
              </a:rPr>
              <a:t>Sample I/O</a:t>
            </a:r>
          </a:p>
        </p:txBody>
      </p:sp>
      <p:sp>
        <p:nvSpPr>
          <p:cNvPr id="5" name="TextBox 4">
            <a:extLst>
              <a:ext uri="{FF2B5EF4-FFF2-40B4-BE49-F238E27FC236}">
                <a16:creationId xmlns:a16="http://schemas.microsoft.com/office/drawing/2014/main" id="{A85930FF-896D-3C89-A9F3-683F6473B8F5}"/>
              </a:ext>
            </a:extLst>
          </p:cNvPr>
          <p:cNvSpPr txBox="1"/>
          <p:nvPr/>
        </p:nvSpPr>
        <p:spPr>
          <a:xfrm>
            <a:off x="609600" y="2246418"/>
            <a:ext cx="8026400" cy="4433783"/>
          </a:xfrm>
          <a:prstGeom prst="rect">
            <a:avLst/>
          </a:prstGeom>
          <a:solidFill>
            <a:schemeClr val="bg1">
              <a:lumMod val="85000"/>
            </a:schemeClr>
          </a:solidFill>
          <a:ln>
            <a:solidFill>
              <a:schemeClr val="tx1"/>
            </a:solidFill>
          </a:ln>
        </p:spPr>
        <p:txBody>
          <a:bodyPr wrap="square" rtlCol="0">
            <a:noAutofit/>
          </a:bodyPr>
          <a:lstStyle/>
          <a:p>
            <a:pPr defTabSz="609585"/>
            <a:r>
              <a:rPr lang="en-GB" dirty="0">
                <a:latin typeface="Economica" panose="020B0604020202020204" charset="0"/>
              </a:rPr>
              <a:t>1- The Bank class is the main system class</a:t>
            </a:r>
          </a:p>
          <a:p>
            <a:pPr defTabSz="609585"/>
            <a:r>
              <a:rPr lang="en-GB" dirty="0">
                <a:latin typeface="Economica" panose="020B0604020202020204" charset="0"/>
              </a:rPr>
              <a:t>2- Use methods ( procedures and functions) to complete the following tasks:</a:t>
            </a:r>
          </a:p>
          <a:p>
            <a:pPr defTabSz="609585"/>
            <a:r>
              <a:rPr lang="en-GB" dirty="0">
                <a:latin typeface="Economica" panose="020B0604020202020204" charset="0"/>
              </a:rPr>
              <a:t> 	- Write a function to read the starting balance from STDIN</a:t>
            </a:r>
          </a:p>
          <a:p>
            <a:pPr defTabSz="609585"/>
            <a:r>
              <a:rPr lang="en-GB" dirty="0">
                <a:latin typeface="Economica" panose="020B0604020202020204" charset="0"/>
              </a:rPr>
              <a:t>	- Write a deposit() procedure to make a deposit for a given amount</a:t>
            </a:r>
          </a:p>
          <a:p>
            <a:pPr defTabSz="609585"/>
            <a:r>
              <a:rPr lang="en-GB" dirty="0">
                <a:latin typeface="Economica" panose="020B0604020202020204" charset="0"/>
              </a:rPr>
              <a:t>	- Write a withdraw() procedure to make a withdraw of a given amount</a:t>
            </a:r>
          </a:p>
          <a:p>
            <a:pPr defTabSz="609585"/>
            <a:r>
              <a:rPr lang="en-GB" dirty="0">
                <a:latin typeface="Economica" panose="020B0604020202020204" charset="0"/>
              </a:rPr>
              <a:t>	- Write a show() procedure to show the current balance</a:t>
            </a:r>
          </a:p>
          <a:p>
            <a:pPr defTabSz="609585"/>
            <a:r>
              <a:rPr lang="en-GB" dirty="0">
                <a:latin typeface="Economica" panose="020B0604020202020204" charset="0"/>
              </a:rPr>
              <a:t>	- Incorporate deposit(), withdraw(), show() in a method called menu() with options:</a:t>
            </a:r>
          </a:p>
          <a:p>
            <a:pPr lvl="5" defTabSz="609585"/>
            <a:r>
              <a:rPr lang="en-GB" dirty="0">
                <a:latin typeface="Economica" panose="020B0604020202020204" charset="0"/>
              </a:rPr>
              <a:t>	(d) make a deposit </a:t>
            </a:r>
          </a:p>
          <a:p>
            <a:pPr lvl="5" defTabSz="609585"/>
            <a:r>
              <a:rPr lang="en-GB" dirty="0">
                <a:latin typeface="Economica" panose="020B0604020202020204" charset="0"/>
              </a:rPr>
              <a:t>	(w) make a withdraw </a:t>
            </a:r>
          </a:p>
          <a:p>
            <a:pPr lvl="5" defTabSz="609585"/>
            <a:r>
              <a:rPr lang="en-GB" dirty="0">
                <a:latin typeface="Economica" panose="020B0604020202020204" charset="0"/>
              </a:rPr>
              <a:t>	(s) show balance</a:t>
            </a:r>
          </a:p>
          <a:p>
            <a:pPr lvl="5" defTabSz="609585"/>
            <a:r>
              <a:rPr lang="en-GB" dirty="0">
                <a:latin typeface="Economica" panose="020B0604020202020204" charset="0"/>
              </a:rPr>
              <a:t>	(x) exit the system</a:t>
            </a:r>
          </a:p>
          <a:p>
            <a:pPr lvl="5" defTabSz="609585"/>
            <a:r>
              <a:rPr lang="en-GB" dirty="0">
                <a:latin typeface="Economica" panose="020B0604020202020204" charset="0"/>
              </a:rPr>
              <a:t>	The program repeatedly asks the user to enter an option until the user enters x to exit.</a:t>
            </a:r>
          </a:p>
          <a:p>
            <a:pPr defTabSz="609585"/>
            <a:r>
              <a:rPr lang="en-GB" dirty="0">
                <a:latin typeface="Economica" panose="020B0604020202020204" charset="0"/>
              </a:rPr>
              <a:t>3- Update the main( ) method in Bank to use menu()</a:t>
            </a:r>
            <a:endParaRPr lang="en-US" dirty="0">
              <a:latin typeface="Economica" panose="020B0604020202020204" charset="0"/>
            </a:endParaRPr>
          </a:p>
        </p:txBody>
      </p:sp>
      <p:sp>
        <p:nvSpPr>
          <p:cNvPr id="7" name="Title 1">
            <a:extLst>
              <a:ext uri="{FF2B5EF4-FFF2-40B4-BE49-F238E27FC236}">
                <a16:creationId xmlns:a16="http://schemas.microsoft.com/office/drawing/2014/main" id="{EE8B73B6-ADE0-BAB1-9041-87C9953C49AF}"/>
              </a:ext>
            </a:extLst>
          </p:cNvPr>
          <p:cNvSpPr txBox="1">
            <a:spLocks/>
          </p:cNvSpPr>
          <p:nvPr/>
        </p:nvSpPr>
        <p:spPr>
          <a:xfrm>
            <a:off x="0" y="0"/>
            <a:ext cx="12192000" cy="756745"/>
          </a:xfrm>
          <a:prstGeom prst="rect">
            <a:avLst/>
          </a:prstGeom>
        </p:spPr>
        <p:txBody>
          <a:bodyPr anchor="b">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Calibir"/>
              </a:rPr>
              <a:t>Case Study: Develop the </a:t>
            </a:r>
            <a:r>
              <a:rPr lang="en-US" sz="4000" dirty="0" err="1">
                <a:latin typeface="Calibir"/>
              </a:rPr>
              <a:t>DeskBankApp</a:t>
            </a:r>
            <a:r>
              <a:rPr lang="en-US" sz="4000" dirty="0">
                <a:latin typeface="Calibir"/>
              </a:rPr>
              <a:t> system – Third Implementation</a:t>
            </a:r>
            <a:endParaRPr lang="en-AU" sz="4000" b="1" dirty="0">
              <a:latin typeface="Calibir"/>
            </a:endParaRPr>
          </a:p>
        </p:txBody>
      </p:sp>
    </p:spTree>
    <p:extLst>
      <p:ext uri="{BB962C8B-B14F-4D97-AF65-F5344CB8AC3E}">
        <p14:creationId xmlns:p14="http://schemas.microsoft.com/office/powerpoint/2010/main" val="17371955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61802E0-51BC-631A-2FF6-17E5167FF25B}"/>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6708D80A-2D16-BD0E-5CE3-AA9F3F95006E}"/>
              </a:ext>
            </a:extLst>
          </p:cNvPr>
          <p:cNvSpPr txBox="1">
            <a:spLocks/>
          </p:cNvSpPr>
          <p:nvPr/>
        </p:nvSpPr>
        <p:spPr>
          <a:xfrm>
            <a:off x="0" y="0"/>
            <a:ext cx="12192000" cy="756745"/>
          </a:xfrm>
          <a:prstGeom prst="rect">
            <a:avLst/>
          </a:prstGeom>
        </p:spPr>
        <p:txBody>
          <a:bodyPr anchor="b">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Calibir"/>
              </a:rPr>
              <a:t>Case Study: Develop the </a:t>
            </a:r>
            <a:r>
              <a:rPr lang="en-US" sz="4000" dirty="0" err="1">
                <a:latin typeface="Calibir"/>
              </a:rPr>
              <a:t>DeskBankApp</a:t>
            </a:r>
            <a:r>
              <a:rPr lang="en-US" sz="4000" dirty="0">
                <a:latin typeface="Calibir"/>
              </a:rPr>
              <a:t> system – Third Implementation</a:t>
            </a:r>
            <a:endParaRPr lang="en-AU" sz="4000" b="1" dirty="0">
              <a:latin typeface="Calibir"/>
            </a:endParaRPr>
          </a:p>
        </p:txBody>
      </p:sp>
      <p:pic>
        <p:nvPicPr>
          <p:cNvPr id="8" name="Picture 7">
            <a:extLst>
              <a:ext uri="{FF2B5EF4-FFF2-40B4-BE49-F238E27FC236}">
                <a16:creationId xmlns:a16="http://schemas.microsoft.com/office/drawing/2014/main" id="{40082B17-EE35-F5CB-A984-599780F7CF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50" y="756744"/>
            <a:ext cx="4575941" cy="6101255"/>
          </a:xfrm>
          <a:prstGeom prst="rect">
            <a:avLst/>
          </a:prstGeom>
        </p:spPr>
      </p:pic>
    </p:spTree>
    <p:extLst>
      <p:ext uri="{BB962C8B-B14F-4D97-AF65-F5344CB8AC3E}">
        <p14:creationId xmlns:p14="http://schemas.microsoft.com/office/powerpoint/2010/main" val="4239784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DE88FF9-7C6B-A351-20FB-7147EC1811A4}"/>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318948C8-2CB2-C56D-7B4C-1BC654A47D89}"/>
              </a:ext>
            </a:extLst>
          </p:cNvPr>
          <p:cNvSpPr txBox="1">
            <a:spLocks/>
          </p:cNvSpPr>
          <p:nvPr/>
        </p:nvSpPr>
        <p:spPr>
          <a:xfrm>
            <a:off x="0" y="0"/>
            <a:ext cx="12192000" cy="756745"/>
          </a:xfrm>
          <a:prstGeom prst="rect">
            <a:avLst/>
          </a:prstGeom>
        </p:spPr>
        <p:txBody>
          <a:bodyPr anchor="b">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Calibir"/>
              </a:rPr>
              <a:t>Case Study: Develop the </a:t>
            </a:r>
            <a:r>
              <a:rPr lang="en-US" sz="4000" dirty="0" err="1">
                <a:latin typeface="Calibir"/>
              </a:rPr>
              <a:t>DeskBankApp</a:t>
            </a:r>
            <a:r>
              <a:rPr lang="en-US" sz="4000" dirty="0">
                <a:latin typeface="Calibir"/>
              </a:rPr>
              <a:t> system – Third Implementation</a:t>
            </a:r>
            <a:endParaRPr lang="en-AU" sz="4000" b="1" dirty="0">
              <a:latin typeface="Calibir"/>
            </a:endParaRPr>
          </a:p>
        </p:txBody>
      </p:sp>
      <p:sp>
        <p:nvSpPr>
          <p:cNvPr id="3" name="TextBox 2">
            <a:extLst>
              <a:ext uri="{FF2B5EF4-FFF2-40B4-BE49-F238E27FC236}">
                <a16:creationId xmlns:a16="http://schemas.microsoft.com/office/drawing/2014/main" id="{AB91DFB9-B359-9A83-9734-2E33F0B182CD}"/>
              </a:ext>
            </a:extLst>
          </p:cNvPr>
          <p:cNvSpPr txBox="1"/>
          <p:nvPr/>
        </p:nvSpPr>
        <p:spPr>
          <a:xfrm>
            <a:off x="0" y="830317"/>
            <a:ext cx="5297214" cy="3903504"/>
          </a:xfrm>
          <a:prstGeom prst="rect">
            <a:avLst/>
          </a:prstGeom>
          <a:noFill/>
        </p:spPr>
        <p:txBody>
          <a:bodyPr wrap="square">
            <a:spAutoFit/>
          </a:bodyPr>
          <a:lstStyle/>
          <a:p>
            <a:pPr>
              <a:lnSpc>
                <a:spcPct val="150000"/>
              </a:lnSpc>
              <a:buNone/>
            </a:pPr>
            <a:r>
              <a:rPr lang="en-US" sz="2800" b="1" dirty="0">
                <a:latin typeface="Calibir"/>
              </a:rPr>
              <a:t>Step 1 — Create the Bank class</a:t>
            </a:r>
          </a:p>
          <a:p>
            <a:pPr>
              <a:lnSpc>
                <a:spcPct val="150000"/>
              </a:lnSpc>
              <a:buNone/>
            </a:pPr>
            <a:r>
              <a:rPr lang="en-US" sz="2800" b="1" dirty="0">
                <a:latin typeface="Calibir"/>
              </a:rPr>
              <a:t>Python</a:t>
            </a:r>
          </a:p>
          <a:p>
            <a:pPr>
              <a:lnSpc>
                <a:spcPct val="150000"/>
              </a:lnSpc>
              <a:buNone/>
            </a:pPr>
            <a:r>
              <a:rPr lang="en-US" sz="2800" dirty="0">
                <a:latin typeface="Calibir"/>
              </a:rPr>
              <a:t>Start with:</a:t>
            </a:r>
          </a:p>
          <a:p>
            <a:pPr rtl="0">
              <a:lnSpc>
                <a:spcPct val="150000"/>
              </a:lnSpc>
              <a:buNone/>
            </a:pPr>
            <a:r>
              <a:rPr lang="en-US" sz="2800" dirty="0">
                <a:latin typeface="Calibir"/>
              </a:rPr>
              <a:t>class Bank:</a:t>
            </a:r>
          </a:p>
          <a:p>
            <a:pPr rtl="0">
              <a:lnSpc>
                <a:spcPct val="150000"/>
              </a:lnSpc>
              <a:buNone/>
            </a:pPr>
            <a:r>
              <a:rPr lang="en-US" sz="2800" dirty="0">
                <a:latin typeface="Calibir"/>
              </a:rPr>
              <a:t>    pass</a:t>
            </a:r>
          </a:p>
          <a:p>
            <a:pPr>
              <a:lnSpc>
                <a:spcPct val="150000"/>
              </a:lnSpc>
              <a:buNone/>
            </a:pPr>
            <a:r>
              <a:rPr lang="en-US" sz="2800" dirty="0">
                <a:latin typeface="Calibir"/>
              </a:rPr>
              <a:t>This creates the Bank class.</a:t>
            </a:r>
          </a:p>
        </p:txBody>
      </p:sp>
      <p:sp>
        <p:nvSpPr>
          <p:cNvPr id="5" name="TextBox 4">
            <a:extLst>
              <a:ext uri="{FF2B5EF4-FFF2-40B4-BE49-F238E27FC236}">
                <a16:creationId xmlns:a16="http://schemas.microsoft.com/office/drawing/2014/main" id="{86A0EC9D-B4FE-15C3-6C75-11A6DB1B0E5B}"/>
              </a:ext>
            </a:extLst>
          </p:cNvPr>
          <p:cNvSpPr txBox="1"/>
          <p:nvPr/>
        </p:nvSpPr>
        <p:spPr>
          <a:xfrm>
            <a:off x="5594131" y="1153482"/>
            <a:ext cx="6227378" cy="3257174"/>
          </a:xfrm>
          <a:prstGeom prst="rect">
            <a:avLst/>
          </a:prstGeom>
          <a:noFill/>
        </p:spPr>
        <p:txBody>
          <a:bodyPr wrap="square">
            <a:spAutoFit/>
          </a:bodyPr>
          <a:lstStyle/>
          <a:p>
            <a:pPr>
              <a:lnSpc>
                <a:spcPct val="150000"/>
              </a:lnSpc>
              <a:buNone/>
            </a:pPr>
            <a:r>
              <a:rPr lang="en-US" sz="2800" b="1" dirty="0">
                <a:latin typeface="Calibir"/>
              </a:rPr>
              <a:t>Java</a:t>
            </a:r>
          </a:p>
          <a:p>
            <a:pPr rtl="0">
              <a:lnSpc>
                <a:spcPct val="150000"/>
              </a:lnSpc>
              <a:buNone/>
            </a:pPr>
            <a:r>
              <a:rPr lang="en-US" sz="2800" dirty="0">
                <a:latin typeface="Calibir"/>
              </a:rPr>
              <a:t>public class Bank {</a:t>
            </a:r>
          </a:p>
          <a:p>
            <a:pPr rtl="0">
              <a:lnSpc>
                <a:spcPct val="150000"/>
              </a:lnSpc>
              <a:buNone/>
            </a:pPr>
            <a:endParaRPr lang="en-US" sz="2800" dirty="0">
              <a:latin typeface="Calibir"/>
            </a:endParaRPr>
          </a:p>
          <a:p>
            <a:pPr rtl="0">
              <a:lnSpc>
                <a:spcPct val="150000"/>
              </a:lnSpc>
              <a:buNone/>
            </a:pPr>
            <a:r>
              <a:rPr lang="en-US" sz="2800" dirty="0">
                <a:latin typeface="Calibir"/>
              </a:rPr>
              <a:t>}</a:t>
            </a:r>
          </a:p>
          <a:p>
            <a:pPr>
              <a:lnSpc>
                <a:spcPct val="150000"/>
              </a:lnSpc>
              <a:buNone/>
            </a:pPr>
            <a:r>
              <a:rPr lang="en-US" sz="2800" dirty="0">
                <a:latin typeface="Calibir"/>
              </a:rPr>
              <a:t>This creates the Java Bank class.</a:t>
            </a:r>
          </a:p>
        </p:txBody>
      </p:sp>
    </p:spTree>
    <p:extLst>
      <p:ext uri="{BB962C8B-B14F-4D97-AF65-F5344CB8AC3E}">
        <p14:creationId xmlns:p14="http://schemas.microsoft.com/office/powerpoint/2010/main" val="26265439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72C5AE8-F4AF-B89C-5218-5726765A59B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DF1F17EC-D1B4-C8E1-8368-16CEDC8B9F9E}"/>
              </a:ext>
            </a:extLst>
          </p:cNvPr>
          <p:cNvSpPr txBox="1">
            <a:spLocks/>
          </p:cNvSpPr>
          <p:nvPr/>
        </p:nvSpPr>
        <p:spPr>
          <a:xfrm>
            <a:off x="0" y="0"/>
            <a:ext cx="12192000" cy="756745"/>
          </a:xfrm>
          <a:prstGeom prst="rect">
            <a:avLst/>
          </a:prstGeom>
        </p:spPr>
        <p:txBody>
          <a:bodyPr anchor="b">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Calibir"/>
              </a:rPr>
              <a:t>Case Study: Develop the </a:t>
            </a:r>
            <a:r>
              <a:rPr lang="en-US" sz="4000" dirty="0" err="1">
                <a:latin typeface="Calibir"/>
              </a:rPr>
              <a:t>DeskBankApp</a:t>
            </a:r>
            <a:r>
              <a:rPr lang="en-US" sz="4000" dirty="0">
                <a:latin typeface="Calibir"/>
              </a:rPr>
              <a:t> system – Third Implementation</a:t>
            </a:r>
            <a:endParaRPr lang="en-AU" sz="4000" b="1" dirty="0">
              <a:latin typeface="Calibir"/>
            </a:endParaRPr>
          </a:p>
        </p:txBody>
      </p:sp>
      <p:sp>
        <p:nvSpPr>
          <p:cNvPr id="3" name="TextBox 2">
            <a:extLst>
              <a:ext uri="{FF2B5EF4-FFF2-40B4-BE49-F238E27FC236}">
                <a16:creationId xmlns:a16="http://schemas.microsoft.com/office/drawing/2014/main" id="{02AA43FC-426E-16D1-6234-3C48FB2DFDBB}"/>
              </a:ext>
            </a:extLst>
          </p:cNvPr>
          <p:cNvSpPr txBox="1"/>
          <p:nvPr/>
        </p:nvSpPr>
        <p:spPr>
          <a:xfrm>
            <a:off x="-1" y="830317"/>
            <a:ext cx="5419493" cy="6133859"/>
          </a:xfrm>
          <a:prstGeom prst="rect">
            <a:avLst/>
          </a:prstGeom>
          <a:noFill/>
        </p:spPr>
        <p:txBody>
          <a:bodyPr wrap="square">
            <a:spAutoFit/>
          </a:bodyPr>
          <a:lstStyle/>
          <a:p>
            <a:pPr>
              <a:lnSpc>
                <a:spcPct val="150000"/>
              </a:lnSpc>
            </a:pPr>
            <a:r>
              <a:rPr lang="en-US" sz="2200" b="1" dirty="0">
                <a:latin typeface="Calibir"/>
              </a:rPr>
              <a:t>Step 2 — Add the balance field</a:t>
            </a:r>
          </a:p>
          <a:p>
            <a:pPr>
              <a:lnSpc>
                <a:spcPct val="150000"/>
              </a:lnSpc>
            </a:pPr>
            <a:r>
              <a:rPr lang="en-US" sz="2200" dirty="0">
                <a:latin typeface="Calibir"/>
              </a:rPr>
              <a:t>We need a place to store the current balance.</a:t>
            </a:r>
          </a:p>
          <a:p>
            <a:pPr>
              <a:lnSpc>
                <a:spcPct val="150000"/>
              </a:lnSpc>
            </a:pPr>
            <a:r>
              <a:rPr lang="en-US" sz="2200" b="1" dirty="0">
                <a:latin typeface="Calibir"/>
              </a:rPr>
              <a:t>Python</a:t>
            </a:r>
          </a:p>
          <a:p>
            <a:pPr>
              <a:lnSpc>
                <a:spcPct val="150000"/>
              </a:lnSpc>
            </a:pPr>
            <a:r>
              <a:rPr lang="en-US" sz="2200" dirty="0">
                <a:highlight>
                  <a:srgbClr val="FFFF00"/>
                </a:highlight>
                <a:latin typeface="Calibir"/>
              </a:rPr>
              <a:t>class Bank:</a:t>
            </a:r>
          </a:p>
          <a:p>
            <a:pPr>
              <a:lnSpc>
                <a:spcPct val="150000"/>
              </a:lnSpc>
            </a:pPr>
            <a:r>
              <a:rPr lang="en-US" sz="2200" dirty="0">
                <a:highlight>
                  <a:srgbClr val="FFFF00"/>
                </a:highlight>
                <a:latin typeface="Calibir"/>
              </a:rPr>
              <a:t>    def __</a:t>
            </a:r>
            <a:r>
              <a:rPr lang="en-US" sz="2200" dirty="0" err="1">
                <a:highlight>
                  <a:srgbClr val="FFFF00"/>
                </a:highlight>
                <a:latin typeface="Calibir"/>
              </a:rPr>
              <a:t>init</a:t>
            </a:r>
            <a:r>
              <a:rPr lang="en-US" sz="2200" dirty="0">
                <a:highlight>
                  <a:srgbClr val="FFFF00"/>
                </a:highlight>
                <a:latin typeface="Calibir"/>
              </a:rPr>
              <a:t>__(self):</a:t>
            </a:r>
          </a:p>
          <a:p>
            <a:pPr>
              <a:lnSpc>
                <a:spcPct val="150000"/>
              </a:lnSpc>
            </a:pPr>
            <a:r>
              <a:rPr lang="en-US" sz="2200" dirty="0">
                <a:highlight>
                  <a:srgbClr val="FFFF00"/>
                </a:highlight>
                <a:latin typeface="Calibir"/>
              </a:rPr>
              <a:t>        </a:t>
            </a:r>
            <a:r>
              <a:rPr lang="en-US" sz="2200" dirty="0" err="1">
                <a:highlight>
                  <a:srgbClr val="FFFF00"/>
                </a:highlight>
                <a:latin typeface="Calibir"/>
              </a:rPr>
              <a:t>self.balance</a:t>
            </a:r>
            <a:r>
              <a:rPr lang="en-US" sz="2200" dirty="0">
                <a:highlight>
                  <a:srgbClr val="FFFF00"/>
                </a:highlight>
                <a:latin typeface="Calibir"/>
              </a:rPr>
              <a:t> = 0.0</a:t>
            </a:r>
          </a:p>
          <a:p>
            <a:pPr>
              <a:lnSpc>
                <a:spcPct val="150000"/>
              </a:lnSpc>
            </a:pPr>
            <a:r>
              <a:rPr lang="en-US" sz="2200" b="1" dirty="0">
                <a:latin typeface="Calibir"/>
              </a:rPr>
              <a:t>Explanation</a:t>
            </a:r>
          </a:p>
          <a:p>
            <a:pPr>
              <a:lnSpc>
                <a:spcPct val="150000"/>
              </a:lnSpc>
            </a:pPr>
            <a:r>
              <a:rPr lang="en-US" sz="2200" dirty="0" err="1">
                <a:highlight>
                  <a:srgbClr val="FFFF00"/>
                </a:highlight>
                <a:latin typeface="Calibir"/>
              </a:rPr>
              <a:t>self.balance</a:t>
            </a:r>
            <a:endParaRPr lang="en-US" sz="2200" dirty="0">
              <a:highlight>
                <a:srgbClr val="FFFF00"/>
              </a:highlight>
              <a:latin typeface="Calibir"/>
            </a:endParaRPr>
          </a:p>
          <a:p>
            <a:pPr>
              <a:lnSpc>
                <a:spcPct val="150000"/>
              </a:lnSpc>
            </a:pPr>
            <a:r>
              <a:rPr lang="en-US" sz="2200" dirty="0">
                <a:latin typeface="Calibir"/>
              </a:rPr>
              <a:t>stores the current balance for this Bank object.</a:t>
            </a:r>
          </a:p>
          <a:p>
            <a:pPr>
              <a:lnSpc>
                <a:spcPct val="150000"/>
              </a:lnSpc>
            </a:pPr>
            <a:r>
              <a:rPr lang="en-US" sz="2200" dirty="0">
                <a:latin typeface="Calibir"/>
              </a:rPr>
              <a:t>We start with 0.0 because the actual starting balance will be read from the keyboard.</a:t>
            </a:r>
          </a:p>
        </p:txBody>
      </p:sp>
      <p:sp>
        <p:nvSpPr>
          <p:cNvPr id="5" name="TextBox 4">
            <a:extLst>
              <a:ext uri="{FF2B5EF4-FFF2-40B4-BE49-F238E27FC236}">
                <a16:creationId xmlns:a16="http://schemas.microsoft.com/office/drawing/2014/main" id="{3249229A-94B5-1347-5421-29A7257BB99B}"/>
              </a:ext>
            </a:extLst>
          </p:cNvPr>
          <p:cNvSpPr txBox="1"/>
          <p:nvPr/>
        </p:nvSpPr>
        <p:spPr>
          <a:xfrm>
            <a:off x="5594131" y="1153482"/>
            <a:ext cx="6227378" cy="4549835"/>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class Bank {</a:t>
            </a:r>
          </a:p>
          <a:p>
            <a:pPr>
              <a:lnSpc>
                <a:spcPct val="150000"/>
              </a:lnSpc>
            </a:pPr>
            <a:r>
              <a:rPr lang="en-US" sz="2800" dirty="0">
                <a:highlight>
                  <a:srgbClr val="FFFF00"/>
                </a:highlight>
                <a:latin typeface="Calibir"/>
              </a:rPr>
              <a:t>    private double balance;</a:t>
            </a:r>
          </a:p>
          <a:p>
            <a:pPr>
              <a:lnSpc>
                <a:spcPct val="150000"/>
              </a:lnSpc>
            </a:pPr>
            <a:r>
              <a:rPr lang="en-US" sz="2800" dirty="0">
                <a:highlight>
                  <a:srgbClr val="FFFF00"/>
                </a:highlight>
                <a:latin typeface="Calibir"/>
              </a:rPr>
              <a:t>}</a:t>
            </a:r>
          </a:p>
          <a:p>
            <a:pPr>
              <a:lnSpc>
                <a:spcPct val="150000"/>
              </a:lnSpc>
            </a:pPr>
            <a:r>
              <a:rPr lang="en-US" sz="2800" b="1" dirty="0">
                <a:latin typeface="Calibir"/>
              </a:rPr>
              <a:t>Explanation</a:t>
            </a:r>
          </a:p>
          <a:p>
            <a:pPr>
              <a:lnSpc>
                <a:spcPct val="150000"/>
              </a:lnSpc>
            </a:pPr>
            <a:r>
              <a:rPr lang="en-US" sz="2800" dirty="0">
                <a:latin typeface="Calibir"/>
              </a:rPr>
              <a:t>private double balance;</a:t>
            </a:r>
          </a:p>
          <a:p>
            <a:pPr>
              <a:lnSpc>
                <a:spcPct val="150000"/>
              </a:lnSpc>
            </a:pPr>
            <a:r>
              <a:rPr lang="en-US" sz="2800" dirty="0">
                <a:latin typeface="Calibir"/>
              </a:rPr>
              <a:t>creates a decimal field called balance.</a:t>
            </a:r>
          </a:p>
        </p:txBody>
      </p:sp>
    </p:spTree>
    <p:extLst>
      <p:ext uri="{BB962C8B-B14F-4D97-AF65-F5344CB8AC3E}">
        <p14:creationId xmlns:p14="http://schemas.microsoft.com/office/powerpoint/2010/main" val="20813906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096EA14-4F52-9FC2-8F30-EC993A5C9D5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F81B4A-2DD5-4363-53E2-BD26FFEC6183}"/>
              </a:ext>
            </a:extLst>
          </p:cNvPr>
          <p:cNvSpPr txBox="1"/>
          <p:nvPr/>
        </p:nvSpPr>
        <p:spPr>
          <a:xfrm>
            <a:off x="0" y="87476"/>
            <a:ext cx="7404410" cy="6683048"/>
          </a:xfrm>
          <a:prstGeom prst="rect">
            <a:avLst/>
          </a:prstGeom>
          <a:noFill/>
        </p:spPr>
        <p:txBody>
          <a:bodyPr wrap="square">
            <a:spAutoFit/>
          </a:bodyPr>
          <a:lstStyle/>
          <a:p>
            <a:pPr>
              <a:lnSpc>
                <a:spcPct val="150000"/>
              </a:lnSpc>
            </a:pPr>
            <a:r>
              <a:rPr lang="en-US" sz="2400" b="1" dirty="0">
                <a:latin typeface="Calibir"/>
              </a:rPr>
              <a:t>Step 3 — Write a function to read the starting balance</a:t>
            </a:r>
          </a:p>
          <a:p>
            <a:pPr>
              <a:lnSpc>
                <a:spcPct val="150000"/>
              </a:lnSpc>
            </a:pPr>
            <a:r>
              <a:rPr lang="en-US" sz="2400" dirty="0">
                <a:latin typeface="Calibir"/>
              </a:rPr>
              <a:t>The task says:</a:t>
            </a:r>
          </a:p>
          <a:p>
            <a:pPr>
              <a:lnSpc>
                <a:spcPct val="150000"/>
              </a:lnSpc>
            </a:pPr>
            <a:r>
              <a:rPr lang="en-US" sz="2400" dirty="0">
                <a:latin typeface="Calibir"/>
              </a:rPr>
              <a:t>Write a function to read the starting balance from STDIN.</a:t>
            </a:r>
          </a:p>
          <a:p>
            <a:pPr>
              <a:lnSpc>
                <a:spcPct val="150000"/>
              </a:lnSpc>
            </a:pPr>
            <a:r>
              <a:rPr lang="en-US" sz="2400" dirty="0">
                <a:latin typeface="Calibir"/>
              </a:rPr>
              <a:t>STDIN means keyboard input in this lab.</a:t>
            </a:r>
          </a:p>
          <a:p>
            <a:pPr>
              <a:lnSpc>
                <a:spcPct val="150000"/>
              </a:lnSpc>
            </a:pPr>
            <a:r>
              <a:rPr lang="en-US" sz="2400" b="1" dirty="0">
                <a:latin typeface="Calibir"/>
              </a:rPr>
              <a:t>Python</a:t>
            </a:r>
          </a:p>
          <a:p>
            <a:pPr>
              <a:lnSpc>
                <a:spcPct val="150000"/>
              </a:lnSpc>
            </a:pPr>
            <a:r>
              <a:rPr lang="en-US" sz="2400" dirty="0">
                <a:highlight>
                  <a:srgbClr val="FFFF00"/>
                </a:highlight>
                <a:latin typeface="Calibir"/>
              </a:rPr>
              <a:t>def </a:t>
            </a:r>
            <a:r>
              <a:rPr lang="en-US" sz="2400" dirty="0" err="1">
                <a:highlight>
                  <a:srgbClr val="FFFF00"/>
                </a:highlight>
                <a:latin typeface="Calibir"/>
              </a:rPr>
              <a:t>read_starting_balance</a:t>
            </a:r>
            <a:r>
              <a:rPr lang="en-US" sz="2400" dirty="0">
                <a:highlight>
                  <a:srgbClr val="FFFF00"/>
                </a:highlight>
                <a:latin typeface="Calibir"/>
              </a:rPr>
              <a:t>(self):</a:t>
            </a:r>
          </a:p>
          <a:p>
            <a:pPr>
              <a:lnSpc>
                <a:spcPct val="150000"/>
              </a:lnSpc>
            </a:pPr>
            <a:r>
              <a:rPr lang="en-US" sz="2400" dirty="0">
                <a:highlight>
                  <a:srgbClr val="FFFF00"/>
                </a:highlight>
                <a:latin typeface="Calibir"/>
              </a:rPr>
              <a:t>    </a:t>
            </a:r>
            <a:r>
              <a:rPr lang="en-US" sz="2400" dirty="0" err="1">
                <a:highlight>
                  <a:srgbClr val="FFFF00"/>
                </a:highlight>
                <a:latin typeface="Calibir"/>
              </a:rPr>
              <a:t>self.balance</a:t>
            </a:r>
            <a:r>
              <a:rPr lang="en-US" sz="2400" dirty="0">
                <a:highlight>
                  <a:srgbClr val="FFFF00"/>
                </a:highlight>
                <a:latin typeface="Calibir"/>
              </a:rPr>
              <a:t> = float(</a:t>
            </a:r>
          </a:p>
          <a:p>
            <a:pPr>
              <a:lnSpc>
                <a:spcPct val="150000"/>
              </a:lnSpc>
            </a:pPr>
            <a:r>
              <a:rPr lang="en-US" sz="2400" dirty="0">
                <a:highlight>
                  <a:srgbClr val="FFFF00"/>
                </a:highlight>
                <a:latin typeface="Calibir"/>
              </a:rPr>
              <a:t>        input("Enter starting balance: $")</a:t>
            </a:r>
          </a:p>
          <a:p>
            <a:pPr>
              <a:lnSpc>
                <a:spcPct val="150000"/>
              </a:lnSpc>
            </a:pPr>
            <a:r>
              <a:rPr lang="en-US" sz="2400" dirty="0">
                <a:highlight>
                  <a:srgbClr val="FFFF00"/>
                </a:highlight>
                <a:latin typeface="Calibir"/>
              </a:rPr>
              <a:t>    )</a:t>
            </a:r>
          </a:p>
          <a:p>
            <a:pPr>
              <a:lnSpc>
                <a:spcPct val="150000"/>
              </a:lnSpc>
            </a:pPr>
            <a:r>
              <a:rPr lang="en-US" sz="2400" b="1" dirty="0">
                <a:latin typeface="Calibir"/>
              </a:rPr>
              <a:t>Explanation</a:t>
            </a:r>
          </a:p>
          <a:p>
            <a:pPr>
              <a:lnSpc>
                <a:spcPct val="150000"/>
              </a:lnSpc>
            </a:pPr>
            <a:r>
              <a:rPr lang="en-US" sz="2400" dirty="0">
                <a:highlight>
                  <a:srgbClr val="FFFF00"/>
                </a:highlight>
                <a:latin typeface="Calibir"/>
              </a:rPr>
              <a:t>input(...) </a:t>
            </a:r>
            <a:r>
              <a:rPr lang="en-US" sz="2400" dirty="0">
                <a:latin typeface="Calibir"/>
              </a:rPr>
              <a:t>reads what the user types.</a:t>
            </a:r>
          </a:p>
          <a:p>
            <a:pPr>
              <a:lnSpc>
                <a:spcPct val="150000"/>
              </a:lnSpc>
            </a:pPr>
            <a:r>
              <a:rPr lang="en-US" sz="2400" dirty="0">
                <a:highlight>
                  <a:srgbClr val="FFFF00"/>
                </a:highlight>
                <a:latin typeface="Calibir"/>
              </a:rPr>
              <a:t>float(...) </a:t>
            </a:r>
            <a:r>
              <a:rPr lang="en-US" sz="2400" dirty="0">
                <a:latin typeface="Calibir"/>
              </a:rPr>
              <a:t>converts the input to a decimal number.</a:t>
            </a:r>
          </a:p>
        </p:txBody>
      </p:sp>
    </p:spTree>
    <p:extLst>
      <p:ext uri="{BB962C8B-B14F-4D97-AF65-F5344CB8AC3E}">
        <p14:creationId xmlns:p14="http://schemas.microsoft.com/office/powerpoint/2010/main" val="1736133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261927D-ADE9-3C36-F031-ABFE15B4CF1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DDC89E-383A-8D11-97DC-63CD63D109DE}"/>
              </a:ext>
            </a:extLst>
          </p:cNvPr>
          <p:cNvSpPr txBox="1"/>
          <p:nvPr/>
        </p:nvSpPr>
        <p:spPr>
          <a:xfrm>
            <a:off x="0" y="-99674"/>
            <a:ext cx="12192000" cy="6957674"/>
          </a:xfrm>
          <a:prstGeom prst="rect">
            <a:avLst/>
          </a:prstGeom>
          <a:noFill/>
        </p:spPr>
        <p:txBody>
          <a:bodyPr wrap="square">
            <a:spAutoFit/>
          </a:bodyPr>
          <a:lstStyle/>
          <a:p>
            <a:pPr>
              <a:lnSpc>
                <a:spcPct val="150000"/>
              </a:lnSpc>
            </a:pPr>
            <a:r>
              <a:rPr lang="en-US" sz="2500" b="1" dirty="0">
                <a:latin typeface="Calibir"/>
              </a:rPr>
              <a:t>Java</a:t>
            </a:r>
          </a:p>
          <a:p>
            <a:pPr>
              <a:lnSpc>
                <a:spcPct val="150000"/>
              </a:lnSpc>
            </a:pPr>
            <a:r>
              <a:rPr lang="en-US" sz="2500" dirty="0">
                <a:latin typeface="Calibir"/>
              </a:rPr>
              <a:t>We can create a method:</a:t>
            </a:r>
          </a:p>
          <a:p>
            <a:pPr>
              <a:lnSpc>
                <a:spcPct val="150000"/>
              </a:lnSpc>
            </a:pPr>
            <a:r>
              <a:rPr lang="en-US" sz="2500" dirty="0">
                <a:highlight>
                  <a:srgbClr val="FFFF00"/>
                </a:highlight>
                <a:latin typeface="Calibir"/>
              </a:rPr>
              <a:t>public void </a:t>
            </a:r>
            <a:r>
              <a:rPr lang="en-US" sz="2500" dirty="0" err="1">
                <a:highlight>
                  <a:srgbClr val="FFFF00"/>
                </a:highlight>
                <a:latin typeface="Calibir"/>
              </a:rPr>
              <a:t>readStartingBalance</a:t>
            </a:r>
            <a:r>
              <a:rPr lang="en-US" sz="2500" dirty="0">
                <a:highlight>
                  <a:srgbClr val="FFFF00"/>
                </a:highlight>
                <a:latin typeface="Calibir"/>
              </a:rPr>
              <a:t>(Scanner input) {</a:t>
            </a:r>
          </a:p>
          <a:p>
            <a:pPr>
              <a:lnSpc>
                <a:spcPct val="150000"/>
              </a:lnSpc>
            </a:pPr>
            <a:r>
              <a:rPr lang="en-US" sz="2500" dirty="0">
                <a:highlight>
                  <a:srgbClr val="FFFF00"/>
                </a:highlight>
                <a:latin typeface="Calibir"/>
              </a:rPr>
              <a:t>    </a:t>
            </a:r>
            <a:r>
              <a:rPr lang="en-US" sz="2500" dirty="0" err="1">
                <a:highlight>
                  <a:srgbClr val="FFFF00"/>
                </a:highlight>
                <a:latin typeface="Calibir"/>
              </a:rPr>
              <a:t>System.out.print</a:t>
            </a:r>
            <a:r>
              <a:rPr lang="en-US" sz="2500" dirty="0">
                <a:highlight>
                  <a:srgbClr val="FFFF00"/>
                </a:highlight>
                <a:latin typeface="Calibir"/>
              </a:rPr>
              <a:t>(</a:t>
            </a:r>
          </a:p>
          <a:p>
            <a:pPr>
              <a:lnSpc>
                <a:spcPct val="150000"/>
              </a:lnSpc>
            </a:pPr>
            <a:r>
              <a:rPr lang="en-US" sz="2500" dirty="0">
                <a:highlight>
                  <a:srgbClr val="FFFF00"/>
                </a:highlight>
                <a:latin typeface="Calibir"/>
              </a:rPr>
              <a:t>        "Enter starting balance: $"</a:t>
            </a:r>
          </a:p>
          <a:p>
            <a:pPr>
              <a:lnSpc>
                <a:spcPct val="150000"/>
              </a:lnSpc>
            </a:pPr>
            <a:r>
              <a:rPr lang="en-US" sz="2500" dirty="0">
                <a:highlight>
                  <a:srgbClr val="FFFF00"/>
                </a:highlight>
                <a:latin typeface="Calibir"/>
              </a:rPr>
              <a:t>    );</a:t>
            </a:r>
          </a:p>
          <a:p>
            <a:pPr>
              <a:lnSpc>
                <a:spcPct val="150000"/>
              </a:lnSpc>
            </a:pPr>
            <a:r>
              <a:rPr lang="en-US" sz="2500" dirty="0">
                <a:highlight>
                  <a:srgbClr val="FFFF00"/>
                </a:highlight>
                <a:latin typeface="Calibir"/>
              </a:rPr>
              <a:t>    balance = </a:t>
            </a:r>
            <a:r>
              <a:rPr lang="en-US" sz="2500" dirty="0" err="1">
                <a:highlight>
                  <a:srgbClr val="FFFF00"/>
                </a:highlight>
                <a:latin typeface="Calibir"/>
              </a:rPr>
              <a:t>input.nextDouble</a:t>
            </a:r>
            <a:r>
              <a:rPr lang="en-US" sz="2500" dirty="0">
                <a:highlight>
                  <a:srgbClr val="FFFF00"/>
                </a:highlight>
                <a:latin typeface="Calibir"/>
              </a:rPr>
              <a:t>();</a:t>
            </a:r>
          </a:p>
          <a:p>
            <a:pPr>
              <a:lnSpc>
                <a:spcPct val="150000"/>
              </a:lnSpc>
            </a:pPr>
            <a:r>
              <a:rPr lang="en-US" sz="2500" dirty="0">
                <a:highlight>
                  <a:srgbClr val="FFFF00"/>
                </a:highlight>
                <a:latin typeface="Calibir"/>
              </a:rPr>
              <a:t>    </a:t>
            </a:r>
            <a:r>
              <a:rPr lang="en-US" sz="2500" dirty="0" err="1">
                <a:highlight>
                  <a:srgbClr val="FFFF00"/>
                </a:highlight>
                <a:latin typeface="Calibir"/>
              </a:rPr>
              <a:t>input.nextLine</a:t>
            </a:r>
            <a:r>
              <a:rPr lang="en-US" sz="2500" dirty="0">
                <a:highlight>
                  <a:srgbClr val="FFFF00"/>
                </a:highlight>
                <a:latin typeface="Calibir"/>
              </a:rPr>
              <a:t>();</a:t>
            </a:r>
          </a:p>
          <a:p>
            <a:pPr>
              <a:lnSpc>
                <a:spcPct val="150000"/>
              </a:lnSpc>
            </a:pPr>
            <a:r>
              <a:rPr lang="en-US" sz="2500" dirty="0">
                <a:highlight>
                  <a:srgbClr val="FFFF00"/>
                </a:highlight>
                <a:latin typeface="Calibir"/>
              </a:rPr>
              <a:t>}</a:t>
            </a:r>
          </a:p>
          <a:p>
            <a:pPr>
              <a:lnSpc>
                <a:spcPct val="150000"/>
              </a:lnSpc>
            </a:pPr>
            <a:r>
              <a:rPr lang="en-US" sz="2500" b="1" dirty="0">
                <a:latin typeface="Calibir"/>
              </a:rPr>
              <a:t>Why do we use </a:t>
            </a:r>
            <a:r>
              <a:rPr lang="en-US" sz="2500" b="1" dirty="0" err="1">
                <a:latin typeface="Calibir"/>
              </a:rPr>
              <a:t>input.nextLine</a:t>
            </a:r>
            <a:r>
              <a:rPr lang="en-US" sz="2500" b="1" dirty="0">
                <a:latin typeface="Calibir"/>
              </a:rPr>
              <a:t>()?</a:t>
            </a:r>
          </a:p>
          <a:p>
            <a:pPr>
              <a:lnSpc>
                <a:spcPct val="150000"/>
              </a:lnSpc>
            </a:pPr>
            <a:r>
              <a:rPr lang="en-US" sz="2500" dirty="0">
                <a:latin typeface="Calibir"/>
              </a:rPr>
              <a:t>After </a:t>
            </a:r>
            <a:r>
              <a:rPr lang="en-US" sz="2500" dirty="0" err="1">
                <a:latin typeface="Calibir"/>
              </a:rPr>
              <a:t>nextDouble</a:t>
            </a:r>
            <a:r>
              <a:rPr lang="en-US" sz="2500" dirty="0">
                <a:latin typeface="Calibir"/>
              </a:rPr>
              <a:t>(), Java leaves the Enter key in the input buffer.</a:t>
            </a:r>
          </a:p>
          <a:p>
            <a:pPr>
              <a:lnSpc>
                <a:spcPct val="150000"/>
              </a:lnSpc>
            </a:pPr>
            <a:r>
              <a:rPr lang="en-US" sz="2500" dirty="0" err="1">
                <a:latin typeface="Calibir"/>
              </a:rPr>
              <a:t>nextLine</a:t>
            </a:r>
            <a:r>
              <a:rPr lang="en-US" sz="2500" dirty="0">
                <a:latin typeface="Calibir"/>
              </a:rPr>
              <a:t>() clears it so later menu input works correctly.</a:t>
            </a:r>
          </a:p>
        </p:txBody>
      </p:sp>
    </p:spTree>
    <p:extLst>
      <p:ext uri="{BB962C8B-B14F-4D97-AF65-F5344CB8AC3E}">
        <p14:creationId xmlns:p14="http://schemas.microsoft.com/office/powerpoint/2010/main" val="3414496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A68EBA0-A452-FC2E-5DA4-9F08BCB949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5197B09-8B0E-02E1-1008-2975B99466EB}"/>
              </a:ext>
            </a:extLst>
          </p:cNvPr>
          <p:cNvSpPr txBox="1"/>
          <p:nvPr/>
        </p:nvSpPr>
        <p:spPr>
          <a:xfrm>
            <a:off x="0" y="-99674"/>
            <a:ext cx="12192000" cy="7135158"/>
          </a:xfrm>
          <a:prstGeom prst="rect">
            <a:avLst/>
          </a:prstGeom>
          <a:noFill/>
        </p:spPr>
        <p:txBody>
          <a:bodyPr wrap="square">
            <a:spAutoFit/>
          </a:bodyPr>
          <a:lstStyle/>
          <a:p>
            <a:pPr>
              <a:lnSpc>
                <a:spcPct val="150000"/>
              </a:lnSpc>
            </a:pPr>
            <a:r>
              <a:rPr lang="en-US" sz="2800" b="1" dirty="0">
                <a:latin typeface="Calibir"/>
              </a:rPr>
              <a:t>Step 4 — Write the deposit() procedure</a:t>
            </a:r>
          </a:p>
          <a:p>
            <a:pPr>
              <a:lnSpc>
                <a:spcPct val="150000"/>
              </a:lnSpc>
            </a:pPr>
            <a:r>
              <a:rPr lang="en-US" sz="2800" dirty="0">
                <a:latin typeface="Calibir"/>
              </a:rPr>
              <a:t>A deposit should increase the balance.</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deposit(self, amount):</a:t>
            </a:r>
          </a:p>
          <a:p>
            <a:pPr>
              <a:lnSpc>
                <a:spcPct val="150000"/>
              </a:lnSpc>
            </a:pPr>
            <a:r>
              <a:rPr lang="en-US" sz="2800" dirty="0">
                <a:highlight>
                  <a:srgbClr val="FFFF00"/>
                </a:highlight>
                <a:latin typeface="Calibir"/>
              </a:rPr>
              <a:t>    </a:t>
            </a:r>
            <a:r>
              <a:rPr lang="en-US" sz="2800" dirty="0" err="1">
                <a:highlight>
                  <a:srgbClr val="FFFF00"/>
                </a:highlight>
                <a:latin typeface="Calibir"/>
              </a:rPr>
              <a:t>self.balance</a:t>
            </a:r>
            <a:r>
              <a:rPr lang="en-US" sz="2800" dirty="0">
                <a:highlight>
                  <a:srgbClr val="FFFF00"/>
                </a:highlight>
                <a:latin typeface="Calibir"/>
              </a:rPr>
              <a:t> += amount</a:t>
            </a:r>
          </a:p>
          <a:p>
            <a:pPr>
              <a:lnSpc>
                <a:spcPct val="150000"/>
              </a:lnSpc>
            </a:pPr>
            <a:r>
              <a:rPr lang="en-US" sz="2800" b="1" dirty="0">
                <a:latin typeface="Calibir"/>
              </a:rPr>
              <a:t>Example</a:t>
            </a:r>
          </a:p>
          <a:p>
            <a:pPr>
              <a:lnSpc>
                <a:spcPct val="150000"/>
              </a:lnSpc>
            </a:pPr>
            <a:r>
              <a:rPr lang="en-US" sz="2800" dirty="0">
                <a:latin typeface="Calibir"/>
              </a:rPr>
              <a:t>If:</a:t>
            </a:r>
          </a:p>
          <a:p>
            <a:pPr>
              <a:lnSpc>
                <a:spcPct val="150000"/>
              </a:lnSpc>
            </a:pPr>
            <a:r>
              <a:rPr lang="en-US" sz="2800" dirty="0">
                <a:highlight>
                  <a:srgbClr val="FFFF00"/>
                </a:highlight>
                <a:latin typeface="Calibir"/>
              </a:rPr>
              <a:t>balance = 1000</a:t>
            </a:r>
          </a:p>
          <a:p>
            <a:pPr>
              <a:lnSpc>
                <a:spcPct val="150000"/>
              </a:lnSpc>
            </a:pPr>
            <a:r>
              <a:rPr lang="en-US" sz="2800" dirty="0">
                <a:highlight>
                  <a:srgbClr val="FFFF00"/>
                </a:highlight>
                <a:latin typeface="Calibir"/>
              </a:rPr>
              <a:t>amount = 500</a:t>
            </a:r>
          </a:p>
          <a:p>
            <a:pPr>
              <a:lnSpc>
                <a:spcPct val="150000"/>
              </a:lnSpc>
            </a:pPr>
            <a:r>
              <a:rPr lang="en-US" sz="2800" dirty="0">
                <a:latin typeface="Calibir"/>
              </a:rPr>
              <a:t>then:</a:t>
            </a:r>
          </a:p>
          <a:p>
            <a:pPr>
              <a:lnSpc>
                <a:spcPct val="150000"/>
              </a:lnSpc>
            </a:pPr>
            <a:r>
              <a:rPr lang="en-US" sz="2800" dirty="0">
                <a:highlight>
                  <a:srgbClr val="FFFF00"/>
                </a:highlight>
                <a:latin typeface="Calibir"/>
              </a:rPr>
              <a:t>new balance = 1500</a:t>
            </a:r>
          </a:p>
        </p:txBody>
      </p:sp>
    </p:spTree>
    <p:extLst>
      <p:ext uri="{BB962C8B-B14F-4D97-AF65-F5344CB8AC3E}">
        <p14:creationId xmlns:p14="http://schemas.microsoft.com/office/powerpoint/2010/main" val="2161529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E8C109C-3BF7-9F5F-31DA-9E1A9CEAAC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C07A69-637B-C6CE-6CA2-A0B6136D8C16}"/>
              </a:ext>
            </a:extLst>
          </p:cNvPr>
          <p:cNvSpPr txBox="1"/>
          <p:nvPr/>
        </p:nvSpPr>
        <p:spPr>
          <a:xfrm>
            <a:off x="0" y="830917"/>
            <a:ext cx="12192000" cy="5196166"/>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void deposit(double amount) {</a:t>
            </a:r>
          </a:p>
          <a:p>
            <a:pPr>
              <a:lnSpc>
                <a:spcPct val="150000"/>
              </a:lnSpc>
            </a:pPr>
            <a:r>
              <a:rPr lang="en-US" sz="2800" dirty="0">
                <a:highlight>
                  <a:srgbClr val="FFFF00"/>
                </a:highlight>
                <a:latin typeface="Calibir"/>
              </a:rPr>
              <a:t>    balance += amount;</a:t>
            </a:r>
          </a:p>
          <a:p>
            <a:pPr>
              <a:lnSpc>
                <a:spcPct val="150000"/>
              </a:lnSpc>
            </a:pPr>
            <a:r>
              <a:rPr lang="en-US" sz="2800" dirty="0">
                <a:highlight>
                  <a:srgbClr val="FFFF00"/>
                </a:highlight>
                <a:latin typeface="Calibir"/>
              </a:rPr>
              <a:t>}</a:t>
            </a:r>
          </a:p>
          <a:p>
            <a:pPr>
              <a:lnSpc>
                <a:spcPct val="150000"/>
              </a:lnSpc>
            </a:pPr>
            <a:r>
              <a:rPr lang="en-US" sz="2800" b="1" dirty="0">
                <a:latin typeface="Calibir"/>
              </a:rPr>
              <a:t>Explanation</a:t>
            </a:r>
          </a:p>
          <a:p>
            <a:pPr>
              <a:lnSpc>
                <a:spcPct val="150000"/>
              </a:lnSpc>
            </a:pPr>
            <a:r>
              <a:rPr lang="en-US" sz="2800" dirty="0">
                <a:latin typeface="Calibir"/>
              </a:rPr>
              <a:t>balance += amount;</a:t>
            </a:r>
          </a:p>
          <a:p>
            <a:pPr>
              <a:lnSpc>
                <a:spcPct val="150000"/>
              </a:lnSpc>
            </a:pPr>
            <a:r>
              <a:rPr lang="en-US" sz="2800" dirty="0">
                <a:latin typeface="Calibir"/>
              </a:rPr>
              <a:t>is the same as:</a:t>
            </a:r>
          </a:p>
          <a:p>
            <a:pPr>
              <a:lnSpc>
                <a:spcPct val="150000"/>
              </a:lnSpc>
            </a:pPr>
            <a:r>
              <a:rPr lang="en-US" sz="2800" dirty="0">
                <a:latin typeface="Calibir"/>
              </a:rPr>
              <a:t>balance = balance + amount;</a:t>
            </a:r>
          </a:p>
        </p:txBody>
      </p:sp>
    </p:spTree>
    <p:extLst>
      <p:ext uri="{BB962C8B-B14F-4D97-AF65-F5344CB8AC3E}">
        <p14:creationId xmlns:p14="http://schemas.microsoft.com/office/powerpoint/2010/main" val="2478284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0640A75-6B63-CFE7-1A49-DB5CC8B67E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B4B9D0-B812-F618-E409-055B6ED5F3A4}"/>
              </a:ext>
            </a:extLst>
          </p:cNvPr>
          <p:cNvSpPr txBox="1"/>
          <p:nvPr/>
        </p:nvSpPr>
        <p:spPr>
          <a:xfrm>
            <a:off x="0" y="413046"/>
            <a:ext cx="12192000" cy="6031908"/>
          </a:xfrm>
          <a:prstGeom prst="rect">
            <a:avLst/>
          </a:prstGeom>
          <a:noFill/>
        </p:spPr>
        <p:txBody>
          <a:bodyPr wrap="square">
            <a:spAutoFit/>
          </a:bodyPr>
          <a:lstStyle/>
          <a:p>
            <a:pPr>
              <a:lnSpc>
                <a:spcPct val="150000"/>
              </a:lnSpc>
            </a:pPr>
            <a:r>
              <a:rPr lang="en-US" sz="2600" b="1" dirty="0">
                <a:latin typeface="Calibir"/>
              </a:rPr>
              <a:t>Step 5 — Write the withdraw() procedure</a:t>
            </a:r>
          </a:p>
          <a:p>
            <a:pPr>
              <a:lnSpc>
                <a:spcPct val="150000"/>
              </a:lnSpc>
            </a:pPr>
            <a:r>
              <a:rPr lang="en-US" sz="2600" dirty="0">
                <a:latin typeface="Calibir"/>
              </a:rPr>
              <a:t>A withdrawal should reduce the balance.</a:t>
            </a:r>
          </a:p>
          <a:p>
            <a:pPr>
              <a:lnSpc>
                <a:spcPct val="150000"/>
              </a:lnSpc>
            </a:pPr>
            <a:r>
              <a:rPr lang="en-US" sz="2600" dirty="0">
                <a:latin typeface="Calibir"/>
              </a:rPr>
              <a:t>But we must check whether enough funds are available.</a:t>
            </a:r>
          </a:p>
          <a:p>
            <a:pPr>
              <a:lnSpc>
                <a:spcPct val="150000"/>
              </a:lnSpc>
            </a:pPr>
            <a:r>
              <a:rPr lang="en-US" sz="2600" b="1" dirty="0">
                <a:latin typeface="Calibir"/>
              </a:rPr>
              <a:t>Python</a:t>
            </a:r>
          </a:p>
          <a:p>
            <a:pPr>
              <a:lnSpc>
                <a:spcPct val="150000"/>
              </a:lnSpc>
            </a:pPr>
            <a:r>
              <a:rPr lang="en-US" sz="2600" dirty="0">
                <a:highlight>
                  <a:srgbClr val="FFFF00"/>
                </a:highlight>
                <a:latin typeface="Calibir"/>
              </a:rPr>
              <a:t>def withdraw(self, amount):</a:t>
            </a:r>
          </a:p>
          <a:p>
            <a:pPr>
              <a:lnSpc>
                <a:spcPct val="150000"/>
              </a:lnSpc>
            </a:pPr>
            <a:r>
              <a:rPr lang="en-US" sz="2600" dirty="0">
                <a:highlight>
                  <a:srgbClr val="FFFF00"/>
                </a:highlight>
                <a:latin typeface="Calibir"/>
              </a:rPr>
              <a:t>    if amount &gt; </a:t>
            </a:r>
            <a:r>
              <a:rPr lang="en-US" sz="2600" dirty="0" err="1">
                <a:highlight>
                  <a:srgbClr val="FFFF00"/>
                </a:highlight>
                <a:latin typeface="Calibir"/>
              </a:rPr>
              <a:t>self.balance</a:t>
            </a:r>
            <a:r>
              <a:rPr lang="en-US" sz="2600" dirty="0">
                <a:highlight>
                  <a:srgbClr val="FFFF00"/>
                </a:highlight>
                <a:latin typeface="Calibir"/>
              </a:rPr>
              <a:t>:</a:t>
            </a:r>
          </a:p>
          <a:p>
            <a:pPr>
              <a:lnSpc>
                <a:spcPct val="150000"/>
              </a:lnSpc>
            </a:pPr>
            <a:r>
              <a:rPr lang="en-US" sz="2600" dirty="0">
                <a:highlight>
                  <a:srgbClr val="FFFF00"/>
                </a:highlight>
                <a:latin typeface="Calibir"/>
              </a:rPr>
              <a:t>        raise </a:t>
            </a:r>
            <a:r>
              <a:rPr lang="en-US" sz="2600" dirty="0" err="1">
                <a:highlight>
                  <a:srgbClr val="FFFF00"/>
                </a:highlight>
                <a:latin typeface="Calibir"/>
              </a:rPr>
              <a:t>ValueError</a:t>
            </a:r>
            <a:r>
              <a:rPr lang="en-US" sz="2600" dirty="0">
                <a:highlight>
                  <a:srgbClr val="FFFF00"/>
                </a:highlight>
                <a:latin typeface="Calibir"/>
              </a:rPr>
              <a:t>(</a:t>
            </a:r>
          </a:p>
          <a:p>
            <a:pPr>
              <a:lnSpc>
                <a:spcPct val="150000"/>
              </a:lnSpc>
            </a:pPr>
            <a:r>
              <a:rPr lang="en-US" sz="2600" dirty="0">
                <a:highlight>
                  <a:srgbClr val="FFFF00"/>
                </a:highlight>
                <a:latin typeface="Calibir"/>
              </a:rPr>
              <a:t>            "Insufficient funds"</a:t>
            </a:r>
          </a:p>
          <a:p>
            <a:pPr>
              <a:lnSpc>
                <a:spcPct val="150000"/>
              </a:lnSpc>
            </a:pPr>
            <a:r>
              <a:rPr lang="en-US" sz="2600" dirty="0">
                <a:highlight>
                  <a:srgbClr val="FFFF00"/>
                </a:highlight>
                <a:latin typeface="Calibir"/>
              </a:rPr>
              <a:t>        )</a:t>
            </a:r>
          </a:p>
          <a:p>
            <a:pPr>
              <a:lnSpc>
                <a:spcPct val="150000"/>
              </a:lnSpc>
            </a:pPr>
            <a:r>
              <a:rPr lang="en-US" sz="2600" dirty="0">
                <a:highlight>
                  <a:srgbClr val="FFFF00"/>
                </a:highlight>
                <a:latin typeface="Calibir"/>
              </a:rPr>
              <a:t>    </a:t>
            </a:r>
            <a:r>
              <a:rPr lang="en-US" sz="2600" dirty="0" err="1">
                <a:highlight>
                  <a:srgbClr val="FFFF00"/>
                </a:highlight>
                <a:latin typeface="Calibir"/>
              </a:rPr>
              <a:t>self.balance</a:t>
            </a:r>
            <a:r>
              <a:rPr lang="en-US" sz="2600" dirty="0">
                <a:highlight>
                  <a:srgbClr val="FFFF00"/>
                </a:highlight>
                <a:latin typeface="Calibir"/>
              </a:rPr>
              <a:t> -= amount</a:t>
            </a:r>
          </a:p>
        </p:txBody>
      </p:sp>
      <p:sp>
        <p:nvSpPr>
          <p:cNvPr id="4" name="TextBox 3">
            <a:extLst>
              <a:ext uri="{FF2B5EF4-FFF2-40B4-BE49-F238E27FC236}">
                <a16:creationId xmlns:a16="http://schemas.microsoft.com/office/drawing/2014/main" id="{841F1C32-3AFA-79A0-E1B6-16F91066FAD1}"/>
              </a:ext>
            </a:extLst>
          </p:cNvPr>
          <p:cNvSpPr txBox="1"/>
          <p:nvPr/>
        </p:nvSpPr>
        <p:spPr>
          <a:xfrm>
            <a:off x="5970640" y="2755467"/>
            <a:ext cx="6157450" cy="4102533"/>
          </a:xfrm>
          <a:prstGeom prst="rect">
            <a:avLst/>
          </a:prstGeom>
          <a:noFill/>
        </p:spPr>
        <p:txBody>
          <a:bodyPr wrap="square">
            <a:spAutoFit/>
          </a:bodyPr>
          <a:lstStyle/>
          <a:p>
            <a:pPr>
              <a:lnSpc>
                <a:spcPct val="150000"/>
              </a:lnSpc>
            </a:pPr>
            <a:r>
              <a:rPr lang="en-US" sz="2200" b="1" dirty="0">
                <a:latin typeface="Calibir"/>
              </a:rPr>
              <a:t>Explanation</a:t>
            </a:r>
          </a:p>
          <a:p>
            <a:pPr>
              <a:lnSpc>
                <a:spcPct val="150000"/>
              </a:lnSpc>
            </a:pPr>
            <a:r>
              <a:rPr lang="en-US" sz="2200" dirty="0">
                <a:latin typeface="Calibir"/>
              </a:rPr>
              <a:t>If the withdrawal amount is bigger than the current balance:</a:t>
            </a:r>
          </a:p>
          <a:p>
            <a:pPr>
              <a:lnSpc>
                <a:spcPct val="150000"/>
              </a:lnSpc>
            </a:pPr>
            <a:r>
              <a:rPr lang="en-US" sz="2200" dirty="0">
                <a:highlight>
                  <a:srgbClr val="FFFF00"/>
                </a:highlight>
                <a:latin typeface="Calibir"/>
              </a:rPr>
              <a:t>raise </a:t>
            </a:r>
            <a:r>
              <a:rPr lang="en-US" sz="2200" dirty="0" err="1">
                <a:highlight>
                  <a:srgbClr val="FFFF00"/>
                </a:highlight>
                <a:latin typeface="Calibir"/>
              </a:rPr>
              <a:t>ValueError</a:t>
            </a:r>
            <a:r>
              <a:rPr lang="en-US" sz="2200" dirty="0">
                <a:highlight>
                  <a:srgbClr val="FFFF00"/>
                </a:highlight>
                <a:latin typeface="Calibir"/>
              </a:rPr>
              <a:t>(...)</a:t>
            </a:r>
          </a:p>
          <a:p>
            <a:pPr>
              <a:lnSpc>
                <a:spcPct val="150000"/>
              </a:lnSpc>
            </a:pPr>
            <a:r>
              <a:rPr lang="en-US" sz="2200" dirty="0">
                <a:latin typeface="Calibir"/>
              </a:rPr>
              <a:t>creates an exception.</a:t>
            </a:r>
          </a:p>
          <a:p>
            <a:pPr>
              <a:lnSpc>
                <a:spcPct val="150000"/>
              </a:lnSpc>
            </a:pPr>
            <a:r>
              <a:rPr lang="en-US" sz="2200" dirty="0">
                <a:latin typeface="Calibir"/>
              </a:rPr>
              <a:t>Otherwise:</a:t>
            </a:r>
          </a:p>
          <a:p>
            <a:pPr>
              <a:lnSpc>
                <a:spcPct val="150000"/>
              </a:lnSpc>
            </a:pPr>
            <a:r>
              <a:rPr lang="en-US" sz="2200" dirty="0" err="1">
                <a:highlight>
                  <a:srgbClr val="FFFF00"/>
                </a:highlight>
                <a:latin typeface="Calibir"/>
              </a:rPr>
              <a:t>self.balance</a:t>
            </a:r>
            <a:r>
              <a:rPr lang="en-US" sz="2200" dirty="0">
                <a:highlight>
                  <a:srgbClr val="FFFF00"/>
                </a:highlight>
                <a:latin typeface="Calibir"/>
              </a:rPr>
              <a:t> -= amount</a:t>
            </a:r>
          </a:p>
          <a:p>
            <a:pPr>
              <a:lnSpc>
                <a:spcPct val="150000"/>
              </a:lnSpc>
            </a:pPr>
            <a:r>
              <a:rPr lang="en-US" sz="2200" dirty="0">
                <a:latin typeface="Calibir"/>
              </a:rPr>
              <a:t>reduces the balance.</a:t>
            </a:r>
          </a:p>
        </p:txBody>
      </p:sp>
    </p:spTree>
    <p:extLst>
      <p:ext uri="{BB962C8B-B14F-4D97-AF65-F5344CB8AC3E}">
        <p14:creationId xmlns:p14="http://schemas.microsoft.com/office/powerpoint/2010/main" val="10050731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D4A794E-C535-B363-FC78-20EFFDEA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07B13E-175E-0BC3-28B5-7C805BC48BE8}"/>
              </a:ext>
            </a:extLst>
          </p:cNvPr>
          <p:cNvSpPr txBox="1"/>
          <p:nvPr/>
        </p:nvSpPr>
        <p:spPr>
          <a:xfrm>
            <a:off x="0" y="507751"/>
            <a:ext cx="12192000" cy="5842497"/>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void withdraw(double amount) {</a:t>
            </a:r>
          </a:p>
          <a:p>
            <a:pPr>
              <a:lnSpc>
                <a:spcPct val="150000"/>
              </a:lnSpc>
            </a:pPr>
            <a:r>
              <a:rPr lang="en-US" sz="2800" dirty="0">
                <a:highlight>
                  <a:srgbClr val="FFFF00"/>
                </a:highlight>
                <a:latin typeface="Calibir"/>
              </a:rPr>
              <a:t>    if (amount &gt; balance) {</a:t>
            </a:r>
          </a:p>
          <a:p>
            <a:pPr>
              <a:lnSpc>
                <a:spcPct val="150000"/>
              </a:lnSpc>
            </a:pPr>
            <a:r>
              <a:rPr lang="en-US" sz="2800" dirty="0">
                <a:highlight>
                  <a:srgbClr val="FFFF00"/>
                </a:highlight>
                <a:latin typeface="Calibir"/>
              </a:rPr>
              <a:t>        throw new </a:t>
            </a:r>
            <a:r>
              <a:rPr lang="en-US" sz="2800" dirty="0" err="1">
                <a:highlight>
                  <a:srgbClr val="FFFF00"/>
                </a:highlight>
                <a:latin typeface="Calibir"/>
              </a:rPr>
              <a:t>IllegalArgumentException</a:t>
            </a:r>
            <a:r>
              <a:rPr lang="en-US" sz="2800" dirty="0">
                <a:highlight>
                  <a:srgbClr val="FFFF00"/>
                </a:highlight>
                <a:latin typeface="Calibir"/>
              </a:rPr>
              <a:t>(</a:t>
            </a:r>
          </a:p>
          <a:p>
            <a:pPr>
              <a:lnSpc>
                <a:spcPct val="150000"/>
              </a:lnSpc>
            </a:pPr>
            <a:r>
              <a:rPr lang="en-US" sz="2800" dirty="0">
                <a:highlight>
                  <a:srgbClr val="FFFF00"/>
                </a:highlight>
                <a:latin typeface="Calibir"/>
              </a:rPr>
              <a:t>            "Insufficient funds"</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    balance -= amount;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3233472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EDD7085-4AE2-62B7-E077-CA6D1C89BDF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BBF53A1-5C9D-3C2B-2BC7-01FD0A0F1087}"/>
              </a:ext>
            </a:extLst>
          </p:cNvPr>
          <p:cNvSpPr txBox="1"/>
          <p:nvPr/>
        </p:nvSpPr>
        <p:spPr>
          <a:xfrm>
            <a:off x="0" y="507751"/>
            <a:ext cx="12192000" cy="5842497"/>
          </a:xfrm>
          <a:prstGeom prst="rect">
            <a:avLst/>
          </a:prstGeom>
          <a:noFill/>
        </p:spPr>
        <p:txBody>
          <a:bodyPr wrap="square">
            <a:spAutoFit/>
          </a:bodyPr>
          <a:lstStyle/>
          <a:p>
            <a:pPr>
              <a:lnSpc>
                <a:spcPct val="150000"/>
              </a:lnSpc>
            </a:pPr>
            <a:r>
              <a:rPr lang="en-US" sz="2800" b="1" dirty="0">
                <a:latin typeface="Calibir"/>
              </a:rPr>
              <a:t>Step 6 — Write the show() procedure</a:t>
            </a:r>
          </a:p>
          <a:p>
            <a:pPr>
              <a:lnSpc>
                <a:spcPct val="150000"/>
              </a:lnSpc>
            </a:pPr>
            <a:r>
              <a:rPr lang="en-US" sz="2800" dirty="0">
                <a:latin typeface="Calibir"/>
              </a:rPr>
              <a:t>This method displays the current balance.</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def show(self):</a:t>
            </a:r>
          </a:p>
          <a:p>
            <a:pPr>
              <a:lnSpc>
                <a:spcPct val="150000"/>
              </a:lnSpc>
            </a:pPr>
            <a:r>
              <a:rPr lang="en-US" sz="2800" dirty="0">
                <a:highlight>
                  <a:srgbClr val="FFFF00"/>
                </a:highlight>
                <a:latin typeface="Calibir"/>
              </a:rPr>
              <a:t>    print(</a:t>
            </a:r>
          </a:p>
          <a:p>
            <a:pPr>
              <a:lnSpc>
                <a:spcPct val="150000"/>
              </a:lnSpc>
            </a:pPr>
            <a:r>
              <a:rPr lang="en-US" sz="2800" dirty="0">
                <a:highlight>
                  <a:srgbClr val="FFFF00"/>
                </a:highlight>
                <a:latin typeface="Calibir"/>
              </a:rPr>
              <a:t>        </a:t>
            </a:r>
            <a:r>
              <a:rPr lang="en-US" sz="2800" dirty="0" err="1">
                <a:highlight>
                  <a:srgbClr val="FFFF00"/>
                </a:highlight>
                <a:latin typeface="Calibir"/>
              </a:rPr>
              <a:t>f"Starting</a:t>
            </a:r>
            <a:r>
              <a:rPr lang="en-US" sz="2800" dirty="0">
                <a:highlight>
                  <a:srgbClr val="FFFF00"/>
                </a:highlight>
                <a:latin typeface="Calibir"/>
              </a:rPr>
              <a:t> balance: ${self.balance:.2f}"</a:t>
            </a:r>
          </a:p>
          <a:p>
            <a:pPr>
              <a:lnSpc>
                <a:spcPct val="150000"/>
              </a:lnSpc>
            </a:pPr>
            <a:r>
              <a:rPr lang="en-US" sz="2800" dirty="0">
                <a:highlight>
                  <a:srgbClr val="FFFF00"/>
                </a:highlight>
                <a:latin typeface="Calibir"/>
              </a:rPr>
              <a:t>    )</a:t>
            </a:r>
          </a:p>
          <a:p>
            <a:pPr>
              <a:lnSpc>
                <a:spcPct val="150000"/>
              </a:lnSpc>
            </a:pPr>
            <a:r>
              <a:rPr lang="en-US" sz="2800" dirty="0">
                <a:latin typeface="Calibir"/>
              </a:rPr>
              <a:t>.2f means:</a:t>
            </a:r>
          </a:p>
          <a:p>
            <a:pPr>
              <a:lnSpc>
                <a:spcPct val="150000"/>
              </a:lnSpc>
            </a:pPr>
            <a:r>
              <a:rPr lang="en-US" sz="2800" dirty="0">
                <a:latin typeface="Calibir"/>
              </a:rPr>
              <a:t>Display the amount using 2 decimal places.</a:t>
            </a:r>
          </a:p>
        </p:txBody>
      </p:sp>
    </p:spTree>
    <p:extLst>
      <p:ext uri="{BB962C8B-B14F-4D97-AF65-F5344CB8AC3E}">
        <p14:creationId xmlns:p14="http://schemas.microsoft.com/office/powerpoint/2010/main" val="10889591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C8AC6DF-3715-109F-BE0F-B1D9D7B26B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F96E5E-333C-582A-B989-3A36D53B54D1}"/>
              </a:ext>
            </a:extLst>
          </p:cNvPr>
          <p:cNvSpPr txBox="1"/>
          <p:nvPr/>
        </p:nvSpPr>
        <p:spPr>
          <a:xfrm>
            <a:off x="0" y="507751"/>
            <a:ext cx="12192000" cy="4549835"/>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void show() {</a:t>
            </a:r>
          </a:p>
          <a:p>
            <a:pPr>
              <a:lnSpc>
                <a:spcPct val="150000"/>
              </a:lnSpc>
            </a:pPr>
            <a:r>
              <a:rPr lang="en-US" sz="2800" dirty="0">
                <a:highlight>
                  <a:srgbClr val="FFFF00"/>
                </a:highlight>
                <a:latin typeface="Calibir"/>
              </a:rPr>
              <a:t>    </a:t>
            </a:r>
            <a:r>
              <a:rPr lang="en-US" sz="2800" dirty="0" err="1">
                <a:highlight>
                  <a:srgbClr val="FFFF00"/>
                </a:highlight>
                <a:latin typeface="Calibir"/>
              </a:rPr>
              <a:t>System.out.printf</a:t>
            </a:r>
            <a:r>
              <a:rPr lang="en-US" sz="2800" dirty="0">
                <a:highlight>
                  <a:srgbClr val="FFFF00"/>
                </a:highlight>
                <a:latin typeface="Calibir"/>
              </a:rPr>
              <a:t>(</a:t>
            </a:r>
          </a:p>
          <a:p>
            <a:pPr>
              <a:lnSpc>
                <a:spcPct val="150000"/>
              </a:lnSpc>
            </a:pPr>
            <a:r>
              <a:rPr lang="en-US" sz="2800" dirty="0">
                <a:highlight>
                  <a:srgbClr val="FFFF00"/>
                </a:highlight>
                <a:latin typeface="Calibir"/>
              </a:rPr>
              <a:t>        "Starting balance: $%.2f%n",</a:t>
            </a:r>
          </a:p>
          <a:p>
            <a:pPr>
              <a:lnSpc>
                <a:spcPct val="150000"/>
              </a:lnSpc>
            </a:pPr>
            <a:r>
              <a:rPr lang="en-US" sz="2800" dirty="0">
                <a:highlight>
                  <a:srgbClr val="FFFF00"/>
                </a:highlight>
                <a:latin typeface="Calibir"/>
              </a:rPr>
              <a:t>        balance</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8953527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19BDB82-51B0-2AD4-C97E-0E99E7903A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6BB1EDF-71FC-F945-E729-611A3AD91315}"/>
              </a:ext>
            </a:extLst>
          </p:cNvPr>
          <p:cNvSpPr txBox="1"/>
          <p:nvPr/>
        </p:nvSpPr>
        <p:spPr>
          <a:xfrm>
            <a:off x="0" y="412955"/>
            <a:ext cx="5796116" cy="4231415"/>
          </a:xfrm>
          <a:prstGeom prst="rect">
            <a:avLst/>
          </a:prstGeom>
          <a:noFill/>
        </p:spPr>
        <p:txBody>
          <a:bodyPr wrap="square">
            <a:spAutoFit/>
          </a:bodyPr>
          <a:lstStyle/>
          <a:p>
            <a:pPr>
              <a:lnSpc>
                <a:spcPct val="150000"/>
              </a:lnSpc>
            </a:pPr>
            <a:r>
              <a:rPr lang="en-US" sz="2600" b="1" dirty="0">
                <a:latin typeface="Calibir"/>
              </a:rPr>
              <a:t>Step 7 — Create the menu() method</a:t>
            </a:r>
          </a:p>
          <a:p>
            <a:pPr>
              <a:lnSpc>
                <a:spcPct val="150000"/>
              </a:lnSpc>
            </a:pPr>
            <a:r>
              <a:rPr lang="en-US" sz="2600" dirty="0">
                <a:latin typeface="Calibir"/>
              </a:rPr>
              <a:t>The task says menu() should provide:</a:t>
            </a:r>
          </a:p>
          <a:p>
            <a:pPr>
              <a:lnSpc>
                <a:spcPct val="150000"/>
              </a:lnSpc>
            </a:pPr>
            <a:r>
              <a:rPr lang="en-US" sz="2600" dirty="0">
                <a:latin typeface="Calibir"/>
              </a:rPr>
              <a:t>d → deposit</a:t>
            </a:r>
          </a:p>
          <a:p>
            <a:pPr>
              <a:lnSpc>
                <a:spcPct val="150000"/>
              </a:lnSpc>
            </a:pPr>
            <a:r>
              <a:rPr lang="en-US" sz="2600" dirty="0">
                <a:latin typeface="Calibir"/>
              </a:rPr>
              <a:t>w → withdraw</a:t>
            </a:r>
          </a:p>
          <a:p>
            <a:pPr>
              <a:lnSpc>
                <a:spcPct val="150000"/>
              </a:lnSpc>
            </a:pPr>
            <a:r>
              <a:rPr lang="en-US" sz="2600" dirty="0">
                <a:latin typeface="Calibir"/>
              </a:rPr>
              <a:t>s → show balance</a:t>
            </a:r>
          </a:p>
          <a:p>
            <a:pPr>
              <a:lnSpc>
                <a:spcPct val="150000"/>
              </a:lnSpc>
            </a:pPr>
            <a:r>
              <a:rPr lang="en-US" sz="2600" dirty="0">
                <a:latin typeface="Calibir"/>
              </a:rPr>
              <a:t>x → exit</a:t>
            </a:r>
          </a:p>
          <a:p>
            <a:pPr>
              <a:lnSpc>
                <a:spcPct val="150000"/>
              </a:lnSpc>
            </a:pPr>
            <a:r>
              <a:rPr lang="en-US" sz="2600" dirty="0">
                <a:latin typeface="Calibir"/>
              </a:rPr>
              <a:t>and repeat until x is entered.</a:t>
            </a:r>
          </a:p>
        </p:txBody>
      </p:sp>
      <p:sp>
        <p:nvSpPr>
          <p:cNvPr id="4" name="TextBox 3">
            <a:extLst>
              <a:ext uri="{FF2B5EF4-FFF2-40B4-BE49-F238E27FC236}">
                <a16:creationId xmlns:a16="http://schemas.microsoft.com/office/drawing/2014/main" id="{0D3AB005-AC12-6348-D258-53B4641BAD57}"/>
              </a:ext>
            </a:extLst>
          </p:cNvPr>
          <p:cNvSpPr txBox="1"/>
          <p:nvPr/>
        </p:nvSpPr>
        <p:spPr>
          <a:xfrm>
            <a:off x="6095999" y="412955"/>
            <a:ext cx="6061587" cy="6031908"/>
          </a:xfrm>
          <a:prstGeom prst="rect">
            <a:avLst/>
          </a:prstGeom>
          <a:noFill/>
        </p:spPr>
        <p:txBody>
          <a:bodyPr wrap="square">
            <a:spAutoFit/>
          </a:bodyPr>
          <a:lstStyle/>
          <a:p>
            <a:pPr>
              <a:lnSpc>
                <a:spcPct val="150000"/>
              </a:lnSpc>
            </a:pPr>
            <a:r>
              <a:rPr lang="en-US" sz="2600" b="1" dirty="0">
                <a:latin typeface="Calibir"/>
              </a:rPr>
              <a:t>Python — basic menu outline</a:t>
            </a:r>
          </a:p>
          <a:p>
            <a:pPr>
              <a:lnSpc>
                <a:spcPct val="150000"/>
              </a:lnSpc>
            </a:pPr>
            <a:r>
              <a:rPr lang="en-US" sz="2600" dirty="0">
                <a:latin typeface="Calibir"/>
              </a:rPr>
              <a:t>Start with:</a:t>
            </a:r>
          </a:p>
          <a:p>
            <a:pPr>
              <a:lnSpc>
                <a:spcPct val="150000"/>
              </a:lnSpc>
            </a:pPr>
            <a:r>
              <a:rPr lang="en-US" sz="2600" dirty="0">
                <a:highlight>
                  <a:srgbClr val="FFFF00"/>
                </a:highlight>
                <a:latin typeface="Calibir"/>
              </a:rPr>
              <a:t>def menu(self):</a:t>
            </a:r>
          </a:p>
          <a:p>
            <a:pPr>
              <a:lnSpc>
                <a:spcPct val="150000"/>
              </a:lnSpc>
            </a:pPr>
            <a:r>
              <a:rPr lang="en-US" sz="2600" dirty="0">
                <a:highlight>
                  <a:srgbClr val="FFFF00"/>
                </a:highlight>
                <a:latin typeface="Calibir"/>
              </a:rPr>
              <a:t>    while True:</a:t>
            </a:r>
          </a:p>
          <a:p>
            <a:pPr>
              <a:lnSpc>
                <a:spcPct val="150000"/>
              </a:lnSpc>
            </a:pPr>
            <a:r>
              <a:rPr lang="en-US" sz="2600" dirty="0">
                <a:highlight>
                  <a:srgbClr val="FFFF00"/>
                </a:highlight>
                <a:latin typeface="Calibir"/>
              </a:rPr>
              <a:t>        choice = input(</a:t>
            </a:r>
          </a:p>
          <a:p>
            <a:pPr>
              <a:lnSpc>
                <a:spcPct val="150000"/>
              </a:lnSpc>
            </a:pPr>
            <a:r>
              <a:rPr lang="en-US" sz="2600" dirty="0">
                <a:highlight>
                  <a:srgbClr val="FFFF00"/>
                </a:highlight>
                <a:latin typeface="Calibir"/>
              </a:rPr>
              <a:t>            "Continue banking (d/w/s/x): "</a:t>
            </a:r>
          </a:p>
          <a:p>
            <a:pPr>
              <a:lnSpc>
                <a:spcPct val="150000"/>
              </a:lnSpc>
            </a:pPr>
            <a:r>
              <a:rPr lang="en-US" sz="2600" dirty="0">
                <a:highlight>
                  <a:srgbClr val="FFFF00"/>
                </a:highlight>
                <a:latin typeface="Calibir"/>
              </a:rPr>
              <a:t>        ).lower()</a:t>
            </a:r>
          </a:p>
          <a:p>
            <a:pPr>
              <a:lnSpc>
                <a:spcPct val="150000"/>
              </a:lnSpc>
            </a:pPr>
            <a:r>
              <a:rPr lang="en-US" sz="2600" dirty="0">
                <a:highlight>
                  <a:srgbClr val="FFFF00"/>
                </a:highlight>
                <a:latin typeface="Calibir"/>
              </a:rPr>
              <a:t>        if choice == "x":</a:t>
            </a:r>
          </a:p>
          <a:p>
            <a:pPr>
              <a:lnSpc>
                <a:spcPct val="150000"/>
              </a:lnSpc>
            </a:pPr>
            <a:r>
              <a:rPr lang="en-US" sz="2600" dirty="0">
                <a:highlight>
                  <a:srgbClr val="FFFF00"/>
                </a:highlight>
                <a:latin typeface="Calibir"/>
              </a:rPr>
              <a:t>            break</a:t>
            </a:r>
          </a:p>
          <a:p>
            <a:pPr>
              <a:lnSpc>
                <a:spcPct val="150000"/>
              </a:lnSpc>
            </a:pPr>
            <a:r>
              <a:rPr lang="en-US" sz="2600" dirty="0">
                <a:latin typeface="Calibir"/>
              </a:rPr>
              <a:t>This creates the repeating structure first.</a:t>
            </a:r>
          </a:p>
        </p:txBody>
      </p:sp>
    </p:spTree>
    <p:extLst>
      <p:ext uri="{BB962C8B-B14F-4D97-AF65-F5344CB8AC3E}">
        <p14:creationId xmlns:p14="http://schemas.microsoft.com/office/powerpoint/2010/main" val="34884188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8206D47-E57D-390F-E75D-C1301A6F23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C04BD8-3630-8D0B-874F-36B293CCCB59}"/>
              </a:ext>
            </a:extLst>
          </p:cNvPr>
          <p:cNvSpPr txBox="1"/>
          <p:nvPr/>
        </p:nvSpPr>
        <p:spPr>
          <a:xfrm>
            <a:off x="0" y="412955"/>
            <a:ext cx="5796116" cy="5693866"/>
          </a:xfrm>
          <a:prstGeom prst="rect">
            <a:avLst/>
          </a:prstGeom>
          <a:noFill/>
        </p:spPr>
        <p:txBody>
          <a:bodyPr wrap="square">
            <a:spAutoFit/>
          </a:bodyPr>
          <a:lstStyle/>
          <a:p>
            <a:r>
              <a:rPr lang="en-US" sz="2600" b="1" dirty="0">
                <a:latin typeface="Calibir"/>
              </a:rPr>
              <a:t>Java — basic menu outline</a:t>
            </a:r>
          </a:p>
          <a:p>
            <a:r>
              <a:rPr lang="en-US" sz="2600" dirty="0">
                <a:highlight>
                  <a:srgbClr val="FFFF00"/>
                </a:highlight>
                <a:latin typeface="Calibir"/>
              </a:rPr>
              <a:t>public void menu(Scanner input) {</a:t>
            </a:r>
          </a:p>
          <a:p>
            <a:r>
              <a:rPr lang="en-US" sz="2600" dirty="0">
                <a:highlight>
                  <a:srgbClr val="FFFF00"/>
                </a:highlight>
                <a:latin typeface="Calibir"/>
              </a:rPr>
              <a:t>    while (true) {</a:t>
            </a:r>
          </a:p>
          <a:p>
            <a:r>
              <a:rPr lang="en-US" sz="2600" dirty="0">
                <a:highlight>
                  <a:srgbClr val="FFFF00"/>
                </a:highlight>
                <a:latin typeface="Calibir"/>
              </a:rPr>
              <a:t>        </a:t>
            </a:r>
            <a:r>
              <a:rPr lang="en-US" sz="2600" dirty="0" err="1">
                <a:highlight>
                  <a:srgbClr val="FFFF00"/>
                </a:highlight>
                <a:latin typeface="Calibir"/>
              </a:rPr>
              <a:t>System.out.print</a:t>
            </a:r>
            <a:r>
              <a:rPr lang="en-US" sz="2600" dirty="0">
                <a:highlight>
                  <a:srgbClr val="FFFF00"/>
                </a:highlight>
                <a:latin typeface="Calibir"/>
              </a:rPr>
              <a:t>(</a:t>
            </a:r>
          </a:p>
          <a:p>
            <a:r>
              <a:rPr lang="en-US" sz="2600" dirty="0">
                <a:highlight>
                  <a:srgbClr val="FFFF00"/>
                </a:highlight>
                <a:latin typeface="Calibir"/>
              </a:rPr>
              <a:t>            "Continue banking (d/w/s/x): "</a:t>
            </a:r>
          </a:p>
          <a:p>
            <a:r>
              <a:rPr lang="en-US" sz="2600" dirty="0">
                <a:highlight>
                  <a:srgbClr val="FFFF00"/>
                </a:highlight>
                <a:latin typeface="Calibir"/>
              </a:rPr>
              <a:t>        );</a:t>
            </a:r>
          </a:p>
          <a:p>
            <a:endParaRPr lang="en-US" sz="2600" dirty="0">
              <a:highlight>
                <a:srgbClr val="FFFF00"/>
              </a:highlight>
              <a:latin typeface="Calibir"/>
            </a:endParaRPr>
          </a:p>
          <a:p>
            <a:r>
              <a:rPr lang="en-US" sz="2600" dirty="0">
                <a:highlight>
                  <a:srgbClr val="FFFF00"/>
                </a:highlight>
                <a:latin typeface="Calibir"/>
              </a:rPr>
              <a:t>        String choice =</a:t>
            </a:r>
          </a:p>
          <a:p>
            <a:r>
              <a:rPr lang="en-US" sz="2600" dirty="0">
                <a:highlight>
                  <a:srgbClr val="FFFF00"/>
                </a:highlight>
                <a:latin typeface="Calibir"/>
              </a:rPr>
              <a:t>            </a:t>
            </a:r>
            <a:r>
              <a:rPr lang="en-US" sz="2600" dirty="0" err="1">
                <a:highlight>
                  <a:srgbClr val="FFFF00"/>
                </a:highlight>
                <a:latin typeface="Calibir"/>
              </a:rPr>
              <a:t>input.nextLine</a:t>
            </a:r>
            <a:r>
              <a:rPr lang="en-US" sz="2600" dirty="0">
                <a:highlight>
                  <a:srgbClr val="FFFF00"/>
                </a:highlight>
                <a:latin typeface="Calibir"/>
              </a:rPr>
              <a:t>().</a:t>
            </a:r>
            <a:r>
              <a:rPr lang="en-US" sz="2600" dirty="0" err="1">
                <a:highlight>
                  <a:srgbClr val="FFFF00"/>
                </a:highlight>
                <a:latin typeface="Calibir"/>
              </a:rPr>
              <a:t>toLowerCase</a:t>
            </a:r>
            <a:r>
              <a:rPr lang="en-US" sz="2600" dirty="0">
                <a:highlight>
                  <a:srgbClr val="FFFF00"/>
                </a:highlight>
                <a:latin typeface="Calibir"/>
              </a:rPr>
              <a:t>();</a:t>
            </a:r>
          </a:p>
          <a:p>
            <a:r>
              <a:rPr lang="en-US" sz="2600" dirty="0">
                <a:highlight>
                  <a:srgbClr val="FFFF00"/>
                </a:highlight>
                <a:latin typeface="Calibir"/>
              </a:rPr>
              <a:t>        if (</a:t>
            </a:r>
            <a:r>
              <a:rPr lang="en-US" sz="2600" dirty="0" err="1">
                <a:highlight>
                  <a:srgbClr val="FFFF00"/>
                </a:highlight>
                <a:latin typeface="Calibir"/>
              </a:rPr>
              <a:t>choice.equals</a:t>
            </a:r>
            <a:r>
              <a:rPr lang="en-US" sz="2600" dirty="0">
                <a:highlight>
                  <a:srgbClr val="FFFF00"/>
                </a:highlight>
                <a:latin typeface="Calibir"/>
              </a:rPr>
              <a:t>("x")) {</a:t>
            </a:r>
          </a:p>
          <a:p>
            <a:r>
              <a:rPr lang="en-US" sz="2600" dirty="0">
                <a:highlight>
                  <a:srgbClr val="FFFF00"/>
                </a:highlight>
                <a:latin typeface="Calibir"/>
              </a:rPr>
              <a:t>            break;</a:t>
            </a:r>
          </a:p>
          <a:p>
            <a:r>
              <a:rPr lang="en-US" sz="2600" dirty="0">
                <a:highlight>
                  <a:srgbClr val="FFFF00"/>
                </a:highlight>
                <a:latin typeface="Calibir"/>
              </a:rPr>
              <a:t>        }</a:t>
            </a:r>
          </a:p>
          <a:p>
            <a:r>
              <a:rPr lang="en-US" sz="2600" dirty="0">
                <a:highlight>
                  <a:srgbClr val="FFFF00"/>
                </a:highlight>
                <a:latin typeface="Calibir"/>
              </a:rPr>
              <a:t>    }</a:t>
            </a:r>
          </a:p>
          <a:p>
            <a:r>
              <a:rPr lang="en-US" sz="2600" dirty="0">
                <a:highlight>
                  <a:srgbClr val="FFFF00"/>
                </a:highlight>
                <a:latin typeface="Calibir"/>
              </a:rPr>
              <a:t>}</a:t>
            </a:r>
          </a:p>
        </p:txBody>
      </p:sp>
    </p:spTree>
    <p:extLst>
      <p:ext uri="{BB962C8B-B14F-4D97-AF65-F5344CB8AC3E}">
        <p14:creationId xmlns:p14="http://schemas.microsoft.com/office/powerpoint/2010/main" val="4056108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BBCD0B6-84C0-C752-3334-1C68633B56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D54D22-AFB0-58EB-554F-08F2C3B7B23A}"/>
              </a:ext>
            </a:extLst>
          </p:cNvPr>
          <p:cNvSpPr txBox="1"/>
          <p:nvPr/>
        </p:nvSpPr>
        <p:spPr>
          <a:xfrm>
            <a:off x="0" y="412955"/>
            <a:ext cx="5796116" cy="6031908"/>
          </a:xfrm>
          <a:prstGeom prst="rect">
            <a:avLst/>
          </a:prstGeom>
          <a:noFill/>
        </p:spPr>
        <p:txBody>
          <a:bodyPr wrap="square">
            <a:spAutoFit/>
          </a:bodyPr>
          <a:lstStyle/>
          <a:p>
            <a:pPr>
              <a:lnSpc>
                <a:spcPct val="150000"/>
              </a:lnSpc>
            </a:pPr>
            <a:r>
              <a:rPr lang="en-US" sz="2600" b="1" dirty="0">
                <a:latin typeface="Calibir"/>
              </a:rPr>
              <a:t>Step 8 — Add deposit to menu()</a:t>
            </a:r>
          </a:p>
          <a:p>
            <a:pPr>
              <a:lnSpc>
                <a:spcPct val="150000"/>
              </a:lnSpc>
            </a:pPr>
            <a:r>
              <a:rPr lang="en-US" sz="2600" b="1" dirty="0">
                <a:latin typeface="Calibir"/>
              </a:rPr>
              <a:t>Python</a:t>
            </a:r>
          </a:p>
          <a:p>
            <a:pPr>
              <a:lnSpc>
                <a:spcPct val="150000"/>
              </a:lnSpc>
            </a:pPr>
            <a:r>
              <a:rPr lang="en-US" sz="2600" dirty="0">
                <a:highlight>
                  <a:srgbClr val="FFFF00"/>
                </a:highlight>
                <a:latin typeface="Calibir"/>
              </a:rPr>
              <a:t>if choice == "d":</a:t>
            </a:r>
          </a:p>
          <a:p>
            <a:pPr>
              <a:lnSpc>
                <a:spcPct val="150000"/>
              </a:lnSpc>
            </a:pPr>
            <a:r>
              <a:rPr lang="en-US" sz="2600" dirty="0">
                <a:highlight>
                  <a:srgbClr val="FFFF00"/>
                </a:highlight>
                <a:latin typeface="Calibir"/>
              </a:rPr>
              <a:t>    amount = float(</a:t>
            </a:r>
          </a:p>
          <a:p>
            <a:pPr>
              <a:lnSpc>
                <a:spcPct val="150000"/>
              </a:lnSpc>
            </a:pPr>
            <a:r>
              <a:rPr lang="en-US" sz="2600" dirty="0">
                <a:highlight>
                  <a:srgbClr val="FFFF00"/>
                </a:highlight>
                <a:latin typeface="Calibir"/>
              </a:rPr>
              <a:t>        input("Amount to deposit: $")</a:t>
            </a:r>
          </a:p>
          <a:p>
            <a:pPr>
              <a:lnSpc>
                <a:spcPct val="150000"/>
              </a:lnSpc>
            </a:pPr>
            <a:r>
              <a:rPr lang="en-US" sz="2600" dirty="0">
                <a:highlight>
                  <a:srgbClr val="FFFF00"/>
                </a:highlight>
                <a:latin typeface="Calibir"/>
              </a:rPr>
              <a:t>    )</a:t>
            </a:r>
          </a:p>
          <a:p>
            <a:pPr>
              <a:lnSpc>
                <a:spcPct val="150000"/>
              </a:lnSpc>
            </a:pPr>
            <a:r>
              <a:rPr lang="en-US" sz="2600" dirty="0">
                <a:highlight>
                  <a:srgbClr val="FFFF00"/>
                </a:highlight>
                <a:latin typeface="Calibir"/>
              </a:rPr>
              <a:t>    </a:t>
            </a:r>
            <a:r>
              <a:rPr lang="en-US" sz="2600" dirty="0" err="1">
                <a:highlight>
                  <a:srgbClr val="FFFF00"/>
                </a:highlight>
                <a:latin typeface="Calibir"/>
              </a:rPr>
              <a:t>self.deposit</a:t>
            </a:r>
            <a:r>
              <a:rPr lang="en-US" sz="2600" dirty="0">
                <a:highlight>
                  <a:srgbClr val="FFFF00"/>
                </a:highlight>
                <a:latin typeface="Calibir"/>
              </a:rPr>
              <a:t>(amount)</a:t>
            </a:r>
          </a:p>
          <a:p>
            <a:pPr>
              <a:lnSpc>
                <a:spcPct val="150000"/>
              </a:lnSpc>
            </a:pPr>
            <a:r>
              <a:rPr lang="en-US" sz="2600" dirty="0">
                <a:highlight>
                  <a:srgbClr val="FFFF00"/>
                </a:highlight>
                <a:latin typeface="Calibir"/>
              </a:rPr>
              <a:t>    print(</a:t>
            </a:r>
          </a:p>
          <a:p>
            <a:pPr>
              <a:lnSpc>
                <a:spcPct val="150000"/>
              </a:lnSpc>
            </a:pPr>
            <a:r>
              <a:rPr lang="en-US" sz="2600" dirty="0">
                <a:highlight>
                  <a:srgbClr val="FFFF00"/>
                </a:highlight>
                <a:latin typeface="Calibir"/>
              </a:rPr>
              <a:t>        </a:t>
            </a:r>
            <a:r>
              <a:rPr lang="en-US" sz="2600" dirty="0" err="1">
                <a:highlight>
                  <a:srgbClr val="FFFF00"/>
                </a:highlight>
                <a:latin typeface="Calibir"/>
              </a:rPr>
              <a:t>f"Amount</a:t>
            </a:r>
            <a:r>
              <a:rPr lang="en-US" sz="2600" dirty="0">
                <a:highlight>
                  <a:srgbClr val="FFFF00"/>
                </a:highlight>
                <a:latin typeface="Calibir"/>
              </a:rPr>
              <a:t> deposited: ${amount:.2f}"</a:t>
            </a:r>
          </a:p>
          <a:p>
            <a:pPr>
              <a:lnSpc>
                <a:spcPct val="150000"/>
              </a:lnSpc>
            </a:pPr>
            <a:r>
              <a:rPr lang="en-US" sz="2600" dirty="0">
                <a:highlight>
                  <a:srgbClr val="FFFF00"/>
                </a:highlight>
                <a:latin typeface="Calibir"/>
              </a:rPr>
              <a:t>    )</a:t>
            </a:r>
          </a:p>
        </p:txBody>
      </p:sp>
      <p:sp>
        <p:nvSpPr>
          <p:cNvPr id="4" name="TextBox 3">
            <a:extLst>
              <a:ext uri="{FF2B5EF4-FFF2-40B4-BE49-F238E27FC236}">
                <a16:creationId xmlns:a16="http://schemas.microsoft.com/office/drawing/2014/main" id="{6D9EF3FA-7661-1A1C-4906-536E669AA58D}"/>
              </a:ext>
            </a:extLst>
          </p:cNvPr>
          <p:cNvSpPr txBox="1"/>
          <p:nvPr/>
        </p:nvSpPr>
        <p:spPr>
          <a:xfrm>
            <a:off x="5796116" y="1313201"/>
            <a:ext cx="6157450" cy="4231415"/>
          </a:xfrm>
          <a:prstGeom prst="rect">
            <a:avLst/>
          </a:prstGeom>
          <a:noFill/>
        </p:spPr>
        <p:txBody>
          <a:bodyPr wrap="square">
            <a:spAutoFit/>
          </a:bodyPr>
          <a:lstStyle/>
          <a:p>
            <a:pPr>
              <a:lnSpc>
                <a:spcPct val="150000"/>
              </a:lnSpc>
            </a:pPr>
            <a:r>
              <a:rPr lang="en-US" sz="2600" b="1" dirty="0">
                <a:latin typeface="Calibir"/>
              </a:rPr>
              <a:t>Important point</a:t>
            </a:r>
          </a:p>
          <a:p>
            <a:pPr>
              <a:lnSpc>
                <a:spcPct val="150000"/>
              </a:lnSpc>
            </a:pPr>
            <a:r>
              <a:rPr lang="en-US" sz="2600" dirty="0">
                <a:latin typeface="Calibir"/>
              </a:rPr>
              <a:t>Notice that menu() does not calculate the deposit itself.</a:t>
            </a:r>
          </a:p>
          <a:p>
            <a:pPr>
              <a:lnSpc>
                <a:spcPct val="150000"/>
              </a:lnSpc>
            </a:pPr>
            <a:r>
              <a:rPr lang="en-US" sz="2600" dirty="0">
                <a:latin typeface="Calibir"/>
              </a:rPr>
              <a:t>It calls:</a:t>
            </a:r>
          </a:p>
          <a:p>
            <a:pPr>
              <a:lnSpc>
                <a:spcPct val="150000"/>
              </a:lnSpc>
            </a:pPr>
            <a:r>
              <a:rPr lang="en-US" sz="2600" dirty="0" err="1">
                <a:highlight>
                  <a:srgbClr val="FFFF00"/>
                </a:highlight>
                <a:latin typeface="Calibir"/>
              </a:rPr>
              <a:t>self.deposit</a:t>
            </a:r>
            <a:r>
              <a:rPr lang="en-US" sz="2600" dirty="0">
                <a:highlight>
                  <a:srgbClr val="FFFF00"/>
                </a:highlight>
                <a:latin typeface="Calibir"/>
              </a:rPr>
              <a:t>(amount)</a:t>
            </a:r>
          </a:p>
          <a:p>
            <a:pPr>
              <a:lnSpc>
                <a:spcPct val="150000"/>
              </a:lnSpc>
            </a:pPr>
            <a:r>
              <a:rPr lang="en-US" sz="2600" dirty="0">
                <a:latin typeface="Calibir"/>
              </a:rPr>
              <a:t>That is the purpose of methods: divide responsibilities.</a:t>
            </a:r>
          </a:p>
        </p:txBody>
      </p:sp>
    </p:spTree>
    <p:extLst>
      <p:ext uri="{BB962C8B-B14F-4D97-AF65-F5344CB8AC3E}">
        <p14:creationId xmlns:p14="http://schemas.microsoft.com/office/powerpoint/2010/main" val="12484556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CF9C9E1-6F31-7D32-6830-95797D63C9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E0F049-30B7-8BDB-A96B-6DF6522C0363}"/>
              </a:ext>
            </a:extLst>
          </p:cNvPr>
          <p:cNvSpPr txBox="1"/>
          <p:nvPr/>
        </p:nvSpPr>
        <p:spPr>
          <a:xfrm>
            <a:off x="0" y="412955"/>
            <a:ext cx="4689987" cy="6524863"/>
          </a:xfrm>
          <a:prstGeom prst="rect">
            <a:avLst/>
          </a:prstGeom>
          <a:noFill/>
        </p:spPr>
        <p:txBody>
          <a:bodyPr wrap="square">
            <a:spAutoFit/>
          </a:bodyPr>
          <a:lstStyle/>
          <a:p>
            <a:r>
              <a:rPr lang="en-US" sz="2200" b="1" dirty="0">
                <a:latin typeface="Calibir"/>
              </a:rPr>
              <a:t>Java</a:t>
            </a:r>
          </a:p>
          <a:p>
            <a:r>
              <a:rPr lang="en-US" sz="2200" dirty="0">
                <a:highlight>
                  <a:srgbClr val="FFFF00"/>
                </a:highlight>
                <a:latin typeface="Calibir"/>
              </a:rPr>
              <a:t>case "d":</a:t>
            </a:r>
          </a:p>
          <a:p>
            <a:r>
              <a:rPr lang="en-US" sz="2200" dirty="0">
                <a:highlight>
                  <a:srgbClr val="FFFF00"/>
                </a:highlight>
                <a:latin typeface="Calibir"/>
              </a:rPr>
              <a:t>    </a:t>
            </a:r>
            <a:r>
              <a:rPr lang="en-US" sz="2200" dirty="0" err="1">
                <a:highlight>
                  <a:srgbClr val="FFFF00"/>
                </a:highlight>
                <a:latin typeface="Calibir"/>
              </a:rPr>
              <a:t>System.out.print</a:t>
            </a:r>
            <a:r>
              <a:rPr lang="en-US" sz="2200" dirty="0">
                <a:highlight>
                  <a:srgbClr val="FFFF00"/>
                </a:highlight>
                <a:latin typeface="Calibir"/>
              </a:rPr>
              <a:t>(</a:t>
            </a:r>
          </a:p>
          <a:p>
            <a:r>
              <a:rPr lang="en-US" sz="2200" dirty="0">
                <a:highlight>
                  <a:srgbClr val="FFFF00"/>
                </a:highlight>
                <a:latin typeface="Calibir"/>
              </a:rPr>
              <a:t>        "Amount to deposit: $"</a:t>
            </a:r>
          </a:p>
          <a:p>
            <a:r>
              <a:rPr lang="en-US" sz="2200" dirty="0">
                <a:highlight>
                  <a:srgbClr val="FFFF00"/>
                </a:highlight>
                <a:latin typeface="Calibir"/>
              </a:rPr>
              <a:t>    );</a:t>
            </a:r>
          </a:p>
          <a:p>
            <a:endParaRPr lang="en-US" sz="2200" dirty="0">
              <a:highlight>
                <a:srgbClr val="FFFF00"/>
              </a:highlight>
              <a:latin typeface="Calibir"/>
            </a:endParaRPr>
          </a:p>
          <a:p>
            <a:r>
              <a:rPr lang="en-US" sz="2200" dirty="0">
                <a:highlight>
                  <a:srgbClr val="FFFF00"/>
                </a:highlight>
                <a:latin typeface="Calibir"/>
              </a:rPr>
              <a:t>    double </a:t>
            </a:r>
            <a:r>
              <a:rPr lang="en-US" sz="2200" dirty="0" err="1">
                <a:highlight>
                  <a:srgbClr val="FFFF00"/>
                </a:highlight>
                <a:latin typeface="Calibir"/>
              </a:rPr>
              <a:t>depositAmount</a:t>
            </a:r>
            <a:r>
              <a:rPr lang="en-US" sz="2200" dirty="0">
                <a:highlight>
                  <a:srgbClr val="FFFF00"/>
                </a:highlight>
                <a:latin typeface="Calibir"/>
              </a:rPr>
              <a:t> =</a:t>
            </a:r>
          </a:p>
          <a:p>
            <a:r>
              <a:rPr lang="en-US" sz="2200" dirty="0">
                <a:highlight>
                  <a:srgbClr val="FFFF00"/>
                </a:highlight>
                <a:latin typeface="Calibir"/>
              </a:rPr>
              <a:t>        </a:t>
            </a:r>
            <a:r>
              <a:rPr lang="en-US" sz="2200" dirty="0" err="1">
                <a:highlight>
                  <a:srgbClr val="FFFF00"/>
                </a:highlight>
                <a:latin typeface="Calibir"/>
              </a:rPr>
              <a:t>input.nextDouble</a:t>
            </a:r>
            <a:r>
              <a:rPr lang="en-US" sz="2200" dirty="0">
                <a:highlight>
                  <a:srgbClr val="FFFF00"/>
                </a:highlight>
                <a:latin typeface="Calibir"/>
              </a:rPr>
              <a:t>();</a:t>
            </a:r>
          </a:p>
          <a:p>
            <a:endParaRPr lang="en-US" sz="2200" dirty="0">
              <a:highlight>
                <a:srgbClr val="FFFF00"/>
              </a:highlight>
              <a:latin typeface="Calibir"/>
            </a:endParaRPr>
          </a:p>
          <a:p>
            <a:r>
              <a:rPr lang="en-US" sz="2200" dirty="0">
                <a:highlight>
                  <a:srgbClr val="FFFF00"/>
                </a:highlight>
                <a:latin typeface="Calibir"/>
              </a:rPr>
              <a:t>    </a:t>
            </a:r>
            <a:r>
              <a:rPr lang="en-US" sz="2200" dirty="0" err="1">
                <a:highlight>
                  <a:srgbClr val="FFFF00"/>
                </a:highlight>
                <a:latin typeface="Calibir"/>
              </a:rPr>
              <a:t>input.nextLine</a:t>
            </a:r>
            <a:r>
              <a:rPr lang="en-US" sz="2200" dirty="0">
                <a:highlight>
                  <a:srgbClr val="FFFF00"/>
                </a:highlight>
                <a:latin typeface="Calibir"/>
              </a:rPr>
              <a:t>();</a:t>
            </a:r>
          </a:p>
          <a:p>
            <a:endParaRPr lang="en-US" sz="2200" dirty="0">
              <a:highlight>
                <a:srgbClr val="FFFF00"/>
              </a:highlight>
              <a:latin typeface="Calibir"/>
            </a:endParaRPr>
          </a:p>
          <a:p>
            <a:r>
              <a:rPr lang="en-US" sz="2200" dirty="0">
                <a:highlight>
                  <a:srgbClr val="FFFF00"/>
                </a:highlight>
                <a:latin typeface="Calibir"/>
              </a:rPr>
              <a:t>    deposit(</a:t>
            </a:r>
            <a:r>
              <a:rPr lang="en-US" sz="2200" dirty="0" err="1">
                <a:highlight>
                  <a:srgbClr val="FFFF00"/>
                </a:highlight>
                <a:latin typeface="Calibir"/>
              </a:rPr>
              <a:t>depositAmount</a:t>
            </a:r>
            <a:r>
              <a:rPr lang="en-US" sz="2200" dirty="0">
                <a:highlight>
                  <a:srgbClr val="FFFF00"/>
                </a:highlight>
                <a:latin typeface="Calibir"/>
              </a:rPr>
              <a:t>);</a:t>
            </a:r>
          </a:p>
          <a:p>
            <a:endParaRPr lang="en-US" sz="2200" dirty="0">
              <a:highlight>
                <a:srgbClr val="FFFF00"/>
              </a:highlight>
              <a:latin typeface="Calibir"/>
            </a:endParaRPr>
          </a:p>
          <a:p>
            <a:r>
              <a:rPr lang="en-US" sz="2200" dirty="0">
                <a:highlight>
                  <a:srgbClr val="FFFF00"/>
                </a:highlight>
                <a:latin typeface="Calibir"/>
              </a:rPr>
              <a:t>    </a:t>
            </a:r>
            <a:r>
              <a:rPr lang="en-US" sz="2200" dirty="0" err="1">
                <a:highlight>
                  <a:srgbClr val="FFFF00"/>
                </a:highlight>
                <a:latin typeface="Calibir"/>
              </a:rPr>
              <a:t>System.out.printf</a:t>
            </a:r>
            <a:r>
              <a:rPr lang="en-US" sz="2200" dirty="0">
                <a:highlight>
                  <a:srgbClr val="FFFF00"/>
                </a:highlight>
                <a:latin typeface="Calibir"/>
              </a:rPr>
              <a:t>(</a:t>
            </a:r>
          </a:p>
          <a:p>
            <a:r>
              <a:rPr lang="en-US" sz="2200" dirty="0">
                <a:highlight>
                  <a:srgbClr val="FFFF00"/>
                </a:highlight>
                <a:latin typeface="Calibir"/>
              </a:rPr>
              <a:t>        "Amount deposited: $%.2f%n",</a:t>
            </a:r>
          </a:p>
          <a:p>
            <a:r>
              <a:rPr lang="en-US" sz="2200" dirty="0">
                <a:highlight>
                  <a:srgbClr val="FFFF00"/>
                </a:highlight>
                <a:latin typeface="Calibir"/>
              </a:rPr>
              <a:t>        </a:t>
            </a:r>
            <a:r>
              <a:rPr lang="en-US" sz="2200" dirty="0" err="1">
                <a:highlight>
                  <a:srgbClr val="FFFF00"/>
                </a:highlight>
                <a:latin typeface="Calibir"/>
              </a:rPr>
              <a:t>depositAmount</a:t>
            </a:r>
            <a:endParaRPr lang="en-US" sz="2200" dirty="0">
              <a:highlight>
                <a:srgbClr val="FFFF00"/>
              </a:highlight>
              <a:latin typeface="Calibir"/>
            </a:endParaRPr>
          </a:p>
          <a:p>
            <a:r>
              <a:rPr lang="en-US" sz="2200" dirty="0">
                <a:highlight>
                  <a:srgbClr val="FFFF00"/>
                </a:highlight>
                <a:latin typeface="Calibir"/>
              </a:rPr>
              <a:t>    );</a:t>
            </a:r>
          </a:p>
          <a:p>
            <a:endParaRPr lang="en-US" sz="2200" dirty="0">
              <a:highlight>
                <a:srgbClr val="FFFF00"/>
              </a:highlight>
              <a:latin typeface="Calibir"/>
            </a:endParaRPr>
          </a:p>
          <a:p>
            <a:r>
              <a:rPr lang="en-US" sz="2200" dirty="0">
                <a:highlight>
                  <a:srgbClr val="FFFF00"/>
                </a:highlight>
                <a:latin typeface="Calibir"/>
              </a:rPr>
              <a:t>    break;</a:t>
            </a:r>
          </a:p>
        </p:txBody>
      </p:sp>
    </p:spTree>
    <p:extLst>
      <p:ext uri="{BB962C8B-B14F-4D97-AF65-F5344CB8AC3E}">
        <p14:creationId xmlns:p14="http://schemas.microsoft.com/office/powerpoint/2010/main" val="1757212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6DF2891-0B04-434E-44A3-C38001B897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D745F8-ABD1-16E7-8B85-D667B7CCFA09}"/>
              </a:ext>
            </a:extLst>
          </p:cNvPr>
          <p:cNvSpPr txBox="1"/>
          <p:nvPr/>
        </p:nvSpPr>
        <p:spPr>
          <a:xfrm>
            <a:off x="0" y="216310"/>
            <a:ext cx="5796116" cy="6641690"/>
          </a:xfrm>
          <a:prstGeom prst="rect">
            <a:avLst/>
          </a:prstGeom>
          <a:noFill/>
        </p:spPr>
        <p:txBody>
          <a:bodyPr wrap="square">
            <a:spAutoFit/>
          </a:bodyPr>
          <a:lstStyle/>
          <a:p>
            <a:pPr>
              <a:lnSpc>
                <a:spcPct val="150000"/>
              </a:lnSpc>
            </a:pPr>
            <a:r>
              <a:rPr lang="en-US" sz="2200" b="1" dirty="0">
                <a:latin typeface="Calibir"/>
              </a:rPr>
              <a:t>Step 9 — Add withdrawal to menu()</a:t>
            </a:r>
          </a:p>
          <a:p>
            <a:pPr>
              <a:lnSpc>
                <a:spcPct val="150000"/>
              </a:lnSpc>
            </a:pPr>
            <a:r>
              <a:rPr lang="en-US" sz="2200" b="1" dirty="0">
                <a:latin typeface="Calibir"/>
              </a:rPr>
              <a:t>Python</a:t>
            </a:r>
          </a:p>
          <a:p>
            <a:pPr>
              <a:lnSpc>
                <a:spcPct val="150000"/>
              </a:lnSpc>
            </a:pPr>
            <a:r>
              <a:rPr lang="en-US" sz="2200" dirty="0" err="1">
                <a:highlight>
                  <a:srgbClr val="FFFF00"/>
                </a:highlight>
                <a:latin typeface="Calibir"/>
              </a:rPr>
              <a:t>elif</a:t>
            </a:r>
            <a:r>
              <a:rPr lang="en-US" sz="2200" dirty="0">
                <a:highlight>
                  <a:srgbClr val="FFFF00"/>
                </a:highlight>
                <a:latin typeface="Calibir"/>
              </a:rPr>
              <a:t> choice == "w":</a:t>
            </a:r>
          </a:p>
          <a:p>
            <a:pPr>
              <a:lnSpc>
                <a:spcPct val="150000"/>
              </a:lnSpc>
            </a:pPr>
            <a:r>
              <a:rPr lang="en-US" sz="2200" dirty="0">
                <a:highlight>
                  <a:srgbClr val="FFFF00"/>
                </a:highlight>
                <a:latin typeface="Calibir"/>
              </a:rPr>
              <a:t>    amount = float(</a:t>
            </a:r>
          </a:p>
          <a:p>
            <a:pPr>
              <a:lnSpc>
                <a:spcPct val="150000"/>
              </a:lnSpc>
            </a:pPr>
            <a:r>
              <a:rPr lang="en-US" sz="2200" dirty="0">
                <a:highlight>
                  <a:srgbClr val="FFFF00"/>
                </a:highlight>
                <a:latin typeface="Calibir"/>
              </a:rPr>
              <a:t>        input("Amount to withdraw: $")</a:t>
            </a:r>
          </a:p>
          <a:p>
            <a:pPr>
              <a:lnSpc>
                <a:spcPct val="150000"/>
              </a:lnSpc>
            </a:pPr>
            <a:r>
              <a:rPr lang="en-US" sz="2200" dirty="0">
                <a:highlight>
                  <a:srgbClr val="FFFF00"/>
                </a:highlight>
                <a:latin typeface="Calibir"/>
              </a:rPr>
              <a:t>    )</a:t>
            </a:r>
          </a:p>
          <a:p>
            <a:pPr>
              <a:lnSpc>
                <a:spcPct val="150000"/>
              </a:lnSpc>
            </a:pPr>
            <a:r>
              <a:rPr lang="en-US" sz="2200" dirty="0">
                <a:highlight>
                  <a:srgbClr val="FFFF00"/>
                </a:highlight>
                <a:latin typeface="Calibir"/>
              </a:rPr>
              <a:t>    try:</a:t>
            </a:r>
          </a:p>
          <a:p>
            <a:pPr>
              <a:lnSpc>
                <a:spcPct val="150000"/>
              </a:lnSpc>
            </a:pPr>
            <a:r>
              <a:rPr lang="en-US" sz="2200" dirty="0">
                <a:highlight>
                  <a:srgbClr val="FFFF00"/>
                </a:highlight>
                <a:latin typeface="Calibir"/>
              </a:rPr>
              <a:t>        </a:t>
            </a:r>
            <a:r>
              <a:rPr lang="en-US" sz="2200" dirty="0" err="1">
                <a:highlight>
                  <a:srgbClr val="FFFF00"/>
                </a:highlight>
                <a:latin typeface="Calibir"/>
              </a:rPr>
              <a:t>self.withdraw</a:t>
            </a:r>
            <a:r>
              <a:rPr lang="en-US" sz="2200" dirty="0">
                <a:highlight>
                  <a:srgbClr val="FFFF00"/>
                </a:highlight>
                <a:latin typeface="Calibir"/>
              </a:rPr>
              <a:t>(amount)</a:t>
            </a:r>
          </a:p>
          <a:p>
            <a:pPr>
              <a:lnSpc>
                <a:spcPct val="150000"/>
              </a:lnSpc>
            </a:pPr>
            <a:r>
              <a:rPr lang="en-US" sz="2200" dirty="0">
                <a:highlight>
                  <a:srgbClr val="FFFF00"/>
                </a:highlight>
                <a:latin typeface="Calibir"/>
              </a:rPr>
              <a:t>        print(</a:t>
            </a:r>
          </a:p>
          <a:p>
            <a:pPr>
              <a:lnSpc>
                <a:spcPct val="150000"/>
              </a:lnSpc>
            </a:pPr>
            <a:r>
              <a:rPr lang="en-US" sz="2200" dirty="0">
                <a:highlight>
                  <a:srgbClr val="FFFF00"/>
                </a:highlight>
                <a:latin typeface="Calibir"/>
              </a:rPr>
              <a:t>            </a:t>
            </a:r>
            <a:r>
              <a:rPr lang="en-US" sz="2200" dirty="0" err="1">
                <a:highlight>
                  <a:srgbClr val="FFFF00"/>
                </a:highlight>
                <a:latin typeface="Calibir"/>
              </a:rPr>
              <a:t>f"Amount</a:t>
            </a:r>
            <a:r>
              <a:rPr lang="en-US" sz="2200" dirty="0">
                <a:highlight>
                  <a:srgbClr val="FFFF00"/>
                </a:highlight>
                <a:latin typeface="Calibir"/>
              </a:rPr>
              <a:t> withdrawn: ${amount:.2f}"</a:t>
            </a:r>
          </a:p>
          <a:p>
            <a:pPr>
              <a:lnSpc>
                <a:spcPct val="150000"/>
              </a:lnSpc>
            </a:pPr>
            <a:r>
              <a:rPr lang="en-US" sz="2200" dirty="0">
                <a:highlight>
                  <a:srgbClr val="FFFF00"/>
                </a:highlight>
                <a:latin typeface="Calibir"/>
              </a:rPr>
              <a:t>        )</a:t>
            </a:r>
          </a:p>
          <a:p>
            <a:pPr>
              <a:lnSpc>
                <a:spcPct val="150000"/>
              </a:lnSpc>
            </a:pPr>
            <a:r>
              <a:rPr lang="en-US" sz="2200" dirty="0">
                <a:highlight>
                  <a:srgbClr val="FFFF00"/>
                </a:highlight>
                <a:latin typeface="Calibir"/>
              </a:rPr>
              <a:t>    except </a:t>
            </a:r>
            <a:r>
              <a:rPr lang="en-US" sz="2200" dirty="0" err="1">
                <a:highlight>
                  <a:srgbClr val="FFFF00"/>
                </a:highlight>
                <a:latin typeface="Calibir"/>
              </a:rPr>
              <a:t>ValueError</a:t>
            </a:r>
            <a:r>
              <a:rPr lang="en-US" sz="2200" dirty="0">
                <a:highlight>
                  <a:srgbClr val="FFFF00"/>
                </a:highlight>
                <a:latin typeface="Calibir"/>
              </a:rPr>
              <a:t> as error:</a:t>
            </a:r>
          </a:p>
          <a:p>
            <a:pPr>
              <a:lnSpc>
                <a:spcPct val="150000"/>
              </a:lnSpc>
            </a:pPr>
            <a:r>
              <a:rPr lang="en-US" sz="2200" dirty="0">
                <a:highlight>
                  <a:srgbClr val="FFFF00"/>
                </a:highlight>
                <a:latin typeface="Calibir"/>
              </a:rPr>
              <a:t>        print(error)</a:t>
            </a:r>
          </a:p>
        </p:txBody>
      </p:sp>
      <p:sp>
        <p:nvSpPr>
          <p:cNvPr id="4" name="TextBox 3">
            <a:extLst>
              <a:ext uri="{FF2B5EF4-FFF2-40B4-BE49-F238E27FC236}">
                <a16:creationId xmlns:a16="http://schemas.microsoft.com/office/drawing/2014/main" id="{23CF60F1-E632-DC9D-BEBB-4435A1257C2A}"/>
              </a:ext>
            </a:extLst>
          </p:cNvPr>
          <p:cNvSpPr txBox="1"/>
          <p:nvPr/>
        </p:nvSpPr>
        <p:spPr>
          <a:xfrm>
            <a:off x="5796116" y="1313201"/>
            <a:ext cx="6157450" cy="4831579"/>
          </a:xfrm>
          <a:prstGeom prst="rect">
            <a:avLst/>
          </a:prstGeom>
          <a:noFill/>
        </p:spPr>
        <p:txBody>
          <a:bodyPr wrap="square">
            <a:spAutoFit/>
          </a:bodyPr>
          <a:lstStyle/>
          <a:p>
            <a:pPr>
              <a:lnSpc>
                <a:spcPct val="150000"/>
              </a:lnSpc>
            </a:pPr>
            <a:r>
              <a:rPr lang="en-US" sz="2600" b="1" dirty="0">
                <a:latin typeface="Calibir"/>
              </a:rPr>
              <a:t>Why try / except?</a:t>
            </a:r>
          </a:p>
          <a:p>
            <a:pPr>
              <a:lnSpc>
                <a:spcPct val="150000"/>
              </a:lnSpc>
            </a:pPr>
            <a:r>
              <a:rPr lang="en-US" sz="2600" dirty="0">
                <a:latin typeface="Calibir"/>
              </a:rPr>
              <a:t>The method:</a:t>
            </a:r>
          </a:p>
          <a:p>
            <a:pPr>
              <a:lnSpc>
                <a:spcPct val="150000"/>
              </a:lnSpc>
            </a:pPr>
            <a:r>
              <a:rPr lang="en-US" sz="2600" dirty="0">
                <a:highlight>
                  <a:srgbClr val="FFFF00"/>
                </a:highlight>
                <a:latin typeface="Calibir"/>
              </a:rPr>
              <a:t>withdraw()</a:t>
            </a:r>
          </a:p>
          <a:p>
            <a:pPr>
              <a:lnSpc>
                <a:spcPct val="150000"/>
              </a:lnSpc>
            </a:pPr>
            <a:r>
              <a:rPr lang="en-US" sz="2600" dirty="0">
                <a:latin typeface="Calibir"/>
              </a:rPr>
              <a:t>may raise:</a:t>
            </a:r>
          </a:p>
          <a:p>
            <a:pPr>
              <a:lnSpc>
                <a:spcPct val="150000"/>
              </a:lnSpc>
            </a:pPr>
            <a:r>
              <a:rPr lang="en-US" sz="2600" dirty="0" err="1">
                <a:highlight>
                  <a:srgbClr val="FFFF00"/>
                </a:highlight>
                <a:latin typeface="Calibir"/>
              </a:rPr>
              <a:t>ValueError</a:t>
            </a:r>
            <a:endParaRPr lang="en-US" sz="2600" dirty="0">
              <a:highlight>
                <a:srgbClr val="FFFF00"/>
              </a:highlight>
              <a:latin typeface="Calibir"/>
            </a:endParaRPr>
          </a:p>
          <a:p>
            <a:pPr>
              <a:lnSpc>
                <a:spcPct val="150000"/>
              </a:lnSpc>
            </a:pPr>
            <a:r>
              <a:rPr lang="en-US" sz="2600" dirty="0">
                <a:latin typeface="Calibir"/>
              </a:rPr>
              <a:t>if there is not enough money.</a:t>
            </a:r>
          </a:p>
          <a:p>
            <a:pPr>
              <a:lnSpc>
                <a:spcPct val="150000"/>
              </a:lnSpc>
            </a:pPr>
            <a:r>
              <a:rPr lang="en-US" sz="2600" dirty="0">
                <a:latin typeface="Calibir"/>
              </a:rPr>
              <a:t>try / except prevents the whole program from crashing.</a:t>
            </a:r>
          </a:p>
        </p:txBody>
      </p:sp>
    </p:spTree>
    <p:extLst>
      <p:ext uri="{BB962C8B-B14F-4D97-AF65-F5344CB8AC3E}">
        <p14:creationId xmlns:p14="http://schemas.microsoft.com/office/powerpoint/2010/main" val="38230681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625F2C-1F7D-9473-940D-DADB356F42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630E1C-588F-B836-2294-AA73F4CCF97E}"/>
              </a:ext>
            </a:extLst>
          </p:cNvPr>
          <p:cNvSpPr txBox="1"/>
          <p:nvPr/>
        </p:nvSpPr>
        <p:spPr>
          <a:xfrm>
            <a:off x="114300" y="335845"/>
            <a:ext cx="6098458" cy="6186309"/>
          </a:xfrm>
          <a:prstGeom prst="rect">
            <a:avLst/>
          </a:prstGeom>
          <a:noFill/>
        </p:spPr>
        <p:txBody>
          <a:bodyPr wrap="square">
            <a:spAutoFit/>
          </a:bodyPr>
          <a:lstStyle/>
          <a:p>
            <a:pPr>
              <a:buNone/>
            </a:pPr>
            <a:r>
              <a:rPr lang="en-US" b="1" dirty="0">
                <a:latin typeface="Calibir"/>
              </a:rPr>
              <a:t>Java</a:t>
            </a:r>
          </a:p>
          <a:p>
            <a:pPr rtl="0">
              <a:buNone/>
            </a:pPr>
            <a:r>
              <a:rPr lang="en-US" dirty="0">
                <a:highlight>
                  <a:srgbClr val="FFFF00"/>
                </a:highlight>
                <a:latin typeface="Calibir"/>
              </a:rPr>
              <a:t>case "w":</a:t>
            </a:r>
          </a:p>
          <a:p>
            <a:pPr rtl="0">
              <a:buNone/>
            </a:pPr>
            <a:r>
              <a:rPr lang="en-US" dirty="0">
                <a:highlight>
                  <a:srgbClr val="FFFF00"/>
                </a:highlight>
                <a:latin typeface="Calibir"/>
              </a:rPr>
              <a:t>    </a:t>
            </a:r>
            <a:r>
              <a:rPr lang="en-US" dirty="0" err="1">
                <a:highlight>
                  <a:srgbClr val="FFFF00"/>
                </a:highlight>
                <a:latin typeface="Calibir"/>
              </a:rPr>
              <a:t>System.out.print</a:t>
            </a:r>
            <a:r>
              <a:rPr lang="en-US" dirty="0">
                <a:highlight>
                  <a:srgbClr val="FFFF00"/>
                </a:highlight>
                <a:latin typeface="Calibir"/>
              </a:rPr>
              <a:t>(</a:t>
            </a:r>
          </a:p>
          <a:p>
            <a:pPr rtl="0">
              <a:buNone/>
            </a:pPr>
            <a:r>
              <a:rPr lang="en-US" dirty="0">
                <a:highlight>
                  <a:srgbClr val="FFFF00"/>
                </a:highlight>
                <a:latin typeface="Calibir"/>
              </a:rPr>
              <a:t>        "Amount to withdraw: $"</a:t>
            </a:r>
          </a:p>
          <a:p>
            <a:pPr rtl="0">
              <a:buNone/>
            </a:pPr>
            <a:r>
              <a:rPr lang="en-US" dirty="0">
                <a:highlight>
                  <a:srgbClr val="FFFF00"/>
                </a:highlight>
                <a:latin typeface="Calibir"/>
              </a:rPr>
              <a:t>    );</a:t>
            </a:r>
          </a:p>
          <a:p>
            <a:pPr rtl="0">
              <a:buNone/>
            </a:pPr>
            <a:r>
              <a:rPr lang="en-US" dirty="0">
                <a:highlight>
                  <a:srgbClr val="FFFF00"/>
                </a:highlight>
                <a:latin typeface="Calibir"/>
              </a:rPr>
              <a:t>    double </a:t>
            </a:r>
            <a:r>
              <a:rPr lang="en-US" dirty="0" err="1">
                <a:highlight>
                  <a:srgbClr val="FFFF00"/>
                </a:highlight>
                <a:latin typeface="Calibir"/>
              </a:rPr>
              <a:t>withdrawAmount</a:t>
            </a:r>
            <a:r>
              <a:rPr lang="en-US" dirty="0">
                <a:highlight>
                  <a:srgbClr val="FFFF00"/>
                </a:highlight>
                <a:latin typeface="Calibir"/>
              </a:rPr>
              <a:t> =</a:t>
            </a:r>
          </a:p>
          <a:p>
            <a:pPr rtl="0">
              <a:buNone/>
            </a:pPr>
            <a:r>
              <a:rPr lang="en-US" dirty="0">
                <a:highlight>
                  <a:srgbClr val="FFFF00"/>
                </a:highlight>
                <a:latin typeface="Calibir"/>
              </a:rPr>
              <a:t>        </a:t>
            </a:r>
            <a:r>
              <a:rPr lang="en-US" dirty="0" err="1">
                <a:highlight>
                  <a:srgbClr val="FFFF00"/>
                </a:highlight>
                <a:latin typeface="Calibir"/>
              </a:rPr>
              <a:t>input.nextDouble</a:t>
            </a:r>
            <a:r>
              <a:rPr lang="en-US" dirty="0">
                <a:highlight>
                  <a:srgbClr val="FFFF00"/>
                </a:highlight>
                <a:latin typeface="Calibir"/>
              </a:rPr>
              <a:t>();</a:t>
            </a:r>
          </a:p>
          <a:p>
            <a:pPr rtl="0">
              <a:buNone/>
            </a:pPr>
            <a:r>
              <a:rPr lang="en-US" dirty="0">
                <a:highlight>
                  <a:srgbClr val="FFFF00"/>
                </a:highlight>
                <a:latin typeface="Calibir"/>
              </a:rPr>
              <a:t>    </a:t>
            </a:r>
            <a:r>
              <a:rPr lang="en-US" dirty="0" err="1">
                <a:highlight>
                  <a:srgbClr val="FFFF00"/>
                </a:highlight>
                <a:latin typeface="Calibir"/>
              </a:rPr>
              <a:t>input.nextLine</a:t>
            </a:r>
            <a:r>
              <a:rPr lang="en-US" dirty="0">
                <a:highlight>
                  <a:srgbClr val="FFFF00"/>
                </a:highlight>
                <a:latin typeface="Calibir"/>
              </a:rPr>
              <a:t>();</a:t>
            </a:r>
          </a:p>
          <a:p>
            <a:pPr rtl="0">
              <a:buNone/>
            </a:pPr>
            <a:r>
              <a:rPr lang="en-US" dirty="0">
                <a:highlight>
                  <a:srgbClr val="FFFF00"/>
                </a:highlight>
                <a:latin typeface="Calibir"/>
              </a:rPr>
              <a:t>    try {</a:t>
            </a:r>
          </a:p>
          <a:p>
            <a:pPr rtl="0">
              <a:buNone/>
            </a:pPr>
            <a:r>
              <a:rPr lang="en-US" dirty="0">
                <a:highlight>
                  <a:srgbClr val="FFFF00"/>
                </a:highlight>
                <a:latin typeface="Calibir"/>
              </a:rPr>
              <a:t>        withdraw(</a:t>
            </a:r>
            <a:r>
              <a:rPr lang="en-US" dirty="0" err="1">
                <a:highlight>
                  <a:srgbClr val="FFFF00"/>
                </a:highlight>
                <a:latin typeface="Calibir"/>
              </a:rPr>
              <a:t>withdrawAmount</a:t>
            </a:r>
            <a:r>
              <a:rPr lang="en-US" dirty="0">
                <a:highlight>
                  <a:srgbClr val="FFFF00"/>
                </a:highlight>
                <a:latin typeface="Calibir"/>
              </a:rPr>
              <a:t>);</a:t>
            </a:r>
          </a:p>
          <a:p>
            <a:pPr rtl="0">
              <a:buNone/>
            </a:pPr>
            <a:r>
              <a:rPr lang="en-US" dirty="0">
                <a:highlight>
                  <a:srgbClr val="FFFF00"/>
                </a:highlight>
                <a:latin typeface="Calibir"/>
              </a:rPr>
              <a:t>        </a:t>
            </a:r>
            <a:r>
              <a:rPr lang="en-US" dirty="0" err="1">
                <a:highlight>
                  <a:srgbClr val="FFFF00"/>
                </a:highlight>
                <a:latin typeface="Calibir"/>
              </a:rPr>
              <a:t>System.out.printf</a:t>
            </a:r>
            <a:r>
              <a:rPr lang="en-US" dirty="0">
                <a:highlight>
                  <a:srgbClr val="FFFF00"/>
                </a:highlight>
                <a:latin typeface="Calibir"/>
              </a:rPr>
              <a:t>(</a:t>
            </a:r>
          </a:p>
          <a:p>
            <a:pPr rtl="0">
              <a:buNone/>
            </a:pPr>
            <a:r>
              <a:rPr lang="en-US" dirty="0">
                <a:highlight>
                  <a:srgbClr val="FFFF00"/>
                </a:highlight>
                <a:latin typeface="Calibir"/>
              </a:rPr>
              <a:t>            "Amount withdrawn: $%.2f%n",</a:t>
            </a:r>
          </a:p>
          <a:p>
            <a:pPr rtl="0">
              <a:buNone/>
            </a:pPr>
            <a:r>
              <a:rPr lang="en-US" dirty="0">
                <a:highlight>
                  <a:srgbClr val="FFFF00"/>
                </a:highlight>
                <a:latin typeface="Calibir"/>
              </a:rPr>
              <a:t>            </a:t>
            </a:r>
            <a:r>
              <a:rPr lang="en-US" dirty="0" err="1">
                <a:highlight>
                  <a:srgbClr val="FFFF00"/>
                </a:highlight>
                <a:latin typeface="Calibir"/>
              </a:rPr>
              <a:t>withdrawAmount</a:t>
            </a:r>
            <a:endParaRPr lang="en-US" dirty="0">
              <a:highlight>
                <a:srgbClr val="FFFF00"/>
              </a:highlight>
              <a:latin typeface="Calibir"/>
            </a:endParaRPr>
          </a:p>
          <a:p>
            <a:pPr rtl="0">
              <a:buNone/>
            </a:pPr>
            <a:r>
              <a:rPr lang="en-US" dirty="0">
                <a:highlight>
                  <a:srgbClr val="FFFF00"/>
                </a:highlight>
                <a:latin typeface="Calibir"/>
              </a:rPr>
              <a:t>        );</a:t>
            </a:r>
          </a:p>
          <a:p>
            <a:pPr rtl="0">
              <a:buNone/>
            </a:pPr>
            <a:r>
              <a:rPr lang="en-US" dirty="0">
                <a:highlight>
                  <a:srgbClr val="FFFF00"/>
                </a:highlight>
                <a:latin typeface="Calibir"/>
              </a:rPr>
              <a:t>    } catch (</a:t>
            </a:r>
          </a:p>
          <a:p>
            <a:pPr rtl="0">
              <a:buNone/>
            </a:pPr>
            <a:r>
              <a:rPr lang="en-US" dirty="0">
                <a:highlight>
                  <a:srgbClr val="FFFF00"/>
                </a:highlight>
                <a:latin typeface="Calibir"/>
              </a:rPr>
              <a:t>        </a:t>
            </a:r>
            <a:r>
              <a:rPr lang="en-US" dirty="0" err="1">
                <a:highlight>
                  <a:srgbClr val="FFFF00"/>
                </a:highlight>
                <a:latin typeface="Calibir"/>
              </a:rPr>
              <a:t>IllegalArgumentException</a:t>
            </a:r>
            <a:r>
              <a:rPr lang="en-US" dirty="0">
                <a:highlight>
                  <a:srgbClr val="FFFF00"/>
                </a:highlight>
                <a:latin typeface="Calibir"/>
              </a:rPr>
              <a:t> error</a:t>
            </a:r>
          </a:p>
          <a:p>
            <a:pPr rtl="0">
              <a:buNone/>
            </a:pPr>
            <a:r>
              <a:rPr lang="en-US" dirty="0">
                <a:highlight>
                  <a:srgbClr val="FFFF00"/>
                </a:highlight>
                <a:latin typeface="Calibir"/>
              </a:rPr>
              <a:t>    ) {</a:t>
            </a:r>
          </a:p>
          <a:p>
            <a:pPr rtl="0">
              <a:buNone/>
            </a:pPr>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pPr rtl="0">
              <a:buNone/>
            </a:pPr>
            <a:r>
              <a:rPr lang="en-US" dirty="0">
                <a:highlight>
                  <a:srgbClr val="FFFF00"/>
                </a:highlight>
                <a:latin typeface="Calibir"/>
              </a:rPr>
              <a:t>            </a:t>
            </a:r>
            <a:r>
              <a:rPr lang="en-US" dirty="0" err="1">
                <a:highlight>
                  <a:srgbClr val="FFFF00"/>
                </a:highlight>
                <a:latin typeface="Calibir"/>
              </a:rPr>
              <a:t>error.getMessage</a:t>
            </a:r>
            <a:r>
              <a:rPr lang="en-US" dirty="0">
                <a:highlight>
                  <a:srgbClr val="FFFF00"/>
                </a:highlight>
                <a:latin typeface="Calibir"/>
              </a:rPr>
              <a:t>()</a:t>
            </a:r>
          </a:p>
          <a:p>
            <a:pPr rtl="0">
              <a:buNone/>
            </a:pPr>
            <a:r>
              <a:rPr lang="en-US" dirty="0">
                <a:highlight>
                  <a:srgbClr val="FFFF00"/>
                </a:highlight>
                <a:latin typeface="Calibir"/>
              </a:rPr>
              <a:t>        );</a:t>
            </a:r>
          </a:p>
          <a:p>
            <a:pPr rtl="0">
              <a:buNone/>
            </a:pPr>
            <a:r>
              <a:rPr lang="en-US" dirty="0">
                <a:highlight>
                  <a:srgbClr val="FFFF00"/>
                </a:highlight>
                <a:latin typeface="Calibir"/>
              </a:rPr>
              <a:t>    }</a:t>
            </a:r>
          </a:p>
          <a:p>
            <a:pPr rtl="0">
              <a:buNone/>
            </a:pPr>
            <a:r>
              <a:rPr lang="en-US" dirty="0">
                <a:highlight>
                  <a:srgbClr val="FFFF00"/>
                </a:highlight>
                <a:latin typeface="Calibir"/>
              </a:rPr>
              <a:t>    break;</a:t>
            </a:r>
          </a:p>
        </p:txBody>
      </p:sp>
    </p:spTree>
    <p:extLst>
      <p:ext uri="{BB962C8B-B14F-4D97-AF65-F5344CB8AC3E}">
        <p14:creationId xmlns:p14="http://schemas.microsoft.com/office/powerpoint/2010/main" val="15067214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932D1FD-FD3B-CEAE-79CC-D28137CB7F9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0F41169-DCB0-B90E-9285-E7F77CA55D6A}"/>
              </a:ext>
            </a:extLst>
          </p:cNvPr>
          <p:cNvSpPr txBox="1"/>
          <p:nvPr/>
        </p:nvSpPr>
        <p:spPr>
          <a:xfrm>
            <a:off x="114300" y="335845"/>
            <a:ext cx="6098458" cy="2610843"/>
          </a:xfrm>
          <a:prstGeom prst="rect">
            <a:avLst/>
          </a:prstGeom>
          <a:noFill/>
        </p:spPr>
        <p:txBody>
          <a:bodyPr wrap="square">
            <a:spAutoFit/>
          </a:bodyPr>
          <a:lstStyle/>
          <a:p>
            <a:pPr>
              <a:lnSpc>
                <a:spcPct val="150000"/>
              </a:lnSpc>
            </a:pPr>
            <a:r>
              <a:rPr lang="en-US" sz="2800" b="1" dirty="0">
                <a:latin typeface="Calibir"/>
              </a:rPr>
              <a:t>Step 10 — Add show balance to menu()</a:t>
            </a:r>
          </a:p>
          <a:p>
            <a:pPr>
              <a:lnSpc>
                <a:spcPct val="150000"/>
              </a:lnSpc>
            </a:pPr>
            <a:r>
              <a:rPr lang="en-US" sz="2800" b="1" dirty="0">
                <a:latin typeface="Calibir"/>
              </a:rPr>
              <a:t>Python</a:t>
            </a:r>
          </a:p>
          <a:p>
            <a:pPr>
              <a:lnSpc>
                <a:spcPct val="150000"/>
              </a:lnSpc>
            </a:pPr>
            <a:r>
              <a:rPr lang="en-US" sz="2800" dirty="0" err="1">
                <a:highlight>
                  <a:srgbClr val="FFFF00"/>
                </a:highlight>
                <a:latin typeface="Calibir"/>
              </a:rPr>
              <a:t>elif</a:t>
            </a:r>
            <a:r>
              <a:rPr lang="en-US" sz="2800" dirty="0">
                <a:highlight>
                  <a:srgbClr val="FFFF00"/>
                </a:highlight>
                <a:latin typeface="Calibir"/>
              </a:rPr>
              <a:t> choice == "s":</a:t>
            </a:r>
          </a:p>
          <a:p>
            <a:pPr>
              <a:lnSpc>
                <a:spcPct val="150000"/>
              </a:lnSpc>
            </a:pPr>
            <a:r>
              <a:rPr lang="en-US" sz="2800" dirty="0">
                <a:highlight>
                  <a:srgbClr val="FFFF00"/>
                </a:highlight>
                <a:latin typeface="Calibir"/>
              </a:rPr>
              <a:t>    </a:t>
            </a:r>
            <a:r>
              <a:rPr lang="en-US" sz="2800" dirty="0" err="1">
                <a:highlight>
                  <a:srgbClr val="FFFF00"/>
                </a:highlight>
                <a:latin typeface="Calibir"/>
              </a:rPr>
              <a:t>self.show</a:t>
            </a:r>
            <a:r>
              <a:rPr lang="en-US" sz="2800" dirty="0">
                <a:highlight>
                  <a:srgbClr val="FFFF00"/>
                </a:highlight>
                <a:latin typeface="Calibir"/>
              </a:rPr>
              <a:t>()</a:t>
            </a:r>
          </a:p>
        </p:txBody>
      </p:sp>
      <p:sp>
        <p:nvSpPr>
          <p:cNvPr id="3" name="TextBox 2">
            <a:extLst>
              <a:ext uri="{FF2B5EF4-FFF2-40B4-BE49-F238E27FC236}">
                <a16:creationId xmlns:a16="http://schemas.microsoft.com/office/drawing/2014/main" id="{46E40F7B-E3A7-C875-22F9-36677436DE0D}"/>
              </a:ext>
            </a:extLst>
          </p:cNvPr>
          <p:cNvSpPr txBox="1"/>
          <p:nvPr/>
        </p:nvSpPr>
        <p:spPr>
          <a:xfrm>
            <a:off x="6356556" y="335845"/>
            <a:ext cx="5835444" cy="2677656"/>
          </a:xfrm>
          <a:prstGeom prst="rect">
            <a:avLst/>
          </a:prstGeom>
          <a:noFill/>
        </p:spPr>
        <p:txBody>
          <a:bodyPr wrap="square">
            <a:spAutoFit/>
          </a:bodyPr>
          <a:lstStyle/>
          <a:p>
            <a:pPr>
              <a:buNone/>
            </a:pPr>
            <a:r>
              <a:rPr lang="en-US" sz="2800" b="1" dirty="0">
                <a:latin typeface="Calibir"/>
              </a:rPr>
              <a:t>Java</a:t>
            </a:r>
          </a:p>
          <a:p>
            <a:pPr rtl="0">
              <a:buNone/>
            </a:pPr>
            <a:r>
              <a:rPr lang="en-US" sz="2800" dirty="0">
                <a:highlight>
                  <a:srgbClr val="FFFF00"/>
                </a:highlight>
                <a:latin typeface="Calibir"/>
              </a:rPr>
              <a:t>case "s":</a:t>
            </a:r>
          </a:p>
          <a:p>
            <a:pPr rtl="0">
              <a:buNone/>
            </a:pPr>
            <a:endParaRPr lang="en-US" sz="2800" dirty="0">
              <a:highlight>
                <a:srgbClr val="FFFF00"/>
              </a:highlight>
              <a:latin typeface="Calibir"/>
            </a:endParaRPr>
          </a:p>
          <a:p>
            <a:pPr rtl="0">
              <a:buNone/>
            </a:pPr>
            <a:r>
              <a:rPr lang="en-US" sz="2800" dirty="0">
                <a:highlight>
                  <a:srgbClr val="FFFF00"/>
                </a:highlight>
                <a:latin typeface="Calibir"/>
              </a:rPr>
              <a:t>    show();</a:t>
            </a:r>
          </a:p>
          <a:p>
            <a:pPr rtl="0">
              <a:buNone/>
            </a:pPr>
            <a:endParaRPr lang="en-US" sz="2800" dirty="0">
              <a:highlight>
                <a:srgbClr val="FFFF00"/>
              </a:highlight>
              <a:latin typeface="Calibir"/>
            </a:endParaRPr>
          </a:p>
          <a:p>
            <a:pPr rtl="0">
              <a:buNone/>
            </a:pPr>
            <a:r>
              <a:rPr lang="en-US" sz="2800" dirty="0">
                <a:highlight>
                  <a:srgbClr val="FFFF00"/>
                </a:highlight>
                <a:latin typeface="Calibir"/>
              </a:rPr>
              <a:t>    break;</a:t>
            </a:r>
          </a:p>
        </p:txBody>
      </p:sp>
    </p:spTree>
    <p:extLst>
      <p:ext uri="{BB962C8B-B14F-4D97-AF65-F5344CB8AC3E}">
        <p14:creationId xmlns:p14="http://schemas.microsoft.com/office/powerpoint/2010/main" val="36907827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DE5AE83-0BDD-FE55-3D6A-2EECC62D7C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77F9A-980A-C140-6C17-80CD78AD8F91}"/>
              </a:ext>
            </a:extLst>
          </p:cNvPr>
          <p:cNvSpPr txBox="1"/>
          <p:nvPr/>
        </p:nvSpPr>
        <p:spPr>
          <a:xfrm>
            <a:off x="114300" y="335845"/>
            <a:ext cx="6098458" cy="3903504"/>
          </a:xfrm>
          <a:prstGeom prst="rect">
            <a:avLst/>
          </a:prstGeom>
          <a:noFill/>
        </p:spPr>
        <p:txBody>
          <a:bodyPr wrap="square">
            <a:spAutoFit/>
          </a:bodyPr>
          <a:lstStyle/>
          <a:p>
            <a:pPr>
              <a:lnSpc>
                <a:spcPct val="150000"/>
              </a:lnSpc>
            </a:pPr>
            <a:r>
              <a:rPr lang="en-US" sz="2800" b="1" dirty="0">
                <a:latin typeface="Calibir"/>
              </a:rPr>
              <a:t>Step 11 — Handle invalid options</a:t>
            </a:r>
          </a:p>
          <a:p>
            <a:pPr>
              <a:lnSpc>
                <a:spcPct val="150000"/>
              </a:lnSpc>
            </a:pPr>
            <a:r>
              <a:rPr lang="en-US" sz="2800" dirty="0">
                <a:latin typeface="Calibir"/>
              </a:rPr>
              <a:t>This is not explicitly stated, but it is good practice.</a:t>
            </a:r>
          </a:p>
          <a:p>
            <a:pPr>
              <a:lnSpc>
                <a:spcPct val="150000"/>
              </a:lnSpc>
            </a:pPr>
            <a:r>
              <a:rPr lang="en-US" sz="2800" b="1" dirty="0">
                <a:latin typeface="Calibir"/>
              </a:rPr>
              <a:t>Python</a:t>
            </a:r>
          </a:p>
          <a:p>
            <a:pPr>
              <a:lnSpc>
                <a:spcPct val="150000"/>
              </a:lnSpc>
            </a:pPr>
            <a:r>
              <a:rPr lang="en-US" sz="2800" dirty="0">
                <a:highlight>
                  <a:srgbClr val="FFFF00"/>
                </a:highlight>
                <a:latin typeface="Calibir"/>
              </a:rPr>
              <a:t>else:</a:t>
            </a:r>
          </a:p>
          <a:p>
            <a:pPr>
              <a:lnSpc>
                <a:spcPct val="150000"/>
              </a:lnSpc>
            </a:pPr>
            <a:r>
              <a:rPr lang="en-US" sz="2800" dirty="0">
                <a:highlight>
                  <a:srgbClr val="FFFF00"/>
                </a:highlight>
                <a:latin typeface="Calibir"/>
              </a:rPr>
              <a:t>    print("Invalid option")</a:t>
            </a:r>
          </a:p>
        </p:txBody>
      </p:sp>
      <p:sp>
        <p:nvSpPr>
          <p:cNvPr id="3" name="TextBox 2">
            <a:extLst>
              <a:ext uri="{FF2B5EF4-FFF2-40B4-BE49-F238E27FC236}">
                <a16:creationId xmlns:a16="http://schemas.microsoft.com/office/drawing/2014/main" id="{30044C21-134A-5B75-A1F2-6A08B883049E}"/>
              </a:ext>
            </a:extLst>
          </p:cNvPr>
          <p:cNvSpPr txBox="1"/>
          <p:nvPr/>
        </p:nvSpPr>
        <p:spPr>
          <a:xfrm>
            <a:off x="6356556" y="335845"/>
            <a:ext cx="5835444" cy="3257174"/>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default:</a:t>
            </a:r>
          </a:p>
          <a:p>
            <a:pPr>
              <a:lnSpc>
                <a:spcPct val="150000"/>
              </a:lnSpc>
            </a:pPr>
            <a:r>
              <a:rPr lang="en-US" sz="2800" dirty="0">
                <a:highlight>
                  <a:srgbClr val="FFFF00"/>
                </a:highlight>
                <a:latin typeface="Calibir"/>
              </a:rPr>
              <a:t>    </a:t>
            </a:r>
            <a:r>
              <a:rPr lang="en-US" sz="2800" dirty="0" err="1">
                <a:highlight>
                  <a:srgbClr val="FFFF00"/>
                </a:highlight>
                <a:latin typeface="Calibir"/>
              </a:rPr>
              <a:t>System.out.println</a:t>
            </a:r>
            <a:r>
              <a:rPr lang="en-US" sz="2800" dirty="0">
                <a:highlight>
                  <a:srgbClr val="FFFF00"/>
                </a:highlight>
                <a:latin typeface="Calibir"/>
              </a:rPr>
              <a:t>(</a:t>
            </a:r>
          </a:p>
          <a:p>
            <a:pPr>
              <a:lnSpc>
                <a:spcPct val="150000"/>
              </a:lnSpc>
            </a:pPr>
            <a:r>
              <a:rPr lang="en-US" sz="2800" dirty="0">
                <a:highlight>
                  <a:srgbClr val="FFFF00"/>
                </a:highlight>
                <a:latin typeface="Calibir"/>
              </a:rPr>
              <a:t>        "Invalid option"</a:t>
            </a:r>
          </a:p>
          <a:p>
            <a:pPr>
              <a:lnSpc>
                <a:spcPct val="150000"/>
              </a:lnSpc>
            </a:pPr>
            <a:r>
              <a:rPr lang="en-US" sz="2800" dirty="0">
                <a:highlight>
                  <a:srgbClr val="FFFF00"/>
                </a:highlight>
                <a:latin typeface="Calibir"/>
              </a:rPr>
              <a:t>    );</a:t>
            </a:r>
          </a:p>
        </p:txBody>
      </p:sp>
    </p:spTree>
    <p:extLst>
      <p:ext uri="{BB962C8B-B14F-4D97-AF65-F5344CB8AC3E}">
        <p14:creationId xmlns:p14="http://schemas.microsoft.com/office/powerpoint/2010/main" val="33204656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AC046D5-85B5-5BBC-90ED-1F9DA5C23F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BBA3AD5-D099-FD9C-31FA-912BF24256A6}"/>
              </a:ext>
            </a:extLst>
          </p:cNvPr>
          <p:cNvSpPr txBox="1"/>
          <p:nvPr/>
        </p:nvSpPr>
        <p:spPr>
          <a:xfrm>
            <a:off x="0" y="87476"/>
            <a:ext cx="6098458" cy="6683048"/>
          </a:xfrm>
          <a:prstGeom prst="rect">
            <a:avLst/>
          </a:prstGeom>
          <a:noFill/>
        </p:spPr>
        <p:txBody>
          <a:bodyPr wrap="square">
            <a:spAutoFit/>
          </a:bodyPr>
          <a:lstStyle/>
          <a:p>
            <a:pPr>
              <a:lnSpc>
                <a:spcPct val="150000"/>
              </a:lnSpc>
            </a:pPr>
            <a:r>
              <a:rPr lang="en-US" sz="2400" b="1" dirty="0">
                <a:latin typeface="Calibir"/>
              </a:rPr>
              <a:t>Step 12 — Use menu() from main()</a:t>
            </a:r>
          </a:p>
          <a:p>
            <a:pPr>
              <a:lnSpc>
                <a:spcPct val="150000"/>
              </a:lnSpc>
            </a:pPr>
            <a:r>
              <a:rPr lang="en-US" sz="2400" dirty="0">
                <a:latin typeface="Calibir"/>
              </a:rPr>
              <a:t>The task specifically says:</a:t>
            </a:r>
          </a:p>
          <a:p>
            <a:pPr>
              <a:lnSpc>
                <a:spcPct val="150000"/>
              </a:lnSpc>
            </a:pPr>
            <a:r>
              <a:rPr lang="en-US" sz="2400" dirty="0">
                <a:latin typeface="Calibir"/>
              </a:rPr>
              <a:t>Update the main() method in Bank to use menu().</a:t>
            </a:r>
          </a:p>
          <a:p>
            <a:pPr>
              <a:lnSpc>
                <a:spcPct val="150000"/>
              </a:lnSpc>
            </a:pPr>
            <a:r>
              <a:rPr lang="en-US" sz="2400" b="1" dirty="0">
                <a:latin typeface="Calibir"/>
              </a:rPr>
              <a:t>Python</a:t>
            </a:r>
          </a:p>
          <a:p>
            <a:pPr>
              <a:lnSpc>
                <a:spcPct val="150000"/>
              </a:lnSpc>
            </a:pPr>
            <a:r>
              <a:rPr lang="en-US" sz="2400" dirty="0">
                <a:highlight>
                  <a:srgbClr val="FFFF00"/>
                </a:highlight>
                <a:latin typeface="Calibir"/>
              </a:rPr>
              <a:t>def main():</a:t>
            </a:r>
          </a:p>
          <a:p>
            <a:pPr>
              <a:lnSpc>
                <a:spcPct val="150000"/>
              </a:lnSpc>
            </a:pPr>
            <a:r>
              <a:rPr lang="en-US" sz="2400" dirty="0">
                <a:highlight>
                  <a:srgbClr val="FFFF00"/>
                </a:highlight>
                <a:latin typeface="Calibir"/>
              </a:rPr>
              <a:t>    bank = Bank()</a:t>
            </a:r>
          </a:p>
          <a:p>
            <a:pPr>
              <a:lnSpc>
                <a:spcPct val="150000"/>
              </a:lnSpc>
            </a:pPr>
            <a:r>
              <a:rPr lang="en-US" sz="2400" dirty="0">
                <a:highlight>
                  <a:srgbClr val="FFFF00"/>
                </a:highlight>
                <a:latin typeface="Calibir"/>
              </a:rPr>
              <a:t>    </a:t>
            </a:r>
            <a:r>
              <a:rPr lang="en-US" sz="2400" dirty="0" err="1">
                <a:highlight>
                  <a:srgbClr val="FFFF00"/>
                </a:highlight>
                <a:latin typeface="Calibir"/>
              </a:rPr>
              <a:t>bank.read_starting_balance</a:t>
            </a:r>
            <a:r>
              <a:rPr lang="en-US" sz="2400" dirty="0">
                <a:highlight>
                  <a:srgbClr val="FFFF00"/>
                </a:highlight>
                <a:latin typeface="Calibir"/>
              </a:rPr>
              <a:t>()</a:t>
            </a:r>
          </a:p>
          <a:p>
            <a:pPr>
              <a:lnSpc>
                <a:spcPct val="150000"/>
              </a:lnSpc>
            </a:pPr>
            <a:r>
              <a:rPr lang="en-US" sz="2400" dirty="0">
                <a:highlight>
                  <a:srgbClr val="FFFF00"/>
                </a:highlight>
                <a:latin typeface="Calibir"/>
              </a:rPr>
              <a:t>    </a:t>
            </a:r>
            <a:r>
              <a:rPr lang="en-US" sz="2400" dirty="0" err="1">
                <a:highlight>
                  <a:srgbClr val="FFFF00"/>
                </a:highlight>
                <a:latin typeface="Calibir"/>
              </a:rPr>
              <a:t>bank.menu</a:t>
            </a:r>
            <a:r>
              <a:rPr lang="en-US" sz="2400" dirty="0">
                <a:highlight>
                  <a:srgbClr val="FFFF00"/>
                </a:highlight>
                <a:latin typeface="Calibir"/>
              </a:rPr>
              <a:t>()</a:t>
            </a:r>
          </a:p>
          <a:p>
            <a:pPr>
              <a:lnSpc>
                <a:spcPct val="150000"/>
              </a:lnSpc>
            </a:pPr>
            <a:r>
              <a:rPr lang="en-US" sz="2400" dirty="0">
                <a:latin typeface="Calibir"/>
              </a:rPr>
              <a:t>Then:</a:t>
            </a:r>
          </a:p>
          <a:p>
            <a:pPr>
              <a:lnSpc>
                <a:spcPct val="150000"/>
              </a:lnSpc>
            </a:pPr>
            <a:r>
              <a:rPr lang="en-US" sz="2400" dirty="0">
                <a:highlight>
                  <a:srgbClr val="FFFF00"/>
                </a:highlight>
                <a:latin typeface="Calibir"/>
              </a:rPr>
              <a:t>if __name__ == "__main__":</a:t>
            </a:r>
          </a:p>
          <a:p>
            <a:pPr>
              <a:lnSpc>
                <a:spcPct val="150000"/>
              </a:lnSpc>
            </a:pPr>
            <a:r>
              <a:rPr lang="en-US" sz="2400" dirty="0">
                <a:highlight>
                  <a:srgbClr val="FFFF00"/>
                </a:highlight>
                <a:latin typeface="Calibir"/>
              </a:rPr>
              <a:t>    main()</a:t>
            </a:r>
          </a:p>
        </p:txBody>
      </p:sp>
      <p:sp>
        <p:nvSpPr>
          <p:cNvPr id="3" name="TextBox 2">
            <a:extLst>
              <a:ext uri="{FF2B5EF4-FFF2-40B4-BE49-F238E27FC236}">
                <a16:creationId xmlns:a16="http://schemas.microsoft.com/office/drawing/2014/main" id="{FE112886-4EFD-8916-93EE-8763F9A20A7A}"/>
              </a:ext>
            </a:extLst>
          </p:cNvPr>
          <p:cNvSpPr txBox="1"/>
          <p:nvPr/>
        </p:nvSpPr>
        <p:spPr>
          <a:xfrm>
            <a:off x="6356556" y="335845"/>
            <a:ext cx="5835444" cy="6488828"/>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public static void main(String[] </a:t>
            </a:r>
            <a:r>
              <a:rPr lang="en-US" sz="2800" dirty="0" err="1">
                <a:highlight>
                  <a:srgbClr val="FFFF00"/>
                </a:highlight>
                <a:latin typeface="Calibir"/>
              </a:rPr>
              <a:t>args</a:t>
            </a:r>
            <a:r>
              <a:rPr lang="en-US" sz="2800" dirty="0">
                <a:highlight>
                  <a:srgbClr val="FFFF00"/>
                </a:highlight>
                <a:latin typeface="Calibir"/>
              </a:rPr>
              <a:t>) {</a:t>
            </a:r>
          </a:p>
          <a:p>
            <a:pPr>
              <a:lnSpc>
                <a:spcPct val="150000"/>
              </a:lnSpc>
            </a:pPr>
            <a:r>
              <a:rPr lang="en-US" sz="2800" dirty="0">
                <a:highlight>
                  <a:srgbClr val="FFFF00"/>
                </a:highlight>
                <a:latin typeface="Calibir"/>
              </a:rPr>
              <a:t>    Scanner input =</a:t>
            </a:r>
          </a:p>
          <a:p>
            <a:pPr>
              <a:lnSpc>
                <a:spcPct val="150000"/>
              </a:lnSpc>
            </a:pPr>
            <a:r>
              <a:rPr lang="en-US" sz="2800" dirty="0">
                <a:highlight>
                  <a:srgbClr val="FFFF00"/>
                </a:highlight>
                <a:latin typeface="Calibir"/>
              </a:rPr>
              <a:t>        new Scanner(System.in);</a:t>
            </a:r>
          </a:p>
          <a:p>
            <a:pPr>
              <a:lnSpc>
                <a:spcPct val="150000"/>
              </a:lnSpc>
            </a:pPr>
            <a:r>
              <a:rPr lang="en-US" sz="2800" dirty="0">
                <a:highlight>
                  <a:srgbClr val="FFFF00"/>
                </a:highlight>
                <a:latin typeface="Calibir"/>
              </a:rPr>
              <a:t>    Bank </a:t>
            </a:r>
            <a:r>
              <a:rPr lang="en-US" sz="2800" dirty="0" err="1">
                <a:highlight>
                  <a:srgbClr val="FFFF00"/>
                </a:highlight>
                <a:latin typeface="Calibir"/>
              </a:rPr>
              <a:t>bank</a:t>
            </a:r>
            <a:r>
              <a:rPr lang="en-US" sz="2800" dirty="0">
                <a:highlight>
                  <a:srgbClr val="FFFF00"/>
                </a:highlight>
                <a:latin typeface="Calibir"/>
              </a:rPr>
              <a:t> =</a:t>
            </a:r>
          </a:p>
          <a:p>
            <a:pPr>
              <a:lnSpc>
                <a:spcPct val="150000"/>
              </a:lnSpc>
            </a:pPr>
            <a:r>
              <a:rPr lang="en-US" sz="2800" dirty="0">
                <a:highlight>
                  <a:srgbClr val="FFFF00"/>
                </a:highlight>
                <a:latin typeface="Calibir"/>
              </a:rPr>
              <a:t>        new Bank();</a:t>
            </a:r>
          </a:p>
          <a:p>
            <a:pPr>
              <a:lnSpc>
                <a:spcPct val="150000"/>
              </a:lnSpc>
            </a:pPr>
            <a:r>
              <a:rPr lang="en-US" sz="2800" dirty="0">
                <a:highlight>
                  <a:srgbClr val="FFFF00"/>
                </a:highlight>
                <a:latin typeface="Calibir"/>
              </a:rPr>
              <a:t>    </a:t>
            </a:r>
            <a:r>
              <a:rPr lang="en-US" sz="2800" dirty="0" err="1">
                <a:highlight>
                  <a:srgbClr val="FFFF00"/>
                </a:highlight>
                <a:latin typeface="Calibir"/>
              </a:rPr>
              <a:t>bank.readStartingBalance</a:t>
            </a:r>
            <a:r>
              <a:rPr lang="en-US" sz="2800" dirty="0">
                <a:highlight>
                  <a:srgbClr val="FFFF00"/>
                </a:highlight>
                <a:latin typeface="Calibir"/>
              </a:rPr>
              <a:t>(input);</a:t>
            </a:r>
          </a:p>
          <a:p>
            <a:pPr>
              <a:lnSpc>
                <a:spcPct val="150000"/>
              </a:lnSpc>
            </a:pPr>
            <a:r>
              <a:rPr lang="en-US" sz="2800" dirty="0">
                <a:highlight>
                  <a:srgbClr val="FFFF00"/>
                </a:highlight>
                <a:latin typeface="Calibir"/>
              </a:rPr>
              <a:t>    </a:t>
            </a:r>
            <a:r>
              <a:rPr lang="en-US" sz="2800" dirty="0" err="1">
                <a:highlight>
                  <a:srgbClr val="FFFF00"/>
                </a:highlight>
                <a:latin typeface="Calibir"/>
              </a:rPr>
              <a:t>bank.menu</a:t>
            </a:r>
            <a:r>
              <a:rPr lang="en-US" sz="2800" dirty="0">
                <a:highlight>
                  <a:srgbClr val="FFFF00"/>
                </a:highlight>
                <a:latin typeface="Calibir"/>
              </a:rPr>
              <a:t>(input);</a:t>
            </a:r>
          </a:p>
          <a:p>
            <a:pPr>
              <a:lnSpc>
                <a:spcPct val="150000"/>
              </a:lnSpc>
            </a:pPr>
            <a:r>
              <a:rPr lang="en-US" sz="2800" dirty="0">
                <a:highlight>
                  <a:srgbClr val="FFFF00"/>
                </a:highlight>
                <a:latin typeface="Calibir"/>
              </a:rPr>
              <a:t>    </a:t>
            </a:r>
            <a:r>
              <a:rPr lang="en-US" sz="2800" dirty="0" err="1">
                <a:highlight>
                  <a:srgbClr val="FFFF00"/>
                </a:highlight>
                <a:latin typeface="Calibir"/>
              </a:rPr>
              <a:t>input.close</a:t>
            </a:r>
            <a:r>
              <a:rPr lang="en-US" sz="2800" dirty="0">
                <a:highlight>
                  <a:srgbClr val="FFFF00"/>
                </a:highlight>
                <a:latin typeface="Calibir"/>
              </a:rPr>
              <a: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14978621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CC7CE71-1C54-8CAC-AFD8-59C141E0F0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49A6F2-0EAD-BCFC-8D49-D8FA5E8857D3}"/>
              </a:ext>
            </a:extLst>
          </p:cNvPr>
          <p:cNvSpPr txBox="1"/>
          <p:nvPr/>
        </p:nvSpPr>
        <p:spPr>
          <a:xfrm>
            <a:off x="0" y="0"/>
            <a:ext cx="6098458" cy="6924973"/>
          </a:xfrm>
          <a:prstGeom prst="rect">
            <a:avLst/>
          </a:prstGeom>
          <a:noFill/>
        </p:spPr>
        <p:txBody>
          <a:bodyPr wrap="square">
            <a:spAutoFit/>
          </a:bodyPr>
          <a:lstStyle/>
          <a:p>
            <a:pPr>
              <a:buNone/>
            </a:pPr>
            <a:r>
              <a:rPr lang="en-US" sz="1200" b="1" dirty="0">
                <a:latin typeface="Calibir"/>
              </a:rPr>
              <a:t>Step 13 — Completed Python solution</a:t>
            </a:r>
          </a:p>
          <a:p>
            <a:pPr rtl="0">
              <a:buNone/>
            </a:pPr>
            <a:r>
              <a:rPr lang="en-US" sz="1200" dirty="0">
                <a:highlight>
                  <a:srgbClr val="FFFF00"/>
                </a:highlight>
                <a:latin typeface="Calibir"/>
              </a:rPr>
              <a:t>class Bank:</a:t>
            </a:r>
          </a:p>
          <a:p>
            <a:pPr rtl="0">
              <a:buNone/>
            </a:pPr>
            <a:r>
              <a:rPr lang="en-US" sz="1200" dirty="0">
                <a:highlight>
                  <a:srgbClr val="FFFF00"/>
                </a:highlight>
                <a:latin typeface="Calibir"/>
              </a:rPr>
              <a:t>    def __</a:t>
            </a:r>
            <a:r>
              <a:rPr lang="en-US" sz="1200" dirty="0" err="1">
                <a:highlight>
                  <a:srgbClr val="FFFF00"/>
                </a:highlight>
                <a:latin typeface="Calibir"/>
              </a:rPr>
              <a:t>init</a:t>
            </a:r>
            <a:r>
              <a:rPr lang="en-US" sz="1200" dirty="0">
                <a:highlight>
                  <a:srgbClr val="FFFF00"/>
                </a:highlight>
                <a:latin typeface="Calibir"/>
              </a:rPr>
              <a:t>__(self):</a:t>
            </a:r>
          </a:p>
          <a:p>
            <a:pPr rtl="0">
              <a:buNone/>
            </a:pPr>
            <a:r>
              <a:rPr lang="en-US" sz="1200" dirty="0">
                <a:highlight>
                  <a:srgbClr val="FFFF00"/>
                </a:highlight>
                <a:latin typeface="Calibir"/>
              </a:rPr>
              <a:t>        </a:t>
            </a:r>
            <a:r>
              <a:rPr lang="en-US" sz="1200" dirty="0" err="1">
                <a:highlight>
                  <a:srgbClr val="FFFF00"/>
                </a:highlight>
                <a:latin typeface="Calibir"/>
              </a:rPr>
              <a:t>self.balance</a:t>
            </a:r>
            <a:r>
              <a:rPr lang="en-US" sz="1200" dirty="0">
                <a:highlight>
                  <a:srgbClr val="FFFF00"/>
                </a:highlight>
                <a:latin typeface="Calibir"/>
              </a:rPr>
              <a:t> = 0.0</a:t>
            </a:r>
          </a:p>
          <a:p>
            <a:pPr rtl="0">
              <a:buNone/>
            </a:pPr>
            <a:r>
              <a:rPr lang="en-US" sz="1200" dirty="0">
                <a:highlight>
                  <a:srgbClr val="FFFF00"/>
                </a:highlight>
                <a:latin typeface="Calibir"/>
              </a:rPr>
              <a:t>    def </a:t>
            </a:r>
            <a:r>
              <a:rPr lang="en-US" sz="1200" dirty="0" err="1">
                <a:highlight>
                  <a:srgbClr val="FFFF00"/>
                </a:highlight>
                <a:latin typeface="Calibir"/>
              </a:rPr>
              <a:t>read_starting_balance</a:t>
            </a:r>
            <a:r>
              <a:rPr lang="en-US" sz="1200" dirty="0">
                <a:highlight>
                  <a:srgbClr val="FFFF00"/>
                </a:highlight>
                <a:latin typeface="Calibir"/>
              </a:rPr>
              <a:t>(self):</a:t>
            </a:r>
          </a:p>
          <a:p>
            <a:pPr rtl="0">
              <a:buNone/>
            </a:pPr>
            <a:r>
              <a:rPr lang="en-US" sz="1200" dirty="0">
                <a:highlight>
                  <a:srgbClr val="FFFF00"/>
                </a:highlight>
                <a:latin typeface="Calibir"/>
              </a:rPr>
              <a:t>        </a:t>
            </a:r>
            <a:r>
              <a:rPr lang="en-US" sz="1200" dirty="0" err="1">
                <a:highlight>
                  <a:srgbClr val="FFFF00"/>
                </a:highlight>
                <a:latin typeface="Calibir"/>
              </a:rPr>
              <a:t>self.balance</a:t>
            </a:r>
            <a:r>
              <a:rPr lang="en-US" sz="1200" dirty="0">
                <a:highlight>
                  <a:srgbClr val="FFFF00"/>
                </a:highlight>
                <a:latin typeface="Calibir"/>
              </a:rPr>
              <a:t> = float(</a:t>
            </a:r>
          </a:p>
          <a:p>
            <a:pPr rtl="0">
              <a:buNone/>
            </a:pPr>
            <a:r>
              <a:rPr lang="en-US" sz="1200" dirty="0">
                <a:highlight>
                  <a:srgbClr val="FFFF00"/>
                </a:highlight>
                <a:latin typeface="Calibir"/>
              </a:rPr>
              <a:t>            input(</a:t>
            </a:r>
          </a:p>
          <a:p>
            <a:pPr rtl="0">
              <a:buNone/>
            </a:pPr>
            <a:r>
              <a:rPr lang="en-US" sz="1200" dirty="0">
                <a:highlight>
                  <a:srgbClr val="FFFF00"/>
                </a:highlight>
                <a:latin typeface="Calibir"/>
              </a:rPr>
              <a:t>                "Enter starting balance: $"</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p>
          <a:p>
            <a:pPr rtl="0">
              <a:buNone/>
            </a:pPr>
            <a:r>
              <a:rPr lang="en-US" sz="1200" dirty="0">
                <a:highlight>
                  <a:srgbClr val="FFFF00"/>
                </a:highlight>
                <a:latin typeface="Calibir"/>
              </a:rPr>
              <a:t>    def deposit(self, amount):</a:t>
            </a:r>
          </a:p>
          <a:p>
            <a:pPr rtl="0">
              <a:buNone/>
            </a:pPr>
            <a:r>
              <a:rPr lang="en-US" sz="1200" dirty="0">
                <a:highlight>
                  <a:srgbClr val="FFFF00"/>
                </a:highlight>
                <a:latin typeface="Calibir"/>
              </a:rPr>
              <a:t>        </a:t>
            </a:r>
            <a:r>
              <a:rPr lang="en-US" sz="1200" dirty="0" err="1">
                <a:highlight>
                  <a:srgbClr val="FFFF00"/>
                </a:highlight>
                <a:latin typeface="Calibir"/>
              </a:rPr>
              <a:t>self.balance</a:t>
            </a:r>
            <a:r>
              <a:rPr lang="en-US" sz="1200" dirty="0">
                <a:highlight>
                  <a:srgbClr val="FFFF00"/>
                </a:highlight>
                <a:latin typeface="Calibir"/>
              </a:rPr>
              <a:t> += amount</a:t>
            </a:r>
          </a:p>
          <a:p>
            <a:pPr rtl="0">
              <a:buNone/>
            </a:pPr>
            <a:r>
              <a:rPr lang="en-US" sz="1200" dirty="0">
                <a:highlight>
                  <a:srgbClr val="FFFF00"/>
                </a:highlight>
                <a:latin typeface="Calibir"/>
              </a:rPr>
              <a:t>    def withdraw(self, amount):</a:t>
            </a:r>
          </a:p>
          <a:p>
            <a:pPr rtl="0">
              <a:buNone/>
            </a:pPr>
            <a:r>
              <a:rPr lang="en-US" sz="1200" dirty="0">
                <a:highlight>
                  <a:srgbClr val="FFFF00"/>
                </a:highlight>
                <a:latin typeface="Calibir"/>
              </a:rPr>
              <a:t>        if amount &gt; </a:t>
            </a:r>
            <a:r>
              <a:rPr lang="en-US" sz="1200" dirty="0" err="1">
                <a:highlight>
                  <a:srgbClr val="FFFF00"/>
                </a:highlight>
                <a:latin typeface="Calibir"/>
              </a:rPr>
              <a:t>self.balance</a:t>
            </a:r>
            <a:r>
              <a:rPr lang="en-US" sz="1200" dirty="0">
                <a:highlight>
                  <a:srgbClr val="FFFF00"/>
                </a:highlight>
                <a:latin typeface="Calibir"/>
              </a:rPr>
              <a:t>:</a:t>
            </a:r>
          </a:p>
          <a:p>
            <a:pPr rtl="0">
              <a:buNone/>
            </a:pPr>
            <a:r>
              <a:rPr lang="en-US" sz="1200" dirty="0">
                <a:highlight>
                  <a:srgbClr val="FFFF00"/>
                </a:highlight>
                <a:latin typeface="Calibir"/>
              </a:rPr>
              <a:t>            raise </a:t>
            </a:r>
            <a:r>
              <a:rPr lang="en-US" sz="1200" dirty="0" err="1">
                <a:highlight>
                  <a:srgbClr val="FFFF00"/>
                </a:highlight>
                <a:latin typeface="Calibir"/>
              </a:rPr>
              <a:t>ValueError</a:t>
            </a:r>
            <a:r>
              <a:rPr lang="en-US" sz="1200" dirty="0">
                <a:highlight>
                  <a:srgbClr val="FFFF00"/>
                </a:highlight>
                <a:latin typeface="Calibir"/>
              </a:rPr>
              <a:t>(</a:t>
            </a:r>
          </a:p>
          <a:p>
            <a:pPr rtl="0">
              <a:buNone/>
            </a:pPr>
            <a:r>
              <a:rPr lang="en-US" sz="1200" dirty="0">
                <a:highlight>
                  <a:srgbClr val="FFFF00"/>
                </a:highlight>
                <a:latin typeface="Calibir"/>
              </a:rPr>
              <a:t>                "Insufficient funds"</a:t>
            </a:r>
          </a:p>
          <a:p>
            <a:pPr rtl="0">
              <a:buNone/>
            </a:pPr>
            <a:r>
              <a:rPr lang="en-US" sz="1200" dirty="0">
                <a:highlight>
                  <a:srgbClr val="FFFF00"/>
                </a:highlight>
                <a:latin typeface="Calibir"/>
              </a:rPr>
              <a:t>            )</a:t>
            </a:r>
          </a:p>
          <a:p>
            <a:pPr rtl="0">
              <a:buNone/>
            </a:pPr>
            <a:r>
              <a:rPr lang="en-US" sz="1200" dirty="0">
                <a:highlight>
                  <a:srgbClr val="FFFF00"/>
                </a:highlight>
                <a:latin typeface="Calibir"/>
              </a:rPr>
              <a:t>        </a:t>
            </a:r>
            <a:r>
              <a:rPr lang="en-US" sz="1200" dirty="0" err="1">
                <a:highlight>
                  <a:srgbClr val="FFFF00"/>
                </a:highlight>
                <a:latin typeface="Calibir"/>
              </a:rPr>
              <a:t>self.balance</a:t>
            </a:r>
            <a:r>
              <a:rPr lang="en-US" sz="1200" dirty="0">
                <a:highlight>
                  <a:srgbClr val="FFFF00"/>
                </a:highlight>
                <a:latin typeface="Calibir"/>
              </a:rPr>
              <a:t> -= amount</a:t>
            </a:r>
          </a:p>
          <a:p>
            <a:pPr rtl="0">
              <a:buNone/>
            </a:pPr>
            <a:r>
              <a:rPr lang="en-US" sz="1200" dirty="0">
                <a:highlight>
                  <a:srgbClr val="FFFF00"/>
                </a:highlight>
                <a:latin typeface="Calibir"/>
              </a:rPr>
              <a:t>    def show(self):</a:t>
            </a:r>
          </a:p>
          <a:p>
            <a:pPr rtl="0">
              <a:buNone/>
            </a:pPr>
            <a:r>
              <a:rPr lang="en-US" sz="1200" dirty="0">
                <a:highlight>
                  <a:srgbClr val="FFFF00"/>
                </a:highlight>
                <a:latin typeface="Calibir"/>
              </a:rPr>
              <a:t>        print(</a:t>
            </a:r>
          </a:p>
          <a:p>
            <a:pPr rtl="0">
              <a:buNone/>
            </a:pPr>
            <a:r>
              <a:rPr lang="en-US" sz="1200" dirty="0">
                <a:highlight>
                  <a:srgbClr val="FFFF00"/>
                </a:highlight>
                <a:latin typeface="Calibir"/>
              </a:rPr>
              <a:t>            </a:t>
            </a:r>
            <a:r>
              <a:rPr lang="en-US" sz="1200" dirty="0" err="1">
                <a:highlight>
                  <a:srgbClr val="FFFF00"/>
                </a:highlight>
                <a:latin typeface="Calibir"/>
              </a:rPr>
              <a:t>f"Starting</a:t>
            </a:r>
            <a:r>
              <a:rPr lang="en-US" sz="1200" dirty="0">
                <a:highlight>
                  <a:srgbClr val="FFFF00"/>
                </a:highlight>
                <a:latin typeface="Calibir"/>
              </a:rPr>
              <a:t> balance: "</a:t>
            </a:r>
          </a:p>
          <a:p>
            <a:pPr rtl="0">
              <a:buNone/>
            </a:pPr>
            <a:r>
              <a:rPr lang="en-US" sz="1200" dirty="0">
                <a:highlight>
                  <a:srgbClr val="FFFF00"/>
                </a:highlight>
                <a:latin typeface="Calibir"/>
              </a:rPr>
              <a:t>            f"${self.balance:.2f}"</a:t>
            </a:r>
          </a:p>
          <a:p>
            <a:pPr rtl="0">
              <a:buNone/>
            </a:pPr>
            <a:r>
              <a:rPr lang="en-US" sz="1200" dirty="0">
                <a:highlight>
                  <a:srgbClr val="FFFF00"/>
                </a:highlight>
                <a:latin typeface="Calibir"/>
              </a:rPr>
              <a:t>        )</a:t>
            </a:r>
          </a:p>
          <a:p>
            <a:pPr rtl="0">
              <a:buNone/>
            </a:pPr>
            <a:r>
              <a:rPr lang="en-US" sz="1200" dirty="0">
                <a:highlight>
                  <a:srgbClr val="FFFF00"/>
                </a:highlight>
                <a:latin typeface="Calibir"/>
              </a:rPr>
              <a:t>    def menu(self):</a:t>
            </a:r>
          </a:p>
          <a:p>
            <a:pPr rtl="0">
              <a:buNone/>
            </a:pPr>
            <a:r>
              <a:rPr lang="en-US" sz="1200" dirty="0">
                <a:highlight>
                  <a:srgbClr val="FFFF00"/>
                </a:highlight>
                <a:latin typeface="Calibir"/>
              </a:rPr>
              <a:t>        </a:t>
            </a:r>
            <a:r>
              <a:rPr lang="en-US" sz="1200" dirty="0" err="1">
                <a:highlight>
                  <a:srgbClr val="FFFF00"/>
                </a:highlight>
                <a:latin typeface="Calibir"/>
              </a:rPr>
              <a:t>first_time</a:t>
            </a:r>
            <a:r>
              <a:rPr lang="en-US" sz="1200" dirty="0">
                <a:highlight>
                  <a:srgbClr val="FFFF00"/>
                </a:highlight>
                <a:latin typeface="Calibir"/>
              </a:rPr>
              <a:t> = True</a:t>
            </a:r>
          </a:p>
          <a:p>
            <a:pPr rtl="0">
              <a:buNone/>
            </a:pPr>
            <a:r>
              <a:rPr lang="en-US" sz="1200" dirty="0">
                <a:highlight>
                  <a:srgbClr val="FFFF00"/>
                </a:highlight>
                <a:latin typeface="Calibir"/>
              </a:rPr>
              <a:t>        while True:</a:t>
            </a:r>
          </a:p>
          <a:p>
            <a:pPr rtl="0">
              <a:buNone/>
            </a:pPr>
            <a:r>
              <a:rPr lang="en-US" sz="1200" dirty="0">
                <a:highlight>
                  <a:srgbClr val="FFFF00"/>
                </a:highlight>
                <a:latin typeface="Calibir"/>
              </a:rPr>
              <a:t>            if </a:t>
            </a:r>
            <a:r>
              <a:rPr lang="en-US" sz="1200" dirty="0" err="1">
                <a:highlight>
                  <a:srgbClr val="FFFF00"/>
                </a:highlight>
                <a:latin typeface="Calibir"/>
              </a:rPr>
              <a:t>first_time</a:t>
            </a:r>
            <a:r>
              <a:rPr lang="en-US" sz="1200" dirty="0">
                <a:highlight>
                  <a:srgbClr val="FFFF00"/>
                </a:highlight>
                <a:latin typeface="Calibir"/>
              </a:rPr>
              <a:t>:</a:t>
            </a:r>
          </a:p>
          <a:p>
            <a:pPr rtl="0">
              <a:buNone/>
            </a:pPr>
            <a:r>
              <a:rPr lang="en-US" sz="1200" dirty="0">
                <a:highlight>
                  <a:srgbClr val="FFFF00"/>
                </a:highlight>
                <a:latin typeface="Calibir"/>
              </a:rPr>
              <a:t>                choice = input(</a:t>
            </a:r>
          </a:p>
          <a:p>
            <a:pPr rtl="0">
              <a:buNone/>
            </a:pPr>
            <a:r>
              <a:rPr lang="en-US" sz="1200" dirty="0">
                <a:highlight>
                  <a:srgbClr val="FFFF00"/>
                </a:highlight>
                <a:latin typeface="Calibir"/>
              </a:rPr>
              <a:t>                    "Start banking "</a:t>
            </a:r>
          </a:p>
          <a:p>
            <a:pPr rtl="0">
              <a:buNone/>
            </a:pPr>
            <a:r>
              <a:rPr lang="en-US" sz="1200" dirty="0">
                <a:highlight>
                  <a:srgbClr val="FFFF00"/>
                </a:highlight>
                <a:latin typeface="Calibir"/>
              </a:rPr>
              <a:t>                    "(d/w/s/x): "</a:t>
            </a:r>
          </a:p>
          <a:p>
            <a:pPr rtl="0">
              <a:buNone/>
            </a:pPr>
            <a:r>
              <a:rPr lang="en-US" sz="1200" dirty="0">
                <a:highlight>
                  <a:srgbClr val="FFFF00"/>
                </a:highlight>
                <a:latin typeface="Calibir"/>
              </a:rPr>
              <a:t>                ).lower()</a:t>
            </a:r>
          </a:p>
          <a:p>
            <a:pPr rtl="0">
              <a:buNone/>
            </a:pPr>
            <a:r>
              <a:rPr lang="en-US" sz="1200" dirty="0">
                <a:highlight>
                  <a:srgbClr val="FFFF00"/>
                </a:highlight>
                <a:latin typeface="Calibir"/>
              </a:rPr>
              <a:t>                </a:t>
            </a:r>
            <a:r>
              <a:rPr lang="en-US" sz="1200" dirty="0" err="1">
                <a:highlight>
                  <a:srgbClr val="FFFF00"/>
                </a:highlight>
                <a:latin typeface="Calibir"/>
              </a:rPr>
              <a:t>first_time</a:t>
            </a:r>
            <a:r>
              <a:rPr lang="en-US" sz="1200" dirty="0">
                <a:highlight>
                  <a:srgbClr val="FFFF00"/>
                </a:highlight>
                <a:latin typeface="Calibir"/>
              </a:rPr>
              <a:t> = False</a:t>
            </a:r>
          </a:p>
          <a:p>
            <a:pPr rtl="0">
              <a:buNone/>
            </a:pPr>
            <a:r>
              <a:rPr lang="en-US" sz="1200" dirty="0">
                <a:highlight>
                  <a:srgbClr val="FFFF00"/>
                </a:highlight>
                <a:latin typeface="Calibir"/>
              </a:rPr>
              <a:t>            else:</a:t>
            </a:r>
          </a:p>
          <a:p>
            <a:pPr rtl="0">
              <a:buNone/>
            </a:pPr>
            <a:r>
              <a:rPr lang="en-US" sz="1200" dirty="0">
                <a:highlight>
                  <a:srgbClr val="FFFF00"/>
                </a:highlight>
                <a:latin typeface="Calibir"/>
              </a:rPr>
              <a:t>                choice = input(</a:t>
            </a:r>
          </a:p>
          <a:p>
            <a:pPr rtl="0">
              <a:buNone/>
            </a:pPr>
            <a:r>
              <a:rPr lang="en-US" sz="1200" dirty="0">
                <a:highlight>
                  <a:srgbClr val="FFFF00"/>
                </a:highlight>
                <a:latin typeface="Calibir"/>
              </a:rPr>
              <a:t>                    "Continue banking "</a:t>
            </a:r>
          </a:p>
          <a:p>
            <a:pPr rtl="0">
              <a:buNone/>
            </a:pPr>
            <a:r>
              <a:rPr lang="en-US" sz="1200" dirty="0">
                <a:highlight>
                  <a:srgbClr val="FFFF00"/>
                </a:highlight>
                <a:latin typeface="Calibir"/>
              </a:rPr>
              <a:t>                    "(d/w/s/x): "</a:t>
            </a:r>
          </a:p>
          <a:p>
            <a:pPr rtl="0">
              <a:buNone/>
            </a:pPr>
            <a:r>
              <a:rPr lang="en-US" sz="1200" dirty="0">
                <a:highlight>
                  <a:srgbClr val="FFFF00"/>
                </a:highlight>
                <a:latin typeface="Calibir"/>
              </a:rPr>
              <a:t>                ).lower()</a:t>
            </a:r>
          </a:p>
        </p:txBody>
      </p:sp>
    </p:spTree>
    <p:extLst>
      <p:ext uri="{BB962C8B-B14F-4D97-AF65-F5344CB8AC3E}">
        <p14:creationId xmlns:p14="http://schemas.microsoft.com/office/powerpoint/2010/main" val="18038499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84B5AF1-F3AB-94DB-84F8-FDF93E6655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BE2C692-4C77-73CF-E591-4884E1C089D7}"/>
              </a:ext>
            </a:extLst>
          </p:cNvPr>
          <p:cNvSpPr txBox="1"/>
          <p:nvPr/>
        </p:nvSpPr>
        <p:spPr>
          <a:xfrm>
            <a:off x="0" y="0"/>
            <a:ext cx="6098458" cy="6924973"/>
          </a:xfrm>
          <a:prstGeom prst="rect">
            <a:avLst/>
          </a:prstGeom>
          <a:noFill/>
        </p:spPr>
        <p:txBody>
          <a:bodyPr wrap="square">
            <a:spAutoFit/>
          </a:bodyPr>
          <a:lstStyle/>
          <a:p>
            <a:r>
              <a:rPr lang="en-US" sz="1200" dirty="0">
                <a:highlight>
                  <a:srgbClr val="FFFF00"/>
                </a:highlight>
                <a:latin typeface="Calibir"/>
              </a:rPr>
              <a:t> if choice == "d":</a:t>
            </a:r>
          </a:p>
          <a:p>
            <a:r>
              <a:rPr lang="en-US" sz="1200" dirty="0">
                <a:highlight>
                  <a:srgbClr val="FFFF00"/>
                </a:highlight>
                <a:latin typeface="Calibir"/>
              </a:rPr>
              <a:t>                amount = float(</a:t>
            </a:r>
          </a:p>
          <a:p>
            <a:r>
              <a:rPr lang="en-US" sz="1200" dirty="0">
                <a:highlight>
                  <a:srgbClr val="FFFF00"/>
                </a:highlight>
                <a:latin typeface="Calibir"/>
              </a:rPr>
              <a:t>                    input(</a:t>
            </a:r>
          </a:p>
          <a:p>
            <a:r>
              <a:rPr lang="en-US" sz="1200" dirty="0">
                <a:highlight>
                  <a:srgbClr val="FFFF00"/>
                </a:highlight>
                <a:latin typeface="Calibir"/>
              </a:rPr>
              <a:t>                        "Amount to deposit: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self.deposit</a:t>
            </a:r>
            <a:r>
              <a:rPr lang="en-US" sz="1200" dirty="0">
                <a:highlight>
                  <a:srgbClr val="FFFF00"/>
                </a:highlight>
                <a:latin typeface="Calibir"/>
              </a:rPr>
              <a:t>(amount)</a:t>
            </a:r>
          </a:p>
          <a:p>
            <a:r>
              <a:rPr lang="en-US" sz="1200" dirty="0">
                <a:highlight>
                  <a:srgbClr val="FFFF00"/>
                </a:highlight>
                <a:latin typeface="Calibir"/>
              </a:rPr>
              <a:t>                print(</a:t>
            </a:r>
          </a:p>
          <a:p>
            <a:r>
              <a:rPr lang="en-US" sz="1200" dirty="0">
                <a:highlight>
                  <a:srgbClr val="FFFF00"/>
                </a:highlight>
                <a:latin typeface="Calibir"/>
              </a:rPr>
              <a:t>                    </a:t>
            </a:r>
            <a:r>
              <a:rPr lang="en-US" sz="1200" dirty="0" err="1">
                <a:highlight>
                  <a:srgbClr val="FFFF00"/>
                </a:highlight>
                <a:latin typeface="Calibir"/>
              </a:rPr>
              <a:t>f"Amount</a:t>
            </a:r>
            <a:r>
              <a:rPr lang="en-US" sz="1200" dirty="0">
                <a:highlight>
                  <a:srgbClr val="FFFF00"/>
                </a:highlight>
                <a:latin typeface="Calibir"/>
              </a:rPr>
              <a:t> deposited: "</a:t>
            </a:r>
          </a:p>
          <a:p>
            <a:r>
              <a:rPr lang="en-US" sz="1200" dirty="0">
                <a:highlight>
                  <a:srgbClr val="FFFF00"/>
                </a:highlight>
                <a:latin typeface="Calibir"/>
              </a:rPr>
              <a:t>                    f"${amount:.2f}"</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elif</a:t>
            </a:r>
            <a:r>
              <a:rPr lang="en-US" sz="1200" dirty="0">
                <a:highlight>
                  <a:srgbClr val="FFFF00"/>
                </a:highlight>
                <a:latin typeface="Calibir"/>
              </a:rPr>
              <a:t> choice == "w":</a:t>
            </a:r>
          </a:p>
          <a:p>
            <a:r>
              <a:rPr lang="en-US" sz="1200" dirty="0">
                <a:highlight>
                  <a:srgbClr val="FFFF00"/>
                </a:highlight>
                <a:latin typeface="Calibir"/>
              </a:rPr>
              <a:t>                amount = float(</a:t>
            </a:r>
          </a:p>
          <a:p>
            <a:r>
              <a:rPr lang="en-US" sz="1200" dirty="0">
                <a:highlight>
                  <a:srgbClr val="FFFF00"/>
                </a:highlight>
                <a:latin typeface="Calibir"/>
              </a:rPr>
              <a:t>                    input(</a:t>
            </a:r>
          </a:p>
          <a:p>
            <a:r>
              <a:rPr lang="en-US" sz="1200" dirty="0">
                <a:highlight>
                  <a:srgbClr val="FFFF00"/>
                </a:highlight>
                <a:latin typeface="Calibir"/>
              </a:rPr>
              <a:t>                        "Amount to withdraw: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try:</a:t>
            </a:r>
          </a:p>
          <a:p>
            <a:r>
              <a:rPr lang="en-US" sz="1200" dirty="0">
                <a:highlight>
                  <a:srgbClr val="FFFF00"/>
                </a:highlight>
                <a:latin typeface="Calibir"/>
              </a:rPr>
              <a:t>                    </a:t>
            </a:r>
            <a:r>
              <a:rPr lang="en-US" sz="1200" dirty="0" err="1">
                <a:highlight>
                  <a:srgbClr val="FFFF00"/>
                </a:highlight>
                <a:latin typeface="Calibir"/>
              </a:rPr>
              <a:t>self.withdraw</a:t>
            </a:r>
            <a:r>
              <a:rPr lang="en-US" sz="1200" dirty="0">
                <a:highlight>
                  <a:srgbClr val="FFFF00"/>
                </a:highlight>
                <a:latin typeface="Calibir"/>
              </a:rPr>
              <a:t>(amount)</a:t>
            </a:r>
          </a:p>
          <a:p>
            <a:r>
              <a:rPr lang="en-US" sz="1200" dirty="0">
                <a:highlight>
                  <a:srgbClr val="FFFF00"/>
                </a:highlight>
                <a:latin typeface="Calibir"/>
              </a:rPr>
              <a:t>                    print(</a:t>
            </a:r>
          </a:p>
          <a:p>
            <a:r>
              <a:rPr lang="en-US" sz="1200" dirty="0">
                <a:highlight>
                  <a:srgbClr val="FFFF00"/>
                </a:highlight>
                <a:latin typeface="Calibir"/>
              </a:rPr>
              <a:t>                        </a:t>
            </a:r>
            <a:r>
              <a:rPr lang="en-US" sz="1200" dirty="0" err="1">
                <a:highlight>
                  <a:srgbClr val="FFFF00"/>
                </a:highlight>
                <a:latin typeface="Calibir"/>
              </a:rPr>
              <a:t>f"Amount</a:t>
            </a:r>
            <a:r>
              <a:rPr lang="en-US" sz="1200" dirty="0">
                <a:highlight>
                  <a:srgbClr val="FFFF00"/>
                </a:highlight>
                <a:latin typeface="Calibir"/>
              </a:rPr>
              <a:t> withdrawn: "</a:t>
            </a:r>
          </a:p>
          <a:p>
            <a:r>
              <a:rPr lang="en-US" sz="1200" dirty="0">
                <a:highlight>
                  <a:srgbClr val="FFFF00"/>
                </a:highlight>
                <a:latin typeface="Calibir"/>
              </a:rPr>
              <a:t>                        f"${amount:.2f}"</a:t>
            </a:r>
          </a:p>
          <a:p>
            <a:r>
              <a:rPr lang="en-US" sz="1200" dirty="0">
                <a:highlight>
                  <a:srgbClr val="FFFF00"/>
                </a:highlight>
                <a:latin typeface="Calibir"/>
              </a:rPr>
              <a:t>                    )</a:t>
            </a:r>
          </a:p>
          <a:p>
            <a:r>
              <a:rPr lang="en-US" sz="1200" dirty="0">
                <a:highlight>
                  <a:srgbClr val="FFFF00"/>
                </a:highlight>
                <a:latin typeface="Calibir"/>
              </a:rPr>
              <a:t>                except </a:t>
            </a:r>
            <a:r>
              <a:rPr lang="en-US" sz="1200" dirty="0" err="1">
                <a:highlight>
                  <a:srgbClr val="FFFF00"/>
                </a:highlight>
                <a:latin typeface="Calibir"/>
              </a:rPr>
              <a:t>ValueError</a:t>
            </a:r>
            <a:r>
              <a:rPr lang="en-US" sz="1200" dirty="0">
                <a:highlight>
                  <a:srgbClr val="FFFF00"/>
                </a:highlight>
                <a:latin typeface="Calibir"/>
              </a:rPr>
              <a:t> as error:</a:t>
            </a:r>
          </a:p>
          <a:p>
            <a:r>
              <a:rPr lang="en-US" sz="1200" dirty="0">
                <a:highlight>
                  <a:srgbClr val="FFFF00"/>
                </a:highlight>
                <a:latin typeface="Calibir"/>
              </a:rPr>
              <a:t>                    print(error)</a:t>
            </a:r>
          </a:p>
          <a:p>
            <a:r>
              <a:rPr lang="en-US" sz="1200" dirty="0">
                <a:highlight>
                  <a:srgbClr val="FFFF00"/>
                </a:highlight>
                <a:latin typeface="Calibir"/>
              </a:rPr>
              <a:t>            </a:t>
            </a:r>
            <a:r>
              <a:rPr lang="en-US" sz="1200" dirty="0" err="1">
                <a:highlight>
                  <a:srgbClr val="FFFF00"/>
                </a:highlight>
                <a:latin typeface="Calibir"/>
              </a:rPr>
              <a:t>elif</a:t>
            </a:r>
            <a:r>
              <a:rPr lang="en-US" sz="1200" dirty="0">
                <a:highlight>
                  <a:srgbClr val="FFFF00"/>
                </a:highlight>
                <a:latin typeface="Calibir"/>
              </a:rPr>
              <a:t> choice == "s":</a:t>
            </a:r>
          </a:p>
          <a:p>
            <a:r>
              <a:rPr lang="en-US" sz="1200" dirty="0">
                <a:highlight>
                  <a:srgbClr val="FFFF00"/>
                </a:highlight>
                <a:latin typeface="Calibir"/>
              </a:rPr>
              <a:t>                </a:t>
            </a:r>
            <a:r>
              <a:rPr lang="en-US" sz="1200" dirty="0" err="1">
                <a:highlight>
                  <a:srgbClr val="FFFF00"/>
                </a:highlight>
                <a:latin typeface="Calibir"/>
              </a:rPr>
              <a:t>self.show</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elif</a:t>
            </a:r>
            <a:r>
              <a:rPr lang="en-US" sz="1200" dirty="0">
                <a:highlight>
                  <a:srgbClr val="FFFF00"/>
                </a:highlight>
                <a:latin typeface="Calibir"/>
              </a:rPr>
              <a:t> choice == "x":</a:t>
            </a:r>
          </a:p>
          <a:p>
            <a:r>
              <a:rPr lang="en-US" sz="1200" dirty="0">
                <a:highlight>
                  <a:srgbClr val="FFFF00"/>
                </a:highlight>
                <a:latin typeface="Calibir"/>
              </a:rPr>
              <a:t>                break</a:t>
            </a:r>
          </a:p>
          <a:p>
            <a:r>
              <a:rPr lang="en-US" sz="1200" dirty="0">
                <a:highlight>
                  <a:srgbClr val="FFFF00"/>
                </a:highlight>
                <a:latin typeface="Calibir"/>
              </a:rPr>
              <a:t>            else:</a:t>
            </a:r>
          </a:p>
          <a:p>
            <a:r>
              <a:rPr lang="en-US" sz="1200" dirty="0">
                <a:highlight>
                  <a:srgbClr val="FFFF00"/>
                </a:highlight>
                <a:latin typeface="Calibir"/>
              </a:rPr>
              <a:t>                print("Invalid option")</a:t>
            </a:r>
          </a:p>
          <a:p>
            <a:r>
              <a:rPr lang="en-US" sz="1200" dirty="0">
                <a:highlight>
                  <a:srgbClr val="FFFF00"/>
                </a:highlight>
                <a:latin typeface="Calibir"/>
              </a:rPr>
              <a:t>def main():</a:t>
            </a:r>
          </a:p>
          <a:p>
            <a:r>
              <a:rPr lang="en-US" sz="1200" dirty="0">
                <a:highlight>
                  <a:srgbClr val="FFFF00"/>
                </a:highlight>
                <a:latin typeface="Calibir"/>
              </a:rPr>
              <a:t>    bank = Bank()</a:t>
            </a:r>
          </a:p>
          <a:p>
            <a:r>
              <a:rPr lang="en-US" sz="1200" dirty="0">
                <a:highlight>
                  <a:srgbClr val="FFFF00"/>
                </a:highlight>
                <a:latin typeface="Calibir"/>
              </a:rPr>
              <a:t>    </a:t>
            </a:r>
            <a:r>
              <a:rPr lang="en-US" sz="1200" dirty="0" err="1">
                <a:highlight>
                  <a:srgbClr val="FFFF00"/>
                </a:highlight>
                <a:latin typeface="Calibir"/>
              </a:rPr>
              <a:t>bank.read_starting_balance</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bank.menu</a:t>
            </a:r>
            <a:r>
              <a:rPr lang="en-US" sz="1200" dirty="0">
                <a:highlight>
                  <a:srgbClr val="FFFF00"/>
                </a:highlight>
                <a:latin typeface="Calibir"/>
              </a:rPr>
              <a:t>()</a:t>
            </a:r>
          </a:p>
          <a:p>
            <a:r>
              <a:rPr lang="en-US" sz="1200" dirty="0">
                <a:highlight>
                  <a:srgbClr val="FFFF00"/>
                </a:highlight>
                <a:latin typeface="Calibir"/>
              </a:rPr>
              <a:t>if __name__ == "__main__":</a:t>
            </a:r>
          </a:p>
          <a:p>
            <a:r>
              <a:rPr lang="en-US" sz="1200" dirty="0">
                <a:highlight>
                  <a:srgbClr val="FFFF00"/>
                </a:highlight>
                <a:latin typeface="Calibir"/>
              </a:rPr>
              <a:t>    main()</a:t>
            </a:r>
          </a:p>
        </p:txBody>
      </p:sp>
    </p:spTree>
    <p:extLst>
      <p:ext uri="{BB962C8B-B14F-4D97-AF65-F5344CB8AC3E}">
        <p14:creationId xmlns:p14="http://schemas.microsoft.com/office/powerpoint/2010/main" val="38692659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59DE32D-3468-DD66-6776-585570FF96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D2EB6DC-29F5-0A4A-65EC-7A2FA3244F8F}"/>
              </a:ext>
            </a:extLst>
          </p:cNvPr>
          <p:cNvSpPr txBox="1"/>
          <p:nvPr/>
        </p:nvSpPr>
        <p:spPr>
          <a:xfrm>
            <a:off x="0" y="0"/>
            <a:ext cx="6098458" cy="6340197"/>
          </a:xfrm>
          <a:prstGeom prst="rect">
            <a:avLst/>
          </a:prstGeom>
          <a:noFill/>
        </p:spPr>
        <p:txBody>
          <a:bodyPr wrap="square">
            <a:spAutoFit/>
          </a:bodyPr>
          <a:lstStyle/>
          <a:p>
            <a:r>
              <a:rPr lang="en-US" sz="1400" b="1" dirty="0">
                <a:latin typeface="Calibir"/>
              </a:rPr>
              <a:t>Step 14 — Completed Java solution</a:t>
            </a:r>
          </a:p>
          <a:p>
            <a:r>
              <a:rPr lang="en-US" sz="1400" dirty="0">
                <a:highlight>
                  <a:srgbClr val="FFFF00"/>
                </a:highlight>
                <a:latin typeface="Calibir"/>
              </a:rPr>
              <a:t>import </a:t>
            </a:r>
            <a:r>
              <a:rPr lang="en-US" sz="1400" dirty="0" err="1">
                <a:highlight>
                  <a:srgbClr val="FFFF00"/>
                </a:highlight>
                <a:latin typeface="Calibir"/>
              </a:rPr>
              <a:t>java.util.Scanner</a:t>
            </a:r>
            <a:r>
              <a:rPr lang="en-US" sz="1400" dirty="0">
                <a:highlight>
                  <a:srgbClr val="FFFF00"/>
                </a:highlight>
                <a:latin typeface="Calibir"/>
              </a:rPr>
              <a:t>;</a:t>
            </a:r>
          </a:p>
          <a:p>
            <a:r>
              <a:rPr lang="en-US" sz="1400" dirty="0">
                <a:highlight>
                  <a:srgbClr val="FFFF00"/>
                </a:highlight>
                <a:latin typeface="Calibir"/>
              </a:rPr>
              <a:t>public class Bank {</a:t>
            </a:r>
          </a:p>
          <a:p>
            <a:r>
              <a:rPr lang="en-US" sz="1400" dirty="0">
                <a:highlight>
                  <a:srgbClr val="FFFF00"/>
                </a:highlight>
                <a:latin typeface="Calibir"/>
              </a:rPr>
              <a:t>    private double balance;</a:t>
            </a:r>
          </a:p>
          <a:p>
            <a:r>
              <a:rPr lang="en-US" sz="1400" dirty="0">
                <a:highlight>
                  <a:srgbClr val="FFFF00"/>
                </a:highlight>
                <a:latin typeface="Calibir"/>
              </a:rPr>
              <a:t>    public void </a:t>
            </a:r>
            <a:r>
              <a:rPr lang="en-US" sz="1400" dirty="0" err="1">
                <a:highlight>
                  <a:srgbClr val="FFFF00"/>
                </a:highlight>
                <a:latin typeface="Calibir"/>
              </a:rPr>
              <a:t>readStartingBalance</a:t>
            </a:r>
            <a:r>
              <a:rPr lang="en-US" sz="1400" dirty="0">
                <a:highlight>
                  <a:srgbClr val="FFFF00"/>
                </a:highlight>
                <a:latin typeface="Calibir"/>
              </a:rPr>
              <a:t>(</a:t>
            </a:r>
          </a:p>
          <a:p>
            <a:r>
              <a:rPr lang="en-US" sz="1400" dirty="0">
                <a:highlight>
                  <a:srgbClr val="FFFF00"/>
                </a:highlight>
                <a:latin typeface="Calibir"/>
              </a:rPr>
              <a:t>        Scanner input</a:t>
            </a:r>
          </a:p>
          <a:p>
            <a:r>
              <a:rPr lang="en-US" sz="1400" dirty="0">
                <a:highlight>
                  <a:srgbClr val="FFFF00"/>
                </a:highlight>
                <a:latin typeface="Calibir"/>
              </a:rPr>
              <a:t>    ) {</a:t>
            </a: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"Enter starting balance: $"</a:t>
            </a:r>
          </a:p>
          <a:p>
            <a:r>
              <a:rPr lang="en-US" sz="1400" dirty="0">
                <a:highlight>
                  <a:srgbClr val="FFFF00"/>
                </a:highlight>
                <a:latin typeface="Calibir"/>
              </a:rPr>
              <a:t>        );</a:t>
            </a:r>
          </a:p>
          <a:p>
            <a:r>
              <a:rPr lang="en-US" sz="1400" dirty="0">
                <a:highlight>
                  <a:srgbClr val="FFFF00"/>
                </a:highlight>
                <a:latin typeface="Calibir"/>
              </a:rPr>
              <a:t>        balance =</a:t>
            </a:r>
          </a:p>
          <a:p>
            <a:r>
              <a:rPr lang="en-US" sz="1400" dirty="0">
                <a:highlight>
                  <a:srgbClr val="FFFF00"/>
                </a:highlight>
                <a:latin typeface="Calibir"/>
              </a:rPr>
              <a:t>            </a:t>
            </a:r>
            <a:r>
              <a:rPr lang="en-US" sz="1400" dirty="0" err="1">
                <a:highlight>
                  <a:srgbClr val="FFFF00"/>
                </a:highlight>
                <a:latin typeface="Calibir"/>
              </a:rPr>
              <a:t>input.nextDouble</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input.nextLine</a:t>
            </a:r>
            <a:r>
              <a:rPr lang="en-US" sz="1400" dirty="0">
                <a:highlight>
                  <a:srgbClr val="FFFF00"/>
                </a:highlight>
                <a:latin typeface="Calibir"/>
              </a:rPr>
              <a:t>();</a:t>
            </a:r>
          </a:p>
          <a:p>
            <a:r>
              <a:rPr lang="en-US" sz="1400" dirty="0">
                <a:highlight>
                  <a:srgbClr val="FFFF00"/>
                </a:highlight>
                <a:latin typeface="Calibir"/>
              </a:rPr>
              <a:t>    }</a:t>
            </a:r>
          </a:p>
          <a:p>
            <a:r>
              <a:rPr lang="en-US" sz="1400" dirty="0">
                <a:highlight>
                  <a:srgbClr val="FFFF00"/>
                </a:highlight>
                <a:latin typeface="Calibir"/>
              </a:rPr>
              <a:t>    public void deposit(</a:t>
            </a:r>
          </a:p>
          <a:p>
            <a:r>
              <a:rPr lang="en-US" sz="1400" dirty="0">
                <a:highlight>
                  <a:srgbClr val="FFFF00"/>
                </a:highlight>
                <a:latin typeface="Calibir"/>
              </a:rPr>
              <a:t>        double amount</a:t>
            </a:r>
          </a:p>
          <a:p>
            <a:r>
              <a:rPr lang="en-US" sz="1400" dirty="0">
                <a:highlight>
                  <a:srgbClr val="FFFF00"/>
                </a:highlight>
                <a:latin typeface="Calibir"/>
              </a:rPr>
              <a:t>    ) {</a:t>
            </a:r>
          </a:p>
          <a:p>
            <a:r>
              <a:rPr lang="en-US" sz="1400" dirty="0">
                <a:highlight>
                  <a:srgbClr val="FFFF00"/>
                </a:highlight>
                <a:latin typeface="Calibir"/>
              </a:rPr>
              <a:t>        balance += amount;</a:t>
            </a:r>
          </a:p>
          <a:p>
            <a:r>
              <a:rPr lang="en-US" sz="1400" dirty="0">
                <a:highlight>
                  <a:srgbClr val="FFFF00"/>
                </a:highlight>
                <a:latin typeface="Calibir"/>
              </a:rPr>
              <a:t>    }</a:t>
            </a:r>
          </a:p>
          <a:p>
            <a:r>
              <a:rPr lang="en-US" sz="1400" dirty="0">
                <a:highlight>
                  <a:srgbClr val="FFFF00"/>
                </a:highlight>
                <a:latin typeface="Calibir"/>
              </a:rPr>
              <a:t>    public void withdraw(</a:t>
            </a:r>
          </a:p>
          <a:p>
            <a:r>
              <a:rPr lang="en-US" sz="1400" dirty="0">
                <a:highlight>
                  <a:srgbClr val="FFFF00"/>
                </a:highlight>
                <a:latin typeface="Calibir"/>
              </a:rPr>
              <a:t>        double amount</a:t>
            </a:r>
          </a:p>
          <a:p>
            <a:r>
              <a:rPr lang="en-US" sz="1400" dirty="0">
                <a:highlight>
                  <a:srgbClr val="FFFF00"/>
                </a:highlight>
                <a:latin typeface="Calibir"/>
              </a:rPr>
              <a:t>    ) {</a:t>
            </a:r>
          </a:p>
          <a:p>
            <a:r>
              <a:rPr lang="en-US" sz="1400" dirty="0">
                <a:highlight>
                  <a:srgbClr val="FFFF00"/>
                </a:highlight>
                <a:latin typeface="Calibir"/>
              </a:rPr>
              <a:t>        if (amount &gt; balance) {</a:t>
            </a:r>
          </a:p>
          <a:p>
            <a:r>
              <a:rPr lang="en-US" sz="1400" dirty="0">
                <a:highlight>
                  <a:srgbClr val="FFFF00"/>
                </a:highlight>
                <a:latin typeface="Calibir"/>
              </a:rPr>
              <a:t>            throw new </a:t>
            </a:r>
            <a:r>
              <a:rPr lang="en-US" sz="1400" dirty="0" err="1">
                <a:highlight>
                  <a:srgbClr val="FFFF00"/>
                </a:highlight>
                <a:latin typeface="Calibir"/>
              </a:rPr>
              <a:t>IllegalArgumentException</a:t>
            </a:r>
            <a:r>
              <a:rPr lang="en-US" sz="1400" dirty="0">
                <a:highlight>
                  <a:srgbClr val="FFFF00"/>
                </a:highlight>
                <a:latin typeface="Calibir"/>
              </a:rPr>
              <a:t>(</a:t>
            </a:r>
          </a:p>
          <a:p>
            <a:r>
              <a:rPr lang="en-US" sz="1400" dirty="0">
                <a:highlight>
                  <a:srgbClr val="FFFF00"/>
                </a:highlight>
                <a:latin typeface="Calibir"/>
              </a:rPr>
              <a:t>                "Insufficient funds"</a:t>
            </a:r>
          </a:p>
          <a:p>
            <a:r>
              <a:rPr lang="en-US" sz="1400" dirty="0">
                <a:highlight>
                  <a:srgbClr val="FFFF00"/>
                </a:highlight>
                <a:latin typeface="Calibir"/>
              </a:rPr>
              <a:t>            );</a:t>
            </a:r>
          </a:p>
          <a:p>
            <a:r>
              <a:rPr lang="en-US" sz="1400" dirty="0">
                <a:highlight>
                  <a:srgbClr val="FFFF00"/>
                </a:highlight>
                <a:latin typeface="Calibir"/>
              </a:rPr>
              <a:t>        }</a:t>
            </a:r>
          </a:p>
          <a:p>
            <a:r>
              <a:rPr lang="en-US" sz="1400" dirty="0">
                <a:highlight>
                  <a:srgbClr val="FFFF00"/>
                </a:highlight>
                <a:latin typeface="Calibir"/>
              </a:rPr>
              <a:t>        balance -= amount;</a:t>
            </a:r>
          </a:p>
          <a:p>
            <a:r>
              <a:rPr lang="en-US" sz="1400" dirty="0">
                <a:highlight>
                  <a:srgbClr val="FFFF00"/>
                </a:highlight>
                <a:latin typeface="Calibir"/>
              </a:rPr>
              <a:t>    }</a:t>
            </a:r>
          </a:p>
        </p:txBody>
      </p:sp>
    </p:spTree>
    <p:extLst>
      <p:ext uri="{BB962C8B-B14F-4D97-AF65-F5344CB8AC3E}">
        <p14:creationId xmlns:p14="http://schemas.microsoft.com/office/powerpoint/2010/main" val="40204135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6984309-6957-D199-34C2-1BD52277C4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168143-79FB-BD76-3352-14304894121C}"/>
              </a:ext>
            </a:extLst>
          </p:cNvPr>
          <p:cNvSpPr txBox="1"/>
          <p:nvPr/>
        </p:nvSpPr>
        <p:spPr>
          <a:xfrm>
            <a:off x="0" y="0"/>
            <a:ext cx="6098458" cy="5909310"/>
          </a:xfrm>
          <a:prstGeom prst="rect">
            <a:avLst/>
          </a:prstGeom>
          <a:noFill/>
        </p:spPr>
        <p:txBody>
          <a:bodyPr wrap="square">
            <a:spAutoFit/>
          </a:bodyPr>
          <a:lstStyle/>
          <a:p>
            <a:r>
              <a:rPr lang="en-US" sz="1400" dirty="0">
                <a:highlight>
                  <a:srgbClr val="FFFF00"/>
                </a:highlight>
                <a:latin typeface="Calibir"/>
              </a:rPr>
              <a:t> public void show() {</a:t>
            </a:r>
          </a:p>
          <a:p>
            <a:r>
              <a:rPr lang="en-US" sz="1400" dirty="0">
                <a:highlight>
                  <a:srgbClr val="FFFF00"/>
                </a:highlight>
                <a:latin typeface="Calibir"/>
              </a:rPr>
              <a:t>        </a:t>
            </a:r>
            <a:r>
              <a:rPr lang="en-US" sz="1400" dirty="0" err="1">
                <a:highlight>
                  <a:srgbClr val="FFFF00"/>
                </a:highlight>
                <a:latin typeface="Calibir"/>
              </a:rPr>
              <a:t>System.out.printf</a:t>
            </a:r>
            <a:r>
              <a:rPr lang="en-US" sz="1400" dirty="0">
                <a:highlight>
                  <a:srgbClr val="FFFF00"/>
                </a:highlight>
                <a:latin typeface="Calibir"/>
              </a:rPr>
              <a:t>(</a:t>
            </a:r>
          </a:p>
          <a:p>
            <a:r>
              <a:rPr lang="en-US" sz="1400" dirty="0">
                <a:highlight>
                  <a:srgbClr val="FFFF00"/>
                </a:highlight>
                <a:latin typeface="Calibir"/>
              </a:rPr>
              <a:t>            "Starting balance: $%.2f%n",</a:t>
            </a:r>
          </a:p>
          <a:p>
            <a:r>
              <a:rPr lang="en-US" sz="1400" dirty="0">
                <a:highlight>
                  <a:srgbClr val="FFFF00"/>
                </a:highlight>
                <a:latin typeface="Calibir"/>
              </a:rPr>
              <a:t>            balance</a:t>
            </a:r>
          </a:p>
          <a:p>
            <a:r>
              <a:rPr lang="en-US" sz="1400" dirty="0">
                <a:highlight>
                  <a:srgbClr val="FFFF00"/>
                </a:highlight>
                <a:latin typeface="Calibir"/>
              </a:rPr>
              <a:t>        );</a:t>
            </a:r>
          </a:p>
          <a:p>
            <a:r>
              <a:rPr lang="en-US" sz="1400" dirty="0">
                <a:highlight>
                  <a:srgbClr val="FFFF00"/>
                </a:highlight>
                <a:latin typeface="Calibir"/>
              </a:rPr>
              <a:t>    }</a:t>
            </a:r>
          </a:p>
          <a:p>
            <a:r>
              <a:rPr lang="en-US" sz="1400" dirty="0">
                <a:highlight>
                  <a:srgbClr val="FFFF00"/>
                </a:highlight>
                <a:latin typeface="Calibir"/>
              </a:rPr>
              <a:t>    public void menu(</a:t>
            </a:r>
          </a:p>
          <a:p>
            <a:r>
              <a:rPr lang="en-US" sz="1400" dirty="0">
                <a:highlight>
                  <a:srgbClr val="FFFF00"/>
                </a:highlight>
                <a:latin typeface="Calibir"/>
              </a:rPr>
              <a:t>        Scanner input</a:t>
            </a:r>
          </a:p>
          <a:p>
            <a:r>
              <a:rPr lang="en-US" sz="1400" dirty="0">
                <a:highlight>
                  <a:srgbClr val="FFFF00"/>
                </a:highlight>
                <a:latin typeface="Calibir"/>
              </a:rPr>
              <a:t>    ) {</a:t>
            </a:r>
          </a:p>
          <a:p>
            <a:r>
              <a:rPr lang="en-US" sz="1400" dirty="0">
                <a:highlight>
                  <a:srgbClr val="FFFF00"/>
                </a:highlight>
                <a:latin typeface="Calibir"/>
              </a:rPr>
              <a:t>        </a:t>
            </a:r>
            <a:r>
              <a:rPr lang="en-US" sz="1400" dirty="0" err="1">
                <a:highlight>
                  <a:srgbClr val="FFFF00"/>
                </a:highlight>
                <a:latin typeface="Calibir"/>
              </a:rPr>
              <a:t>boolean</a:t>
            </a:r>
            <a:r>
              <a:rPr lang="en-US" sz="1400" dirty="0">
                <a:highlight>
                  <a:srgbClr val="FFFF00"/>
                </a:highlight>
                <a:latin typeface="Calibir"/>
              </a:rPr>
              <a:t> </a:t>
            </a:r>
            <a:r>
              <a:rPr lang="en-US" sz="1400" dirty="0" err="1">
                <a:highlight>
                  <a:srgbClr val="FFFF00"/>
                </a:highlight>
                <a:latin typeface="Calibir"/>
              </a:rPr>
              <a:t>firstTime</a:t>
            </a:r>
            <a:r>
              <a:rPr lang="en-US" sz="1400" dirty="0">
                <a:highlight>
                  <a:srgbClr val="FFFF00"/>
                </a:highlight>
                <a:latin typeface="Calibir"/>
              </a:rPr>
              <a:t> = true;</a:t>
            </a:r>
          </a:p>
          <a:p>
            <a:r>
              <a:rPr lang="en-US" sz="1400" dirty="0">
                <a:highlight>
                  <a:srgbClr val="FFFF00"/>
                </a:highlight>
                <a:latin typeface="Calibir"/>
              </a:rPr>
              <a:t>        while (true) {</a:t>
            </a:r>
          </a:p>
          <a:p>
            <a:r>
              <a:rPr lang="en-US" sz="1400" dirty="0">
                <a:highlight>
                  <a:srgbClr val="FFFF00"/>
                </a:highlight>
                <a:latin typeface="Calibir"/>
              </a:rPr>
              <a:t>            if (</a:t>
            </a:r>
            <a:r>
              <a:rPr lang="en-US" sz="1400" dirty="0" err="1">
                <a:highlight>
                  <a:srgbClr val="FFFF00"/>
                </a:highlight>
                <a:latin typeface="Calibir"/>
              </a:rPr>
              <a:t>firstTime</a:t>
            </a:r>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"Start banking "</a:t>
            </a:r>
          </a:p>
          <a:p>
            <a:r>
              <a:rPr lang="en-US" sz="1400" dirty="0">
                <a:highlight>
                  <a:srgbClr val="FFFF00"/>
                </a:highlight>
                <a:latin typeface="Calibir"/>
              </a:rPr>
              <a:t>                    + "(d/w/s/x): "</a:t>
            </a:r>
          </a:p>
          <a:p>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firstTime</a:t>
            </a:r>
            <a:r>
              <a:rPr lang="en-US" sz="1400" dirty="0">
                <a:highlight>
                  <a:srgbClr val="FFFF00"/>
                </a:highlight>
                <a:latin typeface="Calibir"/>
              </a:rPr>
              <a:t> = false;</a:t>
            </a:r>
          </a:p>
          <a:p>
            <a:r>
              <a:rPr lang="en-US" sz="1400" dirty="0">
                <a:highlight>
                  <a:srgbClr val="FFFF00"/>
                </a:highlight>
                <a:latin typeface="Calibir"/>
              </a:rPr>
              <a:t>            } else {</a:t>
            </a: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"Continue banking "</a:t>
            </a:r>
          </a:p>
          <a:p>
            <a:r>
              <a:rPr lang="en-US" sz="1400" dirty="0">
                <a:highlight>
                  <a:srgbClr val="FFFF00"/>
                </a:highlight>
                <a:latin typeface="Calibir"/>
              </a:rPr>
              <a:t>                    + "(d/w/s/x): "</a:t>
            </a:r>
          </a:p>
          <a:p>
            <a:r>
              <a:rPr lang="en-US" sz="1400" dirty="0">
                <a:highlight>
                  <a:srgbClr val="FFFF00"/>
                </a:highlight>
                <a:latin typeface="Calibir"/>
              </a:rPr>
              <a:t>                );</a:t>
            </a:r>
          </a:p>
          <a:p>
            <a:r>
              <a:rPr lang="en-US" sz="1400" dirty="0">
                <a:highlight>
                  <a:srgbClr val="FFFF00"/>
                </a:highlight>
                <a:latin typeface="Calibir"/>
              </a:rPr>
              <a:t>            }</a:t>
            </a:r>
          </a:p>
          <a:p>
            <a:r>
              <a:rPr lang="en-US" sz="1400" dirty="0">
                <a:highlight>
                  <a:srgbClr val="FFFF00"/>
                </a:highlight>
                <a:latin typeface="Calibir"/>
              </a:rPr>
              <a:t>            String choice =</a:t>
            </a:r>
          </a:p>
          <a:p>
            <a:r>
              <a:rPr lang="en-US" sz="1400" dirty="0">
                <a:highlight>
                  <a:srgbClr val="FFFF00"/>
                </a:highlight>
                <a:latin typeface="Calibir"/>
              </a:rPr>
              <a:t>                </a:t>
            </a:r>
            <a:r>
              <a:rPr lang="en-US" sz="1400" dirty="0" err="1">
                <a:highlight>
                  <a:srgbClr val="FFFF00"/>
                </a:highlight>
                <a:latin typeface="Calibir"/>
              </a:rPr>
              <a:t>input.nextLine</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toLowerCase</a:t>
            </a:r>
            <a:r>
              <a:rPr lang="en-US" sz="1400" dirty="0">
                <a:highlight>
                  <a:srgbClr val="FFFF00"/>
                </a:highlight>
                <a:latin typeface="Calibir"/>
              </a:rPr>
              <a:t>();</a:t>
            </a:r>
          </a:p>
          <a:p>
            <a:r>
              <a:rPr lang="en-US" sz="1400" dirty="0">
                <a:highlight>
                  <a:srgbClr val="FFFF00"/>
                </a:highlight>
                <a:latin typeface="Calibir"/>
              </a:rPr>
              <a:t>            switch (choice) {</a:t>
            </a:r>
          </a:p>
        </p:txBody>
      </p:sp>
    </p:spTree>
    <p:extLst>
      <p:ext uri="{BB962C8B-B14F-4D97-AF65-F5344CB8AC3E}">
        <p14:creationId xmlns:p14="http://schemas.microsoft.com/office/powerpoint/2010/main" val="4783938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CD8E904-07E1-9BCA-59D4-8A802412A9D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579CC5-AEE2-D8CA-FBC7-8939CA52D545}"/>
              </a:ext>
            </a:extLst>
          </p:cNvPr>
          <p:cNvSpPr txBox="1"/>
          <p:nvPr/>
        </p:nvSpPr>
        <p:spPr>
          <a:xfrm>
            <a:off x="0" y="0"/>
            <a:ext cx="6098458" cy="6986528"/>
          </a:xfrm>
          <a:prstGeom prst="rect">
            <a:avLst/>
          </a:prstGeom>
          <a:noFill/>
        </p:spPr>
        <p:txBody>
          <a:bodyPr wrap="square">
            <a:spAutoFit/>
          </a:bodyPr>
          <a:lstStyle/>
          <a:p>
            <a:r>
              <a:rPr lang="en-US" sz="1400" dirty="0">
                <a:highlight>
                  <a:srgbClr val="FFFF00"/>
                </a:highlight>
                <a:latin typeface="Calibir"/>
              </a:rPr>
              <a:t> case "d":</a:t>
            </a: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"Amount to deposit: $"</a:t>
            </a:r>
          </a:p>
          <a:p>
            <a:r>
              <a:rPr lang="en-US" sz="1400" dirty="0">
                <a:highlight>
                  <a:srgbClr val="FFFF00"/>
                </a:highlight>
                <a:latin typeface="Calibir"/>
              </a:rPr>
              <a:t>                    );</a:t>
            </a:r>
          </a:p>
          <a:p>
            <a:r>
              <a:rPr lang="en-US" sz="1400" dirty="0">
                <a:highlight>
                  <a:srgbClr val="FFFF00"/>
                </a:highlight>
                <a:latin typeface="Calibir"/>
              </a:rPr>
              <a:t>                    double </a:t>
            </a:r>
            <a:r>
              <a:rPr lang="en-US" sz="1400" dirty="0" err="1">
                <a:highlight>
                  <a:srgbClr val="FFFF00"/>
                </a:highlight>
                <a:latin typeface="Calibir"/>
              </a:rPr>
              <a:t>depositAmount</a:t>
            </a:r>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input.nextDouble</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input.nextLine</a:t>
            </a:r>
            <a:r>
              <a:rPr lang="en-US" sz="1400" dirty="0">
                <a:highlight>
                  <a:srgbClr val="FFFF00"/>
                </a:highlight>
                <a:latin typeface="Calibir"/>
              </a:rPr>
              <a:t>();</a:t>
            </a:r>
          </a:p>
          <a:p>
            <a:r>
              <a:rPr lang="en-US" sz="1400" dirty="0">
                <a:highlight>
                  <a:srgbClr val="FFFF00"/>
                </a:highlight>
                <a:latin typeface="Calibir"/>
              </a:rPr>
              <a:t>                    deposit(</a:t>
            </a:r>
          </a:p>
          <a:p>
            <a:r>
              <a:rPr lang="en-US" sz="1400" dirty="0">
                <a:highlight>
                  <a:srgbClr val="FFFF00"/>
                </a:highlight>
                <a:latin typeface="Calibir"/>
              </a:rPr>
              <a:t>                        </a:t>
            </a:r>
            <a:r>
              <a:rPr lang="en-US" sz="1400" dirty="0" err="1">
                <a:highlight>
                  <a:srgbClr val="FFFF00"/>
                </a:highlight>
                <a:latin typeface="Calibir"/>
              </a:rPr>
              <a:t>depositAmount</a:t>
            </a:r>
            <a:endParaRPr lang="en-US" sz="1400" dirty="0">
              <a:highlight>
                <a:srgbClr val="FFFF00"/>
              </a:highlight>
              <a:latin typeface="Calibir"/>
            </a:endParaRPr>
          </a:p>
          <a:p>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System.out.printf</a:t>
            </a:r>
            <a:r>
              <a:rPr lang="en-US" sz="1400" dirty="0">
                <a:highlight>
                  <a:srgbClr val="FFFF00"/>
                </a:highlight>
                <a:latin typeface="Calibir"/>
              </a:rPr>
              <a:t>(</a:t>
            </a:r>
          </a:p>
          <a:p>
            <a:r>
              <a:rPr lang="en-US" sz="1400" dirty="0">
                <a:highlight>
                  <a:srgbClr val="FFFF00"/>
                </a:highlight>
                <a:latin typeface="Calibir"/>
              </a:rPr>
              <a:t>                        "Amount deposited: "</a:t>
            </a:r>
          </a:p>
          <a:p>
            <a:r>
              <a:rPr lang="en-US" sz="1400" dirty="0">
                <a:highlight>
                  <a:srgbClr val="FFFF00"/>
                </a:highlight>
                <a:latin typeface="Calibir"/>
              </a:rPr>
              <a:t>                        + "$%.2f%n",</a:t>
            </a:r>
          </a:p>
          <a:p>
            <a:r>
              <a:rPr lang="en-US" sz="1400" dirty="0">
                <a:highlight>
                  <a:srgbClr val="FFFF00"/>
                </a:highlight>
                <a:latin typeface="Calibir"/>
              </a:rPr>
              <a:t>                        </a:t>
            </a:r>
            <a:r>
              <a:rPr lang="en-US" sz="1400" dirty="0" err="1">
                <a:highlight>
                  <a:srgbClr val="FFFF00"/>
                </a:highlight>
                <a:latin typeface="Calibir"/>
              </a:rPr>
              <a:t>depositAmount</a:t>
            </a:r>
            <a:endParaRPr lang="en-US" sz="1400" dirty="0">
              <a:highlight>
                <a:srgbClr val="FFFF00"/>
              </a:highlight>
              <a:latin typeface="Calibir"/>
            </a:endParaRPr>
          </a:p>
          <a:p>
            <a:r>
              <a:rPr lang="en-US" sz="1400" dirty="0">
                <a:highlight>
                  <a:srgbClr val="FFFF00"/>
                </a:highlight>
                <a:latin typeface="Calibir"/>
              </a:rPr>
              <a:t>                    );</a:t>
            </a:r>
          </a:p>
          <a:p>
            <a:r>
              <a:rPr lang="en-US" sz="1400" dirty="0">
                <a:highlight>
                  <a:srgbClr val="FFFF00"/>
                </a:highlight>
                <a:latin typeface="Calibir"/>
              </a:rPr>
              <a:t>                    break;</a:t>
            </a:r>
          </a:p>
          <a:p>
            <a:r>
              <a:rPr lang="en-US" sz="1400" dirty="0">
                <a:highlight>
                  <a:srgbClr val="FFFF00"/>
                </a:highlight>
                <a:latin typeface="Calibir"/>
              </a:rPr>
              <a:t>                case "w":</a:t>
            </a: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"Amount to withdraw: $"</a:t>
            </a:r>
          </a:p>
          <a:p>
            <a:r>
              <a:rPr lang="en-US" sz="1400" dirty="0">
                <a:highlight>
                  <a:srgbClr val="FFFF00"/>
                </a:highlight>
                <a:latin typeface="Calibir"/>
              </a:rPr>
              <a:t>                    );</a:t>
            </a:r>
          </a:p>
          <a:p>
            <a:r>
              <a:rPr lang="en-US" sz="1400" dirty="0">
                <a:highlight>
                  <a:srgbClr val="FFFF00"/>
                </a:highlight>
                <a:latin typeface="Calibir"/>
              </a:rPr>
              <a:t>                    double </a:t>
            </a:r>
            <a:r>
              <a:rPr lang="en-US" sz="1400" dirty="0" err="1">
                <a:highlight>
                  <a:srgbClr val="FFFF00"/>
                </a:highlight>
                <a:latin typeface="Calibir"/>
              </a:rPr>
              <a:t>withdrawAmount</a:t>
            </a:r>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input.nextDouble</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input.nextLine</a:t>
            </a:r>
            <a:r>
              <a:rPr lang="en-US" sz="1400" dirty="0">
                <a:highlight>
                  <a:srgbClr val="FFFF00"/>
                </a:highlight>
                <a:latin typeface="Calibir"/>
              </a:rPr>
              <a:t>();</a:t>
            </a:r>
          </a:p>
          <a:p>
            <a:r>
              <a:rPr lang="en-US" sz="1400" dirty="0">
                <a:highlight>
                  <a:srgbClr val="FFFF00"/>
                </a:highlight>
                <a:latin typeface="Calibir"/>
              </a:rPr>
              <a:t>                    try {</a:t>
            </a:r>
          </a:p>
          <a:p>
            <a:r>
              <a:rPr lang="en-US" sz="1400" dirty="0">
                <a:highlight>
                  <a:srgbClr val="FFFF00"/>
                </a:highlight>
                <a:latin typeface="Calibir"/>
              </a:rPr>
              <a:t>                        withdraw(</a:t>
            </a:r>
          </a:p>
          <a:p>
            <a:r>
              <a:rPr lang="en-US" sz="1400" dirty="0">
                <a:highlight>
                  <a:srgbClr val="FFFF00"/>
                </a:highlight>
                <a:latin typeface="Calibir"/>
              </a:rPr>
              <a:t>                            </a:t>
            </a:r>
            <a:r>
              <a:rPr lang="en-US" sz="1400" dirty="0" err="1">
                <a:highlight>
                  <a:srgbClr val="FFFF00"/>
                </a:highlight>
                <a:latin typeface="Calibir"/>
              </a:rPr>
              <a:t>withdrawAmount</a:t>
            </a:r>
            <a:endParaRPr lang="en-US" sz="1400" dirty="0">
              <a:highlight>
                <a:srgbClr val="FFFF00"/>
              </a:highlight>
              <a:latin typeface="Calibir"/>
            </a:endParaRPr>
          </a:p>
          <a:p>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System.out.printf</a:t>
            </a:r>
            <a:r>
              <a:rPr lang="en-US" sz="1400" dirty="0">
                <a:highlight>
                  <a:srgbClr val="FFFF00"/>
                </a:highlight>
                <a:latin typeface="Calibir"/>
              </a:rPr>
              <a:t>(</a:t>
            </a:r>
          </a:p>
          <a:p>
            <a:r>
              <a:rPr lang="en-US" sz="1400" dirty="0">
                <a:highlight>
                  <a:srgbClr val="FFFF00"/>
                </a:highlight>
                <a:latin typeface="Calibir"/>
              </a:rPr>
              <a:t>                            "Amount withdrawn: "</a:t>
            </a:r>
          </a:p>
          <a:p>
            <a:r>
              <a:rPr lang="en-US" sz="1400" dirty="0">
                <a:highlight>
                  <a:srgbClr val="FFFF00"/>
                </a:highlight>
                <a:latin typeface="Calibir"/>
              </a:rPr>
              <a:t>                            + "$%.2f%n",</a:t>
            </a:r>
          </a:p>
          <a:p>
            <a:r>
              <a:rPr lang="en-US" sz="1400" dirty="0">
                <a:highlight>
                  <a:srgbClr val="FFFF00"/>
                </a:highlight>
                <a:latin typeface="Calibir"/>
              </a:rPr>
              <a:t>                            </a:t>
            </a:r>
            <a:r>
              <a:rPr lang="en-US" sz="1400" dirty="0" err="1">
                <a:highlight>
                  <a:srgbClr val="FFFF00"/>
                </a:highlight>
                <a:latin typeface="Calibir"/>
              </a:rPr>
              <a:t>withdrawAmount</a:t>
            </a:r>
            <a:endParaRPr lang="en-US" sz="1400" dirty="0">
              <a:highlight>
                <a:srgbClr val="FFFF00"/>
              </a:highlight>
              <a:latin typeface="Calibir"/>
            </a:endParaRPr>
          </a:p>
          <a:p>
            <a:r>
              <a:rPr lang="en-US" sz="1400" dirty="0">
                <a:highlight>
                  <a:srgbClr val="FFFF00"/>
                </a:highlight>
                <a:latin typeface="Calibir"/>
              </a:rPr>
              <a:t>                        );</a:t>
            </a:r>
          </a:p>
        </p:txBody>
      </p:sp>
    </p:spTree>
    <p:extLst>
      <p:ext uri="{BB962C8B-B14F-4D97-AF65-F5344CB8AC3E}">
        <p14:creationId xmlns:p14="http://schemas.microsoft.com/office/powerpoint/2010/main" val="12703925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760A29A-11E7-D08B-2F06-AFF31C7FF3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C7DAE9-BDF8-A5F3-65A0-3627D29BC2A1}"/>
              </a:ext>
            </a:extLst>
          </p:cNvPr>
          <p:cNvSpPr txBox="1"/>
          <p:nvPr/>
        </p:nvSpPr>
        <p:spPr>
          <a:xfrm>
            <a:off x="0" y="0"/>
            <a:ext cx="6098458" cy="6924973"/>
          </a:xfrm>
          <a:prstGeom prst="rect">
            <a:avLst/>
          </a:prstGeom>
          <a:noFill/>
        </p:spPr>
        <p:txBody>
          <a:bodyPr wrap="square">
            <a:spAutoFit/>
          </a:bodyPr>
          <a:lstStyle/>
          <a:p>
            <a:r>
              <a:rPr lang="en-US" sz="1200" dirty="0">
                <a:highlight>
                  <a:srgbClr val="FFFF00"/>
                </a:highlight>
                <a:latin typeface="Calibir"/>
              </a:rPr>
              <a:t>                    } catch (</a:t>
            </a:r>
          </a:p>
          <a:p>
            <a:r>
              <a:rPr lang="en-US" sz="1200" dirty="0">
                <a:highlight>
                  <a:srgbClr val="FFFF00"/>
                </a:highlight>
                <a:latin typeface="Calibir"/>
              </a:rPr>
              <a:t>                        </a:t>
            </a:r>
            <a:r>
              <a:rPr lang="en-US" sz="1200" dirty="0" err="1">
                <a:highlight>
                  <a:srgbClr val="FFFF00"/>
                </a:highlight>
                <a:latin typeface="Calibir"/>
              </a:rPr>
              <a:t>IllegalArgumentException</a:t>
            </a:r>
            <a:endParaRPr lang="en-US" sz="1200" dirty="0">
              <a:highlight>
                <a:srgbClr val="FFFF00"/>
              </a:highlight>
              <a:latin typeface="Calibir"/>
            </a:endParaRPr>
          </a:p>
          <a:p>
            <a:r>
              <a:rPr lang="en-US" sz="1200" dirty="0">
                <a:highlight>
                  <a:srgbClr val="FFFF00"/>
                </a:highlight>
                <a:latin typeface="Calibir"/>
              </a:rPr>
              <a:t>                        error</a:t>
            </a:r>
          </a:p>
          <a:p>
            <a:r>
              <a:rPr lang="en-US" sz="1200" dirty="0">
                <a:highlight>
                  <a:srgbClr val="FFFF00"/>
                </a:highlight>
                <a:latin typeface="Calibir"/>
              </a:rPr>
              <a:t>                    ) {</a:t>
            </a:r>
          </a:p>
          <a:p>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error.getMessage</a:t>
            </a:r>
            <a:r>
              <a:rPr lang="en-US" sz="1200" dirty="0">
                <a:highlight>
                  <a:srgbClr val="FFFF00"/>
                </a:highlight>
                <a:latin typeface="Calibir"/>
              </a:rPr>
              <a:t>()</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break;</a:t>
            </a:r>
          </a:p>
          <a:p>
            <a:r>
              <a:rPr lang="en-US" sz="1200" dirty="0">
                <a:highlight>
                  <a:srgbClr val="FFFF00"/>
                </a:highlight>
                <a:latin typeface="Calibir"/>
              </a:rPr>
              <a:t>                case "s":</a:t>
            </a:r>
          </a:p>
          <a:p>
            <a:r>
              <a:rPr lang="en-US" sz="1200" dirty="0">
                <a:highlight>
                  <a:srgbClr val="FFFF00"/>
                </a:highlight>
                <a:latin typeface="Calibir"/>
              </a:rPr>
              <a:t>                    show();</a:t>
            </a:r>
          </a:p>
          <a:p>
            <a:r>
              <a:rPr lang="en-US" sz="1200" dirty="0">
                <a:highlight>
                  <a:srgbClr val="FFFF00"/>
                </a:highlight>
                <a:latin typeface="Calibir"/>
              </a:rPr>
              <a:t>                    break;</a:t>
            </a:r>
          </a:p>
          <a:p>
            <a:r>
              <a:rPr lang="en-US" sz="1200" dirty="0">
                <a:highlight>
                  <a:srgbClr val="FFFF00"/>
                </a:highlight>
                <a:latin typeface="Calibir"/>
              </a:rPr>
              <a:t>                case "x":</a:t>
            </a:r>
          </a:p>
          <a:p>
            <a:r>
              <a:rPr lang="en-US" sz="1200" dirty="0">
                <a:highlight>
                  <a:srgbClr val="FFFF00"/>
                </a:highlight>
                <a:latin typeface="Calibir"/>
              </a:rPr>
              <a:t>                    return;</a:t>
            </a:r>
          </a:p>
          <a:p>
            <a:r>
              <a:rPr lang="en-US" sz="1200" dirty="0">
                <a:highlight>
                  <a:srgbClr val="FFFF00"/>
                </a:highlight>
                <a:latin typeface="Calibir"/>
              </a:rPr>
              <a:t>                default:</a:t>
            </a:r>
          </a:p>
          <a:p>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a:t>
            </a:r>
          </a:p>
          <a:p>
            <a:r>
              <a:rPr lang="en-US" sz="1200" dirty="0">
                <a:highlight>
                  <a:srgbClr val="FFFF00"/>
                </a:highlight>
                <a:latin typeface="Calibir"/>
              </a:rPr>
              <a:t>                        "Invalid option"</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public static void main(</a:t>
            </a:r>
          </a:p>
          <a:p>
            <a:r>
              <a:rPr lang="en-US" sz="1200" dirty="0">
                <a:highlight>
                  <a:srgbClr val="FFFF00"/>
                </a:highlight>
                <a:latin typeface="Calibir"/>
              </a:rPr>
              <a:t>        String[] </a:t>
            </a:r>
            <a:r>
              <a:rPr lang="en-US" sz="1200" dirty="0" err="1">
                <a:highlight>
                  <a:srgbClr val="FFFF00"/>
                </a:highlight>
                <a:latin typeface="Calibir"/>
              </a:rPr>
              <a:t>args</a:t>
            </a:r>
            <a:endParaRPr lang="en-US" sz="1200" dirty="0">
              <a:highlight>
                <a:srgbClr val="FFFF00"/>
              </a:highlight>
              <a:latin typeface="Calibir"/>
            </a:endParaRPr>
          </a:p>
          <a:p>
            <a:r>
              <a:rPr lang="en-US" sz="1200" dirty="0">
                <a:highlight>
                  <a:srgbClr val="FFFF00"/>
                </a:highlight>
                <a:latin typeface="Calibir"/>
              </a:rPr>
              <a:t>    ) {</a:t>
            </a:r>
          </a:p>
          <a:p>
            <a:r>
              <a:rPr lang="en-US" sz="1200" dirty="0">
                <a:highlight>
                  <a:srgbClr val="FFFF00"/>
                </a:highlight>
                <a:latin typeface="Calibir"/>
              </a:rPr>
              <a:t>        Scanner input =</a:t>
            </a:r>
          </a:p>
          <a:p>
            <a:r>
              <a:rPr lang="en-US" sz="1200" dirty="0">
                <a:highlight>
                  <a:srgbClr val="FFFF00"/>
                </a:highlight>
                <a:latin typeface="Calibir"/>
              </a:rPr>
              <a:t>            new Scanner(System.in);</a:t>
            </a:r>
          </a:p>
          <a:p>
            <a:r>
              <a:rPr lang="en-US" sz="1200" dirty="0">
                <a:highlight>
                  <a:srgbClr val="FFFF00"/>
                </a:highlight>
                <a:latin typeface="Calibir"/>
              </a:rPr>
              <a:t>        Bank </a:t>
            </a:r>
            <a:r>
              <a:rPr lang="en-US" sz="1200" dirty="0" err="1">
                <a:highlight>
                  <a:srgbClr val="FFFF00"/>
                </a:highlight>
                <a:latin typeface="Calibir"/>
              </a:rPr>
              <a:t>bank</a:t>
            </a:r>
            <a:r>
              <a:rPr lang="en-US" sz="1200" dirty="0">
                <a:highlight>
                  <a:srgbClr val="FFFF00"/>
                </a:highlight>
                <a:latin typeface="Calibir"/>
              </a:rPr>
              <a:t> =</a:t>
            </a:r>
          </a:p>
          <a:p>
            <a:r>
              <a:rPr lang="en-US" sz="1200" dirty="0">
                <a:highlight>
                  <a:srgbClr val="FFFF00"/>
                </a:highlight>
                <a:latin typeface="Calibir"/>
              </a:rPr>
              <a:t>            new Bank();</a:t>
            </a:r>
          </a:p>
          <a:p>
            <a:r>
              <a:rPr lang="en-US" sz="1200" dirty="0">
                <a:highlight>
                  <a:srgbClr val="FFFF00"/>
                </a:highlight>
                <a:latin typeface="Calibir"/>
              </a:rPr>
              <a:t>        </a:t>
            </a:r>
            <a:r>
              <a:rPr lang="en-US" sz="1200" dirty="0" err="1">
                <a:highlight>
                  <a:srgbClr val="FFFF00"/>
                </a:highlight>
                <a:latin typeface="Calibir"/>
              </a:rPr>
              <a:t>bank.readStartingBalance</a:t>
            </a:r>
            <a:r>
              <a:rPr lang="en-US" sz="1200" dirty="0">
                <a:highlight>
                  <a:srgbClr val="FFFF00"/>
                </a:highlight>
                <a:latin typeface="Calibir"/>
              </a:rPr>
              <a:t>(</a:t>
            </a:r>
          </a:p>
          <a:p>
            <a:r>
              <a:rPr lang="en-US" sz="1200" dirty="0">
                <a:highlight>
                  <a:srgbClr val="FFFF00"/>
                </a:highlight>
                <a:latin typeface="Calibir"/>
              </a:rPr>
              <a:t>            input</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bank.menu</a:t>
            </a:r>
            <a:r>
              <a:rPr lang="en-US" sz="1200" dirty="0">
                <a:highlight>
                  <a:srgbClr val="FFFF00"/>
                </a:highlight>
                <a:latin typeface="Calibir"/>
              </a:rPr>
              <a:t>(</a:t>
            </a:r>
          </a:p>
          <a:p>
            <a:r>
              <a:rPr lang="en-US" sz="1200" dirty="0">
                <a:highlight>
                  <a:srgbClr val="FFFF00"/>
                </a:highlight>
                <a:latin typeface="Calibir"/>
              </a:rPr>
              <a:t>            input</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input.close</a:t>
            </a:r>
            <a:r>
              <a:rPr lang="en-US" sz="1200" dirty="0">
                <a:highlight>
                  <a:srgbClr val="FFFF00"/>
                </a:highlight>
                <a:latin typeface="Calibir"/>
              </a:rPr>
              <a:t>();</a:t>
            </a:r>
          </a:p>
          <a:p>
            <a:r>
              <a:rPr lang="en-US" sz="1200" dirty="0">
                <a:highlight>
                  <a:srgbClr val="FFFF00"/>
                </a:highlight>
                <a:latin typeface="Calibir"/>
              </a:rPr>
              <a:t>    }</a:t>
            </a:r>
          </a:p>
          <a:p>
            <a:r>
              <a:rPr lang="en-US" sz="1200" dirty="0">
                <a:highlight>
                  <a:srgbClr val="FFFF00"/>
                </a:highlight>
                <a:latin typeface="Calibir"/>
              </a:rPr>
              <a:t>}</a:t>
            </a:r>
          </a:p>
        </p:txBody>
      </p:sp>
    </p:spTree>
    <p:extLst>
      <p:ext uri="{BB962C8B-B14F-4D97-AF65-F5344CB8AC3E}">
        <p14:creationId xmlns:p14="http://schemas.microsoft.com/office/powerpoint/2010/main" val="21071883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8C73783-F70B-3F25-9E34-D483F8DD88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686CEB-FE39-5D7A-FB2E-F841BD0FAC63}"/>
              </a:ext>
            </a:extLst>
          </p:cNvPr>
          <p:cNvSpPr txBox="1"/>
          <p:nvPr/>
        </p:nvSpPr>
        <p:spPr>
          <a:xfrm>
            <a:off x="0" y="1"/>
            <a:ext cx="12199434" cy="6031908"/>
          </a:xfrm>
          <a:prstGeom prst="rect">
            <a:avLst/>
          </a:prstGeom>
          <a:noFill/>
        </p:spPr>
        <p:txBody>
          <a:bodyPr wrap="square">
            <a:spAutoFit/>
          </a:bodyPr>
          <a:lstStyle/>
          <a:p>
            <a:pPr>
              <a:lnSpc>
                <a:spcPct val="150000"/>
              </a:lnSpc>
              <a:buNone/>
            </a:pPr>
            <a:r>
              <a:rPr lang="en-US" sz="2600" b="1" dirty="0">
                <a:latin typeface="Calibir"/>
              </a:rPr>
              <a:t>Step 15 — Explain procedures vs functions simply</a:t>
            </a:r>
          </a:p>
          <a:p>
            <a:pPr>
              <a:lnSpc>
                <a:spcPct val="150000"/>
              </a:lnSpc>
              <a:buNone/>
            </a:pPr>
            <a:r>
              <a:rPr lang="en-US" sz="2600" dirty="0">
                <a:latin typeface="Calibir"/>
              </a:rPr>
              <a:t>The lab mentions: methods (procedures and functions)</a:t>
            </a:r>
          </a:p>
          <a:p>
            <a:pPr>
              <a:lnSpc>
                <a:spcPct val="150000"/>
              </a:lnSpc>
              <a:buNone/>
            </a:pPr>
            <a:r>
              <a:rPr lang="en-US" sz="2600" dirty="0">
                <a:latin typeface="Calibir"/>
              </a:rPr>
              <a:t>You may ask what this means.</a:t>
            </a:r>
          </a:p>
          <a:p>
            <a:pPr>
              <a:lnSpc>
                <a:spcPct val="150000"/>
              </a:lnSpc>
              <a:buNone/>
            </a:pPr>
            <a:r>
              <a:rPr lang="en-US" sz="2600" b="1" dirty="0">
                <a:latin typeface="Calibir"/>
              </a:rPr>
              <a:t>Procedure</a:t>
            </a:r>
          </a:p>
          <a:p>
            <a:pPr>
              <a:lnSpc>
                <a:spcPct val="150000"/>
              </a:lnSpc>
              <a:buNone/>
            </a:pPr>
            <a:r>
              <a:rPr lang="en-US" sz="2600" dirty="0">
                <a:latin typeface="Calibir"/>
              </a:rPr>
              <a:t>A procedure performs an action but normally does not return a result.</a:t>
            </a:r>
          </a:p>
          <a:p>
            <a:pPr>
              <a:lnSpc>
                <a:spcPct val="150000"/>
              </a:lnSpc>
              <a:buNone/>
            </a:pPr>
            <a:r>
              <a:rPr lang="en-US" sz="2600" dirty="0">
                <a:latin typeface="Calibir"/>
              </a:rPr>
              <a:t>Examples:</a:t>
            </a:r>
          </a:p>
          <a:p>
            <a:pPr rtl="0">
              <a:lnSpc>
                <a:spcPct val="150000"/>
              </a:lnSpc>
              <a:buNone/>
            </a:pPr>
            <a:r>
              <a:rPr lang="en-US" sz="2600" dirty="0">
                <a:latin typeface="Calibir"/>
              </a:rPr>
              <a:t>deposit()</a:t>
            </a:r>
          </a:p>
          <a:p>
            <a:pPr rtl="0">
              <a:lnSpc>
                <a:spcPct val="150000"/>
              </a:lnSpc>
              <a:buNone/>
            </a:pPr>
            <a:r>
              <a:rPr lang="en-US" sz="2600" dirty="0">
                <a:latin typeface="Calibir"/>
              </a:rPr>
              <a:t>withdraw()</a:t>
            </a:r>
          </a:p>
          <a:p>
            <a:pPr rtl="0">
              <a:lnSpc>
                <a:spcPct val="150000"/>
              </a:lnSpc>
              <a:buNone/>
            </a:pPr>
            <a:r>
              <a:rPr lang="en-US" sz="2600" dirty="0">
                <a:latin typeface="Calibir"/>
              </a:rPr>
              <a:t>show()</a:t>
            </a:r>
          </a:p>
          <a:p>
            <a:pPr rtl="0">
              <a:lnSpc>
                <a:spcPct val="150000"/>
              </a:lnSpc>
              <a:buNone/>
            </a:pPr>
            <a:r>
              <a:rPr lang="en-US" sz="2600" dirty="0">
                <a:latin typeface="Calibir"/>
              </a:rPr>
              <a:t>menu()</a:t>
            </a:r>
          </a:p>
        </p:txBody>
      </p:sp>
    </p:spTree>
    <p:extLst>
      <p:ext uri="{BB962C8B-B14F-4D97-AF65-F5344CB8AC3E}">
        <p14:creationId xmlns:p14="http://schemas.microsoft.com/office/powerpoint/2010/main" val="710413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7145333-5A55-17B0-00EA-B8BB2E1614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C2AB44-6C35-34FF-0D47-E5D0642772DA}"/>
              </a:ext>
            </a:extLst>
          </p:cNvPr>
          <p:cNvSpPr txBox="1"/>
          <p:nvPr/>
        </p:nvSpPr>
        <p:spPr>
          <a:xfrm>
            <a:off x="0" y="-200717"/>
            <a:ext cx="12199434" cy="7232236"/>
          </a:xfrm>
          <a:prstGeom prst="rect">
            <a:avLst/>
          </a:prstGeom>
          <a:noFill/>
        </p:spPr>
        <p:txBody>
          <a:bodyPr wrap="square">
            <a:spAutoFit/>
          </a:bodyPr>
          <a:lstStyle/>
          <a:p>
            <a:pPr>
              <a:lnSpc>
                <a:spcPct val="150000"/>
              </a:lnSpc>
              <a:buNone/>
            </a:pPr>
            <a:r>
              <a:rPr lang="en-US" sz="2600" dirty="0">
                <a:latin typeface="Calibir"/>
              </a:rPr>
              <a:t>In Java, these commonly have:</a:t>
            </a:r>
          </a:p>
          <a:p>
            <a:pPr>
              <a:lnSpc>
                <a:spcPct val="150000"/>
              </a:lnSpc>
            </a:pPr>
            <a:r>
              <a:rPr lang="en-US" sz="2600" dirty="0">
                <a:highlight>
                  <a:srgbClr val="FFFF00"/>
                </a:highlight>
                <a:latin typeface="Calibir"/>
              </a:rPr>
              <a:t>void</a:t>
            </a:r>
          </a:p>
          <a:p>
            <a:pPr>
              <a:lnSpc>
                <a:spcPct val="150000"/>
              </a:lnSpc>
              <a:buNone/>
            </a:pPr>
            <a:r>
              <a:rPr lang="en-US" sz="2600" dirty="0">
                <a:latin typeface="Calibir"/>
              </a:rPr>
              <a:t>as the return type.</a:t>
            </a:r>
          </a:p>
          <a:p>
            <a:pPr>
              <a:lnSpc>
                <a:spcPct val="150000"/>
              </a:lnSpc>
              <a:buNone/>
            </a:pPr>
            <a:r>
              <a:rPr lang="en-US" sz="2600" b="1" dirty="0">
                <a:latin typeface="Calibir"/>
              </a:rPr>
              <a:t>Function</a:t>
            </a:r>
          </a:p>
          <a:p>
            <a:pPr>
              <a:lnSpc>
                <a:spcPct val="150000"/>
              </a:lnSpc>
              <a:buNone/>
            </a:pPr>
            <a:r>
              <a:rPr lang="en-US" sz="2600" dirty="0">
                <a:latin typeface="Calibir"/>
              </a:rPr>
              <a:t>A function returns a value.</a:t>
            </a:r>
          </a:p>
          <a:p>
            <a:pPr>
              <a:lnSpc>
                <a:spcPct val="150000"/>
              </a:lnSpc>
              <a:buNone/>
            </a:pPr>
            <a:r>
              <a:rPr lang="en-US" sz="2600" dirty="0">
                <a:latin typeface="Calibir"/>
              </a:rPr>
              <a:t>For example, a different design could use:</a:t>
            </a:r>
          </a:p>
          <a:p>
            <a:pPr>
              <a:lnSpc>
                <a:spcPct val="150000"/>
              </a:lnSpc>
            </a:pPr>
            <a:r>
              <a:rPr lang="en-US" sz="2600" dirty="0">
                <a:highlight>
                  <a:srgbClr val="FFFF00"/>
                </a:highlight>
                <a:latin typeface="Calibir"/>
              </a:rPr>
              <a:t>def </a:t>
            </a:r>
            <a:r>
              <a:rPr lang="en-US" sz="2600" dirty="0" err="1">
                <a:highlight>
                  <a:srgbClr val="FFFF00"/>
                </a:highlight>
                <a:latin typeface="Calibir"/>
              </a:rPr>
              <a:t>get_balance</a:t>
            </a:r>
            <a:r>
              <a:rPr lang="en-US" sz="2600" dirty="0">
                <a:highlight>
                  <a:srgbClr val="FFFF00"/>
                </a:highlight>
                <a:latin typeface="Calibir"/>
              </a:rPr>
              <a:t>(self):</a:t>
            </a:r>
          </a:p>
          <a:p>
            <a:pPr>
              <a:lnSpc>
                <a:spcPct val="150000"/>
              </a:lnSpc>
            </a:pPr>
            <a:r>
              <a:rPr lang="en-US" sz="2600" dirty="0">
                <a:highlight>
                  <a:srgbClr val="FFFF00"/>
                </a:highlight>
                <a:latin typeface="Calibir"/>
              </a:rPr>
              <a:t>    return </a:t>
            </a:r>
            <a:r>
              <a:rPr lang="en-US" sz="2600" dirty="0" err="1">
                <a:highlight>
                  <a:srgbClr val="FFFF00"/>
                </a:highlight>
                <a:latin typeface="Calibir"/>
              </a:rPr>
              <a:t>self.balance</a:t>
            </a:r>
            <a:endParaRPr lang="en-US" sz="2600" dirty="0">
              <a:highlight>
                <a:srgbClr val="FFFF00"/>
              </a:highlight>
              <a:latin typeface="Calibir"/>
            </a:endParaRPr>
          </a:p>
          <a:p>
            <a:pPr>
              <a:lnSpc>
                <a:spcPct val="150000"/>
              </a:lnSpc>
              <a:buNone/>
            </a:pPr>
            <a:r>
              <a:rPr lang="en-US" sz="2600" dirty="0">
                <a:latin typeface="Calibir"/>
              </a:rPr>
              <a:t>or Java:</a:t>
            </a:r>
          </a:p>
          <a:p>
            <a:pPr>
              <a:lnSpc>
                <a:spcPct val="150000"/>
              </a:lnSpc>
            </a:pPr>
            <a:r>
              <a:rPr lang="en-US" sz="2600" dirty="0">
                <a:highlight>
                  <a:srgbClr val="FFFF00"/>
                </a:highlight>
                <a:latin typeface="Calibir"/>
              </a:rPr>
              <a:t>public double </a:t>
            </a:r>
            <a:r>
              <a:rPr lang="en-US" sz="2600" dirty="0" err="1">
                <a:highlight>
                  <a:srgbClr val="FFFF00"/>
                </a:highlight>
                <a:latin typeface="Calibir"/>
              </a:rPr>
              <a:t>getBalance</a:t>
            </a:r>
            <a:r>
              <a:rPr lang="en-US" sz="2600" dirty="0">
                <a:highlight>
                  <a:srgbClr val="FFFF00"/>
                </a:highlight>
                <a:latin typeface="Calibir"/>
              </a:rPr>
              <a:t>() {</a:t>
            </a:r>
          </a:p>
          <a:p>
            <a:pPr>
              <a:lnSpc>
                <a:spcPct val="150000"/>
              </a:lnSpc>
            </a:pPr>
            <a:r>
              <a:rPr lang="en-US" sz="2600" dirty="0">
                <a:highlight>
                  <a:srgbClr val="FFFF00"/>
                </a:highlight>
                <a:latin typeface="Calibir"/>
              </a:rPr>
              <a:t>    return balance;</a:t>
            </a:r>
          </a:p>
          <a:p>
            <a:pPr>
              <a:lnSpc>
                <a:spcPct val="150000"/>
              </a:lnSpc>
            </a:pPr>
            <a:r>
              <a:rPr lang="en-US" sz="2600" dirty="0">
                <a:highlight>
                  <a:srgbClr val="FFFF00"/>
                </a:highlight>
                <a:latin typeface="Calibir"/>
              </a:rPr>
              <a:t>}</a:t>
            </a:r>
          </a:p>
        </p:txBody>
      </p:sp>
      <p:sp>
        <p:nvSpPr>
          <p:cNvPr id="4" name="TextBox 3">
            <a:extLst>
              <a:ext uri="{FF2B5EF4-FFF2-40B4-BE49-F238E27FC236}">
                <a16:creationId xmlns:a16="http://schemas.microsoft.com/office/drawing/2014/main" id="{2C4E3D21-B887-9579-306F-7B6A8357BDD4}"/>
              </a:ext>
            </a:extLst>
          </p:cNvPr>
          <p:cNvSpPr txBox="1"/>
          <p:nvPr/>
        </p:nvSpPr>
        <p:spPr>
          <a:xfrm>
            <a:off x="6036528" y="1599776"/>
            <a:ext cx="6155472" cy="3631250"/>
          </a:xfrm>
          <a:prstGeom prst="rect">
            <a:avLst/>
          </a:prstGeom>
          <a:noFill/>
        </p:spPr>
        <p:txBody>
          <a:bodyPr wrap="square">
            <a:spAutoFit/>
          </a:bodyPr>
          <a:lstStyle/>
          <a:p>
            <a:pPr>
              <a:lnSpc>
                <a:spcPct val="150000"/>
              </a:lnSpc>
              <a:buNone/>
            </a:pPr>
            <a:r>
              <a:rPr lang="en-US" sz="2600" dirty="0">
                <a:latin typeface="Calibir"/>
              </a:rPr>
              <a:t>In this Lab 5 design, </a:t>
            </a:r>
            <a:r>
              <a:rPr lang="en-US" sz="2600" dirty="0" err="1">
                <a:latin typeface="Calibir"/>
              </a:rPr>
              <a:t>readStartingBalance</a:t>
            </a:r>
            <a:r>
              <a:rPr lang="en-US" sz="2600" dirty="0">
                <a:latin typeface="Calibir"/>
              </a:rPr>
              <a:t>() could technically return the value instead of directly changing balance, but the supplied task mainly focuses on method decomposition rather than strict terminology.</a:t>
            </a:r>
          </a:p>
        </p:txBody>
      </p:sp>
    </p:spTree>
    <p:extLst>
      <p:ext uri="{BB962C8B-B14F-4D97-AF65-F5344CB8AC3E}">
        <p14:creationId xmlns:p14="http://schemas.microsoft.com/office/powerpoint/2010/main" val="14272934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FD5B632-32BF-7A74-AE51-2F2EE31232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0A9FAEA-F5B0-B3AB-E583-936E54CA49B8}"/>
              </a:ext>
            </a:extLst>
          </p:cNvPr>
          <p:cNvSpPr txBox="1"/>
          <p:nvPr/>
        </p:nvSpPr>
        <p:spPr>
          <a:xfrm>
            <a:off x="0" y="0"/>
            <a:ext cx="12199434" cy="3903504"/>
          </a:xfrm>
          <a:prstGeom prst="rect">
            <a:avLst/>
          </a:prstGeom>
          <a:noFill/>
        </p:spPr>
        <p:txBody>
          <a:bodyPr wrap="square">
            <a:spAutoFit/>
          </a:bodyPr>
          <a:lstStyle/>
          <a:p>
            <a:pPr>
              <a:lnSpc>
                <a:spcPct val="150000"/>
              </a:lnSpc>
            </a:pPr>
            <a:r>
              <a:rPr lang="en-US" sz="2800" b="1" dirty="0">
                <a:latin typeface="Calibir"/>
              </a:rPr>
              <a:t>Step 16 — Connect Lab 4 to Lab 5</a:t>
            </a:r>
          </a:p>
          <a:p>
            <a:pPr>
              <a:lnSpc>
                <a:spcPct val="150000"/>
              </a:lnSpc>
            </a:pPr>
            <a:r>
              <a:rPr lang="en-US" sz="2800" b="1" dirty="0">
                <a:latin typeface="Calibir"/>
              </a:rPr>
              <a:t>Lab 4</a:t>
            </a:r>
          </a:p>
          <a:p>
            <a:pPr>
              <a:lnSpc>
                <a:spcPct val="150000"/>
              </a:lnSpc>
            </a:pPr>
            <a:endParaRPr lang="en-US" sz="2800" b="1" dirty="0">
              <a:latin typeface="Calibir"/>
            </a:endParaRPr>
          </a:p>
          <a:p>
            <a:pPr>
              <a:lnSpc>
                <a:spcPct val="150000"/>
              </a:lnSpc>
            </a:pPr>
            <a:endParaRPr lang="en-US" sz="2800" b="1" dirty="0">
              <a:latin typeface="Calibir"/>
            </a:endParaRPr>
          </a:p>
          <a:p>
            <a:pPr>
              <a:lnSpc>
                <a:spcPct val="150000"/>
              </a:lnSpc>
            </a:pPr>
            <a:endParaRPr lang="en-US" sz="2800" b="1" dirty="0">
              <a:latin typeface="Calibir"/>
            </a:endParaRPr>
          </a:p>
          <a:p>
            <a:pPr>
              <a:lnSpc>
                <a:spcPct val="150000"/>
              </a:lnSpc>
            </a:pPr>
            <a:r>
              <a:rPr lang="en-US" sz="2800" b="1" dirty="0">
                <a:latin typeface="Calibir"/>
              </a:rPr>
              <a:t>Lab 5</a:t>
            </a:r>
          </a:p>
        </p:txBody>
      </p:sp>
      <p:pic>
        <p:nvPicPr>
          <p:cNvPr id="5" name="Picture 4">
            <a:extLst>
              <a:ext uri="{FF2B5EF4-FFF2-40B4-BE49-F238E27FC236}">
                <a16:creationId xmlns:a16="http://schemas.microsoft.com/office/drawing/2014/main" id="{0D082391-7D43-1E62-79AC-F28BFA618145}"/>
              </a:ext>
            </a:extLst>
          </p:cNvPr>
          <p:cNvPicPr>
            <a:picLocks noChangeAspect="1"/>
          </p:cNvPicPr>
          <p:nvPr/>
        </p:nvPicPr>
        <p:blipFill>
          <a:blip r:embed="rId3"/>
          <a:srcRect l="36037" t="33821" r="50912" b="48943"/>
          <a:stretch>
            <a:fillRect/>
          </a:stretch>
        </p:blipFill>
        <p:spPr>
          <a:xfrm>
            <a:off x="189570" y="1343477"/>
            <a:ext cx="2687445" cy="1996315"/>
          </a:xfrm>
          <a:prstGeom prst="rect">
            <a:avLst/>
          </a:prstGeom>
          <a:solidFill>
            <a:srgbClr val="FFFFFF">
              <a:shade val="85000"/>
            </a:srgbClr>
          </a:solidFill>
          <a:ln w="88900" cap="sq">
            <a:solidFill>
              <a:srgbClr val="7030A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D48A553F-85FF-1228-3679-756B41E37992}"/>
              </a:ext>
            </a:extLst>
          </p:cNvPr>
          <p:cNvSpPr txBox="1"/>
          <p:nvPr/>
        </p:nvSpPr>
        <p:spPr>
          <a:xfrm>
            <a:off x="3015476" y="1343477"/>
            <a:ext cx="6161048" cy="523220"/>
          </a:xfrm>
          <a:prstGeom prst="rect">
            <a:avLst/>
          </a:prstGeom>
          <a:noFill/>
        </p:spPr>
        <p:txBody>
          <a:bodyPr wrap="square">
            <a:spAutoFit/>
          </a:bodyPr>
          <a:lstStyle/>
          <a:p>
            <a:r>
              <a:rPr lang="en-US" sz="2800" dirty="0">
                <a:latin typeface="Calibir"/>
              </a:rPr>
              <a:t>Everything may be mixed together.</a:t>
            </a:r>
          </a:p>
        </p:txBody>
      </p:sp>
      <p:pic>
        <p:nvPicPr>
          <p:cNvPr id="9" name="Picture 8">
            <a:extLst>
              <a:ext uri="{FF2B5EF4-FFF2-40B4-BE49-F238E27FC236}">
                <a16:creationId xmlns:a16="http://schemas.microsoft.com/office/drawing/2014/main" id="{8BD7D97F-1217-03C7-39C5-8C25A2032532}"/>
              </a:ext>
            </a:extLst>
          </p:cNvPr>
          <p:cNvPicPr>
            <a:picLocks noChangeAspect="1"/>
          </p:cNvPicPr>
          <p:nvPr/>
        </p:nvPicPr>
        <p:blipFill>
          <a:blip r:embed="rId4"/>
          <a:srcRect l="36311" t="25366" r="52988" b="56098"/>
          <a:stretch>
            <a:fillRect/>
          </a:stretch>
        </p:blipFill>
        <p:spPr>
          <a:xfrm>
            <a:off x="189570" y="3914078"/>
            <a:ext cx="2687445" cy="2618535"/>
          </a:xfrm>
          <a:prstGeom prst="rect">
            <a:avLst/>
          </a:prstGeom>
          <a:solidFill>
            <a:srgbClr val="FFFFFF">
              <a:shade val="85000"/>
            </a:srgbClr>
          </a:solidFill>
          <a:ln w="88900" cap="sq">
            <a:solidFill>
              <a:srgbClr val="7030A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1" name="TextBox 10">
            <a:extLst>
              <a:ext uri="{FF2B5EF4-FFF2-40B4-BE49-F238E27FC236}">
                <a16:creationId xmlns:a16="http://schemas.microsoft.com/office/drawing/2014/main" id="{6F4BD274-C87A-0CB7-7F6C-22E88B8EA02E}"/>
              </a:ext>
            </a:extLst>
          </p:cNvPr>
          <p:cNvSpPr txBox="1"/>
          <p:nvPr/>
        </p:nvSpPr>
        <p:spPr>
          <a:xfrm>
            <a:off x="3015476" y="3641894"/>
            <a:ext cx="6161048" cy="523220"/>
          </a:xfrm>
          <a:prstGeom prst="rect">
            <a:avLst/>
          </a:prstGeom>
          <a:noFill/>
        </p:spPr>
        <p:txBody>
          <a:bodyPr wrap="square">
            <a:spAutoFit/>
          </a:bodyPr>
          <a:lstStyle/>
          <a:p>
            <a:pPr>
              <a:buNone/>
            </a:pPr>
            <a:r>
              <a:rPr lang="en-US" sz="2800" dirty="0">
                <a:latin typeface="Calibir"/>
              </a:rPr>
              <a:t>This design is more modular.</a:t>
            </a:r>
          </a:p>
        </p:txBody>
      </p:sp>
      <p:sp>
        <p:nvSpPr>
          <p:cNvPr id="13" name="TextBox 12">
            <a:extLst>
              <a:ext uri="{FF2B5EF4-FFF2-40B4-BE49-F238E27FC236}">
                <a16:creationId xmlns:a16="http://schemas.microsoft.com/office/drawing/2014/main" id="{253E88E2-C272-7B41-3380-6B4D749067B7}"/>
              </a:ext>
            </a:extLst>
          </p:cNvPr>
          <p:cNvSpPr txBox="1"/>
          <p:nvPr/>
        </p:nvSpPr>
        <p:spPr>
          <a:xfrm>
            <a:off x="3153937" y="4404393"/>
            <a:ext cx="9038063" cy="1964512"/>
          </a:xfrm>
          <a:prstGeom prst="rect">
            <a:avLst/>
          </a:prstGeom>
          <a:noFill/>
        </p:spPr>
        <p:txBody>
          <a:bodyPr wrap="square">
            <a:spAutoFit/>
          </a:bodyPr>
          <a:lstStyle/>
          <a:p>
            <a:pPr>
              <a:lnSpc>
                <a:spcPct val="150000"/>
              </a:lnSpc>
              <a:buNone/>
            </a:pPr>
            <a:r>
              <a:rPr lang="en-US" sz="2800" b="1" dirty="0">
                <a:latin typeface="Calibir"/>
              </a:rPr>
              <a:t>Why is it better? </a:t>
            </a:r>
            <a:r>
              <a:rPr lang="en-US" sz="2800" dirty="0">
                <a:latin typeface="Calibir"/>
              </a:rPr>
              <a:t>If we later change how withdrawals work, we can update: </a:t>
            </a:r>
            <a:r>
              <a:rPr lang="en-US" sz="2800" dirty="0">
                <a:highlight>
                  <a:srgbClr val="FFFF00"/>
                </a:highlight>
                <a:latin typeface="Calibir"/>
              </a:rPr>
              <a:t>withdraw() </a:t>
            </a:r>
            <a:r>
              <a:rPr lang="en-US" sz="2800" dirty="0">
                <a:latin typeface="Calibir"/>
              </a:rPr>
              <a:t>without rewriting the entire menu.</a:t>
            </a:r>
          </a:p>
        </p:txBody>
      </p:sp>
    </p:spTree>
    <p:extLst>
      <p:ext uri="{BB962C8B-B14F-4D97-AF65-F5344CB8AC3E}">
        <p14:creationId xmlns:p14="http://schemas.microsoft.com/office/powerpoint/2010/main" val="10480447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72C4F34-F904-C050-8270-30D5587104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C52D0B-15AC-A0AD-E890-796FE7010C63}"/>
              </a:ext>
            </a:extLst>
          </p:cNvPr>
          <p:cNvSpPr txBox="1"/>
          <p:nvPr/>
        </p:nvSpPr>
        <p:spPr>
          <a:xfrm>
            <a:off x="0" y="0"/>
            <a:ext cx="12199434" cy="671851"/>
          </a:xfrm>
          <a:prstGeom prst="rect">
            <a:avLst/>
          </a:prstGeom>
          <a:noFill/>
        </p:spPr>
        <p:txBody>
          <a:bodyPr wrap="square">
            <a:spAutoFit/>
          </a:bodyPr>
          <a:lstStyle/>
          <a:p>
            <a:pPr>
              <a:lnSpc>
                <a:spcPct val="150000"/>
              </a:lnSpc>
            </a:pPr>
            <a:r>
              <a:rPr lang="en-US" sz="2800" b="1" dirty="0">
                <a:latin typeface="Calibir"/>
              </a:rPr>
              <a:t>Step 17 — Q&amp;A</a:t>
            </a:r>
          </a:p>
        </p:txBody>
      </p:sp>
      <p:sp>
        <p:nvSpPr>
          <p:cNvPr id="4" name="TextBox 3">
            <a:extLst>
              <a:ext uri="{FF2B5EF4-FFF2-40B4-BE49-F238E27FC236}">
                <a16:creationId xmlns:a16="http://schemas.microsoft.com/office/drawing/2014/main" id="{EADFAC93-4563-22D2-9B32-5451196BDA9F}"/>
              </a:ext>
            </a:extLst>
          </p:cNvPr>
          <p:cNvSpPr txBox="1"/>
          <p:nvPr/>
        </p:nvSpPr>
        <p:spPr>
          <a:xfrm>
            <a:off x="0" y="671851"/>
            <a:ext cx="12076770" cy="4231415"/>
          </a:xfrm>
          <a:prstGeom prst="rect">
            <a:avLst/>
          </a:prstGeom>
          <a:noFill/>
        </p:spPr>
        <p:txBody>
          <a:bodyPr wrap="square">
            <a:spAutoFit/>
          </a:bodyPr>
          <a:lstStyle/>
          <a:p>
            <a:pPr>
              <a:lnSpc>
                <a:spcPct val="150000"/>
              </a:lnSpc>
              <a:buNone/>
            </a:pPr>
            <a:r>
              <a:rPr lang="en-US" sz="2600" b="1" dirty="0">
                <a:latin typeface="Calibir"/>
              </a:rPr>
              <a:t>Q1. Why create separate methods instead of writing everything in main()?</a:t>
            </a:r>
          </a:p>
          <a:p>
            <a:pPr>
              <a:lnSpc>
                <a:spcPct val="150000"/>
              </a:lnSpc>
              <a:buNone/>
            </a:pPr>
            <a:r>
              <a:rPr lang="en-US" sz="2600" dirty="0">
                <a:latin typeface="Calibir"/>
              </a:rPr>
              <a:t>Because separate methods make the program easier to understand, test, reuse, and maintain.</a:t>
            </a:r>
          </a:p>
          <a:p>
            <a:pPr>
              <a:lnSpc>
                <a:spcPct val="150000"/>
              </a:lnSpc>
              <a:buNone/>
            </a:pPr>
            <a:r>
              <a:rPr lang="en-US" sz="2600" b="1" dirty="0">
                <a:latin typeface="Calibir"/>
              </a:rPr>
              <a:t>Q2. What does menu() do?</a:t>
            </a:r>
          </a:p>
          <a:p>
            <a:pPr>
              <a:lnSpc>
                <a:spcPct val="150000"/>
              </a:lnSpc>
              <a:buNone/>
            </a:pPr>
            <a:r>
              <a:rPr lang="en-US" sz="2600" dirty="0">
                <a:latin typeface="Calibir"/>
              </a:rPr>
              <a:t>It controls the user's choices and calls the appropriate banking method.</a:t>
            </a:r>
          </a:p>
          <a:p>
            <a:pPr>
              <a:lnSpc>
                <a:spcPct val="150000"/>
              </a:lnSpc>
              <a:buNone/>
            </a:pPr>
            <a:r>
              <a:rPr lang="en-US" sz="2600" b="1" dirty="0">
                <a:latin typeface="Calibir"/>
              </a:rPr>
              <a:t>Q3. Does menu() itself calculate the new balance?</a:t>
            </a:r>
          </a:p>
          <a:p>
            <a:pPr>
              <a:lnSpc>
                <a:spcPct val="150000"/>
              </a:lnSpc>
              <a:buNone/>
            </a:pPr>
            <a:r>
              <a:rPr lang="en-US" sz="2600" dirty="0">
                <a:latin typeface="Calibir"/>
              </a:rPr>
              <a:t>No. It calls deposit() or withdraw().</a:t>
            </a:r>
          </a:p>
        </p:txBody>
      </p:sp>
    </p:spTree>
    <p:extLst>
      <p:ext uri="{BB962C8B-B14F-4D97-AF65-F5344CB8AC3E}">
        <p14:creationId xmlns:p14="http://schemas.microsoft.com/office/powerpoint/2010/main" val="4114910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1000"/>
                                        <p:tgtEl>
                                          <p:spTgt spid="4">
                                            <p:txEl>
                                              <p:pRg st="5" end="5"/>
                                            </p:txEl>
                                          </p:spTgt>
                                        </p:tgtEl>
                                      </p:cBhvr>
                                    </p:animEffect>
                                    <p:anim calcmode="lin" valueType="num">
                                      <p:cBhvr>
                                        <p:cTn id="1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FC175B0-A063-322A-157E-5E0761B8D1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62537A-9CC1-DAF6-0B49-397D86ACEFED}"/>
              </a:ext>
            </a:extLst>
          </p:cNvPr>
          <p:cNvSpPr txBox="1"/>
          <p:nvPr/>
        </p:nvSpPr>
        <p:spPr>
          <a:xfrm>
            <a:off x="0" y="0"/>
            <a:ext cx="12199434" cy="671851"/>
          </a:xfrm>
          <a:prstGeom prst="rect">
            <a:avLst/>
          </a:prstGeom>
          <a:noFill/>
        </p:spPr>
        <p:txBody>
          <a:bodyPr wrap="square">
            <a:spAutoFit/>
          </a:bodyPr>
          <a:lstStyle/>
          <a:p>
            <a:pPr>
              <a:lnSpc>
                <a:spcPct val="150000"/>
              </a:lnSpc>
            </a:pPr>
            <a:r>
              <a:rPr lang="en-US" sz="2800" b="1" dirty="0">
                <a:latin typeface="Calibir"/>
              </a:rPr>
              <a:t>Step 17 — Q&amp;A</a:t>
            </a:r>
          </a:p>
        </p:txBody>
      </p:sp>
      <p:sp>
        <p:nvSpPr>
          <p:cNvPr id="4" name="TextBox 3">
            <a:extLst>
              <a:ext uri="{FF2B5EF4-FFF2-40B4-BE49-F238E27FC236}">
                <a16:creationId xmlns:a16="http://schemas.microsoft.com/office/drawing/2014/main" id="{26D303DC-19F6-EE89-4C85-2681C2E88A08}"/>
              </a:ext>
            </a:extLst>
          </p:cNvPr>
          <p:cNvSpPr txBox="1"/>
          <p:nvPr/>
        </p:nvSpPr>
        <p:spPr>
          <a:xfrm>
            <a:off x="0" y="671851"/>
            <a:ext cx="12076770" cy="5431743"/>
          </a:xfrm>
          <a:prstGeom prst="rect">
            <a:avLst/>
          </a:prstGeom>
          <a:noFill/>
        </p:spPr>
        <p:txBody>
          <a:bodyPr wrap="square">
            <a:spAutoFit/>
          </a:bodyPr>
          <a:lstStyle/>
          <a:p>
            <a:pPr>
              <a:lnSpc>
                <a:spcPct val="150000"/>
              </a:lnSpc>
              <a:buNone/>
            </a:pPr>
            <a:r>
              <a:rPr lang="en-US" sz="2600" b="1" dirty="0">
                <a:latin typeface="Calibir"/>
              </a:rPr>
              <a:t>Q4. Why does withdraw() need exception handling?</a:t>
            </a:r>
          </a:p>
          <a:p>
            <a:pPr>
              <a:lnSpc>
                <a:spcPct val="150000"/>
              </a:lnSpc>
              <a:buNone/>
            </a:pPr>
            <a:r>
              <a:rPr lang="en-US" sz="2600" dirty="0">
                <a:latin typeface="Calibir"/>
              </a:rPr>
              <a:t>Because a customer should not be able to withdraw more than the available balance.</a:t>
            </a:r>
          </a:p>
          <a:p>
            <a:pPr>
              <a:lnSpc>
                <a:spcPct val="150000"/>
              </a:lnSpc>
              <a:buNone/>
            </a:pPr>
            <a:r>
              <a:rPr lang="en-US" sz="2600" b="1" dirty="0">
                <a:latin typeface="Calibir"/>
              </a:rPr>
              <a:t>Q5. Why does the program use a loop?</a:t>
            </a:r>
          </a:p>
          <a:p>
            <a:pPr>
              <a:lnSpc>
                <a:spcPct val="150000"/>
              </a:lnSpc>
              <a:buNone/>
            </a:pPr>
            <a:r>
              <a:rPr lang="en-US" sz="2600" dirty="0">
                <a:latin typeface="Calibir"/>
              </a:rPr>
              <a:t>Because it must repeatedly show banking choices until the user chooses x.</a:t>
            </a:r>
          </a:p>
          <a:p>
            <a:pPr>
              <a:lnSpc>
                <a:spcPct val="150000"/>
              </a:lnSpc>
              <a:buNone/>
            </a:pPr>
            <a:r>
              <a:rPr lang="en-US" sz="2600" b="1" dirty="0">
                <a:latin typeface="Calibir"/>
              </a:rPr>
              <a:t>Q6. What does x do?</a:t>
            </a:r>
          </a:p>
          <a:p>
            <a:pPr>
              <a:lnSpc>
                <a:spcPct val="150000"/>
              </a:lnSpc>
              <a:buNone/>
            </a:pPr>
            <a:r>
              <a:rPr lang="en-US" sz="2600" dirty="0">
                <a:latin typeface="Calibir"/>
              </a:rPr>
              <a:t>It exits the menu and ends the program.</a:t>
            </a:r>
          </a:p>
          <a:p>
            <a:pPr>
              <a:lnSpc>
                <a:spcPct val="150000"/>
              </a:lnSpc>
              <a:buNone/>
            </a:pPr>
            <a:r>
              <a:rPr lang="en-US" sz="2600" b="1" dirty="0">
                <a:latin typeface="Calibir"/>
              </a:rPr>
              <a:t>Q7. What is the main improvement from Lab 4 to Lab 5?</a:t>
            </a:r>
          </a:p>
          <a:p>
            <a:pPr>
              <a:lnSpc>
                <a:spcPct val="150000"/>
              </a:lnSpc>
              <a:buNone/>
            </a:pPr>
            <a:r>
              <a:rPr lang="en-US" sz="2600" dirty="0">
                <a:latin typeface="Calibir"/>
              </a:rPr>
              <a:t>The banking logic is divided into separate methods rather than being written as one large block.</a:t>
            </a:r>
          </a:p>
        </p:txBody>
      </p:sp>
    </p:spTree>
    <p:extLst>
      <p:ext uri="{BB962C8B-B14F-4D97-AF65-F5344CB8AC3E}">
        <p14:creationId xmlns:p14="http://schemas.microsoft.com/office/powerpoint/2010/main" val="2513084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fade">
                                      <p:cBhvr>
                                        <p:cTn id="12" dur="1000"/>
                                        <p:tgtEl>
                                          <p:spTgt spid="4">
                                            <p:txEl>
                                              <p:pRg st="3" end="3"/>
                                            </p:txEl>
                                          </p:spTgt>
                                        </p:tgtEl>
                                      </p:cBhvr>
                                    </p:animEffect>
                                    <p:anim calcmode="lin" valueType="num">
                                      <p:cBhvr>
                                        <p:cTn id="1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animEffect transition="in" filter="fade">
                                      <p:cBhvr>
                                        <p:cTn id="17" dur="1000"/>
                                        <p:tgtEl>
                                          <p:spTgt spid="4">
                                            <p:txEl>
                                              <p:pRg st="5" end="5"/>
                                            </p:txEl>
                                          </p:spTgt>
                                        </p:tgtEl>
                                      </p:cBhvr>
                                    </p:animEffect>
                                    <p:anim calcmode="lin" valueType="num">
                                      <p:cBhvr>
                                        <p:cTn id="1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7" end="7"/>
                                            </p:txEl>
                                          </p:spTgt>
                                        </p:tgtEl>
                                        <p:attrNameLst>
                                          <p:attrName>style.visibility</p:attrName>
                                        </p:attrNameLst>
                                      </p:cBhvr>
                                      <p:to>
                                        <p:strVal val="visible"/>
                                      </p:to>
                                    </p:set>
                                    <p:animEffect transition="in" filter="fade">
                                      <p:cBhvr>
                                        <p:cTn id="22" dur="1000"/>
                                        <p:tgtEl>
                                          <p:spTgt spid="4">
                                            <p:txEl>
                                              <p:pRg st="7" end="7"/>
                                            </p:txEl>
                                          </p:spTgt>
                                        </p:tgtEl>
                                      </p:cBhvr>
                                    </p:animEffect>
                                    <p:anim calcmode="lin" valueType="num">
                                      <p:cBhvr>
                                        <p:cTn id="2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A4753A5-AEC1-9D4D-72D3-78D62BBB494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C4C16C-F3AD-5035-E2DF-53C41303B170}"/>
              </a:ext>
            </a:extLst>
          </p:cNvPr>
          <p:cNvSpPr txBox="1"/>
          <p:nvPr/>
        </p:nvSpPr>
        <p:spPr>
          <a:xfrm>
            <a:off x="0" y="0"/>
            <a:ext cx="7437863" cy="1318181"/>
          </a:xfrm>
          <a:prstGeom prst="rect">
            <a:avLst/>
          </a:prstGeom>
          <a:noFill/>
        </p:spPr>
        <p:txBody>
          <a:bodyPr wrap="square">
            <a:spAutoFit/>
          </a:bodyPr>
          <a:lstStyle/>
          <a:p>
            <a:pPr>
              <a:lnSpc>
                <a:spcPct val="150000"/>
              </a:lnSpc>
            </a:pPr>
            <a:r>
              <a:rPr lang="en-US" sz="2800" b="1" dirty="0">
                <a:latin typeface="Calibir"/>
              </a:rPr>
              <a:t>Key Takeaway of Case Study: Develop the </a:t>
            </a:r>
            <a:r>
              <a:rPr lang="en-US" sz="2800" b="1" dirty="0" err="1">
                <a:latin typeface="Calibir"/>
              </a:rPr>
              <a:t>DeskBankApp</a:t>
            </a:r>
            <a:r>
              <a:rPr lang="en-US" sz="2800" b="1" dirty="0">
                <a:latin typeface="Calibir"/>
              </a:rPr>
              <a:t> system – Third Implementation</a:t>
            </a:r>
          </a:p>
        </p:txBody>
      </p:sp>
      <p:pic>
        <p:nvPicPr>
          <p:cNvPr id="5" name="Picture 4">
            <a:extLst>
              <a:ext uri="{FF2B5EF4-FFF2-40B4-BE49-F238E27FC236}">
                <a16:creationId xmlns:a16="http://schemas.microsoft.com/office/drawing/2014/main" id="{DA213629-D1DB-6944-A005-C36C5E359B5D}"/>
              </a:ext>
            </a:extLst>
          </p:cNvPr>
          <p:cNvPicPr>
            <a:picLocks noChangeAspect="1"/>
          </p:cNvPicPr>
          <p:nvPr/>
        </p:nvPicPr>
        <p:blipFill>
          <a:blip r:embed="rId3">
            <a:extLst>
              <a:ext uri="{28A0092B-C50C-407E-A947-70E740481C1C}">
                <a14:useLocalDpi xmlns:a14="http://schemas.microsoft.com/office/drawing/2010/main" val="0"/>
              </a:ext>
            </a:extLst>
          </a:blip>
          <a:srcRect t="7957"/>
          <a:stretch>
            <a:fillRect/>
          </a:stretch>
        </p:blipFill>
        <p:spPr>
          <a:xfrm>
            <a:off x="7237141" y="0"/>
            <a:ext cx="4954859" cy="6840902"/>
          </a:xfrm>
          <a:prstGeom prst="rect">
            <a:avLst/>
          </a:prstGeom>
          <a:ln w="28575">
            <a:solidFill>
              <a:srgbClr val="7030A0"/>
            </a:solidFill>
          </a:ln>
        </p:spPr>
      </p:pic>
    </p:spTree>
    <p:extLst>
      <p:ext uri="{BB962C8B-B14F-4D97-AF65-F5344CB8AC3E}">
        <p14:creationId xmlns:p14="http://schemas.microsoft.com/office/powerpoint/2010/main" val="40050185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16933" y="1"/>
            <a:ext cx="11362267" cy="147483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1 — Circle and Sphere Calculations Using Methods</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770195" y="1728566"/>
            <a:ext cx="11004265" cy="3913059"/>
          </a:xfrm>
          <a:prstGeom prst="rect">
            <a:avLst/>
          </a:prstGeom>
          <a:noFill/>
        </p:spPr>
        <p:txBody>
          <a:bodyPr wrap="square" rtlCol="0">
            <a:spAutoFit/>
          </a:bodyPr>
          <a:lstStyle/>
          <a:p>
            <a:pPr>
              <a:lnSpc>
                <a:spcPct val="150000"/>
              </a:lnSpc>
            </a:pPr>
            <a:r>
              <a:rPr lang="en-GB" sz="2400" dirty="0">
                <a:latin typeface="Calibir"/>
              </a:rPr>
              <a:t>Develop a program called </a:t>
            </a:r>
            <a:r>
              <a:rPr lang="en-GB" sz="2400" b="1" dirty="0">
                <a:latin typeface="Calibir"/>
              </a:rPr>
              <a:t>Lab5Exc1</a:t>
            </a:r>
            <a:r>
              <a:rPr lang="en-GB" sz="2400" dirty="0">
                <a:latin typeface="Calibir"/>
              </a:rPr>
              <a:t> that uses methods to complete the following operations:</a:t>
            </a:r>
          </a:p>
          <a:p>
            <a:pPr marL="380990" indent="-380990">
              <a:lnSpc>
                <a:spcPct val="150000"/>
              </a:lnSpc>
              <a:buFont typeface="Arial" panose="020B0604020202020204" pitchFamily="34" charset="0"/>
              <a:buChar char="•"/>
            </a:pPr>
            <a:r>
              <a:rPr lang="en-GB" sz="2400" dirty="0">
                <a:latin typeface="Calibir"/>
              </a:rPr>
              <a:t>Read a radius (decimal number) from STDIN</a:t>
            </a:r>
          </a:p>
          <a:p>
            <a:pPr marL="380990" indent="-380990">
              <a:lnSpc>
                <a:spcPct val="150000"/>
              </a:lnSpc>
              <a:buFont typeface="Arial" panose="020B0604020202020204" pitchFamily="34" charset="0"/>
              <a:buChar char="•"/>
            </a:pPr>
            <a:r>
              <a:rPr lang="en-GB" sz="2400" dirty="0">
                <a:latin typeface="Calibir"/>
              </a:rPr>
              <a:t>Calculate the perimeter of a circle using the radius</a:t>
            </a:r>
          </a:p>
          <a:p>
            <a:pPr marL="380990" indent="-380990">
              <a:lnSpc>
                <a:spcPct val="150000"/>
              </a:lnSpc>
              <a:buFont typeface="Arial" panose="020B0604020202020204" pitchFamily="34" charset="0"/>
              <a:buChar char="•"/>
            </a:pPr>
            <a:r>
              <a:rPr lang="en-GB" sz="2400" dirty="0">
                <a:latin typeface="Calibir"/>
              </a:rPr>
              <a:t>Calculate the area of a disk using the radius</a:t>
            </a:r>
          </a:p>
          <a:p>
            <a:pPr marL="380990" indent="-380990">
              <a:lnSpc>
                <a:spcPct val="150000"/>
              </a:lnSpc>
              <a:buFont typeface="Arial" panose="020B0604020202020204" pitchFamily="34" charset="0"/>
              <a:buChar char="•"/>
            </a:pPr>
            <a:r>
              <a:rPr lang="en-GB" sz="2400" dirty="0">
                <a:latin typeface="Calibir"/>
              </a:rPr>
              <a:t>Calculate the sphere volume using the radius</a:t>
            </a:r>
          </a:p>
          <a:p>
            <a:pPr marL="380990" indent="-380990">
              <a:lnSpc>
                <a:spcPct val="150000"/>
              </a:lnSpc>
              <a:buFont typeface="Arial" panose="020B0604020202020204" pitchFamily="34" charset="0"/>
              <a:buChar char="•"/>
            </a:pPr>
            <a:r>
              <a:rPr lang="en-GB" sz="2400" dirty="0">
                <a:latin typeface="Calibir"/>
              </a:rPr>
              <a:t>Show calculated values on separate lines (show 3 decimal places)</a:t>
            </a:r>
            <a:endParaRPr lang="en-US" sz="2400" dirty="0">
              <a:latin typeface="Calibir"/>
            </a:endParaRPr>
          </a:p>
        </p:txBody>
      </p:sp>
      <p:sp>
        <p:nvSpPr>
          <p:cNvPr id="3" name="TextBox 2">
            <a:extLst>
              <a:ext uri="{FF2B5EF4-FFF2-40B4-BE49-F238E27FC236}">
                <a16:creationId xmlns:a16="http://schemas.microsoft.com/office/drawing/2014/main" id="{CC879C73-200D-A204-599C-15A75B9FE7B2}"/>
              </a:ext>
            </a:extLst>
          </p:cNvPr>
          <p:cNvSpPr txBox="1"/>
          <p:nvPr/>
        </p:nvSpPr>
        <p:spPr>
          <a:xfrm>
            <a:off x="8534400" y="3145452"/>
            <a:ext cx="3097429" cy="1844817"/>
          </a:xfrm>
          <a:prstGeom prst="rect">
            <a:avLst/>
          </a:prstGeom>
          <a:noFill/>
          <a:ln>
            <a:solidFill>
              <a:schemeClr val="tx1"/>
            </a:solidFill>
            <a:prstDash val="sysDot"/>
          </a:ln>
        </p:spPr>
        <p:txBody>
          <a:bodyPr wrap="none" rtlCol="0">
            <a:noAutofit/>
          </a:bodyPr>
          <a:lstStyle/>
          <a:p>
            <a:r>
              <a:rPr lang="en-GB" sz="2133" dirty="0">
                <a:latin typeface="Economica" panose="020B0604020202020204" charset="0"/>
              </a:rPr>
              <a:t>Radius = 2.5</a:t>
            </a:r>
          </a:p>
          <a:p>
            <a:r>
              <a:rPr lang="en-GB" sz="2133" dirty="0">
                <a:latin typeface="Economica" panose="020B0604020202020204" charset="0"/>
              </a:rPr>
              <a:t>Perimeter = 15.708</a:t>
            </a:r>
          </a:p>
          <a:p>
            <a:r>
              <a:rPr lang="en-GB" sz="2133" dirty="0">
                <a:latin typeface="Economica" panose="020B0604020202020204" charset="0"/>
              </a:rPr>
              <a:t>Area = 19.635</a:t>
            </a:r>
          </a:p>
          <a:p>
            <a:r>
              <a:rPr lang="en-GB" sz="2133" dirty="0">
                <a:latin typeface="Economica" panose="020B0604020202020204" charset="0"/>
              </a:rPr>
              <a:t>Volume = 65.450</a:t>
            </a:r>
            <a:endParaRPr lang="en-US" sz="2133" dirty="0">
              <a:latin typeface="Economica" panose="020B0604020202020204" charset="0"/>
            </a:endParaRPr>
          </a:p>
        </p:txBody>
      </p:sp>
      <p:sp>
        <p:nvSpPr>
          <p:cNvPr id="4" name="TextBox 3">
            <a:extLst>
              <a:ext uri="{FF2B5EF4-FFF2-40B4-BE49-F238E27FC236}">
                <a16:creationId xmlns:a16="http://schemas.microsoft.com/office/drawing/2014/main" id="{0B3B1B39-3E9A-64CB-7136-7F209C0C1998}"/>
              </a:ext>
            </a:extLst>
          </p:cNvPr>
          <p:cNvSpPr txBox="1"/>
          <p:nvPr/>
        </p:nvSpPr>
        <p:spPr>
          <a:xfrm>
            <a:off x="9347201" y="2607257"/>
            <a:ext cx="1723549" cy="461665"/>
          </a:xfrm>
          <a:prstGeom prst="rect">
            <a:avLst/>
          </a:prstGeom>
          <a:noFill/>
        </p:spPr>
        <p:txBody>
          <a:bodyPr wrap="none" rtlCol="0">
            <a:spAutoFit/>
          </a:bodyPr>
          <a:lstStyle/>
          <a:p>
            <a:r>
              <a:rPr lang="en-US" sz="2400" dirty="0">
                <a:latin typeface="Economica" panose="020B0604020202020204" charset="0"/>
              </a:rPr>
              <a:t>Sample I/O</a:t>
            </a:r>
          </a:p>
        </p:txBody>
      </p:sp>
    </p:spTree>
    <p:extLst>
      <p:ext uri="{BB962C8B-B14F-4D97-AF65-F5344CB8AC3E}">
        <p14:creationId xmlns:p14="http://schemas.microsoft.com/office/powerpoint/2010/main" val="12403250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1E3D4D9-3550-26A5-8899-8DB65FCA533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2041025-8EEC-7B6A-8FA8-3F819FA2A44E}"/>
              </a:ext>
            </a:extLst>
          </p:cNvPr>
          <p:cNvSpPr txBox="1"/>
          <p:nvPr/>
        </p:nvSpPr>
        <p:spPr>
          <a:xfrm>
            <a:off x="16933" y="691376"/>
            <a:ext cx="11953694" cy="5842497"/>
          </a:xfrm>
          <a:prstGeom prst="rect">
            <a:avLst/>
          </a:prstGeom>
          <a:noFill/>
        </p:spPr>
        <p:txBody>
          <a:bodyPr wrap="square">
            <a:spAutoFit/>
          </a:bodyPr>
          <a:lstStyle/>
          <a:p>
            <a:pPr>
              <a:lnSpc>
                <a:spcPct val="150000"/>
              </a:lnSpc>
              <a:buNone/>
            </a:pPr>
            <a:r>
              <a:rPr lang="en-US" sz="2800" b="1" dirty="0">
                <a:latin typeface="Calibir"/>
              </a:rPr>
              <a:t>What are we building?</a:t>
            </a:r>
          </a:p>
          <a:p>
            <a:pPr>
              <a:lnSpc>
                <a:spcPct val="150000"/>
              </a:lnSpc>
              <a:buNone/>
            </a:pPr>
            <a:r>
              <a:rPr lang="en-US" sz="2800" dirty="0">
                <a:latin typeface="Calibir"/>
              </a:rPr>
              <a:t>Create Lab5Exc1 with separate methods to:</a:t>
            </a:r>
          </a:p>
          <a:p>
            <a:pPr marL="342900" lvl="0" indent="-342900">
              <a:lnSpc>
                <a:spcPct val="150000"/>
              </a:lnSpc>
              <a:buFont typeface="+mj-lt"/>
              <a:buAutoNum type="arabicPeriod"/>
            </a:pPr>
            <a:r>
              <a:rPr lang="en-US" sz="2800" dirty="0">
                <a:latin typeface="Calibir"/>
              </a:rPr>
              <a:t>Read a decimal radius. </a:t>
            </a:r>
          </a:p>
          <a:p>
            <a:pPr marL="342900" lvl="0" indent="-342900">
              <a:lnSpc>
                <a:spcPct val="150000"/>
              </a:lnSpc>
              <a:buFont typeface="+mj-lt"/>
              <a:buAutoNum type="arabicPeriod"/>
            </a:pPr>
            <a:r>
              <a:rPr lang="en-US" sz="2800" dirty="0">
                <a:latin typeface="Calibir"/>
              </a:rPr>
              <a:t>Calculate circle perimeter. </a:t>
            </a:r>
          </a:p>
          <a:p>
            <a:pPr marL="342900" lvl="0" indent="-342900">
              <a:lnSpc>
                <a:spcPct val="150000"/>
              </a:lnSpc>
              <a:buFont typeface="+mj-lt"/>
              <a:buAutoNum type="arabicPeriod"/>
            </a:pPr>
            <a:r>
              <a:rPr lang="en-US" sz="2800" dirty="0">
                <a:latin typeface="Calibir"/>
              </a:rPr>
              <a:t>Calculate disk area. </a:t>
            </a:r>
          </a:p>
          <a:p>
            <a:pPr marL="342900" lvl="0" indent="-342900">
              <a:lnSpc>
                <a:spcPct val="150000"/>
              </a:lnSpc>
              <a:buFont typeface="+mj-lt"/>
              <a:buAutoNum type="arabicPeriod"/>
            </a:pPr>
            <a:r>
              <a:rPr lang="en-US" sz="2800" dirty="0">
                <a:latin typeface="Calibir"/>
              </a:rPr>
              <a:t>Calculate sphere volume. </a:t>
            </a:r>
          </a:p>
          <a:p>
            <a:pPr marL="342900" lvl="0" indent="-342900">
              <a:lnSpc>
                <a:spcPct val="150000"/>
              </a:lnSpc>
              <a:buFont typeface="+mj-lt"/>
              <a:buAutoNum type="arabicPeriod"/>
            </a:pPr>
            <a:r>
              <a:rPr lang="en-US" sz="2800" dirty="0">
                <a:latin typeface="Calibir"/>
              </a:rPr>
              <a:t>Display each answer to 3 decimal places. </a:t>
            </a:r>
          </a:p>
          <a:p>
            <a:pPr>
              <a:lnSpc>
                <a:spcPct val="150000"/>
              </a:lnSpc>
              <a:buNone/>
            </a:pPr>
            <a:r>
              <a:rPr lang="en-US" sz="2800" dirty="0">
                <a:latin typeface="Calibir"/>
              </a:rPr>
              <a:t>The formulas are: Perimeter=2πr, Area=πr^2 Volume=4​/3πr^3 </a:t>
            </a:r>
          </a:p>
          <a:p>
            <a:pPr>
              <a:lnSpc>
                <a:spcPct val="150000"/>
              </a:lnSpc>
              <a:buNone/>
            </a:pPr>
            <a:r>
              <a:rPr lang="en-US" sz="2800" dirty="0">
                <a:latin typeface="Calibir"/>
              </a:rPr>
              <a:t>For r = 2.5: Radius = 2.5, Perimeter = 15.708, Area = 19.635, Volume = 65.450</a:t>
            </a:r>
          </a:p>
        </p:txBody>
      </p:sp>
    </p:spTree>
    <p:extLst>
      <p:ext uri="{BB962C8B-B14F-4D97-AF65-F5344CB8AC3E}">
        <p14:creationId xmlns:p14="http://schemas.microsoft.com/office/powerpoint/2010/main" val="5777623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60D59D9-66AA-7484-E2E7-C04F79073D11}"/>
            </a:ext>
          </a:extLst>
        </p:cNvPr>
        <p:cNvGrpSpPr/>
        <p:nvPr/>
      </p:nvGrpSpPr>
      <p:grpSpPr>
        <a:xfrm>
          <a:off x="0" y="0"/>
          <a:ext cx="0" cy="0"/>
          <a:chOff x="0" y="0"/>
          <a:chExt cx="0" cy="0"/>
        </a:xfrm>
      </p:grpSpPr>
      <p:sp>
        <p:nvSpPr>
          <p:cNvPr id="5" name="Google Shape;101;p19">
            <a:extLst>
              <a:ext uri="{FF2B5EF4-FFF2-40B4-BE49-F238E27FC236}">
                <a16:creationId xmlns:a16="http://schemas.microsoft.com/office/drawing/2014/main" id="{C9A48390-D588-0293-2BEA-B1D3C09F5F3F}"/>
              </a:ext>
            </a:extLst>
          </p:cNvPr>
          <p:cNvSpPr txBox="1">
            <a:spLocks/>
          </p:cNvSpPr>
          <p:nvPr/>
        </p:nvSpPr>
        <p:spPr>
          <a:xfrm>
            <a:off x="16933" y="1"/>
            <a:ext cx="11362267" cy="1335044"/>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Exercise 1 — Circle and Sphere Calculations Using Methods</a:t>
            </a:r>
            <a:endParaRPr lang="en-GB" dirty="0"/>
          </a:p>
        </p:txBody>
      </p:sp>
      <p:sp>
        <p:nvSpPr>
          <p:cNvPr id="7" name="TextBox 6">
            <a:extLst>
              <a:ext uri="{FF2B5EF4-FFF2-40B4-BE49-F238E27FC236}">
                <a16:creationId xmlns:a16="http://schemas.microsoft.com/office/drawing/2014/main" id="{7E4D5989-B677-6DBA-BAB0-32CA973A6D88}"/>
              </a:ext>
            </a:extLst>
          </p:cNvPr>
          <p:cNvSpPr txBox="1"/>
          <p:nvPr/>
        </p:nvSpPr>
        <p:spPr>
          <a:xfrm>
            <a:off x="0" y="1133827"/>
            <a:ext cx="11953694" cy="4831579"/>
          </a:xfrm>
          <a:prstGeom prst="rect">
            <a:avLst/>
          </a:prstGeom>
          <a:noFill/>
        </p:spPr>
        <p:txBody>
          <a:bodyPr wrap="square">
            <a:spAutoFit/>
          </a:bodyPr>
          <a:lstStyle/>
          <a:p>
            <a:pPr>
              <a:lnSpc>
                <a:spcPct val="150000"/>
              </a:lnSpc>
            </a:pPr>
            <a:r>
              <a:rPr lang="en-US" sz="2600" b="1" dirty="0">
                <a:latin typeface="Calibir"/>
              </a:rPr>
              <a:t>Python</a:t>
            </a:r>
          </a:p>
          <a:p>
            <a:pPr>
              <a:lnSpc>
                <a:spcPct val="150000"/>
              </a:lnSpc>
            </a:pPr>
            <a:r>
              <a:rPr lang="en-US" sz="2600" b="1" dirty="0">
                <a:latin typeface="Calibir"/>
              </a:rPr>
              <a:t>Step 1 — Start with the program structure</a:t>
            </a:r>
          </a:p>
          <a:p>
            <a:pPr>
              <a:lnSpc>
                <a:spcPct val="150000"/>
              </a:lnSpc>
            </a:pPr>
            <a:r>
              <a:rPr lang="en-US" sz="2600" dirty="0">
                <a:highlight>
                  <a:srgbClr val="FFFF00"/>
                </a:highlight>
                <a:latin typeface="Calibir"/>
              </a:rPr>
              <a:t>import math</a:t>
            </a:r>
          </a:p>
          <a:p>
            <a:pPr>
              <a:lnSpc>
                <a:spcPct val="150000"/>
              </a:lnSpc>
            </a:pPr>
            <a:r>
              <a:rPr lang="en-US" sz="2600" dirty="0">
                <a:highlight>
                  <a:srgbClr val="FFFF00"/>
                </a:highlight>
                <a:latin typeface="Calibir"/>
              </a:rPr>
              <a:t>def main():</a:t>
            </a:r>
          </a:p>
          <a:p>
            <a:pPr>
              <a:lnSpc>
                <a:spcPct val="150000"/>
              </a:lnSpc>
            </a:pPr>
            <a:r>
              <a:rPr lang="en-US" sz="2600" dirty="0">
                <a:highlight>
                  <a:srgbClr val="FFFF00"/>
                </a:highlight>
                <a:latin typeface="Calibir"/>
              </a:rPr>
              <a:t>    pass</a:t>
            </a:r>
          </a:p>
          <a:p>
            <a:pPr>
              <a:lnSpc>
                <a:spcPct val="150000"/>
              </a:lnSpc>
            </a:pPr>
            <a:r>
              <a:rPr lang="en-US" sz="2600" dirty="0">
                <a:highlight>
                  <a:srgbClr val="FFFF00"/>
                </a:highlight>
                <a:latin typeface="Calibir"/>
              </a:rPr>
              <a:t>if __name__ == "__main__":</a:t>
            </a:r>
          </a:p>
          <a:p>
            <a:pPr>
              <a:lnSpc>
                <a:spcPct val="150000"/>
              </a:lnSpc>
            </a:pPr>
            <a:r>
              <a:rPr lang="en-US" sz="2600" dirty="0">
                <a:highlight>
                  <a:srgbClr val="FFFF00"/>
                </a:highlight>
                <a:latin typeface="Calibir"/>
              </a:rPr>
              <a:t>    main()</a:t>
            </a:r>
          </a:p>
          <a:p>
            <a:pPr>
              <a:lnSpc>
                <a:spcPct val="150000"/>
              </a:lnSpc>
            </a:pPr>
            <a:r>
              <a:rPr lang="en-US" sz="2600" dirty="0">
                <a:latin typeface="Calibir"/>
              </a:rPr>
              <a:t>We import math because we need </a:t>
            </a:r>
            <a:r>
              <a:rPr lang="en-US" sz="2600" dirty="0" err="1">
                <a:latin typeface="Calibir"/>
              </a:rPr>
              <a:t>math.pi</a:t>
            </a:r>
            <a:r>
              <a:rPr lang="en-US" sz="2600" dirty="0">
                <a:latin typeface="Calibir"/>
              </a:rPr>
              <a:t>.</a:t>
            </a:r>
          </a:p>
        </p:txBody>
      </p:sp>
    </p:spTree>
    <p:extLst>
      <p:ext uri="{BB962C8B-B14F-4D97-AF65-F5344CB8AC3E}">
        <p14:creationId xmlns:p14="http://schemas.microsoft.com/office/powerpoint/2010/main" val="15971388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7E21819-6968-959B-CC3F-20D0614B5D4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CCE36F-BE0D-EC2C-ACD4-1232D7C79098}"/>
              </a:ext>
            </a:extLst>
          </p:cNvPr>
          <p:cNvSpPr txBox="1"/>
          <p:nvPr/>
        </p:nvSpPr>
        <p:spPr>
          <a:xfrm>
            <a:off x="16933" y="691376"/>
            <a:ext cx="11953694" cy="2520883"/>
          </a:xfrm>
          <a:prstGeom prst="rect">
            <a:avLst/>
          </a:prstGeom>
          <a:noFill/>
        </p:spPr>
        <p:txBody>
          <a:bodyPr wrap="square">
            <a:spAutoFit/>
          </a:bodyPr>
          <a:lstStyle/>
          <a:p>
            <a:pPr>
              <a:lnSpc>
                <a:spcPct val="150000"/>
              </a:lnSpc>
            </a:pPr>
            <a:r>
              <a:rPr lang="en-US" sz="2700" b="1" dirty="0">
                <a:latin typeface="Calibir"/>
              </a:rPr>
              <a:t>Step 2 — Write a function to read the radius</a:t>
            </a:r>
          </a:p>
          <a:p>
            <a:pPr>
              <a:lnSpc>
                <a:spcPct val="150000"/>
              </a:lnSpc>
            </a:pPr>
            <a:r>
              <a:rPr lang="en-US" sz="2700" dirty="0">
                <a:highlight>
                  <a:srgbClr val="FFFF00"/>
                </a:highlight>
                <a:latin typeface="Calibir"/>
              </a:rPr>
              <a:t>def </a:t>
            </a:r>
            <a:r>
              <a:rPr lang="en-US" sz="2700" dirty="0" err="1">
                <a:highlight>
                  <a:srgbClr val="FFFF00"/>
                </a:highlight>
                <a:latin typeface="Calibir"/>
              </a:rPr>
              <a:t>read_radius</a:t>
            </a:r>
            <a:r>
              <a:rPr lang="en-US" sz="2700" dirty="0">
                <a:highlight>
                  <a:srgbClr val="FFFF00"/>
                </a:highlight>
                <a:latin typeface="Calibir"/>
              </a:rPr>
              <a:t>():</a:t>
            </a:r>
          </a:p>
          <a:p>
            <a:pPr>
              <a:lnSpc>
                <a:spcPct val="150000"/>
              </a:lnSpc>
            </a:pPr>
            <a:r>
              <a:rPr lang="en-US" sz="2700" dirty="0">
                <a:highlight>
                  <a:srgbClr val="FFFF00"/>
                </a:highlight>
                <a:latin typeface="Calibir"/>
              </a:rPr>
              <a:t>    return float(input("Radius = "))</a:t>
            </a:r>
          </a:p>
          <a:p>
            <a:pPr>
              <a:lnSpc>
                <a:spcPct val="150000"/>
              </a:lnSpc>
            </a:pPr>
            <a:r>
              <a:rPr lang="en-US" sz="2700" dirty="0">
                <a:latin typeface="Calibir"/>
              </a:rPr>
              <a:t>This is a function because it returns a value.</a:t>
            </a:r>
          </a:p>
        </p:txBody>
      </p:sp>
    </p:spTree>
    <p:extLst>
      <p:ext uri="{BB962C8B-B14F-4D97-AF65-F5344CB8AC3E}">
        <p14:creationId xmlns:p14="http://schemas.microsoft.com/office/powerpoint/2010/main" val="17741527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073E308-877B-6E8B-2754-AB7A72D380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E5C594E-D9C7-2659-678E-1E311C924A9D}"/>
              </a:ext>
            </a:extLst>
          </p:cNvPr>
          <p:cNvSpPr txBox="1"/>
          <p:nvPr/>
        </p:nvSpPr>
        <p:spPr>
          <a:xfrm>
            <a:off x="16933" y="691376"/>
            <a:ext cx="11953694" cy="1964512"/>
          </a:xfrm>
          <a:prstGeom prst="rect">
            <a:avLst/>
          </a:prstGeom>
          <a:noFill/>
        </p:spPr>
        <p:txBody>
          <a:bodyPr wrap="square">
            <a:spAutoFit/>
          </a:bodyPr>
          <a:lstStyle/>
          <a:p>
            <a:pPr>
              <a:lnSpc>
                <a:spcPct val="150000"/>
              </a:lnSpc>
            </a:pPr>
            <a:r>
              <a:rPr lang="en-US" sz="2800" b="1" dirty="0">
                <a:latin typeface="Calibir"/>
              </a:rPr>
              <a:t>Step 3 — Write the perimeter function</a:t>
            </a:r>
          </a:p>
          <a:p>
            <a:pPr>
              <a:lnSpc>
                <a:spcPct val="150000"/>
              </a:lnSpc>
            </a:pPr>
            <a:r>
              <a:rPr lang="en-US" sz="2800" dirty="0">
                <a:highlight>
                  <a:srgbClr val="FFFF00"/>
                </a:highlight>
                <a:latin typeface="Calibir"/>
              </a:rPr>
              <a:t>def </a:t>
            </a:r>
            <a:r>
              <a:rPr lang="en-US" sz="2800" dirty="0" err="1">
                <a:highlight>
                  <a:srgbClr val="FFFF00"/>
                </a:highlight>
                <a:latin typeface="Calibir"/>
              </a:rPr>
              <a:t>calculate_perimeter</a:t>
            </a:r>
            <a:r>
              <a:rPr lang="en-US" sz="2800" dirty="0">
                <a:highlight>
                  <a:srgbClr val="FFFF00"/>
                </a:highlight>
                <a:latin typeface="Calibir"/>
              </a:rPr>
              <a:t>(radius):</a:t>
            </a:r>
          </a:p>
          <a:p>
            <a:pPr>
              <a:lnSpc>
                <a:spcPct val="150000"/>
              </a:lnSpc>
            </a:pPr>
            <a:r>
              <a:rPr lang="en-US" sz="2800" dirty="0">
                <a:highlight>
                  <a:srgbClr val="FFFF00"/>
                </a:highlight>
                <a:latin typeface="Calibir"/>
              </a:rPr>
              <a:t>    return 2 * </a:t>
            </a:r>
            <a:r>
              <a:rPr lang="en-US" sz="2800" dirty="0" err="1">
                <a:highlight>
                  <a:srgbClr val="FFFF00"/>
                </a:highlight>
                <a:latin typeface="Calibir"/>
              </a:rPr>
              <a:t>math.pi</a:t>
            </a:r>
            <a:r>
              <a:rPr lang="en-US" sz="2800" dirty="0">
                <a:highlight>
                  <a:srgbClr val="FFFF00"/>
                </a:highlight>
                <a:latin typeface="Calibir"/>
              </a:rPr>
              <a:t> * radius</a:t>
            </a:r>
          </a:p>
        </p:txBody>
      </p:sp>
    </p:spTree>
    <p:extLst>
      <p:ext uri="{BB962C8B-B14F-4D97-AF65-F5344CB8AC3E}">
        <p14:creationId xmlns:p14="http://schemas.microsoft.com/office/powerpoint/2010/main" val="7054727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FD3E25F-8614-CBC4-F75E-8A512DF8269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C589A54-BF72-C1F2-8E7C-2E4FE1CA619F}"/>
              </a:ext>
            </a:extLst>
          </p:cNvPr>
          <p:cNvSpPr txBox="1"/>
          <p:nvPr/>
        </p:nvSpPr>
        <p:spPr>
          <a:xfrm>
            <a:off x="16933" y="691376"/>
            <a:ext cx="11953694" cy="2610843"/>
          </a:xfrm>
          <a:prstGeom prst="rect">
            <a:avLst/>
          </a:prstGeom>
          <a:noFill/>
        </p:spPr>
        <p:txBody>
          <a:bodyPr wrap="square">
            <a:spAutoFit/>
          </a:bodyPr>
          <a:lstStyle/>
          <a:p>
            <a:pPr>
              <a:lnSpc>
                <a:spcPct val="150000"/>
              </a:lnSpc>
            </a:pPr>
            <a:r>
              <a:rPr lang="en-US" sz="2800" b="1" dirty="0">
                <a:latin typeface="Calibir"/>
              </a:rPr>
              <a:t>Step 4 — Write the area function</a:t>
            </a:r>
          </a:p>
          <a:p>
            <a:pPr>
              <a:lnSpc>
                <a:spcPct val="150000"/>
              </a:lnSpc>
            </a:pPr>
            <a:r>
              <a:rPr lang="en-US" sz="2800" dirty="0">
                <a:highlight>
                  <a:srgbClr val="FFFF00"/>
                </a:highlight>
                <a:latin typeface="Calibir"/>
              </a:rPr>
              <a:t>def </a:t>
            </a:r>
            <a:r>
              <a:rPr lang="en-US" sz="2800" dirty="0" err="1">
                <a:highlight>
                  <a:srgbClr val="FFFF00"/>
                </a:highlight>
                <a:latin typeface="Calibir"/>
              </a:rPr>
              <a:t>calculate_area</a:t>
            </a:r>
            <a:r>
              <a:rPr lang="en-US" sz="2800" dirty="0">
                <a:highlight>
                  <a:srgbClr val="FFFF00"/>
                </a:highlight>
                <a:latin typeface="Calibir"/>
              </a:rPr>
              <a:t>(radius):</a:t>
            </a:r>
          </a:p>
          <a:p>
            <a:pPr>
              <a:lnSpc>
                <a:spcPct val="150000"/>
              </a:lnSpc>
            </a:pPr>
            <a:r>
              <a:rPr lang="en-US" sz="2800" dirty="0">
                <a:highlight>
                  <a:srgbClr val="FFFF00"/>
                </a:highlight>
                <a:latin typeface="Calibir"/>
              </a:rPr>
              <a:t>    return </a:t>
            </a:r>
            <a:r>
              <a:rPr lang="en-US" sz="2800" dirty="0" err="1">
                <a:highlight>
                  <a:srgbClr val="FFFF00"/>
                </a:highlight>
                <a:latin typeface="Calibir"/>
              </a:rPr>
              <a:t>math.pi</a:t>
            </a:r>
            <a:r>
              <a:rPr lang="en-US" sz="2800" dirty="0">
                <a:highlight>
                  <a:srgbClr val="FFFF00"/>
                </a:highlight>
                <a:latin typeface="Calibir"/>
              </a:rPr>
              <a:t> * radius ** 2</a:t>
            </a:r>
          </a:p>
          <a:p>
            <a:pPr>
              <a:lnSpc>
                <a:spcPct val="150000"/>
              </a:lnSpc>
            </a:pPr>
            <a:r>
              <a:rPr lang="en-US" sz="2800" dirty="0">
                <a:latin typeface="Calibir"/>
              </a:rPr>
              <a:t>** 2 means square.</a:t>
            </a:r>
          </a:p>
        </p:txBody>
      </p:sp>
    </p:spTree>
    <p:extLst>
      <p:ext uri="{BB962C8B-B14F-4D97-AF65-F5344CB8AC3E}">
        <p14:creationId xmlns:p14="http://schemas.microsoft.com/office/powerpoint/2010/main" val="40392518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3A35FC1-BD34-1B94-6E6B-4C35F477A64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E5A8F9E-6146-E327-FCEC-BA3186BAC2C6}"/>
              </a:ext>
            </a:extLst>
          </p:cNvPr>
          <p:cNvSpPr txBox="1"/>
          <p:nvPr/>
        </p:nvSpPr>
        <p:spPr>
          <a:xfrm>
            <a:off x="16933" y="691376"/>
            <a:ext cx="11953694" cy="1964512"/>
          </a:xfrm>
          <a:prstGeom prst="rect">
            <a:avLst/>
          </a:prstGeom>
          <a:noFill/>
        </p:spPr>
        <p:txBody>
          <a:bodyPr wrap="square">
            <a:spAutoFit/>
          </a:bodyPr>
          <a:lstStyle/>
          <a:p>
            <a:pPr>
              <a:lnSpc>
                <a:spcPct val="150000"/>
              </a:lnSpc>
            </a:pPr>
            <a:r>
              <a:rPr lang="en-US" sz="2800" b="1" dirty="0">
                <a:latin typeface="Calibir"/>
              </a:rPr>
              <a:t>Step 5 — Write the volume function</a:t>
            </a:r>
          </a:p>
          <a:p>
            <a:pPr>
              <a:lnSpc>
                <a:spcPct val="150000"/>
              </a:lnSpc>
            </a:pPr>
            <a:r>
              <a:rPr lang="en-US" sz="2800" dirty="0">
                <a:highlight>
                  <a:srgbClr val="FFFF00"/>
                </a:highlight>
                <a:latin typeface="Calibir"/>
              </a:rPr>
              <a:t>def </a:t>
            </a:r>
            <a:r>
              <a:rPr lang="en-US" sz="2800" dirty="0" err="1">
                <a:highlight>
                  <a:srgbClr val="FFFF00"/>
                </a:highlight>
                <a:latin typeface="Calibir"/>
              </a:rPr>
              <a:t>calculate_volume</a:t>
            </a:r>
            <a:r>
              <a:rPr lang="en-US" sz="2800" dirty="0">
                <a:highlight>
                  <a:srgbClr val="FFFF00"/>
                </a:highlight>
                <a:latin typeface="Calibir"/>
              </a:rPr>
              <a:t>(radius):</a:t>
            </a:r>
          </a:p>
          <a:p>
            <a:pPr>
              <a:lnSpc>
                <a:spcPct val="150000"/>
              </a:lnSpc>
            </a:pPr>
            <a:r>
              <a:rPr lang="en-US" sz="2800" dirty="0">
                <a:highlight>
                  <a:srgbClr val="FFFF00"/>
                </a:highlight>
                <a:latin typeface="Calibir"/>
              </a:rPr>
              <a:t>    return (4 / 3) * </a:t>
            </a:r>
            <a:r>
              <a:rPr lang="en-US" sz="2800" dirty="0" err="1">
                <a:highlight>
                  <a:srgbClr val="FFFF00"/>
                </a:highlight>
                <a:latin typeface="Calibir"/>
              </a:rPr>
              <a:t>math.pi</a:t>
            </a:r>
            <a:r>
              <a:rPr lang="en-US" sz="2800" dirty="0">
                <a:highlight>
                  <a:srgbClr val="FFFF00"/>
                </a:highlight>
                <a:latin typeface="Calibir"/>
              </a:rPr>
              <a:t> * radius ** 3</a:t>
            </a:r>
          </a:p>
        </p:txBody>
      </p:sp>
    </p:spTree>
    <p:extLst>
      <p:ext uri="{BB962C8B-B14F-4D97-AF65-F5344CB8AC3E}">
        <p14:creationId xmlns:p14="http://schemas.microsoft.com/office/powerpoint/2010/main" val="42441691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11C15CF-7D24-E25D-1E78-F98A90541E4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5227FC9-452D-E528-F2F4-5CAFBA3E755A}"/>
              </a:ext>
            </a:extLst>
          </p:cNvPr>
          <p:cNvSpPr txBox="1"/>
          <p:nvPr/>
        </p:nvSpPr>
        <p:spPr>
          <a:xfrm>
            <a:off x="16933" y="691376"/>
            <a:ext cx="11953694" cy="3903504"/>
          </a:xfrm>
          <a:prstGeom prst="rect">
            <a:avLst/>
          </a:prstGeom>
          <a:noFill/>
        </p:spPr>
        <p:txBody>
          <a:bodyPr wrap="square">
            <a:spAutoFit/>
          </a:bodyPr>
          <a:lstStyle/>
          <a:p>
            <a:pPr>
              <a:lnSpc>
                <a:spcPct val="150000"/>
              </a:lnSpc>
            </a:pPr>
            <a:r>
              <a:rPr lang="en-US" sz="2800" b="1" dirty="0">
                <a:latin typeface="Calibir"/>
              </a:rPr>
              <a:t>Step 6 — Write a procedure to display the results</a:t>
            </a:r>
          </a:p>
          <a:p>
            <a:pPr>
              <a:lnSpc>
                <a:spcPct val="150000"/>
              </a:lnSpc>
            </a:pPr>
            <a:r>
              <a:rPr lang="en-US" sz="2800" dirty="0">
                <a:highlight>
                  <a:srgbClr val="FFFF00"/>
                </a:highlight>
                <a:latin typeface="Calibir"/>
              </a:rPr>
              <a:t>def </a:t>
            </a:r>
            <a:r>
              <a:rPr lang="en-US" sz="2800" dirty="0" err="1">
                <a:highlight>
                  <a:srgbClr val="FFFF00"/>
                </a:highlight>
                <a:latin typeface="Calibir"/>
              </a:rPr>
              <a:t>show_results</a:t>
            </a:r>
            <a:r>
              <a:rPr lang="en-US" sz="2800" dirty="0">
                <a:highlight>
                  <a:srgbClr val="FFFF00"/>
                </a:highlight>
                <a:latin typeface="Calibir"/>
              </a:rPr>
              <a:t>(perimeter, area, volume):</a:t>
            </a:r>
          </a:p>
          <a:p>
            <a:pPr>
              <a:lnSpc>
                <a:spcPct val="150000"/>
              </a:lnSpc>
            </a:pPr>
            <a:r>
              <a:rPr lang="en-US" sz="2800" dirty="0">
                <a:highlight>
                  <a:srgbClr val="FFFF00"/>
                </a:highlight>
                <a:latin typeface="Calibir"/>
              </a:rPr>
              <a:t>    print(</a:t>
            </a:r>
            <a:r>
              <a:rPr lang="en-US" sz="2800" dirty="0" err="1">
                <a:highlight>
                  <a:srgbClr val="FFFF00"/>
                </a:highlight>
                <a:latin typeface="Calibir"/>
              </a:rPr>
              <a:t>f"Perimeter</a:t>
            </a:r>
            <a:r>
              <a:rPr lang="en-US" sz="2800" dirty="0">
                <a:highlight>
                  <a:srgbClr val="FFFF00"/>
                </a:highlight>
                <a:latin typeface="Calibir"/>
              </a:rPr>
              <a:t> = {perimeter:.3f}")</a:t>
            </a:r>
          </a:p>
          <a:p>
            <a:pPr>
              <a:lnSpc>
                <a:spcPct val="150000"/>
              </a:lnSpc>
            </a:pPr>
            <a:r>
              <a:rPr lang="en-US" sz="2800" dirty="0">
                <a:highlight>
                  <a:srgbClr val="FFFF00"/>
                </a:highlight>
                <a:latin typeface="Calibir"/>
              </a:rPr>
              <a:t>    print(</a:t>
            </a:r>
            <a:r>
              <a:rPr lang="en-US" sz="2800" dirty="0" err="1">
                <a:highlight>
                  <a:srgbClr val="FFFF00"/>
                </a:highlight>
                <a:latin typeface="Calibir"/>
              </a:rPr>
              <a:t>f"Area</a:t>
            </a:r>
            <a:r>
              <a:rPr lang="en-US" sz="2800" dirty="0">
                <a:highlight>
                  <a:srgbClr val="FFFF00"/>
                </a:highlight>
                <a:latin typeface="Calibir"/>
              </a:rPr>
              <a:t> = {area:.3f}")</a:t>
            </a:r>
          </a:p>
          <a:p>
            <a:pPr>
              <a:lnSpc>
                <a:spcPct val="150000"/>
              </a:lnSpc>
            </a:pPr>
            <a:r>
              <a:rPr lang="en-US" sz="2800" dirty="0">
                <a:highlight>
                  <a:srgbClr val="FFFF00"/>
                </a:highlight>
                <a:latin typeface="Calibir"/>
              </a:rPr>
              <a:t>    print(</a:t>
            </a:r>
            <a:r>
              <a:rPr lang="en-US" sz="2800" dirty="0" err="1">
                <a:highlight>
                  <a:srgbClr val="FFFF00"/>
                </a:highlight>
                <a:latin typeface="Calibir"/>
              </a:rPr>
              <a:t>f"Volume</a:t>
            </a:r>
            <a:r>
              <a:rPr lang="en-US" sz="2800" dirty="0">
                <a:highlight>
                  <a:srgbClr val="FFFF00"/>
                </a:highlight>
                <a:latin typeface="Calibir"/>
              </a:rPr>
              <a:t> = {volume:.3f}")</a:t>
            </a:r>
          </a:p>
          <a:p>
            <a:pPr>
              <a:lnSpc>
                <a:spcPct val="150000"/>
              </a:lnSpc>
            </a:pPr>
            <a:r>
              <a:rPr lang="en-US" sz="2800" dirty="0">
                <a:latin typeface="Calibir"/>
              </a:rPr>
              <a:t>.3f means exactly 3 decimal places.</a:t>
            </a:r>
          </a:p>
        </p:txBody>
      </p:sp>
    </p:spTree>
    <p:extLst>
      <p:ext uri="{BB962C8B-B14F-4D97-AF65-F5344CB8AC3E}">
        <p14:creationId xmlns:p14="http://schemas.microsoft.com/office/powerpoint/2010/main" val="604941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546C923-A46B-44EF-45AC-3CCA5831C7B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FF956FE-5D79-CE03-FEE4-B04EBCC90843}"/>
              </a:ext>
            </a:extLst>
          </p:cNvPr>
          <p:cNvSpPr txBox="1"/>
          <p:nvPr/>
        </p:nvSpPr>
        <p:spPr>
          <a:xfrm>
            <a:off x="16933" y="691376"/>
            <a:ext cx="11953694" cy="4549835"/>
          </a:xfrm>
          <a:prstGeom prst="rect">
            <a:avLst/>
          </a:prstGeom>
          <a:noFill/>
        </p:spPr>
        <p:txBody>
          <a:bodyPr wrap="square">
            <a:spAutoFit/>
          </a:bodyPr>
          <a:lstStyle/>
          <a:p>
            <a:pPr>
              <a:lnSpc>
                <a:spcPct val="150000"/>
              </a:lnSpc>
            </a:pPr>
            <a:r>
              <a:rPr lang="en-US" sz="2800" b="1" dirty="0">
                <a:latin typeface="Calibir"/>
              </a:rPr>
              <a:t>Step 7 — Connect everything in main()</a:t>
            </a:r>
          </a:p>
          <a:p>
            <a:pPr>
              <a:lnSpc>
                <a:spcPct val="150000"/>
              </a:lnSpc>
            </a:pPr>
            <a:r>
              <a:rPr lang="en-US" sz="2800" dirty="0">
                <a:highlight>
                  <a:srgbClr val="FFFF00"/>
                </a:highlight>
                <a:latin typeface="Calibir"/>
              </a:rPr>
              <a:t>def main():</a:t>
            </a:r>
          </a:p>
          <a:p>
            <a:pPr>
              <a:lnSpc>
                <a:spcPct val="150000"/>
              </a:lnSpc>
            </a:pPr>
            <a:r>
              <a:rPr lang="en-US" sz="2800" dirty="0">
                <a:highlight>
                  <a:srgbClr val="FFFF00"/>
                </a:highlight>
                <a:latin typeface="Calibir"/>
              </a:rPr>
              <a:t>    radius = </a:t>
            </a:r>
            <a:r>
              <a:rPr lang="en-US" sz="2800" dirty="0" err="1">
                <a:highlight>
                  <a:srgbClr val="FFFF00"/>
                </a:highlight>
                <a:latin typeface="Calibir"/>
              </a:rPr>
              <a:t>read_radius</a:t>
            </a:r>
            <a:r>
              <a:rPr lang="en-US" sz="2800" dirty="0">
                <a:highlight>
                  <a:srgbClr val="FFFF00"/>
                </a:highlight>
                <a:latin typeface="Calibir"/>
              </a:rPr>
              <a:t>()</a:t>
            </a:r>
          </a:p>
          <a:p>
            <a:pPr>
              <a:lnSpc>
                <a:spcPct val="150000"/>
              </a:lnSpc>
            </a:pPr>
            <a:r>
              <a:rPr lang="en-US" sz="2800" dirty="0">
                <a:highlight>
                  <a:srgbClr val="FFFF00"/>
                </a:highlight>
                <a:latin typeface="Calibir"/>
              </a:rPr>
              <a:t>    perimeter = </a:t>
            </a:r>
            <a:r>
              <a:rPr lang="en-US" sz="2800" dirty="0" err="1">
                <a:highlight>
                  <a:srgbClr val="FFFF00"/>
                </a:highlight>
                <a:latin typeface="Calibir"/>
              </a:rPr>
              <a:t>calculate_perimeter</a:t>
            </a:r>
            <a:r>
              <a:rPr lang="en-US" sz="2800" dirty="0">
                <a:highlight>
                  <a:srgbClr val="FFFF00"/>
                </a:highlight>
                <a:latin typeface="Calibir"/>
              </a:rPr>
              <a:t>(radius)</a:t>
            </a:r>
          </a:p>
          <a:p>
            <a:pPr>
              <a:lnSpc>
                <a:spcPct val="150000"/>
              </a:lnSpc>
            </a:pPr>
            <a:r>
              <a:rPr lang="en-US" sz="2800" dirty="0">
                <a:highlight>
                  <a:srgbClr val="FFFF00"/>
                </a:highlight>
                <a:latin typeface="Calibir"/>
              </a:rPr>
              <a:t>    area = </a:t>
            </a:r>
            <a:r>
              <a:rPr lang="en-US" sz="2800" dirty="0" err="1">
                <a:highlight>
                  <a:srgbClr val="FFFF00"/>
                </a:highlight>
                <a:latin typeface="Calibir"/>
              </a:rPr>
              <a:t>calculate_area</a:t>
            </a:r>
            <a:r>
              <a:rPr lang="en-US" sz="2800" dirty="0">
                <a:highlight>
                  <a:srgbClr val="FFFF00"/>
                </a:highlight>
                <a:latin typeface="Calibir"/>
              </a:rPr>
              <a:t>(radius)</a:t>
            </a:r>
          </a:p>
          <a:p>
            <a:pPr>
              <a:lnSpc>
                <a:spcPct val="150000"/>
              </a:lnSpc>
            </a:pPr>
            <a:r>
              <a:rPr lang="en-US" sz="2800" dirty="0">
                <a:highlight>
                  <a:srgbClr val="FFFF00"/>
                </a:highlight>
                <a:latin typeface="Calibir"/>
              </a:rPr>
              <a:t>    volume = </a:t>
            </a:r>
            <a:r>
              <a:rPr lang="en-US" sz="2800" dirty="0" err="1">
                <a:highlight>
                  <a:srgbClr val="FFFF00"/>
                </a:highlight>
                <a:latin typeface="Calibir"/>
              </a:rPr>
              <a:t>calculate_volume</a:t>
            </a:r>
            <a:r>
              <a:rPr lang="en-US" sz="2800" dirty="0">
                <a:highlight>
                  <a:srgbClr val="FFFF00"/>
                </a:highlight>
                <a:latin typeface="Calibir"/>
              </a:rPr>
              <a:t>(radius)</a:t>
            </a:r>
          </a:p>
          <a:p>
            <a:pPr>
              <a:lnSpc>
                <a:spcPct val="150000"/>
              </a:lnSpc>
            </a:pPr>
            <a:r>
              <a:rPr lang="en-US" sz="2800" dirty="0">
                <a:highlight>
                  <a:srgbClr val="FFFF00"/>
                </a:highlight>
                <a:latin typeface="Calibir"/>
              </a:rPr>
              <a:t>    </a:t>
            </a:r>
            <a:r>
              <a:rPr lang="en-US" sz="2800" dirty="0" err="1">
                <a:highlight>
                  <a:srgbClr val="FFFF00"/>
                </a:highlight>
                <a:latin typeface="Calibir"/>
              </a:rPr>
              <a:t>show_results</a:t>
            </a:r>
            <a:r>
              <a:rPr lang="en-US" sz="2800" dirty="0">
                <a:highlight>
                  <a:srgbClr val="FFFF00"/>
                </a:highlight>
                <a:latin typeface="Calibir"/>
              </a:rPr>
              <a:t>(perimeter, area, volume)</a:t>
            </a:r>
          </a:p>
        </p:txBody>
      </p:sp>
    </p:spTree>
    <p:extLst>
      <p:ext uri="{BB962C8B-B14F-4D97-AF65-F5344CB8AC3E}">
        <p14:creationId xmlns:p14="http://schemas.microsoft.com/office/powerpoint/2010/main" val="10795550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1B49C03-8150-C5D7-B481-9EC21BAF953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22F7AD3-735D-E9EF-7F7D-906BDF47109F}"/>
              </a:ext>
            </a:extLst>
          </p:cNvPr>
          <p:cNvSpPr txBox="1"/>
          <p:nvPr/>
        </p:nvSpPr>
        <p:spPr>
          <a:xfrm>
            <a:off x="16933" y="691376"/>
            <a:ext cx="11953694" cy="6186309"/>
          </a:xfrm>
          <a:prstGeom prst="rect">
            <a:avLst/>
          </a:prstGeom>
          <a:noFill/>
        </p:spPr>
        <p:txBody>
          <a:bodyPr wrap="square">
            <a:spAutoFit/>
          </a:bodyPr>
          <a:lstStyle/>
          <a:p>
            <a:r>
              <a:rPr lang="en-US" b="1" dirty="0">
                <a:latin typeface="Calibir"/>
              </a:rPr>
              <a:t>Completed Python — Lab5Exc1.py</a:t>
            </a:r>
          </a:p>
          <a:p>
            <a:r>
              <a:rPr lang="en-US" dirty="0">
                <a:highlight>
                  <a:srgbClr val="FFFF00"/>
                </a:highlight>
                <a:latin typeface="Calibir"/>
              </a:rPr>
              <a:t>import math</a:t>
            </a:r>
          </a:p>
          <a:p>
            <a:r>
              <a:rPr lang="en-US" dirty="0">
                <a:highlight>
                  <a:srgbClr val="FFFF00"/>
                </a:highlight>
                <a:latin typeface="Calibir"/>
              </a:rPr>
              <a:t>def </a:t>
            </a:r>
            <a:r>
              <a:rPr lang="en-US" dirty="0" err="1">
                <a:highlight>
                  <a:srgbClr val="FFFF00"/>
                </a:highlight>
                <a:latin typeface="Calibir"/>
              </a:rPr>
              <a:t>read_radius</a:t>
            </a:r>
            <a:r>
              <a:rPr lang="en-US" dirty="0">
                <a:highlight>
                  <a:srgbClr val="FFFF00"/>
                </a:highlight>
                <a:latin typeface="Calibir"/>
              </a:rPr>
              <a:t>():</a:t>
            </a:r>
          </a:p>
          <a:p>
            <a:r>
              <a:rPr lang="en-US" dirty="0">
                <a:highlight>
                  <a:srgbClr val="FFFF00"/>
                </a:highlight>
                <a:latin typeface="Calibir"/>
              </a:rPr>
              <a:t>    return float(input("Radius = "))</a:t>
            </a:r>
          </a:p>
          <a:p>
            <a:r>
              <a:rPr lang="en-US" dirty="0">
                <a:highlight>
                  <a:srgbClr val="FFFF00"/>
                </a:highlight>
                <a:latin typeface="Calibir"/>
              </a:rPr>
              <a:t>def </a:t>
            </a:r>
            <a:r>
              <a:rPr lang="en-US" dirty="0" err="1">
                <a:highlight>
                  <a:srgbClr val="FFFF00"/>
                </a:highlight>
                <a:latin typeface="Calibir"/>
              </a:rPr>
              <a:t>calculate_perimeter</a:t>
            </a:r>
            <a:r>
              <a:rPr lang="en-US" dirty="0">
                <a:highlight>
                  <a:srgbClr val="FFFF00"/>
                </a:highlight>
                <a:latin typeface="Calibir"/>
              </a:rPr>
              <a:t>(radius):</a:t>
            </a:r>
          </a:p>
          <a:p>
            <a:r>
              <a:rPr lang="en-US" dirty="0">
                <a:highlight>
                  <a:srgbClr val="FFFF00"/>
                </a:highlight>
                <a:latin typeface="Calibir"/>
              </a:rPr>
              <a:t>    return 2 * </a:t>
            </a:r>
            <a:r>
              <a:rPr lang="en-US" dirty="0" err="1">
                <a:highlight>
                  <a:srgbClr val="FFFF00"/>
                </a:highlight>
                <a:latin typeface="Calibir"/>
              </a:rPr>
              <a:t>math.pi</a:t>
            </a:r>
            <a:r>
              <a:rPr lang="en-US" dirty="0">
                <a:highlight>
                  <a:srgbClr val="FFFF00"/>
                </a:highlight>
                <a:latin typeface="Calibir"/>
              </a:rPr>
              <a:t> * radius</a:t>
            </a:r>
          </a:p>
          <a:p>
            <a:r>
              <a:rPr lang="en-US" dirty="0">
                <a:highlight>
                  <a:srgbClr val="FFFF00"/>
                </a:highlight>
                <a:latin typeface="Calibir"/>
              </a:rPr>
              <a:t>def </a:t>
            </a:r>
            <a:r>
              <a:rPr lang="en-US" dirty="0" err="1">
                <a:highlight>
                  <a:srgbClr val="FFFF00"/>
                </a:highlight>
                <a:latin typeface="Calibir"/>
              </a:rPr>
              <a:t>calculate_area</a:t>
            </a:r>
            <a:r>
              <a:rPr lang="en-US" dirty="0">
                <a:highlight>
                  <a:srgbClr val="FFFF00"/>
                </a:highlight>
                <a:latin typeface="Calibir"/>
              </a:rPr>
              <a:t>(radius):</a:t>
            </a:r>
          </a:p>
          <a:p>
            <a:r>
              <a:rPr lang="en-US" dirty="0">
                <a:highlight>
                  <a:srgbClr val="FFFF00"/>
                </a:highlight>
                <a:latin typeface="Calibir"/>
              </a:rPr>
              <a:t>    return </a:t>
            </a:r>
            <a:r>
              <a:rPr lang="en-US" dirty="0" err="1">
                <a:highlight>
                  <a:srgbClr val="FFFF00"/>
                </a:highlight>
                <a:latin typeface="Calibir"/>
              </a:rPr>
              <a:t>math.pi</a:t>
            </a:r>
            <a:r>
              <a:rPr lang="en-US" dirty="0">
                <a:highlight>
                  <a:srgbClr val="FFFF00"/>
                </a:highlight>
                <a:latin typeface="Calibir"/>
              </a:rPr>
              <a:t> * radius ** 2</a:t>
            </a:r>
          </a:p>
          <a:p>
            <a:r>
              <a:rPr lang="en-US" dirty="0">
                <a:highlight>
                  <a:srgbClr val="FFFF00"/>
                </a:highlight>
                <a:latin typeface="Calibir"/>
              </a:rPr>
              <a:t>def </a:t>
            </a:r>
            <a:r>
              <a:rPr lang="en-US" dirty="0" err="1">
                <a:highlight>
                  <a:srgbClr val="FFFF00"/>
                </a:highlight>
                <a:latin typeface="Calibir"/>
              </a:rPr>
              <a:t>calculate_volume</a:t>
            </a:r>
            <a:r>
              <a:rPr lang="en-US" dirty="0">
                <a:highlight>
                  <a:srgbClr val="FFFF00"/>
                </a:highlight>
                <a:latin typeface="Calibir"/>
              </a:rPr>
              <a:t>(radius):</a:t>
            </a:r>
          </a:p>
          <a:p>
            <a:r>
              <a:rPr lang="en-US" dirty="0">
                <a:highlight>
                  <a:srgbClr val="FFFF00"/>
                </a:highlight>
                <a:latin typeface="Calibir"/>
              </a:rPr>
              <a:t>    return (4 / 3) * </a:t>
            </a:r>
            <a:r>
              <a:rPr lang="en-US" dirty="0" err="1">
                <a:highlight>
                  <a:srgbClr val="FFFF00"/>
                </a:highlight>
                <a:latin typeface="Calibir"/>
              </a:rPr>
              <a:t>math.pi</a:t>
            </a:r>
            <a:r>
              <a:rPr lang="en-US" dirty="0">
                <a:highlight>
                  <a:srgbClr val="FFFF00"/>
                </a:highlight>
                <a:latin typeface="Calibir"/>
              </a:rPr>
              <a:t> * radius ** 3</a:t>
            </a:r>
          </a:p>
          <a:p>
            <a:r>
              <a:rPr lang="en-US" dirty="0">
                <a:highlight>
                  <a:srgbClr val="FFFF00"/>
                </a:highlight>
                <a:latin typeface="Calibir"/>
              </a:rPr>
              <a:t>def </a:t>
            </a:r>
            <a:r>
              <a:rPr lang="en-US" dirty="0" err="1">
                <a:highlight>
                  <a:srgbClr val="FFFF00"/>
                </a:highlight>
                <a:latin typeface="Calibir"/>
              </a:rPr>
              <a:t>show_results</a:t>
            </a:r>
            <a:r>
              <a:rPr lang="en-US" dirty="0">
                <a:highlight>
                  <a:srgbClr val="FFFF00"/>
                </a:highlight>
                <a:latin typeface="Calibir"/>
              </a:rPr>
              <a:t>(perimeter, area, volume):</a:t>
            </a:r>
          </a:p>
          <a:p>
            <a:r>
              <a:rPr lang="en-US" dirty="0">
                <a:highlight>
                  <a:srgbClr val="FFFF00"/>
                </a:highlight>
                <a:latin typeface="Calibir"/>
              </a:rPr>
              <a:t>    print(</a:t>
            </a:r>
            <a:r>
              <a:rPr lang="en-US" dirty="0" err="1">
                <a:highlight>
                  <a:srgbClr val="FFFF00"/>
                </a:highlight>
                <a:latin typeface="Calibir"/>
              </a:rPr>
              <a:t>f"Perimeter</a:t>
            </a:r>
            <a:r>
              <a:rPr lang="en-US" dirty="0">
                <a:highlight>
                  <a:srgbClr val="FFFF00"/>
                </a:highlight>
                <a:latin typeface="Calibir"/>
              </a:rPr>
              <a:t> = {perimeter:.3f}")</a:t>
            </a:r>
          </a:p>
          <a:p>
            <a:r>
              <a:rPr lang="en-US" dirty="0">
                <a:highlight>
                  <a:srgbClr val="FFFF00"/>
                </a:highlight>
                <a:latin typeface="Calibir"/>
              </a:rPr>
              <a:t>    print(</a:t>
            </a:r>
            <a:r>
              <a:rPr lang="en-US" dirty="0" err="1">
                <a:highlight>
                  <a:srgbClr val="FFFF00"/>
                </a:highlight>
                <a:latin typeface="Calibir"/>
              </a:rPr>
              <a:t>f"Area</a:t>
            </a:r>
            <a:r>
              <a:rPr lang="en-US" dirty="0">
                <a:highlight>
                  <a:srgbClr val="FFFF00"/>
                </a:highlight>
                <a:latin typeface="Calibir"/>
              </a:rPr>
              <a:t> = {area:.3f}")</a:t>
            </a:r>
          </a:p>
          <a:p>
            <a:r>
              <a:rPr lang="en-US" dirty="0">
                <a:highlight>
                  <a:srgbClr val="FFFF00"/>
                </a:highlight>
                <a:latin typeface="Calibir"/>
              </a:rPr>
              <a:t>    print(</a:t>
            </a:r>
            <a:r>
              <a:rPr lang="en-US" dirty="0" err="1">
                <a:highlight>
                  <a:srgbClr val="FFFF00"/>
                </a:highlight>
                <a:latin typeface="Calibir"/>
              </a:rPr>
              <a:t>f"Volume</a:t>
            </a:r>
            <a:r>
              <a:rPr lang="en-US" dirty="0">
                <a:highlight>
                  <a:srgbClr val="FFFF00"/>
                </a:highlight>
                <a:latin typeface="Calibir"/>
              </a:rPr>
              <a:t> = {volume:.3f}")</a:t>
            </a:r>
          </a:p>
          <a:p>
            <a:r>
              <a:rPr lang="en-US" dirty="0">
                <a:highlight>
                  <a:srgbClr val="FFFF00"/>
                </a:highlight>
                <a:latin typeface="Calibir"/>
              </a:rPr>
              <a:t>def main():</a:t>
            </a:r>
          </a:p>
          <a:p>
            <a:r>
              <a:rPr lang="en-US" dirty="0">
                <a:highlight>
                  <a:srgbClr val="FFFF00"/>
                </a:highlight>
                <a:latin typeface="Calibir"/>
              </a:rPr>
              <a:t>    radius = </a:t>
            </a:r>
            <a:r>
              <a:rPr lang="en-US" dirty="0" err="1">
                <a:highlight>
                  <a:srgbClr val="FFFF00"/>
                </a:highlight>
                <a:latin typeface="Calibir"/>
              </a:rPr>
              <a:t>read_radius</a:t>
            </a:r>
            <a:r>
              <a:rPr lang="en-US" dirty="0">
                <a:highlight>
                  <a:srgbClr val="FFFF00"/>
                </a:highlight>
                <a:latin typeface="Calibir"/>
              </a:rPr>
              <a:t>()</a:t>
            </a:r>
          </a:p>
          <a:p>
            <a:r>
              <a:rPr lang="en-US" dirty="0">
                <a:highlight>
                  <a:srgbClr val="FFFF00"/>
                </a:highlight>
                <a:latin typeface="Calibir"/>
              </a:rPr>
              <a:t>    perimeter = </a:t>
            </a:r>
            <a:r>
              <a:rPr lang="en-US" dirty="0" err="1">
                <a:highlight>
                  <a:srgbClr val="FFFF00"/>
                </a:highlight>
                <a:latin typeface="Calibir"/>
              </a:rPr>
              <a:t>calculate_perimeter</a:t>
            </a:r>
            <a:r>
              <a:rPr lang="en-US" dirty="0">
                <a:highlight>
                  <a:srgbClr val="FFFF00"/>
                </a:highlight>
                <a:latin typeface="Calibir"/>
              </a:rPr>
              <a:t>(radius)</a:t>
            </a:r>
          </a:p>
          <a:p>
            <a:r>
              <a:rPr lang="en-US" dirty="0">
                <a:highlight>
                  <a:srgbClr val="FFFF00"/>
                </a:highlight>
                <a:latin typeface="Calibir"/>
              </a:rPr>
              <a:t>    area = </a:t>
            </a:r>
            <a:r>
              <a:rPr lang="en-US" dirty="0" err="1">
                <a:highlight>
                  <a:srgbClr val="FFFF00"/>
                </a:highlight>
                <a:latin typeface="Calibir"/>
              </a:rPr>
              <a:t>calculate_area</a:t>
            </a:r>
            <a:r>
              <a:rPr lang="en-US" dirty="0">
                <a:highlight>
                  <a:srgbClr val="FFFF00"/>
                </a:highlight>
                <a:latin typeface="Calibir"/>
              </a:rPr>
              <a:t>(radius)</a:t>
            </a:r>
          </a:p>
          <a:p>
            <a:r>
              <a:rPr lang="en-US" dirty="0">
                <a:highlight>
                  <a:srgbClr val="FFFF00"/>
                </a:highlight>
                <a:latin typeface="Calibir"/>
              </a:rPr>
              <a:t>    volume = </a:t>
            </a:r>
            <a:r>
              <a:rPr lang="en-US" dirty="0" err="1">
                <a:highlight>
                  <a:srgbClr val="FFFF00"/>
                </a:highlight>
                <a:latin typeface="Calibir"/>
              </a:rPr>
              <a:t>calculate_volume</a:t>
            </a:r>
            <a:r>
              <a:rPr lang="en-US" dirty="0">
                <a:highlight>
                  <a:srgbClr val="FFFF00"/>
                </a:highlight>
                <a:latin typeface="Calibir"/>
              </a:rPr>
              <a:t>(radius)</a:t>
            </a:r>
          </a:p>
          <a:p>
            <a:r>
              <a:rPr lang="en-US" dirty="0">
                <a:highlight>
                  <a:srgbClr val="FFFF00"/>
                </a:highlight>
                <a:latin typeface="Calibir"/>
              </a:rPr>
              <a:t>    </a:t>
            </a:r>
            <a:r>
              <a:rPr lang="en-US" dirty="0" err="1">
                <a:highlight>
                  <a:srgbClr val="FFFF00"/>
                </a:highlight>
                <a:latin typeface="Calibir"/>
              </a:rPr>
              <a:t>show_results</a:t>
            </a:r>
            <a:r>
              <a:rPr lang="en-US" dirty="0">
                <a:highlight>
                  <a:srgbClr val="FFFF00"/>
                </a:highlight>
                <a:latin typeface="Calibir"/>
              </a:rPr>
              <a:t>(perimeter, area, volume)</a:t>
            </a:r>
          </a:p>
          <a:p>
            <a:r>
              <a:rPr lang="en-US" dirty="0">
                <a:highlight>
                  <a:srgbClr val="FFFF00"/>
                </a:highlight>
                <a:latin typeface="Calibir"/>
              </a:rPr>
              <a:t>if __name__ == "__main__":</a:t>
            </a:r>
          </a:p>
          <a:p>
            <a:r>
              <a:rPr lang="en-US" dirty="0">
                <a:highlight>
                  <a:srgbClr val="FFFF00"/>
                </a:highlight>
                <a:latin typeface="Calibir"/>
              </a:rPr>
              <a:t>    main()</a:t>
            </a:r>
          </a:p>
        </p:txBody>
      </p:sp>
    </p:spTree>
    <p:extLst>
      <p:ext uri="{BB962C8B-B14F-4D97-AF65-F5344CB8AC3E}">
        <p14:creationId xmlns:p14="http://schemas.microsoft.com/office/powerpoint/2010/main" val="1555804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65E0C6C-EA22-E110-F968-3D6ADA7B75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25D0DD-4E10-9550-2CD2-76945B3C5720}"/>
              </a:ext>
            </a:extLst>
          </p:cNvPr>
          <p:cNvSpPr txBox="1"/>
          <p:nvPr/>
        </p:nvSpPr>
        <p:spPr>
          <a:xfrm>
            <a:off x="131027" y="914389"/>
            <a:ext cx="6194502" cy="4831579"/>
          </a:xfrm>
          <a:prstGeom prst="rect">
            <a:avLst/>
          </a:prstGeom>
          <a:noFill/>
        </p:spPr>
        <p:txBody>
          <a:bodyPr wrap="square">
            <a:spAutoFit/>
          </a:bodyPr>
          <a:lstStyle/>
          <a:p>
            <a:pPr>
              <a:lnSpc>
                <a:spcPct val="150000"/>
              </a:lnSpc>
              <a:buNone/>
            </a:pPr>
            <a:r>
              <a:rPr lang="en-US" sz="2600" b="1" dirty="0">
                <a:latin typeface="Calibir"/>
              </a:rPr>
              <a:t>Java</a:t>
            </a:r>
          </a:p>
          <a:p>
            <a:pPr>
              <a:lnSpc>
                <a:spcPct val="150000"/>
              </a:lnSpc>
              <a:buNone/>
            </a:pPr>
            <a:r>
              <a:rPr lang="en-US" sz="2600" b="1" dirty="0">
                <a:latin typeface="Calibir"/>
              </a:rPr>
              <a:t>Step 1 — Basic structure</a:t>
            </a:r>
          </a:p>
          <a:p>
            <a:pPr rtl="0">
              <a:lnSpc>
                <a:spcPct val="150000"/>
              </a:lnSpc>
              <a:buNone/>
            </a:pPr>
            <a:r>
              <a:rPr lang="en-US" sz="2600" dirty="0">
                <a:highlight>
                  <a:srgbClr val="FFFF00"/>
                </a:highlight>
                <a:latin typeface="Calibir"/>
              </a:rPr>
              <a:t>public class Lab5Exc1 {</a:t>
            </a:r>
          </a:p>
          <a:p>
            <a:pPr rtl="0">
              <a:lnSpc>
                <a:spcPct val="150000"/>
              </a:lnSpc>
              <a:buNone/>
            </a:pPr>
            <a:endParaRPr lang="en-US" sz="2600" dirty="0">
              <a:highlight>
                <a:srgbClr val="FFFF00"/>
              </a:highlight>
              <a:latin typeface="Calibir"/>
            </a:endParaRPr>
          </a:p>
          <a:p>
            <a:pPr rtl="0">
              <a:lnSpc>
                <a:spcPct val="150000"/>
              </a:lnSpc>
              <a:buNone/>
            </a:pPr>
            <a:r>
              <a:rPr lang="en-US" sz="2600" dirty="0">
                <a:highlight>
                  <a:srgbClr val="FFFF00"/>
                </a:highlight>
                <a:latin typeface="Calibir"/>
              </a:rPr>
              <a:t>    public static void main(String[] </a:t>
            </a:r>
            <a:r>
              <a:rPr lang="en-US" sz="2600" dirty="0" err="1">
                <a:highlight>
                  <a:srgbClr val="FFFF00"/>
                </a:highlight>
                <a:latin typeface="Calibir"/>
              </a:rPr>
              <a:t>args</a:t>
            </a:r>
            <a:r>
              <a:rPr lang="en-US" sz="2600" dirty="0">
                <a:highlight>
                  <a:srgbClr val="FFFF00"/>
                </a:highlight>
                <a:latin typeface="Calibir"/>
              </a:rPr>
              <a:t>) {</a:t>
            </a:r>
          </a:p>
          <a:p>
            <a:pPr rtl="0">
              <a:lnSpc>
                <a:spcPct val="150000"/>
              </a:lnSpc>
              <a:buNone/>
            </a:pPr>
            <a:endParaRPr lang="en-US" sz="2600" dirty="0">
              <a:highlight>
                <a:srgbClr val="FFFF00"/>
              </a:highlight>
              <a:latin typeface="Calibir"/>
            </a:endParaRPr>
          </a:p>
          <a:p>
            <a:pPr rtl="0">
              <a:lnSpc>
                <a:spcPct val="150000"/>
              </a:lnSpc>
              <a:buNone/>
            </a:pPr>
            <a:r>
              <a:rPr lang="en-US" sz="2600" dirty="0">
                <a:highlight>
                  <a:srgbClr val="FFFF00"/>
                </a:highlight>
                <a:latin typeface="Calibir"/>
              </a:rPr>
              <a:t>    }</a:t>
            </a:r>
          </a:p>
          <a:p>
            <a:pPr rtl="0">
              <a:lnSpc>
                <a:spcPct val="150000"/>
              </a:lnSpc>
              <a:buNone/>
            </a:pPr>
            <a:r>
              <a:rPr lang="en-US" sz="2600" dirty="0">
                <a:highlight>
                  <a:srgbClr val="FFFF00"/>
                </a:highlight>
                <a:latin typeface="Calibir"/>
              </a:rPr>
              <a:t>}</a:t>
            </a:r>
          </a:p>
        </p:txBody>
      </p:sp>
    </p:spTree>
    <p:extLst>
      <p:ext uri="{BB962C8B-B14F-4D97-AF65-F5344CB8AC3E}">
        <p14:creationId xmlns:p14="http://schemas.microsoft.com/office/powerpoint/2010/main" val="30527867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3DAB443-4296-6A1A-5AF4-49FC90822D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178064-9419-FAC5-8C37-86C3750D9949}"/>
              </a:ext>
            </a:extLst>
          </p:cNvPr>
          <p:cNvSpPr txBox="1"/>
          <p:nvPr/>
        </p:nvSpPr>
        <p:spPr>
          <a:xfrm>
            <a:off x="131026" y="914389"/>
            <a:ext cx="8834553" cy="4549835"/>
          </a:xfrm>
          <a:prstGeom prst="rect">
            <a:avLst/>
          </a:prstGeom>
          <a:noFill/>
        </p:spPr>
        <p:txBody>
          <a:bodyPr wrap="square">
            <a:spAutoFit/>
          </a:bodyPr>
          <a:lstStyle/>
          <a:p>
            <a:pPr>
              <a:lnSpc>
                <a:spcPct val="150000"/>
              </a:lnSpc>
            </a:pPr>
            <a:r>
              <a:rPr lang="en-US" sz="2800" b="1" dirty="0">
                <a:latin typeface="Calibir"/>
              </a:rPr>
              <a:t>Step 2 — Read the radius</a:t>
            </a:r>
          </a:p>
          <a:p>
            <a:pPr>
              <a:lnSpc>
                <a:spcPct val="150000"/>
              </a:lnSpc>
            </a:pPr>
            <a:r>
              <a:rPr lang="en-US" sz="2800" dirty="0">
                <a:highlight>
                  <a:srgbClr val="FFFF00"/>
                </a:highlight>
                <a:latin typeface="Calibir"/>
              </a:rPr>
              <a:t>public static double </a:t>
            </a:r>
            <a:r>
              <a:rPr lang="en-US" sz="2800" dirty="0" err="1">
                <a:highlight>
                  <a:srgbClr val="FFFF00"/>
                </a:highlight>
                <a:latin typeface="Calibir"/>
              </a:rPr>
              <a:t>readRadius</a:t>
            </a:r>
            <a:r>
              <a:rPr lang="en-US" sz="2800" dirty="0">
                <a:highlight>
                  <a:srgbClr val="FFFF00"/>
                </a:highlight>
                <a:latin typeface="Calibir"/>
              </a:rPr>
              <a:t>(Scanner input)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a:t>
            </a:r>
            <a:r>
              <a:rPr lang="en-US" sz="2800" dirty="0" err="1">
                <a:highlight>
                  <a:srgbClr val="FFFF00"/>
                </a:highlight>
                <a:latin typeface="Calibir"/>
              </a:rPr>
              <a:t>System.out.print</a:t>
            </a:r>
            <a:r>
              <a:rPr lang="en-US" sz="2800" dirty="0">
                <a:highlight>
                  <a:srgbClr val="FFFF00"/>
                </a:highlight>
                <a:latin typeface="Calibir"/>
              </a:rPr>
              <a:t>("Radius =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return </a:t>
            </a:r>
            <a:r>
              <a:rPr lang="en-US" sz="2800" dirty="0" err="1">
                <a:highlight>
                  <a:srgbClr val="FFFF00"/>
                </a:highlight>
                <a:latin typeface="Calibir"/>
              </a:rPr>
              <a:t>input.nextDouble</a:t>
            </a:r>
            <a:r>
              <a:rPr lang="en-US" sz="2800" dirty="0">
                <a:highlight>
                  <a:srgbClr val="FFFF00"/>
                </a:highlight>
                <a:latin typeface="Calibir"/>
              </a:rPr>
              <a: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34862247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F81DC7A-B8A2-EE57-C91A-117C08F038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5998D9-40D1-AAAF-1BA4-EB428CBD79EB}"/>
              </a:ext>
            </a:extLst>
          </p:cNvPr>
          <p:cNvSpPr txBox="1"/>
          <p:nvPr/>
        </p:nvSpPr>
        <p:spPr>
          <a:xfrm>
            <a:off x="131026" y="914389"/>
            <a:ext cx="8834553" cy="3257174"/>
          </a:xfrm>
          <a:prstGeom prst="rect">
            <a:avLst/>
          </a:prstGeom>
          <a:noFill/>
        </p:spPr>
        <p:txBody>
          <a:bodyPr wrap="square">
            <a:spAutoFit/>
          </a:bodyPr>
          <a:lstStyle/>
          <a:p>
            <a:pPr>
              <a:lnSpc>
                <a:spcPct val="150000"/>
              </a:lnSpc>
            </a:pPr>
            <a:r>
              <a:rPr lang="en-US" sz="2800" b="1" dirty="0">
                <a:latin typeface="Calibir"/>
              </a:rPr>
              <a:t>Step 3 — Calculate perimeter</a:t>
            </a:r>
          </a:p>
          <a:p>
            <a:pPr>
              <a:lnSpc>
                <a:spcPct val="150000"/>
              </a:lnSpc>
            </a:pPr>
            <a:r>
              <a:rPr lang="en-US" sz="2800" dirty="0">
                <a:highlight>
                  <a:srgbClr val="FFFF00"/>
                </a:highlight>
                <a:latin typeface="Calibir"/>
              </a:rPr>
              <a:t>public static double </a:t>
            </a:r>
            <a:r>
              <a:rPr lang="en-US" sz="2800" dirty="0" err="1">
                <a:highlight>
                  <a:srgbClr val="FFFF00"/>
                </a:highlight>
                <a:latin typeface="Calibir"/>
              </a:rPr>
              <a:t>calculatePerimeter</a:t>
            </a:r>
            <a:r>
              <a:rPr lang="en-US" sz="2800" dirty="0">
                <a:highlight>
                  <a:srgbClr val="FFFF00"/>
                </a:highlight>
                <a:latin typeface="Calibir"/>
              </a:rPr>
              <a:t>(double radius)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return 2 * </a:t>
            </a:r>
            <a:r>
              <a:rPr lang="en-US" sz="2800" dirty="0" err="1">
                <a:highlight>
                  <a:srgbClr val="FFFF00"/>
                </a:highlight>
                <a:latin typeface="Calibir"/>
              </a:rPr>
              <a:t>Math.PI</a:t>
            </a:r>
            <a:r>
              <a:rPr lang="en-US" sz="2800" dirty="0">
                <a:highlight>
                  <a:srgbClr val="FFFF00"/>
                </a:highlight>
                <a:latin typeface="Calibir"/>
              </a:rPr>
              <a:t> * radius;</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29765539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2F75D71-D095-99C9-CAD3-D5742DB9FD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FD51CFC-C1DD-E577-2921-B125D3CE99AD}"/>
              </a:ext>
            </a:extLst>
          </p:cNvPr>
          <p:cNvSpPr txBox="1"/>
          <p:nvPr/>
        </p:nvSpPr>
        <p:spPr>
          <a:xfrm>
            <a:off x="131026" y="914389"/>
            <a:ext cx="8834553" cy="3257174"/>
          </a:xfrm>
          <a:prstGeom prst="rect">
            <a:avLst/>
          </a:prstGeom>
          <a:noFill/>
        </p:spPr>
        <p:txBody>
          <a:bodyPr wrap="square">
            <a:spAutoFit/>
          </a:bodyPr>
          <a:lstStyle/>
          <a:p>
            <a:pPr>
              <a:lnSpc>
                <a:spcPct val="150000"/>
              </a:lnSpc>
            </a:pPr>
            <a:r>
              <a:rPr lang="en-US" sz="2800" b="1" dirty="0">
                <a:latin typeface="Calibir"/>
              </a:rPr>
              <a:t>Step 4 — Calculate area</a:t>
            </a:r>
          </a:p>
          <a:p>
            <a:pPr>
              <a:lnSpc>
                <a:spcPct val="150000"/>
              </a:lnSpc>
            </a:pPr>
            <a:r>
              <a:rPr lang="en-US" sz="2800" dirty="0">
                <a:highlight>
                  <a:srgbClr val="FFFF00"/>
                </a:highlight>
                <a:latin typeface="Calibir"/>
              </a:rPr>
              <a:t>public static double </a:t>
            </a:r>
            <a:r>
              <a:rPr lang="en-US" sz="2800" dirty="0" err="1">
                <a:highlight>
                  <a:srgbClr val="FFFF00"/>
                </a:highlight>
                <a:latin typeface="Calibir"/>
              </a:rPr>
              <a:t>calculateArea</a:t>
            </a:r>
            <a:r>
              <a:rPr lang="en-US" sz="2800" dirty="0">
                <a:highlight>
                  <a:srgbClr val="FFFF00"/>
                </a:highlight>
                <a:latin typeface="Calibir"/>
              </a:rPr>
              <a:t>(double radius)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return </a:t>
            </a:r>
            <a:r>
              <a:rPr lang="en-US" sz="2800" dirty="0" err="1">
                <a:highlight>
                  <a:srgbClr val="FFFF00"/>
                </a:highlight>
                <a:latin typeface="Calibir"/>
              </a:rPr>
              <a:t>Math.PI</a:t>
            </a:r>
            <a:r>
              <a:rPr lang="en-US" sz="2800" dirty="0">
                <a:highlight>
                  <a:srgbClr val="FFFF00"/>
                </a:highlight>
                <a:latin typeface="Calibir"/>
              </a:rPr>
              <a:t> * </a:t>
            </a:r>
            <a:r>
              <a:rPr lang="en-US" sz="2800" dirty="0" err="1">
                <a:highlight>
                  <a:srgbClr val="FFFF00"/>
                </a:highlight>
                <a:latin typeface="Calibir"/>
              </a:rPr>
              <a:t>Math.pow</a:t>
            </a:r>
            <a:r>
              <a:rPr lang="en-US" sz="2800" dirty="0">
                <a:highlight>
                  <a:srgbClr val="FFFF00"/>
                </a:highlight>
                <a:latin typeface="Calibir"/>
              </a:rPr>
              <a:t>(radius, 2);</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88456960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40C7CA9-EA75-106D-B9ED-C8815CBBC7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A68C90-8796-7238-272D-7DCDE314B0B2}"/>
              </a:ext>
            </a:extLst>
          </p:cNvPr>
          <p:cNvSpPr txBox="1"/>
          <p:nvPr/>
        </p:nvSpPr>
        <p:spPr>
          <a:xfrm>
            <a:off x="131026" y="914389"/>
            <a:ext cx="8834553" cy="4549835"/>
          </a:xfrm>
          <a:prstGeom prst="rect">
            <a:avLst/>
          </a:prstGeom>
          <a:noFill/>
        </p:spPr>
        <p:txBody>
          <a:bodyPr wrap="square">
            <a:spAutoFit/>
          </a:bodyPr>
          <a:lstStyle/>
          <a:p>
            <a:pPr>
              <a:lnSpc>
                <a:spcPct val="150000"/>
              </a:lnSpc>
            </a:pPr>
            <a:r>
              <a:rPr lang="en-US" sz="2800" b="1" dirty="0">
                <a:latin typeface="Calibir"/>
              </a:rPr>
              <a:t>Step 5 — Calculate volume</a:t>
            </a:r>
          </a:p>
          <a:p>
            <a:pPr>
              <a:lnSpc>
                <a:spcPct val="150000"/>
              </a:lnSpc>
            </a:pPr>
            <a:r>
              <a:rPr lang="en-US" sz="2800" dirty="0">
                <a:highlight>
                  <a:srgbClr val="FFFF00"/>
                </a:highlight>
                <a:latin typeface="Calibir"/>
              </a:rPr>
              <a:t>public static double </a:t>
            </a:r>
            <a:r>
              <a:rPr lang="en-US" sz="2800" dirty="0" err="1">
                <a:highlight>
                  <a:srgbClr val="FFFF00"/>
                </a:highlight>
                <a:latin typeface="Calibir"/>
              </a:rPr>
              <a:t>calculateVolume</a:t>
            </a:r>
            <a:r>
              <a:rPr lang="en-US" sz="2800" dirty="0">
                <a:highlight>
                  <a:srgbClr val="FFFF00"/>
                </a:highlight>
                <a:latin typeface="Calibir"/>
              </a:rPr>
              <a:t>(double radius)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return (4.0 / 3.0)</a:t>
            </a:r>
          </a:p>
          <a:p>
            <a:pPr>
              <a:lnSpc>
                <a:spcPct val="150000"/>
              </a:lnSpc>
            </a:pPr>
            <a:r>
              <a:rPr lang="en-US" sz="2800" dirty="0">
                <a:highlight>
                  <a:srgbClr val="FFFF00"/>
                </a:highlight>
                <a:latin typeface="Calibir"/>
              </a:rPr>
              <a:t>            * </a:t>
            </a:r>
            <a:r>
              <a:rPr lang="en-US" sz="2800" dirty="0" err="1">
                <a:highlight>
                  <a:srgbClr val="FFFF00"/>
                </a:highlight>
                <a:latin typeface="Calibir"/>
              </a:rPr>
              <a:t>Math.PI</a:t>
            </a:r>
            <a:endParaRPr lang="en-US" sz="2800" dirty="0">
              <a:highlight>
                <a:srgbClr val="FFFF00"/>
              </a:highlight>
              <a:latin typeface="Calibir"/>
            </a:endParaRPr>
          </a:p>
          <a:p>
            <a:pPr>
              <a:lnSpc>
                <a:spcPct val="150000"/>
              </a:lnSpc>
            </a:pPr>
            <a:r>
              <a:rPr lang="en-US" sz="2800" dirty="0">
                <a:highlight>
                  <a:srgbClr val="FFFF00"/>
                </a:highlight>
                <a:latin typeface="Calibir"/>
              </a:rPr>
              <a:t>            * </a:t>
            </a:r>
            <a:r>
              <a:rPr lang="en-US" sz="2800" dirty="0" err="1">
                <a:highlight>
                  <a:srgbClr val="FFFF00"/>
                </a:highlight>
                <a:latin typeface="Calibir"/>
              </a:rPr>
              <a:t>Math.pow</a:t>
            </a:r>
            <a:r>
              <a:rPr lang="en-US" sz="2800" dirty="0">
                <a:highlight>
                  <a:srgbClr val="FFFF00"/>
                </a:highlight>
                <a:latin typeface="Calibir"/>
              </a:rPr>
              <a:t>(radius, 3);</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228733464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0C2C0FE-515E-730E-D35A-83F8978A8A1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09B8D8-4BB4-BFF8-269D-77B479CBE3FF}"/>
              </a:ext>
            </a:extLst>
          </p:cNvPr>
          <p:cNvSpPr txBox="1"/>
          <p:nvPr/>
        </p:nvSpPr>
        <p:spPr>
          <a:xfrm>
            <a:off x="0" y="0"/>
            <a:ext cx="8834553" cy="6789679"/>
          </a:xfrm>
          <a:prstGeom prst="rect">
            <a:avLst/>
          </a:prstGeom>
          <a:noFill/>
        </p:spPr>
        <p:txBody>
          <a:bodyPr wrap="square">
            <a:spAutoFit/>
          </a:bodyPr>
          <a:lstStyle/>
          <a:p>
            <a:pPr>
              <a:lnSpc>
                <a:spcPct val="150000"/>
              </a:lnSpc>
            </a:pPr>
            <a:r>
              <a:rPr lang="en-US" b="1" dirty="0">
                <a:latin typeface="Calibir"/>
              </a:rPr>
              <a:t>Step 6 — Display results</a:t>
            </a:r>
          </a:p>
          <a:p>
            <a:pPr>
              <a:lnSpc>
                <a:spcPct val="150000"/>
              </a:lnSpc>
            </a:pPr>
            <a:r>
              <a:rPr lang="en-US" sz="1600" dirty="0">
                <a:highlight>
                  <a:srgbClr val="FFFF00"/>
                </a:highlight>
                <a:latin typeface="Calibir"/>
              </a:rPr>
              <a:t>public static void </a:t>
            </a:r>
            <a:r>
              <a:rPr lang="en-US" sz="1600" dirty="0" err="1">
                <a:highlight>
                  <a:srgbClr val="FFFF00"/>
                </a:highlight>
                <a:latin typeface="Calibir"/>
              </a:rPr>
              <a:t>showResults</a:t>
            </a:r>
            <a:r>
              <a:rPr lang="en-US" sz="1600" dirty="0">
                <a:highlight>
                  <a:srgbClr val="FFFF00"/>
                </a:highlight>
                <a:latin typeface="Calibir"/>
              </a:rPr>
              <a:t>(</a:t>
            </a:r>
          </a:p>
          <a:p>
            <a:pPr>
              <a:lnSpc>
                <a:spcPct val="150000"/>
              </a:lnSpc>
            </a:pPr>
            <a:r>
              <a:rPr lang="en-US" sz="1600" dirty="0">
                <a:highlight>
                  <a:srgbClr val="FFFF00"/>
                </a:highlight>
                <a:latin typeface="Calibir"/>
              </a:rPr>
              <a:t>        double perimeter,</a:t>
            </a:r>
          </a:p>
          <a:p>
            <a:pPr>
              <a:lnSpc>
                <a:spcPct val="150000"/>
              </a:lnSpc>
            </a:pPr>
            <a:r>
              <a:rPr lang="en-US" sz="1600" dirty="0">
                <a:highlight>
                  <a:srgbClr val="FFFF00"/>
                </a:highlight>
                <a:latin typeface="Calibir"/>
              </a:rPr>
              <a:t>        double area,</a:t>
            </a:r>
          </a:p>
          <a:p>
            <a:pPr>
              <a:lnSpc>
                <a:spcPct val="150000"/>
              </a:lnSpc>
            </a:pPr>
            <a:r>
              <a:rPr lang="en-US" sz="1600" dirty="0">
                <a:highlight>
                  <a:srgbClr val="FFFF00"/>
                </a:highlight>
                <a:latin typeface="Calibir"/>
              </a:rPr>
              <a:t>        double volume) {</a:t>
            </a:r>
          </a:p>
          <a:p>
            <a:pPr>
              <a:lnSpc>
                <a:spcPct val="150000"/>
              </a:lnSpc>
            </a:pPr>
            <a:r>
              <a:rPr lang="en-US" sz="1600" dirty="0">
                <a:highlight>
                  <a:srgbClr val="FFFF00"/>
                </a:highlight>
                <a:latin typeface="Calibir"/>
              </a:rPr>
              <a:t>    </a:t>
            </a:r>
            <a:r>
              <a:rPr lang="en-US" sz="1600" dirty="0" err="1">
                <a:highlight>
                  <a:srgbClr val="FFFF00"/>
                </a:highlight>
                <a:latin typeface="Calibir"/>
              </a:rPr>
              <a:t>System.out.printf</a:t>
            </a:r>
            <a:r>
              <a:rPr lang="en-US" sz="1600" dirty="0">
                <a:highlight>
                  <a:srgbClr val="FFFF00"/>
                </a:highlight>
                <a:latin typeface="Calibir"/>
              </a:rPr>
              <a:t>(</a:t>
            </a:r>
          </a:p>
          <a:p>
            <a:pPr>
              <a:lnSpc>
                <a:spcPct val="150000"/>
              </a:lnSpc>
            </a:pPr>
            <a:r>
              <a:rPr lang="en-US" sz="1600" dirty="0">
                <a:highlight>
                  <a:srgbClr val="FFFF00"/>
                </a:highlight>
                <a:latin typeface="Calibir"/>
              </a:rPr>
              <a:t>        "Perimeter = %.3f%n",</a:t>
            </a:r>
          </a:p>
          <a:p>
            <a:pPr>
              <a:lnSpc>
                <a:spcPct val="150000"/>
              </a:lnSpc>
            </a:pPr>
            <a:r>
              <a:rPr lang="en-US" sz="1600" dirty="0">
                <a:highlight>
                  <a:srgbClr val="FFFF00"/>
                </a:highlight>
                <a:latin typeface="Calibir"/>
              </a:rPr>
              <a:t>        perimeter</a:t>
            </a:r>
          </a:p>
          <a:p>
            <a:pPr>
              <a:lnSpc>
                <a:spcPct val="150000"/>
              </a:lnSpc>
            </a:pPr>
            <a:r>
              <a:rPr lang="en-US" sz="1600" dirty="0">
                <a:highlight>
                  <a:srgbClr val="FFFF00"/>
                </a:highlight>
                <a:latin typeface="Calibir"/>
              </a:rPr>
              <a:t>    );</a:t>
            </a:r>
          </a:p>
          <a:p>
            <a:pPr>
              <a:lnSpc>
                <a:spcPct val="150000"/>
              </a:lnSpc>
            </a:pPr>
            <a:r>
              <a:rPr lang="en-US" sz="1600" dirty="0">
                <a:highlight>
                  <a:srgbClr val="FFFF00"/>
                </a:highlight>
                <a:latin typeface="Calibir"/>
              </a:rPr>
              <a:t>    </a:t>
            </a:r>
            <a:r>
              <a:rPr lang="en-US" sz="1600" dirty="0" err="1">
                <a:highlight>
                  <a:srgbClr val="FFFF00"/>
                </a:highlight>
                <a:latin typeface="Calibir"/>
              </a:rPr>
              <a:t>System.out.printf</a:t>
            </a:r>
            <a:r>
              <a:rPr lang="en-US" sz="1600" dirty="0">
                <a:highlight>
                  <a:srgbClr val="FFFF00"/>
                </a:highlight>
                <a:latin typeface="Calibir"/>
              </a:rPr>
              <a:t>(</a:t>
            </a:r>
          </a:p>
          <a:p>
            <a:pPr>
              <a:lnSpc>
                <a:spcPct val="150000"/>
              </a:lnSpc>
            </a:pPr>
            <a:r>
              <a:rPr lang="en-US" sz="1600" dirty="0">
                <a:highlight>
                  <a:srgbClr val="FFFF00"/>
                </a:highlight>
                <a:latin typeface="Calibir"/>
              </a:rPr>
              <a:t>        "Area = %.3f%n",</a:t>
            </a:r>
          </a:p>
          <a:p>
            <a:pPr>
              <a:lnSpc>
                <a:spcPct val="150000"/>
              </a:lnSpc>
            </a:pPr>
            <a:r>
              <a:rPr lang="en-US" sz="1600" dirty="0">
                <a:highlight>
                  <a:srgbClr val="FFFF00"/>
                </a:highlight>
                <a:latin typeface="Calibir"/>
              </a:rPr>
              <a:t>        area</a:t>
            </a:r>
          </a:p>
          <a:p>
            <a:pPr>
              <a:lnSpc>
                <a:spcPct val="150000"/>
              </a:lnSpc>
            </a:pPr>
            <a:r>
              <a:rPr lang="en-US" sz="1600" dirty="0">
                <a:highlight>
                  <a:srgbClr val="FFFF00"/>
                </a:highlight>
                <a:latin typeface="Calibir"/>
              </a:rPr>
              <a:t>    );</a:t>
            </a:r>
          </a:p>
          <a:p>
            <a:pPr>
              <a:lnSpc>
                <a:spcPct val="150000"/>
              </a:lnSpc>
            </a:pPr>
            <a:r>
              <a:rPr lang="en-US" sz="1600" dirty="0">
                <a:highlight>
                  <a:srgbClr val="FFFF00"/>
                </a:highlight>
                <a:latin typeface="Calibir"/>
              </a:rPr>
              <a:t>    </a:t>
            </a:r>
            <a:r>
              <a:rPr lang="en-US" sz="1600" dirty="0" err="1">
                <a:highlight>
                  <a:srgbClr val="FFFF00"/>
                </a:highlight>
                <a:latin typeface="Calibir"/>
              </a:rPr>
              <a:t>System.out.printf</a:t>
            </a:r>
            <a:r>
              <a:rPr lang="en-US" sz="1600" dirty="0">
                <a:highlight>
                  <a:srgbClr val="FFFF00"/>
                </a:highlight>
                <a:latin typeface="Calibir"/>
              </a:rPr>
              <a:t>(</a:t>
            </a:r>
          </a:p>
          <a:p>
            <a:pPr>
              <a:lnSpc>
                <a:spcPct val="150000"/>
              </a:lnSpc>
            </a:pPr>
            <a:r>
              <a:rPr lang="en-US" sz="1600" dirty="0">
                <a:highlight>
                  <a:srgbClr val="FFFF00"/>
                </a:highlight>
                <a:latin typeface="Calibir"/>
              </a:rPr>
              <a:t>        "Volume = %.3f%n",</a:t>
            </a:r>
          </a:p>
          <a:p>
            <a:pPr>
              <a:lnSpc>
                <a:spcPct val="150000"/>
              </a:lnSpc>
            </a:pPr>
            <a:r>
              <a:rPr lang="en-US" sz="1600" dirty="0">
                <a:highlight>
                  <a:srgbClr val="FFFF00"/>
                </a:highlight>
                <a:latin typeface="Calibir"/>
              </a:rPr>
              <a:t>        volume</a:t>
            </a:r>
          </a:p>
          <a:p>
            <a:pPr>
              <a:lnSpc>
                <a:spcPct val="150000"/>
              </a:lnSpc>
            </a:pPr>
            <a:r>
              <a:rPr lang="en-US" sz="1600" dirty="0">
                <a:highlight>
                  <a:srgbClr val="FFFF00"/>
                </a:highlight>
                <a:latin typeface="Calibir"/>
              </a:rPr>
              <a:t>    );</a:t>
            </a:r>
          </a:p>
          <a:p>
            <a:pPr>
              <a:lnSpc>
                <a:spcPct val="150000"/>
              </a:lnSpc>
            </a:pPr>
            <a:r>
              <a:rPr lang="en-US" dirty="0">
                <a:highlight>
                  <a:srgbClr val="FFFF00"/>
                </a:highlight>
                <a:latin typeface="Calibir"/>
              </a:rPr>
              <a:t>}</a:t>
            </a:r>
          </a:p>
        </p:txBody>
      </p:sp>
    </p:spTree>
    <p:extLst>
      <p:ext uri="{BB962C8B-B14F-4D97-AF65-F5344CB8AC3E}">
        <p14:creationId xmlns:p14="http://schemas.microsoft.com/office/powerpoint/2010/main" val="42382464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0D21694-639E-3EE0-91EE-12F7487816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E0155F-2E54-B960-8850-CA98B8AAD183}"/>
              </a:ext>
            </a:extLst>
          </p:cNvPr>
          <p:cNvSpPr txBox="1"/>
          <p:nvPr/>
        </p:nvSpPr>
        <p:spPr>
          <a:xfrm>
            <a:off x="0" y="0"/>
            <a:ext cx="8834553" cy="6694140"/>
          </a:xfrm>
          <a:prstGeom prst="rect">
            <a:avLst/>
          </a:prstGeom>
          <a:noFill/>
        </p:spPr>
        <p:txBody>
          <a:bodyPr wrap="square">
            <a:spAutoFit/>
          </a:bodyPr>
          <a:lstStyle/>
          <a:p>
            <a:r>
              <a:rPr lang="en-US" sz="1300" b="1" dirty="0">
                <a:latin typeface="Calibir"/>
              </a:rPr>
              <a:t>Completed Java — Lab5Exc1.java</a:t>
            </a:r>
          </a:p>
          <a:p>
            <a:r>
              <a:rPr lang="en-US" sz="1300" dirty="0">
                <a:highlight>
                  <a:srgbClr val="FFFF00"/>
                </a:highlight>
                <a:latin typeface="Calibir"/>
              </a:rPr>
              <a:t>import </a:t>
            </a:r>
            <a:r>
              <a:rPr lang="en-US" sz="1300" dirty="0" err="1">
                <a:highlight>
                  <a:srgbClr val="FFFF00"/>
                </a:highlight>
                <a:latin typeface="Calibir"/>
              </a:rPr>
              <a:t>java.util.Scanner</a:t>
            </a:r>
            <a:r>
              <a:rPr lang="en-US" sz="1300" dirty="0">
                <a:highlight>
                  <a:srgbClr val="FFFF00"/>
                </a:highlight>
                <a:latin typeface="Calibir"/>
              </a:rPr>
              <a:t>;</a:t>
            </a:r>
          </a:p>
          <a:p>
            <a:r>
              <a:rPr lang="en-US" sz="1300" dirty="0">
                <a:highlight>
                  <a:srgbClr val="FFFF00"/>
                </a:highlight>
                <a:latin typeface="Calibir"/>
              </a:rPr>
              <a:t>public class Lab5Exc1 {</a:t>
            </a:r>
          </a:p>
          <a:p>
            <a:r>
              <a:rPr lang="en-US" sz="1300" dirty="0">
                <a:highlight>
                  <a:srgbClr val="FFFF00"/>
                </a:highlight>
                <a:latin typeface="Calibir"/>
              </a:rPr>
              <a:t>    public static double </a:t>
            </a:r>
            <a:r>
              <a:rPr lang="en-US" sz="1300" dirty="0" err="1">
                <a:highlight>
                  <a:srgbClr val="FFFF00"/>
                </a:highlight>
                <a:latin typeface="Calibir"/>
              </a:rPr>
              <a:t>readRadius</a:t>
            </a:r>
            <a:r>
              <a:rPr lang="en-US" sz="1300" dirty="0">
                <a:highlight>
                  <a:srgbClr val="FFFF00"/>
                </a:highlight>
                <a:latin typeface="Calibir"/>
              </a:rPr>
              <a:t>(Scanner input) {</a:t>
            </a:r>
          </a:p>
          <a:p>
            <a:r>
              <a:rPr lang="en-US" sz="1300" dirty="0">
                <a:highlight>
                  <a:srgbClr val="FFFF00"/>
                </a:highlight>
                <a:latin typeface="Calibir"/>
              </a:rPr>
              <a:t>        </a:t>
            </a:r>
            <a:r>
              <a:rPr lang="en-US" sz="1300" dirty="0" err="1">
                <a:highlight>
                  <a:srgbClr val="FFFF00"/>
                </a:highlight>
                <a:latin typeface="Calibir"/>
              </a:rPr>
              <a:t>System.out.print</a:t>
            </a:r>
            <a:r>
              <a:rPr lang="en-US" sz="1300" dirty="0">
                <a:highlight>
                  <a:srgbClr val="FFFF00"/>
                </a:highlight>
                <a:latin typeface="Calibir"/>
              </a:rPr>
              <a:t>("Radius = ");</a:t>
            </a:r>
          </a:p>
          <a:p>
            <a:r>
              <a:rPr lang="en-US" sz="1300" dirty="0">
                <a:highlight>
                  <a:srgbClr val="FFFF00"/>
                </a:highlight>
                <a:latin typeface="Calibir"/>
              </a:rPr>
              <a:t>        return </a:t>
            </a:r>
            <a:r>
              <a:rPr lang="en-US" sz="1300" dirty="0" err="1">
                <a:highlight>
                  <a:srgbClr val="FFFF00"/>
                </a:highlight>
                <a:latin typeface="Calibir"/>
              </a:rPr>
              <a:t>input.nextDouble</a:t>
            </a:r>
            <a:r>
              <a:rPr lang="en-US" sz="1300" dirty="0">
                <a:highlight>
                  <a:srgbClr val="FFFF00"/>
                </a:highlight>
                <a:latin typeface="Calibir"/>
              </a:rPr>
              <a:t>();</a:t>
            </a:r>
          </a:p>
          <a:p>
            <a:r>
              <a:rPr lang="en-US" sz="1300" dirty="0">
                <a:highlight>
                  <a:srgbClr val="FFFF00"/>
                </a:highlight>
                <a:latin typeface="Calibir"/>
              </a:rPr>
              <a:t>    }</a:t>
            </a:r>
          </a:p>
          <a:p>
            <a:r>
              <a:rPr lang="en-US" sz="1300" dirty="0">
                <a:highlight>
                  <a:srgbClr val="FFFF00"/>
                </a:highlight>
                <a:latin typeface="Calibir"/>
              </a:rPr>
              <a:t>    public static double </a:t>
            </a:r>
            <a:r>
              <a:rPr lang="en-US" sz="1300" dirty="0" err="1">
                <a:highlight>
                  <a:srgbClr val="FFFF00"/>
                </a:highlight>
                <a:latin typeface="Calibir"/>
              </a:rPr>
              <a:t>calculatePerimeter</a:t>
            </a:r>
            <a:r>
              <a:rPr lang="en-US" sz="1300" dirty="0">
                <a:highlight>
                  <a:srgbClr val="FFFF00"/>
                </a:highlight>
                <a:latin typeface="Calibir"/>
              </a:rPr>
              <a:t>(</a:t>
            </a:r>
          </a:p>
          <a:p>
            <a:r>
              <a:rPr lang="en-US" sz="1300" dirty="0">
                <a:highlight>
                  <a:srgbClr val="FFFF00"/>
                </a:highlight>
                <a:latin typeface="Calibir"/>
              </a:rPr>
              <a:t>            double radius) {</a:t>
            </a:r>
          </a:p>
          <a:p>
            <a:r>
              <a:rPr lang="en-US" sz="1300" dirty="0">
                <a:highlight>
                  <a:srgbClr val="FFFF00"/>
                </a:highlight>
                <a:latin typeface="Calibir"/>
              </a:rPr>
              <a:t>        return 2 * </a:t>
            </a:r>
            <a:r>
              <a:rPr lang="en-US" sz="1300" dirty="0" err="1">
                <a:highlight>
                  <a:srgbClr val="FFFF00"/>
                </a:highlight>
                <a:latin typeface="Calibir"/>
              </a:rPr>
              <a:t>Math.PI</a:t>
            </a:r>
            <a:r>
              <a:rPr lang="en-US" sz="1300" dirty="0">
                <a:highlight>
                  <a:srgbClr val="FFFF00"/>
                </a:highlight>
                <a:latin typeface="Calibir"/>
              </a:rPr>
              <a:t> * radius;</a:t>
            </a:r>
          </a:p>
          <a:p>
            <a:r>
              <a:rPr lang="en-US" sz="1300" dirty="0">
                <a:highlight>
                  <a:srgbClr val="FFFF00"/>
                </a:highlight>
                <a:latin typeface="Calibir"/>
              </a:rPr>
              <a:t>    }</a:t>
            </a:r>
          </a:p>
          <a:p>
            <a:r>
              <a:rPr lang="en-US" sz="1300" dirty="0">
                <a:highlight>
                  <a:srgbClr val="FFFF00"/>
                </a:highlight>
                <a:latin typeface="Calibir"/>
              </a:rPr>
              <a:t>    public static double </a:t>
            </a:r>
            <a:r>
              <a:rPr lang="en-US" sz="1300" dirty="0" err="1">
                <a:highlight>
                  <a:srgbClr val="FFFF00"/>
                </a:highlight>
                <a:latin typeface="Calibir"/>
              </a:rPr>
              <a:t>calculateArea</a:t>
            </a:r>
            <a:r>
              <a:rPr lang="en-US" sz="1300" dirty="0">
                <a:highlight>
                  <a:srgbClr val="FFFF00"/>
                </a:highlight>
                <a:latin typeface="Calibir"/>
              </a:rPr>
              <a:t>(</a:t>
            </a:r>
          </a:p>
          <a:p>
            <a:r>
              <a:rPr lang="en-US" sz="1300" dirty="0">
                <a:highlight>
                  <a:srgbClr val="FFFF00"/>
                </a:highlight>
                <a:latin typeface="Calibir"/>
              </a:rPr>
              <a:t>            double radius) {</a:t>
            </a:r>
          </a:p>
          <a:p>
            <a:r>
              <a:rPr lang="en-US" sz="1300" dirty="0">
                <a:highlight>
                  <a:srgbClr val="FFFF00"/>
                </a:highlight>
                <a:latin typeface="Calibir"/>
              </a:rPr>
              <a:t>        return </a:t>
            </a:r>
            <a:r>
              <a:rPr lang="en-US" sz="1300" dirty="0" err="1">
                <a:highlight>
                  <a:srgbClr val="FFFF00"/>
                </a:highlight>
                <a:latin typeface="Calibir"/>
              </a:rPr>
              <a:t>Math.PI</a:t>
            </a:r>
            <a:r>
              <a:rPr lang="en-US" sz="1300" dirty="0">
                <a:highlight>
                  <a:srgbClr val="FFFF00"/>
                </a:highlight>
                <a:latin typeface="Calibir"/>
              </a:rPr>
              <a:t> * </a:t>
            </a:r>
            <a:r>
              <a:rPr lang="en-US" sz="1300" dirty="0" err="1">
                <a:highlight>
                  <a:srgbClr val="FFFF00"/>
                </a:highlight>
                <a:latin typeface="Calibir"/>
              </a:rPr>
              <a:t>Math.pow</a:t>
            </a:r>
            <a:r>
              <a:rPr lang="en-US" sz="1300" dirty="0">
                <a:highlight>
                  <a:srgbClr val="FFFF00"/>
                </a:highlight>
                <a:latin typeface="Calibir"/>
              </a:rPr>
              <a:t>(radius, 2);</a:t>
            </a:r>
          </a:p>
          <a:p>
            <a:r>
              <a:rPr lang="en-US" sz="1300" dirty="0">
                <a:highlight>
                  <a:srgbClr val="FFFF00"/>
                </a:highlight>
                <a:latin typeface="Calibir"/>
              </a:rPr>
              <a:t>    }</a:t>
            </a:r>
          </a:p>
          <a:p>
            <a:r>
              <a:rPr lang="en-US" sz="1300" dirty="0">
                <a:highlight>
                  <a:srgbClr val="FFFF00"/>
                </a:highlight>
                <a:latin typeface="Calibir"/>
              </a:rPr>
              <a:t>    public static double </a:t>
            </a:r>
            <a:r>
              <a:rPr lang="en-US" sz="1300" dirty="0" err="1">
                <a:highlight>
                  <a:srgbClr val="FFFF00"/>
                </a:highlight>
                <a:latin typeface="Calibir"/>
              </a:rPr>
              <a:t>calculateVolume</a:t>
            </a:r>
            <a:r>
              <a:rPr lang="en-US" sz="1300" dirty="0">
                <a:highlight>
                  <a:srgbClr val="FFFF00"/>
                </a:highlight>
                <a:latin typeface="Calibir"/>
              </a:rPr>
              <a:t>(</a:t>
            </a:r>
          </a:p>
          <a:p>
            <a:r>
              <a:rPr lang="en-US" sz="1300" dirty="0">
                <a:highlight>
                  <a:srgbClr val="FFFF00"/>
                </a:highlight>
                <a:latin typeface="Calibir"/>
              </a:rPr>
              <a:t>            double radius) {</a:t>
            </a:r>
          </a:p>
          <a:p>
            <a:r>
              <a:rPr lang="en-US" sz="1300" dirty="0">
                <a:highlight>
                  <a:srgbClr val="FFFF00"/>
                </a:highlight>
                <a:latin typeface="Calibir"/>
              </a:rPr>
              <a:t>        return (4.0 / 3.0)</a:t>
            </a:r>
          </a:p>
          <a:p>
            <a:r>
              <a:rPr lang="en-US" sz="1300" dirty="0">
                <a:highlight>
                  <a:srgbClr val="FFFF00"/>
                </a:highlight>
                <a:latin typeface="Calibir"/>
              </a:rPr>
              <a:t>                * </a:t>
            </a:r>
            <a:r>
              <a:rPr lang="en-US" sz="1300" dirty="0" err="1">
                <a:highlight>
                  <a:srgbClr val="FFFF00"/>
                </a:highlight>
                <a:latin typeface="Calibir"/>
              </a:rPr>
              <a:t>Math.PI</a:t>
            </a:r>
            <a:endParaRPr lang="en-US" sz="1300" dirty="0">
              <a:highlight>
                <a:srgbClr val="FFFF00"/>
              </a:highlight>
              <a:latin typeface="Calibir"/>
            </a:endParaRPr>
          </a:p>
          <a:p>
            <a:r>
              <a:rPr lang="en-US" sz="1300" dirty="0">
                <a:highlight>
                  <a:srgbClr val="FFFF00"/>
                </a:highlight>
                <a:latin typeface="Calibir"/>
              </a:rPr>
              <a:t>                * </a:t>
            </a:r>
            <a:r>
              <a:rPr lang="en-US" sz="1300" dirty="0" err="1">
                <a:highlight>
                  <a:srgbClr val="FFFF00"/>
                </a:highlight>
                <a:latin typeface="Calibir"/>
              </a:rPr>
              <a:t>Math.pow</a:t>
            </a:r>
            <a:r>
              <a:rPr lang="en-US" sz="1300" dirty="0">
                <a:highlight>
                  <a:srgbClr val="FFFF00"/>
                </a:highlight>
                <a:latin typeface="Calibir"/>
              </a:rPr>
              <a:t>(radius, 3);</a:t>
            </a:r>
          </a:p>
          <a:p>
            <a:r>
              <a:rPr lang="en-US" sz="1300" dirty="0">
                <a:highlight>
                  <a:srgbClr val="FFFF00"/>
                </a:highlight>
                <a:latin typeface="Calibir"/>
              </a:rPr>
              <a:t>    }</a:t>
            </a:r>
          </a:p>
          <a:p>
            <a:r>
              <a:rPr lang="en-US" sz="1300" dirty="0">
                <a:highlight>
                  <a:srgbClr val="FFFF00"/>
                </a:highlight>
                <a:latin typeface="Calibir"/>
              </a:rPr>
              <a:t>    public static void </a:t>
            </a:r>
            <a:r>
              <a:rPr lang="en-US" sz="1300" dirty="0" err="1">
                <a:highlight>
                  <a:srgbClr val="FFFF00"/>
                </a:highlight>
                <a:latin typeface="Calibir"/>
              </a:rPr>
              <a:t>showResults</a:t>
            </a:r>
            <a:r>
              <a:rPr lang="en-US" sz="1300" dirty="0">
                <a:highlight>
                  <a:srgbClr val="FFFF00"/>
                </a:highlight>
                <a:latin typeface="Calibir"/>
              </a:rPr>
              <a:t>(</a:t>
            </a:r>
          </a:p>
          <a:p>
            <a:r>
              <a:rPr lang="en-US" sz="1300" dirty="0">
                <a:highlight>
                  <a:srgbClr val="FFFF00"/>
                </a:highlight>
                <a:latin typeface="Calibir"/>
              </a:rPr>
              <a:t>            double perimeter,</a:t>
            </a:r>
          </a:p>
          <a:p>
            <a:r>
              <a:rPr lang="en-US" sz="1300" dirty="0">
                <a:highlight>
                  <a:srgbClr val="FFFF00"/>
                </a:highlight>
                <a:latin typeface="Calibir"/>
              </a:rPr>
              <a:t>            double area,</a:t>
            </a:r>
          </a:p>
          <a:p>
            <a:r>
              <a:rPr lang="en-US" sz="1300" dirty="0">
                <a:highlight>
                  <a:srgbClr val="FFFF00"/>
                </a:highlight>
                <a:latin typeface="Calibir"/>
              </a:rPr>
              <a:t>            double volume) {</a:t>
            </a:r>
          </a:p>
          <a:p>
            <a:r>
              <a:rPr lang="en-US" sz="1300" dirty="0">
                <a:highlight>
                  <a:srgbClr val="FFFF00"/>
                </a:highlight>
                <a:latin typeface="Calibir"/>
              </a:rPr>
              <a:t>        </a:t>
            </a:r>
            <a:r>
              <a:rPr lang="en-US" sz="1300" dirty="0" err="1">
                <a:highlight>
                  <a:srgbClr val="FFFF00"/>
                </a:highlight>
                <a:latin typeface="Calibir"/>
              </a:rPr>
              <a:t>System.out.printf</a:t>
            </a:r>
            <a:r>
              <a:rPr lang="en-US" sz="1300" dirty="0">
                <a:highlight>
                  <a:srgbClr val="FFFF00"/>
                </a:highlight>
                <a:latin typeface="Calibir"/>
              </a:rPr>
              <a:t>(</a:t>
            </a:r>
          </a:p>
          <a:p>
            <a:r>
              <a:rPr lang="en-US" sz="1300" dirty="0">
                <a:highlight>
                  <a:srgbClr val="FFFF00"/>
                </a:highlight>
                <a:latin typeface="Calibir"/>
              </a:rPr>
              <a:t>            "Perimeter = %.3f%n",</a:t>
            </a:r>
          </a:p>
          <a:p>
            <a:r>
              <a:rPr lang="en-US" sz="1300" dirty="0">
                <a:highlight>
                  <a:srgbClr val="FFFF00"/>
                </a:highlight>
                <a:latin typeface="Calibir"/>
              </a:rPr>
              <a:t>            perimeter</a:t>
            </a:r>
          </a:p>
          <a:p>
            <a:r>
              <a:rPr lang="en-US" sz="1300" dirty="0">
                <a:highlight>
                  <a:srgbClr val="FFFF00"/>
                </a:highlight>
                <a:latin typeface="Calibir"/>
              </a:rPr>
              <a:t>        );</a:t>
            </a:r>
          </a:p>
          <a:p>
            <a:r>
              <a:rPr lang="en-US" sz="1300" dirty="0">
                <a:highlight>
                  <a:srgbClr val="FFFF00"/>
                </a:highlight>
                <a:latin typeface="Calibir"/>
              </a:rPr>
              <a:t>        </a:t>
            </a:r>
            <a:r>
              <a:rPr lang="en-US" sz="1300" dirty="0" err="1">
                <a:highlight>
                  <a:srgbClr val="FFFF00"/>
                </a:highlight>
                <a:latin typeface="Calibir"/>
              </a:rPr>
              <a:t>System.out.printf</a:t>
            </a:r>
            <a:r>
              <a:rPr lang="en-US" sz="1300" dirty="0">
                <a:highlight>
                  <a:srgbClr val="FFFF00"/>
                </a:highlight>
                <a:latin typeface="Calibir"/>
              </a:rPr>
              <a:t>(</a:t>
            </a:r>
          </a:p>
          <a:p>
            <a:r>
              <a:rPr lang="en-US" sz="1300" dirty="0">
                <a:highlight>
                  <a:srgbClr val="FFFF00"/>
                </a:highlight>
                <a:latin typeface="Calibir"/>
              </a:rPr>
              <a:t>            "Area = %.3f%n",</a:t>
            </a:r>
          </a:p>
          <a:p>
            <a:r>
              <a:rPr lang="en-US" sz="1300" dirty="0">
                <a:highlight>
                  <a:srgbClr val="FFFF00"/>
                </a:highlight>
                <a:latin typeface="Calibir"/>
              </a:rPr>
              <a:t>            area</a:t>
            </a:r>
          </a:p>
          <a:p>
            <a:r>
              <a:rPr lang="en-US" sz="1300" dirty="0">
                <a:highlight>
                  <a:srgbClr val="FFFF00"/>
                </a:highlight>
                <a:latin typeface="Calibir"/>
              </a:rPr>
              <a:t>        );</a:t>
            </a:r>
          </a:p>
        </p:txBody>
      </p:sp>
    </p:spTree>
    <p:extLst>
      <p:ext uri="{BB962C8B-B14F-4D97-AF65-F5344CB8AC3E}">
        <p14:creationId xmlns:p14="http://schemas.microsoft.com/office/powerpoint/2010/main" val="34085851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04D6F5F-2F19-EDE7-582E-301B685283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20D3B1A-5C19-9E2C-25A0-8115CE1BA4C6}"/>
              </a:ext>
            </a:extLst>
          </p:cNvPr>
          <p:cNvSpPr txBox="1"/>
          <p:nvPr/>
        </p:nvSpPr>
        <p:spPr>
          <a:xfrm>
            <a:off x="0" y="0"/>
            <a:ext cx="8834553" cy="4493538"/>
          </a:xfrm>
          <a:prstGeom prst="rect">
            <a:avLst/>
          </a:prstGeom>
          <a:noFill/>
        </p:spPr>
        <p:txBody>
          <a:bodyPr wrap="square">
            <a:spAutoFit/>
          </a:bodyPr>
          <a:lstStyle/>
          <a:p>
            <a:r>
              <a:rPr lang="en-US" sz="1300" dirty="0">
                <a:highlight>
                  <a:srgbClr val="FFFF00"/>
                </a:highlight>
                <a:latin typeface="Calibir"/>
              </a:rPr>
              <a:t> </a:t>
            </a:r>
            <a:r>
              <a:rPr lang="en-US" sz="1300" dirty="0" err="1">
                <a:highlight>
                  <a:srgbClr val="FFFF00"/>
                </a:highlight>
                <a:latin typeface="Calibir"/>
              </a:rPr>
              <a:t>System.out.printf</a:t>
            </a:r>
            <a:r>
              <a:rPr lang="en-US" sz="1300" dirty="0">
                <a:highlight>
                  <a:srgbClr val="FFFF00"/>
                </a:highlight>
                <a:latin typeface="Calibir"/>
              </a:rPr>
              <a:t>(</a:t>
            </a:r>
          </a:p>
          <a:p>
            <a:r>
              <a:rPr lang="en-US" sz="1300" dirty="0">
                <a:highlight>
                  <a:srgbClr val="FFFF00"/>
                </a:highlight>
                <a:latin typeface="Calibir"/>
              </a:rPr>
              <a:t>            "Volume = %.3f%n",</a:t>
            </a:r>
          </a:p>
          <a:p>
            <a:r>
              <a:rPr lang="en-US" sz="1300" dirty="0">
                <a:highlight>
                  <a:srgbClr val="FFFF00"/>
                </a:highlight>
                <a:latin typeface="Calibir"/>
              </a:rPr>
              <a:t>            volume</a:t>
            </a:r>
          </a:p>
          <a:p>
            <a:r>
              <a:rPr lang="en-US" sz="1300" dirty="0">
                <a:highlight>
                  <a:srgbClr val="FFFF00"/>
                </a:highlight>
                <a:latin typeface="Calibir"/>
              </a:rPr>
              <a:t>        );</a:t>
            </a:r>
          </a:p>
          <a:p>
            <a:r>
              <a:rPr lang="en-US" sz="1300" dirty="0">
                <a:highlight>
                  <a:srgbClr val="FFFF00"/>
                </a:highlight>
                <a:latin typeface="Calibir"/>
              </a:rPr>
              <a:t>    }</a:t>
            </a:r>
          </a:p>
          <a:p>
            <a:r>
              <a:rPr lang="en-US" sz="1300" dirty="0">
                <a:highlight>
                  <a:srgbClr val="FFFF00"/>
                </a:highlight>
                <a:latin typeface="Calibir"/>
              </a:rPr>
              <a:t>    public static void main(String[] </a:t>
            </a:r>
            <a:r>
              <a:rPr lang="en-US" sz="1300" dirty="0" err="1">
                <a:highlight>
                  <a:srgbClr val="FFFF00"/>
                </a:highlight>
                <a:latin typeface="Calibir"/>
              </a:rPr>
              <a:t>args</a:t>
            </a:r>
            <a:r>
              <a:rPr lang="en-US" sz="1300" dirty="0">
                <a:highlight>
                  <a:srgbClr val="FFFF00"/>
                </a:highlight>
                <a:latin typeface="Calibir"/>
              </a:rPr>
              <a:t>) {</a:t>
            </a:r>
          </a:p>
          <a:p>
            <a:r>
              <a:rPr lang="en-US" sz="1300" dirty="0">
                <a:highlight>
                  <a:srgbClr val="FFFF00"/>
                </a:highlight>
                <a:latin typeface="Calibir"/>
              </a:rPr>
              <a:t>        Scanner input = new Scanner(System.in);</a:t>
            </a:r>
          </a:p>
          <a:p>
            <a:r>
              <a:rPr lang="en-US" sz="1300" dirty="0">
                <a:highlight>
                  <a:srgbClr val="FFFF00"/>
                </a:highlight>
                <a:latin typeface="Calibir"/>
              </a:rPr>
              <a:t>        double radius = </a:t>
            </a:r>
            <a:r>
              <a:rPr lang="en-US" sz="1300" dirty="0" err="1">
                <a:highlight>
                  <a:srgbClr val="FFFF00"/>
                </a:highlight>
                <a:latin typeface="Calibir"/>
              </a:rPr>
              <a:t>readRadius</a:t>
            </a:r>
            <a:r>
              <a:rPr lang="en-US" sz="1300" dirty="0">
                <a:highlight>
                  <a:srgbClr val="FFFF00"/>
                </a:highlight>
                <a:latin typeface="Calibir"/>
              </a:rPr>
              <a:t>(input);</a:t>
            </a:r>
          </a:p>
          <a:p>
            <a:r>
              <a:rPr lang="en-US" sz="1300" dirty="0">
                <a:highlight>
                  <a:srgbClr val="FFFF00"/>
                </a:highlight>
                <a:latin typeface="Calibir"/>
              </a:rPr>
              <a:t>        double perimeter =</a:t>
            </a:r>
          </a:p>
          <a:p>
            <a:r>
              <a:rPr lang="en-US" sz="1300" dirty="0">
                <a:highlight>
                  <a:srgbClr val="FFFF00"/>
                </a:highlight>
                <a:latin typeface="Calibir"/>
              </a:rPr>
              <a:t>                </a:t>
            </a:r>
            <a:r>
              <a:rPr lang="en-US" sz="1300" dirty="0" err="1">
                <a:highlight>
                  <a:srgbClr val="FFFF00"/>
                </a:highlight>
                <a:latin typeface="Calibir"/>
              </a:rPr>
              <a:t>calculatePerimeter</a:t>
            </a:r>
            <a:r>
              <a:rPr lang="en-US" sz="1300" dirty="0">
                <a:highlight>
                  <a:srgbClr val="FFFF00"/>
                </a:highlight>
                <a:latin typeface="Calibir"/>
              </a:rPr>
              <a:t>(radius);</a:t>
            </a:r>
          </a:p>
          <a:p>
            <a:r>
              <a:rPr lang="en-US" sz="1300" dirty="0">
                <a:highlight>
                  <a:srgbClr val="FFFF00"/>
                </a:highlight>
                <a:latin typeface="Calibir"/>
              </a:rPr>
              <a:t>        double area =</a:t>
            </a:r>
          </a:p>
          <a:p>
            <a:r>
              <a:rPr lang="en-US" sz="1300" dirty="0">
                <a:highlight>
                  <a:srgbClr val="FFFF00"/>
                </a:highlight>
                <a:latin typeface="Calibir"/>
              </a:rPr>
              <a:t>                </a:t>
            </a:r>
            <a:r>
              <a:rPr lang="en-US" sz="1300" dirty="0" err="1">
                <a:highlight>
                  <a:srgbClr val="FFFF00"/>
                </a:highlight>
                <a:latin typeface="Calibir"/>
              </a:rPr>
              <a:t>calculateArea</a:t>
            </a:r>
            <a:r>
              <a:rPr lang="en-US" sz="1300" dirty="0">
                <a:highlight>
                  <a:srgbClr val="FFFF00"/>
                </a:highlight>
                <a:latin typeface="Calibir"/>
              </a:rPr>
              <a:t>(radius);</a:t>
            </a:r>
          </a:p>
          <a:p>
            <a:r>
              <a:rPr lang="en-US" sz="1300" dirty="0">
                <a:highlight>
                  <a:srgbClr val="FFFF00"/>
                </a:highlight>
                <a:latin typeface="Calibir"/>
              </a:rPr>
              <a:t>        double volume =</a:t>
            </a:r>
          </a:p>
          <a:p>
            <a:r>
              <a:rPr lang="en-US" sz="1300" dirty="0">
                <a:highlight>
                  <a:srgbClr val="FFFF00"/>
                </a:highlight>
                <a:latin typeface="Calibir"/>
              </a:rPr>
              <a:t>                </a:t>
            </a:r>
            <a:r>
              <a:rPr lang="en-US" sz="1300" dirty="0" err="1">
                <a:highlight>
                  <a:srgbClr val="FFFF00"/>
                </a:highlight>
                <a:latin typeface="Calibir"/>
              </a:rPr>
              <a:t>calculateVolume</a:t>
            </a:r>
            <a:r>
              <a:rPr lang="en-US" sz="1300" dirty="0">
                <a:highlight>
                  <a:srgbClr val="FFFF00"/>
                </a:highlight>
                <a:latin typeface="Calibir"/>
              </a:rPr>
              <a:t>(radius);</a:t>
            </a:r>
          </a:p>
          <a:p>
            <a:r>
              <a:rPr lang="en-US" sz="1300" dirty="0">
                <a:highlight>
                  <a:srgbClr val="FFFF00"/>
                </a:highlight>
                <a:latin typeface="Calibir"/>
              </a:rPr>
              <a:t>        </a:t>
            </a:r>
            <a:r>
              <a:rPr lang="en-US" sz="1300" dirty="0" err="1">
                <a:highlight>
                  <a:srgbClr val="FFFF00"/>
                </a:highlight>
                <a:latin typeface="Calibir"/>
              </a:rPr>
              <a:t>showResults</a:t>
            </a:r>
            <a:r>
              <a:rPr lang="en-US" sz="1300" dirty="0">
                <a:highlight>
                  <a:srgbClr val="FFFF00"/>
                </a:highlight>
                <a:latin typeface="Calibir"/>
              </a:rPr>
              <a:t>(</a:t>
            </a:r>
          </a:p>
          <a:p>
            <a:r>
              <a:rPr lang="en-US" sz="1300" dirty="0">
                <a:highlight>
                  <a:srgbClr val="FFFF00"/>
                </a:highlight>
                <a:latin typeface="Calibir"/>
              </a:rPr>
              <a:t>                perimeter,</a:t>
            </a:r>
          </a:p>
          <a:p>
            <a:r>
              <a:rPr lang="en-US" sz="1300" dirty="0">
                <a:highlight>
                  <a:srgbClr val="FFFF00"/>
                </a:highlight>
                <a:latin typeface="Calibir"/>
              </a:rPr>
              <a:t>                area,</a:t>
            </a:r>
          </a:p>
          <a:p>
            <a:r>
              <a:rPr lang="en-US" sz="1300" dirty="0">
                <a:highlight>
                  <a:srgbClr val="FFFF00"/>
                </a:highlight>
                <a:latin typeface="Calibir"/>
              </a:rPr>
              <a:t>                volume</a:t>
            </a:r>
          </a:p>
          <a:p>
            <a:r>
              <a:rPr lang="en-US" sz="1300" dirty="0">
                <a:highlight>
                  <a:srgbClr val="FFFF00"/>
                </a:highlight>
                <a:latin typeface="Calibir"/>
              </a:rPr>
              <a:t>        );</a:t>
            </a:r>
          </a:p>
          <a:p>
            <a:r>
              <a:rPr lang="en-US" sz="1300" dirty="0">
                <a:highlight>
                  <a:srgbClr val="FFFF00"/>
                </a:highlight>
                <a:latin typeface="Calibir"/>
              </a:rPr>
              <a:t>        </a:t>
            </a:r>
            <a:r>
              <a:rPr lang="en-US" sz="1300" dirty="0" err="1">
                <a:highlight>
                  <a:srgbClr val="FFFF00"/>
                </a:highlight>
                <a:latin typeface="Calibir"/>
              </a:rPr>
              <a:t>input.close</a:t>
            </a:r>
            <a:r>
              <a:rPr lang="en-US" sz="1300" dirty="0">
                <a:highlight>
                  <a:srgbClr val="FFFF00"/>
                </a:highlight>
                <a:latin typeface="Calibir"/>
              </a:rPr>
              <a:t>();</a:t>
            </a:r>
          </a:p>
          <a:p>
            <a:r>
              <a:rPr lang="en-US" sz="1300" dirty="0">
                <a:highlight>
                  <a:srgbClr val="FFFF00"/>
                </a:highlight>
                <a:latin typeface="Calibir"/>
              </a:rPr>
              <a:t>    }</a:t>
            </a:r>
          </a:p>
          <a:p>
            <a:r>
              <a:rPr lang="en-US" sz="1300" dirty="0">
                <a:highlight>
                  <a:srgbClr val="FFFF00"/>
                </a:highlight>
                <a:latin typeface="Calibir"/>
              </a:rPr>
              <a:t>}</a:t>
            </a:r>
          </a:p>
        </p:txBody>
      </p:sp>
    </p:spTree>
    <p:extLst>
      <p:ext uri="{BB962C8B-B14F-4D97-AF65-F5344CB8AC3E}">
        <p14:creationId xmlns:p14="http://schemas.microsoft.com/office/powerpoint/2010/main" val="264413222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0" y="0"/>
            <a:ext cx="12192000" cy="1489587"/>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2 — Random Numbers, Mean and Standard Deviation</a:t>
            </a:r>
            <a:r>
              <a:rPr lang="en-GB" dirty="0"/>
              <a:t>:</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593867" y="1489587"/>
            <a:ext cx="11004265" cy="5021055"/>
          </a:xfrm>
          <a:prstGeom prst="rect">
            <a:avLst/>
          </a:prstGeom>
          <a:noFill/>
        </p:spPr>
        <p:txBody>
          <a:bodyPr wrap="square" rtlCol="0">
            <a:spAutoFit/>
          </a:bodyPr>
          <a:lstStyle/>
          <a:p>
            <a:pPr>
              <a:lnSpc>
                <a:spcPct val="150000"/>
              </a:lnSpc>
            </a:pPr>
            <a:r>
              <a:rPr lang="en-GB" sz="2400" dirty="0">
                <a:latin typeface="Calibir"/>
              </a:rPr>
              <a:t>Develop a program called </a:t>
            </a:r>
            <a:r>
              <a:rPr lang="en-GB" sz="2400" b="1" dirty="0">
                <a:latin typeface="Calibir"/>
              </a:rPr>
              <a:t>Lab5Exc2</a:t>
            </a:r>
            <a:r>
              <a:rPr lang="en-GB" sz="2400" dirty="0">
                <a:latin typeface="Calibir"/>
              </a:rPr>
              <a:t> that includes the following methods:</a:t>
            </a:r>
          </a:p>
          <a:p>
            <a:pPr marL="380990" indent="-380990">
              <a:lnSpc>
                <a:spcPct val="150000"/>
              </a:lnSpc>
              <a:buFont typeface="Arial" panose="020B0604020202020204" pitchFamily="34" charset="0"/>
              <a:buChar char="•"/>
            </a:pPr>
            <a:r>
              <a:rPr lang="en-GB" sz="2400" dirty="0">
                <a:latin typeface="Calibir"/>
              </a:rPr>
              <a:t>Define a function to generate 20 random numbers [ 0 &lt;= number &lt;= 100 ] and return the values in an array</a:t>
            </a:r>
          </a:p>
          <a:p>
            <a:pPr marL="380990" indent="-380990">
              <a:lnSpc>
                <a:spcPct val="150000"/>
              </a:lnSpc>
              <a:buFont typeface="Arial" panose="020B0604020202020204" pitchFamily="34" charset="0"/>
              <a:buChar char="•"/>
            </a:pPr>
            <a:r>
              <a:rPr lang="en-GB" sz="2400" dirty="0">
                <a:latin typeface="Calibir"/>
              </a:rPr>
              <a:t>Define a function that takes an array as parameter and calculates the mean</a:t>
            </a:r>
          </a:p>
          <a:p>
            <a:pPr marL="380990" indent="-380990">
              <a:lnSpc>
                <a:spcPct val="150000"/>
              </a:lnSpc>
              <a:buFont typeface="Arial" panose="020B0604020202020204" pitchFamily="34" charset="0"/>
              <a:buChar char="•"/>
            </a:pPr>
            <a:r>
              <a:rPr lang="en-GB" sz="2400" dirty="0">
                <a:latin typeface="Calibir"/>
              </a:rPr>
              <a:t>Define a function that takes an array as parameter and calculates the standard deviation</a:t>
            </a:r>
          </a:p>
          <a:p>
            <a:pPr marL="380990" indent="-380990">
              <a:lnSpc>
                <a:spcPct val="150000"/>
              </a:lnSpc>
              <a:buFont typeface="Arial" panose="020B0604020202020204" pitchFamily="34" charset="0"/>
              <a:buChar char="•"/>
            </a:pPr>
            <a:r>
              <a:rPr lang="en-GB" sz="2400" dirty="0">
                <a:latin typeface="Calibir"/>
              </a:rPr>
              <a:t>Define a procedure that shows the mean and standard deviation of the array in step 1 (show 2 decimal places)</a:t>
            </a:r>
          </a:p>
          <a:p>
            <a:pPr>
              <a:lnSpc>
                <a:spcPct val="150000"/>
              </a:lnSpc>
            </a:pPr>
            <a:endParaRPr lang="en-GB" sz="2400" u="sng" dirty="0">
              <a:latin typeface="Calibir"/>
            </a:endParaRPr>
          </a:p>
        </p:txBody>
      </p:sp>
    </p:spTree>
    <p:extLst>
      <p:ext uri="{BB962C8B-B14F-4D97-AF65-F5344CB8AC3E}">
        <p14:creationId xmlns:p14="http://schemas.microsoft.com/office/powerpoint/2010/main" val="3623068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BD4824E-0426-4CB7-10D1-E778080E8F4B}"/>
            </a:ext>
          </a:extLst>
        </p:cNvPr>
        <p:cNvGrpSpPr/>
        <p:nvPr/>
      </p:nvGrpSpPr>
      <p:grpSpPr>
        <a:xfrm>
          <a:off x="0" y="0"/>
          <a:ext cx="0" cy="0"/>
          <a:chOff x="0" y="0"/>
          <a:chExt cx="0" cy="0"/>
        </a:xfrm>
      </p:grpSpPr>
      <p:sp>
        <p:nvSpPr>
          <p:cNvPr id="4" name="Google Shape;101;p19">
            <a:extLst>
              <a:ext uri="{FF2B5EF4-FFF2-40B4-BE49-F238E27FC236}">
                <a16:creationId xmlns:a16="http://schemas.microsoft.com/office/drawing/2014/main" id="{31CAB207-CDA7-D657-0DAE-7F72B798D9A0}"/>
              </a:ext>
            </a:extLst>
          </p:cNvPr>
          <p:cNvSpPr txBox="1">
            <a:spLocks/>
          </p:cNvSpPr>
          <p:nvPr/>
        </p:nvSpPr>
        <p:spPr>
          <a:xfrm>
            <a:off x="0" y="0"/>
            <a:ext cx="12192000" cy="1489587"/>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a:t>Exercise 2 — Random Numbers, Mean and Standard Deviation:</a:t>
            </a:r>
            <a:endParaRPr lang="en-US" dirty="0"/>
          </a:p>
        </p:txBody>
      </p:sp>
      <p:sp>
        <p:nvSpPr>
          <p:cNvPr id="6" name="TextBox 5">
            <a:extLst>
              <a:ext uri="{FF2B5EF4-FFF2-40B4-BE49-F238E27FC236}">
                <a16:creationId xmlns:a16="http://schemas.microsoft.com/office/drawing/2014/main" id="{0C57EADB-7032-E2F1-72A4-1B9FA5F66D71}"/>
              </a:ext>
            </a:extLst>
          </p:cNvPr>
          <p:cNvSpPr txBox="1"/>
          <p:nvPr/>
        </p:nvSpPr>
        <p:spPr>
          <a:xfrm>
            <a:off x="0" y="1622324"/>
            <a:ext cx="12123174" cy="4231415"/>
          </a:xfrm>
          <a:prstGeom prst="rect">
            <a:avLst/>
          </a:prstGeom>
          <a:noFill/>
        </p:spPr>
        <p:txBody>
          <a:bodyPr wrap="square">
            <a:spAutoFit/>
          </a:bodyPr>
          <a:lstStyle/>
          <a:p>
            <a:pPr>
              <a:lnSpc>
                <a:spcPct val="150000"/>
              </a:lnSpc>
              <a:buNone/>
            </a:pPr>
            <a:r>
              <a:rPr lang="en-US" sz="2600" b="1" dirty="0">
                <a:latin typeface="Calibir"/>
              </a:rPr>
              <a:t>What are we building?</a:t>
            </a:r>
          </a:p>
          <a:p>
            <a:pPr>
              <a:lnSpc>
                <a:spcPct val="150000"/>
              </a:lnSpc>
              <a:buNone/>
            </a:pPr>
            <a:r>
              <a:rPr lang="en-US" sz="2600" dirty="0">
                <a:latin typeface="Calibir"/>
              </a:rPr>
              <a:t>The program should:</a:t>
            </a:r>
          </a:p>
          <a:p>
            <a:pPr marL="342900" lvl="0" indent="-342900">
              <a:lnSpc>
                <a:spcPct val="150000"/>
              </a:lnSpc>
              <a:buFont typeface="+mj-lt"/>
              <a:buAutoNum type="arabicPeriod"/>
            </a:pPr>
            <a:r>
              <a:rPr lang="en-US" sz="2600" dirty="0">
                <a:latin typeface="Calibir"/>
              </a:rPr>
              <a:t>Generate 20 random integers between 0 and 100, inclusive. </a:t>
            </a:r>
          </a:p>
          <a:p>
            <a:pPr marL="342900" lvl="0" indent="-342900">
              <a:lnSpc>
                <a:spcPct val="150000"/>
              </a:lnSpc>
              <a:buFont typeface="+mj-lt"/>
              <a:buAutoNum type="arabicPeriod"/>
            </a:pPr>
            <a:r>
              <a:rPr lang="en-US" sz="2600" dirty="0">
                <a:latin typeface="Calibir"/>
              </a:rPr>
              <a:t>Return them in an array/list. </a:t>
            </a:r>
          </a:p>
          <a:p>
            <a:pPr marL="342900" lvl="0" indent="-342900">
              <a:lnSpc>
                <a:spcPct val="150000"/>
              </a:lnSpc>
              <a:buFont typeface="+mj-lt"/>
              <a:buAutoNum type="arabicPeriod"/>
            </a:pPr>
            <a:r>
              <a:rPr lang="en-US" sz="2600" dirty="0">
                <a:latin typeface="Calibir"/>
              </a:rPr>
              <a:t>Calculate the mean. </a:t>
            </a:r>
          </a:p>
          <a:p>
            <a:pPr marL="342900" lvl="0" indent="-342900">
              <a:lnSpc>
                <a:spcPct val="150000"/>
              </a:lnSpc>
              <a:buFont typeface="+mj-lt"/>
              <a:buAutoNum type="arabicPeriod"/>
            </a:pPr>
            <a:r>
              <a:rPr lang="en-US" sz="2600" dirty="0">
                <a:latin typeface="Calibir"/>
              </a:rPr>
              <a:t>Calculate the standard deviation. </a:t>
            </a:r>
          </a:p>
          <a:p>
            <a:pPr marL="342900" lvl="0" indent="-342900">
              <a:lnSpc>
                <a:spcPct val="150000"/>
              </a:lnSpc>
              <a:buFont typeface="+mj-lt"/>
              <a:buAutoNum type="arabicPeriod"/>
            </a:pPr>
            <a:r>
              <a:rPr lang="en-US" sz="2600" dirty="0">
                <a:latin typeface="Calibir"/>
              </a:rPr>
              <a:t>Display mean and standard deviation to 2 decimal places.</a:t>
            </a:r>
          </a:p>
        </p:txBody>
      </p:sp>
    </p:spTree>
    <p:extLst>
      <p:ext uri="{BB962C8B-B14F-4D97-AF65-F5344CB8AC3E}">
        <p14:creationId xmlns:p14="http://schemas.microsoft.com/office/powerpoint/2010/main" val="3132948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fade">
                                      <p:cBhvr>
                                        <p:cTn id="12" dur="1000"/>
                                        <p:tgtEl>
                                          <p:spTgt spid="6">
                                            <p:txEl>
                                              <p:pRg st="2" end="2"/>
                                            </p:txEl>
                                          </p:spTgt>
                                        </p:tgtEl>
                                      </p:cBhvr>
                                    </p:animEffect>
                                    <p:anim calcmode="lin" valueType="num">
                                      <p:cBhvr>
                                        <p:cTn id="13"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anim calcmode="lin" valueType="num">
                                      <p:cBhvr>
                                        <p:cTn id="1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fade">
                                      <p:cBhvr>
                                        <p:cTn id="22" dur="1000"/>
                                        <p:tgtEl>
                                          <p:spTgt spid="6">
                                            <p:txEl>
                                              <p:pRg st="4" end="4"/>
                                            </p:txEl>
                                          </p:spTgt>
                                        </p:tgtEl>
                                      </p:cBhvr>
                                    </p:animEffect>
                                    <p:anim calcmode="lin" valueType="num">
                                      <p:cBhvr>
                                        <p:cTn id="2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1000"/>
                                        <p:tgtEl>
                                          <p:spTgt spid="6">
                                            <p:txEl>
                                              <p:pRg st="5" end="5"/>
                                            </p:txEl>
                                          </p:spTgt>
                                        </p:tgtEl>
                                      </p:cBhvr>
                                    </p:animEffect>
                                    <p:anim calcmode="lin" valueType="num">
                                      <p:cBhvr>
                                        <p:cTn id="2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
                                            <p:txEl>
                                              <p:pRg st="6" end="6"/>
                                            </p:txEl>
                                          </p:spTgt>
                                        </p:tgtEl>
                                        <p:attrNameLst>
                                          <p:attrName>style.visibility</p:attrName>
                                        </p:attrNameLst>
                                      </p:cBhvr>
                                      <p:to>
                                        <p:strVal val="visible"/>
                                      </p:to>
                                    </p:set>
                                    <p:animEffect transition="in" filter="fade">
                                      <p:cBhvr>
                                        <p:cTn id="32" dur="1000"/>
                                        <p:tgtEl>
                                          <p:spTgt spid="6">
                                            <p:txEl>
                                              <p:pRg st="6" end="6"/>
                                            </p:txEl>
                                          </p:spTgt>
                                        </p:tgtEl>
                                      </p:cBhvr>
                                    </p:animEffect>
                                    <p:anim calcmode="lin" valueType="num">
                                      <p:cBhvr>
                                        <p:cTn id="33"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57C44B8-97AE-EC59-27AC-BF55FE130396}"/>
            </a:ext>
          </a:extLst>
        </p:cNvPr>
        <p:cNvGrpSpPr/>
        <p:nvPr/>
      </p:nvGrpSpPr>
      <p:grpSpPr>
        <a:xfrm>
          <a:off x="0" y="0"/>
          <a:ext cx="0" cy="0"/>
          <a:chOff x="0" y="0"/>
          <a:chExt cx="0" cy="0"/>
        </a:xfrm>
      </p:grpSpPr>
      <p:sp>
        <p:nvSpPr>
          <p:cNvPr id="4" name="Google Shape;101;p19">
            <a:extLst>
              <a:ext uri="{FF2B5EF4-FFF2-40B4-BE49-F238E27FC236}">
                <a16:creationId xmlns:a16="http://schemas.microsoft.com/office/drawing/2014/main" id="{664F968C-E843-BA7F-073E-E96BCB7E99C9}"/>
              </a:ext>
            </a:extLst>
          </p:cNvPr>
          <p:cNvSpPr txBox="1">
            <a:spLocks/>
          </p:cNvSpPr>
          <p:nvPr/>
        </p:nvSpPr>
        <p:spPr>
          <a:xfrm>
            <a:off x="0" y="0"/>
            <a:ext cx="12192000" cy="1489587"/>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a:t>Exercise 2 — Random Numbers, Mean and Standard Deviation:</a:t>
            </a:r>
            <a:endParaRPr lang="en-US" dirty="0"/>
          </a:p>
        </p:txBody>
      </p:sp>
      <p:pic>
        <p:nvPicPr>
          <p:cNvPr id="3" name="Picture 2">
            <a:extLst>
              <a:ext uri="{FF2B5EF4-FFF2-40B4-BE49-F238E27FC236}">
                <a16:creationId xmlns:a16="http://schemas.microsoft.com/office/drawing/2014/main" id="{1CD2011E-EF4D-5FBC-EB9A-869A44AACB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8168" y="744793"/>
            <a:ext cx="9153832" cy="6102555"/>
          </a:xfrm>
          <a:prstGeom prst="rect">
            <a:avLst/>
          </a:prstGeom>
        </p:spPr>
      </p:pic>
    </p:spTree>
    <p:extLst>
      <p:ext uri="{BB962C8B-B14F-4D97-AF65-F5344CB8AC3E}">
        <p14:creationId xmlns:p14="http://schemas.microsoft.com/office/powerpoint/2010/main" val="21691335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034E9B-BD71-DB3F-659A-225969A66A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95CEC8-768D-7181-6C56-83B721DBE8FA}"/>
              </a:ext>
            </a:extLst>
          </p:cNvPr>
          <p:cNvSpPr txBox="1"/>
          <p:nvPr/>
        </p:nvSpPr>
        <p:spPr>
          <a:xfrm>
            <a:off x="0" y="413046"/>
            <a:ext cx="6282812" cy="6031908"/>
          </a:xfrm>
          <a:prstGeom prst="rect">
            <a:avLst/>
          </a:prstGeom>
          <a:noFill/>
        </p:spPr>
        <p:txBody>
          <a:bodyPr wrap="square">
            <a:spAutoFit/>
          </a:bodyPr>
          <a:lstStyle/>
          <a:p>
            <a:pPr>
              <a:lnSpc>
                <a:spcPct val="150000"/>
              </a:lnSpc>
              <a:buNone/>
            </a:pPr>
            <a:r>
              <a:rPr lang="en-US" sz="2600" b="1" dirty="0">
                <a:latin typeface="Calibir"/>
              </a:rPr>
              <a:t>Python</a:t>
            </a:r>
          </a:p>
          <a:p>
            <a:pPr>
              <a:lnSpc>
                <a:spcPct val="150000"/>
              </a:lnSpc>
              <a:buNone/>
            </a:pPr>
            <a:r>
              <a:rPr lang="en-US" sz="2600" b="1" dirty="0">
                <a:latin typeface="Calibir"/>
              </a:rPr>
              <a:t>Step 1 — Generate the random numbers</a:t>
            </a:r>
          </a:p>
          <a:p>
            <a:pPr rtl="0">
              <a:lnSpc>
                <a:spcPct val="150000"/>
              </a:lnSpc>
              <a:buNone/>
            </a:pPr>
            <a:r>
              <a:rPr lang="en-US" sz="2600" dirty="0">
                <a:highlight>
                  <a:srgbClr val="FFFF00"/>
                </a:highlight>
                <a:latin typeface="Calibir"/>
              </a:rPr>
              <a:t>import random</a:t>
            </a:r>
          </a:p>
          <a:p>
            <a:pPr rtl="0">
              <a:lnSpc>
                <a:spcPct val="150000"/>
              </a:lnSpc>
              <a:buNone/>
            </a:pPr>
            <a:r>
              <a:rPr lang="en-US" sz="2600" dirty="0">
                <a:highlight>
                  <a:srgbClr val="FFFF00"/>
                </a:highlight>
                <a:latin typeface="Calibir"/>
              </a:rPr>
              <a:t>def </a:t>
            </a:r>
            <a:r>
              <a:rPr lang="en-US" sz="2600" dirty="0" err="1">
                <a:highlight>
                  <a:srgbClr val="FFFF00"/>
                </a:highlight>
                <a:latin typeface="Calibir"/>
              </a:rPr>
              <a:t>generate_numbers</a:t>
            </a:r>
            <a:r>
              <a:rPr lang="en-US" sz="2600" dirty="0">
                <a:highlight>
                  <a:srgbClr val="FFFF00"/>
                </a:highlight>
                <a:latin typeface="Calibir"/>
              </a:rPr>
              <a:t>():</a:t>
            </a:r>
          </a:p>
          <a:p>
            <a:pPr rtl="0">
              <a:lnSpc>
                <a:spcPct val="150000"/>
              </a:lnSpc>
              <a:buNone/>
            </a:pPr>
            <a:r>
              <a:rPr lang="en-US" sz="2600" dirty="0">
                <a:highlight>
                  <a:srgbClr val="FFFF00"/>
                </a:highlight>
                <a:latin typeface="Calibir"/>
              </a:rPr>
              <a:t>    numbers = []</a:t>
            </a:r>
          </a:p>
          <a:p>
            <a:pPr rtl="0">
              <a:lnSpc>
                <a:spcPct val="150000"/>
              </a:lnSpc>
              <a:buNone/>
            </a:pPr>
            <a:r>
              <a:rPr lang="en-US" sz="2600" dirty="0">
                <a:highlight>
                  <a:srgbClr val="FFFF00"/>
                </a:highlight>
                <a:latin typeface="Calibir"/>
              </a:rPr>
              <a:t>    for </a:t>
            </a:r>
            <a:r>
              <a:rPr lang="en-US" sz="2600" dirty="0" err="1">
                <a:highlight>
                  <a:srgbClr val="FFFF00"/>
                </a:highlight>
                <a:latin typeface="Calibir"/>
              </a:rPr>
              <a:t>i</a:t>
            </a:r>
            <a:r>
              <a:rPr lang="en-US" sz="2600" dirty="0">
                <a:highlight>
                  <a:srgbClr val="FFFF00"/>
                </a:highlight>
                <a:latin typeface="Calibir"/>
              </a:rPr>
              <a:t> in range(20):</a:t>
            </a:r>
          </a:p>
          <a:p>
            <a:pPr rtl="0">
              <a:lnSpc>
                <a:spcPct val="150000"/>
              </a:lnSpc>
              <a:buNone/>
            </a:pPr>
            <a:r>
              <a:rPr lang="en-US" sz="2600" dirty="0">
                <a:highlight>
                  <a:srgbClr val="FFFF00"/>
                </a:highlight>
                <a:latin typeface="Calibir"/>
              </a:rPr>
              <a:t>        number = </a:t>
            </a:r>
            <a:r>
              <a:rPr lang="en-US" sz="2600" dirty="0" err="1">
                <a:highlight>
                  <a:srgbClr val="FFFF00"/>
                </a:highlight>
                <a:latin typeface="Calibir"/>
              </a:rPr>
              <a:t>random.randint</a:t>
            </a:r>
            <a:r>
              <a:rPr lang="en-US" sz="2600" dirty="0">
                <a:highlight>
                  <a:srgbClr val="FFFF00"/>
                </a:highlight>
                <a:latin typeface="Calibir"/>
              </a:rPr>
              <a:t>(0, 100)</a:t>
            </a:r>
          </a:p>
          <a:p>
            <a:pPr rtl="0">
              <a:lnSpc>
                <a:spcPct val="150000"/>
              </a:lnSpc>
              <a:buNone/>
            </a:pPr>
            <a:r>
              <a:rPr lang="en-US" sz="2600" dirty="0">
                <a:highlight>
                  <a:srgbClr val="FFFF00"/>
                </a:highlight>
                <a:latin typeface="Calibir"/>
              </a:rPr>
              <a:t>        </a:t>
            </a:r>
            <a:r>
              <a:rPr lang="en-US" sz="2600" dirty="0" err="1">
                <a:highlight>
                  <a:srgbClr val="FFFF00"/>
                </a:highlight>
                <a:latin typeface="Calibir"/>
              </a:rPr>
              <a:t>numbers.append</a:t>
            </a:r>
            <a:r>
              <a:rPr lang="en-US" sz="2600" dirty="0">
                <a:highlight>
                  <a:srgbClr val="FFFF00"/>
                </a:highlight>
                <a:latin typeface="Calibir"/>
              </a:rPr>
              <a:t>(number)</a:t>
            </a:r>
          </a:p>
          <a:p>
            <a:pPr rtl="0">
              <a:lnSpc>
                <a:spcPct val="150000"/>
              </a:lnSpc>
              <a:buNone/>
            </a:pPr>
            <a:r>
              <a:rPr lang="en-US" sz="2600" dirty="0">
                <a:highlight>
                  <a:srgbClr val="FFFF00"/>
                </a:highlight>
                <a:latin typeface="Calibir"/>
              </a:rPr>
              <a:t>    return numbers</a:t>
            </a:r>
          </a:p>
          <a:p>
            <a:pPr>
              <a:lnSpc>
                <a:spcPct val="150000"/>
              </a:lnSpc>
              <a:buNone/>
            </a:pPr>
            <a:r>
              <a:rPr lang="en-US" sz="2600" dirty="0" err="1">
                <a:latin typeface="Calibir"/>
              </a:rPr>
              <a:t>randint</a:t>
            </a:r>
            <a:r>
              <a:rPr lang="en-US" sz="2600" dirty="0">
                <a:latin typeface="Calibir"/>
              </a:rPr>
              <a:t>(0, 100) includes both 0 and 100.</a:t>
            </a:r>
          </a:p>
        </p:txBody>
      </p:sp>
    </p:spTree>
    <p:extLst>
      <p:ext uri="{BB962C8B-B14F-4D97-AF65-F5344CB8AC3E}">
        <p14:creationId xmlns:p14="http://schemas.microsoft.com/office/powerpoint/2010/main" val="36338696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DAEA2D1-0636-03FB-776D-2BDB6A46105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222EDA-BCBC-5C20-B1E8-C00B86997FF2}"/>
              </a:ext>
            </a:extLst>
          </p:cNvPr>
          <p:cNvSpPr txBox="1"/>
          <p:nvPr/>
        </p:nvSpPr>
        <p:spPr>
          <a:xfrm>
            <a:off x="0" y="413046"/>
            <a:ext cx="6282812" cy="2610843"/>
          </a:xfrm>
          <a:prstGeom prst="rect">
            <a:avLst/>
          </a:prstGeom>
          <a:noFill/>
        </p:spPr>
        <p:txBody>
          <a:bodyPr wrap="square">
            <a:spAutoFit/>
          </a:bodyPr>
          <a:lstStyle/>
          <a:p>
            <a:pPr>
              <a:lnSpc>
                <a:spcPct val="150000"/>
              </a:lnSpc>
            </a:pPr>
            <a:r>
              <a:rPr lang="en-US" sz="2800" b="1" dirty="0">
                <a:latin typeface="Calibir"/>
              </a:rPr>
              <a:t>Step 2 — Calculate the mean</a:t>
            </a:r>
          </a:p>
          <a:p>
            <a:pPr>
              <a:lnSpc>
                <a:spcPct val="150000"/>
              </a:lnSpc>
            </a:pPr>
            <a:r>
              <a:rPr lang="en-US" sz="2800" dirty="0">
                <a:highlight>
                  <a:srgbClr val="FFFF00"/>
                </a:highlight>
                <a:latin typeface="Calibir"/>
              </a:rPr>
              <a:t>def </a:t>
            </a:r>
            <a:r>
              <a:rPr lang="en-US" sz="2800" dirty="0" err="1">
                <a:highlight>
                  <a:srgbClr val="FFFF00"/>
                </a:highlight>
                <a:latin typeface="Calibir"/>
              </a:rPr>
              <a:t>calculate_mean</a:t>
            </a:r>
            <a:r>
              <a:rPr lang="en-US" sz="2800" dirty="0">
                <a:highlight>
                  <a:srgbClr val="FFFF00"/>
                </a:highlight>
                <a:latin typeface="Calibir"/>
              </a:rPr>
              <a:t>(numbers):</a:t>
            </a:r>
          </a:p>
          <a:p>
            <a:pPr>
              <a:lnSpc>
                <a:spcPct val="150000"/>
              </a:lnSpc>
            </a:pPr>
            <a:r>
              <a:rPr lang="en-US" sz="2800" dirty="0">
                <a:highlight>
                  <a:srgbClr val="FFFF00"/>
                </a:highlight>
                <a:latin typeface="Calibir"/>
              </a:rPr>
              <a:t>    total = sum(numbers)</a:t>
            </a:r>
          </a:p>
          <a:p>
            <a:pPr>
              <a:lnSpc>
                <a:spcPct val="150000"/>
              </a:lnSpc>
            </a:pPr>
            <a:r>
              <a:rPr lang="en-US" sz="2800" dirty="0">
                <a:highlight>
                  <a:srgbClr val="FFFF00"/>
                </a:highlight>
                <a:latin typeface="Calibir"/>
              </a:rPr>
              <a:t>    return total / </a:t>
            </a:r>
            <a:r>
              <a:rPr lang="en-US" sz="2800" dirty="0" err="1">
                <a:highlight>
                  <a:srgbClr val="FFFF00"/>
                </a:highlight>
                <a:latin typeface="Calibir"/>
              </a:rPr>
              <a:t>len</a:t>
            </a:r>
            <a:r>
              <a:rPr lang="en-US" sz="2800" dirty="0">
                <a:highlight>
                  <a:srgbClr val="FFFF00"/>
                </a:highlight>
                <a:latin typeface="Calibir"/>
              </a:rPr>
              <a:t>(numbers)</a:t>
            </a:r>
          </a:p>
        </p:txBody>
      </p:sp>
    </p:spTree>
    <p:extLst>
      <p:ext uri="{BB962C8B-B14F-4D97-AF65-F5344CB8AC3E}">
        <p14:creationId xmlns:p14="http://schemas.microsoft.com/office/powerpoint/2010/main" val="335841740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496BA0A-FCEA-BBDB-17B1-83851846DD3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E7900E-38B0-AE1E-C30A-8BD689116065}"/>
              </a:ext>
            </a:extLst>
          </p:cNvPr>
          <p:cNvSpPr txBox="1"/>
          <p:nvPr/>
        </p:nvSpPr>
        <p:spPr>
          <a:xfrm>
            <a:off x="0" y="1154082"/>
            <a:ext cx="12192000" cy="4549835"/>
          </a:xfrm>
          <a:prstGeom prst="rect">
            <a:avLst/>
          </a:prstGeom>
          <a:noFill/>
        </p:spPr>
        <p:txBody>
          <a:bodyPr wrap="square">
            <a:spAutoFit/>
          </a:bodyPr>
          <a:lstStyle/>
          <a:p>
            <a:pPr>
              <a:lnSpc>
                <a:spcPct val="150000"/>
              </a:lnSpc>
            </a:pPr>
            <a:r>
              <a:rPr lang="en-US" sz="2800" b="1" dirty="0">
                <a:latin typeface="Calibir"/>
              </a:rPr>
              <a:t>Step 3 — Start the standard deviation</a:t>
            </a:r>
          </a:p>
          <a:p>
            <a:pPr>
              <a:lnSpc>
                <a:spcPct val="150000"/>
              </a:lnSpc>
            </a:pPr>
            <a:r>
              <a:rPr lang="en-US" sz="2800" dirty="0">
                <a:latin typeface="Calibir"/>
              </a:rPr>
              <a:t>First calculate the mean:</a:t>
            </a:r>
          </a:p>
          <a:p>
            <a:pPr>
              <a:lnSpc>
                <a:spcPct val="150000"/>
              </a:lnSpc>
            </a:pPr>
            <a:r>
              <a:rPr lang="en-US" sz="2800" dirty="0">
                <a:highlight>
                  <a:srgbClr val="FFFF00"/>
                </a:highlight>
                <a:latin typeface="Calibir"/>
              </a:rPr>
              <a:t>mean = </a:t>
            </a:r>
            <a:r>
              <a:rPr lang="en-US" sz="2800" dirty="0" err="1">
                <a:highlight>
                  <a:srgbClr val="FFFF00"/>
                </a:highlight>
                <a:latin typeface="Calibir"/>
              </a:rPr>
              <a:t>calculate_mean</a:t>
            </a:r>
            <a:r>
              <a:rPr lang="en-US" sz="2800" dirty="0">
                <a:highlight>
                  <a:srgbClr val="FFFF00"/>
                </a:highlight>
                <a:latin typeface="Calibir"/>
              </a:rPr>
              <a:t>(numbers)</a:t>
            </a:r>
          </a:p>
          <a:p>
            <a:pPr>
              <a:lnSpc>
                <a:spcPct val="150000"/>
              </a:lnSpc>
            </a:pPr>
            <a:r>
              <a:rPr lang="en-US" sz="2800" dirty="0">
                <a:latin typeface="Calibir"/>
              </a:rPr>
              <a:t>Then calculate how far each number is from the mean.</a:t>
            </a:r>
          </a:p>
          <a:p>
            <a:pPr>
              <a:lnSpc>
                <a:spcPct val="150000"/>
              </a:lnSpc>
            </a:pPr>
            <a:r>
              <a:rPr lang="en-US" sz="2800" dirty="0">
                <a:highlight>
                  <a:srgbClr val="FFFF00"/>
                </a:highlight>
                <a:latin typeface="Calibir"/>
              </a:rPr>
              <a:t>difference = number - mean</a:t>
            </a:r>
          </a:p>
          <a:p>
            <a:pPr>
              <a:lnSpc>
                <a:spcPct val="150000"/>
              </a:lnSpc>
            </a:pPr>
            <a:r>
              <a:rPr lang="en-US" sz="2800" dirty="0">
                <a:latin typeface="Calibir"/>
              </a:rPr>
              <a:t>Square the difference:</a:t>
            </a:r>
          </a:p>
          <a:p>
            <a:pPr>
              <a:lnSpc>
                <a:spcPct val="150000"/>
              </a:lnSpc>
            </a:pPr>
            <a:r>
              <a:rPr lang="en-US" sz="2800" dirty="0">
                <a:highlight>
                  <a:srgbClr val="FFFF00"/>
                </a:highlight>
                <a:latin typeface="Calibir"/>
              </a:rPr>
              <a:t>difference ** 2</a:t>
            </a:r>
          </a:p>
        </p:txBody>
      </p:sp>
    </p:spTree>
    <p:extLst>
      <p:ext uri="{BB962C8B-B14F-4D97-AF65-F5344CB8AC3E}">
        <p14:creationId xmlns:p14="http://schemas.microsoft.com/office/powerpoint/2010/main" val="19408103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34DA417-5CFA-E3AE-E84E-C3269B0CF9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FDC6C2-CCF3-F7DD-C941-39C61CAFA6F3}"/>
              </a:ext>
            </a:extLst>
          </p:cNvPr>
          <p:cNvSpPr txBox="1"/>
          <p:nvPr/>
        </p:nvSpPr>
        <p:spPr>
          <a:xfrm>
            <a:off x="0" y="-58992"/>
            <a:ext cx="12191999" cy="7061933"/>
          </a:xfrm>
          <a:prstGeom prst="rect">
            <a:avLst/>
          </a:prstGeom>
          <a:noFill/>
        </p:spPr>
        <p:txBody>
          <a:bodyPr wrap="square">
            <a:spAutoFit/>
          </a:bodyPr>
          <a:lstStyle/>
          <a:p>
            <a:pPr>
              <a:lnSpc>
                <a:spcPct val="150000"/>
              </a:lnSpc>
              <a:buNone/>
            </a:pPr>
            <a:r>
              <a:rPr lang="en-US" sz="2400" b="1" dirty="0">
                <a:latin typeface="Calibir"/>
              </a:rPr>
              <a:t>Step 4 — Complete the standard deviation function</a:t>
            </a:r>
          </a:p>
          <a:p>
            <a:pPr rtl="0">
              <a:lnSpc>
                <a:spcPct val="150000"/>
              </a:lnSpc>
              <a:buNone/>
            </a:pPr>
            <a:r>
              <a:rPr lang="en-US" sz="2000" dirty="0">
                <a:highlight>
                  <a:srgbClr val="FFFF00"/>
                </a:highlight>
                <a:latin typeface="Calibir"/>
              </a:rPr>
              <a:t>def </a:t>
            </a:r>
            <a:r>
              <a:rPr lang="en-US" sz="2000" dirty="0" err="1">
                <a:highlight>
                  <a:srgbClr val="FFFF00"/>
                </a:highlight>
                <a:latin typeface="Calibir"/>
              </a:rPr>
              <a:t>calculate_standard_deviation</a:t>
            </a:r>
            <a:r>
              <a:rPr lang="en-US" sz="2000" dirty="0">
                <a:highlight>
                  <a:srgbClr val="FFFF00"/>
                </a:highlight>
                <a:latin typeface="Calibir"/>
              </a:rPr>
              <a:t>(numbers):</a:t>
            </a:r>
          </a:p>
          <a:p>
            <a:pPr rtl="0">
              <a:lnSpc>
                <a:spcPct val="150000"/>
              </a:lnSpc>
              <a:buNone/>
            </a:pPr>
            <a:r>
              <a:rPr lang="en-US" sz="2000" dirty="0">
                <a:highlight>
                  <a:srgbClr val="FFFF00"/>
                </a:highlight>
                <a:latin typeface="Calibir"/>
              </a:rPr>
              <a:t>    mean = </a:t>
            </a:r>
            <a:r>
              <a:rPr lang="en-US" sz="2000" dirty="0" err="1">
                <a:highlight>
                  <a:srgbClr val="FFFF00"/>
                </a:highlight>
                <a:latin typeface="Calibir"/>
              </a:rPr>
              <a:t>calculate_mean</a:t>
            </a:r>
            <a:r>
              <a:rPr lang="en-US" sz="2000" dirty="0">
                <a:highlight>
                  <a:srgbClr val="FFFF00"/>
                </a:highlight>
                <a:latin typeface="Calibir"/>
              </a:rPr>
              <a:t>(numbers)</a:t>
            </a:r>
          </a:p>
          <a:p>
            <a:pPr rtl="0">
              <a:lnSpc>
                <a:spcPct val="150000"/>
              </a:lnSpc>
              <a:buNone/>
            </a:pPr>
            <a:r>
              <a:rPr lang="en-US" sz="2000" dirty="0">
                <a:highlight>
                  <a:srgbClr val="FFFF00"/>
                </a:highlight>
                <a:latin typeface="Calibir"/>
              </a:rPr>
              <a:t>    </a:t>
            </a:r>
            <a:r>
              <a:rPr lang="en-US" sz="2000" dirty="0" err="1">
                <a:highlight>
                  <a:srgbClr val="FFFF00"/>
                </a:highlight>
                <a:latin typeface="Calibir"/>
              </a:rPr>
              <a:t>total_squared_difference</a:t>
            </a:r>
            <a:r>
              <a:rPr lang="en-US" sz="2000" dirty="0">
                <a:highlight>
                  <a:srgbClr val="FFFF00"/>
                </a:highlight>
                <a:latin typeface="Calibir"/>
              </a:rPr>
              <a:t> = 0</a:t>
            </a:r>
          </a:p>
          <a:p>
            <a:pPr rtl="0">
              <a:lnSpc>
                <a:spcPct val="150000"/>
              </a:lnSpc>
              <a:buNone/>
            </a:pPr>
            <a:r>
              <a:rPr lang="en-US" sz="2000" dirty="0">
                <a:highlight>
                  <a:srgbClr val="FFFF00"/>
                </a:highlight>
                <a:latin typeface="Calibir"/>
              </a:rPr>
              <a:t>    for number in numbers:</a:t>
            </a:r>
          </a:p>
          <a:p>
            <a:pPr rtl="0">
              <a:lnSpc>
                <a:spcPct val="150000"/>
              </a:lnSpc>
              <a:buNone/>
            </a:pPr>
            <a:r>
              <a:rPr lang="en-US" sz="2000" dirty="0">
                <a:highlight>
                  <a:srgbClr val="FFFF00"/>
                </a:highlight>
                <a:latin typeface="Calibir"/>
              </a:rPr>
              <a:t>        difference = number - mean</a:t>
            </a:r>
          </a:p>
          <a:p>
            <a:pPr rtl="0">
              <a:lnSpc>
                <a:spcPct val="150000"/>
              </a:lnSpc>
              <a:buNone/>
            </a:pPr>
            <a:r>
              <a:rPr lang="en-US" sz="2000" dirty="0">
                <a:highlight>
                  <a:srgbClr val="FFFF00"/>
                </a:highlight>
                <a:latin typeface="Calibir"/>
              </a:rPr>
              <a:t>        </a:t>
            </a:r>
            <a:r>
              <a:rPr lang="en-US" sz="2000" dirty="0" err="1">
                <a:highlight>
                  <a:srgbClr val="FFFF00"/>
                </a:highlight>
                <a:latin typeface="Calibir"/>
              </a:rPr>
              <a:t>total_squared_difference</a:t>
            </a:r>
            <a:r>
              <a:rPr lang="en-US" sz="2000" dirty="0">
                <a:highlight>
                  <a:srgbClr val="FFFF00"/>
                </a:highlight>
                <a:latin typeface="Calibir"/>
              </a:rPr>
              <a:t> += (</a:t>
            </a:r>
          </a:p>
          <a:p>
            <a:pPr rtl="0">
              <a:lnSpc>
                <a:spcPct val="150000"/>
              </a:lnSpc>
              <a:buNone/>
            </a:pPr>
            <a:r>
              <a:rPr lang="en-US" sz="2000" dirty="0">
                <a:highlight>
                  <a:srgbClr val="FFFF00"/>
                </a:highlight>
                <a:latin typeface="Calibir"/>
              </a:rPr>
              <a:t>            difference ** 2</a:t>
            </a:r>
          </a:p>
          <a:p>
            <a:pPr rtl="0">
              <a:lnSpc>
                <a:spcPct val="150000"/>
              </a:lnSpc>
              <a:buNone/>
            </a:pPr>
            <a:r>
              <a:rPr lang="en-US" sz="2000" dirty="0">
                <a:highlight>
                  <a:srgbClr val="FFFF00"/>
                </a:highlight>
                <a:latin typeface="Calibir"/>
              </a:rPr>
              <a:t>        )</a:t>
            </a:r>
          </a:p>
          <a:p>
            <a:pPr rtl="0">
              <a:lnSpc>
                <a:spcPct val="150000"/>
              </a:lnSpc>
              <a:buNone/>
            </a:pPr>
            <a:r>
              <a:rPr lang="en-US" sz="2000" dirty="0">
                <a:highlight>
                  <a:srgbClr val="FFFF00"/>
                </a:highlight>
                <a:latin typeface="Calibir"/>
              </a:rPr>
              <a:t>    variance = (</a:t>
            </a:r>
          </a:p>
          <a:p>
            <a:pPr rtl="0">
              <a:lnSpc>
                <a:spcPct val="150000"/>
              </a:lnSpc>
              <a:buNone/>
            </a:pPr>
            <a:r>
              <a:rPr lang="en-US" sz="2000" dirty="0">
                <a:highlight>
                  <a:srgbClr val="FFFF00"/>
                </a:highlight>
                <a:latin typeface="Calibir"/>
              </a:rPr>
              <a:t>        </a:t>
            </a:r>
            <a:r>
              <a:rPr lang="en-US" sz="2000" dirty="0" err="1">
                <a:highlight>
                  <a:srgbClr val="FFFF00"/>
                </a:highlight>
                <a:latin typeface="Calibir"/>
              </a:rPr>
              <a:t>total_squared_difference</a:t>
            </a:r>
            <a:endParaRPr lang="en-US" sz="2000" dirty="0">
              <a:highlight>
                <a:srgbClr val="FFFF00"/>
              </a:highlight>
              <a:latin typeface="Calibir"/>
            </a:endParaRPr>
          </a:p>
          <a:p>
            <a:pPr rtl="0">
              <a:lnSpc>
                <a:spcPct val="150000"/>
              </a:lnSpc>
              <a:buNone/>
            </a:pPr>
            <a:r>
              <a:rPr lang="en-US" sz="2000" dirty="0">
                <a:highlight>
                  <a:srgbClr val="FFFF00"/>
                </a:highlight>
                <a:latin typeface="Calibir"/>
              </a:rPr>
              <a:t>        / </a:t>
            </a:r>
            <a:r>
              <a:rPr lang="en-US" sz="2000" dirty="0" err="1">
                <a:highlight>
                  <a:srgbClr val="FFFF00"/>
                </a:highlight>
                <a:latin typeface="Calibir"/>
              </a:rPr>
              <a:t>len</a:t>
            </a:r>
            <a:r>
              <a:rPr lang="en-US" sz="2000" dirty="0">
                <a:highlight>
                  <a:srgbClr val="FFFF00"/>
                </a:highlight>
                <a:latin typeface="Calibir"/>
              </a:rPr>
              <a:t>(numbers)</a:t>
            </a:r>
          </a:p>
          <a:p>
            <a:pPr rtl="0">
              <a:lnSpc>
                <a:spcPct val="150000"/>
              </a:lnSpc>
              <a:buNone/>
            </a:pPr>
            <a:r>
              <a:rPr lang="en-US" sz="2000" dirty="0">
                <a:highlight>
                  <a:srgbClr val="FFFF00"/>
                </a:highlight>
                <a:latin typeface="Calibir"/>
              </a:rPr>
              <a:t>    )</a:t>
            </a:r>
          </a:p>
          <a:p>
            <a:pPr rtl="0">
              <a:lnSpc>
                <a:spcPct val="150000"/>
              </a:lnSpc>
              <a:buNone/>
            </a:pPr>
            <a:r>
              <a:rPr lang="en-US" sz="2000" dirty="0">
                <a:highlight>
                  <a:srgbClr val="FFFF00"/>
                </a:highlight>
                <a:latin typeface="Calibir"/>
              </a:rPr>
              <a:t>    return variance ** 0.5</a:t>
            </a:r>
          </a:p>
          <a:p>
            <a:pPr>
              <a:lnSpc>
                <a:spcPct val="150000"/>
              </a:lnSpc>
              <a:buNone/>
            </a:pPr>
            <a:r>
              <a:rPr lang="en-US" sz="2000" dirty="0">
                <a:latin typeface="Calibir"/>
              </a:rPr>
              <a:t>** 0.5 calculates the square root.</a:t>
            </a:r>
          </a:p>
        </p:txBody>
      </p:sp>
    </p:spTree>
    <p:extLst>
      <p:ext uri="{BB962C8B-B14F-4D97-AF65-F5344CB8AC3E}">
        <p14:creationId xmlns:p14="http://schemas.microsoft.com/office/powerpoint/2010/main" val="34376990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766264D-810B-C860-6D3E-0252DB128F4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DBB25B-7D2F-D6FB-117B-9AD5A4D236A4}"/>
              </a:ext>
            </a:extLst>
          </p:cNvPr>
          <p:cNvSpPr txBox="1"/>
          <p:nvPr/>
        </p:nvSpPr>
        <p:spPr>
          <a:xfrm>
            <a:off x="0" y="-58992"/>
            <a:ext cx="12191999" cy="7278403"/>
          </a:xfrm>
          <a:prstGeom prst="rect">
            <a:avLst/>
          </a:prstGeom>
          <a:noFill/>
        </p:spPr>
        <p:txBody>
          <a:bodyPr wrap="square">
            <a:spAutoFit/>
          </a:bodyPr>
          <a:lstStyle/>
          <a:p>
            <a:pPr>
              <a:lnSpc>
                <a:spcPct val="150000"/>
              </a:lnSpc>
            </a:pPr>
            <a:r>
              <a:rPr lang="en-US" sz="2800" b="1" dirty="0">
                <a:latin typeface="Calibir"/>
              </a:rPr>
              <a:t>Step 5 — Display the results</a:t>
            </a:r>
          </a:p>
          <a:p>
            <a:pPr>
              <a:lnSpc>
                <a:spcPct val="150000"/>
              </a:lnSpc>
            </a:pPr>
            <a:r>
              <a:rPr lang="en-US" sz="2500" dirty="0">
                <a:highlight>
                  <a:srgbClr val="FFFF00"/>
                </a:highlight>
                <a:latin typeface="Calibir"/>
              </a:rPr>
              <a:t>def </a:t>
            </a:r>
            <a:r>
              <a:rPr lang="en-US" sz="2500" dirty="0" err="1">
                <a:highlight>
                  <a:srgbClr val="FFFF00"/>
                </a:highlight>
                <a:latin typeface="Calibir"/>
              </a:rPr>
              <a:t>show_results</a:t>
            </a:r>
            <a:r>
              <a:rPr lang="en-US" sz="2500" dirty="0">
                <a:highlight>
                  <a:srgbClr val="FFFF00"/>
                </a:highlight>
                <a:latin typeface="Calibir"/>
              </a:rPr>
              <a:t>(numbers):</a:t>
            </a:r>
          </a:p>
          <a:p>
            <a:pPr>
              <a:lnSpc>
                <a:spcPct val="150000"/>
              </a:lnSpc>
            </a:pPr>
            <a:r>
              <a:rPr lang="en-US" sz="2500" dirty="0">
                <a:highlight>
                  <a:srgbClr val="FFFF00"/>
                </a:highlight>
                <a:latin typeface="Calibir"/>
              </a:rPr>
              <a:t>    mean = </a:t>
            </a:r>
            <a:r>
              <a:rPr lang="en-US" sz="2500" dirty="0" err="1">
                <a:highlight>
                  <a:srgbClr val="FFFF00"/>
                </a:highlight>
                <a:latin typeface="Calibir"/>
              </a:rPr>
              <a:t>calculate_mean</a:t>
            </a:r>
            <a:r>
              <a:rPr lang="en-US" sz="2500" dirty="0">
                <a:highlight>
                  <a:srgbClr val="FFFF00"/>
                </a:highlight>
                <a:latin typeface="Calibir"/>
              </a:rPr>
              <a:t>(numbers)</a:t>
            </a:r>
          </a:p>
          <a:p>
            <a:pPr>
              <a:lnSpc>
                <a:spcPct val="150000"/>
              </a:lnSpc>
            </a:pPr>
            <a:r>
              <a:rPr lang="en-US" sz="2500" dirty="0">
                <a:highlight>
                  <a:srgbClr val="FFFF00"/>
                </a:highlight>
                <a:latin typeface="Calibir"/>
              </a:rPr>
              <a:t>    </a:t>
            </a:r>
            <a:r>
              <a:rPr lang="en-US" sz="2500" dirty="0" err="1">
                <a:highlight>
                  <a:srgbClr val="FFFF00"/>
                </a:highlight>
                <a:latin typeface="Calibir"/>
              </a:rPr>
              <a:t>standard_deviation</a:t>
            </a:r>
            <a:r>
              <a:rPr lang="en-US" sz="2500" dirty="0">
                <a:highlight>
                  <a:srgbClr val="FFFF00"/>
                </a:highlight>
                <a:latin typeface="Calibir"/>
              </a:rPr>
              <a:t> = (</a:t>
            </a:r>
          </a:p>
          <a:p>
            <a:pPr>
              <a:lnSpc>
                <a:spcPct val="150000"/>
              </a:lnSpc>
            </a:pPr>
            <a:r>
              <a:rPr lang="en-US" sz="2500" dirty="0">
                <a:highlight>
                  <a:srgbClr val="FFFF00"/>
                </a:highlight>
                <a:latin typeface="Calibir"/>
              </a:rPr>
              <a:t>        </a:t>
            </a:r>
            <a:r>
              <a:rPr lang="en-US" sz="2500" dirty="0" err="1">
                <a:highlight>
                  <a:srgbClr val="FFFF00"/>
                </a:highlight>
                <a:latin typeface="Calibir"/>
              </a:rPr>
              <a:t>calculate_standard_deviation</a:t>
            </a:r>
            <a:r>
              <a:rPr lang="en-US" sz="2500" dirty="0">
                <a:highlight>
                  <a:srgbClr val="FFFF00"/>
                </a:highlight>
                <a:latin typeface="Calibir"/>
              </a:rPr>
              <a:t>(numbers)</a:t>
            </a:r>
          </a:p>
          <a:p>
            <a:pPr>
              <a:lnSpc>
                <a:spcPct val="150000"/>
              </a:lnSpc>
            </a:pPr>
            <a:r>
              <a:rPr lang="en-US" sz="2500" dirty="0">
                <a:highlight>
                  <a:srgbClr val="FFFF00"/>
                </a:highlight>
                <a:latin typeface="Calibir"/>
              </a:rPr>
              <a:t>    )</a:t>
            </a:r>
          </a:p>
          <a:p>
            <a:pPr>
              <a:lnSpc>
                <a:spcPct val="150000"/>
              </a:lnSpc>
            </a:pPr>
            <a:r>
              <a:rPr lang="en-US" sz="2500" dirty="0">
                <a:highlight>
                  <a:srgbClr val="FFFF00"/>
                </a:highlight>
                <a:latin typeface="Calibir"/>
              </a:rPr>
              <a:t>    print("Numbers:", numbers)</a:t>
            </a:r>
          </a:p>
          <a:p>
            <a:pPr>
              <a:lnSpc>
                <a:spcPct val="150000"/>
              </a:lnSpc>
            </a:pPr>
            <a:r>
              <a:rPr lang="en-US" sz="2500" dirty="0">
                <a:highlight>
                  <a:srgbClr val="FFFF00"/>
                </a:highlight>
                <a:latin typeface="Calibir"/>
              </a:rPr>
              <a:t>    print(</a:t>
            </a:r>
            <a:r>
              <a:rPr lang="en-US" sz="2500" dirty="0" err="1">
                <a:highlight>
                  <a:srgbClr val="FFFF00"/>
                </a:highlight>
                <a:latin typeface="Calibir"/>
              </a:rPr>
              <a:t>f"Mean</a:t>
            </a:r>
            <a:r>
              <a:rPr lang="en-US" sz="2500" dirty="0">
                <a:highlight>
                  <a:srgbClr val="FFFF00"/>
                </a:highlight>
                <a:latin typeface="Calibir"/>
              </a:rPr>
              <a:t> = {mean:.2f}")</a:t>
            </a:r>
          </a:p>
          <a:p>
            <a:pPr>
              <a:lnSpc>
                <a:spcPct val="150000"/>
              </a:lnSpc>
            </a:pPr>
            <a:r>
              <a:rPr lang="en-US" sz="2500" dirty="0">
                <a:highlight>
                  <a:srgbClr val="FFFF00"/>
                </a:highlight>
                <a:latin typeface="Calibir"/>
              </a:rPr>
              <a:t>    print(</a:t>
            </a:r>
          </a:p>
          <a:p>
            <a:pPr>
              <a:lnSpc>
                <a:spcPct val="150000"/>
              </a:lnSpc>
            </a:pPr>
            <a:r>
              <a:rPr lang="en-US" sz="2500" dirty="0">
                <a:highlight>
                  <a:srgbClr val="FFFF00"/>
                </a:highlight>
                <a:latin typeface="Calibir"/>
              </a:rPr>
              <a:t>        </a:t>
            </a:r>
            <a:r>
              <a:rPr lang="en-US" sz="2500" dirty="0" err="1">
                <a:highlight>
                  <a:srgbClr val="FFFF00"/>
                </a:highlight>
                <a:latin typeface="Calibir"/>
              </a:rPr>
              <a:t>f"Standard</a:t>
            </a:r>
            <a:r>
              <a:rPr lang="en-US" sz="2500" dirty="0">
                <a:highlight>
                  <a:srgbClr val="FFFF00"/>
                </a:highlight>
                <a:latin typeface="Calibir"/>
              </a:rPr>
              <a:t> deviation = "</a:t>
            </a:r>
          </a:p>
          <a:p>
            <a:pPr>
              <a:lnSpc>
                <a:spcPct val="150000"/>
              </a:lnSpc>
            </a:pPr>
            <a:r>
              <a:rPr lang="en-US" sz="2500" dirty="0">
                <a:highlight>
                  <a:srgbClr val="FFFF00"/>
                </a:highlight>
                <a:latin typeface="Calibir"/>
              </a:rPr>
              <a:t>        f"{standard_deviation:.2f}"</a:t>
            </a:r>
          </a:p>
          <a:p>
            <a:pPr>
              <a:lnSpc>
                <a:spcPct val="150000"/>
              </a:lnSpc>
            </a:pPr>
            <a:r>
              <a:rPr lang="en-US" sz="2500" dirty="0">
                <a:highlight>
                  <a:srgbClr val="FFFF00"/>
                </a:highlight>
                <a:latin typeface="Calibir"/>
              </a:rPr>
              <a:t>    )</a:t>
            </a:r>
          </a:p>
        </p:txBody>
      </p:sp>
    </p:spTree>
    <p:extLst>
      <p:ext uri="{BB962C8B-B14F-4D97-AF65-F5344CB8AC3E}">
        <p14:creationId xmlns:p14="http://schemas.microsoft.com/office/powerpoint/2010/main" val="16155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D2B18EE-1E7A-F829-B7E3-FA9DCBA8F73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3ACCB9-3B3B-9EFF-3D80-B34AAD554D6C}"/>
              </a:ext>
            </a:extLst>
          </p:cNvPr>
          <p:cNvSpPr txBox="1"/>
          <p:nvPr/>
        </p:nvSpPr>
        <p:spPr>
          <a:xfrm>
            <a:off x="0" y="-58992"/>
            <a:ext cx="12191999" cy="6340197"/>
          </a:xfrm>
          <a:prstGeom prst="rect">
            <a:avLst/>
          </a:prstGeom>
          <a:noFill/>
        </p:spPr>
        <p:txBody>
          <a:bodyPr wrap="square">
            <a:spAutoFit/>
          </a:bodyPr>
          <a:lstStyle/>
          <a:p>
            <a:r>
              <a:rPr lang="en-US" sz="1400" b="1" dirty="0">
                <a:latin typeface="Calibir"/>
              </a:rPr>
              <a:t>Completed Python — Lab5Exc2.py</a:t>
            </a:r>
          </a:p>
          <a:p>
            <a:r>
              <a:rPr lang="en-US" sz="1400" dirty="0">
                <a:highlight>
                  <a:srgbClr val="FFFF00"/>
                </a:highlight>
                <a:latin typeface="Calibir"/>
              </a:rPr>
              <a:t>import random</a:t>
            </a:r>
          </a:p>
          <a:p>
            <a:r>
              <a:rPr lang="en-US" sz="1400" dirty="0">
                <a:highlight>
                  <a:srgbClr val="FFFF00"/>
                </a:highlight>
                <a:latin typeface="Calibir"/>
              </a:rPr>
              <a:t>def </a:t>
            </a:r>
            <a:r>
              <a:rPr lang="en-US" sz="1400" dirty="0" err="1">
                <a:highlight>
                  <a:srgbClr val="FFFF00"/>
                </a:highlight>
                <a:latin typeface="Calibir"/>
              </a:rPr>
              <a:t>generate_numbers</a:t>
            </a:r>
            <a:r>
              <a:rPr lang="en-US" sz="1400" dirty="0">
                <a:highlight>
                  <a:srgbClr val="FFFF00"/>
                </a:highlight>
                <a:latin typeface="Calibir"/>
              </a:rPr>
              <a:t>():</a:t>
            </a:r>
          </a:p>
          <a:p>
            <a:r>
              <a:rPr lang="en-US" sz="1400" dirty="0">
                <a:highlight>
                  <a:srgbClr val="FFFF00"/>
                </a:highlight>
                <a:latin typeface="Calibir"/>
              </a:rPr>
              <a:t>    numbers = []</a:t>
            </a:r>
          </a:p>
          <a:p>
            <a:r>
              <a:rPr lang="en-US" sz="1400" dirty="0">
                <a:highlight>
                  <a:srgbClr val="FFFF00"/>
                </a:highlight>
                <a:latin typeface="Calibir"/>
              </a:rPr>
              <a:t>    for </a:t>
            </a:r>
            <a:r>
              <a:rPr lang="en-US" sz="1400" dirty="0" err="1">
                <a:highlight>
                  <a:srgbClr val="FFFF00"/>
                </a:highlight>
                <a:latin typeface="Calibir"/>
              </a:rPr>
              <a:t>i</a:t>
            </a:r>
            <a:r>
              <a:rPr lang="en-US" sz="1400" dirty="0">
                <a:highlight>
                  <a:srgbClr val="FFFF00"/>
                </a:highlight>
                <a:latin typeface="Calibir"/>
              </a:rPr>
              <a:t> in range(20):</a:t>
            </a:r>
          </a:p>
          <a:p>
            <a:r>
              <a:rPr lang="en-US" sz="1400" dirty="0">
                <a:highlight>
                  <a:srgbClr val="FFFF00"/>
                </a:highlight>
                <a:latin typeface="Calibir"/>
              </a:rPr>
              <a:t>        number = </a:t>
            </a:r>
            <a:r>
              <a:rPr lang="en-US" sz="1400" dirty="0" err="1">
                <a:highlight>
                  <a:srgbClr val="FFFF00"/>
                </a:highlight>
                <a:latin typeface="Calibir"/>
              </a:rPr>
              <a:t>random.randint</a:t>
            </a:r>
            <a:r>
              <a:rPr lang="en-US" sz="1400" dirty="0">
                <a:highlight>
                  <a:srgbClr val="FFFF00"/>
                </a:highlight>
                <a:latin typeface="Calibir"/>
              </a:rPr>
              <a:t>(0, 100)</a:t>
            </a:r>
          </a:p>
          <a:p>
            <a:r>
              <a:rPr lang="en-US" sz="1400" dirty="0">
                <a:highlight>
                  <a:srgbClr val="FFFF00"/>
                </a:highlight>
                <a:latin typeface="Calibir"/>
              </a:rPr>
              <a:t>        </a:t>
            </a:r>
            <a:r>
              <a:rPr lang="en-US" sz="1400" dirty="0" err="1">
                <a:highlight>
                  <a:srgbClr val="FFFF00"/>
                </a:highlight>
                <a:latin typeface="Calibir"/>
              </a:rPr>
              <a:t>numbers.append</a:t>
            </a:r>
            <a:r>
              <a:rPr lang="en-US" sz="1400" dirty="0">
                <a:highlight>
                  <a:srgbClr val="FFFF00"/>
                </a:highlight>
                <a:latin typeface="Calibir"/>
              </a:rPr>
              <a:t>(number)</a:t>
            </a:r>
          </a:p>
          <a:p>
            <a:r>
              <a:rPr lang="en-US" sz="1400" dirty="0">
                <a:highlight>
                  <a:srgbClr val="FFFF00"/>
                </a:highlight>
                <a:latin typeface="Calibir"/>
              </a:rPr>
              <a:t>    return numbers</a:t>
            </a:r>
          </a:p>
          <a:p>
            <a:r>
              <a:rPr lang="en-US" sz="1400" dirty="0">
                <a:highlight>
                  <a:srgbClr val="FFFF00"/>
                </a:highlight>
                <a:latin typeface="Calibir"/>
              </a:rPr>
              <a:t>def </a:t>
            </a:r>
            <a:r>
              <a:rPr lang="en-US" sz="1400" dirty="0" err="1">
                <a:highlight>
                  <a:srgbClr val="FFFF00"/>
                </a:highlight>
                <a:latin typeface="Calibir"/>
              </a:rPr>
              <a:t>calculate_mean</a:t>
            </a:r>
            <a:r>
              <a:rPr lang="en-US" sz="1400" dirty="0">
                <a:highlight>
                  <a:srgbClr val="FFFF00"/>
                </a:highlight>
                <a:latin typeface="Calibir"/>
              </a:rPr>
              <a:t>(numbers):</a:t>
            </a:r>
          </a:p>
          <a:p>
            <a:r>
              <a:rPr lang="en-US" sz="1400" dirty="0">
                <a:highlight>
                  <a:srgbClr val="FFFF00"/>
                </a:highlight>
                <a:latin typeface="Calibir"/>
              </a:rPr>
              <a:t>    total = sum(numbers)</a:t>
            </a:r>
          </a:p>
          <a:p>
            <a:r>
              <a:rPr lang="en-US" sz="1400" dirty="0">
                <a:highlight>
                  <a:srgbClr val="FFFF00"/>
                </a:highlight>
                <a:latin typeface="Calibir"/>
              </a:rPr>
              <a:t>    return total / </a:t>
            </a:r>
            <a:r>
              <a:rPr lang="en-US" sz="1400" dirty="0" err="1">
                <a:highlight>
                  <a:srgbClr val="FFFF00"/>
                </a:highlight>
                <a:latin typeface="Calibir"/>
              </a:rPr>
              <a:t>len</a:t>
            </a:r>
            <a:r>
              <a:rPr lang="en-US" sz="1400" dirty="0">
                <a:highlight>
                  <a:srgbClr val="FFFF00"/>
                </a:highlight>
                <a:latin typeface="Calibir"/>
              </a:rPr>
              <a:t>(numbers)</a:t>
            </a:r>
          </a:p>
          <a:p>
            <a:r>
              <a:rPr lang="en-US" sz="1400" dirty="0">
                <a:highlight>
                  <a:srgbClr val="FFFF00"/>
                </a:highlight>
                <a:latin typeface="Calibir"/>
              </a:rPr>
              <a:t>def </a:t>
            </a:r>
            <a:r>
              <a:rPr lang="en-US" sz="1400" dirty="0" err="1">
                <a:highlight>
                  <a:srgbClr val="FFFF00"/>
                </a:highlight>
                <a:latin typeface="Calibir"/>
              </a:rPr>
              <a:t>calculate_standard_deviation</a:t>
            </a:r>
            <a:r>
              <a:rPr lang="en-US" sz="1400" dirty="0">
                <a:highlight>
                  <a:srgbClr val="FFFF00"/>
                </a:highlight>
                <a:latin typeface="Calibir"/>
              </a:rPr>
              <a:t>(numbers):</a:t>
            </a:r>
          </a:p>
          <a:p>
            <a:r>
              <a:rPr lang="en-US" sz="1400" dirty="0">
                <a:highlight>
                  <a:srgbClr val="FFFF00"/>
                </a:highlight>
                <a:latin typeface="Calibir"/>
              </a:rPr>
              <a:t>    mean = </a:t>
            </a:r>
            <a:r>
              <a:rPr lang="en-US" sz="1400" dirty="0" err="1">
                <a:highlight>
                  <a:srgbClr val="FFFF00"/>
                </a:highlight>
                <a:latin typeface="Calibir"/>
              </a:rPr>
              <a:t>calculate_mean</a:t>
            </a:r>
            <a:r>
              <a:rPr lang="en-US" sz="1400" dirty="0">
                <a:highlight>
                  <a:srgbClr val="FFFF00"/>
                </a:highlight>
                <a:latin typeface="Calibir"/>
              </a:rPr>
              <a:t>(numbers)</a:t>
            </a:r>
          </a:p>
          <a:p>
            <a:r>
              <a:rPr lang="en-US" sz="1400" dirty="0">
                <a:highlight>
                  <a:srgbClr val="FFFF00"/>
                </a:highlight>
                <a:latin typeface="Calibir"/>
              </a:rPr>
              <a:t>    </a:t>
            </a:r>
            <a:r>
              <a:rPr lang="en-US" sz="1400" dirty="0" err="1">
                <a:highlight>
                  <a:srgbClr val="FFFF00"/>
                </a:highlight>
                <a:latin typeface="Calibir"/>
              </a:rPr>
              <a:t>total_squared_difference</a:t>
            </a:r>
            <a:r>
              <a:rPr lang="en-US" sz="1400" dirty="0">
                <a:highlight>
                  <a:srgbClr val="FFFF00"/>
                </a:highlight>
                <a:latin typeface="Calibir"/>
              </a:rPr>
              <a:t> = 0</a:t>
            </a:r>
          </a:p>
          <a:p>
            <a:r>
              <a:rPr lang="en-US" sz="1400" dirty="0">
                <a:highlight>
                  <a:srgbClr val="FFFF00"/>
                </a:highlight>
                <a:latin typeface="Calibir"/>
              </a:rPr>
              <a:t>    for number in numbers:</a:t>
            </a:r>
          </a:p>
          <a:p>
            <a:r>
              <a:rPr lang="en-US" sz="1400" dirty="0">
                <a:highlight>
                  <a:srgbClr val="FFFF00"/>
                </a:highlight>
                <a:latin typeface="Calibir"/>
              </a:rPr>
              <a:t>        difference = number - mean</a:t>
            </a:r>
          </a:p>
          <a:p>
            <a:r>
              <a:rPr lang="en-US" sz="1400" dirty="0">
                <a:highlight>
                  <a:srgbClr val="FFFF00"/>
                </a:highlight>
                <a:latin typeface="Calibir"/>
              </a:rPr>
              <a:t>        </a:t>
            </a:r>
            <a:r>
              <a:rPr lang="en-US" sz="1400" dirty="0" err="1">
                <a:highlight>
                  <a:srgbClr val="FFFF00"/>
                </a:highlight>
                <a:latin typeface="Calibir"/>
              </a:rPr>
              <a:t>total_squared_difference</a:t>
            </a:r>
            <a:r>
              <a:rPr lang="en-US" sz="1400" dirty="0">
                <a:highlight>
                  <a:srgbClr val="FFFF00"/>
                </a:highlight>
                <a:latin typeface="Calibir"/>
              </a:rPr>
              <a:t> += (</a:t>
            </a:r>
          </a:p>
          <a:p>
            <a:r>
              <a:rPr lang="en-US" sz="1400" dirty="0">
                <a:highlight>
                  <a:srgbClr val="FFFF00"/>
                </a:highlight>
                <a:latin typeface="Calibir"/>
              </a:rPr>
              <a:t>            difference ** 2</a:t>
            </a:r>
          </a:p>
          <a:p>
            <a:r>
              <a:rPr lang="en-US" sz="1400" dirty="0">
                <a:highlight>
                  <a:srgbClr val="FFFF00"/>
                </a:highlight>
                <a:latin typeface="Calibir"/>
              </a:rPr>
              <a:t>        )</a:t>
            </a:r>
          </a:p>
          <a:p>
            <a:r>
              <a:rPr lang="en-US" sz="1400" dirty="0">
                <a:highlight>
                  <a:srgbClr val="FFFF00"/>
                </a:highlight>
                <a:latin typeface="Calibir"/>
              </a:rPr>
              <a:t>    variance = (</a:t>
            </a:r>
          </a:p>
          <a:p>
            <a:r>
              <a:rPr lang="en-US" sz="1400" dirty="0">
                <a:highlight>
                  <a:srgbClr val="FFFF00"/>
                </a:highlight>
                <a:latin typeface="Calibir"/>
              </a:rPr>
              <a:t>        </a:t>
            </a:r>
            <a:r>
              <a:rPr lang="en-US" sz="1400" dirty="0" err="1">
                <a:highlight>
                  <a:srgbClr val="FFFF00"/>
                </a:highlight>
                <a:latin typeface="Calibir"/>
              </a:rPr>
              <a:t>total_squared_difference</a:t>
            </a:r>
            <a:endParaRPr lang="en-US" sz="1400" dirty="0">
              <a:highlight>
                <a:srgbClr val="FFFF00"/>
              </a:highlight>
              <a:latin typeface="Calibir"/>
            </a:endParaRPr>
          </a:p>
          <a:p>
            <a:r>
              <a:rPr lang="en-US" sz="1400" dirty="0">
                <a:highlight>
                  <a:srgbClr val="FFFF00"/>
                </a:highlight>
                <a:latin typeface="Calibir"/>
              </a:rPr>
              <a:t>        / </a:t>
            </a:r>
            <a:r>
              <a:rPr lang="en-US" sz="1400" dirty="0" err="1">
                <a:highlight>
                  <a:srgbClr val="FFFF00"/>
                </a:highlight>
                <a:latin typeface="Calibir"/>
              </a:rPr>
              <a:t>len</a:t>
            </a:r>
            <a:r>
              <a:rPr lang="en-US" sz="1400" dirty="0">
                <a:highlight>
                  <a:srgbClr val="FFFF00"/>
                </a:highlight>
                <a:latin typeface="Calibir"/>
              </a:rPr>
              <a:t>(numbers)</a:t>
            </a:r>
          </a:p>
          <a:p>
            <a:r>
              <a:rPr lang="en-US" sz="1400" dirty="0">
                <a:highlight>
                  <a:srgbClr val="FFFF00"/>
                </a:highlight>
                <a:latin typeface="Calibir"/>
              </a:rPr>
              <a:t>    )</a:t>
            </a:r>
          </a:p>
          <a:p>
            <a:r>
              <a:rPr lang="en-US" sz="1400" dirty="0">
                <a:highlight>
                  <a:srgbClr val="FFFF00"/>
                </a:highlight>
                <a:latin typeface="Calibir"/>
              </a:rPr>
              <a:t>    return variance ** 0.5</a:t>
            </a:r>
          </a:p>
          <a:p>
            <a:r>
              <a:rPr lang="en-US" sz="1400" dirty="0">
                <a:highlight>
                  <a:srgbClr val="FFFF00"/>
                </a:highlight>
                <a:latin typeface="Calibir"/>
              </a:rPr>
              <a:t>def </a:t>
            </a:r>
            <a:r>
              <a:rPr lang="en-US" sz="1400" dirty="0" err="1">
                <a:highlight>
                  <a:srgbClr val="FFFF00"/>
                </a:highlight>
                <a:latin typeface="Calibir"/>
              </a:rPr>
              <a:t>show_results</a:t>
            </a:r>
            <a:r>
              <a:rPr lang="en-US" sz="1400" dirty="0">
                <a:highlight>
                  <a:srgbClr val="FFFF00"/>
                </a:highlight>
                <a:latin typeface="Calibir"/>
              </a:rPr>
              <a:t>(numbers):</a:t>
            </a:r>
          </a:p>
          <a:p>
            <a:r>
              <a:rPr lang="en-US" sz="1400" dirty="0">
                <a:highlight>
                  <a:srgbClr val="FFFF00"/>
                </a:highlight>
                <a:latin typeface="Calibir"/>
              </a:rPr>
              <a:t>    mean = </a:t>
            </a:r>
            <a:r>
              <a:rPr lang="en-US" sz="1400" dirty="0" err="1">
                <a:highlight>
                  <a:srgbClr val="FFFF00"/>
                </a:highlight>
                <a:latin typeface="Calibir"/>
              </a:rPr>
              <a:t>calculate_mean</a:t>
            </a:r>
            <a:r>
              <a:rPr lang="en-US" sz="1400" dirty="0">
                <a:highlight>
                  <a:srgbClr val="FFFF00"/>
                </a:highlight>
                <a:latin typeface="Calibir"/>
              </a:rPr>
              <a:t>(numbers)</a:t>
            </a:r>
          </a:p>
          <a:p>
            <a:r>
              <a:rPr lang="en-US" sz="1400" dirty="0">
                <a:highlight>
                  <a:srgbClr val="FFFF00"/>
                </a:highlight>
                <a:latin typeface="Calibir"/>
              </a:rPr>
              <a:t>    </a:t>
            </a:r>
            <a:r>
              <a:rPr lang="en-US" sz="1400" dirty="0" err="1">
                <a:highlight>
                  <a:srgbClr val="FFFF00"/>
                </a:highlight>
                <a:latin typeface="Calibir"/>
              </a:rPr>
              <a:t>standard_deviation</a:t>
            </a:r>
            <a:r>
              <a:rPr lang="en-US" sz="1400" dirty="0">
                <a:highlight>
                  <a:srgbClr val="FFFF00"/>
                </a:highlight>
                <a:latin typeface="Calibir"/>
              </a:rPr>
              <a:t> = (</a:t>
            </a:r>
          </a:p>
          <a:p>
            <a:r>
              <a:rPr lang="en-US" sz="1400" dirty="0">
                <a:highlight>
                  <a:srgbClr val="FFFF00"/>
                </a:highlight>
                <a:latin typeface="Calibir"/>
              </a:rPr>
              <a:t>        </a:t>
            </a:r>
            <a:r>
              <a:rPr lang="en-US" sz="1400" dirty="0" err="1">
                <a:highlight>
                  <a:srgbClr val="FFFF00"/>
                </a:highlight>
                <a:latin typeface="Calibir"/>
              </a:rPr>
              <a:t>calculate</a:t>
            </a:r>
            <a:r>
              <a:rPr lang="en-US" sz="1400" dirty="0" err="1">
                <a:latin typeface="Calibir"/>
              </a:rPr>
              <a:t>_standard_deviation</a:t>
            </a:r>
            <a:r>
              <a:rPr lang="en-US" sz="1400" dirty="0">
                <a:latin typeface="Calibir"/>
              </a:rPr>
              <a:t>(numbers)</a:t>
            </a:r>
          </a:p>
          <a:p>
            <a:r>
              <a:rPr lang="en-US" sz="1400" dirty="0">
                <a:latin typeface="Calibir"/>
              </a:rPr>
              <a:t>    )</a:t>
            </a:r>
          </a:p>
        </p:txBody>
      </p:sp>
    </p:spTree>
    <p:extLst>
      <p:ext uri="{BB962C8B-B14F-4D97-AF65-F5344CB8AC3E}">
        <p14:creationId xmlns:p14="http://schemas.microsoft.com/office/powerpoint/2010/main" val="6707272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EE5419F-0EF7-E785-F918-E0DAB95EFB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1F824AA-3E18-2ECC-9766-1EF0964D3785}"/>
              </a:ext>
            </a:extLst>
          </p:cNvPr>
          <p:cNvSpPr txBox="1"/>
          <p:nvPr/>
        </p:nvSpPr>
        <p:spPr>
          <a:xfrm>
            <a:off x="0" y="88490"/>
            <a:ext cx="12191999" cy="2893100"/>
          </a:xfrm>
          <a:prstGeom prst="rect">
            <a:avLst/>
          </a:prstGeom>
          <a:noFill/>
        </p:spPr>
        <p:txBody>
          <a:bodyPr wrap="square">
            <a:spAutoFit/>
          </a:bodyPr>
          <a:lstStyle/>
          <a:p>
            <a:r>
              <a:rPr lang="en-US" sz="1400" dirty="0">
                <a:highlight>
                  <a:srgbClr val="FFFF00"/>
                </a:highlight>
                <a:latin typeface="Calibir"/>
              </a:rPr>
              <a:t> print("Numbers:", numbers)</a:t>
            </a:r>
          </a:p>
          <a:p>
            <a:r>
              <a:rPr lang="en-US" sz="1400" dirty="0">
                <a:highlight>
                  <a:srgbClr val="FFFF00"/>
                </a:highlight>
                <a:latin typeface="Calibir"/>
              </a:rPr>
              <a:t>    print(</a:t>
            </a:r>
          </a:p>
          <a:p>
            <a:r>
              <a:rPr lang="en-US" sz="1400" dirty="0">
                <a:highlight>
                  <a:srgbClr val="FFFF00"/>
                </a:highlight>
                <a:latin typeface="Calibir"/>
              </a:rPr>
              <a:t>        </a:t>
            </a:r>
            <a:r>
              <a:rPr lang="en-US" sz="1400" dirty="0" err="1">
                <a:highlight>
                  <a:srgbClr val="FFFF00"/>
                </a:highlight>
                <a:latin typeface="Calibir"/>
              </a:rPr>
              <a:t>f"Mean</a:t>
            </a:r>
            <a:r>
              <a:rPr lang="en-US" sz="1400" dirty="0">
                <a:highlight>
                  <a:srgbClr val="FFFF00"/>
                </a:highlight>
                <a:latin typeface="Calibir"/>
              </a:rPr>
              <a:t> = {mean:.2f}"</a:t>
            </a:r>
          </a:p>
          <a:p>
            <a:r>
              <a:rPr lang="en-US" sz="1400" dirty="0">
                <a:highlight>
                  <a:srgbClr val="FFFF00"/>
                </a:highlight>
                <a:latin typeface="Calibir"/>
              </a:rPr>
              <a:t>    )</a:t>
            </a:r>
          </a:p>
          <a:p>
            <a:r>
              <a:rPr lang="en-US" sz="1400" dirty="0">
                <a:highlight>
                  <a:srgbClr val="FFFF00"/>
                </a:highlight>
                <a:latin typeface="Calibir"/>
              </a:rPr>
              <a:t>    print(</a:t>
            </a:r>
          </a:p>
          <a:p>
            <a:r>
              <a:rPr lang="en-US" sz="1400" dirty="0">
                <a:highlight>
                  <a:srgbClr val="FFFF00"/>
                </a:highlight>
                <a:latin typeface="Calibir"/>
              </a:rPr>
              <a:t>        </a:t>
            </a:r>
            <a:r>
              <a:rPr lang="en-US" sz="1400" dirty="0" err="1">
                <a:highlight>
                  <a:srgbClr val="FFFF00"/>
                </a:highlight>
                <a:latin typeface="Calibir"/>
              </a:rPr>
              <a:t>f"Standard</a:t>
            </a:r>
            <a:r>
              <a:rPr lang="en-US" sz="1400" dirty="0">
                <a:highlight>
                  <a:srgbClr val="FFFF00"/>
                </a:highlight>
                <a:latin typeface="Calibir"/>
              </a:rPr>
              <a:t> deviation = "</a:t>
            </a:r>
          </a:p>
          <a:p>
            <a:r>
              <a:rPr lang="en-US" sz="1400" dirty="0">
                <a:highlight>
                  <a:srgbClr val="FFFF00"/>
                </a:highlight>
                <a:latin typeface="Calibir"/>
              </a:rPr>
              <a:t>        f"{standard_deviation:.2f}"</a:t>
            </a:r>
          </a:p>
          <a:p>
            <a:r>
              <a:rPr lang="en-US" sz="1400" dirty="0">
                <a:highlight>
                  <a:srgbClr val="FFFF00"/>
                </a:highlight>
                <a:latin typeface="Calibir"/>
              </a:rPr>
              <a:t>    )</a:t>
            </a:r>
          </a:p>
          <a:p>
            <a:r>
              <a:rPr lang="en-US" sz="1400" dirty="0">
                <a:highlight>
                  <a:srgbClr val="FFFF00"/>
                </a:highlight>
                <a:latin typeface="Calibir"/>
              </a:rPr>
              <a:t>def main():</a:t>
            </a:r>
          </a:p>
          <a:p>
            <a:r>
              <a:rPr lang="en-US" sz="1400" dirty="0">
                <a:highlight>
                  <a:srgbClr val="FFFF00"/>
                </a:highlight>
                <a:latin typeface="Calibir"/>
              </a:rPr>
              <a:t>    numbers = </a:t>
            </a:r>
            <a:r>
              <a:rPr lang="en-US" sz="1400" dirty="0" err="1">
                <a:highlight>
                  <a:srgbClr val="FFFF00"/>
                </a:highlight>
                <a:latin typeface="Calibir"/>
              </a:rPr>
              <a:t>generate_numbers</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show_results</a:t>
            </a:r>
            <a:r>
              <a:rPr lang="en-US" sz="1400" dirty="0">
                <a:highlight>
                  <a:srgbClr val="FFFF00"/>
                </a:highlight>
                <a:latin typeface="Calibir"/>
              </a:rPr>
              <a:t>(numbers)</a:t>
            </a:r>
          </a:p>
          <a:p>
            <a:r>
              <a:rPr lang="en-US" sz="1400" dirty="0">
                <a:highlight>
                  <a:srgbClr val="FFFF00"/>
                </a:highlight>
                <a:latin typeface="Calibir"/>
              </a:rPr>
              <a:t>if __name__ == "__main__":</a:t>
            </a:r>
          </a:p>
          <a:p>
            <a:r>
              <a:rPr lang="en-US" sz="1400" dirty="0">
                <a:highlight>
                  <a:srgbClr val="FFFF00"/>
                </a:highlight>
                <a:latin typeface="Calibir"/>
              </a:rPr>
              <a:t>    main()</a:t>
            </a:r>
          </a:p>
        </p:txBody>
      </p:sp>
    </p:spTree>
    <p:extLst>
      <p:ext uri="{BB962C8B-B14F-4D97-AF65-F5344CB8AC3E}">
        <p14:creationId xmlns:p14="http://schemas.microsoft.com/office/powerpoint/2010/main" val="21840122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05BA6A2-FE35-9E11-8405-3387C2DC0F7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707A7D7-BD5D-1EA3-A05C-B636273674AD}"/>
              </a:ext>
            </a:extLst>
          </p:cNvPr>
          <p:cNvSpPr txBox="1"/>
          <p:nvPr/>
        </p:nvSpPr>
        <p:spPr>
          <a:xfrm>
            <a:off x="0" y="108155"/>
            <a:ext cx="6098458" cy="6641690"/>
          </a:xfrm>
          <a:prstGeom prst="rect">
            <a:avLst/>
          </a:prstGeom>
          <a:noFill/>
        </p:spPr>
        <p:txBody>
          <a:bodyPr wrap="square">
            <a:spAutoFit/>
          </a:bodyPr>
          <a:lstStyle/>
          <a:p>
            <a:pPr>
              <a:lnSpc>
                <a:spcPct val="150000"/>
              </a:lnSpc>
              <a:buNone/>
            </a:pPr>
            <a:r>
              <a:rPr lang="en-US" sz="2200" b="1" dirty="0">
                <a:latin typeface="Calibir"/>
              </a:rPr>
              <a:t>Java</a:t>
            </a:r>
          </a:p>
          <a:p>
            <a:pPr>
              <a:lnSpc>
                <a:spcPct val="150000"/>
              </a:lnSpc>
              <a:buNone/>
            </a:pPr>
            <a:r>
              <a:rPr lang="en-US" sz="2200" b="1" dirty="0">
                <a:latin typeface="Calibir"/>
              </a:rPr>
              <a:t>Step 1 — Generate 20 numbers</a:t>
            </a:r>
          </a:p>
          <a:p>
            <a:pPr rtl="0">
              <a:lnSpc>
                <a:spcPct val="150000"/>
              </a:lnSpc>
              <a:buNone/>
            </a:pPr>
            <a:r>
              <a:rPr lang="en-US" sz="2200" dirty="0">
                <a:highlight>
                  <a:srgbClr val="FFFF00"/>
                </a:highlight>
                <a:latin typeface="Calibir"/>
              </a:rPr>
              <a:t>public static int[] </a:t>
            </a:r>
            <a:r>
              <a:rPr lang="en-US" sz="2200" dirty="0" err="1">
                <a:highlight>
                  <a:srgbClr val="FFFF00"/>
                </a:highlight>
                <a:latin typeface="Calibir"/>
              </a:rPr>
              <a:t>generateNumbers</a:t>
            </a:r>
            <a:r>
              <a:rPr lang="en-US" sz="2200" dirty="0">
                <a:highlight>
                  <a:srgbClr val="FFFF00"/>
                </a:highlight>
                <a:latin typeface="Calibir"/>
              </a:rPr>
              <a:t>() {</a:t>
            </a:r>
          </a:p>
          <a:p>
            <a:pPr rtl="0">
              <a:lnSpc>
                <a:spcPct val="150000"/>
              </a:lnSpc>
              <a:buNone/>
            </a:pPr>
            <a:r>
              <a:rPr lang="en-US" sz="2200" dirty="0">
                <a:highlight>
                  <a:srgbClr val="FFFF00"/>
                </a:highlight>
                <a:latin typeface="Calibir"/>
              </a:rPr>
              <a:t>    Random </a:t>
            </a:r>
            <a:r>
              <a:rPr lang="en-US" sz="2200" dirty="0" err="1">
                <a:highlight>
                  <a:srgbClr val="FFFF00"/>
                </a:highlight>
                <a:latin typeface="Calibir"/>
              </a:rPr>
              <a:t>random</a:t>
            </a:r>
            <a:r>
              <a:rPr lang="en-US" sz="2200" dirty="0">
                <a:highlight>
                  <a:srgbClr val="FFFF00"/>
                </a:highlight>
                <a:latin typeface="Calibir"/>
              </a:rPr>
              <a:t> = new Random();</a:t>
            </a:r>
          </a:p>
          <a:p>
            <a:pPr rtl="0">
              <a:lnSpc>
                <a:spcPct val="150000"/>
              </a:lnSpc>
              <a:buNone/>
            </a:pPr>
            <a:r>
              <a:rPr lang="en-US" sz="2200" dirty="0">
                <a:highlight>
                  <a:srgbClr val="FFFF00"/>
                </a:highlight>
                <a:latin typeface="Calibir"/>
              </a:rPr>
              <a:t>    int[] numbers = new int[20];</a:t>
            </a:r>
          </a:p>
          <a:p>
            <a:pPr rtl="0">
              <a:lnSpc>
                <a:spcPct val="150000"/>
              </a:lnSpc>
              <a:buNone/>
            </a:pPr>
            <a:r>
              <a:rPr lang="en-US" sz="2200" dirty="0">
                <a:highlight>
                  <a:srgbClr val="FFFF00"/>
                </a:highlight>
                <a:latin typeface="Calibir"/>
              </a:rPr>
              <a:t>    for (int </a:t>
            </a:r>
            <a:r>
              <a:rPr lang="en-US" sz="2200" dirty="0" err="1">
                <a:highlight>
                  <a:srgbClr val="FFFF00"/>
                </a:highlight>
                <a:latin typeface="Calibir"/>
              </a:rPr>
              <a:t>i</a:t>
            </a:r>
            <a:r>
              <a:rPr lang="en-US" sz="2200" dirty="0">
                <a:highlight>
                  <a:srgbClr val="FFFF00"/>
                </a:highlight>
                <a:latin typeface="Calibir"/>
              </a:rPr>
              <a:t> = 0; </a:t>
            </a:r>
            <a:r>
              <a:rPr lang="en-US" sz="2200" dirty="0" err="1">
                <a:highlight>
                  <a:srgbClr val="FFFF00"/>
                </a:highlight>
                <a:latin typeface="Calibir"/>
              </a:rPr>
              <a:t>i</a:t>
            </a:r>
            <a:r>
              <a:rPr lang="en-US" sz="2200" dirty="0">
                <a:highlight>
                  <a:srgbClr val="FFFF00"/>
                </a:highlight>
                <a:latin typeface="Calibir"/>
              </a:rPr>
              <a:t> &lt; </a:t>
            </a:r>
            <a:r>
              <a:rPr lang="en-US" sz="2200" dirty="0" err="1">
                <a:highlight>
                  <a:srgbClr val="FFFF00"/>
                </a:highlight>
                <a:latin typeface="Calibir"/>
              </a:rPr>
              <a:t>numbers.length</a:t>
            </a:r>
            <a:r>
              <a:rPr lang="en-US" sz="2200" dirty="0">
                <a:highlight>
                  <a:srgbClr val="FFFF00"/>
                </a:highlight>
                <a:latin typeface="Calibir"/>
              </a:rPr>
              <a:t>; </a:t>
            </a:r>
            <a:r>
              <a:rPr lang="en-US" sz="2200" dirty="0" err="1">
                <a:highlight>
                  <a:srgbClr val="FFFF00"/>
                </a:highlight>
                <a:latin typeface="Calibir"/>
              </a:rPr>
              <a:t>i</a:t>
            </a:r>
            <a:r>
              <a:rPr lang="en-US" sz="2200" dirty="0">
                <a:highlight>
                  <a:srgbClr val="FFFF00"/>
                </a:highlight>
                <a:latin typeface="Calibir"/>
              </a:rPr>
              <a:t>++) {</a:t>
            </a:r>
          </a:p>
          <a:p>
            <a:pPr rtl="0">
              <a:lnSpc>
                <a:spcPct val="150000"/>
              </a:lnSpc>
              <a:buNone/>
            </a:pPr>
            <a:r>
              <a:rPr lang="en-US" sz="2200" dirty="0">
                <a:highlight>
                  <a:srgbClr val="FFFF00"/>
                </a:highlight>
                <a:latin typeface="Calibir"/>
              </a:rPr>
              <a:t>        numbers[</a:t>
            </a:r>
            <a:r>
              <a:rPr lang="en-US" sz="2200" dirty="0" err="1">
                <a:highlight>
                  <a:srgbClr val="FFFF00"/>
                </a:highlight>
                <a:latin typeface="Calibir"/>
              </a:rPr>
              <a:t>i</a:t>
            </a:r>
            <a:r>
              <a:rPr lang="en-US" sz="2200" dirty="0">
                <a:highlight>
                  <a:srgbClr val="FFFF00"/>
                </a:highlight>
                <a:latin typeface="Calibir"/>
              </a:rPr>
              <a:t>] =</a:t>
            </a:r>
          </a:p>
          <a:p>
            <a:pPr rtl="0">
              <a:lnSpc>
                <a:spcPct val="150000"/>
              </a:lnSpc>
              <a:buNone/>
            </a:pPr>
            <a:r>
              <a:rPr lang="en-US" sz="2200" dirty="0">
                <a:highlight>
                  <a:srgbClr val="FFFF00"/>
                </a:highlight>
                <a:latin typeface="Calibir"/>
              </a:rPr>
              <a:t>                </a:t>
            </a:r>
            <a:r>
              <a:rPr lang="en-US" sz="2200" dirty="0" err="1">
                <a:highlight>
                  <a:srgbClr val="FFFF00"/>
                </a:highlight>
                <a:latin typeface="Calibir"/>
              </a:rPr>
              <a:t>random.nextInt</a:t>
            </a:r>
            <a:r>
              <a:rPr lang="en-US" sz="2200" dirty="0">
                <a:highlight>
                  <a:srgbClr val="FFFF00"/>
                </a:highlight>
                <a:latin typeface="Calibir"/>
              </a:rPr>
              <a:t>(101);</a:t>
            </a:r>
          </a:p>
          <a:p>
            <a:pPr rtl="0">
              <a:lnSpc>
                <a:spcPct val="150000"/>
              </a:lnSpc>
              <a:buNone/>
            </a:pPr>
            <a:r>
              <a:rPr lang="en-US" sz="2200" dirty="0">
                <a:highlight>
                  <a:srgbClr val="FFFF00"/>
                </a:highlight>
                <a:latin typeface="Calibir"/>
              </a:rPr>
              <a:t>    }</a:t>
            </a:r>
          </a:p>
          <a:p>
            <a:pPr rtl="0">
              <a:lnSpc>
                <a:spcPct val="150000"/>
              </a:lnSpc>
              <a:buNone/>
            </a:pPr>
            <a:r>
              <a:rPr lang="en-US" sz="2200" dirty="0">
                <a:highlight>
                  <a:srgbClr val="FFFF00"/>
                </a:highlight>
                <a:latin typeface="Calibir"/>
              </a:rPr>
              <a:t>    return numbers;</a:t>
            </a:r>
          </a:p>
          <a:p>
            <a:pPr rtl="0">
              <a:lnSpc>
                <a:spcPct val="150000"/>
              </a:lnSpc>
              <a:buNone/>
            </a:pPr>
            <a:r>
              <a:rPr lang="en-US" sz="2200" dirty="0">
                <a:highlight>
                  <a:srgbClr val="FFFF00"/>
                </a:highlight>
                <a:latin typeface="Calibir"/>
              </a:rPr>
              <a:t>}</a:t>
            </a:r>
          </a:p>
          <a:p>
            <a:pPr>
              <a:lnSpc>
                <a:spcPct val="150000"/>
              </a:lnSpc>
              <a:buNone/>
            </a:pPr>
            <a:r>
              <a:rPr lang="en-US" sz="2200" dirty="0">
                <a:latin typeface="Calibir"/>
              </a:rPr>
              <a:t>Why 101? </a:t>
            </a:r>
            <a:r>
              <a:rPr lang="en-US" sz="2200" dirty="0" err="1">
                <a:latin typeface="Calibir"/>
              </a:rPr>
              <a:t>random.nextInt</a:t>
            </a:r>
            <a:r>
              <a:rPr lang="en-US" sz="2200" dirty="0">
                <a:latin typeface="Calibir"/>
              </a:rPr>
              <a:t>(101)</a:t>
            </a:r>
          </a:p>
          <a:p>
            <a:pPr>
              <a:lnSpc>
                <a:spcPct val="150000"/>
              </a:lnSpc>
              <a:buNone/>
            </a:pPr>
            <a:r>
              <a:rPr lang="en-US" sz="2200" dirty="0">
                <a:latin typeface="Calibir"/>
              </a:rPr>
              <a:t>produces: 0 through 100</a:t>
            </a:r>
          </a:p>
        </p:txBody>
      </p:sp>
    </p:spTree>
    <p:extLst>
      <p:ext uri="{BB962C8B-B14F-4D97-AF65-F5344CB8AC3E}">
        <p14:creationId xmlns:p14="http://schemas.microsoft.com/office/powerpoint/2010/main" val="120574518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3E1DD3B-5178-5B3C-32CE-575AD52289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D126860-F123-68DA-7B96-C5F8BE8DC114}"/>
              </a:ext>
            </a:extLst>
          </p:cNvPr>
          <p:cNvSpPr txBox="1"/>
          <p:nvPr/>
        </p:nvSpPr>
        <p:spPr>
          <a:xfrm>
            <a:off x="0" y="108155"/>
            <a:ext cx="6098458" cy="6031908"/>
          </a:xfrm>
          <a:prstGeom prst="rect">
            <a:avLst/>
          </a:prstGeom>
          <a:noFill/>
        </p:spPr>
        <p:txBody>
          <a:bodyPr wrap="square">
            <a:spAutoFit/>
          </a:bodyPr>
          <a:lstStyle/>
          <a:p>
            <a:pPr>
              <a:lnSpc>
                <a:spcPct val="150000"/>
              </a:lnSpc>
            </a:pPr>
            <a:r>
              <a:rPr lang="en-US" sz="2600" b="1" dirty="0">
                <a:latin typeface="Calibir"/>
              </a:rPr>
              <a:t>Step 2 — Calculate mean</a:t>
            </a:r>
          </a:p>
          <a:p>
            <a:pPr>
              <a:lnSpc>
                <a:spcPct val="150000"/>
              </a:lnSpc>
            </a:pPr>
            <a:r>
              <a:rPr lang="en-US" sz="2600" dirty="0">
                <a:highlight>
                  <a:srgbClr val="FFFF00"/>
                </a:highlight>
                <a:latin typeface="Calibir"/>
              </a:rPr>
              <a:t>public static double </a:t>
            </a:r>
            <a:r>
              <a:rPr lang="en-US" sz="2600" dirty="0" err="1">
                <a:highlight>
                  <a:srgbClr val="FFFF00"/>
                </a:highlight>
                <a:latin typeface="Calibir"/>
              </a:rPr>
              <a:t>calculateMean</a:t>
            </a:r>
            <a:r>
              <a:rPr lang="en-US" sz="2600" dirty="0">
                <a:highlight>
                  <a:srgbClr val="FFFF00"/>
                </a:highlight>
                <a:latin typeface="Calibir"/>
              </a:rPr>
              <a:t>(</a:t>
            </a:r>
          </a:p>
          <a:p>
            <a:pPr>
              <a:lnSpc>
                <a:spcPct val="150000"/>
              </a:lnSpc>
            </a:pPr>
            <a:r>
              <a:rPr lang="en-US" sz="2600" dirty="0">
                <a:highlight>
                  <a:srgbClr val="FFFF00"/>
                </a:highlight>
                <a:latin typeface="Calibir"/>
              </a:rPr>
              <a:t>        int[] numbers) {</a:t>
            </a:r>
          </a:p>
          <a:p>
            <a:pPr>
              <a:lnSpc>
                <a:spcPct val="150000"/>
              </a:lnSpc>
            </a:pPr>
            <a:r>
              <a:rPr lang="en-US" sz="2600" dirty="0">
                <a:highlight>
                  <a:srgbClr val="FFFF00"/>
                </a:highlight>
                <a:latin typeface="Calibir"/>
              </a:rPr>
              <a:t>    int total = 0;</a:t>
            </a:r>
          </a:p>
          <a:p>
            <a:pPr>
              <a:lnSpc>
                <a:spcPct val="150000"/>
              </a:lnSpc>
            </a:pPr>
            <a:r>
              <a:rPr lang="en-US" sz="2600" dirty="0">
                <a:highlight>
                  <a:srgbClr val="FFFF00"/>
                </a:highlight>
                <a:latin typeface="Calibir"/>
              </a:rPr>
              <a:t>    for (int number : numbers) {</a:t>
            </a:r>
          </a:p>
          <a:p>
            <a:pPr>
              <a:lnSpc>
                <a:spcPct val="150000"/>
              </a:lnSpc>
            </a:pPr>
            <a:r>
              <a:rPr lang="en-US" sz="2600" dirty="0">
                <a:highlight>
                  <a:srgbClr val="FFFF00"/>
                </a:highlight>
                <a:latin typeface="Calibir"/>
              </a:rPr>
              <a:t>        total += number;</a:t>
            </a:r>
          </a:p>
          <a:p>
            <a:pPr>
              <a:lnSpc>
                <a:spcPct val="150000"/>
              </a:lnSpc>
            </a:pPr>
            <a:r>
              <a:rPr lang="en-US" sz="2600" dirty="0">
                <a:highlight>
                  <a:srgbClr val="FFFF00"/>
                </a:highlight>
                <a:latin typeface="Calibir"/>
              </a:rPr>
              <a:t>    }</a:t>
            </a:r>
          </a:p>
          <a:p>
            <a:pPr>
              <a:lnSpc>
                <a:spcPct val="150000"/>
              </a:lnSpc>
            </a:pPr>
            <a:r>
              <a:rPr lang="en-US" sz="2600" dirty="0">
                <a:highlight>
                  <a:srgbClr val="FFFF00"/>
                </a:highlight>
                <a:latin typeface="Calibir"/>
              </a:rPr>
              <a:t>    return (double) total</a:t>
            </a:r>
          </a:p>
          <a:p>
            <a:pPr>
              <a:lnSpc>
                <a:spcPct val="150000"/>
              </a:lnSpc>
            </a:pPr>
            <a:r>
              <a:rPr lang="en-US" sz="2600" dirty="0">
                <a:highlight>
                  <a:srgbClr val="FFFF00"/>
                </a:highlight>
                <a:latin typeface="Calibir"/>
              </a:rPr>
              <a:t>            / </a:t>
            </a:r>
            <a:r>
              <a:rPr lang="en-US" sz="2600" dirty="0" err="1">
                <a:highlight>
                  <a:srgbClr val="FFFF00"/>
                </a:highlight>
                <a:latin typeface="Calibir"/>
              </a:rPr>
              <a:t>numbers.length</a:t>
            </a:r>
            <a:r>
              <a:rPr lang="en-US" sz="2600" dirty="0">
                <a:highlight>
                  <a:srgbClr val="FFFF00"/>
                </a:highlight>
                <a:latin typeface="Calibir"/>
              </a:rPr>
              <a:t>;</a:t>
            </a:r>
          </a:p>
          <a:p>
            <a:pPr>
              <a:lnSpc>
                <a:spcPct val="150000"/>
              </a:lnSpc>
            </a:pPr>
            <a:r>
              <a:rPr lang="en-US" sz="2600" dirty="0">
                <a:highlight>
                  <a:srgbClr val="FFFF00"/>
                </a:highlight>
                <a:latin typeface="Calibir"/>
              </a:rPr>
              <a:t>}</a:t>
            </a:r>
          </a:p>
        </p:txBody>
      </p:sp>
    </p:spTree>
    <p:extLst>
      <p:ext uri="{BB962C8B-B14F-4D97-AF65-F5344CB8AC3E}">
        <p14:creationId xmlns:p14="http://schemas.microsoft.com/office/powerpoint/2010/main" val="179683115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C81E320-3336-BF6A-4ACF-450B6D8BD42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26AAA1-DAD0-1D5F-B706-6217F86D4C67}"/>
              </a:ext>
            </a:extLst>
          </p:cNvPr>
          <p:cNvSpPr txBox="1"/>
          <p:nvPr/>
        </p:nvSpPr>
        <p:spPr>
          <a:xfrm>
            <a:off x="0" y="108155"/>
            <a:ext cx="6098458" cy="6722866"/>
          </a:xfrm>
          <a:prstGeom prst="rect">
            <a:avLst/>
          </a:prstGeom>
          <a:noFill/>
        </p:spPr>
        <p:txBody>
          <a:bodyPr wrap="square">
            <a:spAutoFit/>
          </a:bodyPr>
          <a:lstStyle/>
          <a:p>
            <a:pPr>
              <a:lnSpc>
                <a:spcPct val="150000"/>
              </a:lnSpc>
            </a:pPr>
            <a:r>
              <a:rPr lang="en-US" sz="1700" b="1" dirty="0">
                <a:latin typeface="Calibir"/>
              </a:rPr>
              <a:t>Step 3 — Calculate standard deviation</a:t>
            </a:r>
          </a:p>
          <a:p>
            <a:pPr>
              <a:lnSpc>
                <a:spcPct val="150000"/>
              </a:lnSpc>
            </a:pPr>
            <a:r>
              <a:rPr lang="en-US" sz="1700" dirty="0">
                <a:highlight>
                  <a:srgbClr val="FFFF00"/>
                </a:highlight>
                <a:latin typeface="Calibir"/>
              </a:rPr>
              <a:t>public static double </a:t>
            </a:r>
            <a:r>
              <a:rPr lang="en-US" sz="1700" dirty="0" err="1">
                <a:highlight>
                  <a:srgbClr val="FFFF00"/>
                </a:highlight>
                <a:latin typeface="Calibir"/>
              </a:rPr>
              <a:t>calculateStandardDeviation</a:t>
            </a:r>
            <a:r>
              <a:rPr lang="en-US" sz="1700" dirty="0">
                <a:highlight>
                  <a:srgbClr val="FFFF00"/>
                </a:highlight>
                <a:latin typeface="Calibir"/>
              </a:rPr>
              <a:t>(</a:t>
            </a:r>
          </a:p>
          <a:p>
            <a:pPr>
              <a:lnSpc>
                <a:spcPct val="150000"/>
              </a:lnSpc>
            </a:pPr>
            <a:r>
              <a:rPr lang="en-US" sz="1700" dirty="0">
                <a:highlight>
                  <a:srgbClr val="FFFF00"/>
                </a:highlight>
                <a:latin typeface="Calibir"/>
              </a:rPr>
              <a:t>        int[] numbers) {</a:t>
            </a:r>
          </a:p>
          <a:p>
            <a:pPr>
              <a:lnSpc>
                <a:spcPct val="150000"/>
              </a:lnSpc>
            </a:pPr>
            <a:r>
              <a:rPr lang="en-US" sz="1700" dirty="0">
                <a:highlight>
                  <a:srgbClr val="FFFF00"/>
                </a:highlight>
                <a:latin typeface="Calibir"/>
              </a:rPr>
              <a:t>    double mean =</a:t>
            </a:r>
          </a:p>
          <a:p>
            <a:pPr>
              <a:lnSpc>
                <a:spcPct val="150000"/>
              </a:lnSpc>
            </a:pPr>
            <a:r>
              <a:rPr lang="en-US" sz="1700" dirty="0">
                <a:highlight>
                  <a:srgbClr val="FFFF00"/>
                </a:highlight>
                <a:latin typeface="Calibir"/>
              </a:rPr>
              <a:t>            </a:t>
            </a:r>
            <a:r>
              <a:rPr lang="en-US" sz="1700" dirty="0" err="1">
                <a:highlight>
                  <a:srgbClr val="FFFF00"/>
                </a:highlight>
                <a:latin typeface="Calibir"/>
              </a:rPr>
              <a:t>calculateMean</a:t>
            </a:r>
            <a:r>
              <a:rPr lang="en-US" sz="1700" dirty="0">
                <a:highlight>
                  <a:srgbClr val="FFFF00"/>
                </a:highlight>
                <a:latin typeface="Calibir"/>
              </a:rPr>
              <a:t>(numbers);</a:t>
            </a:r>
          </a:p>
          <a:p>
            <a:pPr>
              <a:lnSpc>
                <a:spcPct val="150000"/>
              </a:lnSpc>
            </a:pPr>
            <a:r>
              <a:rPr lang="en-US" sz="1700" dirty="0">
                <a:highlight>
                  <a:srgbClr val="FFFF00"/>
                </a:highlight>
                <a:latin typeface="Calibir"/>
              </a:rPr>
              <a:t>    double </a:t>
            </a:r>
            <a:r>
              <a:rPr lang="en-US" sz="1700" dirty="0" err="1">
                <a:highlight>
                  <a:srgbClr val="FFFF00"/>
                </a:highlight>
                <a:latin typeface="Calibir"/>
              </a:rPr>
              <a:t>totalSquaredDifference</a:t>
            </a:r>
            <a:r>
              <a:rPr lang="en-US" sz="1700" dirty="0">
                <a:highlight>
                  <a:srgbClr val="FFFF00"/>
                </a:highlight>
                <a:latin typeface="Calibir"/>
              </a:rPr>
              <a:t> = 0;</a:t>
            </a:r>
          </a:p>
          <a:p>
            <a:pPr>
              <a:lnSpc>
                <a:spcPct val="150000"/>
              </a:lnSpc>
            </a:pPr>
            <a:r>
              <a:rPr lang="en-US" sz="1700" dirty="0">
                <a:highlight>
                  <a:srgbClr val="FFFF00"/>
                </a:highlight>
                <a:latin typeface="Calibir"/>
              </a:rPr>
              <a:t>    for (int number : numbers) {</a:t>
            </a:r>
          </a:p>
          <a:p>
            <a:pPr>
              <a:lnSpc>
                <a:spcPct val="150000"/>
              </a:lnSpc>
            </a:pPr>
            <a:r>
              <a:rPr lang="en-US" sz="1700" dirty="0">
                <a:highlight>
                  <a:srgbClr val="FFFF00"/>
                </a:highlight>
                <a:latin typeface="Calibir"/>
              </a:rPr>
              <a:t>        double difference =</a:t>
            </a:r>
          </a:p>
          <a:p>
            <a:pPr>
              <a:lnSpc>
                <a:spcPct val="150000"/>
              </a:lnSpc>
            </a:pPr>
            <a:r>
              <a:rPr lang="en-US" sz="1700" dirty="0">
                <a:highlight>
                  <a:srgbClr val="FFFF00"/>
                </a:highlight>
                <a:latin typeface="Calibir"/>
              </a:rPr>
              <a:t>                number - mean;</a:t>
            </a:r>
          </a:p>
          <a:p>
            <a:pPr>
              <a:lnSpc>
                <a:spcPct val="150000"/>
              </a:lnSpc>
            </a:pPr>
            <a:r>
              <a:rPr lang="en-US" sz="1700" dirty="0">
                <a:highlight>
                  <a:srgbClr val="FFFF00"/>
                </a:highlight>
                <a:latin typeface="Calibir"/>
              </a:rPr>
              <a:t>        </a:t>
            </a:r>
            <a:r>
              <a:rPr lang="en-US" sz="1700" dirty="0" err="1">
                <a:highlight>
                  <a:srgbClr val="FFFF00"/>
                </a:highlight>
                <a:latin typeface="Calibir"/>
              </a:rPr>
              <a:t>totalSquaredDifference</a:t>
            </a:r>
            <a:r>
              <a:rPr lang="en-US" sz="1700" dirty="0">
                <a:highlight>
                  <a:srgbClr val="FFFF00"/>
                </a:highlight>
                <a:latin typeface="Calibir"/>
              </a:rPr>
              <a:t> +=</a:t>
            </a:r>
          </a:p>
          <a:p>
            <a:pPr>
              <a:lnSpc>
                <a:spcPct val="150000"/>
              </a:lnSpc>
            </a:pPr>
            <a:r>
              <a:rPr lang="en-US" sz="1700" dirty="0">
                <a:highlight>
                  <a:srgbClr val="FFFF00"/>
                </a:highlight>
                <a:latin typeface="Calibir"/>
              </a:rPr>
              <a:t>                difference * difference;</a:t>
            </a:r>
          </a:p>
          <a:p>
            <a:pPr>
              <a:lnSpc>
                <a:spcPct val="150000"/>
              </a:lnSpc>
            </a:pPr>
            <a:r>
              <a:rPr lang="en-US" sz="1700" dirty="0">
                <a:highlight>
                  <a:srgbClr val="FFFF00"/>
                </a:highlight>
                <a:latin typeface="Calibir"/>
              </a:rPr>
              <a:t>    }</a:t>
            </a:r>
          </a:p>
          <a:p>
            <a:pPr>
              <a:lnSpc>
                <a:spcPct val="150000"/>
              </a:lnSpc>
            </a:pPr>
            <a:r>
              <a:rPr lang="en-US" sz="1700" dirty="0">
                <a:highlight>
                  <a:srgbClr val="FFFF00"/>
                </a:highlight>
                <a:latin typeface="Calibir"/>
              </a:rPr>
              <a:t>    double variance =</a:t>
            </a:r>
          </a:p>
          <a:p>
            <a:pPr>
              <a:lnSpc>
                <a:spcPct val="150000"/>
              </a:lnSpc>
            </a:pPr>
            <a:r>
              <a:rPr lang="en-US" sz="1700" dirty="0">
                <a:highlight>
                  <a:srgbClr val="FFFF00"/>
                </a:highlight>
                <a:latin typeface="Calibir"/>
              </a:rPr>
              <a:t>            </a:t>
            </a:r>
            <a:r>
              <a:rPr lang="en-US" sz="1700" dirty="0" err="1">
                <a:highlight>
                  <a:srgbClr val="FFFF00"/>
                </a:highlight>
                <a:latin typeface="Calibir"/>
              </a:rPr>
              <a:t>totalSquaredDifference</a:t>
            </a:r>
            <a:endParaRPr lang="en-US" sz="1700" dirty="0">
              <a:highlight>
                <a:srgbClr val="FFFF00"/>
              </a:highlight>
              <a:latin typeface="Calibir"/>
            </a:endParaRPr>
          </a:p>
          <a:p>
            <a:pPr>
              <a:lnSpc>
                <a:spcPct val="150000"/>
              </a:lnSpc>
            </a:pPr>
            <a:r>
              <a:rPr lang="en-US" sz="1700" dirty="0">
                <a:highlight>
                  <a:srgbClr val="FFFF00"/>
                </a:highlight>
                <a:latin typeface="Calibir"/>
              </a:rPr>
              <a:t>            / </a:t>
            </a:r>
            <a:r>
              <a:rPr lang="en-US" sz="1700" dirty="0" err="1">
                <a:highlight>
                  <a:srgbClr val="FFFF00"/>
                </a:highlight>
                <a:latin typeface="Calibir"/>
              </a:rPr>
              <a:t>numbers.length</a:t>
            </a:r>
            <a:r>
              <a:rPr lang="en-US" sz="1700" dirty="0">
                <a:highlight>
                  <a:srgbClr val="FFFF00"/>
                </a:highlight>
                <a:latin typeface="Calibir"/>
              </a:rPr>
              <a:t>;</a:t>
            </a:r>
          </a:p>
          <a:p>
            <a:pPr>
              <a:lnSpc>
                <a:spcPct val="150000"/>
              </a:lnSpc>
            </a:pPr>
            <a:r>
              <a:rPr lang="en-US" sz="1700" dirty="0">
                <a:highlight>
                  <a:srgbClr val="FFFF00"/>
                </a:highlight>
                <a:latin typeface="Calibir"/>
              </a:rPr>
              <a:t>    return </a:t>
            </a:r>
            <a:r>
              <a:rPr lang="en-US" sz="1700" dirty="0" err="1">
                <a:highlight>
                  <a:srgbClr val="FFFF00"/>
                </a:highlight>
                <a:latin typeface="Calibir"/>
              </a:rPr>
              <a:t>Math.sqrt</a:t>
            </a:r>
            <a:r>
              <a:rPr lang="en-US" sz="1700" dirty="0">
                <a:highlight>
                  <a:srgbClr val="FFFF00"/>
                </a:highlight>
                <a:latin typeface="Calibir"/>
              </a:rPr>
              <a:t>(variance);</a:t>
            </a:r>
          </a:p>
          <a:p>
            <a:pPr>
              <a:lnSpc>
                <a:spcPct val="150000"/>
              </a:lnSpc>
            </a:pPr>
            <a:r>
              <a:rPr lang="en-US" sz="1700" dirty="0">
                <a:highlight>
                  <a:srgbClr val="FFFF00"/>
                </a:highlight>
                <a:latin typeface="Calibir"/>
              </a:rPr>
              <a:t>}</a:t>
            </a:r>
          </a:p>
        </p:txBody>
      </p:sp>
    </p:spTree>
    <p:extLst>
      <p:ext uri="{BB962C8B-B14F-4D97-AF65-F5344CB8AC3E}">
        <p14:creationId xmlns:p14="http://schemas.microsoft.com/office/powerpoint/2010/main" val="23972824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DD3705F-7B55-3625-D42D-1E368C6AD1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F5AC7A-F91F-B36D-64BE-80D81474DC17}"/>
              </a:ext>
            </a:extLst>
          </p:cNvPr>
          <p:cNvSpPr txBox="1"/>
          <p:nvPr/>
        </p:nvSpPr>
        <p:spPr>
          <a:xfrm>
            <a:off x="0" y="108155"/>
            <a:ext cx="6098458" cy="6281848"/>
          </a:xfrm>
          <a:prstGeom prst="rect">
            <a:avLst/>
          </a:prstGeom>
          <a:noFill/>
        </p:spPr>
        <p:txBody>
          <a:bodyPr wrap="square">
            <a:spAutoFit/>
          </a:bodyPr>
          <a:lstStyle/>
          <a:p>
            <a:pPr>
              <a:lnSpc>
                <a:spcPct val="150000"/>
              </a:lnSpc>
            </a:pPr>
            <a:r>
              <a:rPr lang="en-US" b="1" dirty="0">
                <a:latin typeface="Calibir"/>
              </a:rPr>
              <a:t>Step 4 — Show the results</a:t>
            </a:r>
          </a:p>
          <a:p>
            <a:pPr>
              <a:lnSpc>
                <a:spcPct val="150000"/>
              </a:lnSpc>
            </a:pPr>
            <a:r>
              <a:rPr lang="en-US" dirty="0">
                <a:highlight>
                  <a:srgbClr val="FFFF00"/>
                </a:highlight>
                <a:latin typeface="Calibir"/>
              </a:rPr>
              <a:t>public static void </a:t>
            </a:r>
            <a:r>
              <a:rPr lang="en-US" dirty="0" err="1">
                <a:highlight>
                  <a:srgbClr val="FFFF00"/>
                </a:highlight>
                <a:latin typeface="Calibir"/>
              </a:rPr>
              <a:t>showResults</a:t>
            </a:r>
            <a:r>
              <a:rPr lang="en-US" dirty="0">
                <a:highlight>
                  <a:srgbClr val="FFFF00"/>
                </a:highlight>
                <a:latin typeface="Calibir"/>
              </a:rPr>
              <a:t>(</a:t>
            </a:r>
          </a:p>
          <a:p>
            <a:pPr>
              <a:lnSpc>
                <a:spcPct val="150000"/>
              </a:lnSpc>
            </a:pPr>
            <a:r>
              <a:rPr lang="en-US" dirty="0">
                <a:highlight>
                  <a:srgbClr val="FFFF00"/>
                </a:highlight>
                <a:latin typeface="Calibir"/>
              </a:rPr>
              <a:t>        int[] numbers) {</a:t>
            </a:r>
          </a:p>
          <a:p>
            <a:pPr>
              <a:lnSpc>
                <a:spcPct val="150000"/>
              </a:lnSpc>
            </a:pPr>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pPr>
              <a:lnSpc>
                <a:spcPct val="150000"/>
              </a:lnSpc>
            </a:pPr>
            <a:r>
              <a:rPr lang="en-US" dirty="0">
                <a:highlight>
                  <a:srgbClr val="FFFF00"/>
                </a:highlight>
                <a:latin typeface="Calibir"/>
              </a:rPr>
              <a:t>        </a:t>
            </a:r>
            <a:r>
              <a:rPr lang="en-US" dirty="0" err="1">
                <a:highlight>
                  <a:srgbClr val="FFFF00"/>
                </a:highlight>
                <a:latin typeface="Calibir"/>
              </a:rPr>
              <a:t>Arrays.toString</a:t>
            </a:r>
            <a:r>
              <a:rPr lang="en-US" dirty="0">
                <a:highlight>
                  <a:srgbClr val="FFFF00"/>
                </a:highlight>
                <a:latin typeface="Calibir"/>
              </a:rPr>
              <a:t>(numbers)</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    </a:t>
            </a:r>
            <a:r>
              <a:rPr lang="en-US" dirty="0" err="1">
                <a:highlight>
                  <a:srgbClr val="FFFF00"/>
                </a:highlight>
                <a:latin typeface="Calibir"/>
              </a:rPr>
              <a:t>System.out.printf</a:t>
            </a:r>
            <a:r>
              <a:rPr lang="en-US" dirty="0">
                <a:highlight>
                  <a:srgbClr val="FFFF00"/>
                </a:highlight>
                <a:latin typeface="Calibir"/>
              </a:rPr>
              <a:t>(</a:t>
            </a:r>
          </a:p>
          <a:p>
            <a:pPr>
              <a:lnSpc>
                <a:spcPct val="150000"/>
              </a:lnSpc>
            </a:pPr>
            <a:r>
              <a:rPr lang="en-US" dirty="0">
                <a:highlight>
                  <a:srgbClr val="FFFF00"/>
                </a:highlight>
                <a:latin typeface="Calibir"/>
              </a:rPr>
              <a:t>        "Mean = %.2f%n",</a:t>
            </a:r>
          </a:p>
          <a:p>
            <a:pPr>
              <a:lnSpc>
                <a:spcPct val="150000"/>
              </a:lnSpc>
            </a:pPr>
            <a:r>
              <a:rPr lang="en-US" dirty="0">
                <a:highlight>
                  <a:srgbClr val="FFFF00"/>
                </a:highlight>
                <a:latin typeface="Calibir"/>
              </a:rPr>
              <a:t>        </a:t>
            </a:r>
            <a:r>
              <a:rPr lang="en-US" dirty="0" err="1">
                <a:highlight>
                  <a:srgbClr val="FFFF00"/>
                </a:highlight>
                <a:latin typeface="Calibir"/>
              </a:rPr>
              <a:t>calculateMean</a:t>
            </a:r>
            <a:r>
              <a:rPr lang="en-US" dirty="0">
                <a:highlight>
                  <a:srgbClr val="FFFF00"/>
                </a:highlight>
                <a:latin typeface="Calibir"/>
              </a:rPr>
              <a:t>(numbers)</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    </a:t>
            </a:r>
            <a:r>
              <a:rPr lang="en-US" dirty="0" err="1">
                <a:highlight>
                  <a:srgbClr val="FFFF00"/>
                </a:highlight>
                <a:latin typeface="Calibir"/>
              </a:rPr>
              <a:t>System.out.printf</a:t>
            </a:r>
            <a:r>
              <a:rPr lang="en-US" dirty="0">
                <a:highlight>
                  <a:srgbClr val="FFFF00"/>
                </a:highlight>
                <a:latin typeface="Calibir"/>
              </a:rPr>
              <a:t>(</a:t>
            </a:r>
          </a:p>
          <a:p>
            <a:pPr>
              <a:lnSpc>
                <a:spcPct val="150000"/>
              </a:lnSpc>
            </a:pPr>
            <a:r>
              <a:rPr lang="en-US" dirty="0">
                <a:highlight>
                  <a:srgbClr val="FFFF00"/>
                </a:highlight>
                <a:latin typeface="Calibir"/>
              </a:rPr>
              <a:t>        "Standard deviation = %.2f%n",</a:t>
            </a:r>
          </a:p>
          <a:p>
            <a:pPr>
              <a:lnSpc>
                <a:spcPct val="150000"/>
              </a:lnSpc>
            </a:pPr>
            <a:r>
              <a:rPr lang="en-US" dirty="0">
                <a:highlight>
                  <a:srgbClr val="FFFF00"/>
                </a:highlight>
                <a:latin typeface="Calibir"/>
              </a:rPr>
              <a:t>        </a:t>
            </a:r>
            <a:r>
              <a:rPr lang="en-US" dirty="0" err="1">
                <a:highlight>
                  <a:srgbClr val="FFFF00"/>
                </a:highlight>
                <a:latin typeface="Calibir"/>
              </a:rPr>
              <a:t>calculateStandardDeviation</a:t>
            </a:r>
            <a:r>
              <a:rPr lang="en-US" dirty="0">
                <a:highlight>
                  <a:srgbClr val="FFFF00"/>
                </a:highlight>
                <a:latin typeface="Calibir"/>
              </a:rPr>
              <a:t>(numbers)</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a:t>
            </a:r>
          </a:p>
        </p:txBody>
      </p:sp>
    </p:spTree>
    <p:extLst>
      <p:ext uri="{BB962C8B-B14F-4D97-AF65-F5344CB8AC3E}">
        <p14:creationId xmlns:p14="http://schemas.microsoft.com/office/powerpoint/2010/main" val="37137611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0DB73A5-E76C-9F19-9DA9-0C90E7E2C5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282AE5-93AC-E9E1-77A9-9A2C1551EC0C}"/>
              </a:ext>
            </a:extLst>
          </p:cNvPr>
          <p:cNvSpPr txBox="1"/>
          <p:nvPr/>
        </p:nvSpPr>
        <p:spPr>
          <a:xfrm>
            <a:off x="0" y="108155"/>
            <a:ext cx="6098458" cy="5693866"/>
          </a:xfrm>
          <a:prstGeom prst="rect">
            <a:avLst/>
          </a:prstGeom>
          <a:noFill/>
        </p:spPr>
        <p:txBody>
          <a:bodyPr wrap="square">
            <a:spAutoFit/>
          </a:bodyPr>
          <a:lstStyle/>
          <a:p>
            <a:r>
              <a:rPr lang="en-US" sz="1400" b="1" dirty="0">
                <a:latin typeface="Calibir"/>
              </a:rPr>
              <a:t>Completed Java — Lab5Exc2.java</a:t>
            </a:r>
          </a:p>
          <a:p>
            <a:r>
              <a:rPr lang="en-US" sz="1400" dirty="0">
                <a:highlight>
                  <a:srgbClr val="FFFF00"/>
                </a:highlight>
                <a:latin typeface="Calibir"/>
              </a:rPr>
              <a:t>import </a:t>
            </a:r>
            <a:r>
              <a:rPr lang="en-US" sz="1400" dirty="0" err="1">
                <a:highlight>
                  <a:srgbClr val="FFFF00"/>
                </a:highlight>
                <a:latin typeface="Calibir"/>
              </a:rPr>
              <a:t>java.util.Arrays</a:t>
            </a:r>
            <a:r>
              <a:rPr lang="en-US" sz="1400" dirty="0">
                <a:highlight>
                  <a:srgbClr val="FFFF00"/>
                </a:highlight>
                <a:latin typeface="Calibir"/>
              </a:rPr>
              <a:t>;</a:t>
            </a:r>
          </a:p>
          <a:p>
            <a:r>
              <a:rPr lang="en-US" sz="1400" dirty="0">
                <a:highlight>
                  <a:srgbClr val="FFFF00"/>
                </a:highlight>
                <a:latin typeface="Calibir"/>
              </a:rPr>
              <a:t>import </a:t>
            </a:r>
            <a:r>
              <a:rPr lang="en-US" sz="1400" dirty="0" err="1">
                <a:highlight>
                  <a:srgbClr val="FFFF00"/>
                </a:highlight>
                <a:latin typeface="Calibir"/>
              </a:rPr>
              <a:t>java.util.Random</a:t>
            </a:r>
            <a:r>
              <a:rPr lang="en-US" sz="1400" dirty="0">
                <a:highlight>
                  <a:srgbClr val="FFFF00"/>
                </a:highlight>
                <a:latin typeface="Calibir"/>
              </a:rPr>
              <a:t>;</a:t>
            </a:r>
          </a:p>
          <a:p>
            <a:r>
              <a:rPr lang="en-US" sz="1400" dirty="0">
                <a:highlight>
                  <a:srgbClr val="FFFF00"/>
                </a:highlight>
                <a:latin typeface="Calibir"/>
              </a:rPr>
              <a:t>public class Lab5Exc2 {</a:t>
            </a:r>
          </a:p>
          <a:p>
            <a:r>
              <a:rPr lang="en-US" sz="1400" dirty="0">
                <a:highlight>
                  <a:srgbClr val="FFFF00"/>
                </a:highlight>
                <a:latin typeface="Calibir"/>
              </a:rPr>
              <a:t>    public static int[] </a:t>
            </a:r>
            <a:r>
              <a:rPr lang="en-US" sz="1400" dirty="0" err="1">
                <a:highlight>
                  <a:srgbClr val="FFFF00"/>
                </a:highlight>
                <a:latin typeface="Calibir"/>
              </a:rPr>
              <a:t>generateNumbers</a:t>
            </a:r>
            <a:r>
              <a:rPr lang="en-US" sz="1400" dirty="0">
                <a:highlight>
                  <a:srgbClr val="FFFF00"/>
                </a:highlight>
                <a:latin typeface="Calibir"/>
              </a:rPr>
              <a:t>() {</a:t>
            </a:r>
          </a:p>
          <a:p>
            <a:r>
              <a:rPr lang="en-US" sz="1400" dirty="0">
                <a:highlight>
                  <a:srgbClr val="FFFF00"/>
                </a:highlight>
                <a:latin typeface="Calibir"/>
              </a:rPr>
              <a:t>        Random </a:t>
            </a:r>
            <a:r>
              <a:rPr lang="en-US" sz="1400" dirty="0" err="1">
                <a:highlight>
                  <a:srgbClr val="FFFF00"/>
                </a:highlight>
                <a:latin typeface="Calibir"/>
              </a:rPr>
              <a:t>random</a:t>
            </a:r>
            <a:r>
              <a:rPr lang="en-US" sz="1400" dirty="0">
                <a:highlight>
                  <a:srgbClr val="FFFF00"/>
                </a:highlight>
                <a:latin typeface="Calibir"/>
              </a:rPr>
              <a:t> = new Random();</a:t>
            </a:r>
          </a:p>
          <a:p>
            <a:r>
              <a:rPr lang="en-US" sz="1400" dirty="0">
                <a:highlight>
                  <a:srgbClr val="FFFF00"/>
                </a:highlight>
                <a:latin typeface="Calibir"/>
              </a:rPr>
              <a:t>        int[] numbers = new int[20];</a:t>
            </a:r>
          </a:p>
          <a:p>
            <a:r>
              <a:rPr lang="en-US" sz="1400" dirty="0">
                <a:highlight>
                  <a:srgbClr val="FFFF00"/>
                </a:highlight>
                <a:latin typeface="Calibir"/>
              </a:rPr>
              <a:t>        for (</a:t>
            </a:r>
          </a:p>
          <a:p>
            <a:r>
              <a:rPr lang="en-US" sz="1400" dirty="0">
                <a:highlight>
                  <a:srgbClr val="FFFF00"/>
                </a:highlight>
                <a:latin typeface="Calibir"/>
              </a:rPr>
              <a:t>            int </a:t>
            </a:r>
            <a:r>
              <a:rPr lang="en-US" sz="1400" dirty="0" err="1">
                <a:highlight>
                  <a:srgbClr val="FFFF00"/>
                </a:highlight>
                <a:latin typeface="Calibir"/>
              </a:rPr>
              <a:t>i</a:t>
            </a:r>
            <a:r>
              <a:rPr lang="en-US" sz="1400" dirty="0">
                <a:highlight>
                  <a:srgbClr val="FFFF00"/>
                </a:highlight>
                <a:latin typeface="Calibir"/>
              </a:rPr>
              <a:t> = 0;</a:t>
            </a:r>
          </a:p>
          <a:p>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 &lt; </a:t>
            </a:r>
            <a:r>
              <a:rPr lang="en-US" sz="1400" dirty="0" err="1">
                <a:highlight>
                  <a:srgbClr val="FFFF00"/>
                </a:highlight>
                <a:latin typeface="Calibir"/>
              </a:rPr>
              <a:t>numbers.length</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a:t>
            </a:r>
          </a:p>
          <a:p>
            <a:r>
              <a:rPr lang="en-US" sz="1400" dirty="0">
                <a:highlight>
                  <a:srgbClr val="FFFF00"/>
                </a:highlight>
                <a:latin typeface="Calibir"/>
              </a:rPr>
              <a:t>        ) {</a:t>
            </a:r>
          </a:p>
          <a:p>
            <a:r>
              <a:rPr lang="en-US" sz="1400" dirty="0">
                <a:highlight>
                  <a:srgbClr val="FFFF00"/>
                </a:highlight>
                <a:latin typeface="Calibir"/>
              </a:rPr>
              <a:t>            numbers[</a:t>
            </a:r>
            <a:r>
              <a:rPr lang="en-US" sz="1400" dirty="0" err="1">
                <a:highlight>
                  <a:srgbClr val="FFFF00"/>
                </a:highlight>
                <a:latin typeface="Calibir"/>
              </a:rPr>
              <a:t>i</a:t>
            </a:r>
            <a:r>
              <a:rPr lang="en-US" sz="1400" dirty="0">
                <a:highlight>
                  <a:srgbClr val="FFFF00"/>
                </a:highlight>
                <a:latin typeface="Calibir"/>
              </a:rPr>
              <a:t>] =</a:t>
            </a:r>
          </a:p>
          <a:p>
            <a:r>
              <a:rPr lang="en-US" sz="1400" dirty="0">
                <a:highlight>
                  <a:srgbClr val="FFFF00"/>
                </a:highlight>
                <a:latin typeface="Calibir"/>
              </a:rPr>
              <a:t>                    </a:t>
            </a:r>
            <a:r>
              <a:rPr lang="en-US" sz="1400" dirty="0" err="1">
                <a:highlight>
                  <a:srgbClr val="FFFF00"/>
                </a:highlight>
                <a:latin typeface="Calibir"/>
              </a:rPr>
              <a:t>random.nextInt</a:t>
            </a:r>
            <a:r>
              <a:rPr lang="en-US" sz="1400" dirty="0">
                <a:highlight>
                  <a:srgbClr val="FFFF00"/>
                </a:highlight>
                <a:latin typeface="Calibir"/>
              </a:rPr>
              <a:t>(101);</a:t>
            </a:r>
          </a:p>
          <a:p>
            <a:r>
              <a:rPr lang="en-US" sz="1400" dirty="0">
                <a:highlight>
                  <a:srgbClr val="FFFF00"/>
                </a:highlight>
                <a:latin typeface="Calibir"/>
              </a:rPr>
              <a:t>        }</a:t>
            </a:r>
          </a:p>
          <a:p>
            <a:r>
              <a:rPr lang="en-US" sz="1400" dirty="0">
                <a:highlight>
                  <a:srgbClr val="FFFF00"/>
                </a:highlight>
                <a:latin typeface="Calibir"/>
              </a:rPr>
              <a:t>        return numbers;</a:t>
            </a:r>
          </a:p>
          <a:p>
            <a:r>
              <a:rPr lang="en-US" sz="1400" dirty="0">
                <a:highlight>
                  <a:srgbClr val="FFFF00"/>
                </a:highlight>
                <a:latin typeface="Calibir"/>
              </a:rPr>
              <a:t>    }</a:t>
            </a:r>
          </a:p>
          <a:p>
            <a:r>
              <a:rPr lang="en-US" sz="1400" dirty="0">
                <a:highlight>
                  <a:srgbClr val="FFFF00"/>
                </a:highlight>
                <a:latin typeface="Calibir"/>
              </a:rPr>
              <a:t>    public static double </a:t>
            </a:r>
            <a:r>
              <a:rPr lang="en-US" sz="1400" dirty="0" err="1">
                <a:highlight>
                  <a:srgbClr val="FFFF00"/>
                </a:highlight>
                <a:latin typeface="Calibir"/>
              </a:rPr>
              <a:t>calculateMean</a:t>
            </a:r>
            <a:r>
              <a:rPr lang="en-US" sz="1400" dirty="0">
                <a:highlight>
                  <a:srgbClr val="FFFF00"/>
                </a:highlight>
                <a:latin typeface="Calibir"/>
              </a:rPr>
              <a:t>(</a:t>
            </a:r>
          </a:p>
          <a:p>
            <a:r>
              <a:rPr lang="en-US" sz="1400" dirty="0">
                <a:highlight>
                  <a:srgbClr val="FFFF00"/>
                </a:highlight>
                <a:latin typeface="Calibir"/>
              </a:rPr>
              <a:t>            int[] numbers) {</a:t>
            </a:r>
          </a:p>
          <a:p>
            <a:r>
              <a:rPr lang="en-US" sz="1400" dirty="0">
                <a:highlight>
                  <a:srgbClr val="FFFF00"/>
                </a:highlight>
                <a:latin typeface="Calibir"/>
              </a:rPr>
              <a:t>        int total = 0;</a:t>
            </a:r>
          </a:p>
          <a:p>
            <a:r>
              <a:rPr lang="en-US" sz="1400" dirty="0">
                <a:highlight>
                  <a:srgbClr val="FFFF00"/>
                </a:highlight>
                <a:latin typeface="Calibir"/>
              </a:rPr>
              <a:t>        for (int number : numbers) {</a:t>
            </a:r>
          </a:p>
          <a:p>
            <a:r>
              <a:rPr lang="en-US" sz="1400" dirty="0">
                <a:highlight>
                  <a:srgbClr val="FFFF00"/>
                </a:highlight>
                <a:latin typeface="Calibir"/>
              </a:rPr>
              <a:t>            total += number;</a:t>
            </a:r>
          </a:p>
          <a:p>
            <a:r>
              <a:rPr lang="en-US" sz="1400" dirty="0">
                <a:highlight>
                  <a:srgbClr val="FFFF00"/>
                </a:highlight>
                <a:latin typeface="Calibir"/>
              </a:rPr>
              <a:t>        }</a:t>
            </a:r>
          </a:p>
          <a:p>
            <a:r>
              <a:rPr lang="en-US" sz="1400" dirty="0">
                <a:highlight>
                  <a:srgbClr val="FFFF00"/>
                </a:highlight>
                <a:latin typeface="Calibir"/>
              </a:rPr>
              <a:t>        return (double) total</a:t>
            </a:r>
          </a:p>
          <a:p>
            <a:r>
              <a:rPr lang="en-US" sz="1400" dirty="0">
                <a:highlight>
                  <a:srgbClr val="FFFF00"/>
                </a:highlight>
                <a:latin typeface="Calibir"/>
              </a:rPr>
              <a:t>                / </a:t>
            </a:r>
            <a:r>
              <a:rPr lang="en-US" sz="1400" dirty="0" err="1">
                <a:highlight>
                  <a:srgbClr val="FFFF00"/>
                </a:highlight>
                <a:latin typeface="Calibir"/>
              </a:rPr>
              <a:t>numbers.length</a:t>
            </a:r>
            <a:r>
              <a:rPr lang="en-US" sz="1400" dirty="0">
                <a:highlight>
                  <a:srgbClr val="FFFF00"/>
                </a:highlight>
                <a:latin typeface="Calibir"/>
              </a:rPr>
              <a:t>;</a:t>
            </a:r>
          </a:p>
          <a:p>
            <a:r>
              <a:rPr lang="en-US" sz="1400" dirty="0">
                <a:highlight>
                  <a:srgbClr val="FFFF00"/>
                </a:highlight>
                <a:latin typeface="Calibir"/>
              </a:rPr>
              <a:t>    }</a:t>
            </a:r>
          </a:p>
        </p:txBody>
      </p:sp>
    </p:spTree>
    <p:extLst>
      <p:ext uri="{BB962C8B-B14F-4D97-AF65-F5344CB8AC3E}">
        <p14:creationId xmlns:p14="http://schemas.microsoft.com/office/powerpoint/2010/main" val="337621865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A308722-95B6-0AA5-F709-DDB5CF9AC8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14206C-ADE3-1FF8-3A67-6AF9EA9B4904}"/>
              </a:ext>
            </a:extLst>
          </p:cNvPr>
          <p:cNvSpPr txBox="1"/>
          <p:nvPr/>
        </p:nvSpPr>
        <p:spPr>
          <a:xfrm>
            <a:off x="0" y="19667"/>
            <a:ext cx="6098458" cy="6924973"/>
          </a:xfrm>
          <a:prstGeom prst="rect">
            <a:avLst/>
          </a:prstGeom>
          <a:noFill/>
        </p:spPr>
        <p:txBody>
          <a:bodyPr wrap="square">
            <a:spAutoFit/>
          </a:bodyPr>
          <a:lstStyle/>
          <a:p>
            <a:r>
              <a:rPr lang="en-US" sz="1200" dirty="0">
                <a:highlight>
                  <a:srgbClr val="FFFF00"/>
                </a:highlight>
                <a:latin typeface="Calibir"/>
              </a:rPr>
              <a:t> public static double </a:t>
            </a:r>
            <a:r>
              <a:rPr lang="en-US" sz="1200" dirty="0" err="1">
                <a:highlight>
                  <a:srgbClr val="FFFF00"/>
                </a:highlight>
                <a:latin typeface="Calibir"/>
              </a:rPr>
              <a:t>calculateStandardDeviation</a:t>
            </a:r>
            <a:r>
              <a:rPr lang="en-US" sz="1200" dirty="0">
                <a:highlight>
                  <a:srgbClr val="FFFF00"/>
                </a:highlight>
                <a:latin typeface="Calibir"/>
              </a:rPr>
              <a:t>(</a:t>
            </a:r>
          </a:p>
          <a:p>
            <a:r>
              <a:rPr lang="en-US" sz="1200" dirty="0">
                <a:highlight>
                  <a:srgbClr val="FFFF00"/>
                </a:highlight>
                <a:latin typeface="Calibir"/>
              </a:rPr>
              <a:t>            int[] numbers) {</a:t>
            </a:r>
          </a:p>
          <a:p>
            <a:r>
              <a:rPr lang="en-US" sz="1200" dirty="0">
                <a:highlight>
                  <a:srgbClr val="FFFF00"/>
                </a:highlight>
                <a:latin typeface="Calibir"/>
              </a:rPr>
              <a:t>        double mean =</a:t>
            </a:r>
          </a:p>
          <a:p>
            <a:r>
              <a:rPr lang="en-US" sz="1200" dirty="0">
                <a:highlight>
                  <a:srgbClr val="FFFF00"/>
                </a:highlight>
                <a:latin typeface="Calibir"/>
              </a:rPr>
              <a:t>                </a:t>
            </a:r>
            <a:r>
              <a:rPr lang="en-US" sz="1200" dirty="0" err="1">
                <a:highlight>
                  <a:srgbClr val="FFFF00"/>
                </a:highlight>
                <a:latin typeface="Calibir"/>
              </a:rPr>
              <a:t>calculateMean</a:t>
            </a:r>
            <a:r>
              <a:rPr lang="en-US" sz="1200" dirty="0">
                <a:highlight>
                  <a:srgbClr val="FFFF00"/>
                </a:highlight>
                <a:latin typeface="Calibir"/>
              </a:rPr>
              <a:t>(numbers);</a:t>
            </a:r>
          </a:p>
          <a:p>
            <a:r>
              <a:rPr lang="en-US" sz="1200" dirty="0">
                <a:highlight>
                  <a:srgbClr val="FFFF00"/>
                </a:highlight>
                <a:latin typeface="Calibir"/>
              </a:rPr>
              <a:t>        double </a:t>
            </a:r>
            <a:r>
              <a:rPr lang="en-US" sz="1200" dirty="0" err="1">
                <a:highlight>
                  <a:srgbClr val="FFFF00"/>
                </a:highlight>
                <a:latin typeface="Calibir"/>
              </a:rPr>
              <a:t>totalSquaredDifference</a:t>
            </a:r>
            <a:r>
              <a:rPr lang="en-US" sz="1200" dirty="0">
                <a:highlight>
                  <a:srgbClr val="FFFF00"/>
                </a:highlight>
                <a:latin typeface="Calibir"/>
              </a:rPr>
              <a:t> = 0;</a:t>
            </a:r>
          </a:p>
          <a:p>
            <a:r>
              <a:rPr lang="en-US" sz="1200" dirty="0">
                <a:highlight>
                  <a:srgbClr val="FFFF00"/>
                </a:highlight>
                <a:latin typeface="Calibir"/>
              </a:rPr>
              <a:t>        for (int number : numbers) {</a:t>
            </a:r>
          </a:p>
          <a:p>
            <a:r>
              <a:rPr lang="en-US" sz="1200" dirty="0">
                <a:highlight>
                  <a:srgbClr val="FFFF00"/>
                </a:highlight>
                <a:latin typeface="Calibir"/>
              </a:rPr>
              <a:t>            double difference =</a:t>
            </a:r>
          </a:p>
          <a:p>
            <a:r>
              <a:rPr lang="en-US" sz="1200" dirty="0">
                <a:highlight>
                  <a:srgbClr val="FFFF00"/>
                </a:highlight>
                <a:latin typeface="Calibir"/>
              </a:rPr>
              <a:t>                    number - mean;</a:t>
            </a:r>
          </a:p>
          <a:p>
            <a:r>
              <a:rPr lang="en-US" sz="1200" dirty="0">
                <a:highlight>
                  <a:srgbClr val="FFFF00"/>
                </a:highlight>
                <a:latin typeface="Calibir"/>
              </a:rPr>
              <a:t>            </a:t>
            </a:r>
            <a:r>
              <a:rPr lang="en-US" sz="1200" dirty="0" err="1">
                <a:highlight>
                  <a:srgbClr val="FFFF00"/>
                </a:highlight>
                <a:latin typeface="Calibir"/>
              </a:rPr>
              <a:t>totalSquaredDifference</a:t>
            </a:r>
            <a:r>
              <a:rPr lang="en-US" sz="1200" dirty="0">
                <a:highlight>
                  <a:srgbClr val="FFFF00"/>
                </a:highlight>
                <a:latin typeface="Calibir"/>
              </a:rPr>
              <a:t> +=</a:t>
            </a:r>
          </a:p>
          <a:p>
            <a:r>
              <a:rPr lang="en-US" sz="1200" dirty="0">
                <a:highlight>
                  <a:srgbClr val="FFFF00"/>
                </a:highlight>
                <a:latin typeface="Calibir"/>
              </a:rPr>
              <a:t>                    difference * difference;</a:t>
            </a:r>
          </a:p>
          <a:p>
            <a:r>
              <a:rPr lang="en-US" sz="1200" dirty="0">
                <a:highlight>
                  <a:srgbClr val="FFFF00"/>
                </a:highlight>
                <a:latin typeface="Calibir"/>
              </a:rPr>
              <a:t>        }</a:t>
            </a:r>
          </a:p>
          <a:p>
            <a:r>
              <a:rPr lang="en-US" sz="1200" dirty="0">
                <a:highlight>
                  <a:srgbClr val="FFFF00"/>
                </a:highlight>
                <a:latin typeface="Calibir"/>
              </a:rPr>
              <a:t>        double variance =</a:t>
            </a:r>
          </a:p>
          <a:p>
            <a:r>
              <a:rPr lang="en-US" sz="1200" dirty="0">
                <a:highlight>
                  <a:srgbClr val="FFFF00"/>
                </a:highlight>
                <a:latin typeface="Calibir"/>
              </a:rPr>
              <a:t>                </a:t>
            </a:r>
            <a:r>
              <a:rPr lang="en-US" sz="1200" dirty="0" err="1">
                <a:highlight>
                  <a:srgbClr val="FFFF00"/>
                </a:highlight>
                <a:latin typeface="Calibir"/>
              </a:rPr>
              <a:t>totalSquaredDifference</a:t>
            </a:r>
            <a:endParaRPr lang="en-US" sz="1200" dirty="0">
              <a:highlight>
                <a:srgbClr val="FFFF00"/>
              </a:highlight>
              <a:latin typeface="Calibir"/>
            </a:endParaRPr>
          </a:p>
          <a:p>
            <a:r>
              <a:rPr lang="en-US" sz="1200" dirty="0">
                <a:highlight>
                  <a:srgbClr val="FFFF00"/>
                </a:highlight>
                <a:latin typeface="Calibir"/>
              </a:rPr>
              <a:t>                / </a:t>
            </a:r>
            <a:r>
              <a:rPr lang="en-US" sz="1200" dirty="0" err="1">
                <a:highlight>
                  <a:srgbClr val="FFFF00"/>
                </a:highlight>
                <a:latin typeface="Calibir"/>
              </a:rPr>
              <a:t>numbers.length</a:t>
            </a:r>
            <a:r>
              <a:rPr lang="en-US" sz="1200" dirty="0">
                <a:highlight>
                  <a:srgbClr val="FFFF00"/>
                </a:highlight>
                <a:latin typeface="Calibir"/>
              </a:rPr>
              <a:t>;</a:t>
            </a:r>
          </a:p>
          <a:p>
            <a:r>
              <a:rPr lang="en-US" sz="1200" dirty="0">
                <a:highlight>
                  <a:srgbClr val="FFFF00"/>
                </a:highlight>
                <a:latin typeface="Calibir"/>
              </a:rPr>
              <a:t>        return </a:t>
            </a:r>
            <a:r>
              <a:rPr lang="en-US" sz="1200" dirty="0" err="1">
                <a:highlight>
                  <a:srgbClr val="FFFF00"/>
                </a:highlight>
                <a:latin typeface="Calibir"/>
              </a:rPr>
              <a:t>Math.sqrt</a:t>
            </a:r>
            <a:r>
              <a:rPr lang="en-US" sz="1200" dirty="0">
                <a:highlight>
                  <a:srgbClr val="FFFF00"/>
                </a:highlight>
                <a:latin typeface="Calibir"/>
              </a:rPr>
              <a:t>(variance);</a:t>
            </a:r>
          </a:p>
          <a:p>
            <a:r>
              <a:rPr lang="en-US" sz="1200" dirty="0">
                <a:highlight>
                  <a:srgbClr val="FFFF00"/>
                </a:highlight>
                <a:latin typeface="Calibir"/>
              </a:rPr>
              <a:t>    }</a:t>
            </a:r>
          </a:p>
          <a:p>
            <a:r>
              <a:rPr lang="en-US" sz="1200" dirty="0">
                <a:highlight>
                  <a:srgbClr val="FFFF00"/>
                </a:highlight>
                <a:latin typeface="Calibir"/>
              </a:rPr>
              <a:t>    public static void </a:t>
            </a:r>
            <a:r>
              <a:rPr lang="en-US" sz="1200" dirty="0" err="1">
                <a:highlight>
                  <a:srgbClr val="FFFF00"/>
                </a:highlight>
                <a:latin typeface="Calibir"/>
              </a:rPr>
              <a:t>showResults</a:t>
            </a:r>
            <a:r>
              <a:rPr lang="en-US" sz="1200" dirty="0">
                <a:highlight>
                  <a:srgbClr val="FFFF00"/>
                </a:highlight>
                <a:latin typeface="Calibir"/>
              </a:rPr>
              <a:t>(</a:t>
            </a:r>
          </a:p>
          <a:p>
            <a:r>
              <a:rPr lang="en-US" sz="1200" dirty="0">
                <a:highlight>
                  <a:srgbClr val="FFFF00"/>
                </a:highlight>
                <a:latin typeface="Calibir"/>
              </a:rPr>
              <a:t>            int[] numbers) {</a:t>
            </a:r>
          </a:p>
          <a:p>
            <a:r>
              <a:rPr lang="en-US" sz="1200" dirty="0">
                <a:highlight>
                  <a:srgbClr val="FFFF00"/>
                </a:highlight>
                <a:latin typeface="Calibir"/>
              </a:rPr>
              <a:t>        </a:t>
            </a:r>
            <a:r>
              <a:rPr lang="en-US" sz="1200" dirty="0" err="1">
                <a:highlight>
                  <a:srgbClr val="FFFF00"/>
                </a:highlight>
                <a:latin typeface="Calibir"/>
              </a:rPr>
              <a:t>System.out.println</a:t>
            </a:r>
            <a:r>
              <a:rPr lang="en-US" sz="1200" dirty="0">
                <a:highlight>
                  <a:srgbClr val="FFFF00"/>
                </a:highlight>
                <a:latin typeface="Calibir"/>
              </a:rPr>
              <a:t>(</a:t>
            </a:r>
          </a:p>
          <a:p>
            <a:r>
              <a:rPr lang="en-US" sz="1200" dirty="0">
                <a:highlight>
                  <a:srgbClr val="FFFF00"/>
                </a:highlight>
                <a:latin typeface="Calibir"/>
              </a:rPr>
              <a:t>            "Numbers = "</a:t>
            </a:r>
          </a:p>
          <a:p>
            <a:r>
              <a:rPr lang="en-US" sz="1200" dirty="0">
                <a:highlight>
                  <a:srgbClr val="FFFF00"/>
                </a:highlight>
                <a:latin typeface="Calibir"/>
              </a:rPr>
              <a:t>            + </a:t>
            </a:r>
            <a:r>
              <a:rPr lang="en-US" sz="1200" dirty="0" err="1">
                <a:highlight>
                  <a:srgbClr val="FFFF00"/>
                </a:highlight>
                <a:latin typeface="Calibir"/>
              </a:rPr>
              <a:t>Arrays.toString</a:t>
            </a:r>
            <a:r>
              <a:rPr lang="en-US" sz="1200" dirty="0">
                <a:highlight>
                  <a:srgbClr val="FFFF00"/>
                </a:highlight>
                <a:latin typeface="Calibir"/>
              </a:rPr>
              <a:t>(numbers)</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System.out.printf</a:t>
            </a:r>
            <a:r>
              <a:rPr lang="en-US" sz="1200" dirty="0">
                <a:highlight>
                  <a:srgbClr val="FFFF00"/>
                </a:highlight>
                <a:latin typeface="Calibir"/>
              </a:rPr>
              <a:t>(</a:t>
            </a:r>
          </a:p>
          <a:p>
            <a:r>
              <a:rPr lang="en-US" sz="1200" dirty="0">
                <a:highlight>
                  <a:srgbClr val="FFFF00"/>
                </a:highlight>
                <a:latin typeface="Calibir"/>
              </a:rPr>
              <a:t>            "Mean = %.2f%n",</a:t>
            </a:r>
          </a:p>
          <a:p>
            <a:r>
              <a:rPr lang="en-US" sz="1200" dirty="0">
                <a:highlight>
                  <a:srgbClr val="FFFF00"/>
                </a:highlight>
                <a:latin typeface="Calibir"/>
              </a:rPr>
              <a:t>            </a:t>
            </a:r>
            <a:r>
              <a:rPr lang="en-US" sz="1200" dirty="0" err="1">
                <a:highlight>
                  <a:srgbClr val="FFFF00"/>
                </a:highlight>
                <a:latin typeface="Calibir"/>
              </a:rPr>
              <a:t>calculateMean</a:t>
            </a:r>
            <a:r>
              <a:rPr lang="en-US" sz="1200" dirty="0">
                <a:highlight>
                  <a:srgbClr val="FFFF00"/>
                </a:highlight>
                <a:latin typeface="Calibir"/>
              </a:rPr>
              <a:t>(numbers)</a:t>
            </a:r>
          </a:p>
          <a:p>
            <a:r>
              <a:rPr lang="en-US" sz="1200" dirty="0">
                <a:highlight>
                  <a:srgbClr val="FFFF00"/>
                </a:highlight>
                <a:latin typeface="Calibir"/>
              </a:rPr>
              <a:t>        );</a:t>
            </a:r>
          </a:p>
          <a:p>
            <a:r>
              <a:rPr lang="en-US" sz="1200" dirty="0">
                <a:highlight>
                  <a:srgbClr val="FFFF00"/>
                </a:highlight>
                <a:latin typeface="Calibir"/>
              </a:rPr>
              <a:t>        </a:t>
            </a:r>
            <a:r>
              <a:rPr lang="en-US" sz="1200" dirty="0" err="1">
                <a:highlight>
                  <a:srgbClr val="FFFF00"/>
                </a:highlight>
                <a:latin typeface="Calibir"/>
              </a:rPr>
              <a:t>System.out.printf</a:t>
            </a:r>
            <a:r>
              <a:rPr lang="en-US" sz="1200" dirty="0">
                <a:highlight>
                  <a:srgbClr val="FFFF00"/>
                </a:highlight>
                <a:latin typeface="Calibir"/>
              </a:rPr>
              <a:t>(</a:t>
            </a:r>
          </a:p>
          <a:p>
            <a:r>
              <a:rPr lang="en-US" sz="1200" dirty="0">
                <a:highlight>
                  <a:srgbClr val="FFFF00"/>
                </a:highlight>
                <a:latin typeface="Calibir"/>
              </a:rPr>
              <a:t>            "Standard deviation = %.2f%n",</a:t>
            </a:r>
          </a:p>
          <a:p>
            <a:r>
              <a:rPr lang="en-US" sz="1200" dirty="0">
                <a:highlight>
                  <a:srgbClr val="FFFF00"/>
                </a:highlight>
                <a:latin typeface="Calibir"/>
              </a:rPr>
              <a:t>            </a:t>
            </a:r>
            <a:r>
              <a:rPr lang="en-US" sz="1200" dirty="0" err="1">
                <a:highlight>
                  <a:srgbClr val="FFFF00"/>
                </a:highlight>
                <a:latin typeface="Calibir"/>
              </a:rPr>
              <a:t>calculateStandardDeviation</a:t>
            </a:r>
            <a:r>
              <a:rPr lang="en-US" sz="1200" dirty="0">
                <a:highlight>
                  <a:srgbClr val="FFFF00"/>
                </a:highlight>
                <a:latin typeface="Calibir"/>
              </a:rPr>
              <a:t>(numbers)</a:t>
            </a:r>
          </a:p>
          <a:p>
            <a:r>
              <a:rPr lang="en-US" sz="1200" dirty="0">
                <a:highlight>
                  <a:srgbClr val="FFFF00"/>
                </a:highlight>
                <a:latin typeface="Calibir"/>
              </a:rPr>
              <a:t>        );</a:t>
            </a:r>
          </a:p>
          <a:p>
            <a:r>
              <a:rPr lang="en-US" sz="1200" dirty="0">
                <a:highlight>
                  <a:srgbClr val="FFFF00"/>
                </a:highlight>
                <a:latin typeface="Calibir"/>
              </a:rPr>
              <a:t>    }</a:t>
            </a:r>
          </a:p>
          <a:p>
            <a:r>
              <a:rPr lang="en-US" sz="1200" dirty="0">
                <a:highlight>
                  <a:srgbClr val="FFFF00"/>
                </a:highlight>
                <a:latin typeface="Calibir"/>
              </a:rPr>
              <a:t>    public static void main(String[] </a:t>
            </a:r>
            <a:r>
              <a:rPr lang="en-US" sz="1200" dirty="0" err="1">
                <a:highlight>
                  <a:srgbClr val="FFFF00"/>
                </a:highlight>
                <a:latin typeface="Calibir"/>
              </a:rPr>
              <a:t>args</a:t>
            </a:r>
            <a:r>
              <a:rPr lang="en-US" sz="1200" dirty="0">
                <a:highlight>
                  <a:srgbClr val="FFFF00"/>
                </a:highlight>
                <a:latin typeface="Calibir"/>
              </a:rPr>
              <a:t>) {</a:t>
            </a:r>
          </a:p>
          <a:p>
            <a:r>
              <a:rPr lang="en-US" sz="1200" dirty="0">
                <a:highlight>
                  <a:srgbClr val="FFFF00"/>
                </a:highlight>
                <a:latin typeface="Calibir"/>
              </a:rPr>
              <a:t>        int[] numbers =</a:t>
            </a:r>
          </a:p>
          <a:p>
            <a:r>
              <a:rPr lang="en-US" sz="1200" dirty="0">
                <a:highlight>
                  <a:srgbClr val="FFFF00"/>
                </a:highlight>
                <a:latin typeface="Calibir"/>
              </a:rPr>
              <a:t>                </a:t>
            </a:r>
            <a:r>
              <a:rPr lang="en-US" sz="1200" dirty="0" err="1">
                <a:highlight>
                  <a:srgbClr val="FFFF00"/>
                </a:highlight>
                <a:latin typeface="Calibir"/>
              </a:rPr>
              <a:t>generateNumbers</a:t>
            </a:r>
            <a:r>
              <a:rPr lang="en-US" sz="1200" dirty="0">
                <a:highlight>
                  <a:srgbClr val="FFFF00"/>
                </a:highlight>
                <a:latin typeface="Calibir"/>
              </a:rPr>
              <a:t>();</a:t>
            </a:r>
          </a:p>
          <a:p>
            <a:r>
              <a:rPr lang="en-US" sz="1200" dirty="0">
                <a:highlight>
                  <a:srgbClr val="FFFF00"/>
                </a:highlight>
                <a:latin typeface="Calibir"/>
              </a:rPr>
              <a:t>        </a:t>
            </a:r>
            <a:r>
              <a:rPr lang="en-US" sz="1200" dirty="0" err="1">
                <a:highlight>
                  <a:srgbClr val="FFFF00"/>
                </a:highlight>
                <a:latin typeface="Calibir"/>
              </a:rPr>
              <a:t>showResults</a:t>
            </a:r>
            <a:r>
              <a:rPr lang="en-US" sz="1200" dirty="0">
                <a:highlight>
                  <a:srgbClr val="FFFF00"/>
                </a:highlight>
                <a:latin typeface="Calibir"/>
              </a:rPr>
              <a:t>(numbers);</a:t>
            </a:r>
          </a:p>
          <a:p>
            <a:r>
              <a:rPr lang="en-US" sz="1200" dirty="0">
                <a:highlight>
                  <a:srgbClr val="FFFF00"/>
                </a:highlight>
                <a:latin typeface="Calibir"/>
              </a:rPr>
              <a:t>    }</a:t>
            </a:r>
          </a:p>
          <a:p>
            <a:r>
              <a:rPr lang="en-US" sz="1200" dirty="0">
                <a:highlight>
                  <a:srgbClr val="FFFF00"/>
                </a:highlight>
                <a:latin typeface="Calibir"/>
              </a:rPr>
              <a:t>}</a:t>
            </a:r>
          </a:p>
        </p:txBody>
      </p:sp>
    </p:spTree>
    <p:extLst>
      <p:ext uri="{BB962C8B-B14F-4D97-AF65-F5344CB8AC3E}">
        <p14:creationId xmlns:p14="http://schemas.microsoft.com/office/powerpoint/2010/main" val="368559878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0" y="0"/>
            <a:ext cx="11362267" cy="738905"/>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3 — Count Vowels Using Methods</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593868" y="1109134"/>
            <a:ext cx="11004265" cy="5009961"/>
          </a:xfrm>
          <a:prstGeom prst="rect">
            <a:avLst/>
          </a:prstGeom>
          <a:noFill/>
        </p:spPr>
        <p:txBody>
          <a:bodyPr wrap="square" rtlCol="0">
            <a:spAutoFit/>
          </a:bodyPr>
          <a:lstStyle/>
          <a:p>
            <a:pPr>
              <a:lnSpc>
                <a:spcPct val="150000"/>
              </a:lnSpc>
            </a:pPr>
            <a:r>
              <a:rPr lang="en-US" sz="2400" b="1" dirty="0">
                <a:latin typeface="Calibir"/>
              </a:rPr>
              <a:t>Exercise 3: </a:t>
            </a:r>
          </a:p>
          <a:p>
            <a:pPr>
              <a:lnSpc>
                <a:spcPct val="150000"/>
              </a:lnSpc>
            </a:pPr>
            <a:r>
              <a:rPr lang="en-GB" sz="2400" dirty="0">
                <a:latin typeface="Calibir"/>
              </a:rPr>
              <a:t>Develop a program called </a:t>
            </a:r>
            <a:r>
              <a:rPr lang="en-GB" sz="2400" b="1" dirty="0">
                <a:latin typeface="Calibir"/>
              </a:rPr>
              <a:t>Lab5Exc3</a:t>
            </a:r>
            <a:r>
              <a:rPr lang="en-GB" sz="2400" dirty="0">
                <a:latin typeface="Calibir"/>
              </a:rPr>
              <a:t> that includes the following methods:</a:t>
            </a:r>
          </a:p>
          <a:p>
            <a:pPr marL="457189" indent="-457189">
              <a:lnSpc>
                <a:spcPct val="150000"/>
              </a:lnSpc>
              <a:buFont typeface="Arial" panose="020B0604020202020204" pitchFamily="34" charset="0"/>
              <a:buChar char="•"/>
            </a:pPr>
            <a:r>
              <a:rPr lang="en-US" sz="2400" dirty="0">
                <a:latin typeface="Calibir"/>
              </a:rPr>
              <a:t>Define a function to read a sentence from keyboard</a:t>
            </a:r>
          </a:p>
          <a:p>
            <a:pPr marL="457189" indent="-457189">
              <a:lnSpc>
                <a:spcPct val="150000"/>
              </a:lnSpc>
              <a:buFont typeface="Arial" panose="020B0604020202020204" pitchFamily="34" charset="0"/>
              <a:buChar char="•"/>
            </a:pPr>
            <a:r>
              <a:rPr lang="en-US" sz="2400" dirty="0">
                <a:latin typeface="Calibir"/>
              </a:rPr>
              <a:t>Define a function to count the number of vowels in the sentence</a:t>
            </a:r>
          </a:p>
          <a:p>
            <a:pPr marL="457189" indent="-457189">
              <a:lnSpc>
                <a:spcPct val="150000"/>
              </a:lnSpc>
              <a:buFont typeface="Arial" panose="020B0604020202020204" pitchFamily="34" charset="0"/>
              <a:buChar char="•"/>
            </a:pPr>
            <a:r>
              <a:rPr lang="en-US" sz="2400" dirty="0">
                <a:latin typeface="Calibir"/>
              </a:rPr>
              <a:t>Define a procedure to show the number of vowels in the sentence</a:t>
            </a:r>
          </a:p>
          <a:p>
            <a:pPr>
              <a:lnSpc>
                <a:spcPct val="150000"/>
              </a:lnSpc>
            </a:pPr>
            <a:endParaRPr lang="en-US" sz="2400" u="sng" dirty="0">
              <a:latin typeface="Calibir"/>
            </a:endParaRPr>
          </a:p>
          <a:p>
            <a:pPr>
              <a:lnSpc>
                <a:spcPct val="150000"/>
              </a:lnSpc>
            </a:pPr>
            <a:r>
              <a:rPr lang="en-US" sz="2400" u="sng" dirty="0">
                <a:latin typeface="Calibir"/>
              </a:rPr>
              <a:t>NOTE:</a:t>
            </a:r>
          </a:p>
          <a:p>
            <a:pPr marL="380990" indent="-380990">
              <a:lnSpc>
                <a:spcPct val="150000"/>
              </a:lnSpc>
              <a:buFont typeface="Arial" panose="020B0604020202020204" pitchFamily="34" charset="0"/>
              <a:buChar char="•"/>
            </a:pPr>
            <a:r>
              <a:rPr lang="en-US" sz="2400" dirty="0">
                <a:latin typeface="Calibir"/>
              </a:rPr>
              <a:t>The program stops when *  is entered from keyboard</a:t>
            </a:r>
          </a:p>
          <a:p>
            <a:pPr marL="457189" indent="-457189">
              <a:lnSpc>
                <a:spcPct val="150000"/>
              </a:lnSpc>
              <a:buFont typeface="+mj-lt"/>
              <a:buAutoNum type="arabicPeriod"/>
            </a:pPr>
            <a:endParaRPr lang="en-US" sz="2400" dirty="0">
              <a:latin typeface="Calibir"/>
            </a:endParaRPr>
          </a:p>
        </p:txBody>
      </p:sp>
      <p:sp>
        <p:nvSpPr>
          <p:cNvPr id="3" name="TextBox 2">
            <a:extLst>
              <a:ext uri="{FF2B5EF4-FFF2-40B4-BE49-F238E27FC236}">
                <a16:creationId xmlns:a16="http://schemas.microsoft.com/office/drawing/2014/main" id="{60B562DF-A9A4-EF43-ABFC-C8B3745FB7CF}"/>
              </a:ext>
            </a:extLst>
          </p:cNvPr>
          <p:cNvSpPr txBox="1"/>
          <p:nvPr/>
        </p:nvSpPr>
        <p:spPr>
          <a:xfrm>
            <a:off x="8096352" y="4448735"/>
            <a:ext cx="4095648" cy="1844817"/>
          </a:xfrm>
          <a:prstGeom prst="rect">
            <a:avLst/>
          </a:prstGeom>
          <a:noFill/>
          <a:ln>
            <a:solidFill>
              <a:schemeClr val="tx1"/>
            </a:solidFill>
            <a:prstDash val="sysDot"/>
          </a:ln>
        </p:spPr>
        <p:txBody>
          <a:bodyPr wrap="none" rtlCol="0">
            <a:noAutofit/>
          </a:bodyPr>
          <a:lstStyle/>
          <a:p>
            <a:r>
              <a:rPr lang="en-GB" sz="2133" dirty="0">
                <a:latin typeface="Economica" panose="020B0604020202020204" charset="0"/>
              </a:rPr>
              <a:t>String: welcome to THE WORLD</a:t>
            </a:r>
          </a:p>
          <a:p>
            <a:r>
              <a:rPr lang="en-GB" sz="2133" dirty="0">
                <a:latin typeface="Economica" panose="020B0604020202020204" charset="0"/>
              </a:rPr>
              <a:t>Vowel count = 6</a:t>
            </a:r>
          </a:p>
          <a:p>
            <a:r>
              <a:rPr lang="en-GB" sz="2133" dirty="0">
                <a:latin typeface="Economica" panose="020B0604020202020204" charset="0"/>
              </a:rPr>
              <a:t>String: *</a:t>
            </a:r>
          </a:p>
          <a:p>
            <a:r>
              <a:rPr lang="en-GB" sz="2133" dirty="0">
                <a:latin typeface="Economica" panose="020B0604020202020204" charset="0"/>
              </a:rPr>
              <a:t>Done</a:t>
            </a:r>
            <a:endParaRPr lang="en-US" sz="2133" dirty="0">
              <a:latin typeface="Economica" panose="020B0604020202020204" charset="0"/>
            </a:endParaRPr>
          </a:p>
        </p:txBody>
      </p:sp>
      <p:sp>
        <p:nvSpPr>
          <p:cNvPr id="4" name="TextBox 3">
            <a:extLst>
              <a:ext uri="{FF2B5EF4-FFF2-40B4-BE49-F238E27FC236}">
                <a16:creationId xmlns:a16="http://schemas.microsoft.com/office/drawing/2014/main" id="{52273243-B999-5748-8AAB-8BFCACC36FAF}"/>
              </a:ext>
            </a:extLst>
          </p:cNvPr>
          <p:cNvSpPr txBox="1"/>
          <p:nvPr/>
        </p:nvSpPr>
        <p:spPr>
          <a:xfrm>
            <a:off x="7991367" y="3987069"/>
            <a:ext cx="1723549" cy="461665"/>
          </a:xfrm>
          <a:prstGeom prst="rect">
            <a:avLst/>
          </a:prstGeom>
          <a:noFill/>
        </p:spPr>
        <p:txBody>
          <a:bodyPr wrap="none" rtlCol="0">
            <a:spAutoFit/>
          </a:bodyPr>
          <a:lstStyle/>
          <a:p>
            <a:r>
              <a:rPr lang="en-US" sz="2400" dirty="0">
                <a:latin typeface="Economica" panose="020B0604020202020204" charset="0"/>
              </a:rPr>
              <a:t>Sample I/O</a:t>
            </a:r>
          </a:p>
        </p:txBody>
      </p:sp>
    </p:spTree>
    <p:extLst>
      <p:ext uri="{BB962C8B-B14F-4D97-AF65-F5344CB8AC3E}">
        <p14:creationId xmlns:p14="http://schemas.microsoft.com/office/powerpoint/2010/main" val="25075518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ACB3651-F39C-1C6F-595D-5DC9CD939E75}"/>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53B2AD0E-CE30-DC25-D43E-FA9F725F96B8}"/>
              </a:ext>
            </a:extLst>
          </p:cNvPr>
          <p:cNvSpPr txBox="1">
            <a:spLocks noGrp="1"/>
          </p:cNvSpPr>
          <p:nvPr>
            <p:ph type="title" idx="4294967295"/>
          </p:nvPr>
        </p:nvSpPr>
        <p:spPr>
          <a:xfrm>
            <a:off x="0" y="0"/>
            <a:ext cx="11362267" cy="738905"/>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3 — Count Vowels Using Methods</a:t>
            </a:r>
            <a:endParaRPr dirty="0"/>
          </a:p>
        </p:txBody>
      </p:sp>
      <p:pic>
        <p:nvPicPr>
          <p:cNvPr id="6" name="Picture 5">
            <a:extLst>
              <a:ext uri="{FF2B5EF4-FFF2-40B4-BE49-F238E27FC236}">
                <a16:creationId xmlns:a16="http://schemas.microsoft.com/office/drawing/2014/main" id="{D20241E3-E09B-F820-BCED-FA13CBE5FE87}"/>
              </a:ext>
            </a:extLst>
          </p:cNvPr>
          <p:cNvPicPr>
            <a:picLocks noChangeAspect="1"/>
          </p:cNvPicPr>
          <p:nvPr/>
        </p:nvPicPr>
        <p:blipFill>
          <a:blip r:embed="rId3">
            <a:extLst>
              <a:ext uri="{28A0092B-C50C-407E-A947-70E740481C1C}">
                <a14:useLocalDpi xmlns:a14="http://schemas.microsoft.com/office/drawing/2010/main" val="0"/>
              </a:ext>
            </a:extLst>
          </a:blip>
          <a:srcRect t="7929"/>
          <a:stretch>
            <a:fillRect/>
          </a:stretch>
        </p:blipFill>
        <p:spPr>
          <a:xfrm>
            <a:off x="3795251" y="929149"/>
            <a:ext cx="4079397" cy="5633883"/>
          </a:xfrm>
          <a:prstGeom prst="rect">
            <a:avLst/>
          </a:prstGeom>
          <a:ln w="38100">
            <a:solidFill>
              <a:srgbClr val="7030A0"/>
            </a:solidFill>
          </a:ln>
        </p:spPr>
      </p:pic>
    </p:spTree>
    <p:extLst>
      <p:ext uri="{BB962C8B-B14F-4D97-AF65-F5344CB8AC3E}">
        <p14:creationId xmlns:p14="http://schemas.microsoft.com/office/powerpoint/2010/main" val="32349898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7EA0E6E-D26C-E25F-F4DD-5B36328A6903}"/>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410C3324-7608-3B92-2DE7-75E3CECCF76B}"/>
              </a:ext>
            </a:extLst>
          </p:cNvPr>
          <p:cNvSpPr txBox="1">
            <a:spLocks noGrp="1"/>
          </p:cNvSpPr>
          <p:nvPr>
            <p:ph type="title" idx="4294967295"/>
          </p:nvPr>
        </p:nvSpPr>
        <p:spPr>
          <a:xfrm>
            <a:off x="0" y="0"/>
            <a:ext cx="11362267" cy="738905"/>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3 — Count Vowels Using Methods</a:t>
            </a:r>
            <a:endParaRPr dirty="0"/>
          </a:p>
        </p:txBody>
      </p:sp>
      <p:sp>
        <p:nvSpPr>
          <p:cNvPr id="3" name="TextBox 2">
            <a:extLst>
              <a:ext uri="{FF2B5EF4-FFF2-40B4-BE49-F238E27FC236}">
                <a16:creationId xmlns:a16="http://schemas.microsoft.com/office/drawing/2014/main" id="{BB9A71AB-F5CF-4773-3D64-1AA097ADECBE}"/>
              </a:ext>
            </a:extLst>
          </p:cNvPr>
          <p:cNvSpPr txBox="1"/>
          <p:nvPr/>
        </p:nvSpPr>
        <p:spPr>
          <a:xfrm>
            <a:off x="0" y="1253613"/>
            <a:ext cx="11975690" cy="2610843"/>
          </a:xfrm>
          <a:prstGeom prst="rect">
            <a:avLst/>
          </a:prstGeom>
          <a:noFill/>
        </p:spPr>
        <p:txBody>
          <a:bodyPr wrap="square">
            <a:spAutoFit/>
          </a:bodyPr>
          <a:lstStyle/>
          <a:p>
            <a:pPr>
              <a:lnSpc>
                <a:spcPct val="150000"/>
              </a:lnSpc>
              <a:buNone/>
            </a:pPr>
            <a:r>
              <a:rPr lang="en-US" sz="2800" b="1" dirty="0">
                <a:latin typeface="Calibir"/>
              </a:rPr>
              <a:t>Python</a:t>
            </a:r>
          </a:p>
          <a:p>
            <a:pPr>
              <a:lnSpc>
                <a:spcPct val="150000"/>
              </a:lnSpc>
              <a:buNone/>
            </a:pPr>
            <a:r>
              <a:rPr lang="en-US" sz="2800" b="1" dirty="0">
                <a:latin typeface="Calibir"/>
              </a:rPr>
              <a:t>Step 1 — Read a sentence</a:t>
            </a:r>
          </a:p>
          <a:p>
            <a:pPr rtl="0">
              <a:lnSpc>
                <a:spcPct val="150000"/>
              </a:lnSpc>
              <a:buNone/>
            </a:pPr>
            <a:r>
              <a:rPr lang="en-US" sz="2800" dirty="0">
                <a:highlight>
                  <a:srgbClr val="FFFF00"/>
                </a:highlight>
                <a:latin typeface="Calibir"/>
              </a:rPr>
              <a:t>def </a:t>
            </a:r>
            <a:r>
              <a:rPr lang="en-US" sz="2800" dirty="0" err="1">
                <a:highlight>
                  <a:srgbClr val="FFFF00"/>
                </a:highlight>
                <a:latin typeface="Calibir"/>
              </a:rPr>
              <a:t>read_sentence</a:t>
            </a:r>
            <a:r>
              <a:rPr lang="en-US" sz="2800" dirty="0">
                <a:highlight>
                  <a:srgbClr val="FFFF00"/>
                </a:highlight>
                <a:latin typeface="Calibir"/>
              </a:rPr>
              <a:t>():</a:t>
            </a:r>
          </a:p>
          <a:p>
            <a:pPr rtl="0">
              <a:lnSpc>
                <a:spcPct val="150000"/>
              </a:lnSpc>
              <a:buNone/>
            </a:pPr>
            <a:r>
              <a:rPr lang="en-US" sz="2800" dirty="0">
                <a:highlight>
                  <a:srgbClr val="FFFF00"/>
                </a:highlight>
                <a:latin typeface="Calibir"/>
              </a:rPr>
              <a:t>    return input("String: ")</a:t>
            </a:r>
          </a:p>
        </p:txBody>
      </p:sp>
    </p:spTree>
    <p:extLst>
      <p:ext uri="{BB962C8B-B14F-4D97-AF65-F5344CB8AC3E}">
        <p14:creationId xmlns:p14="http://schemas.microsoft.com/office/powerpoint/2010/main" val="415757695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3B8D9C4-FC5F-87AD-BF72-A7ECAB8C0526}"/>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110FBA21-C595-4587-F6B4-749BE7DB3571}"/>
              </a:ext>
            </a:extLst>
          </p:cNvPr>
          <p:cNvSpPr txBox="1">
            <a:spLocks noGrp="1"/>
          </p:cNvSpPr>
          <p:nvPr>
            <p:ph type="title" idx="4294967295"/>
          </p:nvPr>
        </p:nvSpPr>
        <p:spPr>
          <a:xfrm>
            <a:off x="0" y="0"/>
            <a:ext cx="11362267" cy="738905"/>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3 — Count Vowels Using Methods</a:t>
            </a:r>
            <a:endParaRPr dirty="0"/>
          </a:p>
        </p:txBody>
      </p:sp>
      <p:sp>
        <p:nvSpPr>
          <p:cNvPr id="3" name="TextBox 2">
            <a:extLst>
              <a:ext uri="{FF2B5EF4-FFF2-40B4-BE49-F238E27FC236}">
                <a16:creationId xmlns:a16="http://schemas.microsoft.com/office/drawing/2014/main" id="{C03D739E-0358-D5A0-D41B-13036A0F69FA}"/>
              </a:ext>
            </a:extLst>
          </p:cNvPr>
          <p:cNvSpPr txBox="1"/>
          <p:nvPr/>
        </p:nvSpPr>
        <p:spPr>
          <a:xfrm>
            <a:off x="0" y="1253613"/>
            <a:ext cx="11975690" cy="5196166"/>
          </a:xfrm>
          <a:prstGeom prst="rect">
            <a:avLst/>
          </a:prstGeom>
          <a:noFill/>
        </p:spPr>
        <p:txBody>
          <a:bodyPr wrap="square">
            <a:spAutoFit/>
          </a:bodyPr>
          <a:lstStyle/>
          <a:p>
            <a:pPr>
              <a:lnSpc>
                <a:spcPct val="150000"/>
              </a:lnSpc>
            </a:pPr>
            <a:r>
              <a:rPr lang="en-US" sz="2800" b="1" dirty="0">
                <a:latin typeface="Calibir"/>
              </a:rPr>
              <a:t>Step 2 — Count vowels</a:t>
            </a:r>
          </a:p>
          <a:p>
            <a:pPr>
              <a:lnSpc>
                <a:spcPct val="150000"/>
              </a:lnSpc>
            </a:pPr>
            <a:r>
              <a:rPr lang="en-US" sz="2800" dirty="0">
                <a:highlight>
                  <a:srgbClr val="FFFF00"/>
                </a:highlight>
                <a:latin typeface="Calibir"/>
              </a:rPr>
              <a:t>def </a:t>
            </a:r>
            <a:r>
              <a:rPr lang="en-US" sz="2800" dirty="0" err="1">
                <a:highlight>
                  <a:srgbClr val="FFFF00"/>
                </a:highlight>
                <a:latin typeface="Calibir"/>
              </a:rPr>
              <a:t>count_vowels</a:t>
            </a:r>
            <a:r>
              <a:rPr lang="en-US" sz="2800" dirty="0">
                <a:highlight>
                  <a:srgbClr val="FFFF00"/>
                </a:highlight>
                <a:latin typeface="Calibir"/>
              </a:rPr>
              <a:t>(sentence):</a:t>
            </a:r>
          </a:p>
          <a:p>
            <a:pPr>
              <a:lnSpc>
                <a:spcPct val="150000"/>
              </a:lnSpc>
            </a:pPr>
            <a:r>
              <a:rPr lang="en-US" sz="2800" dirty="0">
                <a:highlight>
                  <a:srgbClr val="FFFF00"/>
                </a:highlight>
                <a:latin typeface="Calibir"/>
              </a:rPr>
              <a:t>    count = 0</a:t>
            </a:r>
          </a:p>
          <a:p>
            <a:pPr>
              <a:lnSpc>
                <a:spcPct val="150000"/>
              </a:lnSpc>
            </a:pPr>
            <a:r>
              <a:rPr lang="en-US" sz="2800" dirty="0">
                <a:highlight>
                  <a:srgbClr val="FFFF00"/>
                </a:highlight>
                <a:latin typeface="Calibir"/>
              </a:rPr>
              <a:t>    for character in sentence:</a:t>
            </a:r>
          </a:p>
          <a:p>
            <a:pPr>
              <a:lnSpc>
                <a:spcPct val="150000"/>
              </a:lnSpc>
            </a:pPr>
            <a:r>
              <a:rPr lang="en-US" sz="2800" dirty="0">
                <a:highlight>
                  <a:srgbClr val="FFFF00"/>
                </a:highlight>
                <a:latin typeface="Calibir"/>
              </a:rPr>
              <a:t>        if </a:t>
            </a:r>
            <a:r>
              <a:rPr lang="en-US" sz="2800" dirty="0" err="1">
                <a:highlight>
                  <a:srgbClr val="FFFF00"/>
                </a:highlight>
                <a:latin typeface="Calibir"/>
              </a:rPr>
              <a:t>character.lower</a:t>
            </a:r>
            <a:r>
              <a:rPr lang="en-US" sz="2800" dirty="0">
                <a:highlight>
                  <a:srgbClr val="FFFF00"/>
                </a:highlight>
                <a:latin typeface="Calibir"/>
              </a:rPr>
              <a:t>() in "</a:t>
            </a:r>
            <a:r>
              <a:rPr lang="en-US" sz="2800" dirty="0" err="1">
                <a:highlight>
                  <a:srgbClr val="FFFF00"/>
                </a:highlight>
                <a:latin typeface="Calibir"/>
              </a:rPr>
              <a:t>aeiou</a:t>
            </a:r>
            <a:r>
              <a:rPr lang="en-US" sz="2800" dirty="0">
                <a:highlight>
                  <a:srgbClr val="FFFF00"/>
                </a:highlight>
                <a:latin typeface="Calibir"/>
              </a:rPr>
              <a:t>":</a:t>
            </a:r>
          </a:p>
          <a:p>
            <a:pPr>
              <a:lnSpc>
                <a:spcPct val="150000"/>
              </a:lnSpc>
            </a:pPr>
            <a:r>
              <a:rPr lang="en-US" sz="2800" dirty="0">
                <a:highlight>
                  <a:srgbClr val="FFFF00"/>
                </a:highlight>
                <a:latin typeface="Calibir"/>
              </a:rPr>
              <a:t>            count += 1</a:t>
            </a:r>
          </a:p>
          <a:p>
            <a:pPr>
              <a:lnSpc>
                <a:spcPct val="150000"/>
              </a:lnSpc>
            </a:pPr>
            <a:r>
              <a:rPr lang="en-US" sz="2800" dirty="0">
                <a:highlight>
                  <a:srgbClr val="FFFF00"/>
                </a:highlight>
                <a:latin typeface="Calibir"/>
              </a:rPr>
              <a:t>    return count</a:t>
            </a:r>
          </a:p>
          <a:p>
            <a:pPr>
              <a:lnSpc>
                <a:spcPct val="150000"/>
              </a:lnSpc>
            </a:pPr>
            <a:r>
              <a:rPr lang="en-US" sz="2800" dirty="0">
                <a:latin typeface="Calibir"/>
              </a:rPr>
              <a:t>lower() means uppercase vowels are also counted.</a:t>
            </a:r>
          </a:p>
        </p:txBody>
      </p:sp>
    </p:spTree>
    <p:extLst>
      <p:ext uri="{BB962C8B-B14F-4D97-AF65-F5344CB8AC3E}">
        <p14:creationId xmlns:p14="http://schemas.microsoft.com/office/powerpoint/2010/main" val="3091303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C56245A-4FFB-E4FD-0096-E8CB96F7BE19}"/>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E26CAA5E-7909-50E9-64A5-6398C8D0B02B}"/>
              </a:ext>
            </a:extLst>
          </p:cNvPr>
          <p:cNvSpPr txBox="1">
            <a:spLocks noGrp="1"/>
          </p:cNvSpPr>
          <p:nvPr>
            <p:ph type="title" idx="4294967295"/>
          </p:nvPr>
        </p:nvSpPr>
        <p:spPr>
          <a:xfrm>
            <a:off x="0" y="0"/>
            <a:ext cx="11362267" cy="738905"/>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3 — Count Vowels Using Methods</a:t>
            </a:r>
            <a:endParaRPr dirty="0"/>
          </a:p>
        </p:txBody>
      </p:sp>
      <p:sp>
        <p:nvSpPr>
          <p:cNvPr id="3" name="TextBox 2">
            <a:extLst>
              <a:ext uri="{FF2B5EF4-FFF2-40B4-BE49-F238E27FC236}">
                <a16:creationId xmlns:a16="http://schemas.microsoft.com/office/drawing/2014/main" id="{280581E6-E8C7-A4BD-1CA9-5D0028ED4D85}"/>
              </a:ext>
            </a:extLst>
          </p:cNvPr>
          <p:cNvSpPr txBox="1"/>
          <p:nvPr/>
        </p:nvSpPr>
        <p:spPr>
          <a:xfrm>
            <a:off x="0" y="1253613"/>
            <a:ext cx="11975690" cy="1964512"/>
          </a:xfrm>
          <a:prstGeom prst="rect">
            <a:avLst/>
          </a:prstGeom>
          <a:noFill/>
        </p:spPr>
        <p:txBody>
          <a:bodyPr wrap="square">
            <a:spAutoFit/>
          </a:bodyPr>
          <a:lstStyle/>
          <a:p>
            <a:pPr>
              <a:lnSpc>
                <a:spcPct val="150000"/>
              </a:lnSpc>
            </a:pPr>
            <a:r>
              <a:rPr lang="en-US" sz="2800" b="1" dirty="0">
                <a:latin typeface="Calibir"/>
              </a:rPr>
              <a:t>Step 3 — Show the result</a:t>
            </a:r>
          </a:p>
          <a:p>
            <a:pPr>
              <a:lnSpc>
                <a:spcPct val="150000"/>
              </a:lnSpc>
            </a:pPr>
            <a:r>
              <a:rPr lang="en-US" sz="2800" dirty="0">
                <a:highlight>
                  <a:srgbClr val="FFFF00"/>
                </a:highlight>
                <a:latin typeface="Calibir"/>
              </a:rPr>
              <a:t>def </a:t>
            </a:r>
            <a:r>
              <a:rPr lang="en-US" sz="2800" dirty="0" err="1">
                <a:highlight>
                  <a:srgbClr val="FFFF00"/>
                </a:highlight>
                <a:latin typeface="Calibir"/>
              </a:rPr>
              <a:t>show_vowel_count</a:t>
            </a:r>
            <a:r>
              <a:rPr lang="en-US" sz="2800" dirty="0">
                <a:highlight>
                  <a:srgbClr val="FFFF00"/>
                </a:highlight>
                <a:latin typeface="Calibir"/>
              </a:rPr>
              <a:t>(count):</a:t>
            </a:r>
          </a:p>
          <a:p>
            <a:pPr>
              <a:lnSpc>
                <a:spcPct val="150000"/>
              </a:lnSpc>
            </a:pPr>
            <a:r>
              <a:rPr lang="en-US" sz="2800" dirty="0">
                <a:highlight>
                  <a:srgbClr val="FFFF00"/>
                </a:highlight>
                <a:latin typeface="Calibir"/>
              </a:rPr>
              <a:t>    print(</a:t>
            </a:r>
            <a:r>
              <a:rPr lang="en-US" sz="2800" dirty="0" err="1">
                <a:highlight>
                  <a:srgbClr val="FFFF00"/>
                </a:highlight>
                <a:latin typeface="Calibir"/>
              </a:rPr>
              <a:t>f"Vowel</a:t>
            </a:r>
            <a:r>
              <a:rPr lang="en-US" sz="2800" dirty="0">
                <a:highlight>
                  <a:srgbClr val="FFFF00"/>
                </a:highlight>
                <a:latin typeface="Calibir"/>
              </a:rPr>
              <a:t> count = {count}")</a:t>
            </a:r>
          </a:p>
        </p:txBody>
      </p:sp>
    </p:spTree>
    <p:extLst>
      <p:ext uri="{BB962C8B-B14F-4D97-AF65-F5344CB8AC3E}">
        <p14:creationId xmlns:p14="http://schemas.microsoft.com/office/powerpoint/2010/main" val="423893970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E656340-8193-FCFD-DFA9-7CAEA1AB5C8E}"/>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52188F50-3C72-9F46-E2BC-DE62C857EB0D}"/>
              </a:ext>
            </a:extLst>
          </p:cNvPr>
          <p:cNvSpPr txBox="1">
            <a:spLocks noGrp="1"/>
          </p:cNvSpPr>
          <p:nvPr>
            <p:ph type="title" idx="4294967295"/>
          </p:nvPr>
        </p:nvSpPr>
        <p:spPr>
          <a:xfrm>
            <a:off x="0" y="0"/>
            <a:ext cx="11362267" cy="738905"/>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3 — Count Vowels Using Methods</a:t>
            </a:r>
            <a:endParaRPr dirty="0"/>
          </a:p>
        </p:txBody>
      </p:sp>
      <p:sp>
        <p:nvSpPr>
          <p:cNvPr id="3" name="TextBox 2">
            <a:extLst>
              <a:ext uri="{FF2B5EF4-FFF2-40B4-BE49-F238E27FC236}">
                <a16:creationId xmlns:a16="http://schemas.microsoft.com/office/drawing/2014/main" id="{B23C4CC8-91A1-E9D0-D8F1-593FD9E90BED}"/>
              </a:ext>
            </a:extLst>
          </p:cNvPr>
          <p:cNvSpPr txBox="1"/>
          <p:nvPr/>
        </p:nvSpPr>
        <p:spPr>
          <a:xfrm>
            <a:off x="0" y="1253613"/>
            <a:ext cx="11975690" cy="3903504"/>
          </a:xfrm>
          <a:prstGeom prst="rect">
            <a:avLst/>
          </a:prstGeom>
          <a:noFill/>
        </p:spPr>
        <p:txBody>
          <a:bodyPr wrap="square">
            <a:spAutoFit/>
          </a:bodyPr>
          <a:lstStyle/>
          <a:p>
            <a:pPr>
              <a:lnSpc>
                <a:spcPct val="150000"/>
              </a:lnSpc>
            </a:pPr>
            <a:r>
              <a:rPr lang="en-US" sz="2800" b="1" dirty="0">
                <a:latin typeface="Calibir"/>
              </a:rPr>
              <a:t>Step 4 — Add the repeated loop</a:t>
            </a:r>
          </a:p>
          <a:p>
            <a:pPr>
              <a:lnSpc>
                <a:spcPct val="150000"/>
              </a:lnSpc>
            </a:pPr>
            <a:r>
              <a:rPr lang="en-US" sz="2800" dirty="0">
                <a:highlight>
                  <a:srgbClr val="FFFF00"/>
                </a:highlight>
                <a:latin typeface="Calibir"/>
              </a:rPr>
              <a:t>while True:</a:t>
            </a:r>
          </a:p>
          <a:p>
            <a:pPr>
              <a:lnSpc>
                <a:spcPct val="150000"/>
              </a:lnSpc>
            </a:pPr>
            <a:r>
              <a:rPr lang="en-US" sz="2800" dirty="0">
                <a:highlight>
                  <a:srgbClr val="FFFF00"/>
                </a:highlight>
                <a:latin typeface="Calibir"/>
              </a:rPr>
              <a:t>    sentence = </a:t>
            </a:r>
            <a:r>
              <a:rPr lang="en-US" sz="2800" dirty="0" err="1">
                <a:highlight>
                  <a:srgbClr val="FFFF00"/>
                </a:highlight>
                <a:latin typeface="Calibir"/>
              </a:rPr>
              <a:t>read_sentence</a:t>
            </a:r>
            <a:r>
              <a:rPr lang="en-US" sz="2800" dirty="0">
                <a:highlight>
                  <a:srgbClr val="FFFF00"/>
                </a:highlight>
                <a:latin typeface="Calibir"/>
              </a:rPr>
              <a:t>()</a:t>
            </a:r>
          </a:p>
          <a:p>
            <a:pPr>
              <a:lnSpc>
                <a:spcPct val="150000"/>
              </a:lnSpc>
            </a:pPr>
            <a:r>
              <a:rPr lang="en-US" sz="2800" dirty="0">
                <a:highlight>
                  <a:srgbClr val="FFFF00"/>
                </a:highlight>
                <a:latin typeface="Calibir"/>
              </a:rPr>
              <a:t>    if sentence == "*":</a:t>
            </a:r>
          </a:p>
          <a:p>
            <a:pPr>
              <a:lnSpc>
                <a:spcPct val="150000"/>
              </a:lnSpc>
            </a:pPr>
            <a:r>
              <a:rPr lang="en-US" sz="2800" dirty="0">
                <a:highlight>
                  <a:srgbClr val="FFFF00"/>
                </a:highlight>
                <a:latin typeface="Calibir"/>
              </a:rPr>
              <a:t>        print("Done")</a:t>
            </a:r>
          </a:p>
          <a:p>
            <a:pPr>
              <a:lnSpc>
                <a:spcPct val="150000"/>
              </a:lnSpc>
            </a:pPr>
            <a:r>
              <a:rPr lang="en-US" sz="2800" dirty="0">
                <a:highlight>
                  <a:srgbClr val="FFFF00"/>
                </a:highlight>
                <a:latin typeface="Calibir"/>
              </a:rPr>
              <a:t>        break</a:t>
            </a:r>
          </a:p>
        </p:txBody>
      </p:sp>
    </p:spTree>
    <p:extLst>
      <p:ext uri="{BB962C8B-B14F-4D97-AF65-F5344CB8AC3E}">
        <p14:creationId xmlns:p14="http://schemas.microsoft.com/office/powerpoint/2010/main" val="16296919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DE96558-7344-CB68-20DB-A151F9A09A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2AF0417-B0ED-EFD9-352B-07FEDBB6B092}"/>
              </a:ext>
            </a:extLst>
          </p:cNvPr>
          <p:cNvSpPr txBox="1"/>
          <p:nvPr/>
        </p:nvSpPr>
        <p:spPr>
          <a:xfrm>
            <a:off x="0" y="0"/>
            <a:ext cx="11975690" cy="7032438"/>
          </a:xfrm>
          <a:prstGeom prst="rect">
            <a:avLst/>
          </a:prstGeom>
          <a:noFill/>
        </p:spPr>
        <p:txBody>
          <a:bodyPr wrap="square">
            <a:spAutoFit/>
          </a:bodyPr>
          <a:lstStyle/>
          <a:p>
            <a:pPr>
              <a:lnSpc>
                <a:spcPct val="150000"/>
              </a:lnSpc>
            </a:pPr>
            <a:r>
              <a:rPr lang="en-US" sz="1600" b="1" dirty="0">
                <a:latin typeface="Calibir"/>
              </a:rPr>
              <a:t>Completed Python — Lab5Exc3.py</a:t>
            </a:r>
          </a:p>
          <a:p>
            <a:pPr>
              <a:lnSpc>
                <a:spcPct val="150000"/>
              </a:lnSpc>
            </a:pPr>
            <a:r>
              <a:rPr lang="en-US" sz="1300" dirty="0">
                <a:highlight>
                  <a:srgbClr val="FFFF00"/>
                </a:highlight>
                <a:latin typeface="Calibir"/>
              </a:rPr>
              <a:t>def </a:t>
            </a:r>
            <a:r>
              <a:rPr lang="en-US" sz="1300" dirty="0" err="1">
                <a:highlight>
                  <a:srgbClr val="FFFF00"/>
                </a:highlight>
                <a:latin typeface="Calibir"/>
              </a:rPr>
              <a:t>read_sentence</a:t>
            </a:r>
            <a:r>
              <a:rPr lang="en-US" sz="1300" dirty="0">
                <a:highlight>
                  <a:srgbClr val="FFFF00"/>
                </a:highlight>
                <a:latin typeface="Calibir"/>
              </a:rPr>
              <a:t>():</a:t>
            </a:r>
          </a:p>
          <a:p>
            <a:pPr>
              <a:lnSpc>
                <a:spcPct val="150000"/>
              </a:lnSpc>
            </a:pPr>
            <a:r>
              <a:rPr lang="en-US" sz="1300" dirty="0">
                <a:highlight>
                  <a:srgbClr val="FFFF00"/>
                </a:highlight>
                <a:latin typeface="Calibir"/>
              </a:rPr>
              <a:t>    return input("String: ")</a:t>
            </a:r>
          </a:p>
          <a:p>
            <a:pPr>
              <a:lnSpc>
                <a:spcPct val="150000"/>
              </a:lnSpc>
            </a:pPr>
            <a:r>
              <a:rPr lang="en-US" sz="1300" dirty="0">
                <a:highlight>
                  <a:srgbClr val="FFFF00"/>
                </a:highlight>
                <a:latin typeface="Calibir"/>
              </a:rPr>
              <a:t>def </a:t>
            </a:r>
            <a:r>
              <a:rPr lang="en-US" sz="1300" dirty="0" err="1">
                <a:highlight>
                  <a:srgbClr val="FFFF00"/>
                </a:highlight>
                <a:latin typeface="Calibir"/>
              </a:rPr>
              <a:t>count_vowels</a:t>
            </a:r>
            <a:r>
              <a:rPr lang="en-US" sz="1300" dirty="0">
                <a:highlight>
                  <a:srgbClr val="FFFF00"/>
                </a:highlight>
                <a:latin typeface="Calibir"/>
              </a:rPr>
              <a:t>(sentence):</a:t>
            </a:r>
          </a:p>
          <a:p>
            <a:pPr>
              <a:lnSpc>
                <a:spcPct val="150000"/>
              </a:lnSpc>
            </a:pPr>
            <a:r>
              <a:rPr lang="en-US" sz="1300" dirty="0">
                <a:highlight>
                  <a:srgbClr val="FFFF00"/>
                </a:highlight>
                <a:latin typeface="Calibir"/>
              </a:rPr>
              <a:t>    count = 0</a:t>
            </a:r>
          </a:p>
          <a:p>
            <a:pPr>
              <a:lnSpc>
                <a:spcPct val="150000"/>
              </a:lnSpc>
            </a:pPr>
            <a:r>
              <a:rPr lang="en-US" sz="1300" dirty="0">
                <a:highlight>
                  <a:srgbClr val="FFFF00"/>
                </a:highlight>
                <a:latin typeface="Calibir"/>
              </a:rPr>
              <a:t>    for character in sentence:</a:t>
            </a:r>
          </a:p>
          <a:p>
            <a:pPr>
              <a:lnSpc>
                <a:spcPct val="150000"/>
              </a:lnSpc>
            </a:pPr>
            <a:r>
              <a:rPr lang="en-US" sz="1300" dirty="0">
                <a:highlight>
                  <a:srgbClr val="FFFF00"/>
                </a:highlight>
                <a:latin typeface="Calibir"/>
              </a:rPr>
              <a:t>        if </a:t>
            </a:r>
            <a:r>
              <a:rPr lang="en-US" sz="1300" dirty="0" err="1">
                <a:highlight>
                  <a:srgbClr val="FFFF00"/>
                </a:highlight>
                <a:latin typeface="Calibir"/>
              </a:rPr>
              <a:t>character.lower</a:t>
            </a:r>
            <a:r>
              <a:rPr lang="en-US" sz="1300" dirty="0">
                <a:highlight>
                  <a:srgbClr val="FFFF00"/>
                </a:highlight>
                <a:latin typeface="Calibir"/>
              </a:rPr>
              <a:t>() in "</a:t>
            </a:r>
            <a:r>
              <a:rPr lang="en-US" sz="1300" dirty="0" err="1">
                <a:highlight>
                  <a:srgbClr val="FFFF00"/>
                </a:highlight>
                <a:latin typeface="Calibir"/>
              </a:rPr>
              <a:t>aeiou</a:t>
            </a:r>
            <a:r>
              <a:rPr lang="en-US" sz="1300" dirty="0">
                <a:highlight>
                  <a:srgbClr val="FFFF00"/>
                </a:highlight>
                <a:latin typeface="Calibir"/>
              </a:rPr>
              <a:t>":</a:t>
            </a:r>
          </a:p>
          <a:p>
            <a:pPr>
              <a:lnSpc>
                <a:spcPct val="150000"/>
              </a:lnSpc>
            </a:pPr>
            <a:r>
              <a:rPr lang="en-US" sz="1300" dirty="0">
                <a:highlight>
                  <a:srgbClr val="FFFF00"/>
                </a:highlight>
                <a:latin typeface="Calibir"/>
              </a:rPr>
              <a:t>            count += 1</a:t>
            </a:r>
          </a:p>
          <a:p>
            <a:pPr>
              <a:lnSpc>
                <a:spcPct val="150000"/>
              </a:lnSpc>
            </a:pPr>
            <a:r>
              <a:rPr lang="en-US" sz="1300" dirty="0">
                <a:highlight>
                  <a:srgbClr val="FFFF00"/>
                </a:highlight>
                <a:latin typeface="Calibir"/>
              </a:rPr>
              <a:t>    return count</a:t>
            </a:r>
          </a:p>
          <a:p>
            <a:pPr>
              <a:lnSpc>
                <a:spcPct val="150000"/>
              </a:lnSpc>
            </a:pPr>
            <a:r>
              <a:rPr lang="en-US" sz="1300" dirty="0">
                <a:highlight>
                  <a:srgbClr val="FFFF00"/>
                </a:highlight>
                <a:latin typeface="Calibir"/>
              </a:rPr>
              <a:t>def </a:t>
            </a:r>
            <a:r>
              <a:rPr lang="en-US" sz="1300" dirty="0" err="1">
                <a:highlight>
                  <a:srgbClr val="FFFF00"/>
                </a:highlight>
                <a:latin typeface="Calibir"/>
              </a:rPr>
              <a:t>show_vowel_count</a:t>
            </a:r>
            <a:r>
              <a:rPr lang="en-US" sz="1300" dirty="0">
                <a:highlight>
                  <a:srgbClr val="FFFF00"/>
                </a:highlight>
                <a:latin typeface="Calibir"/>
              </a:rPr>
              <a:t>(count):</a:t>
            </a:r>
          </a:p>
          <a:p>
            <a:pPr>
              <a:lnSpc>
                <a:spcPct val="150000"/>
              </a:lnSpc>
            </a:pPr>
            <a:r>
              <a:rPr lang="en-US" sz="1300" dirty="0">
                <a:highlight>
                  <a:srgbClr val="FFFF00"/>
                </a:highlight>
                <a:latin typeface="Calibir"/>
              </a:rPr>
              <a:t>    print(</a:t>
            </a:r>
          </a:p>
          <a:p>
            <a:pPr>
              <a:lnSpc>
                <a:spcPct val="150000"/>
              </a:lnSpc>
            </a:pPr>
            <a:r>
              <a:rPr lang="en-US" sz="1300" dirty="0">
                <a:highlight>
                  <a:srgbClr val="FFFF00"/>
                </a:highlight>
                <a:latin typeface="Calibir"/>
              </a:rPr>
              <a:t>        </a:t>
            </a:r>
            <a:r>
              <a:rPr lang="en-US" sz="1300" dirty="0" err="1">
                <a:highlight>
                  <a:srgbClr val="FFFF00"/>
                </a:highlight>
                <a:latin typeface="Calibir"/>
              </a:rPr>
              <a:t>f"Vowel</a:t>
            </a:r>
            <a:r>
              <a:rPr lang="en-US" sz="1300" dirty="0">
                <a:highlight>
                  <a:srgbClr val="FFFF00"/>
                </a:highlight>
                <a:latin typeface="Calibir"/>
              </a:rPr>
              <a:t> count = {count}"</a:t>
            </a:r>
          </a:p>
          <a:p>
            <a:pPr>
              <a:lnSpc>
                <a:spcPct val="150000"/>
              </a:lnSpc>
            </a:pPr>
            <a:r>
              <a:rPr lang="en-US" sz="1300" dirty="0">
                <a:highlight>
                  <a:srgbClr val="FFFF00"/>
                </a:highlight>
                <a:latin typeface="Calibir"/>
              </a:rPr>
              <a:t>    )</a:t>
            </a:r>
          </a:p>
          <a:p>
            <a:pPr>
              <a:lnSpc>
                <a:spcPct val="150000"/>
              </a:lnSpc>
            </a:pPr>
            <a:r>
              <a:rPr lang="en-US" sz="1300" dirty="0">
                <a:highlight>
                  <a:srgbClr val="FFFF00"/>
                </a:highlight>
                <a:latin typeface="Calibir"/>
              </a:rPr>
              <a:t>def main():</a:t>
            </a:r>
          </a:p>
          <a:p>
            <a:pPr>
              <a:lnSpc>
                <a:spcPct val="150000"/>
              </a:lnSpc>
            </a:pPr>
            <a:r>
              <a:rPr lang="en-US" sz="1300" dirty="0">
                <a:highlight>
                  <a:srgbClr val="FFFF00"/>
                </a:highlight>
                <a:latin typeface="Calibir"/>
              </a:rPr>
              <a:t>    while True:</a:t>
            </a:r>
          </a:p>
          <a:p>
            <a:pPr>
              <a:lnSpc>
                <a:spcPct val="150000"/>
              </a:lnSpc>
            </a:pPr>
            <a:r>
              <a:rPr lang="en-US" sz="1300" dirty="0">
                <a:highlight>
                  <a:srgbClr val="FFFF00"/>
                </a:highlight>
                <a:latin typeface="Calibir"/>
              </a:rPr>
              <a:t>        sentence = </a:t>
            </a:r>
            <a:r>
              <a:rPr lang="en-US" sz="1300" dirty="0" err="1">
                <a:highlight>
                  <a:srgbClr val="FFFF00"/>
                </a:highlight>
                <a:latin typeface="Calibir"/>
              </a:rPr>
              <a:t>read_sentence</a:t>
            </a:r>
            <a:r>
              <a:rPr lang="en-US" sz="1300" dirty="0">
                <a:highlight>
                  <a:srgbClr val="FFFF00"/>
                </a:highlight>
                <a:latin typeface="Calibir"/>
              </a:rPr>
              <a:t>()</a:t>
            </a:r>
          </a:p>
          <a:p>
            <a:pPr>
              <a:lnSpc>
                <a:spcPct val="150000"/>
              </a:lnSpc>
            </a:pPr>
            <a:r>
              <a:rPr lang="en-US" sz="1300" dirty="0">
                <a:highlight>
                  <a:srgbClr val="FFFF00"/>
                </a:highlight>
                <a:latin typeface="Calibir"/>
              </a:rPr>
              <a:t>        if sentence == "*":</a:t>
            </a:r>
          </a:p>
          <a:p>
            <a:pPr>
              <a:lnSpc>
                <a:spcPct val="150000"/>
              </a:lnSpc>
            </a:pPr>
            <a:r>
              <a:rPr lang="en-US" sz="1300" dirty="0">
                <a:highlight>
                  <a:srgbClr val="FFFF00"/>
                </a:highlight>
                <a:latin typeface="Calibir"/>
              </a:rPr>
              <a:t>            print("Done")</a:t>
            </a:r>
          </a:p>
          <a:p>
            <a:pPr>
              <a:lnSpc>
                <a:spcPct val="150000"/>
              </a:lnSpc>
            </a:pPr>
            <a:r>
              <a:rPr lang="en-US" sz="1300" dirty="0">
                <a:highlight>
                  <a:srgbClr val="FFFF00"/>
                </a:highlight>
                <a:latin typeface="Calibir"/>
              </a:rPr>
              <a:t>            break</a:t>
            </a:r>
          </a:p>
          <a:p>
            <a:pPr>
              <a:lnSpc>
                <a:spcPct val="150000"/>
              </a:lnSpc>
            </a:pPr>
            <a:r>
              <a:rPr lang="en-US" sz="1300" dirty="0">
                <a:highlight>
                  <a:srgbClr val="FFFF00"/>
                </a:highlight>
                <a:latin typeface="Calibir"/>
              </a:rPr>
              <a:t>        count = </a:t>
            </a:r>
            <a:r>
              <a:rPr lang="en-US" sz="1300" dirty="0" err="1">
                <a:highlight>
                  <a:srgbClr val="FFFF00"/>
                </a:highlight>
                <a:latin typeface="Calibir"/>
              </a:rPr>
              <a:t>count_vowels</a:t>
            </a:r>
            <a:r>
              <a:rPr lang="en-US" sz="1300" dirty="0">
                <a:highlight>
                  <a:srgbClr val="FFFF00"/>
                </a:highlight>
                <a:latin typeface="Calibir"/>
              </a:rPr>
              <a:t>(sentence)</a:t>
            </a:r>
          </a:p>
          <a:p>
            <a:pPr>
              <a:lnSpc>
                <a:spcPct val="150000"/>
              </a:lnSpc>
            </a:pPr>
            <a:r>
              <a:rPr lang="en-US" sz="1300" dirty="0">
                <a:highlight>
                  <a:srgbClr val="FFFF00"/>
                </a:highlight>
                <a:latin typeface="Calibir"/>
              </a:rPr>
              <a:t>        </a:t>
            </a:r>
            <a:r>
              <a:rPr lang="en-US" sz="1300" dirty="0" err="1">
                <a:highlight>
                  <a:srgbClr val="FFFF00"/>
                </a:highlight>
                <a:latin typeface="Calibir"/>
              </a:rPr>
              <a:t>show_vowel_count</a:t>
            </a:r>
            <a:r>
              <a:rPr lang="en-US" sz="1300" dirty="0">
                <a:highlight>
                  <a:srgbClr val="FFFF00"/>
                </a:highlight>
                <a:latin typeface="Calibir"/>
              </a:rPr>
              <a:t>(count)</a:t>
            </a:r>
          </a:p>
          <a:p>
            <a:pPr>
              <a:lnSpc>
                <a:spcPct val="150000"/>
              </a:lnSpc>
            </a:pPr>
            <a:r>
              <a:rPr lang="en-US" sz="1300" dirty="0">
                <a:highlight>
                  <a:srgbClr val="FFFF00"/>
                </a:highlight>
                <a:latin typeface="Calibir"/>
              </a:rPr>
              <a:t>if __name__ == "__main__":</a:t>
            </a:r>
          </a:p>
          <a:p>
            <a:pPr>
              <a:lnSpc>
                <a:spcPct val="150000"/>
              </a:lnSpc>
            </a:pPr>
            <a:r>
              <a:rPr lang="en-US" sz="1300" dirty="0">
                <a:highlight>
                  <a:srgbClr val="FFFF00"/>
                </a:highlight>
                <a:latin typeface="Calibir"/>
              </a:rPr>
              <a:t>    main()</a:t>
            </a:r>
          </a:p>
        </p:txBody>
      </p:sp>
    </p:spTree>
    <p:extLst>
      <p:ext uri="{BB962C8B-B14F-4D97-AF65-F5344CB8AC3E}">
        <p14:creationId xmlns:p14="http://schemas.microsoft.com/office/powerpoint/2010/main" val="19679058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31FA6FC-D611-DBF2-BF7C-5ABA492AE3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7945DD-8561-8C77-A608-34D8FE9F82DE}"/>
              </a:ext>
            </a:extLst>
          </p:cNvPr>
          <p:cNvSpPr txBox="1"/>
          <p:nvPr/>
        </p:nvSpPr>
        <p:spPr>
          <a:xfrm>
            <a:off x="0" y="0"/>
            <a:ext cx="11975690" cy="5842497"/>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b="1" dirty="0">
                <a:latin typeface="Calibir"/>
              </a:rPr>
              <a:t>Step 1 — Read sentence</a:t>
            </a:r>
          </a:p>
          <a:p>
            <a:pPr>
              <a:lnSpc>
                <a:spcPct val="150000"/>
              </a:lnSpc>
            </a:pPr>
            <a:r>
              <a:rPr lang="en-US" sz="2800" dirty="0">
                <a:highlight>
                  <a:srgbClr val="FFFF00"/>
                </a:highlight>
                <a:latin typeface="Calibir"/>
              </a:rPr>
              <a:t>public static String </a:t>
            </a:r>
            <a:r>
              <a:rPr lang="en-US" sz="2800" dirty="0" err="1">
                <a:highlight>
                  <a:srgbClr val="FFFF00"/>
                </a:highlight>
                <a:latin typeface="Calibir"/>
              </a:rPr>
              <a:t>readSentence</a:t>
            </a:r>
            <a:r>
              <a:rPr lang="en-US" sz="2800" dirty="0">
                <a:highlight>
                  <a:srgbClr val="FFFF00"/>
                </a:highlight>
                <a:latin typeface="Calibir"/>
              </a:rPr>
              <a:t>(</a:t>
            </a:r>
          </a:p>
          <a:p>
            <a:pPr>
              <a:lnSpc>
                <a:spcPct val="150000"/>
              </a:lnSpc>
            </a:pPr>
            <a:r>
              <a:rPr lang="en-US" sz="2800" dirty="0">
                <a:highlight>
                  <a:srgbClr val="FFFF00"/>
                </a:highlight>
                <a:latin typeface="Calibir"/>
              </a:rPr>
              <a:t>        Scanner input)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a:t>
            </a:r>
            <a:r>
              <a:rPr lang="en-US" sz="2800" dirty="0" err="1">
                <a:highlight>
                  <a:srgbClr val="FFFF00"/>
                </a:highlight>
                <a:latin typeface="Calibir"/>
              </a:rPr>
              <a:t>System.out.print</a:t>
            </a:r>
            <a:r>
              <a:rPr lang="en-US" sz="2800" dirty="0">
                <a:highlight>
                  <a:srgbClr val="FFFF00"/>
                </a:highlight>
                <a:latin typeface="Calibir"/>
              </a:rPr>
              <a:t>("String: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return </a:t>
            </a:r>
            <a:r>
              <a:rPr lang="en-US" sz="2800" dirty="0" err="1">
                <a:highlight>
                  <a:srgbClr val="FFFF00"/>
                </a:highlight>
                <a:latin typeface="Calibir"/>
              </a:rPr>
              <a:t>input.nextLine</a:t>
            </a:r>
            <a:r>
              <a:rPr lang="en-US" sz="2800" dirty="0">
                <a:highlight>
                  <a:srgbClr val="FFFF00"/>
                </a:highlight>
                <a:latin typeface="Calibir"/>
              </a:rPr>
              <a: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138687862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85A0588-DE87-73DC-A248-535B8B1ADF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FC6D07-1168-6FE0-D5DE-C6AE0743A097}"/>
              </a:ext>
            </a:extLst>
          </p:cNvPr>
          <p:cNvSpPr txBox="1"/>
          <p:nvPr/>
        </p:nvSpPr>
        <p:spPr>
          <a:xfrm>
            <a:off x="0" y="0"/>
            <a:ext cx="11975690" cy="7265707"/>
          </a:xfrm>
          <a:prstGeom prst="rect">
            <a:avLst/>
          </a:prstGeom>
          <a:noFill/>
        </p:spPr>
        <p:txBody>
          <a:bodyPr wrap="square">
            <a:spAutoFit/>
          </a:bodyPr>
          <a:lstStyle/>
          <a:p>
            <a:pPr>
              <a:lnSpc>
                <a:spcPct val="150000"/>
              </a:lnSpc>
            </a:pPr>
            <a:r>
              <a:rPr lang="en-US" sz="1200" b="1" dirty="0">
                <a:latin typeface="Calibir"/>
              </a:rPr>
              <a:t>Step 2 — Count vowels</a:t>
            </a:r>
          </a:p>
          <a:p>
            <a:pPr>
              <a:lnSpc>
                <a:spcPct val="150000"/>
              </a:lnSpc>
            </a:pPr>
            <a:r>
              <a:rPr lang="en-US" sz="1200" dirty="0">
                <a:highlight>
                  <a:srgbClr val="FFFF00"/>
                </a:highlight>
                <a:latin typeface="Calibir"/>
              </a:rPr>
              <a:t>public static int </a:t>
            </a:r>
            <a:r>
              <a:rPr lang="en-US" sz="1200" dirty="0" err="1">
                <a:highlight>
                  <a:srgbClr val="FFFF00"/>
                </a:highlight>
                <a:latin typeface="Calibir"/>
              </a:rPr>
              <a:t>countVowels</a:t>
            </a:r>
            <a:r>
              <a:rPr lang="en-US" sz="1200" dirty="0">
                <a:highlight>
                  <a:srgbClr val="FFFF00"/>
                </a:highlight>
                <a:latin typeface="Calibir"/>
              </a:rPr>
              <a:t>(</a:t>
            </a:r>
          </a:p>
          <a:p>
            <a:pPr>
              <a:lnSpc>
                <a:spcPct val="150000"/>
              </a:lnSpc>
            </a:pPr>
            <a:r>
              <a:rPr lang="en-US" sz="1200" dirty="0">
                <a:highlight>
                  <a:srgbClr val="FFFF00"/>
                </a:highlight>
                <a:latin typeface="Calibir"/>
              </a:rPr>
              <a:t>        String sentence) {</a:t>
            </a:r>
          </a:p>
          <a:p>
            <a:pPr>
              <a:lnSpc>
                <a:spcPct val="150000"/>
              </a:lnSpc>
            </a:pPr>
            <a:r>
              <a:rPr lang="en-US" sz="1200" dirty="0">
                <a:highlight>
                  <a:srgbClr val="FFFF00"/>
                </a:highlight>
                <a:latin typeface="Calibir"/>
              </a:rPr>
              <a:t>    int count = 0;</a:t>
            </a:r>
          </a:p>
          <a:p>
            <a:pPr>
              <a:lnSpc>
                <a:spcPct val="150000"/>
              </a:lnSpc>
            </a:pPr>
            <a:r>
              <a:rPr lang="en-US" sz="1200" dirty="0">
                <a:highlight>
                  <a:srgbClr val="FFFF00"/>
                </a:highlight>
                <a:latin typeface="Calibir"/>
              </a:rPr>
              <a:t>    sentence =</a:t>
            </a:r>
          </a:p>
          <a:p>
            <a:pPr>
              <a:lnSpc>
                <a:spcPct val="150000"/>
              </a:lnSpc>
            </a:pPr>
            <a:r>
              <a:rPr lang="en-US" sz="1200" dirty="0">
                <a:highlight>
                  <a:srgbClr val="FFFF00"/>
                </a:highlight>
                <a:latin typeface="Calibir"/>
              </a:rPr>
              <a:t>            </a:t>
            </a:r>
            <a:r>
              <a:rPr lang="en-US" sz="1200" dirty="0" err="1">
                <a:highlight>
                  <a:srgbClr val="FFFF00"/>
                </a:highlight>
                <a:latin typeface="Calibir"/>
              </a:rPr>
              <a:t>sentence.toLowerCase</a:t>
            </a:r>
            <a:r>
              <a:rPr lang="en-US" sz="1200" dirty="0">
                <a:highlight>
                  <a:srgbClr val="FFFF00"/>
                </a:highlight>
                <a:latin typeface="Calibir"/>
              </a:rPr>
              <a:t>();</a:t>
            </a:r>
          </a:p>
          <a:p>
            <a:pPr>
              <a:lnSpc>
                <a:spcPct val="150000"/>
              </a:lnSpc>
            </a:pPr>
            <a:r>
              <a:rPr lang="en-US" sz="1200" dirty="0">
                <a:highlight>
                  <a:srgbClr val="FFFF00"/>
                </a:highlight>
                <a:latin typeface="Calibir"/>
              </a:rPr>
              <a:t>    for (</a:t>
            </a:r>
          </a:p>
          <a:p>
            <a:pPr>
              <a:lnSpc>
                <a:spcPct val="150000"/>
              </a:lnSpc>
            </a:pPr>
            <a:r>
              <a:rPr lang="en-US" sz="1200" dirty="0">
                <a:highlight>
                  <a:srgbClr val="FFFF00"/>
                </a:highlight>
                <a:latin typeface="Calibir"/>
              </a:rPr>
              <a:t>        int </a:t>
            </a:r>
            <a:r>
              <a:rPr lang="en-US" sz="1200" dirty="0" err="1">
                <a:highlight>
                  <a:srgbClr val="FFFF00"/>
                </a:highlight>
                <a:latin typeface="Calibir"/>
              </a:rPr>
              <a:t>i</a:t>
            </a:r>
            <a:r>
              <a:rPr lang="en-US" sz="1200" dirty="0">
                <a:highlight>
                  <a:srgbClr val="FFFF00"/>
                </a:highlight>
                <a:latin typeface="Calibir"/>
              </a:rPr>
              <a:t> = 0;</a:t>
            </a:r>
          </a:p>
          <a:p>
            <a:pPr>
              <a:lnSpc>
                <a:spcPct val="150000"/>
              </a:lnSpc>
            </a:pPr>
            <a:r>
              <a:rPr lang="en-US" sz="1200" dirty="0">
                <a:highlight>
                  <a:srgbClr val="FFFF00"/>
                </a:highlight>
                <a:latin typeface="Calibir"/>
              </a:rPr>
              <a:t>        </a:t>
            </a:r>
            <a:r>
              <a:rPr lang="en-US" sz="1200" dirty="0" err="1">
                <a:highlight>
                  <a:srgbClr val="FFFF00"/>
                </a:highlight>
                <a:latin typeface="Calibir"/>
              </a:rPr>
              <a:t>i</a:t>
            </a:r>
            <a:r>
              <a:rPr lang="en-US" sz="1200" dirty="0">
                <a:highlight>
                  <a:srgbClr val="FFFF00"/>
                </a:highlight>
                <a:latin typeface="Calibir"/>
              </a:rPr>
              <a:t> &lt; </a:t>
            </a:r>
            <a:r>
              <a:rPr lang="en-US" sz="1200" dirty="0" err="1">
                <a:highlight>
                  <a:srgbClr val="FFFF00"/>
                </a:highlight>
                <a:latin typeface="Calibir"/>
              </a:rPr>
              <a:t>sentence.length</a:t>
            </a:r>
            <a:r>
              <a:rPr lang="en-US" sz="1200" dirty="0">
                <a:highlight>
                  <a:srgbClr val="FFFF00"/>
                </a:highlight>
                <a:latin typeface="Calibir"/>
              </a:rPr>
              <a:t>();</a:t>
            </a:r>
          </a:p>
          <a:p>
            <a:pPr>
              <a:lnSpc>
                <a:spcPct val="150000"/>
              </a:lnSpc>
            </a:pPr>
            <a:r>
              <a:rPr lang="en-US" sz="1200" dirty="0">
                <a:highlight>
                  <a:srgbClr val="FFFF00"/>
                </a:highlight>
                <a:latin typeface="Calibir"/>
              </a:rPr>
              <a:t>        </a:t>
            </a:r>
            <a:r>
              <a:rPr lang="en-US" sz="1200" dirty="0" err="1">
                <a:highlight>
                  <a:srgbClr val="FFFF00"/>
                </a:highlight>
                <a:latin typeface="Calibir"/>
              </a:rPr>
              <a:t>i</a:t>
            </a:r>
            <a:r>
              <a:rPr lang="en-US" sz="1200" dirty="0">
                <a:highlight>
                  <a:srgbClr val="FFFF00"/>
                </a:highlight>
                <a:latin typeface="Calibir"/>
              </a:rPr>
              <a:t>++</a:t>
            </a:r>
          </a:p>
          <a:p>
            <a:pPr>
              <a:lnSpc>
                <a:spcPct val="150000"/>
              </a:lnSpc>
            </a:pPr>
            <a:r>
              <a:rPr lang="en-US" sz="1200" dirty="0">
                <a:highlight>
                  <a:srgbClr val="FFFF00"/>
                </a:highlight>
                <a:latin typeface="Calibir"/>
              </a:rPr>
              <a:t>    ) {</a:t>
            </a:r>
          </a:p>
          <a:p>
            <a:pPr>
              <a:lnSpc>
                <a:spcPct val="150000"/>
              </a:lnSpc>
            </a:pPr>
            <a:r>
              <a:rPr lang="en-US" sz="1200" dirty="0">
                <a:highlight>
                  <a:srgbClr val="FFFF00"/>
                </a:highlight>
                <a:latin typeface="Calibir"/>
              </a:rPr>
              <a:t>        char ch =</a:t>
            </a:r>
          </a:p>
          <a:p>
            <a:pPr>
              <a:lnSpc>
                <a:spcPct val="150000"/>
              </a:lnSpc>
            </a:pPr>
            <a:r>
              <a:rPr lang="en-US" sz="1200" dirty="0">
                <a:highlight>
                  <a:srgbClr val="FFFF00"/>
                </a:highlight>
                <a:latin typeface="Calibir"/>
              </a:rPr>
              <a:t>                </a:t>
            </a:r>
            <a:r>
              <a:rPr lang="en-US" sz="1200" dirty="0" err="1">
                <a:highlight>
                  <a:srgbClr val="FFFF00"/>
                </a:highlight>
                <a:latin typeface="Calibir"/>
              </a:rPr>
              <a:t>sentence.charAt</a:t>
            </a:r>
            <a:r>
              <a:rPr lang="en-US" sz="1200" dirty="0">
                <a:highlight>
                  <a:srgbClr val="FFFF00"/>
                </a:highlight>
                <a:latin typeface="Calibir"/>
              </a:rPr>
              <a:t>(</a:t>
            </a:r>
            <a:r>
              <a:rPr lang="en-US" sz="1200" dirty="0" err="1">
                <a:highlight>
                  <a:srgbClr val="FFFF00"/>
                </a:highlight>
                <a:latin typeface="Calibir"/>
              </a:rPr>
              <a:t>i</a:t>
            </a:r>
            <a:r>
              <a:rPr lang="en-US" sz="1200" dirty="0">
                <a:highlight>
                  <a:srgbClr val="FFFF00"/>
                </a:highlight>
                <a:latin typeface="Calibir"/>
              </a:rPr>
              <a:t>);</a:t>
            </a:r>
          </a:p>
          <a:p>
            <a:pPr>
              <a:lnSpc>
                <a:spcPct val="150000"/>
              </a:lnSpc>
            </a:pPr>
            <a:r>
              <a:rPr lang="en-US" sz="1200" dirty="0">
                <a:highlight>
                  <a:srgbClr val="FFFF00"/>
                </a:highlight>
                <a:latin typeface="Calibir"/>
              </a:rPr>
              <a:t>        if (</a:t>
            </a:r>
          </a:p>
          <a:p>
            <a:pPr>
              <a:lnSpc>
                <a:spcPct val="150000"/>
              </a:lnSpc>
            </a:pPr>
            <a:r>
              <a:rPr lang="en-US" sz="1200" dirty="0">
                <a:highlight>
                  <a:srgbClr val="FFFF00"/>
                </a:highlight>
                <a:latin typeface="Calibir"/>
              </a:rPr>
              <a:t>            ch == 'a'</a:t>
            </a:r>
          </a:p>
          <a:p>
            <a:pPr>
              <a:lnSpc>
                <a:spcPct val="150000"/>
              </a:lnSpc>
            </a:pPr>
            <a:r>
              <a:rPr lang="en-US" sz="1200" dirty="0">
                <a:highlight>
                  <a:srgbClr val="FFFF00"/>
                </a:highlight>
                <a:latin typeface="Calibir"/>
              </a:rPr>
              <a:t>            || ch == 'e'</a:t>
            </a:r>
          </a:p>
          <a:p>
            <a:pPr>
              <a:lnSpc>
                <a:spcPct val="150000"/>
              </a:lnSpc>
            </a:pPr>
            <a:r>
              <a:rPr lang="en-US" sz="1200" dirty="0">
                <a:highlight>
                  <a:srgbClr val="FFFF00"/>
                </a:highlight>
                <a:latin typeface="Calibir"/>
              </a:rPr>
              <a:t>            || ch == '</a:t>
            </a:r>
            <a:r>
              <a:rPr lang="en-US" sz="1200" dirty="0" err="1">
                <a:highlight>
                  <a:srgbClr val="FFFF00"/>
                </a:highlight>
                <a:latin typeface="Calibir"/>
              </a:rPr>
              <a:t>i</a:t>
            </a:r>
            <a:r>
              <a:rPr lang="en-US" sz="1200" dirty="0">
                <a:highlight>
                  <a:srgbClr val="FFFF00"/>
                </a:highlight>
                <a:latin typeface="Calibir"/>
              </a:rPr>
              <a:t>'</a:t>
            </a:r>
          </a:p>
          <a:p>
            <a:pPr>
              <a:lnSpc>
                <a:spcPct val="150000"/>
              </a:lnSpc>
            </a:pPr>
            <a:r>
              <a:rPr lang="en-US" sz="1200" dirty="0">
                <a:highlight>
                  <a:srgbClr val="FFFF00"/>
                </a:highlight>
                <a:latin typeface="Calibir"/>
              </a:rPr>
              <a:t>            || ch == 'o'</a:t>
            </a:r>
          </a:p>
          <a:p>
            <a:pPr>
              <a:lnSpc>
                <a:spcPct val="150000"/>
              </a:lnSpc>
            </a:pPr>
            <a:r>
              <a:rPr lang="en-US" sz="1200" dirty="0">
                <a:highlight>
                  <a:srgbClr val="FFFF00"/>
                </a:highlight>
                <a:latin typeface="Calibir"/>
              </a:rPr>
              <a:t>            || ch == 'u'</a:t>
            </a:r>
          </a:p>
          <a:p>
            <a:pPr>
              <a:lnSpc>
                <a:spcPct val="150000"/>
              </a:lnSpc>
            </a:pPr>
            <a:r>
              <a:rPr lang="en-US" sz="1200" dirty="0">
                <a:highlight>
                  <a:srgbClr val="FFFF00"/>
                </a:highlight>
                <a:latin typeface="Calibir"/>
              </a:rPr>
              <a:t>        ) {</a:t>
            </a:r>
          </a:p>
          <a:p>
            <a:pPr>
              <a:lnSpc>
                <a:spcPct val="150000"/>
              </a:lnSpc>
            </a:pPr>
            <a:r>
              <a:rPr lang="en-US" sz="1200" dirty="0">
                <a:highlight>
                  <a:srgbClr val="FFFF00"/>
                </a:highlight>
                <a:latin typeface="Calibir"/>
              </a:rPr>
              <a:t>            count++;</a:t>
            </a:r>
          </a:p>
          <a:p>
            <a:pPr>
              <a:lnSpc>
                <a:spcPct val="150000"/>
              </a:lnSpc>
            </a:pPr>
            <a:r>
              <a:rPr lang="en-US" sz="1200" dirty="0">
                <a:highlight>
                  <a:srgbClr val="FFFF00"/>
                </a:highlight>
                <a:latin typeface="Calibir"/>
              </a:rPr>
              <a:t>        }</a:t>
            </a:r>
          </a:p>
          <a:p>
            <a:pPr>
              <a:lnSpc>
                <a:spcPct val="150000"/>
              </a:lnSpc>
            </a:pPr>
            <a:r>
              <a:rPr lang="en-US" sz="1200" dirty="0">
                <a:highlight>
                  <a:srgbClr val="FFFF00"/>
                </a:highlight>
                <a:latin typeface="Calibir"/>
              </a:rPr>
              <a:t>    }</a:t>
            </a:r>
          </a:p>
          <a:p>
            <a:pPr>
              <a:lnSpc>
                <a:spcPct val="150000"/>
              </a:lnSpc>
            </a:pPr>
            <a:r>
              <a:rPr lang="en-US" sz="1200" dirty="0">
                <a:highlight>
                  <a:srgbClr val="FFFF00"/>
                </a:highlight>
                <a:latin typeface="Calibir"/>
              </a:rPr>
              <a:t>    return count;</a:t>
            </a:r>
          </a:p>
          <a:p>
            <a:pPr>
              <a:lnSpc>
                <a:spcPct val="150000"/>
              </a:lnSpc>
            </a:pPr>
            <a:r>
              <a:rPr lang="en-US" sz="1200" dirty="0">
                <a:highlight>
                  <a:srgbClr val="FFFF00"/>
                </a:highlight>
                <a:latin typeface="Calibir"/>
              </a:rPr>
              <a:t>}</a:t>
            </a:r>
          </a:p>
        </p:txBody>
      </p:sp>
    </p:spTree>
    <p:extLst>
      <p:ext uri="{BB962C8B-B14F-4D97-AF65-F5344CB8AC3E}">
        <p14:creationId xmlns:p14="http://schemas.microsoft.com/office/powerpoint/2010/main" val="39189731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CFC99B6-2E04-12B1-C1DC-5797D4BE70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4BD490-5D78-A4C1-EB16-8B532F6F78AC}"/>
              </a:ext>
            </a:extLst>
          </p:cNvPr>
          <p:cNvSpPr txBox="1"/>
          <p:nvPr/>
        </p:nvSpPr>
        <p:spPr>
          <a:xfrm>
            <a:off x="0" y="0"/>
            <a:ext cx="11975690" cy="4549835"/>
          </a:xfrm>
          <a:prstGeom prst="rect">
            <a:avLst/>
          </a:prstGeom>
          <a:noFill/>
        </p:spPr>
        <p:txBody>
          <a:bodyPr wrap="square">
            <a:spAutoFit/>
          </a:bodyPr>
          <a:lstStyle/>
          <a:p>
            <a:pPr>
              <a:lnSpc>
                <a:spcPct val="150000"/>
              </a:lnSpc>
            </a:pPr>
            <a:r>
              <a:rPr lang="en-US" sz="2800" b="1" dirty="0">
                <a:latin typeface="Calibir"/>
              </a:rPr>
              <a:t>Step 3 — Show count</a:t>
            </a:r>
          </a:p>
          <a:p>
            <a:pPr>
              <a:lnSpc>
                <a:spcPct val="150000"/>
              </a:lnSpc>
            </a:pPr>
            <a:r>
              <a:rPr lang="en-US" sz="2800" dirty="0">
                <a:highlight>
                  <a:srgbClr val="FFFF00"/>
                </a:highlight>
                <a:latin typeface="Calibir"/>
              </a:rPr>
              <a:t>public static void </a:t>
            </a:r>
            <a:r>
              <a:rPr lang="en-US" sz="2800" dirty="0" err="1">
                <a:highlight>
                  <a:srgbClr val="FFFF00"/>
                </a:highlight>
                <a:latin typeface="Calibir"/>
              </a:rPr>
              <a:t>showVowelCount</a:t>
            </a:r>
            <a:r>
              <a:rPr lang="en-US" sz="2800" dirty="0">
                <a:highlight>
                  <a:srgbClr val="FFFF00"/>
                </a:highlight>
                <a:latin typeface="Calibir"/>
              </a:rPr>
              <a:t>(</a:t>
            </a:r>
          </a:p>
          <a:p>
            <a:pPr>
              <a:lnSpc>
                <a:spcPct val="150000"/>
              </a:lnSpc>
            </a:pPr>
            <a:r>
              <a:rPr lang="en-US" sz="2800" dirty="0">
                <a:highlight>
                  <a:srgbClr val="FFFF00"/>
                </a:highlight>
                <a:latin typeface="Calibir"/>
              </a:rPr>
              <a:t>        int count) {</a:t>
            </a:r>
          </a:p>
          <a:p>
            <a:pPr>
              <a:lnSpc>
                <a:spcPct val="150000"/>
              </a:lnSpc>
            </a:pPr>
            <a:r>
              <a:rPr lang="en-US" sz="2800" dirty="0">
                <a:highlight>
                  <a:srgbClr val="FFFF00"/>
                </a:highlight>
                <a:latin typeface="Calibir"/>
              </a:rPr>
              <a:t>    </a:t>
            </a:r>
            <a:r>
              <a:rPr lang="en-US" sz="2800" dirty="0" err="1">
                <a:highlight>
                  <a:srgbClr val="FFFF00"/>
                </a:highlight>
                <a:latin typeface="Calibir"/>
              </a:rPr>
              <a:t>System.out.println</a:t>
            </a:r>
            <a:r>
              <a:rPr lang="en-US" sz="2800" dirty="0">
                <a:highlight>
                  <a:srgbClr val="FFFF00"/>
                </a:highlight>
                <a:latin typeface="Calibir"/>
              </a:rPr>
              <a:t>(</a:t>
            </a:r>
          </a:p>
          <a:p>
            <a:pPr>
              <a:lnSpc>
                <a:spcPct val="150000"/>
              </a:lnSpc>
            </a:pPr>
            <a:r>
              <a:rPr lang="en-US" sz="2800" dirty="0">
                <a:highlight>
                  <a:srgbClr val="FFFF00"/>
                </a:highlight>
                <a:latin typeface="Calibir"/>
              </a:rPr>
              <a:t>        "Vowel count = " + count</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2567202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C2B8FCA-FF77-607F-C52E-58E8984C14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7A826B8-28BA-1A0A-1482-A6B587D49D5E}"/>
              </a:ext>
            </a:extLst>
          </p:cNvPr>
          <p:cNvSpPr txBox="1"/>
          <p:nvPr/>
        </p:nvSpPr>
        <p:spPr>
          <a:xfrm>
            <a:off x="0" y="0"/>
            <a:ext cx="11975690" cy="6863417"/>
          </a:xfrm>
          <a:prstGeom prst="rect">
            <a:avLst/>
          </a:prstGeom>
          <a:noFill/>
        </p:spPr>
        <p:txBody>
          <a:bodyPr wrap="square">
            <a:spAutoFit/>
          </a:bodyPr>
          <a:lstStyle/>
          <a:p>
            <a:r>
              <a:rPr lang="en-US" sz="1000" b="1" dirty="0">
                <a:latin typeface="Calibir"/>
              </a:rPr>
              <a:t>Completed Java — Lab5Exc3.java</a:t>
            </a:r>
          </a:p>
          <a:p>
            <a:r>
              <a:rPr lang="en-US" sz="1000" dirty="0">
                <a:highlight>
                  <a:srgbClr val="FFFF00"/>
                </a:highlight>
                <a:latin typeface="Calibir"/>
              </a:rPr>
              <a:t>import </a:t>
            </a:r>
            <a:r>
              <a:rPr lang="en-US" sz="1000" dirty="0" err="1">
                <a:highlight>
                  <a:srgbClr val="FFFF00"/>
                </a:highlight>
                <a:latin typeface="Calibir"/>
              </a:rPr>
              <a:t>java.util.Scanner</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public class Lab5Exc3 {</a:t>
            </a:r>
          </a:p>
          <a:p>
            <a:endParaRPr lang="en-US" sz="1000" dirty="0">
              <a:highlight>
                <a:srgbClr val="FFFF00"/>
              </a:highlight>
              <a:latin typeface="Calibir"/>
            </a:endParaRPr>
          </a:p>
          <a:p>
            <a:r>
              <a:rPr lang="en-US" sz="1000" dirty="0">
                <a:highlight>
                  <a:srgbClr val="FFFF00"/>
                </a:highlight>
                <a:latin typeface="Calibir"/>
              </a:rPr>
              <a:t>    public static String </a:t>
            </a:r>
            <a:r>
              <a:rPr lang="en-US" sz="1000" dirty="0" err="1">
                <a:highlight>
                  <a:srgbClr val="FFFF00"/>
                </a:highlight>
                <a:latin typeface="Calibir"/>
              </a:rPr>
              <a:t>readSentence</a:t>
            </a:r>
            <a:r>
              <a:rPr lang="en-US" sz="1000" dirty="0">
                <a:highlight>
                  <a:srgbClr val="FFFF00"/>
                </a:highlight>
                <a:latin typeface="Calibir"/>
              </a:rPr>
              <a:t>(</a:t>
            </a:r>
          </a:p>
          <a:p>
            <a:r>
              <a:rPr lang="en-US" sz="1000" dirty="0">
                <a:highlight>
                  <a:srgbClr val="FFFF00"/>
                </a:highlight>
                <a:latin typeface="Calibir"/>
              </a:rPr>
              <a:t>            Scanner input)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a:t>
            </a:r>
            <a:r>
              <a:rPr lang="en-US" sz="1000" dirty="0">
                <a:highlight>
                  <a:srgbClr val="FFFF00"/>
                </a:highlight>
                <a:latin typeface="Calibir"/>
              </a:rPr>
              <a:t>("String: ");</a:t>
            </a:r>
          </a:p>
          <a:p>
            <a:endParaRPr lang="en-US" sz="1000" dirty="0">
              <a:highlight>
                <a:srgbClr val="FFFF00"/>
              </a:highlight>
              <a:latin typeface="Calibir"/>
            </a:endParaRPr>
          </a:p>
          <a:p>
            <a:r>
              <a:rPr lang="en-US" sz="1000" dirty="0">
                <a:highlight>
                  <a:srgbClr val="FFFF00"/>
                </a:highlight>
                <a:latin typeface="Calibir"/>
              </a:rPr>
              <a:t>        return </a:t>
            </a:r>
            <a:r>
              <a:rPr lang="en-US" sz="1000" dirty="0" err="1">
                <a:highlight>
                  <a:srgbClr val="FFFF00"/>
                </a:highlight>
                <a:latin typeface="Calibir"/>
              </a:rPr>
              <a:t>input.nextLine</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static int </a:t>
            </a:r>
            <a:r>
              <a:rPr lang="en-US" sz="1000" dirty="0" err="1">
                <a:highlight>
                  <a:srgbClr val="FFFF00"/>
                </a:highlight>
                <a:latin typeface="Calibir"/>
              </a:rPr>
              <a:t>countVowels</a:t>
            </a:r>
            <a:r>
              <a:rPr lang="en-US" sz="1000" dirty="0">
                <a:highlight>
                  <a:srgbClr val="FFFF00"/>
                </a:highlight>
                <a:latin typeface="Calibir"/>
              </a:rPr>
              <a:t>(</a:t>
            </a:r>
          </a:p>
          <a:p>
            <a:r>
              <a:rPr lang="en-US" sz="1000" dirty="0">
                <a:highlight>
                  <a:srgbClr val="FFFF00"/>
                </a:highlight>
                <a:latin typeface="Calibir"/>
              </a:rPr>
              <a:t>            String sentence) {</a:t>
            </a:r>
          </a:p>
          <a:p>
            <a:endParaRPr lang="en-US" sz="1000" dirty="0">
              <a:highlight>
                <a:srgbClr val="FFFF00"/>
              </a:highlight>
              <a:latin typeface="Calibir"/>
            </a:endParaRPr>
          </a:p>
          <a:p>
            <a:r>
              <a:rPr lang="en-US" sz="1000" dirty="0">
                <a:highlight>
                  <a:srgbClr val="FFFF00"/>
                </a:highlight>
                <a:latin typeface="Calibir"/>
              </a:rPr>
              <a:t>        int count = 0;</a:t>
            </a:r>
          </a:p>
          <a:p>
            <a:endParaRPr lang="en-US" sz="1000" dirty="0">
              <a:highlight>
                <a:srgbClr val="FFFF00"/>
              </a:highlight>
              <a:latin typeface="Calibir"/>
            </a:endParaRPr>
          </a:p>
          <a:p>
            <a:r>
              <a:rPr lang="en-US" sz="1000" dirty="0">
                <a:highlight>
                  <a:srgbClr val="FFFF00"/>
                </a:highlight>
                <a:latin typeface="Calibir"/>
              </a:rPr>
              <a:t>        sentence =</a:t>
            </a:r>
          </a:p>
          <a:p>
            <a:r>
              <a:rPr lang="en-US" sz="1000" dirty="0">
                <a:highlight>
                  <a:srgbClr val="FFFF00"/>
                </a:highlight>
                <a:latin typeface="Calibir"/>
              </a:rPr>
              <a:t>                </a:t>
            </a:r>
            <a:r>
              <a:rPr lang="en-US" sz="1000" dirty="0" err="1">
                <a:highlight>
                  <a:srgbClr val="FFFF00"/>
                </a:highlight>
                <a:latin typeface="Calibir"/>
              </a:rPr>
              <a:t>sentence.toLowerCase</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for (</a:t>
            </a:r>
          </a:p>
          <a:p>
            <a:r>
              <a:rPr lang="en-US" sz="1000" dirty="0">
                <a:highlight>
                  <a:srgbClr val="FFFF00"/>
                </a:highlight>
                <a:latin typeface="Calibir"/>
              </a:rPr>
              <a:t>            int </a:t>
            </a:r>
            <a:r>
              <a:rPr lang="en-US" sz="1000" dirty="0" err="1">
                <a:highlight>
                  <a:srgbClr val="FFFF00"/>
                </a:highlight>
                <a:latin typeface="Calibir"/>
              </a:rPr>
              <a:t>i</a:t>
            </a:r>
            <a:r>
              <a:rPr lang="en-US" sz="1000" dirty="0">
                <a:highlight>
                  <a:srgbClr val="FFFF00"/>
                </a:highlight>
                <a:latin typeface="Calibir"/>
              </a:rPr>
              <a:t> = 0;</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 &lt; </a:t>
            </a:r>
            <a:r>
              <a:rPr lang="en-US" sz="1000" dirty="0" err="1">
                <a:highlight>
                  <a:srgbClr val="FFFF00"/>
                </a:highlight>
                <a:latin typeface="Calibir"/>
              </a:rPr>
              <a:t>sentence.length</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 {</a:t>
            </a:r>
          </a:p>
          <a:p>
            <a:endParaRPr lang="en-US" sz="1000" dirty="0">
              <a:highlight>
                <a:srgbClr val="FFFF00"/>
              </a:highlight>
              <a:latin typeface="Calibir"/>
            </a:endParaRPr>
          </a:p>
          <a:p>
            <a:r>
              <a:rPr lang="en-US" sz="1000" dirty="0">
                <a:highlight>
                  <a:srgbClr val="FFFF00"/>
                </a:highlight>
                <a:latin typeface="Calibir"/>
              </a:rPr>
              <a:t>            char ch =</a:t>
            </a:r>
          </a:p>
          <a:p>
            <a:r>
              <a:rPr lang="en-US" sz="1000" dirty="0">
                <a:highlight>
                  <a:srgbClr val="FFFF00"/>
                </a:highlight>
                <a:latin typeface="Calibir"/>
              </a:rPr>
              <a:t>                    </a:t>
            </a:r>
            <a:r>
              <a:rPr lang="en-US" sz="1000" dirty="0" err="1">
                <a:highlight>
                  <a:srgbClr val="FFFF00"/>
                </a:highlight>
                <a:latin typeface="Calibir"/>
              </a:rPr>
              <a:t>sentence.charAt</a:t>
            </a:r>
            <a:r>
              <a:rPr lang="en-US" sz="1000" dirty="0">
                <a:highlight>
                  <a:srgbClr val="FFFF00"/>
                </a:highlight>
                <a:latin typeface="Calibir"/>
              </a:rPr>
              <a:t>(</a:t>
            </a:r>
            <a:r>
              <a:rPr lang="en-US" sz="1000" dirty="0" err="1">
                <a:highlight>
                  <a:srgbClr val="FFFF00"/>
                </a:highlight>
                <a:latin typeface="Calibir"/>
              </a:rPr>
              <a:t>i</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if (</a:t>
            </a:r>
          </a:p>
          <a:p>
            <a:r>
              <a:rPr lang="en-US" sz="1000" dirty="0">
                <a:highlight>
                  <a:srgbClr val="FFFF00"/>
                </a:highlight>
                <a:latin typeface="Calibir"/>
              </a:rPr>
              <a:t>                ch == 'a'</a:t>
            </a:r>
          </a:p>
          <a:p>
            <a:r>
              <a:rPr lang="en-US" sz="1000" dirty="0">
                <a:highlight>
                  <a:srgbClr val="FFFF00"/>
                </a:highlight>
                <a:latin typeface="Calibir"/>
              </a:rPr>
              <a:t>                || ch == 'e'</a:t>
            </a:r>
          </a:p>
          <a:p>
            <a:r>
              <a:rPr lang="en-US" sz="1000" dirty="0">
                <a:highlight>
                  <a:srgbClr val="FFFF00"/>
                </a:highlight>
                <a:latin typeface="Calibir"/>
              </a:rPr>
              <a:t>                || ch == '</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 ch == 'o'</a:t>
            </a:r>
          </a:p>
          <a:p>
            <a:r>
              <a:rPr lang="en-US" sz="1000" dirty="0">
                <a:highlight>
                  <a:srgbClr val="FFFF00"/>
                </a:highlight>
                <a:latin typeface="Calibir"/>
              </a:rPr>
              <a:t>                || ch == 'u'</a:t>
            </a:r>
          </a:p>
          <a:p>
            <a:r>
              <a:rPr lang="en-US" sz="1000" dirty="0">
                <a:highlight>
                  <a:srgbClr val="FFFF00"/>
                </a:highlight>
                <a:latin typeface="Calibir"/>
              </a:rPr>
              <a:t>            ) {</a:t>
            </a:r>
          </a:p>
          <a:p>
            <a:endParaRPr lang="en-US" sz="1000" dirty="0">
              <a:highlight>
                <a:srgbClr val="FFFF00"/>
              </a:highlight>
              <a:latin typeface="Calibir"/>
            </a:endParaRPr>
          </a:p>
          <a:p>
            <a:r>
              <a:rPr lang="en-US" sz="1000" dirty="0">
                <a:highlight>
                  <a:srgbClr val="FFFF00"/>
                </a:highlight>
                <a:latin typeface="Calibir"/>
              </a:rPr>
              <a:t>                count++;</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count;</a:t>
            </a:r>
          </a:p>
          <a:p>
            <a:r>
              <a:rPr lang="en-US" sz="1000" dirty="0">
                <a:highlight>
                  <a:srgbClr val="FFFF00"/>
                </a:highlight>
                <a:latin typeface="Calibir"/>
              </a:rPr>
              <a:t>    }</a:t>
            </a:r>
          </a:p>
        </p:txBody>
      </p:sp>
    </p:spTree>
    <p:extLst>
      <p:ext uri="{BB962C8B-B14F-4D97-AF65-F5344CB8AC3E}">
        <p14:creationId xmlns:p14="http://schemas.microsoft.com/office/powerpoint/2010/main" val="138764149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A2001AF-E982-3351-A8DB-F001F5F029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685B04-FA95-504C-EBD3-96AC8BCBB4ED}"/>
              </a:ext>
            </a:extLst>
          </p:cNvPr>
          <p:cNvSpPr txBox="1"/>
          <p:nvPr/>
        </p:nvSpPr>
        <p:spPr>
          <a:xfrm>
            <a:off x="0" y="0"/>
            <a:ext cx="11975690" cy="5324535"/>
          </a:xfrm>
          <a:prstGeom prst="rect">
            <a:avLst/>
          </a:prstGeom>
          <a:noFill/>
        </p:spPr>
        <p:txBody>
          <a:bodyPr wrap="square">
            <a:spAutoFit/>
          </a:bodyPr>
          <a:lstStyle/>
          <a:p>
            <a:endParaRPr lang="en-US" sz="1000" dirty="0">
              <a:highlight>
                <a:srgbClr val="FFFF00"/>
              </a:highlight>
              <a:latin typeface="Calibir"/>
            </a:endParaRPr>
          </a:p>
          <a:p>
            <a:r>
              <a:rPr lang="en-US" sz="1000" dirty="0">
                <a:highlight>
                  <a:srgbClr val="FFFF00"/>
                </a:highlight>
                <a:latin typeface="Calibir"/>
              </a:rPr>
              <a:t>    public static void </a:t>
            </a:r>
            <a:r>
              <a:rPr lang="en-US" sz="1000" dirty="0" err="1">
                <a:highlight>
                  <a:srgbClr val="FFFF00"/>
                </a:highlight>
                <a:latin typeface="Calibir"/>
              </a:rPr>
              <a:t>showVowelCount</a:t>
            </a:r>
            <a:r>
              <a:rPr lang="en-US" sz="1000" dirty="0">
                <a:highlight>
                  <a:srgbClr val="FFFF00"/>
                </a:highlight>
                <a:latin typeface="Calibir"/>
              </a:rPr>
              <a:t>(</a:t>
            </a:r>
          </a:p>
          <a:p>
            <a:r>
              <a:rPr lang="en-US" sz="1000" dirty="0">
                <a:highlight>
                  <a:srgbClr val="FFFF00"/>
                </a:highlight>
                <a:latin typeface="Calibir"/>
              </a:rPr>
              <a:t>            int count)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"Vowel count = " + count</a:t>
            </a:r>
          </a:p>
          <a:p>
            <a:r>
              <a:rPr lang="en-US" sz="1000" dirty="0">
                <a:highlight>
                  <a:srgbClr val="FFFF00"/>
                </a:highlight>
                <a:latin typeface="Calibir"/>
              </a:rPr>
              <a:t>        );</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static void main(String[] </a:t>
            </a:r>
            <a:r>
              <a:rPr lang="en-US" sz="1000" dirty="0" err="1">
                <a:highlight>
                  <a:srgbClr val="FFFF00"/>
                </a:highlight>
                <a:latin typeface="Calibir"/>
              </a:rPr>
              <a:t>args</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Scanner input = new Scanner(System.in);</a:t>
            </a:r>
          </a:p>
          <a:p>
            <a:endParaRPr lang="en-US" sz="1000" dirty="0">
              <a:highlight>
                <a:srgbClr val="FFFF00"/>
              </a:highlight>
              <a:latin typeface="Calibir"/>
            </a:endParaRPr>
          </a:p>
          <a:p>
            <a:r>
              <a:rPr lang="en-US" sz="1000" dirty="0">
                <a:highlight>
                  <a:srgbClr val="FFFF00"/>
                </a:highlight>
                <a:latin typeface="Calibir"/>
              </a:rPr>
              <a:t>        while (true) {</a:t>
            </a:r>
          </a:p>
          <a:p>
            <a:endParaRPr lang="en-US" sz="1000" dirty="0">
              <a:highlight>
                <a:srgbClr val="FFFF00"/>
              </a:highlight>
              <a:latin typeface="Calibir"/>
            </a:endParaRPr>
          </a:p>
          <a:p>
            <a:r>
              <a:rPr lang="en-US" sz="1000" dirty="0">
                <a:highlight>
                  <a:srgbClr val="FFFF00"/>
                </a:highlight>
                <a:latin typeface="Calibir"/>
              </a:rPr>
              <a:t>            String sentence =</a:t>
            </a:r>
          </a:p>
          <a:p>
            <a:r>
              <a:rPr lang="en-US" sz="1000" dirty="0">
                <a:highlight>
                  <a:srgbClr val="FFFF00"/>
                </a:highlight>
                <a:latin typeface="Calibir"/>
              </a:rPr>
              <a:t>                    </a:t>
            </a:r>
            <a:r>
              <a:rPr lang="en-US" sz="1000" dirty="0" err="1">
                <a:highlight>
                  <a:srgbClr val="FFFF00"/>
                </a:highlight>
                <a:latin typeface="Calibir"/>
              </a:rPr>
              <a:t>readSentence</a:t>
            </a:r>
            <a:r>
              <a:rPr lang="en-US" sz="1000" dirty="0">
                <a:highlight>
                  <a:srgbClr val="FFFF00"/>
                </a:highlight>
                <a:latin typeface="Calibir"/>
              </a:rPr>
              <a:t>(input);</a:t>
            </a:r>
          </a:p>
          <a:p>
            <a:endParaRPr lang="en-US" sz="1000" dirty="0">
              <a:highlight>
                <a:srgbClr val="FFFF00"/>
              </a:highlight>
              <a:latin typeface="Calibir"/>
            </a:endParaRPr>
          </a:p>
          <a:p>
            <a:r>
              <a:rPr lang="en-US" sz="1000" dirty="0">
                <a:highlight>
                  <a:srgbClr val="FFFF00"/>
                </a:highlight>
                <a:latin typeface="Calibir"/>
              </a:rPr>
              <a:t>            if (</a:t>
            </a:r>
            <a:r>
              <a:rPr lang="en-US" sz="1000" dirty="0" err="1">
                <a:highlight>
                  <a:srgbClr val="FFFF00"/>
                </a:highlight>
                <a:latin typeface="Calibir"/>
              </a:rPr>
              <a:t>sentence.equals</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("Done");</a:t>
            </a:r>
          </a:p>
          <a:p>
            <a:endParaRPr lang="en-US" sz="1000" dirty="0">
              <a:highlight>
                <a:srgbClr val="FFFF00"/>
              </a:highlight>
              <a:latin typeface="Calibir"/>
            </a:endParaRPr>
          </a:p>
          <a:p>
            <a:r>
              <a:rPr lang="en-US" sz="1000" dirty="0">
                <a:highlight>
                  <a:srgbClr val="FFFF00"/>
                </a:highlight>
                <a:latin typeface="Calibir"/>
              </a:rPr>
              <a:t>                break;</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int count =</a:t>
            </a:r>
          </a:p>
          <a:p>
            <a:r>
              <a:rPr lang="en-US" sz="1000" dirty="0">
                <a:highlight>
                  <a:srgbClr val="FFFF00"/>
                </a:highlight>
                <a:latin typeface="Calibir"/>
              </a:rPr>
              <a:t>                    </a:t>
            </a:r>
            <a:r>
              <a:rPr lang="en-US" sz="1000" dirty="0" err="1">
                <a:highlight>
                  <a:srgbClr val="FFFF00"/>
                </a:highlight>
                <a:latin typeface="Calibir"/>
              </a:rPr>
              <a:t>countVowels</a:t>
            </a:r>
            <a:r>
              <a:rPr lang="en-US" sz="1000" dirty="0">
                <a:highlight>
                  <a:srgbClr val="FFFF00"/>
                </a:highlight>
                <a:latin typeface="Calibir"/>
              </a:rPr>
              <a:t>(sentence);</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showVowelCount</a:t>
            </a:r>
            <a:r>
              <a:rPr lang="en-US" sz="1000" dirty="0">
                <a:highlight>
                  <a:srgbClr val="FFFF00"/>
                </a:highlight>
                <a:latin typeface="Calibir"/>
              </a:rPr>
              <a:t>(count);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input.close</a:t>
            </a:r>
            <a:r>
              <a:rPr lang="en-US" sz="1000" dirty="0">
                <a:highlight>
                  <a:srgbClr val="FFFF00"/>
                </a:highlight>
                <a:latin typeface="Calibir"/>
              </a:rPr>
              <a:t>();</a:t>
            </a:r>
          </a:p>
          <a:p>
            <a:r>
              <a:rPr lang="en-US" sz="1000" dirty="0">
                <a:highlight>
                  <a:srgbClr val="FFFF00"/>
                </a:highlight>
                <a:latin typeface="Calibir"/>
              </a:rPr>
              <a:t>    }</a:t>
            </a:r>
          </a:p>
          <a:p>
            <a:r>
              <a:rPr lang="en-US" sz="1000" dirty="0">
                <a:highlight>
                  <a:srgbClr val="FFFF00"/>
                </a:highlight>
                <a:latin typeface="Calibir"/>
              </a:rPr>
              <a:t>}</a:t>
            </a:r>
          </a:p>
        </p:txBody>
      </p:sp>
    </p:spTree>
    <p:extLst>
      <p:ext uri="{BB962C8B-B14F-4D97-AF65-F5344CB8AC3E}">
        <p14:creationId xmlns:p14="http://schemas.microsoft.com/office/powerpoint/2010/main" val="177667925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812801" y="1109133"/>
            <a:ext cx="11004265" cy="5021055"/>
          </a:xfrm>
          <a:prstGeom prst="rect">
            <a:avLst/>
          </a:prstGeom>
          <a:noFill/>
        </p:spPr>
        <p:txBody>
          <a:bodyPr wrap="square" rtlCol="0">
            <a:spAutoFit/>
          </a:bodyPr>
          <a:lstStyle/>
          <a:p>
            <a:pPr>
              <a:lnSpc>
                <a:spcPct val="150000"/>
              </a:lnSpc>
            </a:pPr>
            <a:r>
              <a:rPr lang="en-GB" sz="2400" dirty="0">
                <a:latin typeface="Calibir"/>
              </a:rPr>
              <a:t>Develop a program called </a:t>
            </a:r>
            <a:r>
              <a:rPr lang="en-GB" sz="2400" b="1" dirty="0">
                <a:latin typeface="Calibir"/>
              </a:rPr>
              <a:t>Lab5Ex4</a:t>
            </a:r>
            <a:r>
              <a:rPr lang="en-GB" sz="2400" dirty="0">
                <a:latin typeface="Calibir"/>
              </a:rPr>
              <a:t> to achieve the following:</a:t>
            </a:r>
          </a:p>
          <a:p>
            <a:pPr marL="380990" indent="-380990">
              <a:lnSpc>
                <a:spcPct val="150000"/>
              </a:lnSpc>
              <a:buFont typeface="Arial" panose="020B0604020202020204" pitchFamily="34" charset="0"/>
              <a:buChar char="•"/>
            </a:pPr>
            <a:r>
              <a:rPr lang="en-GB" sz="2400" dirty="0">
                <a:latin typeface="Calibir"/>
              </a:rPr>
              <a:t>Define a function to generate 5 random numbers [ 0 &lt;= number &lt;= 10 ] and return the values in an array</a:t>
            </a:r>
          </a:p>
          <a:p>
            <a:pPr marL="380990" indent="-380990">
              <a:lnSpc>
                <a:spcPct val="150000"/>
              </a:lnSpc>
              <a:buFont typeface="Arial" panose="020B0604020202020204" pitchFamily="34" charset="0"/>
              <a:buChar char="•"/>
            </a:pPr>
            <a:r>
              <a:rPr lang="en-GB" sz="2400" dirty="0">
                <a:latin typeface="Calibir"/>
              </a:rPr>
              <a:t>Define a function called ‘factorial’ that takes a number as parameter and calculate the factorial of that number</a:t>
            </a:r>
          </a:p>
          <a:p>
            <a:pPr marL="380990" indent="-380990">
              <a:lnSpc>
                <a:spcPct val="150000"/>
              </a:lnSpc>
              <a:buFont typeface="Arial" panose="020B0604020202020204" pitchFamily="34" charset="0"/>
              <a:buChar char="•"/>
            </a:pPr>
            <a:r>
              <a:rPr lang="en-GB" sz="2400" dirty="0">
                <a:latin typeface="Calibir"/>
              </a:rPr>
              <a:t>Define a function called ‘factorial’ that takes an array of numbers as parameter and calculate the factorial of each value in the array then store the calculated factorials into a new array and return it</a:t>
            </a:r>
          </a:p>
          <a:p>
            <a:pPr marL="380990" indent="-380990">
              <a:lnSpc>
                <a:spcPct val="150000"/>
              </a:lnSpc>
              <a:buFont typeface="Arial" panose="020B0604020202020204" pitchFamily="34" charset="0"/>
              <a:buChar char="•"/>
            </a:pPr>
            <a:r>
              <a:rPr lang="en-GB" sz="2400" dirty="0">
                <a:latin typeface="Calibir"/>
              </a:rPr>
              <a:t>Define a procedure that shows the array of randoms/factorials</a:t>
            </a:r>
            <a:endParaRPr lang="en-US" sz="2400" dirty="0">
              <a:latin typeface="Calibir"/>
            </a:endParaRPr>
          </a:p>
        </p:txBody>
      </p:sp>
    </p:spTree>
    <p:extLst>
      <p:ext uri="{BB962C8B-B14F-4D97-AF65-F5344CB8AC3E}">
        <p14:creationId xmlns:p14="http://schemas.microsoft.com/office/powerpoint/2010/main" val="6187636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0255023F-B8B0-85A0-6134-DAE8A3C8BB2A}"/>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8281B26F-E723-FF84-85AC-903C321FFBFB}"/>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4" name="TextBox 3">
            <a:extLst>
              <a:ext uri="{FF2B5EF4-FFF2-40B4-BE49-F238E27FC236}">
                <a16:creationId xmlns:a16="http://schemas.microsoft.com/office/drawing/2014/main" id="{6E66D743-1C06-4277-4CF7-B87BCB2A0DE7}"/>
              </a:ext>
            </a:extLst>
          </p:cNvPr>
          <p:cNvSpPr txBox="1"/>
          <p:nvPr/>
        </p:nvSpPr>
        <p:spPr>
          <a:xfrm>
            <a:off x="0" y="1282390"/>
            <a:ext cx="11965258" cy="5196166"/>
          </a:xfrm>
          <a:prstGeom prst="rect">
            <a:avLst/>
          </a:prstGeom>
          <a:noFill/>
        </p:spPr>
        <p:txBody>
          <a:bodyPr wrap="square">
            <a:spAutoFit/>
          </a:bodyPr>
          <a:lstStyle/>
          <a:p>
            <a:pPr>
              <a:lnSpc>
                <a:spcPct val="150000"/>
              </a:lnSpc>
              <a:buNone/>
            </a:pPr>
            <a:r>
              <a:rPr lang="en-US" sz="2800" dirty="0">
                <a:latin typeface="Calibir"/>
              </a:rPr>
              <a:t>This exercise is especially useful because it demonstrates method overloading in Java.</a:t>
            </a:r>
          </a:p>
          <a:p>
            <a:pPr>
              <a:lnSpc>
                <a:spcPct val="150000"/>
              </a:lnSpc>
              <a:buNone/>
            </a:pPr>
            <a:r>
              <a:rPr lang="en-US" sz="2800" dirty="0">
                <a:latin typeface="Calibir"/>
              </a:rPr>
              <a:t>We need:</a:t>
            </a:r>
          </a:p>
          <a:p>
            <a:pPr marL="342900" lvl="0" indent="-342900">
              <a:lnSpc>
                <a:spcPct val="150000"/>
              </a:lnSpc>
              <a:buFont typeface="+mj-lt"/>
              <a:buAutoNum type="arabicPeriod"/>
            </a:pPr>
            <a:r>
              <a:rPr lang="en-US" sz="2800" dirty="0">
                <a:latin typeface="Calibir"/>
              </a:rPr>
              <a:t>Generate five random integers from 0 to 10. </a:t>
            </a:r>
          </a:p>
          <a:p>
            <a:pPr marL="342900" lvl="0" indent="-342900">
              <a:lnSpc>
                <a:spcPct val="150000"/>
              </a:lnSpc>
              <a:buFont typeface="+mj-lt"/>
              <a:buAutoNum type="arabicPeriod"/>
            </a:pPr>
            <a:r>
              <a:rPr lang="en-US" sz="2800" dirty="0">
                <a:latin typeface="Calibir"/>
              </a:rPr>
              <a:t>Calculate the factorial of one number. </a:t>
            </a:r>
          </a:p>
          <a:p>
            <a:pPr marL="342900" lvl="0" indent="-342900">
              <a:lnSpc>
                <a:spcPct val="150000"/>
              </a:lnSpc>
              <a:buFont typeface="+mj-lt"/>
              <a:buAutoNum type="arabicPeriod"/>
            </a:pPr>
            <a:r>
              <a:rPr lang="en-US" sz="2800" dirty="0">
                <a:latin typeface="Calibir"/>
              </a:rPr>
              <a:t>Calculate the factorial of every number in an array. </a:t>
            </a:r>
          </a:p>
          <a:p>
            <a:pPr marL="342900" lvl="0" indent="-342900">
              <a:lnSpc>
                <a:spcPct val="150000"/>
              </a:lnSpc>
              <a:buFont typeface="+mj-lt"/>
              <a:buAutoNum type="arabicPeriod"/>
            </a:pPr>
            <a:r>
              <a:rPr lang="en-US" sz="2800" dirty="0">
                <a:latin typeface="Calibir"/>
              </a:rPr>
              <a:t>Return the factorial array. </a:t>
            </a:r>
          </a:p>
          <a:p>
            <a:pPr marL="342900" lvl="0" indent="-342900">
              <a:lnSpc>
                <a:spcPct val="150000"/>
              </a:lnSpc>
              <a:buFont typeface="+mj-lt"/>
              <a:buAutoNum type="arabicPeriod"/>
            </a:pPr>
            <a:r>
              <a:rPr lang="en-US" sz="2800" dirty="0">
                <a:latin typeface="Calibir"/>
              </a:rPr>
              <a:t>Display both arrays.</a:t>
            </a:r>
          </a:p>
        </p:txBody>
      </p:sp>
    </p:spTree>
    <p:extLst>
      <p:ext uri="{BB962C8B-B14F-4D97-AF65-F5344CB8AC3E}">
        <p14:creationId xmlns:p14="http://schemas.microsoft.com/office/powerpoint/2010/main" val="27568956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1EAF0E6-EE23-A652-BA72-714C418B2BE4}"/>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6FE5B26E-FDA4-40DE-E1C0-5FAB66CFD3B8}"/>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4" name="TextBox 3">
            <a:extLst>
              <a:ext uri="{FF2B5EF4-FFF2-40B4-BE49-F238E27FC236}">
                <a16:creationId xmlns:a16="http://schemas.microsoft.com/office/drawing/2014/main" id="{6F1BDE1B-68BB-ABD8-804C-BD4DEAB13DF9}"/>
              </a:ext>
            </a:extLst>
          </p:cNvPr>
          <p:cNvSpPr txBox="1"/>
          <p:nvPr/>
        </p:nvSpPr>
        <p:spPr>
          <a:xfrm>
            <a:off x="0" y="1282390"/>
            <a:ext cx="11965258" cy="3257174"/>
          </a:xfrm>
          <a:prstGeom prst="rect">
            <a:avLst/>
          </a:prstGeom>
          <a:noFill/>
        </p:spPr>
        <p:txBody>
          <a:bodyPr wrap="square">
            <a:spAutoFit/>
          </a:bodyPr>
          <a:lstStyle/>
          <a:p>
            <a:pPr>
              <a:lnSpc>
                <a:spcPct val="150000"/>
              </a:lnSpc>
            </a:pPr>
            <a:r>
              <a:rPr lang="en-US" sz="2800" b="1" dirty="0">
                <a:latin typeface="Calibir"/>
              </a:rPr>
              <a:t>What is factorial?</a:t>
            </a:r>
          </a:p>
          <a:p>
            <a:pPr>
              <a:lnSpc>
                <a:spcPct val="150000"/>
              </a:lnSpc>
            </a:pPr>
            <a:r>
              <a:rPr lang="en-US" sz="2800" dirty="0">
                <a:latin typeface="Calibir"/>
              </a:rPr>
              <a:t>5! = 5 × 4 × 3 × 2 × 1</a:t>
            </a:r>
          </a:p>
          <a:p>
            <a:pPr>
              <a:lnSpc>
                <a:spcPct val="150000"/>
              </a:lnSpc>
            </a:pPr>
            <a:r>
              <a:rPr lang="en-US" sz="2800" dirty="0">
                <a:latin typeface="Calibir"/>
              </a:rPr>
              <a:t>   = 120</a:t>
            </a:r>
          </a:p>
          <a:p>
            <a:pPr>
              <a:lnSpc>
                <a:spcPct val="150000"/>
              </a:lnSpc>
            </a:pPr>
            <a:r>
              <a:rPr lang="en-US" sz="2800" dirty="0">
                <a:latin typeface="Calibir"/>
              </a:rPr>
              <a:t>Also:</a:t>
            </a:r>
          </a:p>
          <a:p>
            <a:pPr>
              <a:lnSpc>
                <a:spcPct val="150000"/>
              </a:lnSpc>
            </a:pPr>
            <a:r>
              <a:rPr lang="en-US" sz="2800" dirty="0">
                <a:latin typeface="Calibir"/>
              </a:rPr>
              <a:t>0! = 1</a:t>
            </a:r>
          </a:p>
        </p:txBody>
      </p:sp>
    </p:spTree>
    <p:extLst>
      <p:ext uri="{BB962C8B-B14F-4D97-AF65-F5344CB8AC3E}">
        <p14:creationId xmlns:p14="http://schemas.microsoft.com/office/powerpoint/2010/main" val="216887170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546D94D-5DF9-0CB4-69EC-25F28811C32B}"/>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BC836EAD-0B45-D5F1-2A4F-07D533116A8A}"/>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4" name="TextBox 3">
            <a:extLst>
              <a:ext uri="{FF2B5EF4-FFF2-40B4-BE49-F238E27FC236}">
                <a16:creationId xmlns:a16="http://schemas.microsoft.com/office/drawing/2014/main" id="{55064BED-D6A1-F157-8DA8-7B2ED9C05084}"/>
              </a:ext>
            </a:extLst>
          </p:cNvPr>
          <p:cNvSpPr txBox="1"/>
          <p:nvPr/>
        </p:nvSpPr>
        <p:spPr>
          <a:xfrm>
            <a:off x="0" y="1282390"/>
            <a:ext cx="11965258" cy="5196166"/>
          </a:xfrm>
          <a:prstGeom prst="rect">
            <a:avLst/>
          </a:prstGeom>
          <a:noFill/>
        </p:spPr>
        <p:txBody>
          <a:bodyPr wrap="square">
            <a:spAutoFit/>
          </a:bodyPr>
          <a:lstStyle/>
          <a:p>
            <a:pPr>
              <a:lnSpc>
                <a:spcPct val="150000"/>
              </a:lnSpc>
            </a:pPr>
            <a:r>
              <a:rPr lang="en-US" sz="2800" b="1" dirty="0">
                <a:latin typeface="Calibir"/>
              </a:rPr>
              <a:t>Step 1 — Generate five random numbers</a:t>
            </a:r>
          </a:p>
          <a:p>
            <a:pPr>
              <a:lnSpc>
                <a:spcPct val="150000"/>
              </a:lnSpc>
            </a:pPr>
            <a:r>
              <a:rPr lang="en-US" sz="2800" dirty="0">
                <a:highlight>
                  <a:srgbClr val="FFFF00"/>
                </a:highlight>
                <a:latin typeface="Calibir"/>
              </a:rPr>
              <a:t>def </a:t>
            </a:r>
            <a:r>
              <a:rPr lang="en-US" sz="2800" dirty="0" err="1">
                <a:highlight>
                  <a:srgbClr val="FFFF00"/>
                </a:highlight>
                <a:latin typeface="Calibir"/>
              </a:rPr>
              <a:t>generate_numbers</a:t>
            </a:r>
            <a:r>
              <a:rPr lang="en-US" sz="2800" dirty="0">
                <a:highlight>
                  <a:srgbClr val="FFFF00"/>
                </a:highlight>
                <a:latin typeface="Calibir"/>
              </a:rPr>
              <a:t>():</a:t>
            </a:r>
          </a:p>
          <a:p>
            <a:pPr>
              <a:lnSpc>
                <a:spcPct val="150000"/>
              </a:lnSpc>
            </a:pPr>
            <a:r>
              <a:rPr lang="en-US" sz="2800" dirty="0">
                <a:highlight>
                  <a:srgbClr val="FFFF00"/>
                </a:highlight>
                <a:latin typeface="Calibir"/>
              </a:rPr>
              <a:t>    numbers = []</a:t>
            </a:r>
          </a:p>
          <a:p>
            <a:pPr>
              <a:lnSpc>
                <a:spcPct val="150000"/>
              </a:lnSpc>
            </a:pPr>
            <a:r>
              <a:rPr lang="en-US" sz="2800" dirty="0">
                <a:highlight>
                  <a:srgbClr val="FFFF00"/>
                </a:highlight>
                <a:latin typeface="Calibir"/>
              </a:rPr>
              <a:t>    for </a:t>
            </a:r>
            <a:r>
              <a:rPr lang="en-US" sz="2800" dirty="0" err="1">
                <a:highlight>
                  <a:srgbClr val="FFFF00"/>
                </a:highlight>
                <a:latin typeface="Calibir"/>
              </a:rPr>
              <a:t>i</a:t>
            </a:r>
            <a:r>
              <a:rPr lang="en-US" sz="2800" dirty="0">
                <a:highlight>
                  <a:srgbClr val="FFFF00"/>
                </a:highlight>
                <a:latin typeface="Calibir"/>
              </a:rPr>
              <a:t> in range(5):</a:t>
            </a:r>
          </a:p>
          <a:p>
            <a:pPr>
              <a:lnSpc>
                <a:spcPct val="150000"/>
              </a:lnSpc>
            </a:pPr>
            <a:r>
              <a:rPr lang="en-US" sz="2800" dirty="0">
                <a:highlight>
                  <a:srgbClr val="FFFF00"/>
                </a:highlight>
                <a:latin typeface="Calibir"/>
              </a:rPr>
              <a:t>        </a:t>
            </a:r>
            <a:r>
              <a:rPr lang="en-US" sz="2800" dirty="0" err="1">
                <a:highlight>
                  <a:srgbClr val="FFFF00"/>
                </a:highlight>
                <a:latin typeface="Calibir"/>
              </a:rPr>
              <a:t>numbers.append</a:t>
            </a:r>
            <a:r>
              <a:rPr lang="en-US" sz="2800" dirty="0">
                <a:highlight>
                  <a:srgbClr val="FFFF00"/>
                </a:highlight>
                <a:latin typeface="Calibir"/>
              </a:rPr>
              <a:t>(</a:t>
            </a:r>
          </a:p>
          <a:p>
            <a:pPr>
              <a:lnSpc>
                <a:spcPct val="150000"/>
              </a:lnSpc>
            </a:pPr>
            <a:r>
              <a:rPr lang="en-US" sz="2800" dirty="0">
                <a:highlight>
                  <a:srgbClr val="FFFF00"/>
                </a:highlight>
                <a:latin typeface="Calibir"/>
              </a:rPr>
              <a:t>            </a:t>
            </a:r>
            <a:r>
              <a:rPr lang="en-US" sz="2800" dirty="0" err="1">
                <a:highlight>
                  <a:srgbClr val="FFFF00"/>
                </a:highlight>
                <a:latin typeface="Calibir"/>
              </a:rPr>
              <a:t>random.randint</a:t>
            </a:r>
            <a:r>
              <a:rPr lang="en-US" sz="2800" dirty="0">
                <a:highlight>
                  <a:srgbClr val="FFFF00"/>
                </a:highlight>
                <a:latin typeface="Calibir"/>
              </a:rPr>
              <a:t>(0, 10)</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    return numbers</a:t>
            </a:r>
          </a:p>
        </p:txBody>
      </p:sp>
    </p:spTree>
    <p:extLst>
      <p:ext uri="{BB962C8B-B14F-4D97-AF65-F5344CB8AC3E}">
        <p14:creationId xmlns:p14="http://schemas.microsoft.com/office/powerpoint/2010/main" val="76200164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DED9DD7-9ED3-3790-D0DA-18E7984483AF}"/>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07F7C70F-6E15-DE9B-2BED-AA2C0ADF43A9}"/>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4" name="TextBox 3">
            <a:extLst>
              <a:ext uri="{FF2B5EF4-FFF2-40B4-BE49-F238E27FC236}">
                <a16:creationId xmlns:a16="http://schemas.microsoft.com/office/drawing/2014/main" id="{951A1ABC-DE8E-A554-4573-5AEA4B6A3B21}"/>
              </a:ext>
            </a:extLst>
          </p:cNvPr>
          <p:cNvSpPr txBox="1"/>
          <p:nvPr/>
        </p:nvSpPr>
        <p:spPr>
          <a:xfrm>
            <a:off x="0" y="1282390"/>
            <a:ext cx="11965258" cy="3903504"/>
          </a:xfrm>
          <a:prstGeom prst="rect">
            <a:avLst/>
          </a:prstGeom>
          <a:noFill/>
        </p:spPr>
        <p:txBody>
          <a:bodyPr wrap="square">
            <a:spAutoFit/>
          </a:bodyPr>
          <a:lstStyle/>
          <a:p>
            <a:pPr>
              <a:lnSpc>
                <a:spcPct val="150000"/>
              </a:lnSpc>
            </a:pPr>
            <a:r>
              <a:rPr lang="en-US" sz="2800" b="1" dirty="0">
                <a:latin typeface="Calibir"/>
              </a:rPr>
              <a:t>Step 2 — Factorial of one number</a:t>
            </a:r>
          </a:p>
          <a:p>
            <a:pPr>
              <a:lnSpc>
                <a:spcPct val="150000"/>
              </a:lnSpc>
            </a:pPr>
            <a:r>
              <a:rPr lang="en-US" sz="2800" dirty="0">
                <a:highlight>
                  <a:srgbClr val="FFFF00"/>
                </a:highlight>
                <a:latin typeface="Calibir"/>
              </a:rPr>
              <a:t>def factorial(number):</a:t>
            </a:r>
          </a:p>
          <a:p>
            <a:pPr>
              <a:lnSpc>
                <a:spcPct val="150000"/>
              </a:lnSpc>
            </a:pPr>
            <a:r>
              <a:rPr lang="en-US" sz="2800" dirty="0">
                <a:highlight>
                  <a:srgbClr val="FFFF00"/>
                </a:highlight>
                <a:latin typeface="Calibir"/>
              </a:rPr>
              <a:t>    result = 1</a:t>
            </a:r>
          </a:p>
          <a:p>
            <a:pPr>
              <a:lnSpc>
                <a:spcPct val="150000"/>
              </a:lnSpc>
            </a:pPr>
            <a:r>
              <a:rPr lang="en-US" sz="2800" dirty="0">
                <a:highlight>
                  <a:srgbClr val="FFFF00"/>
                </a:highlight>
                <a:latin typeface="Calibir"/>
              </a:rPr>
              <a:t>    for </a:t>
            </a:r>
            <a:r>
              <a:rPr lang="en-US" sz="2800" dirty="0" err="1">
                <a:highlight>
                  <a:srgbClr val="FFFF00"/>
                </a:highlight>
                <a:latin typeface="Calibir"/>
              </a:rPr>
              <a:t>i</a:t>
            </a:r>
            <a:r>
              <a:rPr lang="en-US" sz="2800" dirty="0">
                <a:highlight>
                  <a:srgbClr val="FFFF00"/>
                </a:highlight>
                <a:latin typeface="Calibir"/>
              </a:rPr>
              <a:t> in range(1, number + 1):</a:t>
            </a:r>
          </a:p>
          <a:p>
            <a:pPr>
              <a:lnSpc>
                <a:spcPct val="150000"/>
              </a:lnSpc>
            </a:pPr>
            <a:r>
              <a:rPr lang="en-US" sz="2800" dirty="0">
                <a:highlight>
                  <a:srgbClr val="FFFF00"/>
                </a:highlight>
                <a:latin typeface="Calibir"/>
              </a:rPr>
              <a:t>        result *= </a:t>
            </a:r>
            <a:r>
              <a:rPr lang="en-US" sz="2800" dirty="0" err="1">
                <a:highlight>
                  <a:srgbClr val="FFFF00"/>
                </a:highlight>
                <a:latin typeface="Calibir"/>
              </a:rPr>
              <a:t>i</a:t>
            </a:r>
            <a:endParaRPr lang="en-US" sz="2800" dirty="0">
              <a:highlight>
                <a:srgbClr val="FFFF00"/>
              </a:highlight>
              <a:latin typeface="Calibir"/>
            </a:endParaRPr>
          </a:p>
          <a:p>
            <a:pPr>
              <a:lnSpc>
                <a:spcPct val="150000"/>
              </a:lnSpc>
            </a:pPr>
            <a:r>
              <a:rPr lang="en-US" sz="2800" dirty="0">
                <a:highlight>
                  <a:srgbClr val="FFFF00"/>
                </a:highlight>
                <a:latin typeface="Calibir"/>
              </a:rPr>
              <a:t>    return result</a:t>
            </a:r>
          </a:p>
        </p:txBody>
      </p:sp>
    </p:spTree>
    <p:extLst>
      <p:ext uri="{BB962C8B-B14F-4D97-AF65-F5344CB8AC3E}">
        <p14:creationId xmlns:p14="http://schemas.microsoft.com/office/powerpoint/2010/main" val="180156358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A688195-5D4D-2671-CCD7-0B99962171B4}"/>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A754A978-F9E9-8CC2-48B7-D50304881AC0}"/>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4" name="TextBox 3">
            <a:extLst>
              <a:ext uri="{FF2B5EF4-FFF2-40B4-BE49-F238E27FC236}">
                <a16:creationId xmlns:a16="http://schemas.microsoft.com/office/drawing/2014/main" id="{882C77EA-EE3F-B8BA-9A40-EBB1099F3D24}"/>
              </a:ext>
            </a:extLst>
          </p:cNvPr>
          <p:cNvSpPr txBox="1"/>
          <p:nvPr/>
        </p:nvSpPr>
        <p:spPr>
          <a:xfrm>
            <a:off x="0" y="1282390"/>
            <a:ext cx="11965258" cy="5196166"/>
          </a:xfrm>
          <a:prstGeom prst="rect">
            <a:avLst/>
          </a:prstGeom>
          <a:noFill/>
        </p:spPr>
        <p:txBody>
          <a:bodyPr wrap="square">
            <a:spAutoFit/>
          </a:bodyPr>
          <a:lstStyle/>
          <a:p>
            <a:pPr>
              <a:lnSpc>
                <a:spcPct val="150000"/>
              </a:lnSpc>
            </a:pPr>
            <a:r>
              <a:rPr lang="en-US" sz="2800" b="1" dirty="0">
                <a:latin typeface="Calibir"/>
              </a:rPr>
              <a:t>Step 3 — Factorial of the array</a:t>
            </a:r>
          </a:p>
          <a:p>
            <a:pPr>
              <a:lnSpc>
                <a:spcPct val="150000"/>
              </a:lnSpc>
            </a:pPr>
            <a:r>
              <a:rPr lang="en-US" sz="2800" dirty="0">
                <a:highlight>
                  <a:srgbClr val="FFFF00"/>
                </a:highlight>
                <a:latin typeface="Calibir"/>
              </a:rPr>
              <a:t>def </a:t>
            </a:r>
            <a:r>
              <a:rPr lang="en-US" sz="2800" dirty="0" err="1">
                <a:highlight>
                  <a:srgbClr val="FFFF00"/>
                </a:highlight>
                <a:latin typeface="Calibir"/>
              </a:rPr>
              <a:t>factorial_array</a:t>
            </a:r>
            <a:r>
              <a:rPr lang="en-US" sz="2800" dirty="0">
                <a:highlight>
                  <a:srgbClr val="FFFF00"/>
                </a:highlight>
                <a:latin typeface="Calibir"/>
              </a:rPr>
              <a:t>(numbers):</a:t>
            </a:r>
          </a:p>
          <a:p>
            <a:pPr>
              <a:lnSpc>
                <a:spcPct val="150000"/>
              </a:lnSpc>
            </a:pPr>
            <a:r>
              <a:rPr lang="en-US" sz="2800" dirty="0">
                <a:highlight>
                  <a:srgbClr val="FFFF00"/>
                </a:highlight>
                <a:latin typeface="Calibir"/>
              </a:rPr>
              <a:t>    results = []</a:t>
            </a:r>
          </a:p>
          <a:p>
            <a:pPr>
              <a:lnSpc>
                <a:spcPct val="150000"/>
              </a:lnSpc>
            </a:pPr>
            <a:r>
              <a:rPr lang="en-US" sz="2800" dirty="0">
                <a:highlight>
                  <a:srgbClr val="FFFF00"/>
                </a:highlight>
                <a:latin typeface="Calibir"/>
              </a:rPr>
              <a:t>    for number in numbers:</a:t>
            </a:r>
          </a:p>
          <a:p>
            <a:pPr>
              <a:lnSpc>
                <a:spcPct val="150000"/>
              </a:lnSpc>
            </a:pPr>
            <a:r>
              <a:rPr lang="en-US" sz="2800" dirty="0">
                <a:highlight>
                  <a:srgbClr val="FFFF00"/>
                </a:highlight>
                <a:latin typeface="Calibir"/>
              </a:rPr>
              <a:t>        </a:t>
            </a:r>
            <a:r>
              <a:rPr lang="en-US" sz="2800" dirty="0" err="1">
                <a:highlight>
                  <a:srgbClr val="FFFF00"/>
                </a:highlight>
                <a:latin typeface="Calibir"/>
              </a:rPr>
              <a:t>results.append</a:t>
            </a:r>
            <a:r>
              <a:rPr lang="en-US" sz="2800" dirty="0">
                <a:highlight>
                  <a:srgbClr val="FFFF00"/>
                </a:highlight>
                <a:latin typeface="Calibir"/>
              </a:rPr>
              <a:t>(</a:t>
            </a:r>
          </a:p>
          <a:p>
            <a:pPr>
              <a:lnSpc>
                <a:spcPct val="150000"/>
              </a:lnSpc>
            </a:pPr>
            <a:r>
              <a:rPr lang="en-US" sz="2800" dirty="0">
                <a:highlight>
                  <a:srgbClr val="FFFF00"/>
                </a:highlight>
                <a:latin typeface="Calibir"/>
              </a:rPr>
              <a:t>            factorial(number)</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    return results</a:t>
            </a:r>
          </a:p>
        </p:txBody>
      </p:sp>
      <p:sp>
        <p:nvSpPr>
          <p:cNvPr id="3" name="TextBox 2">
            <a:extLst>
              <a:ext uri="{FF2B5EF4-FFF2-40B4-BE49-F238E27FC236}">
                <a16:creationId xmlns:a16="http://schemas.microsoft.com/office/drawing/2014/main" id="{C08F06B4-7BC9-4CEB-64C2-B82EFB1EE490}"/>
              </a:ext>
            </a:extLst>
          </p:cNvPr>
          <p:cNvSpPr txBox="1"/>
          <p:nvPr/>
        </p:nvSpPr>
        <p:spPr>
          <a:xfrm>
            <a:off x="5681133" y="2575051"/>
            <a:ext cx="6205652" cy="2610843"/>
          </a:xfrm>
          <a:prstGeom prst="rect">
            <a:avLst/>
          </a:prstGeom>
          <a:noFill/>
        </p:spPr>
        <p:txBody>
          <a:bodyPr wrap="square">
            <a:spAutoFit/>
          </a:bodyPr>
          <a:lstStyle/>
          <a:p>
            <a:pPr>
              <a:lnSpc>
                <a:spcPct val="150000"/>
              </a:lnSpc>
              <a:buNone/>
            </a:pPr>
            <a:r>
              <a:rPr lang="en-US" sz="2800" dirty="0">
                <a:latin typeface="Calibir"/>
              </a:rPr>
              <a:t>Notice that we reuse:</a:t>
            </a:r>
          </a:p>
          <a:p>
            <a:pPr rtl="0">
              <a:lnSpc>
                <a:spcPct val="150000"/>
              </a:lnSpc>
              <a:buNone/>
            </a:pPr>
            <a:r>
              <a:rPr lang="en-US" sz="2800" dirty="0">
                <a:highlight>
                  <a:srgbClr val="FFFF00"/>
                </a:highlight>
                <a:latin typeface="Calibir"/>
              </a:rPr>
              <a:t>factorial(number)</a:t>
            </a:r>
          </a:p>
          <a:p>
            <a:pPr>
              <a:lnSpc>
                <a:spcPct val="150000"/>
              </a:lnSpc>
              <a:buNone/>
            </a:pPr>
            <a:r>
              <a:rPr lang="en-US" sz="2800" dirty="0">
                <a:latin typeface="Calibir"/>
              </a:rPr>
              <a:t>instead of rewriting the factorial calculation.</a:t>
            </a:r>
          </a:p>
        </p:txBody>
      </p:sp>
    </p:spTree>
    <p:extLst>
      <p:ext uri="{BB962C8B-B14F-4D97-AF65-F5344CB8AC3E}">
        <p14:creationId xmlns:p14="http://schemas.microsoft.com/office/powerpoint/2010/main" val="189057163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B077C776-5912-DE36-A6AD-1FA05C15892A}"/>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804803F9-C309-690C-4DEE-58C6FBDA692F}"/>
              </a:ext>
            </a:extLst>
          </p:cNvPr>
          <p:cNvSpPr txBox="1">
            <a:spLocks noGrp="1"/>
          </p:cNvSpPr>
          <p:nvPr>
            <p:ph type="title" idx="4294967295"/>
          </p:nvPr>
        </p:nvSpPr>
        <p:spPr>
          <a:xfrm>
            <a:off x="0" y="1"/>
            <a:ext cx="11362267" cy="880946"/>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4 — Factorial Methods and Arrays</a:t>
            </a:r>
            <a:endParaRPr dirty="0"/>
          </a:p>
        </p:txBody>
      </p:sp>
      <p:sp>
        <p:nvSpPr>
          <p:cNvPr id="4" name="TextBox 3">
            <a:extLst>
              <a:ext uri="{FF2B5EF4-FFF2-40B4-BE49-F238E27FC236}">
                <a16:creationId xmlns:a16="http://schemas.microsoft.com/office/drawing/2014/main" id="{29E3A190-9B78-78C4-BC8A-E2B773E1EB2B}"/>
              </a:ext>
            </a:extLst>
          </p:cNvPr>
          <p:cNvSpPr txBox="1"/>
          <p:nvPr/>
        </p:nvSpPr>
        <p:spPr>
          <a:xfrm>
            <a:off x="0" y="1282390"/>
            <a:ext cx="11965258" cy="3903504"/>
          </a:xfrm>
          <a:prstGeom prst="rect">
            <a:avLst/>
          </a:prstGeom>
          <a:noFill/>
        </p:spPr>
        <p:txBody>
          <a:bodyPr wrap="square">
            <a:spAutoFit/>
          </a:bodyPr>
          <a:lstStyle/>
          <a:p>
            <a:pPr>
              <a:lnSpc>
                <a:spcPct val="150000"/>
              </a:lnSpc>
            </a:pPr>
            <a:r>
              <a:rPr lang="en-US" sz="2800" b="1" dirty="0">
                <a:latin typeface="Calibir"/>
              </a:rPr>
              <a:t>Step 4 — Show arrays</a:t>
            </a:r>
          </a:p>
          <a:p>
            <a:pPr>
              <a:lnSpc>
                <a:spcPct val="150000"/>
              </a:lnSpc>
            </a:pPr>
            <a:r>
              <a:rPr lang="en-US" sz="2800" dirty="0">
                <a:highlight>
                  <a:srgbClr val="FFFF00"/>
                </a:highlight>
                <a:latin typeface="Calibir"/>
              </a:rPr>
              <a:t>def </a:t>
            </a:r>
            <a:r>
              <a:rPr lang="en-US" sz="2800" dirty="0" err="1">
                <a:highlight>
                  <a:srgbClr val="FFFF00"/>
                </a:highlight>
                <a:latin typeface="Calibir"/>
              </a:rPr>
              <a:t>show_arrays</a:t>
            </a:r>
            <a:r>
              <a:rPr lang="en-US" sz="2800" dirty="0">
                <a:highlight>
                  <a:srgbClr val="FFFF00"/>
                </a:highlight>
                <a:latin typeface="Calibir"/>
              </a:rPr>
              <a:t>(</a:t>
            </a:r>
          </a:p>
          <a:p>
            <a:pPr>
              <a:lnSpc>
                <a:spcPct val="150000"/>
              </a:lnSpc>
            </a:pPr>
            <a:r>
              <a:rPr lang="en-US" sz="2800" dirty="0">
                <a:highlight>
                  <a:srgbClr val="FFFF00"/>
                </a:highlight>
                <a:latin typeface="Calibir"/>
              </a:rPr>
              <a:t>        numbers,</a:t>
            </a:r>
          </a:p>
          <a:p>
            <a:pPr>
              <a:lnSpc>
                <a:spcPct val="150000"/>
              </a:lnSpc>
            </a:pPr>
            <a:r>
              <a:rPr lang="en-US" sz="2800" dirty="0">
                <a:highlight>
                  <a:srgbClr val="FFFF00"/>
                </a:highlight>
                <a:latin typeface="Calibir"/>
              </a:rPr>
              <a:t>        factorials):</a:t>
            </a:r>
          </a:p>
          <a:p>
            <a:pPr>
              <a:lnSpc>
                <a:spcPct val="150000"/>
              </a:lnSpc>
            </a:pPr>
            <a:r>
              <a:rPr lang="en-US" sz="2800" dirty="0">
                <a:highlight>
                  <a:srgbClr val="FFFF00"/>
                </a:highlight>
                <a:latin typeface="Calibir"/>
              </a:rPr>
              <a:t>    print("Random numbers:", numbers)</a:t>
            </a:r>
          </a:p>
          <a:p>
            <a:pPr>
              <a:lnSpc>
                <a:spcPct val="150000"/>
              </a:lnSpc>
            </a:pPr>
            <a:r>
              <a:rPr lang="en-US" sz="2800" dirty="0">
                <a:highlight>
                  <a:srgbClr val="FFFF00"/>
                </a:highlight>
                <a:latin typeface="Calibir"/>
              </a:rPr>
              <a:t>    print("Factorials:", factorials)</a:t>
            </a:r>
          </a:p>
        </p:txBody>
      </p:sp>
    </p:spTree>
    <p:extLst>
      <p:ext uri="{BB962C8B-B14F-4D97-AF65-F5344CB8AC3E}">
        <p14:creationId xmlns:p14="http://schemas.microsoft.com/office/powerpoint/2010/main" val="36295295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26F31FF9-3451-D548-2904-8A231A3AD51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FF309B-CB19-DDD2-C1C3-4E9662ABE154}"/>
              </a:ext>
            </a:extLst>
          </p:cNvPr>
          <p:cNvSpPr txBox="1"/>
          <p:nvPr/>
        </p:nvSpPr>
        <p:spPr>
          <a:xfrm>
            <a:off x="0" y="0"/>
            <a:ext cx="11965258" cy="6986528"/>
          </a:xfrm>
          <a:prstGeom prst="rect">
            <a:avLst/>
          </a:prstGeom>
          <a:noFill/>
        </p:spPr>
        <p:txBody>
          <a:bodyPr wrap="square">
            <a:spAutoFit/>
          </a:bodyPr>
          <a:lstStyle/>
          <a:p>
            <a:r>
              <a:rPr lang="en-US" sz="1400" b="1" dirty="0">
                <a:latin typeface="Calibir"/>
              </a:rPr>
              <a:t>Completed Python — Lab5Ex4.py</a:t>
            </a:r>
          </a:p>
          <a:p>
            <a:r>
              <a:rPr lang="en-US" sz="1400" dirty="0">
                <a:highlight>
                  <a:srgbClr val="FFFF00"/>
                </a:highlight>
                <a:latin typeface="Calibir"/>
              </a:rPr>
              <a:t>import random</a:t>
            </a:r>
          </a:p>
          <a:p>
            <a:r>
              <a:rPr lang="en-US" sz="1400" dirty="0">
                <a:highlight>
                  <a:srgbClr val="FFFF00"/>
                </a:highlight>
                <a:latin typeface="Calibir"/>
              </a:rPr>
              <a:t>def </a:t>
            </a:r>
            <a:r>
              <a:rPr lang="en-US" sz="1400" dirty="0" err="1">
                <a:highlight>
                  <a:srgbClr val="FFFF00"/>
                </a:highlight>
                <a:latin typeface="Calibir"/>
              </a:rPr>
              <a:t>generate_numbers</a:t>
            </a:r>
            <a:r>
              <a:rPr lang="en-US" sz="1400" dirty="0">
                <a:highlight>
                  <a:srgbClr val="FFFF00"/>
                </a:highlight>
                <a:latin typeface="Calibir"/>
              </a:rPr>
              <a:t>():</a:t>
            </a:r>
          </a:p>
          <a:p>
            <a:r>
              <a:rPr lang="en-US" sz="1400" dirty="0">
                <a:highlight>
                  <a:srgbClr val="FFFF00"/>
                </a:highlight>
                <a:latin typeface="Calibir"/>
              </a:rPr>
              <a:t>    numbers = []</a:t>
            </a:r>
          </a:p>
          <a:p>
            <a:r>
              <a:rPr lang="en-US" sz="1400" dirty="0">
                <a:highlight>
                  <a:srgbClr val="FFFF00"/>
                </a:highlight>
                <a:latin typeface="Calibir"/>
              </a:rPr>
              <a:t>    for </a:t>
            </a:r>
            <a:r>
              <a:rPr lang="en-US" sz="1400" dirty="0" err="1">
                <a:highlight>
                  <a:srgbClr val="FFFF00"/>
                </a:highlight>
                <a:latin typeface="Calibir"/>
              </a:rPr>
              <a:t>i</a:t>
            </a:r>
            <a:r>
              <a:rPr lang="en-US" sz="1400" dirty="0">
                <a:highlight>
                  <a:srgbClr val="FFFF00"/>
                </a:highlight>
                <a:latin typeface="Calibir"/>
              </a:rPr>
              <a:t> in range(5):</a:t>
            </a:r>
          </a:p>
          <a:p>
            <a:r>
              <a:rPr lang="en-US" sz="1400" dirty="0">
                <a:highlight>
                  <a:srgbClr val="FFFF00"/>
                </a:highlight>
                <a:latin typeface="Calibir"/>
              </a:rPr>
              <a:t>        </a:t>
            </a:r>
            <a:r>
              <a:rPr lang="en-US" sz="1400" dirty="0" err="1">
                <a:highlight>
                  <a:srgbClr val="FFFF00"/>
                </a:highlight>
                <a:latin typeface="Calibir"/>
              </a:rPr>
              <a:t>numbers.append</a:t>
            </a:r>
            <a:r>
              <a:rPr lang="en-US" sz="1400" dirty="0">
                <a:highlight>
                  <a:srgbClr val="FFFF00"/>
                </a:highlight>
                <a:latin typeface="Calibir"/>
              </a:rPr>
              <a:t>(</a:t>
            </a:r>
          </a:p>
          <a:p>
            <a:r>
              <a:rPr lang="en-US" sz="1400" dirty="0">
                <a:highlight>
                  <a:srgbClr val="FFFF00"/>
                </a:highlight>
                <a:latin typeface="Calibir"/>
              </a:rPr>
              <a:t>            </a:t>
            </a:r>
            <a:r>
              <a:rPr lang="en-US" sz="1400" dirty="0" err="1">
                <a:highlight>
                  <a:srgbClr val="FFFF00"/>
                </a:highlight>
                <a:latin typeface="Calibir"/>
              </a:rPr>
              <a:t>random.randint</a:t>
            </a:r>
            <a:r>
              <a:rPr lang="en-US" sz="1400" dirty="0">
                <a:highlight>
                  <a:srgbClr val="FFFF00"/>
                </a:highlight>
                <a:latin typeface="Calibir"/>
              </a:rPr>
              <a:t>(0, 10)</a:t>
            </a:r>
          </a:p>
          <a:p>
            <a:r>
              <a:rPr lang="en-US" sz="1400" dirty="0">
                <a:highlight>
                  <a:srgbClr val="FFFF00"/>
                </a:highlight>
                <a:latin typeface="Calibir"/>
              </a:rPr>
              <a:t>        )</a:t>
            </a:r>
          </a:p>
          <a:p>
            <a:r>
              <a:rPr lang="en-US" sz="1400" dirty="0">
                <a:highlight>
                  <a:srgbClr val="FFFF00"/>
                </a:highlight>
                <a:latin typeface="Calibir"/>
              </a:rPr>
              <a:t>    return numbers</a:t>
            </a:r>
          </a:p>
          <a:p>
            <a:r>
              <a:rPr lang="en-US" sz="1400" dirty="0">
                <a:highlight>
                  <a:srgbClr val="FFFF00"/>
                </a:highlight>
                <a:latin typeface="Calibir"/>
              </a:rPr>
              <a:t>def factorial(number):</a:t>
            </a:r>
          </a:p>
          <a:p>
            <a:r>
              <a:rPr lang="en-US" sz="1400" dirty="0">
                <a:highlight>
                  <a:srgbClr val="FFFF00"/>
                </a:highlight>
                <a:latin typeface="Calibir"/>
              </a:rPr>
              <a:t>    result = 1</a:t>
            </a:r>
          </a:p>
          <a:p>
            <a:r>
              <a:rPr lang="en-US" sz="1400" dirty="0">
                <a:highlight>
                  <a:srgbClr val="FFFF00"/>
                </a:highlight>
                <a:latin typeface="Calibir"/>
              </a:rPr>
              <a:t>    for </a:t>
            </a:r>
            <a:r>
              <a:rPr lang="en-US" sz="1400" dirty="0" err="1">
                <a:highlight>
                  <a:srgbClr val="FFFF00"/>
                </a:highlight>
                <a:latin typeface="Calibir"/>
              </a:rPr>
              <a:t>i</a:t>
            </a:r>
            <a:r>
              <a:rPr lang="en-US" sz="1400" dirty="0">
                <a:highlight>
                  <a:srgbClr val="FFFF00"/>
                </a:highlight>
                <a:latin typeface="Calibir"/>
              </a:rPr>
              <a:t> in range(1, number + 1):</a:t>
            </a:r>
          </a:p>
          <a:p>
            <a:r>
              <a:rPr lang="en-US" sz="1400" dirty="0">
                <a:highlight>
                  <a:srgbClr val="FFFF00"/>
                </a:highlight>
                <a:latin typeface="Calibir"/>
              </a:rPr>
              <a:t>        result *= </a:t>
            </a:r>
            <a:r>
              <a:rPr lang="en-US" sz="1400" dirty="0" err="1">
                <a:highlight>
                  <a:srgbClr val="FFFF00"/>
                </a:highlight>
                <a:latin typeface="Calibir"/>
              </a:rPr>
              <a:t>i</a:t>
            </a:r>
            <a:endParaRPr lang="en-US" sz="1400" dirty="0">
              <a:highlight>
                <a:srgbClr val="FFFF00"/>
              </a:highlight>
              <a:latin typeface="Calibir"/>
            </a:endParaRPr>
          </a:p>
          <a:p>
            <a:r>
              <a:rPr lang="en-US" sz="1400" dirty="0">
                <a:highlight>
                  <a:srgbClr val="FFFF00"/>
                </a:highlight>
                <a:latin typeface="Calibir"/>
              </a:rPr>
              <a:t>    return result</a:t>
            </a:r>
          </a:p>
          <a:p>
            <a:r>
              <a:rPr lang="en-US" sz="1400" dirty="0">
                <a:highlight>
                  <a:srgbClr val="FFFF00"/>
                </a:highlight>
                <a:latin typeface="Calibir"/>
              </a:rPr>
              <a:t>def </a:t>
            </a:r>
            <a:r>
              <a:rPr lang="en-US" sz="1400" dirty="0" err="1">
                <a:highlight>
                  <a:srgbClr val="FFFF00"/>
                </a:highlight>
                <a:latin typeface="Calibir"/>
              </a:rPr>
              <a:t>factorial_array</a:t>
            </a:r>
            <a:r>
              <a:rPr lang="en-US" sz="1400" dirty="0">
                <a:highlight>
                  <a:srgbClr val="FFFF00"/>
                </a:highlight>
                <a:latin typeface="Calibir"/>
              </a:rPr>
              <a:t>(numbers):</a:t>
            </a:r>
          </a:p>
          <a:p>
            <a:r>
              <a:rPr lang="en-US" sz="1400" dirty="0">
                <a:highlight>
                  <a:srgbClr val="FFFF00"/>
                </a:highlight>
                <a:latin typeface="Calibir"/>
              </a:rPr>
              <a:t>    results = []</a:t>
            </a:r>
          </a:p>
          <a:p>
            <a:r>
              <a:rPr lang="en-US" sz="1400" dirty="0">
                <a:highlight>
                  <a:srgbClr val="FFFF00"/>
                </a:highlight>
                <a:latin typeface="Calibir"/>
              </a:rPr>
              <a:t>    for number in numbers:</a:t>
            </a:r>
          </a:p>
          <a:p>
            <a:r>
              <a:rPr lang="en-US" sz="1400" dirty="0">
                <a:highlight>
                  <a:srgbClr val="FFFF00"/>
                </a:highlight>
                <a:latin typeface="Calibir"/>
              </a:rPr>
              <a:t>        </a:t>
            </a:r>
            <a:r>
              <a:rPr lang="en-US" sz="1400" dirty="0" err="1">
                <a:highlight>
                  <a:srgbClr val="FFFF00"/>
                </a:highlight>
                <a:latin typeface="Calibir"/>
              </a:rPr>
              <a:t>results.append</a:t>
            </a:r>
            <a:r>
              <a:rPr lang="en-US" sz="1400" dirty="0">
                <a:highlight>
                  <a:srgbClr val="FFFF00"/>
                </a:highlight>
                <a:latin typeface="Calibir"/>
              </a:rPr>
              <a:t>(</a:t>
            </a:r>
          </a:p>
          <a:p>
            <a:r>
              <a:rPr lang="en-US" sz="1400" dirty="0">
                <a:highlight>
                  <a:srgbClr val="FFFF00"/>
                </a:highlight>
                <a:latin typeface="Calibir"/>
              </a:rPr>
              <a:t>            factorial(number)</a:t>
            </a:r>
          </a:p>
          <a:p>
            <a:r>
              <a:rPr lang="en-US" sz="1400" dirty="0">
                <a:highlight>
                  <a:srgbClr val="FFFF00"/>
                </a:highlight>
                <a:latin typeface="Calibir"/>
              </a:rPr>
              <a:t>        )</a:t>
            </a:r>
          </a:p>
          <a:p>
            <a:r>
              <a:rPr lang="en-US" sz="1400" dirty="0">
                <a:highlight>
                  <a:srgbClr val="FFFF00"/>
                </a:highlight>
                <a:latin typeface="Calibir"/>
              </a:rPr>
              <a:t>    return results</a:t>
            </a:r>
          </a:p>
          <a:p>
            <a:r>
              <a:rPr lang="en-US" sz="1400" dirty="0">
                <a:highlight>
                  <a:srgbClr val="FFFF00"/>
                </a:highlight>
                <a:latin typeface="Calibir"/>
              </a:rPr>
              <a:t>def </a:t>
            </a:r>
            <a:r>
              <a:rPr lang="en-US" sz="1400" dirty="0" err="1">
                <a:highlight>
                  <a:srgbClr val="FFFF00"/>
                </a:highlight>
                <a:latin typeface="Calibir"/>
              </a:rPr>
              <a:t>show_arrays</a:t>
            </a:r>
            <a:r>
              <a:rPr lang="en-US" sz="1400" dirty="0">
                <a:highlight>
                  <a:srgbClr val="FFFF00"/>
                </a:highlight>
                <a:latin typeface="Calibir"/>
              </a:rPr>
              <a:t>(</a:t>
            </a:r>
          </a:p>
          <a:p>
            <a:r>
              <a:rPr lang="en-US" sz="1400" dirty="0">
                <a:highlight>
                  <a:srgbClr val="FFFF00"/>
                </a:highlight>
                <a:latin typeface="Calibir"/>
              </a:rPr>
              <a:t>        numbers,</a:t>
            </a:r>
          </a:p>
          <a:p>
            <a:r>
              <a:rPr lang="en-US" sz="1400" dirty="0">
                <a:highlight>
                  <a:srgbClr val="FFFF00"/>
                </a:highlight>
                <a:latin typeface="Calibir"/>
              </a:rPr>
              <a:t>        factorials):</a:t>
            </a:r>
          </a:p>
          <a:p>
            <a:r>
              <a:rPr lang="en-US" sz="1400" dirty="0">
                <a:highlight>
                  <a:srgbClr val="FFFF00"/>
                </a:highlight>
                <a:latin typeface="Calibir"/>
              </a:rPr>
              <a:t>    print(</a:t>
            </a:r>
          </a:p>
          <a:p>
            <a:r>
              <a:rPr lang="en-US" sz="1400" dirty="0">
                <a:highlight>
                  <a:srgbClr val="FFFF00"/>
                </a:highlight>
                <a:latin typeface="Calibir"/>
              </a:rPr>
              <a:t>        "Random numbers:",</a:t>
            </a:r>
          </a:p>
          <a:p>
            <a:r>
              <a:rPr lang="en-US" sz="1400" dirty="0">
                <a:highlight>
                  <a:srgbClr val="FFFF00"/>
                </a:highlight>
                <a:latin typeface="Calibir"/>
              </a:rPr>
              <a:t>        numbers</a:t>
            </a:r>
          </a:p>
          <a:p>
            <a:r>
              <a:rPr lang="en-US" sz="1400" dirty="0">
                <a:highlight>
                  <a:srgbClr val="FFFF00"/>
                </a:highlight>
                <a:latin typeface="Calibir"/>
              </a:rPr>
              <a:t>    )</a:t>
            </a:r>
          </a:p>
          <a:p>
            <a:r>
              <a:rPr lang="en-US" sz="1400" dirty="0">
                <a:highlight>
                  <a:srgbClr val="FFFF00"/>
                </a:highlight>
                <a:latin typeface="Calibir"/>
              </a:rPr>
              <a:t>    print(</a:t>
            </a:r>
          </a:p>
          <a:p>
            <a:r>
              <a:rPr lang="en-US" sz="1400" dirty="0">
                <a:highlight>
                  <a:srgbClr val="FFFF00"/>
                </a:highlight>
                <a:latin typeface="Calibir"/>
              </a:rPr>
              <a:t>        "Factorials:",</a:t>
            </a:r>
          </a:p>
          <a:p>
            <a:r>
              <a:rPr lang="en-US" sz="1400" dirty="0">
                <a:highlight>
                  <a:srgbClr val="FFFF00"/>
                </a:highlight>
                <a:latin typeface="Calibir"/>
              </a:rPr>
              <a:t>        factorials</a:t>
            </a:r>
          </a:p>
          <a:p>
            <a:r>
              <a:rPr lang="en-US" sz="1400" dirty="0">
                <a:highlight>
                  <a:srgbClr val="FFFF00"/>
                </a:highlight>
                <a:latin typeface="Calibir"/>
              </a:rPr>
              <a:t>    )</a:t>
            </a:r>
          </a:p>
        </p:txBody>
      </p:sp>
    </p:spTree>
    <p:extLst>
      <p:ext uri="{BB962C8B-B14F-4D97-AF65-F5344CB8AC3E}">
        <p14:creationId xmlns:p14="http://schemas.microsoft.com/office/powerpoint/2010/main" val="269610059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856B830-9F4C-18A7-4B64-313AF81F33F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E239BF-2DC3-7D00-0840-12E85A118969}"/>
              </a:ext>
            </a:extLst>
          </p:cNvPr>
          <p:cNvSpPr txBox="1"/>
          <p:nvPr/>
        </p:nvSpPr>
        <p:spPr>
          <a:xfrm>
            <a:off x="0" y="0"/>
            <a:ext cx="11965258" cy="2462213"/>
          </a:xfrm>
          <a:prstGeom prst="rect">
            <a:avLst/>
          </a:prstGeom>
          <a:noFill/>
        </p:spPr>
        <p:txBody>
          <a:bodyPr wrap="square">
            <a:spAutoFit/>
          </a:bodyPr>
          <a:lstStyle/>
          <a:p>
            <a:r>
              <a:rPr lang="en-US" sz="1400" dirty="0">
                <a:highlight>
                  <a:srgbClr val="FFFF00"/>
                </a:highlight>
                <a:latin typeface="Calibir"/>
              </a:rPr>
              <a:t>def main():</a:t>
            </a:r>
          </a:p>
          <a:p>
            <a:r>
              <a:rPr lang="en-US" sz="1400" dirty="0">
                <a:highlight>
                  <a:srgbClr val="FFFF00"/>
                </a:highlight>
                <a:latin typeface="Calibir"/>
              </a:rPr>
              <a:t>    numbers =</a:t>
            </a:r>
          </a:p>
          <a:p>
            <a:r>
              <a:rPr lang="en-US" sz="1400" dirty="0">
                <a:highlight>
                  <a:srgbClr val="FFFF00"/>
                </a:highlight>
                <a:latin typeface="Calibir"/>
              </a:rPr>
              <a:t>        </a:t>
            </a:r>
            <a:r>
              <a:rPr lang="en-US" sz="1400" dirty="0" err="1">
                <a:highlight>
                  <a:srgbClr val="FFFF00"/>
                </a:highlight>
                <a:latin typeface="Calibir"/>
              </a:rPr>
              <a:t>generate_numbers</a:t>
            </a:r>
            <a:r>
              <a:rPr lang="en-US" sz="1400" dirty="0">
                <a:highlight>
                  <a:srgbClr val="FFFF00"/>
                </a:highlight>
                <a:latin typeface="Calibir"/>
              </a:rPr>
              <a:t>()</a:t>
            </a:r>
          </a:p>
          <a:p>
            <a:r>
              <a:rPr lang="en-US" sz="1400" dirty="0">
                <a:highlight>
                  <a:srgbClr val="FFFF00"/>
                </a:highlight>
                <a:latin typeface="Calibir"/>
              </a:rPr>
              <a:t>    factorials =</a:t>
            </a:r>
          </a:p>
          <a:p>
            <a:r>
              <a:rPr lang="en-US" sz="1400" dirty="0">
                <a:highlight>
                  <a:srgbClr val="FFFF00"/>
                </a:highlight>
                <a:latin typeface="Calibir"/>
              </a:rPr>
              <a:t>        </a:t>
            </a:r>
            <a:r>
              <a:rPr lang="en-US" sz="1400" dirty="0" err="1">
                <a:highlight>
                  <a:srgbClr val="FFFF00"/>
                </a:highlight>
                <a:latin typeface="Calibir"/>
              </a:rPr>
              <a:t>factorial_array</a:t>
            </a:r>
            <a:r>
              <a:rPr lang="en-US" sz="1400" dirty="0">
                <a:highlight>
                  <a:srgbClr val="FFFF00"/>
                </a:highlight>
                <a:latin typeface="Calibir"/>
              </a:rPr>
              <a:t>(numbers)</a:t>
            </a:r>
          </a:p>
          <a:p>
            <a:r>
              <a:rPr lang="en-US" sz="1400" dirty="0">
                <a:highlight>
                  <a:srgbClr val="FFFF00"/>
                </a:highlight>
                <a:latin typeface="Calibir"/>
              </a:rPr>
              <a:t>    </a:t>
            </a:r>
            <a:r>
              <a:rPr lang="en-US" sz="1400" dirty="0" err="1">
                <a:highlight>
                  <a:srgbClr val="FFFF00"/>
                </a:highlight>
                <a:latin typeface="Calibir"/>
              </a:rPr>
              <a:t>show_arrays</a:t>
            </a:r>
            <a:r>
              <a:rPr lang="en-US" sz="1400" dirty="0">
                <a:highlight>
                  <a:srgbClr val="FFFF00"/>
                </a:highlight>
                <a:latin typeface="Calibir"/>
              </a:rPr>
              <a:t>(</a:t>
            </a:r>
          </a:p>
          <a:p>
            <a:r>
              <a:rPr lang="en-US" sz="1400" dirty="0">
                <a:highlight>
                  <a:srgbClr val="FFFF00"/>
                </a:highlight>
                <a:latin typeface="Calibir"/>
              </a:rPr>
              <a:t>        numbers,</a:t>
            </a:r>
          </a:p>
          <a:p>
            <a:r>
              <a:rPr lang="en-US" sz="1400" dirty="0">
                <a:highlight>
                  <a:srgbClr val="FFFF00"/>
                </a:highlight>
                <a:latin typeface="Calibir"/>
              </a:rPr>
              <a:t>        factorials</a:t>
            </a:r>
          </a:p>
          <a:p>
            <a:r>
              <a:rPr lang="en-US" sz="1400" dirty="0">
                <a:highlight>
                  <a:srgbClr val="FFFF00"/>
                </a:highlight>
                <a:latin typeface="Calibir"/>
              </a:rPr>
              <a:t>    )</a:t>
            </a:r>
          </a:p>
          <a:p>
            <a:r>
              <a:rPr lang="en-US" sz="1400" dirty="0">
                <a:highlight>
                  <a:srgbClr val="FFFF00"/>
                </a:highlight>
                <a:latin typeface="Calibir"/>
              </a:rPr>
              <a:t>if __name__ == "__main__":</a:t>
            </a:r>
          </a:p>
          <a:p>
            <a:r>
              <a:rPr lang="en-US" sz="1400" dirty="0">
                <a:highlight>
                  <a:srgbClr val="FFFF00"/>
                </a:highlight>
                <a:latin typeface="Calibir"/>
              </a:rPr>
              <a:t>    main()</a:t>
            </a:r>
          </a:p>
        </p:txBody>
      </p:sp>
    </p:spTree>
    <p:extLst>
      <p:ext uri="{BB962C8B-B14F-4D97-AF65-F5344CB8AC3E}">
        <p14:creationId xmlns:p14="http://schemas.microsoft.com/office/powerpoint/2010/main" val="5127655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F1D81D8-3D42-8853-B8FA-349C858AEE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D5B9EC6-16F9-B979-87CA-4F827B5C11C1}"/>
              </a:ext>
            </a:extLst>
          </p:cNvPr>
          <p:cNvSpPr txBox="1"/>
          <p:nvPr/>
        </p:nvSpPr>
        <p:spPr>
          <a:xfrm>
            <a:off x="0" y="0"/>
            <a:ext cx="11965258" cy="3031086"/>
          </a:xfrm>
          <a:prstGeom prst="rect">
            <a:avLst/>
          </a:prstGeom>
          <a:noFill/>
        </p:spPr>
        <p:txBody>
          <a:bodyPr wrap="square">
            <a:spAutoFit/>
          </a:bodyPr>
          <a:lstStyle/>
          <a:p>
            <a:pPr>
              <a:lnSpc>
                <a:spcPct val="150000"/>
              </a:lnSpc>
            </a:pPr>
            <a:r>
              <a:rPr lang="en-US" sz="2600" b="1" dirty="0">
                <a:latin typeface="Calibir"/>
              </a:rPr>
              <a:t>Java</a:t>
            </a:r>
          </a:p>
          <a:p>
            <a:pPr>
              <a:lnSpc>
                <a:spcPct val="150000"/>
              </a:lnSpc>
            </a:pPr>
            <a:r>
              <a:rPr lang="en-US" sz="2600" dirty="0">
                <a:latin typeface="Calibir"/>
              </a:rPr>
              <a:t>Java supports method overloading.</a:t>
            </a:r>
          </a:p>
          <a:p>
            <a:pPr>
              <a:lnSpc>
                <a:spcPct val="150000"/>
              </a:lnSpc>
            </a:pPr>
            <a:r>
              <a:rPr lang="en-US" sz="2600" dirty="0">
                <a:latin typeface="Calibir"/>
              </a:rPr>
              <a:t>This means we can write: factorial(int number)</a:t>
            </a:r>
          </a:p>
          <a:p>
            <a:pPr>
              <a:lnSpc>
                <a:spcPct val="150000"/>
              </a:lnSpc>
            </a:pPr>
            <a:r>
              <a:rPr lang="en-US" sz="2600" dirty="0">
                <a:latin typeface="Calibir"/>
              </a:rPr>
              <a:t>and: factorial(int[] numbers)</a:t>
            </a:r>
          </a:p>
          <a:p>
            <a:pPr>
              <a:lnSpc>
                <a:spcPct val="150000"/>
              </a:lnSpc>
            </a:pPr>
            <a:r>
              <a:rPr lang="en-US" sz="2600" dirty="0">
                <a:latin typeface="Calibir"/>
              </a:rPr>
              <a:t>They have the same name but different parameters.</a:t>
            </a:r>
          </a:p>
        </p:txBody>
      </p:sp>
    </p:spTree>
    <p:extLst>
      <p:ext uri="{BB962C8B-B14F-4D97-AF65-F5344CB8AC3E}">
        <p14:creationId xmlns:p14="http://schemas.microsoft.com/office/powerpoint/2010/main" val="13677086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872785D-B79C-A73A-4D85-A595E11362C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117102-1304-699E-1383-72ED3DEF1587}"/>
              </a:ext>
            </a:extLst>
          </p:cNvPr>
          <p:cNvSpPr txBox="1"/>
          <p:nvPr/>
        </p:nvSpPr>
        <p:spPr>
          <a:xfrm>
            <a:off x="0" y="-145761"/>
            <a:ext cx="11965258" cy="7149521"/>
          </a:xfrm>
          <a:prstGeom prst="rect">
            <a:avLst/>
          </a:prstGeom>
          <a:noFill/>
        </p:spPr>
        <p:txBody>
          <a:bodyPr wrap="square">
            <a:spAutoFit/>
          </a:bodyPr>
          <a:lstStyle/>
          <a:p>
            <a:pPr>
              <a:lnSpc>
                <a:spcPct val="150000"/>
              </a:lnSpc>
            </a:pPr>
            <a:r>
              <a:rPr lang="en-US" sz="2200" b="1" dirty="0">
                <a:latin typeface="Calibir"/>
              </a:rPr>
              <a:t>Step 1 — Generate five random numbers</a:t>
            </a:r>
          </a:p>
          <a:p>
            <a:pPr>
              <a:lnSpc>
                <a:spcPct val="150000"/>
              </a:lnSpc>
            </a:pPr>
            <a:r>
              <a:rPr lang="en-US" sz="2200" dirty="0">
                <a:highlight>
                  <a:srgbClr val="FFFF00"/>
                </a:highlight>
                <a:latin typeface="Calibir"/>
              </a:rPr>
              <a:t>public static int[] </a:t>
            </a:r>
            <a:r>
              <a:rPr lang="en-US" sz="2200" dirty="0" err="1">
                <a:highlight>
                  <a:srgbClr val="FFFF00"/>
                </a:highlight>
                <a:latin typeface="Calibir"/>
              </a:rPr>
              <a:t>generateNumbers</a:t>
            </a:r>
            <a:r>
              <a:rPr lang="en-US" sz="2200" dirty="0">
                <a:highlight>
                  <a:srgbClr val="FFFF00"/>
                </a:highlight>
                <a:latin typeface="Calibir"/>
              </a:rPr>
              <a:t>() {</a:t>
            </a:r>
          </a:p>
          <a:p>
            <a:pPr>
              <a:lnSpc>
                <a:spcPct val="150000"/>
              </a:lnSpc>
            </a:pPr>
            <a:r>
              <a:rPr lang="en-US" sz="2200" dirty="0">
                <a:highlight>
                  <a:srgbClr val="FFFF00"/>
                </a:highlight>
                <a:latin typeface="Calibir"/>
              </a:rPr>
              <a:t>    Random </a:t>
            </a:r>
            <a:r>
              <a:rPr lang="en-US" sz="2200" dirty="0" err="1">
                <a:highlight>
                  <a:srgbClr val="FFFF00"/>
                </a:highlight>
                <a:latin typeface="Calibir"/>
              </a:rPr>
              <a:t>random</a:t>
            </a:r>
            <a:r>
              <a:rPr lang="en-US" sz="2200" dirty="0">
                <a:highlight>
                  <a:srgbClr val="FFFF00"/>
                </a:highlight>
                <a:latin typeface="Calibir"/>
              </a:rPr>
              <a:t> = new Random();</a:t>
            </a:r>
          </a:p>
          <a:p>
            <a:pPr>
              <a:lnSpc>
                <a:spcPct val="150000"/>
              </a:lnSpc>
            </a:pPr>
            <a:r>
              <a:rPr lang="en-US" sz="2200" dirty="0">
                <a:highlight>
                  <a:srgbClr val="FFFF00"/>
                </a:highlight>
                <a:latin typeface="Calibir"/>
              </a:rPr>
              <a:t>    int[] numbers = new int[5];</a:t>
            </a:r>
          </a:p>
          <a:p>
            <a:pPr>
              <a:lnSpc>
                <a:spcPct val="150000"/>
              </a:lnSpc>
            </a:pPr>
            <a:r>
              <a:rPr lang="en-US" sz="2200" dirty="0">
                <a:highlight>
                  <a:srgbClr val="FFFF00"/>
                </a:highlight>
                <a:latin typeface="Calibir"/>
              </a:rPr>
              <a:t>    for (</a:t>
            </a:r>
          </a:p>
          <a:p>
            <a:pPr>
              <a:lnSpc>
                <a:spcPct val="150000"/>
              </a:lnSpc>
            </a:pPr>
            <a:r>
              <a:rPr lang="en-US" sz="2200" dirty="0">
                <a:highlight>
                  <a:srgbClr val="FFFF00"/>
                </a:highlight>
                <a:latin typeface="Calibir"/>
              </a:rPr>
              <a:t>        int </a:t>
            </a:r>
            <a:r>
              <a:rPr lang="en-US" sz="2200" dirty="0" err="1">
                <a:highlight>
                  <a:srgbClr val="FFFF00"/>
                </a:highlight>
                <a:latin typeface="Calibir"/>
              </a:rPr>
              <a:t>i</a:t>
            </a:r>
            <a:r>
              <a:rPr lang="en-US" sz="2200" dirty="0">
                <a:highlight>
                  <a:srgbClr val="FFFF00"/>
                </a:highlight>
                <a:latin typeface="Calibir"/>
              </a:rPr>
              <a:t> = 0;</a:t>
            </a:r>
          </a:p>
          <a:p>
            <a:pPr>
              <a:lnSpc>
                <a:spcPct val="150000"/>
              </a:lnSpc>
            </a:pPr>
            <a:r>
              <a:rPr lang="en-US" sz="2200" dirty="0">
                <a:highlight>
                  <a:srgbClr val="FFFF00"/>
                </a:highlight>
                <a:latin typeface="Calibir"/>
              </a:rPr>
              <a:t>        </a:t>
            </a:r>
            <a:r>
              <a:rPr lang="en-US" sz="2200" dirty="0" err="1">
                <a:highlight>
                  <a:srgbClr val="FFFF00"/>
                </a:highlight>
                <a:latin typeface="Calibir"/>
              </a:rPr>
              <a:t>i</a:t>
            </a:r>
            <a:r>
              <a:rPr lang="en-US" sz="2200" dirty="0">
                <a:highlight>
                  <a:srgbClr val="FFFF00"/>
                </a:highlight>
                <a:latin typeface="Calibir"/>
              </a:rPr>
              <a:t> &lt; </a:t>
            </a:r>
            <a:r>
              <a:rPr lang="en-US" sz="2200" dirty="0" err="1">
                <a:highlight>
                  <a:srgbClr val="FFFF00"/>
                </a:highlight>
                <a:latin typeface="Calibir"/>
              </a:rPr>
              <a:t>numbers.length</a:t>
            </a:r>
            <a:r>
              <a:rPr lang="en-US" sz="2200" dirty="0">
                <a:highlight>
                  <a:srgbClr val="FFFF00"/>
                </a:highlight>
                <a:latin typeface="Calibir"/>
              </a:rPr>
              <a:t>;</a:t>
            </a:r>
          </a:p>
          <a:p>
            <a:pPr>
              <a:lnSpc>
                <a:spcPct val="150000"/>
              </a:lnSpc>
            </a:pPr>
            <a:r>
              <a:rPr lang="en-US" sz="2200" dirty="0">
                <a:highlight>
                  <a:srgbClr val="FFFF00"/>
                </a:highlight>
                <a:latin typeface="Calibir"/>
              </a:rPr>
              <a:t>        </a:t>
            </a:r>
            <a:r>
              <a:rPr lang="en-US" sz="2200" dirty="0" err="1">
                <a:highlight>
                  <a:srgbClr val="FFFF00"/>
                </a:highlight>
                <a:latin typeface="Calibir"/>
              </a:rPr>
              <a:t>i</a:t>
            </a:r>
            <a:r>
              <a:rPr lang="en-US" sz="2200" dirty="0">
                <a:highlight>
                  <a:srgbClr val="FFFF00"/>
                </a:highlight>
                <a:latin typeface="Calibir"/>
              </a:rPr>
              <a:t>++</a:t>
            </a:r>
          </a:p>
          <a:p>
            <a:pPr>
              <a:lnSpc>
                <a:spcPct val="150000"/>
              </a:lnSpc>
            </a:pPr>
            <a:r>
              <a:rPr lang="en-US" sz="2200" dirty="0">
                <a:highlight>
                  <a:srgbClr val="FFFF00"/>
                </a:highlight>
                <a:latin typeface="Calibir"/>
              </a:rPr>
              <a:t>    ) {</a:t>
            </a:r>
          </a:p>
          <a:p>
            <a:pPr>
              <a:lnSpc>
                <a:spcPct val="150000"/>
              </a:lnSpc>
            </a:pPr>
            <a:r>
              <a:rPr lang="en-US" sz="2200" dirty="0">
                <a:highlight>
                  <a:srgbClr val="FFFF00"/>
                </a:highlight>
                <a:latin typeface="Calibir"/>
              </a:rPr>
              <a:t>        numbers[</a:t>
            </a:r>
            <a:r>
              <a:rPr lang="en-US" sz="2200" dirty="0" err="1">
                <a:highlight>
                  <a:srgbClr val="FFFF00"/>
                </a:highlight>
                <a:latin typeface="Calibir"/>
              </a:rPr>
              <a:t>i</a:t>
            </a:r>
            <a:r>
              <a:rPr lang="en-US" sz="2200" dirty="0">
                <a:highlight>
                  <a:srgbClr val="FFFF00"/>
                </a:highlight>
                <a:latin typeface="Calibir"/>
              </a:rPr>
              <a:t>] =</a:t>
            </a:r>
          </a:p>
          <a:p>
            <a:pPr>
              <a:lnSpc>
                <a:spcPct val="150000"/>
              </a:lnSpc>
            </a:pPr>
            <a:r>
              <a:rPr lang="en-US" sz="2200" dirty="0">
                <a:highlight>
                  <a:srgbClr val="FFFF00"/>
                </a:highlight>
                <a:latin typeface="Calibir"/>
              </a:rPr>
              <a:t>                </a:t>
            </a:r>
            <a:r>
              <a:rPr lang="en-US" sz="2200" dirty="0" err="1">
                <a:highlight>
                  <a:srgbClr val="FFFF00"/>
                </a:highlight>
                <a:latin typeface="Calibir"/>
              </a:rPr>
              <a:t>random.nextInt</a:t>
            </a:r>
            <a:r>
              <a:rPr lang="en-US" sz="2200" dirty="0">
                <a:highlight>
                  <a:srgbClr val="FFFF00"/>
                </a:highlight>
                <a:latin typeface="Calibir"/>
              </a:rPr>
              <a:t>(11);</a:t>
            </a:r>
          </a:p>
          <a:p>
            <a:pPr>
              <a:lnSpc>
                <a:spcPct val="150000"/>
              </a:lnSpc>
            </a:pPr>
            <a:r>
              <a:rPr lang="en-US" sz="2200" dirty="0">
                <a:highlight>
                  <a:srgbClr val="FFFF00"/>
                </a:highlight>
                <a:latin typeface="Calibir"/>
              </a:rPr>
              <a:t>    }</a:t>
            </a:r>
          </a:p>
          <a:p>
            <a:pPr>
              <a:lnSpc>
                <a:spcPct val="150000"/>
              </a:lnSpc>
            </a:pPr>
            <a:r>
              <a:rPr lang="en-US" sz="2200" dirty="0">
                <a:highlight>
                  <a:srgbClr val="FFFF00"/>
                </a:highlight>
                <a:latin typeface="Calibir"/>
              </a:rPr>
              <a:t>    return numbers;</a:t>
            </a:r>
          </a:p>
          <a:p>
            <a:pPr>
              <a:lnSpc>
                <a:spcPct val="150000"/>
              </a:lnSpc>
            </a:pPr>
            <a:r>
              <a:rPr lang="en-US" sz="2200" dirty="0">
                <a:highlight>
                  <a:srgbClr val="FFFF00"/>
                </a:highlight>
                <a:latin typeface="Calibir"/>
              </a:rPr>
              <a:t>}</a:t>
            </a:r>
          </a:p>
        </p:txBody>
      </p:sp>
    </p:spTree>
    <p:extLst>
      <p:ext uri="{BB962C8B-B14F-4D97-AF65-F5344CB8AC3E}">
        <p14:creationId xmlns:p14="http://schemas.microsoft.com/office/powerpoint/2010/main" val="2325116808"/>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A8BEBDF-F4DF-45D0-5A8D-5AF9EC32016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2330C8-9686-23B4-F755-EABC55881D5A}"/>
              </a:ext>
            </a:extLst>
          </p:cNvPr>
          <p:cNvSpPr txBox="1"/>
          <p:nvPr/>
        </p:nvSpPr>
        <p:spPr>
          <a:xfrm>
            <a:off x="0" y="-248997"/>
            <a:ext cx="11965258" cy="7283212"/>
          </a:xfrm>
          <a:prstGeom prst="rect">
            <a:avLst/>
          </a:prstGeom>
          <a:noFill/>
        </p:spPr>
        <p:txBody>
          <a:bodyPr wrap="square">
            <a:spAutoFit/>
          </a:bodyPr>
          <a:lstStyle/>
          <a:p>
            <a:pPr>
              <a:lnSpc>
                <a:spcPct val="150000"/>
              </a:lnSpc>
            </a:pPr>
            <a:r>
              <a:rPr lang="en-US" sz="2600" b="1" dirty="0">
                <a:latin typeface="Calibir"/>
              </a:rPr>
              <a:t>Step 2 — Factorial of one number</a:t>
            </a:r>
          </a:p>
          <a:p>
            <a:pPr>
              <a:lnSpc>
                <a:spcPct val="150000"/>
              </a:lnSpc>
            </a:pPr>
            <a:r>
              <a:rPr lang="en-US" sz="2400" dirty="0">
                <a:highlight>
                  <a:srgbClr val="FFFF00"/>
                </a:highlight>
                <a:latin typeface="Calibir"/>
              </a:rPr>
              <a:t>public static long factorial(</a:t>
            </a:r>
          </a:p>
          <a:p>
            <a:pPr>
              <a:lnSpc>
                <a:spcPct val="150000"/>
              </a:lnSpc>
            </a:pPr>
            <a:r>
              <a:rPr lang="en-US" sz="2400" dirty="0">
                <a:highlight>
                  <a:srgbClr val="FFFF00"/>
                </a:highlight>
                <a:latin typeface="Calibir"/>
              </a:rPr>
              <a:t>        int number) {</a:t>
            </a:r>
          </a:p>
          <a:p>
            <a:pPr>
              <a:lnSpc>
                <a:spcPct val="150000"/>
              </a:lnSpc>
            </a:pPr>
            <a:r>
              <a:rPr lang="en-US" sz="2400" dirty="0">
                <a:highlight>
                  <a:srgbClr val="FFFF00"/>
                </a:highlight>
                <a:latin typeface="Calibir"/>
              </a:rPr>
              <a:t>    long result = 1;</a:t>
            </a:r>
          </a:p>
          <a:p>
            <a:pPr>
              <a:lnSpc>
                <a:spcPct val="150000"/>
              </a:lnSpc>
            </a:pPr>
            <a:r>
              <a:rPr lang="en-US" sz="2400" dirty="0">
                <a:highlight>
                  <a:srgbClr val="FFFF00"/>
                </a:highlight>
                <a:latin typeface="Calibir"/>
              </a:rPr>
              <a:t>    for (</a:t>
            </a:r>
          </a:p>
          <a:p>
            <a:pPr>
              <a:lnSpc>
                <a:spcPct val="150000"/>
              </a:lnSpc>
            </a:pPr>
            <a:r>
              <a:rPr lang="en-US" sz="2400" dirty="0">
                <a:highlight>
                  <a:srgbClr val="FFFF00"/>
                </a:highlight>
                <a:latin typeface="Calibir"/>
              </a:rPr>
              <a:t>        int </a:t>
            </a:r>
            <a:r>
              <a:rPr lang="en-US" sz="2400" dirty="0" err="1">
                <a:highlight>
                  <a:srgbClr val="FFFF00"/>
                </a:highlight>
                <a:latin typeface="Calibir"/>
              </a:rPr>
              <a:t>i</a:t>
            </a:r>
            <a:r>
              <a:rPr lang="en-US" sz="2400" dirty="0">
                <a:highlight>
                  <a:srgbClr val="FFFF00"/>
                </a:highlight>
                <a:latin typeface="Calibir"/>
              </a:rPr>
              <a:t> = 1;</a:t>
            </a:r>
          </a:p>
          <a:p>
            <a:pPr>
              <a:lnSpc>
                <a:spcPct val="150000"/>
              </a:lnSpc>
            </a:pPr>
            <a:r>
              <a:rPr lang="en-US" sz="2400" dirty="0">
                <a:highlight>
                  <a:srgbClr val="FFFF00"/>
                </a:highlight>
                <a:latin typeface="Calibir"/>
              </a:rPr>
              <a:t>        </a:t>
            </a:r>
            <a:r>
              <a:rPr lang="en-US" sz="2400" dirty="0" err="1">
                <a:highlight>
                  <a:srgbClr val="FFFF00"/>
                </a:highlight>
                <a:latin typeface="Calibir"/>
              </a:rPr>
              <a:t>i</a:t>
            </a:r>
            <a:r>
              <a:rPr lang="en-US" sz="2400" dirty="0">
                <a:highlight>
                  <a:srgbClr val="FFFF00"/>
                </a:highlight>
                <a:latin typeface="Calibir"/>
              </a:rPr>
              <a:t> &lt;= number;</a:t>
            </a:r>
          </a:p>
          <a:p>
            <a:pPr>
              <a:lnSpc>
                <a:spcPct val="150000"/>
              </a:lnSpc>
            </a:pPr>
            <a:r>
              <a:rPr lang="en-US" sz="2400" dirty="0">
                <a:highlight>
                  <a:srgbClr val="FFFF00"/>
                </a:highlight>
                <a:latin typeface="Calibir"/>
              </a:rPr>
              <a:t>        </a:t>
            </a:r>
            <a:r>
              <a:rPr lang="en-US" sz="2400" dirty="0" err="1">
                <a:highlight>
                  <a:srgbClr val="FFFF00"/>
                </a:highlight>
                <a:latin typeface="Calibir"/>
              </a:rPr>
              <a:t>i</a:t>
            </a:r>
            <a:r>
              <a:rPr lang="en-US" sz="2400" dirty="0">
                <a:highlight>
                  <a:srgbClr val="FFFF00"/>
                </a:highlight>
                <a:latin typeface="Calibir"/>
              </a:rPr>
              <a:t>++</a:t>
            </a:r>
          </a:p>
          <a:p>
            <a:pPr>
              <a:lnSpc>
                <a:spcPct val="150000"/>
              </a:lnSpc>
            </a:pPr>
            <a:r>
              <a:rPr lang="en-US" sz="2400" dirty="0">
                <a:highlight>
                  <a:srgbClr val="FFFF00"/>
                </a:highlight>
                <a:latin typeface="Calibir"/>
              </a:rPr>
              <a:t>    ) {</a:t>
            </a:r>
          </a:p>
          <a:p>
            <a:pPr>
              <a:lnSpc>
                <a:spcPct val="150000"/>
              </a:lnSpc>
            </a:pPr>
            <a:r>
              <a:rPr lang="en-US" sz="2400" dirty="0">
                <a:highlight>
                  <a:srgbClr val="FFFF00"/>
                </a:highlight>
                <a:latin typeface="Calibir"/>
              </a:rPr>
              <a:t>        result *= </a:t>
            </a:r>
            <a:r>
              <a:rPr lang="en-US" sz="2400" dirty="0" err="1">
                <a:highlight>
                  <a:srgbClr val="FFFF00"/>
                </a:highlight>
                <a:latin typeface="Calibir"/>
              </a:rPr>
              <a:t>i</a:t>
            </a:r>
            <a:r>
              <a:rPr lang="en-US" sz="2400" dirty="0">
                <a:highlight>
                  <a:srgbClr val="FFFF00"/>
                </a:highlight>
                <a:latin typeface="Calibir"/>
              </a:rPr>
              <a:t>;</a:t>
            </a:r>
          </a:p>
          <a:p>
            <a:pPr>
              <a:lnSpc>
                <a:spcPct val="150000"/>
              </a:lnSpc>
            </a:pPr>
            <a:r>
              <a:rPr lang="en-US" sz="2400" dirty="0">
                <a:highlight>
                  <a:srgbClr val="FFFF00"/>
                </a:highlight>
                <a:latin typeface="Calibir"/>
              </a:rPr>
              <a:t>    }</a:t>
            </a:r>
          </a:p>
          <a:p>
            <a:pPr>
              <a:lnSpc>
                <a:spcPct val="150000"/>
              </a:lnSpc>
            </a:pPr>
            <a:r>
              <a:rPr lang="en-US" sz="2400" dirty="0">
                <a:highlight>
                  <a:srgbClr val="FFFF00"/>
                </a:highlight>
                <a:latin typeface="Calibir"/>
              </a:rPr>
              <a:t>    return result;</a:t>
            </a:r>
          </a:p>
          <a:p>
            <a:pPr>
              <a:lnSpc>
                <a:spcPct val="150000"/>
              </a:lnSpc>
            </a:pPr>
            <a:r>
              <a:rPr lang="en-US" sz="2400" dirty="0">
                <a:highlight>
                  <a:srgbClr val="FFFF00"/>
                </a:highlight>
                <a:latin typeface="Calibir"/>
              </a:rPr>
              <a:t>}</a:t>
            </a:r>
          </a:p>
        </p:txBody>
      </p:sp>
    </p:spTree>
    <p:extLst>
      <p:ext uri="{BB962C8B-B14F-4D97-AF65-F5344CB8AC3E}">
        <p14:creationId xmlns:p14="http://schemas.microsoft.com/office/powerpoint/2010/main" val="32937355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7F8BF10-2144-0F85-BA6B-44F8ABD104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19A4B1-4CA5-FA18-4AE4-930FDA5192AC}"/>
              </a:ext>
            </a:extLst>
          </p:cNvPr>
          <p:cNvSpPr txBox="1"/>
          <p:nvPr/>
        </p:nvSpPr>
        <p:spPr>
          <a:xfrm>
            <a:off x="113371" y="80327"/>
            <a:ext cx="11965258" cy="6697346"/>
          </a:xfrm>
          <a:prstGeom prst="rect">
            <a:avLst/>
          </a:prstGeom>
          <a:noFill/>
        </p:spPr>
        <p:txBody>
          <a:bodyPr wrap="square">
            <a:spAutoFit/>
          </a:bodyPr>
          <a:lstStyle/>
          <a:p>
            <a:pPr>
              <a:lnSpc>
                <a:spcPct val="150000"/>
              </a:lnSpc>
            </a:pPr>
            <a:r>
              <a:rPr lang="en-US" b="1" dirty="0">
                <a:latin typeface="Calibir"/>
              </a:rPr>
              <a:t>Step 3 — Overload factorial for an array</a:t>
            </a:r>
          </a:p>
          <a:p>
            <a:pPr>
              <a:lnSpc>
                <a:spcPct val="150000"/>
              </a:lnSpc>
            </a:pPr>
            <a:r>
              <a:rPr lang="en-US" dirty="0">
                <a:highlight>
                  <a:srgbClr val="FFFF00"/>
                </a:highlight>
                <a:latin typeface="Calibir"/>
              </a:rPr>
              <a:t>public static long[] factorial(</a:t>
            </a:r>
          </a:p>
          <a:p>
            <a:pPr>
              <a:lnSpc>
                <a:spcPct val="150000"/>
              </a:lnSpc>
            </a:pPr>
            <a:r>
              <a:rPr lang="en-US" dirty="0">
                <a:highlight>
                  <a:srgbClr val="FFFF00"/>
                </a:highlight>
                <a:latin typeface="Calibir"/>
              </a:rPr>
              <a:t>        int[] numbers) {</a:t>
            </a:r>
          </a:p>
          <a:p>
            <a:pPr>
              <a:lnSpc>
                <a:spcPct val="150000"/>
              </a:lnSpc>
            </a:pPr>
            <a:r>
              <a:rPr lang="en-US" dirty="0">
                <a:highlight>
                  <a:srgbClr val="FFFF00"/>
                </a:highlight>
                <a:latin typeface="Calibir"/>
              </a:rPr>
              <a:t>    long[] results =</a:t>
            </a:r>
          </a:p>
          <a:p>
            <a:pPr>
              <a:lnSpc>
                <a:spcPct val="150000"/>
              </a:lnSpc>
            </a:pPr>
            <a:r>
              <a:rPr lang="en-US" dirty="0">
                <a:highlight>
                  <a:srgbClr val="FFFF00"/>
                </a:highlight>
                <a:latin typeface="Calibir"/>
              </a:rPr>
              <a:t>            new long[</a:t>
            </a:r>
            <a:r>
              <a:rPr lang="en-US" dirty="0" err="1">
                <a:highlight>
                  <a:srgbClr val="FFFF00"/>
                </a:highlight>
                <a:latin typeface="Calibir"/>
              </a:rPr>
              <a:t>numbers.length</a:t>
            </a:r>
            <a:r>
              <a:rPr lang="en-US" dirty="0">
                <a:highlight>
                  <a:srgbClr val="FFFF00"/>
                </a:highlight>
                <a:latin typeface="Calibir"/>
              </a:rPr>
              <a:t>];</a:t>
            </a:r>
          </a:p>
          <a:p>
            <a:pPr>
              <a:lnSpc>
                <a:spcPct val="150000"/>
              </a:lnSpc>
            </a:pPr>
            <a:r>
              <a:rPr lang="en-US" dirty="0">
                <a:highlight>
                  <a:srgbClr val="FFFF00"/>
                </a:highlight>
                <a:latin typeface="Calibir"/>
              </a:rPr>
              <a:t>    for (</a:t>
            </a:r>
          </a:p>
          <a:p>
            <a:pPr>
              <a:lnSpc>
                <a:spcPct val="150000"/>
              </a:lnSpc>
            </a:pPr>
            <a:r>
              <a:rPr lang="en-US" dirty="0">
                <a:highlight>
                  <a:srgbClr val="FFFF00"/>
                </a:highlight>
                <a:latin typeface="Calibir"/>
              </a:rPr>
              <a:t>        int </a:t>
            </a:r>
            <a:r>
              <a:rPr lang="en-US" dirty="0" err="1">
                <a:highlight>
                  <a:srgbClr val="FFFF00"/>
                </a:highlight>
                <a:latin typeface="Calibir"/>
              </a:rPr>
              <a:t>i</a:t>
            </a:r>
            <a:r>
              <a:rPr lang="en-US" dirty="0">
                <a:highlight>
                  <a:srgbClr val="FFFF00"/>
                </a:highlight>
                <a:latin typeface="Calibir"/>
              </a:rPr>
              <a:t> = 0;</a:t>
            </a:r>
          </a:p>
          <a:p>
            <a:pPr>
              <a:lnSpc>
                <a:spcPct val="150000"/>
              </a:lnSpc>
            </a:pPr>
            <a:r>
              <a:rPr lang="en-US" dirty="0">
                <a:highlight>
                  <a:srgbClr val="FFFF00"/>
                </a:highlight>
                <a:latin typeface="Calibir"/>
              </a:rPr>
              <a:t>        </a:t>
            </a:r>
            <a:r>
              <a:rPr lang="en-US" dirty="0" err="1">
                <a:highlight>
                  <a:srgbClr val="FFFF00"/>
                </a:highlight>
                <a:latin typeface="Calibir"/>
              </a:rPr>
              <a:t>i</a:t>
            </a:r>
            <a:r>
              <a:rPr lang="en-US" dirty="0">
                <a:highlight>
                  <a:srgbClr val="FFFF00"/>
                </a:highlight>
                <a:latin typeface="Calibir"/>
              </a:rPr>
              <a:t> &lt; </a:t>
            </a:r>
            <a:r>
              <a:rPr lang="en-US" dirty="0" err="1">
                <a:highlight>
                  <a:srgbClr val="FFFF00"/>
                </a:highlight>
                <a:latin typeface="Calibir"/>
              </a:rPr>
              <a:t>numbers.length</a:t>
            </a:r>
            <a:r>
              <a:rPr lang="en-US" dirty="0">
                <a:highlight>
                  <a:srgbClr val="FFFF00"/>
                </a:highlight>
                <a:latin typeface="Calibir"/>
              </a:rPr>
              <a:t>;</a:t>
            </a:r>
          </a:p>
          <a:p>
            <a:pPr>
              <a:lnSpc>
                <a:spcPct val="150000"/>
              </a:lnSpc>
            </a:pPr>
            <a:r>
              <a:rPr lang="en-US" dirty="0">
                <a:highlight>
                  <a:srgbClr val="FFFF00"/>
                </a:highlight>
                <a:latin typeface="Calibir"/>
              </a:rPr>
              <a:t>        </a:t>
            </a:r>
            <a:r>
              <a:rPr lang="en-US" dirty="0" err="1">
                <a:highlight>
                  <a:srgbClr val="FFFF00"/>
                </a:highlight>
                <a:latin typeface="Calibir"/>
              </a:rPr>
              <a:t>i</a:t>
            </a:r>
            <a:r>
              <a:rPr lang="en-US" dirty="0">
                <a:highlight>
                  <a:srgbClr val="FFFF00"/>
                </a:highlight>
                <a:latin typeface="Calibir"/>
              </a:rPr>
              <a:t>++</a:t>
            </a:r>
          </a:p>
          <a:p>
            <a:pPr>
              <a:lnSpc>
                <a:spcPct val="150000"/>
              </a:lnSpc>
            </a:pPr>
            <a:r>
              <a:rPr lang="en-US" dirty="0">
                <a:highlight>
                  <a:srgbClr val="FFFF00"/>
                </a:highlight>
                <a:latin typeface="Calibir"/>
              </a:rPr>
              <a:t>    ) {</a:t>
            </a:r>
          </a:p>
          <a:p>
            <a:pPr>
              <a:lnSpc>
                <a:spcPct val="150000"/>
              </a:lnSpc>
            </a:pPr>
            <a:r>
              <a:rPr lang="en-US" dirty="0">
                <a:highlight>
                  <a:srgbClr val="FFFF00"/>
                </a:highlight>
                <a:latin typeface="Calibir"/>
              </a:rPr>
              <a:t>        results[</a:t>
            </a:r>
            <a:r>
              <a:rPr lang="en-US" dirty="0" err="1">
                <a:highlight>
                  <a:srgbClr val="FFFF00"/>
                </a:highlight>
                <a:latin typeface="Calibir"/>
              </a:rPr>
              <a:t>i</a:t>
            </a:r>
            <a:r>
              <a:rPr lang="en-US" dirty="0">
                <a:highlight>
                  <a:srgbClr val="FFFF00"/>
                </a:highlight>
                <a:latin typeface="Calibir"/>
              </a:rPr>
              <a:t>] =</a:t>
            </a:r>
          </a:p>
          <a:p>
            <a:pPr>
              <a:lnSpc>
                <a:spcPct val="150000"/>
              </a:lnSpc>
            </a:pPr>
            <a:r>
              <a:rPr lang="en-US" dirty="0">
                <a:highlight>
                  <a:srgbClr val="FFFF00"/>
                </a:highlight>
                <a:latin typeface="Calibir"/>
              </a:rPr>
              <a:t>                factorial(numbers[</a:t>
            </a:r>
            <a:r>
              <a:rPr lang="en-US" dirty="0" err="1">
                <a:highlight>
                  <a:srgbClr val="FFFF00"/>
                </a:highlight>
                <a:latin typeface="Calibir"/>
              </a:rPr>
              <a:t>i</a:t>
            </a:r>
            <a:r>
              <a:rPr lang="en-US" dirty="0">
                <a:highlight>
                  <a:srgbClr val="FFFF00"/>
                </a:highlight>
                <a:latin typeface="Calibir"/>
              </a:rPr>
              <a:t>]);</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    return results;</a:t>
            </a:r>
          </a:p>
          <a:p>
            <a:pPr>
              <a:lnSpc>
                <a:spcPct val="150000"/>
              </a:lnSpc>
            </a:pPr>
            <a:r>
              <a:rPr lang="en-US" dirty="0">
                <a:highlight>
                  <a:srgbClr val="FFFF00"/>
                </a:highlight>
                <a:latin typeface="Calibir"/>
              </a:rPr>
              <a:t>}</a:t>
            </a:r>
          </a:p>
          <a:p>
            <a:pPr>
              <a:lnSpc>
                <a:spcPct val="150000"/>
              </a:lnSpc>
            </a:pPr>
            <a:r>
              <a:rPr lang="en-US" dirty="0">
                <a:latin typeface="Calibir"/>
              </a:rPr>
              <a:t>This calls the first factorial() method for each array element.</a:t>
            </a:r>
          </a:p>
        </p:txBody>
      </p:sp>
    </p:spTree>
    <p:extLst>
      <p:ext uri="{BB962C8B-B14F-4D97-AF65-F5344CB8AC3E}">
        <p14:creationId xmlns:p14="http://schemas.microsoft.com/office/powerpoint/2010/main" val="123569265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4AF12D65-3D36-17F4-58FE-FB74A81E61A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844F01A-8A0B-7483-0B48-CA9DF6079EDB}"/>
              </a:ext>
            </a:extLst>
          </p:cNvPr>
          <p:cNvSpPr txBox="1"/>
          <p:nvPr/>
        </p:nvSpPr>
        <p:spPr>
          <a:xfrm>
            <a:off x="113371" y="80327"/>
            <a:ext cx="11965258" cy="6281848"/>
          </a:xfrm>
          <a:prstGeom prst="rect">
            <a:avLst/>
          </a:prstGeom>
          <a:noFill/>
        </p:spPr>
        <p:txBody>
          <a:bodyPr wrap="square">
            <a:spAutoFit/>
          </a:bodyPr>
          <a:lstStyle/>
          <a:p>
            <a:pPr>
              <a:lnSpc>
                <a:spcPct val="150000"/>
              </a:lnSpc>
            </a:pPr>
            <a:r>
              <a:rPr lang="en-US" b="1" dirty="0">
                <a:latin typeface="Calibir"/>
              </a:rPr>
              <a:t>Step 4 — Display</a:t>
            </a:r>
          </a:p>
          <a:p>
            <a:pPr>
              <a:lnSpc>
                <a:spcPct val="150000"/>
              </a:lnSpc>
            </a:pPr>
            <a:r>
              <a:rPr lang="en-US" dirty="0">
                <a:highlight>
                  <a:srgbClr val="FFFF00"/>
                </a:highlight>
                <a:latin typeface="Calibir"/>
              </a:rPr>
              <a:t>public static void </a:t>
            </a:r>
            <a:r>
              <a:rPr lang="en-US" dirty="0" err="1">
                <a:highlight>
                  <a:srgbClr val="FFFF00"/>
                </a:highlight>
                <a:latin typeface="Calibir"/>
              </a:rPr>
              <a:t>showArrays</a:t>
            </a:r>
            <a:r>
              <a:rPr lang="en-US" dirty="0">
                <a:highlight>
                  <a:srgbClr val="FFFF00"/>
                </a:highlight>
                <a:latin typeface="Calibir"/>
              </a:rPr>
              <a:t>(</a:t>
            </a:r>
          </a:p>
          <a:p>
            <a:pPr>
              <a:lnSpc>
                <a:spcPct val="150000"/>
              </a:lnSpc>
            </a:pPr>
            <a:r>
              <a:rPr lang="en-US" dirty="0">
                <a:highlight>
                  <a:srgbClr val="FFFF00"/>
                </a:highlight>
                <a:latin typeface="Calibir"/>
              </a:rPr>
              <a:t>        int[] numbers,</a:t>
            </a:r>
          </a:p>
          <a:p>
            <a:pPr>
              <a:lnSpc>
                <a:spcPct val="150000"/>
              </a:lnSpc>
            </a:pPr>
            <a:r>
              <a:rPr lang="en-US" dirty="0">
                <a:highlight>
                  <a:srgbClr val="FFFF00"/>
                </a:highlight>
                <a:latin typeface="Calibir"/>
              </a:rPr>
              <a:t>        long[] factorials) {</a:t>
            </a:r>
          </a:p>
          <a:p>
            <a:pPr>
              <a:lnSpc>
                <a:spcPct val="150000"/>
              </a:lnSpc>
            </a:pPr>
            <a:endParaRPr lang="en-US" dirty="0">
              <a:highlight>
                <a:srgbClr val="FFFF00"/>
              </a:highlight>
              <a:latin typeface="Calibir"/>
            </a:endParaRPr>
          </a:p>
          <a:p>
            <a:pPr>
              <a:lnSpc>
                <a:spcPct val="150000"/>
              </a:lnSpc>
            </a:pPr>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pPr>
              <a:lnSpc>
                <a:spcPct val="150000"/>
              </a:lnSpc>
            </a:pPr>
            <a:r>
              <a:rPr lang="en-US" dirty="0">
                <a:highlight>
                  <a:srgbClr val="FFFF00"/>
                </a:highlight>
                <a:latin typeface="Calibir"/>
              </a:rPr>
              <a:t>        "Random numbers = "</a:t>
            </a:r>
          </a:p>
          <a:p>
            <a:pPr>
              <a:lnSpc>
                <a:spcPct val="150000"/>
              </a:lnSpc>
            </a:pPr>
            <a:r>
              <a:rPr lang="en-US" dirty="0">
                <a:highlight>
                  <a:srgbClr val="FFFF00"/>
                </a:highlight>
                <a:latin typeface="Calibir"/>
              </a:rPr>
              <a:t>        + </a:t>
            </a:r>
            <a:r>
              <a:rPr lang="en-US" dirty="0" err="1">
                <a:highlight>
                  <a:srgbClr val="FFFF00"/>
                </a:highlight>
                <a:latin typeface="Calibir"/>
              </a:rPr>
              <a:t>Arrays.toString</a:t>
            </a:r>
            <a:r>
              <a:rPr lang="en-US" dirty="0">
                <a:highlight>
                  <a:srgbClr val="FFFF00"/>
                </a:highlight>
                <a:latin typeface="Calibir"/>
              </a:rPr>
              <a:t>(numbers)</a:t>
            </a:r>
          </a:p>
          <a:p>
            <a:pPr>
              <a:lnSpc>
                <a:spcPct val="150000"/>
              </a:lnSpc>
            </a:pPr>
            <a:r>
              <a:rPr lang="en-US" dirty="0">
                <a:highlight>
                  <a:srgbClr val="FFFF00"/>
                </a:highlight>
                <a:latin typeface="Calibir"/>
              </a:rPr>
              <a:t>    );</a:t>
            </a:r>
          </a:p>
          <a:p>
            <a:pPr>
              <a:lnSpc>
                <a:spcPct val="150000"/>
              </a:lnSpc>
            </a:pPr>
            <a:endParaRPr lang="en-US" dirty="0">
              <a:highlight>
                <a:srgbClr val="FFFF00"/>
              </a:highlight>
              <a:latin typeface="Calibir"/>
            </a:endParaRPr>
          </a:p>
          <a:p>
            <a:pPr>
              <a:lnSpc>
                <a:spcPct val="150000"/>
              </a:lnSpc>
            </a:pPr>
            <a:r>
              <a:rPr lang="en-US" dirty="0">
                <a:highlight>
                  <a:srgbClr val="FFFF00"/>
                </a:highlight>
                <a:latin typeface="Calibir"/>
              </a:rPr>
              <a:t>    </a:t>
            </a:r>
            <a:r>
              <a:rPr lang="en-US" dirty="0" err="1">
                <a:highlight>
                  <a:srgbClr val="FFFF00"/>
                </a:highlight>
                <a:latin typeface="Calibir"/>
              </a:rPr>
              <a:t>System.out.println</a:t>
            </a:r>
            <a:r>
              <a:rPr lang="en-US" dirty="0">
                <a:highlight>
                  <a:srgbClr val="FFFF00"/>
                </a:highlight>
                <a:latin typeface="Calibir"/>
              </a:rPr>
              <a:t>(</a:t>
            </a:r>
          </a:p>
          <a:p>
            <a:pPr>
              <a:lnSpc>
                <a:spcPct val="150000"/>
              </a:lnSpc>
            </a:pPr>
            <a:r>
              <a:rPr lang="en-US" dirty="0">
                <a:highlight>
                  <a:srgbClr val="FFFF00"/>
                </a:highlight>
                <a:latin typeface="Calibir"/>
              </a:rPr>
              <a:t>        "Factorials = "</a:t>
            </a:r>
          </a:p>
          <a:p>
            <a:pPr>
              <a:lnSpc>
                <a:spcPct val="150000"/>
              </a:lnSpc>
            </a:pPr>
            <a:r>
              <a:rPr lang="en-US" dirty="0">
                <a:highlight>
                  <a:srgbClr val="FFFF00"/>
                </a:highlight>
                <a:latin typeface="Calibir"/>
              </a:rPr>
              <a:t>        + </a:t>
            </a:r>
            <a:r>
              <a:rPr lang="en-US" dirty="0" err="1">
                <a:highlight>
                  <a:srgbClr val="FFFF00"/>
                </a:highlight>
                <a:latin typeface="Calibir"/>
              </a:rPr>
              <a:t>Arrays.toString</a:t>
            </a:r>
            <a:r>
              <a:rPr lang="en-US" dirty="0">
                <a:highlight>
                  <a:srgbClr val="FFFF00"/>
                </a:highlight>
                <a:latin typeface="Calibir"/>
              </a:rPr>
              <a:t>(factorials)</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a:t>
            </a:r>
          </a:p>
        </p:txBody>
      </p:sp>
    </p:spTree>
    <p:extLst>
      <p:ext uri="{BB962C8B-B14F-4D97-AF65-F5344CB8AC3E}">
        <p14:creationId xmlns:p14="http://schemas.microsoft.com/office/powerpoint/2010/main" val="207239619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81B8D98-FA8E-B5BB-F1A8-2B75738DDBB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2624FDD-F1C1-BCEE-7E23-29ADD2E00147}"/>
              </a:ext>
            </a:extLst>
          </p:cNvPr>
          <p:cNvSpPr txBox="1"/>
          <p:nvPr/>
        </p:nvSpPr>
        <p:spPr>
          <a:xfrm>
            <a:off x="113371" y="80327"/>
            <a:ext cx="11965258" cy="6555641"/>
          </a:xfrm>
          <a:prstGeom prst="rect">
            <a:avLst/>
          </a:prstGeom>
          <a:noFill/>
        </p:spPr>
        <p:txBody>
          <a:bodyPr wrap="square">
            <a:spAutoFit/>
          </a:bodyPr>
          <a:lstStyle/>
          <a:p>
            <a:r>
              <a:rPr lang="en-US" sz="1000" b="1" dirty="0">
                <a:latin typeface="Calibir"/>
              </a:rPr>
              <a:t>Completed Java — Lab5Ex4.java</a:t>
            </a:r>
          </a:p>
          <a:p>
            <a:r>
              <a:rPr lang="en-US" sz="1000" dirty="0">
                <a:highlight>
                  <a:srgbClr val="FFFF00"/>
                </a:highlight>
                <a:latin typeface="Calibir"/>
              </a:rPr>
              <a:t>import </a:t>
            </a:r>
            <a:r>
              <a:rPr lang="en-US" sz="1000" dirty="0" err="1">
                <a:highlight>
                  <a:srgbClr val="FFFF00"/>
                </a:highlight>
                <a:latin typeface="Calibir"/>
              </a:rPr>
              <a:t>java.util.Arrays</a:t>
            </a:r>
            <a:r>
              <a:rPr lang="en-US" sz="1000" dirty="0">
                <a:highlight>
                  <a:srgbClr val="FFFF00"/>
                </a:highlight>
                <a:latin typeface="Calibir"/>
              </a:rPr>
              <a:t>;</a:t>
            </a:r>
          </a:p>
          <a:p>
            <a:r>
              <a:rPr lang="en-US" sz="1000" dirty="0">
                <a:highlight>
                  <a:srgbClr val="FFFF00"/>
                </a:highlight>
                <a:latin typeface="Calibir"/>
              </a:rPr>
              <a:t>import </a:t>
            </a:r>
            <a:r>
              <a:rPr lang="en-US" sz="1000" dirty="0" err="1">
                <a:highlight>
                  <a:srgbClr val="FFFF00"/>
                </a:highlight>
                <a:latin typeface="Calibir"/>
              </a:rPr>
              <a:t>java.util.Random</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public class Lab5Ex4 {</a:t>
            </a:r>
          </a:p>
          <a:p>
            <a:endParaRPr lang="en-US" sz="1000" dirty="0">
              <a:highlight>
                <a:srgbClr val="FFFF00"/>
              </a:highlight>
              <a:latin typeface="Calibir"/>
            </a:endParaRPr>
          </a:p>
          <a:p>
            <a:r>
              <a:rPr lang="en-US" sz="1000" dirty="0">
                <a:highlight>
                  <a:srgbClr val="FFFF00"/>
                </a:highlight>
                <a:latin typeface="Calibir"/>
              </a:rPr>
              <a:t>    public static int[] </a:t>
            </a:r>
            <a:r>
              <a:rPr lang="en-US" sz="1000" dirty="0" err="1">
                <a:highlight>
                  <a:srgbClr val="FFFF00"/>
                </a:highlight>
                <a:latin typeface="Calibir"/>
              </a:rPr>
              <a:t>generateNumbers</a:t>
            </a:r>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Random </a:t>
            </a:r>
            <a:r>
              <a:rPr lang="en-US" sz="1000" dirty="0" err="1">
                <a:highlight>
                  <a:srgbClr val="FFFF00"/>
                </a:highlight>
                <a:latin typeface="Calibir"/>
              </a:rPr>
              <a:t>random</a:t>
            </a:r>
            <a:r>
              <a:rPr lang="en-US" sz="1000" dirty="0">
                <a:highlight>
                  <a:srgbClr val="FFFF00"/>
                </a:highlight>
                <a:latin typeface="Calibir"/>
              </a:rPr>
              <a:t> = new Random();</a:t>
            </a:r>
          </a:p>
          <a:p>
            <a:endParaRPr lang="en-US" sz="1000" dirty="0">
              <a:highlight>
                <a:srgbClr val="FFFF00"/>
              </a:highlight>
              <a:latin typeface="Calibir"/>
            </a:endParaRPr>
          </a:p>
          <a:p>
            <a:r>
              <a:rPr lang="en-US" sz="1000" dirty="0">
                <a:highlight>
                  <a:srgbClr val="FFFF00"/>
                </a:highlight>
                <a:latin typeface="Calibir"/>
              </a:rPr>
              <a:t>        int[] numbers = new int[5];</a:t>
            </a:r>
          </a:p>
          <a:p>
            <a:endParaRPr lang="en-US" sz="1000" dirty="0">
              <a:highlight>
                <a:srgbClr val="FFFF00"/>
              </a:highlight>
              <a:latin typeface="Calibir"/>
            </a:endParaRPr>
          </a:p>
          <a:p>
            <a:r>
              <a:rPr lang="en-US" sz="1000" dirty="0">
                <a:highlight>
                  <a:srgbClr val="FFFF00"/>
                </a:highlight>
                <a:latin typeface="Calibir"/>
              </a:rPr>
              <a:t>        for (</a:t>
            </a:r>
          </a:p>
          <a:p>
            <a:r>
              <a:rPr lang="en-US" sz="1000" dirty="0">
                <a:highlight>
                  <a:srgbClr val="FFFF00"/>
                </a:highlight>
                <a:latin typeface="Calibir"/>
              </a:rPr>
              <a:t>            int </a:t>
            </a:r>
            <a:r>
              <a:rPr lang="en-US" sz="1000" dirty="0" err="1">
                <a:highlight>
                  <a:srgbClr val="FFFF00"/>
                </a:highlight>
                <a:latin typeface="Calibir"/>
              </a:rPr>
              <a:t>i</a:t>
            </a:r>
            <a:r>
              <a:rPr lang="en-US" sz="1000" dirty="0">
                <a:highlight>
                  <a:srgbClr val="FFFF00"/>
                </a:highlight>
                <a:latin typeface="Calibir"/>
              </a:rPr>
              <a:t> = 0;</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 &lt; </a:t>
            </a:r>
            <a:r>
              <a:rPr lang="en-US" sz="1000" dirty="0" err="1">
                <a:highlight>
                  <a:srgbClr val="FFFF00"/>
                </a:highlight>
                <a:latin typeface="Calibir"/>
              </a:rPr>
              <a:t>numbers.length</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 {</a:t>
            </a:r>
          </a:p>
          <a:p>
            <a:endParaRPr lang="en-US" sz="1000" dirty="0">
              <a:highlight>
                <a:srgbClr val="FFFF00"/>
              </a:highlight>
              <a:latin typeface="Calibir"/>
            </a:endParaRPr>
          </a:p>
          <a:p>
            <a:r>
              <a:rPr lang="en-US" sz="1000" dirty="0">
                <a:highlight>
                  <a:srgbClr val="FFFF00"/>
                </a:highlight>
                <a:latin typeface="Calibir"/>
              </a:rPr>
              <a:t>            numbers[</a:t>
            </a:r>
            <a:r>
              <a:rPr lang="en-US" sz="1000" dirty="0" err="1">
                <a:highlight>
                  <a:srgbClr val="FFFF00"/>
                </a:highlight>
                <a:latin typeface="Calibir"/>
              </a:rPr>
              <a:t>i</a:t>
            </a:r>
            <a:r>
              <a:rPr lang="en-US" sz="1000" dirty="0">
                <a:highlight>
                  <a:srgbClr val="FFFF00"/>
                </a:highlight>
                <a:latin typeface="Calibir"/>
              </a:rPr>
              <a:t>] =</a:t>
            </a:r>
          </a:p>
          <a:p>
            <a:r>
              <a:rPr lang="en-US" sz="1000" dirty="0">
                <a:highlight>
                  <a:srgbClr val="FFFF00"/>
                </a:highlight>
                <a:latin typeface="Calibir"/>
              </a:rPr>
              <a:t>                    </a:t>
            </a:r>
            <a:r>
              <a:rPr lang="en-US" sz="1000" dirty="0" err="1">
                <a:highlight>
                  <a:srgbClr val="FFFF00"/>
                </a:highlight>
                <a:latin typeface="Calibir"/>
              </a:rPr>
              <a:t>random.nextInt</a:t>
            </a:r>
            <a:r>
              <a:rPr lang="en-US" sz="1000" dirty="0">
                <a:highlight>
                  <a:srgbClr val="FFFF00"/>
                </a:highlight>
                <a:latin typeface="Calibir"/>
              </a:rPr>
              <a:t>(11);</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numbers;</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static long factorial(</a:t>
            </a:r>
          </a:p>
          <a:p>
            <a:r>
              <a:rPr lang="en-US" sz="1000" dirty="0">
                <a:highlight>
                  <a:srgbClr val="FFFF00"/>
                </a:highlight>
                <a:latin typeface="Calibir"/>
              </a:rPr>
              <a:t>            int number) {</a:t>
            </a:r>
          </a:p>
          <a:p>
            <a:endParaRPr lang="en-US" sz="1000" dirty="0">
              <a:highlight>
                <a:srgbClr val="FFFF00"/>
              </a:highlight>
              <a:latin typeface="Calibir"/>
            </a:endParaRPr>
          </a:p>
          <a:p>
            <a:r>
              <a:rPr lang="en-US" sz="1000" dirty="0">
                <a:highlight>
                  <a:srgbClr val="FFFF00"/>
                </a:highlight>
                <a:latin typeface="Calibir"/>
              </a:rPr>
              <a:t>        long result = 1;</a:t>
            </a:r>
          </a:p>
          <a:p>
            <a:endParaRPr lang="en-US" sz="1000" dirty="0">
              <a:highlight>
                <a:srgbClr val="FFFF00"/>
              </a:highlight>
              <a:latin typeface="Calibir"/>
            </a:endParaRPr>
          </a:p>
          <a:p>
            <a:r>
              <a:rPr lang="en-US" sz="1000" dirty="0">
                <a:highlight>
                  <a:srgbClr val="FFFF00"/>
                </a:highlight>
                <a:latin typeface="Calibir"/>
              </a:rPr>
              <a:t>        for (</a:t>
            </a:r>
          </a:p>
          <a:p>
            <a:r>
              <a:rPr lang="en-US" sz="1000" dirty="0">
                <a:highlight>
                  <a:srgbClr val="FFFF00"/>
                </a:highlight>
                <a:latin typeface="Calibir"/>
              </a:rPr>
              <a:t>            int </a:t>
            </a:r>
            <a:r>
              <a:rPr lang="en-US" sz="1000" dirty="0" err="1">
                <a:highlight>
                  <a:srgbClr val="FFFF00"/>
                </a:highlight>
                <a:latin typeface="Calibir"/>
              </a:rPr>
              <a:t>i</a:t>
            </a:r>
            <a:r>
              <a:rPr lang="en-US" sz="1000" dirty="0">
                <a:highlight>
                  <a:srgbClr val="FFFF00"/>
                </a:highlight>
                <a:latin typeface="Calibir"/>
              </a:rPr>
              <a:t> = 1;</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 &lt;= number;</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 {</a:t>
            </a:r>
          </a:p>
          <a:p>
            <a:endParaRPr lang="en-US" sz="1000" dirty="0">
              <a:highlight>
                <a:srgbClr val="FFFF00"/>
              </a:highlight>
              <a:latin typeface="Calibir"/>
            </a:endParaRPr>
          </a:p>
          <a:p>
            <a:r>
              <a:rPr lang="en-US" sz="1000" dirty="0">
                <a:highlight>
                  <a:srgbClr val="FFFF00"/>
                </a:highlight>
                <a:latin typeface="Calibir"/>
              </a:rPr>
              <a:t>            result *= </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result;</a:t>
            </a:r>
          </a:p>
          <a:p>
            <a:r>
              <a:rPr lang="en-US" sz="1000" dirty="0">
                <a:highlight>
                  <a:srgbClr val="FFFF00"/>
                </a:highlight>
                <a:latin typeface="Calibir"/>
              </a:rPr>
              <a:t>    }</a:t>
            </a:r>
          </a:p>
          <a:p>
            <a:endParaRPr lang="en-US" sz="1000" dirty="0">
              <a:highlight>
                <a:srgbClr val="FFFF00"/>
              </a:highlight>
              <a:latin typeface="Calibir"/>
            </a:endParaRPr>
          </a:p>
        </p:txBody>
      </p:sp>
    </p:spTree>
    <p:extLst>
      <p:ext uri="{BB962C8B-B14F-4D97-AF65-F5344CB8AC3E}">
        <p14:creationId xmlns:p14="http://schemas.microsoft.com/office/powerpoint/2010/main" val="346876359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DC3E4E9-7651-3911-5EBA-2E795F891D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A335DB-63AB-DDCA-A313-836C6E6202E5}"/>
              </a:ext>
            </a:extLst>
          </p:cNvPr>
          <p:cNvSpPr txBox="1"/>
          <p:nvPr/>
        </p:nvSpPr>
        <p:spPr>
          <a:xfrm>
            <a:off x="113371" y="80327"/>
            <a:ext cx="11965258" cy="6863417"/>
          </a:xfrm>
          <a:prstGeom prst="rect">
            <a:avLst/>
          </a:prstGeom>
          <a:noFill/>
        </p:spPr>
        <p:txBody>
          <a:bodyPr wrap="square">
            <a:spAutoFit/>
          </a:bodyPr>
          <a:lstStyle/>
          <a:p>
            <a:r>
              <a:rPr lang="en-US" sz="1000" dirty="0">
                <a:highlight>
                  <a:srgbClr val="FFFF00"/>
                </a:highlight>
                <a:latin typeface="Calibir"/>
              </a:rPr>
              <a:t> public static long[] factorial(</a:t>
            </a:r>
          </a:p>
          <a:p>
            <a:r>
              <a:rPr lang="en-US" sz="1000" dirty="0">
                <a:highlight>
                  <a:srgbClr val="FFFF00"/>
                </a:highlight>
                <a:latin typeface="Calibir"/>
              </a:rPr>
              <a:t>            int[] numbers) {</a:t>
            </a:r>
          </a:p>
          <a:p>
            <a:endParaRPr lang="en-US" sz="1000" dirty="0">
              <a:highlight>
                <a:srgbClr val="FFFF00"/>
              </a:highlight>
              <a:latin typeface="Calibir"/>
            </a:endParaRPr>
          </a:p>
          <a:p>
            <a:r>
              <a:rPr lang="en-US" sz="1000" dirty="0">
                <a:highlight>
                  <a:srgbClr val="FFFF00"/>
                </a:highlight>
                <a:latin typeface="Calibir"/>
              </a:rPr>
              <a:t>        long[] results =</a:t>
            </a:r>
          </a:p>
          <a:p>
            <a:r>
              <a:rPr lang="en-US" sz="1000" dirty="0">
                <a:highlight>
                  <a:srgbClr val="FFFF00"/>
                </a:highlight>
                <a:latin typeface="Calibir"/>
              </a:rPr>
              <a:t>                new long[</a:t>
            </a:r>
            <a:r>
              <a:rPr lang="en-US" sz="1000" dirty="0" err="1">
                <a:highlight>
                  <a:srgbClr val="FFFF00"/>
                </a:highlight>
                <a:latin typeface="Calibir"/>
              </a:rPr>
              <a:t>numbers.length</a:t>
            </a:r>
            <a:r>
              <a:rPr lang="en-US" sz="1000" dirty="0">
                <a:highlight>
                  <a:srgbClr val="FFFF00"/>
                </a:highlight>
                <a:latin typeface="Calibir"/>
              </a:rPr>
              <a:t>];</a:t>
            </a:r>
          </a:p>
          <a:p>
            <a:endParaRPr lang="en-US" sz="1000" dirty="0">
              <a:highlight>
                <a:srgbClr val="FFFF00"/>
              </a:highlight>
              <a:latin typeface="Calibir"/>
            </a:endParaRPr>
          </a:p>
          <a:p>
            <a:r>
              <a:rPr lang="en-US" sz="1000" dirty="0">
                <a:highlight>
                  <a:srgbClr val="FFFF00"/>
                </a:highlight>
                <a:latin typeface="Calibir"/>
              </a:rPr>
              <a:t>        for (</a:t>
            </a:r>
          </a:p>
          <a:p>
            <a:r>
              <a:rPr lang="en-US" sz="1000" dirty="0">
                <a:highlight>
                  <a:srgbClr val="FFFF00"/>
                </a:highlight>
                <a:latin typeface="Calibir"/>
              </a:rPr>
              <a:t>            int </a:t>
            </a:r>
            <a:r>
              <a:rPr lang="en-US" sz="1000" dirty="0" err="1">
                <a:highlight>
                  <a:srgbClr val="FFFF00"/>
                </a:highlight>
                <a:latin typeface="Calibir"/>
              </a:rPr>
              <a:t>i</a:t>
            </a:r>
            <a:r>
              <a:rPr lang="en-US" sz="1000" dirty="0">
                <a:highlight>
                  <a:srgbClr val="FFFF00"/>
                </a:highlight>
                <a:latin typeface="Calibir"/>
              </a:rPr>
              <a:t> = 0;</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 &lt; </a:t>
            </a:r>
            <a:r>
              <a:rPr lang="en-US" sz="1000" dirty="0" err="1">
                <a:highlight>
                  <a:srgbClr val="FFFF00"/>
                </a:highlight>
                <a:latin typeface="Calibir"/>
              </a:rPr>
              <a:t>numbers.length</a:t>
            </a:r>
            <a:r>
              <a:rPr lang="en-US" sz="1000" dirty="0">
                <a:highlight>
                  <a:srgbClr val="FFFF00"/>
                </a:highlight>
                <a:latin typeface="Calibir"/>
              </a:rPr>
              <a:t>;</a:t>
            </a:r>
          </a:p>
          <a:p>
            <a:r>
              <a:rPr lang="en-US" sz="1000" dirty="0">
                <a:highlight>
                  <a:srgbClr val="FFFF00"/>
                </a:highlight>
                <a:latin typeface="Calibir"/>
              </a:rPr>
              <a:t>            </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 {</a:t>
            </a:r>
          </a:p>
          <a:p>
            <a:endParaRPr lang="en-US" sz="1000" dirty="0">
              <a:highlight>
                <a:srgbClr val="FFFF00"/>
              </a:highlight>
              <a:latin typeface="Calibir"/>
            </a:endParaRPr>
          </a:p>
          <a:p>
            <a:r>
              <a:rPr lang="en-US" sz="1000" dirty="0">
                <a:highlight>
                  <a:srgbClr val="FFFF00"/>
                </a:highlight>
                <a:latin typeface="Calibir"/>
              </a:rPr>
              <a:t>            results[</a:t>
            </a:r>
            <a:r>
              <a:rPr lang="en-US" sz="1000" dirty="0" err="1">
                <a:highlight>
                  <a:srgbClr val="FFFF00"/>
                </a:highlight>
                <a:latin typeface="Calibir"/>
              </a:rPr>
              <a:t>i</a:t>
            </a:r>
            <a:r>
              <a:rPr lang="en-US" sz="1000" dirty="0">
                <a:highlight>
                  <a:srgbClr val="FFFF00"/>
                </a:highlight>
                <a:latin typeface="Calibir"/>
              </a:rPr>
              <a:t>] =</a:t>
            </a:r>
          </a:p>
          <a:p>
            <a:r>
              <a:rPr lang="en-US" sz="1000" dirty="0">
                <a:highlight>
                  <a:srgbClr val="FFFF00"/>
                </a:highlight>
                <a:latin typeface="Calibir"/>
              </a:rPr>
              <a:t>                    factorial(numbers[</a:t>
            </a:r>
            <a:r>
              <a:rPr lang="en-US" sz="1000" dirty="0" err="1">
                <a:highlight>
                  <a:srgbClr val="FFFF00"/>
                </a:highlight>
                <a:latin typeface="Calibir"/>
              </a:rPr>
              <a:t>i</a:t>
            </a:r>
            <a:r>
              <a:rPr lang="en-US" sz="1000" dirty="0">
                <a:highlight>
                  <a:srgbClr val="FFFF00"/>
                </a:highlight>
                <a:latin typeface="Calibir"/>
              </a:rPr>
              <a:t>]);</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return results;</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public static void </a:t>
            </a:r>
            <a:r>
              <a:rPr lang="en-US" sz="1000" dirty="0" err="1">
                <a:highlight>
                  <a:srgbClr val="FFFF00"/>
                </a:highlight>
                <a:latin typeface="Calibir"/>
              </a:rPr>
              <a:t>showArrays</a:t>
            </a:r>
            <a:r>
              <a:rPr lang="en-US" sz="1000" dirty="0">
                <a:highlight>
                  <a:srgbClr val="FFFF00"/>
                </a:highlight>
                <a:latin typeface="Calibir"/>
              </a:rPr>
              <a:t>(</a:t>
            </a:r>
          </a:p>
          <a:p>
            <a:r>
              <a:rPr lang="en-US" sz="1000" dirty="0">
                <a:highlight>
                  <a:srgbClr val="FFFF00"/>
                </a:highlight>
                <a:latin typeface="Calibir"/>
              </a:rPr>
              <a:t>            int[] numbers,</a:t>
            </a:r>
          </a:p>
          <a:p>
            <a:r>
              <a:rPr lang="en-US" sz="1000" dirty="0">
                <a:highlight>
                  <a:srgbClr val="FFFF00"/>
                </a:highlight>
                <a:latin typeface="Calibir"/>
              </a:rPr>
              <a:t>            long[] factorials)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"Random numbers = "</a:t>
            </a:r>
          </a:p>
          <a:p>
            <a:r>
              <a:rPr lang="en-US" sz="1000" dirty="0">
                <a:highlight>
                  <a:srgbClr val="FFFF00"/>
                </a:highlight>
                <a:latin typeface="Calibir"/>
              </a:rPr>
              <a:t>            + </a:t>
            </a:r>
            <a:r>
              <a:rPr lang="en-US" sz="1000" dirty="0" err="1">
                <a:highlight>
                  <a:srgbClr val="FFFF00"/>
                </a:highlight>
                <a:latin typeface="Calibir"/>
              </a:rPr>
              <a:t>Arrays.toString</a:t>
            </a:r>
            <a:r>
              <a:rPr lang="en-US" sz="1000" dirty="0">
                <a:highlight>
                  <a:srgbClr val="FFFF00"/>
                </a:highlight>
                <a:latin typeface="Calibir"/>
              </a:rPr>
              <a:t>(numbers)</a:t>
            </a:r>
          </a:p>
          <a:p>
            <a:r>
              <a:rPr lang="en-US" sz="1000" dirty="0">
                <a:highlight>
                  <a:srgbClr val="FFFF00"/>
                </a:highlight>
                <a:latin typeface="Calibir"/>
              </a:rPr>
              <a:t>        );</a:t>
            </a:r>
          </a:p>
          <a:p>
            <a:endParaRPr lang="en-US" sz="1000" dirty="0">
              <a:highlight>
                <a:srgbClr val="FFFF00"/>
              </a:highlight>
              <a:latin typeface="Calibir"/>
            </a:endParaRPr>
          </a:p>
          <a:p>
            <a:r>
              <a:rPr lang="en-US" sz="1000" dirty="0">
                <a:highlight>
                  <a:srgbClr val="FFFF00"/>
                </a:highlight>
                <a:latin typeface="Calibir"/>
              </a:rPr>
              <a:t>        </a:t>
            </a:r>
            <a:r>
              <a:rPr lang="en-US" sz="1000" dirty="0" err="1">
                <a:highlight>
                  <a:srgbClr val="FFFF00"/>
                </a:highlight>
                <a:latin typeface="Calibir"/>
              </a:rPr>
              <a:t>System.out.println</a:t>
            </a:r>
            <a:r>
              <a:rPr lang="en-US" sz="1000" dirty="0">
                <a:highlight>
                  <a:srgbClr val="FFFF00"/>
                </a:highlight>
                <a:latin typeface="Calibir"/>
              </a:rPr>
              <a:t>(</a:t>
            </a:r>
          </a:p>
          <a:p>
            <a:r>
              <a:rPr lang="en-US" sz="1000" dirty="0">
                <a:highlight>
                  <a:srgbClr val="FFFF00"/>
                </a:highlight>
                <a:latin typeface="Calibir"/>
              </a:rPr>
              <a:t>            "Factorials = "</a:t>
            </a:r>
          </a:p>
          <a:p>
            <a:r>
              <a:rPr lang="en-US" sz="1000" dirty="0">
                <a:highlight>
                  <a:srgbClr val="FFFF00"/>
                </a:highlight>
                <a:latin typeface="Calibir"/>
              </a:rPr>
              <a:t>            + </a:t>
            </a:r>
            <a:r>
              <a:rPr lang="en-US" sz="1000" dirty="0" err="1">
                <a:highlight>
                  <a:srgbClr val="FFFF00"/>
                </a:highlight>
                <a:latin typeface="Calibir"/>
              </a:rPr>
              <a:t>Arrays.toString</a:t>
            </a:r>
            <a:r>
              <a:rPr lang="en-US" sz="1000" dirty="0">
                <a:highlight>
                  <a:srgbClr val="FFFF00"/>
                </a:highlight>
                <a:latin typeface="Calibir"/>
              </a:rPr>
              <a:t>(factorials)</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    public static void main(String[] </a:t>
            </a:r>
            <a:r>
              <a:rPr lang="en-US" sz="1000" dirty="0" err="1">
                <a:highlight>
                  <a:srgbClr val="FFFF00"/>
                </a:highlight>
                <a:latin typeface="Calibir"/>
              </a:rPr>
              <a:t>args</a:t>
            </a:r>
            <a:r>
              <a:rPr lang="en-US" sz="1000" dirty="0">
                <a:highlight>
                  <a:srgbClr val="FFFF00"/>
                </a:highlight>
                <a:latin typeface="Calibir"/>
              </a:rPr>
              <a:t>) {</a:t>
            </a:r>
          </a:p>
          <a:p>
            <a:r>
              <a:rPr lang="en-US" sz="1000" dirty="0">
                <a:highlight>
                  <a:srgbClr val="FFFF00"/>
                </a:highlight>
                <a:latin typeface="Calibir"/>
              </a:rPr>
              <a:t>        int[] numbers =</a:t>
            </a:r>
          </a:p>
          <a:p>
            <a:r>
              <a:rPr lang="en-US" sz="1000" dirty="0">
                <a:highlight>
                  <a:srgbClr val="FFFF00"/>
                </a:highlight>
                <a:latin typeface="Calibir"/>
              </a:rPr>
              <a:t>                </a:t>
            </a:r>
            <a:r>
              <a:rPr lang="en-US" sz="1000" dirty="0" err="1">
                <a:highlight>
                  <a:srgbClr val="FFFF00"/>
                </a:highlight>
                <a:latin typeface="Calibir"/>
              </a:rPr>
              <a:t>generateNumbers</a:t>
            </a:r>
            <a:r>
              <a:rPr lang="en-US" sz="1000" dirty="0">
                <a:highlight>
                  <a:srgbClr val="FFFF00"/>
                </a:highlight>
                <a:latin typeface="Calibir"/>
              </a:rPr>
              <a:t>();</a:t>
            </a:r>
          </a:p>
          <a:p>
            <a:r>
              <a:rPr lang="en-US" sz="1000" dirty="0">
                <a:highlight>
                  <a:srgbClr val="FFFF00"/>
                </a:highlight>
                <a:latin typeface="Calibir"/>
              </a:rPr>
              <a:t>        long[] factorials =</a:t>
            </a:r>
          </a:p>
          <a:p>
            <a:r>
              <a:rPr lang="en-US" sz="1000" dirty="0">
                <a:highlight>
                  <a:srgbClr val="FFFF00"/>
                </a:highlight>
                <a:latin typeface="Calibir"/>
              </a:rPr>
              <a:t>                factorial(numbers);</a:t>
            </a:r>
          </a:p>
          <a:p>
            <a:r>
              <a:rPr lang="en-US" sz="1000" dirty="0">
                <a:highlight>
                  <a:srgbClr val="FFFF00"/>
                </a:highlight>
                <a:latin typeface="Calibir"/>
              </a:rPr>
              <a:t>        </a:t>
            </a:r>
            <a:r>
              <a:rPr lang="en-US" sz="1000" dirty="0" err="1">
                <a:highlight>
                  <a:srgbClr val="FFFF00"/>
                </a:highlight>
                <a:latin typeface="Calibir"/>
              </a:rPr>
              <a:t>showArrays</a:t>
            </a:r>
            <a:r>
              <a:rPr lang="en-US" sz="1000" dirty="0">
                <a:highlight>
                  <a:srgbClr val="FFFF00"/>
                </a:highlight>
                <a:latin typeface="Calibir"/>
              </a:rPr>
              <a:t>(</a:t>
            </a:r>
          </a:p>
          <a:p>
            <a:r>
              <a:rPr lang="en-US" sz="1000" dirty="0">
                <a:highlight>
                  <a:srgbClr val="FFFF00"/>
                </a:highlight>
                <a:latin typeface="Calibir"/>
              </a:rPr>
              <a:t>                numbers,</a:t>
            </a:r>
          </a:p>
          <a:p>
            <a:r>
              <a:rPr lang="en-US" sz="1000" dirty="0">
                <a:highlight>
                  <a:srgbClr val="FFFF00"/>
                </a:highlight>
                <a:latin typeface="Calibir"/>
              </a:rPr>
              <a:t>                factorials</a:t>
            </a:r>
          </a:p>
          <a:p>
            <a:r>
              <a:rPr lang="en-US" sz="1000" dirty="0">
                <a:highlight>
                  <a:srgbClr val="FFFF00"/>
                </a:highlight>
                <a:latin typeface="Calibir"/>
              </a:rPr>
              <a:t>        );</a:t>
            </a:r>
          </a:p>
          <a:p>
            <a:r>
              <a:rPr lang="en-US" sz="1000" dirty="0">
                <a:highlight>
                  <a:srgbClr val="FFFF00"/>
                </a:highlight>
                <a:latin typeface="Calibir"/>
              </a:rPr>
              <a:t>    }</a:t>
            </a:r>
          </a:p>
          <a:p>
            <a:r>
              <a:rPr lang="en-US" sz="1000" dirty="0">
                <a:highlight>
                  <a:srgbClr val="FFFF00"/>
                </a:highlight>
                <a:latin typeface="Calibir"/>
              </a:rPr>
              <a:t>}</a:t>
            </a:r>
          </a:p>
        </p:txBody>
      </p:sp>
    </p:spTree>
    <p:extLst>
      <p:ext uri="{BB962C8B-B14F-4D97-AF65-F5344CB8AC3E}">
        <p14:creationId xmlns:p14="http://schemas.microsoft.com/office/powerpoint/2010/main" val="37548704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12" name="Google Shape;101;p19">
            <a:extLst>
              <a:ext uri="{FF2B5EF4-FFF2-40B4-BE49-F238E27FC236}">
                <a16:creationId xmlns:a16="http://schemas.microsoft.com/office/drawing/2014/main" id="{3FE0C017-4F14-E49E-A1AB-D1A1AE7B21DA}"/>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2" name="TextBox 1">
            <a:extLst>
              <a:ext uri="{FF2B5EF4-FFF2-40B4-BE49-F238E27FC236}">
                <a16:creationId xmlns:a16="http://schemas.microsoft.com/office/drawing/2014/main" id="{DD980C27-948C-5A74-3794-543E81ADB7CC}"/>
              </a:ext>
            </a:extLst>
          </p:cNvPr>
          <p:cNvSpPr txBox="1"/>
          <p:nvPr/>
        </p:nvSpPr>
        <p:spPr>
          <a:xfrm>
            <a:off x="812801" y="1117601"/>
            <a:ext cx="11004265" cy="4455963"/>
          </a:xfrm>
          <a:prstGeom prst="rect">
            <a:avLst/>
          </a:prstGeom>
          <a:noFill/>
        </p:spPr>
        <p:txBody>
          <a:bodyPr wrap="square" rtlCol="0">
            <a:spAutoFit/>
          </a:bodyPr>
          <a:lstStyle/>
          <a:p>
            <a:pPr>
              <a:lnSpc>
                <a:spcPct val="150000"/>
              </a:lnSpc>
            </a:pPr>
            <a:r>
              <a:rPr lang="en-GB" sz="2400" dirty="0">
                <a:latin typeface="Economica" panose="020B0604020202020204" charset="0"/>
              </a:rPr>
              <a:t>Develop a program called </a:t>
            </a:r>
            <a:r>
              <a:rPr lang="en-GB" sz="2400" b="1" dirty="0">
                <a:latin typeface="Economica" panose="020B0604020202020204" charset="0"/>
              </a:rPr>
              <a:t>Lab5Ex5</a:t>
            </a:r>
            <a:r>
              <a:rPr lang="en-GB" sz="2400" dirty="0">
                <a:latin typeface="Economica" panose="020B0604020202020204" charset="0"/>
              </a:rPr>
              <a:t> </a:t>
            </a:r>
          </a:p>
          <a:p>
            <a:pPr marL="380990" indent="-380990">
              <a:lnSpc>
                <a:spcPct val="150000"/>
              </a:lnSpc>
              <a:buFont typeface="Arial" panose="020B0604020202020204" pitchFamily="34" charset="0"/>
              <a:buChar char="•"/>
            </a:pPr>
            <a:r>
              <a:rPr lang="en-US" sz="2400" b="1" dirty="0">
                <a:latin typeface="Economica" panose="020B0604020202020204" charset="0"/>
              </a:rPr>
              <a:t>Requirements: </a:t>
            </a:r>
            <a:r>
              <a:rPr lang="en-US" sz="2400" dirty="0">
                <a:latin typeface="Economica" panose="020B0604020202020204" charset="0"/>
              </a:rPr>
              <a:t>Show a diamond of base-size entered by user until -1 is entered</a:t>
            </a:r>
          </a:p>
          <a:p>
            <a:pPr marL="380990" indent="-380990">
              <a:lnSpc>
                <a:spcPct val="150000"/>
              </a:lnSpc>
              <a:buFont typeface="Arial" panose="020B0604020202020204" pitchFamily="34" charset="0"/>
              <a:buChar char="•"/>
            </a:pPr>
            <a:r>
              <a:rPr lang="en-US" sz="2400" b="1" dirty="0">
                <a:latin typeface="Economica" panose="020B0604020202020204" charset="0"/>
              </a:rPr>
              <a:t>Process: </a:t>
            </a:r>
            <a:r>
              <a:rPr lang="en-US" sz="2400" dirty="0">
                <a:latin typeface="Economica" panose="020B0604020202020204" charset="0"/>
              </a:rPr>
              <a:t>Break it down – build it up</a:t>
            </a:r>
          </a:p>
          <a:p>
            <a:pPr marL="380990" indent="-380990">
              <a:lnSpc>
                <a:spcPct val="150000"/>
              </a:lnSpc>
              <a:buFont typeface="Arial" panose="020B0604020202020204" pitchFamily="34" charset="0"/>
              <a:buChar char="•"/>
            </a:pPr>
            <a:r>
              <a:rPr lang="en-US" sz="2400" b="1" dirty="0">
                <a:latin typeface="Economica" panose="020B0604020202020204" charset="0"/>
              </a:rPr>
              <a:t>Expected Output:</a:t>
            </a:r>
          </a:p>
          <a:p>
            <a:pPr>
              <a:lnSpc>
                <a:spcPct val="150000"/>
              </a:lnSpc>
            </a:pPr>
            <a:r>
              <a:rPr lang="en-US" sz="2400" dirty="0">
                <a:latin typeface="Economica" panose="020B0604020202020204" charset="0"/>
              </a:rPr>
              <a:t>	- Size= </a:t>
            </a:r>
            <a:r>
              <a:rPr lang="en-US" sz="2400" dirty="0">
                <a:solidFill>
                  <a:schemeClr val="accent6">
                    <a:lumMod val="75000"/>
                  </a:schemeClr>
                </a:solidFill>
                <a:latin typeface="Economica" panose="020B0604020202020204" charset="0"/>
              </a:rPr>
              <a:t>&lt;the size value&gt;        </a:t>
            </a:r>
          </a:p>
          <a:p>
            <a:pPr>
              <a:lnSpc>
                <a:spcPct val="150000"/>
              </a:lnSpc>
            </a:pPr>
            <a:endParaRPr lang="en-US" sz="2400" dirty="0">
              <a:solidFill>
                <a:schemeClr val="accent6">
                  <a:lumMod val="75000"/>
                </a:schemeClr>
              </a:solidFill>
              <a:latin typeface="Economica" panose="020B0604020202020204" charset="0"/>
            </a:endParaRPr>
          </a:p>
          <a:p>
            <a:pPr>
              <a:lnSpc>
                <a:spcPct val="150000"/>
              </a:lnSpc>
            </a:pPr>
            <a:endParaRPr lang="en-US" sz="2400" dirty="0">
              <a:solidFill>
                <a:schemeClr val="accent6">
                  <a:lumMod val="75000"/>
                </a:schemeClr>
              </a:solidFill>
              <a:latin typeface="Economica" panose="020B0604020202020204" charset="0"/>
            </a:endParaRPr>
          </a:p>
        </p:txBody>
      </p:sp>
      <p:sp>
        <p:nvSpPr>
          <p:cNvPr id="3" name="TextBox 2">
            <a:extLst>
              <a:ext uri="{FF2B5EF4-FFF2-40B4-BE49-F238E27FC236}">
                <a16:creationId xmlns:a16="http://schemas.microsoft.com/office/drawing/2014/main" id="{6D82EDD2-B994-B32F-026A-6483C117652D}"/>
              </a:ext>
            </a:extLst>
          </p:cNvPr>
          <p:cNvSpPr txBox="1"/>
          <p:nvPr/>
        </p:nvSpPr>
        <p:spPr>
          <a:xfrm>
            <a:off x="7970345" y="2978684"/>
            <a:ext cx="1930400" cy="3785652"/>
          </a:xfrm>
          <a:prstGeom prst="rect">
            <a:avLst/>
          </a:prstGeom>
          <a:noFill/>
        </p:spPr>
        <p:txBody>
          <a:bodyPr wrap="square" rtlCol="0">
            <a:spAutoFit/>
          </a:bodyPr>
          <a:lstStyle/>
          <a:p>
            <a:r>
              <a:rPr lang="en-US" sz="2400" dirty="0"/>
              <a:t>Size: 5</a:t>
            </a:r>
          </a:p>
          <a:p>
            <a:r>
              <a:rPr lang="en-US" sz="2400" dirty="0"/>
              <a:t>    * </a:t>
            </a:r>
          </a:p>
          <a:p>
            <a:r>
              <a:rPr lang="en-US" sz="2400" dirty="0"/>
              <a:t>   * * </a:t>
            </a:r>
          </a:p>
          <a:p>
            <a:r>
              <a:rPr lang="en-US" sz="2400" dirty="0"/>
              <a:t>  * * * </a:t>
            </a:r>
          </a:p>
          <a:p>
            <a:r>
              <a:rPr lang="en-US" sz="2400" dirty="0"/>
              <a:t> * * * * </a:t>
            </a:r>
          </a:p>
          <a:p>
            <a:r>
              <a:rPr lang="en-US" sz="2400" dirty="0"/>
              <a:t>* * * * * </a:t>
            </a:r>
          </a:p>
          <a:p>
            <a:r>
              <a:rPr lang="en-US" sz="2400" dirty="0"/>
              <a:t> * * * * </a:t>
            </a:r>
          </a:p>
          <a:p>
            <a:r>
              <a:rPr lang="en-US" sz="2400" dirty="0"/>
              <a:t>  * * * </a:t>
            </a:r>
          </a:p>
          <a:p>
            <a:r>
              <a:rPr lang="en-US" sz="2400" dirty="0"/>
              <a:t>   * * </a:t>
            </a:r>
          </a:p>
          <a:p>
            <a:r>
              <a:rPr lang="en-US" sz="2400" dirty="0"/>
              <a:t>    * </a:t>
            </a:r>
          </a:p>
        </p:txBody>
      </p:sp>
      <p:cxnSp>
        <p:nvCxnSpPr>
          <p:cNvPr id="6" name="Google Shape;255;p36">
            <a:extLst>
              <a:ext uri="{FF2B5EF4-FFF2-40B4-BE49-F238E27FC236}">
                <a16:creationId xmlns:a16="http://schemas.microsoft.com/office/drawing/2014/main" id="{FE5F7A1E-BF74-F1CB-42EA-DA44CC18F82C}"/>
              </a:ext>
            </a:extLst>
          </p:cNvPr>
          <p:cNvCxnSpPr>
            <a:cxnSpLocks/>
          </p:cNvCxnSpPr>
          <p:nvPr/>
        </p:nvCxnSpPr>
        <p:spPr>
          <a:xfrm>
            <a:off x="5429888" y="4272982"/>
            <a:ext cx="2278829" cy="0"/>
          </a:xfrm>
          <a:prstGeom prst="straightConnector1">
            <a:avLst/>
          </a:prstGeom>
          <a:noFill/>
          <a:ln w="19050" cap="flat" cmpd="sng">
            <a:solidFill>
              <a:schemeClr val="accent2"/>
            </a:solidFill>
            <a:prstDash val="sysDash"/>
            <a:round/>
            <a:headEnd type="none" w="med" len="med"/>
            <a:tailEnd type="triangle" w="med" len="med"/>
          </a:ln>
        </p:spPr>
      </p:cxnSp>
      <p:sp>
        <p:nvSpPr>
          <p:cNvPr id="4" name="TextBox 3">
            <a:extLst>
              <a:ext uri="{FF2B5EF4-FFF2-40B4-BE49-F238E27FC236}">
                <a16:creationId xmlns:a16="http://schemas.microsoft.com/office/drawing/2014/main" id="{14307E7C-9984-5F84-40A2-8CA2C111D3A0}"/>
              </a:ext>
            </a:extLst>
          </p:cNvPr>
          <p:cNvSpPr txBox="1"/>
          <p:nvPr/>
        </p:nvSpPr>
        <p:spPr>
          <a:xfrm>
            <a:off x="5903190" y="3811317"/>
            <a:ext cx="1332224" cy="461665"/>
          </a:xfrm>
          <a:prstGeom prst="rect">
            <a:avLst/>
          </a:prstGeom>
          <a:noFill/>
        </p:spPr>
        <p:txBody>
          <a:bodyPr wrap="none" rtlCol="0">
            <a:spAutoFit/>
          </a:bodyPr>
          <a:lstStyle/>
          <a:p>
            <a:r>
              <a:rPr lang="en-US" sz="2400" dirty="0"/>
              <a:t>Example</a:t>
            </a:r>
          </a:p>
        </p:txBody>
      </p:sp>
    </p:spTree>
    <p:extLst>
      <p:ext uri="{BB962C8B-B14F-4D97-AF65-F5344CB8AC3E}">
        <p14:creationId xmlns:p14="http://schemas.microsoft.com/office/powerpoint/2010/main" val="264652963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920AA1C-AD92-0136-0183-7E8D3C115D59}"/>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9CA6DBB5-9AE5-923C-1D00-8DD57A5B3007}"/>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8" name="TextBox 7">
            <a:extLst>
              <a:ext uri="{FF2B5EF4-FFF2-40B4-BE49-F238E27FC236}">
                <a16:creationId xmlns:a16="http://schemas.microsoft.com/office/drawing/2014/main" id="{3A199B9E-483B-B332-BAB4-58137327FE33}"/>
              </a:ext>
            </a:extLst>
          </p:cNvPr>
          <p:cNvSpPr txBox="1"/>
          <p:nvPr/>
        </p:nvSpPr>
        <p:spPr>
          <a:xfrm>
            <a:off x="0" y="840659"/>
            <a:ext cx="11990438" cy="5575052"/>
          </a:xfrm>
          <a:prstGeom prst="rect">
            <a:avLst/>
          </a:prstGeom>
          <a:noFill/>
        </p:spPr>
        <p:txBody>
          <a:bodyPr wrap="square">
            <a:spAutoFit/>
          </a:bodyPr>
          <a:lstStyle/>
          <a:p>
            <a:pPr>
              <a:lnSpc>
                <a:spcPct val="150000"/>
              </a:lnSpc>
              <a:buNone/>
            </a:pPr>
            <a:r>
              <a:rPr lang="en-US" sz="2400" dirty="0">
                <a:latin typeface="Calibir"/>
              </a:rPr>
              <a:t>Requirement</a:t>
            </a:r>
          </a:p>
          <a:p>
            <a:pPr>
              <a:lnSpc>
                <a:spcPct val="150000"/>
              </a:lnSpc>
              <a:buNone/>
            </a:pPr>
            <a:r>
              <a:rPr lang="en-US" sz="2400" dirty="0">
                <a:latin typeface="Calibir"/>
              </a:rPr>
              <a:t>Repeatedly:</a:t>
            </a:r>
          </a:p>
          <a:p>
            <a:pPr marL="342900" lvl="0" indent="-342900">
              <a:lnSpc>
                <a:spcPct val="150000"/>
              </a:lnSpc>
              <a:buFont typeface="+mj-lt"/>
              <a:buAutoNum type="arabicPeriod"/>
            </a:pPr>
            <a:r>
              <a:rPr lang="en-US" sz="2400" dirty="0">
                <a:latin typeface="Calibir"/>
              </a:rPr>
              <a:t>Read the diamond size. </a:t>
            </a:r>
          </a:p>
          <a:p>
            <a:pPr marL="342900" lvl="0" indent="-342900">
              <a:lnSpc>
                <a:spcPct val="150000"/>
              </a:lnSpc>
              <a:buFont typeface="+mj-lt"/>
              <a:buAutoNum type="arabicPeriod"/>
            </a:pPr>
            <a:r>
              <a:rPr lang="en-US" sz="2400" dirty="0">
                <a:latin typeface="Calibir"/>
              </a:rPr>
              <a:t>Display the diamond. </a:t>
            </a:r>
          </a:p>
          <a:p>
            <a:pPr marL="342900" lvl="0" indent="-342900">
              <a:lnSpc>
                <a:spcPct val="150000"/>
              </a:lnSpc>
              <a:buFont typeface="+mj-lt"/>
              <a:buAutoNum type="arabicPeriod"/>
            </a:pPr>
            <a:r>
              <a:rPr lang="en-US" sz="2400" dirty="0">
                <a:latin typeface="Calibir"/>
              </a:rPr>
              <a:t>Read another size. </a:t>
            </a:r>
          </a:p>
          <a:p>
            <a:pPr marL="342900" lvl="0" indent="-342900">
              <a:lnSpc>
                <a:spcPct val="150000"/>
              </a:lnSpc>
              <a:buFont typeface="+mj-lt"/>
              <a:buAutoNum type="arabicPeriod"/>
            </a:pPr>
            <a:r>
              <a:rPr lang="en-US" sz="2400" dirty="0">
                <a:latin typeface="Calibir"/>
              </a:rPr>
              <a:t>Stop when -1 is entered. </a:t>
            </a:r>
          </a:p>
          <a:p>
            <a:pPr>
              <a:lnSpc>
                <a:spcPct val="150000"/>
              </a:lnSpc>
              <a:buNone/>
            </a:pPr>
            <a:r>
              <a:rPr lang="en-US" sz="2400" dirty="0">
                <a:latin typeface="Calibir"/>
              </a:rPr>
              <a:t>I interpret size as the maximum number of stars in the middle row.</a:t>
            </a:r>
          </a:p>
          <a:p>
            <a:pPr>
              <a:lnSpc>
                <a:spcPct val="150000"/>
              </a:lnSpc>
              <a:buNone/>
            </a:pPr>
            <a:r>
              <a:rPr lang="en-US" sz="2400" dirty="0">
                <a:latin typeface="Calibir"/>
              </a:rPr>
              <a:t>For:</a:t>
            </a:r>
          </a:p>
          <a:p>
            <a:pPr rtl="0">
              <a:lnSpc>
                <a:spcPct val="150000"/>
              </a:lnSpc>
              <a:buNone/>
            </a:pPr>
            <a:r>
              <a:rPr lang="en-US" sz="2400" dirty="0">
                <a:latin typeface="Calibir"/>
              </a:rPr>
              <a:t>Size = 5</a:t>
            </a:r>
          </a:p>
          <a:p>
            <a:pPr>
              <a:lnSpc>
                <a:spcPct val="150000"/>
              </a:lnSpc>
              <a:buNone/>
            </a:pPr>
            <a:r>
              <a:rPr lang="en-US" sz="2400" dirty="0">
                <a:latin typeface="Calibir"/>
              </a:rPr>
              <a:t>the standard diamond is:</a:t>
            </a:r>
          </a:p>
        </p:txBody>
      </p:sp>
      <p:pic>
        <p:nvPicPr>
          <p:cNvPr id="10" name="Picture 9">
            <a:extLst>
              <a:ext uri="{FF2B5EF4-FFF2-40B4-BE49-F238E27FC236}">
                <a16:creationId xmlns:a16="http://schemas.microsoft.com/office/drawing/2014/main" id="{1F0A0EAE-281A-1900-04F4-97B95C023C1F}"/>
              </a:ext>
            </a:extLst>
          </p:cNvPr>
          <p:cNvPicPr>
            <a:picLocks noChangeAspect="1"/>
          </p:cNvPicPr>
          <p:nvPr/>
        </p:nvPicPr>
        <p:blipFill>
          <a:blip r:embed="rId3"/>
          <a:srcRect l="36532" t="42796" r="58992" b="42581"/>
          <a:stretch>
            <a:fillRect/>
          </a:stretch>
        </p:blipFill>
        <p:spPr>
          <a:xfrm>
            <a:off x="10729544" y="4499852"/>
            <a:ext cx="1283110" cy="2358148"/>
          </a:xfrm>
          <a:prstGeom prst="rect">
            <a:avLst/>
          </a:prstGeom>
          <a:solidFill>
            <a:srgbClr val="FFFFFF">
              <a:shade val="85000"/>
            </a:srgbClr>
          </a:solidFill>
          <a:ln w="57150" cap="rnd">
            <a:solidFill>
              <a:srgbClr val="7030A0"/>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2576722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3BD1068-F261-BCA6-0A53-C68E104D8667}"/>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7FBC35BF-0AC4-2DBA-0125-BDE0B12412E3}"/>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3" name="TextBox 2">
            <a:extLst>
              <a:ext uri="{FF2B5EF4-FFF2-40B4-BE49-F238E27FC236}">
                <a16:creationId xmlns:a16="http://schemas.microsoft.com/office/drawing/2014/main" id="{1E0394D1-22D9-3560-BEB6-072A0ED103C3}"/>
              </a:ext>
            </a:extLst>
          </p:cNvPr>
          <p:cNvSpPr txBox="1"/>
          <p:nvPr/>
        </p:nvSpPr>
        <p:spPr>
          <a:xfrm>
            <a:off x="136422" y="730439"/>
            <a:ext cx="6201696" cy="1964512"/>
          </a:xfrm>
          <a:prstGeom prst="rect">
            <a:avLst/>
          </a:prstGeom>
          <a:noFill/>
        </p:spPr>
        <p:txBody>
          <a:bodyPr wrap="square">
            <a:spAutoFit/>
          </a:bodyPr>
          <a:lstStyle/>
          <a:p>
            <a:pPr>
              <a:lnSpc>
                <a:spcPct val="150000"/>
              </a:lnSpc>
              <a:buNone/>
            </a:pPr>
            <a:r>
              <a:rPr lang="en-US" sz="2800" dirty="0">
                <a:latin typeface="Calibir"/>
              </a:rPr>
              <a:t>For:</a:t>
            </a:r>
          </a:p>
          <a:p>
            <a:pPr rtl="0">
              <a:lnSpc>
                <a:spcPct val="150000"/>
              </a:lnSpc>
              <a:buNone/>
            </a:pPr>
            <a:r>
              <a:rPr lang="en-US" sz="2800" dirty="0">
                <a:latin typeface="Calibir"/>
              </a:rPr>
              <a:t>Size = 7</a:t>
            </a:r>
          </a:p>
          <a:p>
            <a:pPr>
              <a:lnSpc>
                <a:spcPct val="150000"/>
              </a:lnSpc>
              <a:buNone/>
            </a:pPr>
            <a:r>
              <a:rPr lang="en-US" sz="2800" dirty="0">
                <a:latin typeface="Calibir"/>
              </a:rPr>
              <a:t>we get:</a:t>
            </a:r>
          </a:p>
        </p:txBody>
      </p:sp>
      <p:pic>
        <p:nvPicPr>
          <p:cNvPr id="5" name="Picture 4">
            <a:extLst>
              <a:ext uri="{FF2B5EF4-FFF2-40B4-BE49-F238E27FC236}">
                <a16:creationId xmlns:a16="http://schemas.microsoft.com/office/drawing/2014/main" id="{DAE6ED3B-61EA-7696-9895-F6FFC8BBA683}"/>
              </a:ext>
            </a:extLst>
          </p:cNvPr>
          <p:cNvPicPr>
            <a:picLocks noChangeAspect="1"/>
          </p:cNvPicPr>
          <p:nvPr/>
        </p:nvPicPr>
        <p:blipFill>
          <a:blip r:embed="rId3"/>
          <a:srcRect l="36290" t="38710" r="58629" b="41504"/>
          <a:stretch>
            <a:fillRect/>
          </a:stretch>
        </p:blipFill>
        <p:spPr>
          <a:xfrm>
            <a:off x="2103567" y="2492478"/>
            <a:ext cx="1279264" cy="2802194"/>
          </a:xfrm>
          <a:prstGeom prst="rect">
            <a:avLst/>
          </a:prstGeom>
          <a:solidFill>
            <a:srgbClr val="FFFFFF">
              <a:shade val="85000"/>
            </a:srgbClr>
          </a:solidFill>
          <a:ln w="57150" cap="rnd">
            <a:solidFill>
              <a:srgbClr val="7030A0"/>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8417C30E-D005-B87D-BC63-D04AA2AB59E8}"/>
              </a:ext>
            </a:extLst>
          </p:cNvPr>
          <p:cNvSpPr txBox="1"/>
          <p:nvPr/>
        </p:nvSpPr>
        <p:spPr>
          <a:xfrm>
            <a:off x="0" y="5354965"/>
            <a:ext cx="11972774" cy="1318181"/>
          </a:xfrm>
          <a:prstGeom prst="rect">
            <a:avLst/>
          </a:prstGeom>
          <a:noFill/>
        </p:spPr>
        <p:txBody>
          <a:bodyPr wrap="square">
            <a:spAutoFit/>
          </a:bodyPr>
          <a:lstStyle/>
          <a:p>
            <a:pPr>
              <a:lnSpc>
                <a:spcPct val="150000"/>
              </a:lnSpc>
              <a:buNone/>
            </a:pPr>
            <a:r>
              <a:rPr lang="en-US" sz="2800" dirty="0">
                <a:latin typeface="Calibir"/>
              </a:rPr>
              <a:t>For a perfectly symmetric version using this interpretation, it is simplest to use a positive odd size.</a:t>
            </a:r>
          </a:p>
        </p:txBody>
      </p:sp>
    </p:spTree>
    <p:extLst>
      <p:ext uri="{BB962C8B-B14F-4D97-AF65-F5344CB8AC3E}">
        <p14:creationId xmlns:p14="http://schemas.microsoft.com/office/powerpoint/2010/main" val="194746257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CC019EB-1364-277A-2369-00BBB87156EF}"/>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8E21C9CF-E964-7AFB-9044-28BA6206F9FD}"/>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4" name="TextBox 3">
            <a:extLst>
              <a:ext uri="{FF2B5EF4-FFF2-40B4-BE49-F238E27FC236}">
                <a16:creationId xmlns:a16="http://schemas.microsoft.com/office/drawing/2014/main" id="{D48EB565-8B69-5725-7CAC-9F599AD7DF7F}"/>
              </a:ext>
            </a:extLst>
          </p:cNvPr>
          <p:cNvSpPr txBox="1"/>
          <p:nvPr/>
        </p:nvSpPr>
        <p:spPr>
          <a:xfrm>
            <a:off x="8832" y="730439"/>
            <a:ext cx="11972774" cy="4549835"/>
          </a:xfrm>
          <a:prstGeom prst="rect">
            <a:avLst/>
          </a:prstGeom>
          <a:noFill/>
        </p:spPr>
        <p:txBody>
          <a:bodyPr wrap="square">
            <a:spAutoFit/>
          </a:bodyPr>
          <a:lstStyle/>
          <a:p>
            <a:pPr>
              <a:lnSpc>
                <a:spcPct val="150000"/>
              </a:lnSpc>
              <a:buNone/>
            </a:pPr>
            <a:r>
              <a:rPr lang="en-US" sz="2800" b="1" dirty="0">
                <a:latin typeface="Calibir"/>
              </a:rPr>
              <a:t>Break It Down — Build It Up</a:t>
            </a:r>
          </a:p>
          <a:p>
            <a:pPr>
              <a:lnSpc>
                <a:spcPct val="150000"/>
              </a:lnSpc>
              <a:buNone/>
            </a:pPr>
            <a:r>
              <a:rPr lang="en-US" sz="2800" dirty="0">
                <a:latin typeface="Calibir"/>
              </a:rPr>
              <a:t>This is exactly the right exercise for incremental development.</a:t>
            </a:r>
          </a:p>
          <a:p>
            <a:pPr>
              <a:lnSpc>
                <a:spcPct val="150000"/>
              </a:lnSpc>
              <a:buNone/>
            </a:pPr>
            <a:r>
              <a:rPr lang="en-US" sz="2800" b="1" dirty="0">
                <a:latin typeface="Calibir"/>
              </a:rPr>
              <a:t>Step 1 — First learn to print stars</a:t>
            </a:r>
          </a:p>
          <a:p>
            <a:pPr>
              <a:lnSpc>
                <a:spcPct val="150000"/>
              </a:lnSpc>
              <a:buNone/>
            </a:pPr>
            <a:r>
              <a:rPr lang="en-US" sz="2800" b="1" dirty="0">
                <a:latin typeface="Calibir"/>
              </a:rPr>
              <a:t>Python</a:t>
            </a:r>
          </a:p>
          <a:p>
            <a:pPr rtl="0">
              <a:lnSpc>
                <a:spcPct val="150000"/>
              </a:lnSpc>
              <a:buNone/>
            </a:pPr>
            <a:r>
              <a:rPr lang="en-US" sz="2800" dirty="0">
                <a:highlight>
                  <a:srgbClr val="FFFF00"/>
                </a:highlight>
                <a:latin typeface="Calibir"/>
              </a:rPr>
              <a:t>print("*" * 5)</a:t>
            </a:r>
          </a:p>
          <a:p>
            <a:pPr>
              <a:lnSpc>
                <a:spcPct val="150000"/>
              </a:lnSpc>
              <a:buNone/>
            </a:pPr>
            <a:r>
              <a:rPr lang="en-US" sz="2800" dirty="0">
                <a:latin typeface="Calibir"/>
              </a:rPr>
              <a:t>produces:</a:t>
            </a:r>
          </a:p>
          <a:p>
            <a:pPr rtl="0">
              <a:lnSpc>
                <a:spcPct val="150000"/>
              </a:lnSpc>
              <a:buNone/>
            </a:pPr>
            <a:r>
              <a:rPr lang="en-US" sz="2800" dirty="0">
                <a:latin typeface="Calibir"/>
              </a:rPr>
              <a:t>*****</a:t>
            </a:r>
          </a:p>
        </p:txBody>
      </p:sp>
    </p:spTree>
    <p:extLst>
      <p:ext uri="{BB962C8B-B14F-4D97-AF65-F5344CB8AC3E}">
        <p14:creationId xmlns:p14="http://schemas.microsoft.com/office/powerpoint/2010/main" val="227855005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13ACD4A-80A8-1745-7860-592536D0AD87}"/>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C30ED5BB-29A2-687E-59FB-69AEBB9984D0}"/>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4" name="TextBox 3">
            <a:extLst>
              <a:ext uri="{FF2B5EF4-FFF2-40B4-BE49-F238E27FC236}">
                <a16:creationId xmlns:a16="http://schemas.microsoft.com/office/drawing/2014/main" id="{83D4972E-FCE5-3BE0-85B0-5737CF674A47}"/>
              </a:ext>
            </a:extLst>
          </p:cNvPr>
          <p:cNvSpPr txBox="1"/>
          <p:nvPr/>
        </p:nvSpPr>
        <p:spPr>
          <a:xfrm>
            <a:off x="8832" y="730439"/>
            <a:ext cx="11972774" cy="2610843"/>
          </a:xfrm>
          <a:prstGeom prst="rect">
            <a:avLst/>
          </a:prstGeom>
          <a:noFill/>
        </p:spPr>
        <p:txBody>
          <a:bodyPr wrap="square">
            <a:spAutoFit/>
          </a:bodyPr>
          <a:lstStyle/>
          <a:p>
            <a:pPr>
              <a:lnSpc>
                <a:spcPct val="150000"/>
              </a:lnSpc>
            </a:pPr>
            <a:r>
              <a:rPr lang="en-US" sz="2800" b="1" dirty="0">
                <a:latin typeface="Calibir"/>
              </a:rPr>
              <a:t>Java</a:t>
            </a:r>
          </a:p>
          <a:p>
            <a:pPr>
              <a:lnSpc>
                <a:spcPct val="150000"/>
              </a:lnSpc>
            </a:pPr>
            <a:r>
              <a:rPr lang="en-US" sz="2800" dirty="0">
                <a:highlight>
                  <a:srgbClr val="FFFF00"/>
                </a:highlight>
                <a:latin typeface="Calibir"/>
              </a:rPr>
              <a:t>for (int </a:t>
            </a:r>
            <a:r>
              <a:rPr lang="en-US" sz="2800" dirty="0" err="1">
                <a:highlight>
                  <a:srgbClr val="FFFF00"/>
                </a:highlight>
                <a:latin typeface="Calibir"/>
              </a:rPr>
              <a:t>i</a:t>
            </a:r>
            <a:r>
              <a:rPr lang="en-US" sz="2800" dirty="0">
                <a:highlight>
                  <a:srgbClr val="FFFF00"/>
                </a:highlight>
                <a:latin typeface="Calibir"/>
              </a:rPr>
              <a:t> = 0; </a:t>
            </a:r>
            <a:r>
              <a:rPr lang="en-US" sz="2800" dirty="0" err="1">
                <a:highlight>
                  <a:srgbClr val="FFFF00"/>
                </a:highlight>
                <a:latin typeface="Calibir"/>
              </a:rPr>
              <a:t>i</a:t>
            </a:r>
            <a:r>
              <a:rPr lang="en-US" sz="2800" dirty="0">
                <a:highlight>
                  <a:srgbClr val="FFFF00"/>
                </a:highlight>
                <a:latin typeface="Calibir"/>
              </a:rPr>
              <a:t> &lt; 5; </a:t>
            </a:r>
            <a:r>
              <a:rPr lang="en-US" sz="2800" dirty="0" err="1">
                <a:highlight>
                  <a:srgbClr val="FFFF00"/>
                </a:highlight>
                <a:latin typeface="Calibir"/>
              </a:rPr>
              <a:t>i</a:t>
            </a:r>
            <a:r>
              <a:rPr lang="en-US" sz="2800" dirty="0">
                <a:highlight>
                  <a:srgbClr val="FFFF00"/>
                </a:highlight>
                <a:latin typeface="Calibir"/>
              </a:rPr>
              <a:t>++) {</a:t>
            </a:r>
          </a:p>
          <a:p>
            <a:pPr>
              <a:lnSpc>
                <a:spcPct val="150000"/>
              </a:lnSpc>
            </a:pPr>
            <a:r>
              <a:rPr lang="en-US" sz="2800" dirty="0">
                <a:highlight>
                  <a:srgbClr val="FFFF00"/>
                </a:highlight>
                <a:latin typeface="Calibir"/>
              </a:rPr>
              <a:t>    </a:t>
            </a:r>
            <a:r>
              <a:rPr lang="en-US" sz="2800" dirty="0" err="1">
                <a:highlight>
                  <a:srgbClr val="FFFF00"/>
                </a:highlight>
                <a:latin typeface="Calibir"/>
              </a:rPr>
              <a:t>System.out.print</a:t>
            </a:r>
            <a:r>
              <a:rPr lang="en-US" sz="2800" dirty="0">
                <a:highlight>
                  <a:srgbClr val="FFFF00"/>
                </a:highlight>
                <a:latin typeface="Calibir"/>
              </a:rPr>
              <a:t>("*");</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609239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31042E7-9594-9E70-0234-9511CE0C995E}"/>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A7B232E9-16B3-7968-E7A6-6A33B3D4F805}"/>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4" name="TextBox 3">
            <a:extLst>
              <a:ext uri="{FF2B5EF4-FFF2-40B4-BE49-F238E27FC236}">
                <a16:creationId xmlns:a16="http://schemas.microsoft.com/office/drawing/2014/main" id="{14C242C8-0F88-A78B-D127-9B4403223B5B}"/>
              </a:ext>
            </a:extLst>
          </p:cNvPr>
          <p:cNvSpPr txBox="1"/>
          <p:nvPr/>
        </p:nvSpPr>
        <p:spPr>
          <a:xfrm>
            <a:off x="8832" y="730439"/>
            <a:ext cx="11972774" cy="6129050"/>
          </a:xfrm>
          <a:prstGeom prst="rect">
            <a:avLst/>
          </a:prstGeom>
          <a:noFill/>
        </p:spPr>
        <p:txBody>
          <a:bodyPr wrap="square">
            <a:spAutoFit/>
          </a:bodyPr>
          <a:lstStyle/>
          <a:p>
            <a:pPr>
              <a:lnSpc>
                <a:spcPct val="150000"/>
              </a:lnSpc>
            </a:pPr>
            <a:r>
              <a:rPr lang="en-US" sz="2400" b="1" dirty="0">
                <a:latin typeface="Calibir"/>
              </a:rPr>
              <a:t>Step 2 — Add spaces</a:t>
            </a:r>
          </a:p>
          <a:p>
            <a:pPr>
              <a:lnSpc>
                <a:spcPct val="150000"/>
              </a:lnSpc>
            </a:pPr>
            <a:r>
              <a:rPr lang="en-US" sz="2400" dirty="0">
                <a:latin typeface="Calibir"/>
              </a:rPr>
              <a:t>For the first row of a size-5 diamond:</a:t>
            </a:r>
          </a:p>
          <a:p>
            <a:pPr>
              <a:lnSpc>
                <a:spcPct val="150000"/>
              </a:lnSpc>
            </a:pPr>
            <a:r>
              <a:rPr lang="en-US" sz="2400" dirty="0">
                <a:latin typeface="Calibir"/>
              </a:rPr>
              <a:t>  *</a:t>
            </a:r>
          </a:p>
          <a:p>
            <a:pPr>
              <a:lnSpc>
                <a:spcPct val="150000"/>
              </a:lnSpc>
            </a:pPr>
            <a:r>
              <a:rPr lang="en-US" sz="2400" dirty="0">
                <a:latin typeface="Calibir"/>
              </a:rPr>
              <a:t>We need:</a:t>
            </a:r>
          </a:p>
          <a:p>
            <a:pPr>
              <a:lnSpc>
                <a:spcPct val="150000"/>
              </a:lnSpc>
            </a:pPr>
            <a:r>
              <a:rPr lang="en-US" sz="2400" dirty="0">
                <a:latin typeface="Calibir"/>
              </a:rPr>
              <a:t>2 spaces + 1 star</a:t>
            </a:r>
          </a:p>
          <a:p>
            <a:pPr>
              <a:lnSpc>
                <a:spcPct val="150000"/>
              </a:lnSpc>
            </a:pPr>
            <a:r>
              <a:rPr lang="en-US" sz="2400" dirty="0">
                <a:latin typeface="Calibir"/>
              </a:rPr>
              <a:t>For the second row:</a:t>
            </a:r>
          </a:p>
          <a:p>
            <a:pPr>
              <a:lnSpc>
                <a:spcPct val="150000"/>
              </a:lnSpc>
            </a:pPr>
            <a:r>
              <a:rPr lang="en-US" sz="2400" dirty="0">
                <a:latin typeface="Calibir"/>
              </a:rPr>
              <a:t> ***</a:t>
            </a:r>
          </a:p>
          <a:p>
            <a:pPr>
              <a:lnSpc>
                <a:spcPct val="150000"/>
              </a:lnSpc>
            </a:pPr>
            <a:r>
              <a:rPr lang="en-US" sz="2400" dirty="0">
                <a:latin typeface="Calibir"/>
              </a:rPr>
              <a:t>we need:</a:t>
            </a:r>
          </a:p>
          <a:p>
            <a:pPr>
              <a:lnSpc>
                <a:spcPct val="150000"/>
              </a:lnSpc>
            </a:pPr>
            <a:r>
              <a:rPr lang="en-US" sz="2400" dirty="0">
                <a:latin typeface="Calibir"/>
              </a:rPr>
              <a:t>1 space + 3 stars</a:t>
            </a:r>
          </a:p>
          <a:p>
            <a:pPr>
              <a:lnSpc>
                <a:spcPct val="150000"/>
              </a:lnSpc>
            </a:pPr>
            <a:r>
              <a:rPr lang="en-US" sz="2400" dirty="0">
                <a:latin typeface="Calibir"/>
              </a:rPr>
              <a:t>Then:</a:t>
            </a:r>
          </a:p>
          <a:p>
            <a:pPr>
              <a:lnSpc>
                <a:spcPct val="150000"/>
              </a:lnSpc>
            </a:pPr>
            <a:r>
              <a:rPr lang="en-US" sz="2400" dirty="0">
                <a:latin typeface="Calibir"/>
              </a:rPr>
              <a:t>0 spaces + 5 stars</a:t>
            </a:r>
          </a:p>
        </p:txBody>
      </p:sp>
    </p:spTree>
    <p:extLst>
      <p:ext uri="{BB962C8B-B14F-4D97-AF65-F5344CB8AC3E}">
        <p14:creationId xmlns:p14="http://schemas.microsoft.com/office/powerpoint/2010/main" val="348082543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44494B-C5A2-069C-595F-6E399DDE9371}"/>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32E67B9F-42C5-4008-68B1-6F4535DAEDE5}"/>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graphicFrame>
        <p:nvGraphicFramePr>
          <p:cNvPr id="2" name="Table 1">
            <a:extLst>
              <a:ext uri="{FF2B5EF4-FFF2-40B4-BE49-F238E27FC236}">
                <a16:creationId xmlns:a16="http://schemas.microsoft.com/office/drawing/2014/main" id="{B89864C0-AD58-1ABE-5D71-B6B6215DBAAD}"/>
              </a:ext>
            </a:extLst>
          </p:cNvPr>
          <p:cNvGraphicFramePr>
            <a:graphicFrameLocks noGrp="1"/>
          </p:cNvGraphicFramePr>
          <p:nvPr>
            <p:extLst>
              <p:ext uri="{D42A27DB-BD31-4B8C-83A1-F6EECF244321}">
                <p14:modId xmlns:p14="http://schemas.microsoft.com/office/powerpoint/2010/main" val="1783322078"/>
              </p:ext>
            </p:extLst>
          </p:nvPr>
        </p:nvGraphicFramePr>
        <p:xfrm>
          <a:off x="967861" y="2344213"/>
          <a:ext cx="10515600" cy="207264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4264561941"/>
                    </a:ext>
                  </a:extLst>
                </a:gridCol>
                <a:gridCol w="3505200">
                  <a:extLst>
                    <a:ext uri="{9D8B030D-6E8A-4147-A177-3AD203B41FA5}">
                      <a16:colId xmlns:a16="http://schemas.microsoft.com/office/drawing/2014/main" val="896357839"/>
                    </a:ext>
                  </a:extLst>
                </a:gridCol>
                <a:gridCol w="3505200">
                  <a:extLst>
                    <a:ext uri="{9D8B030D-6E8A-4147-A177-3AD203B41FA5}">
                      <a16:colId xmlns:a16="http://schemas.microsoft.com/office/drawing/2014/main" val="2164831556"/>
                    </a:ext>
                  </a:extLst>
                </a:gridCol>
              </a:tblGrid>
              <a:tr h="0">
                <a:tc>
                  <a:txBody>
                    <a:bodyPr/>
                    <a:lstStyle/>
                    <a:p>
                      <a:pPr>
                        <a:buNone/>
                      </a:pPr>
                      <a:r>
                        <a:rPr lang="en-US" sz="2800" dirty="0">
                          <a:latin typeface="Calibir"/>
                        </a:rPr>
                        <a:t>Row</a:t>
                      </a:r>
                    </a:p>
                  </a:txBody>
                  <a:tcPr anchor="ctr">
                    <a:solidFill>
                      <a:schemeClr val="accent5">
                        <a:lumMod val="20000"/>
                        <a:lumOff val="80000"/>
                      </a:schemeClr>
                    </a:solidFill>
                  </a:tcPr>
                </a:tc>
                <a:tc>
                  <a:txBody>
                    <a:bodyPr/>
                    <a:lstStyle/>
                    <a:p>
                      <a:pPr>
                        <a:buNone/>
                      </a:pPr>
                      <a:r>
                        <a:rPr lang="en-US" sz="2800" dirty="0">
                          <a:latin typeface="Calibir"/>
                        </a:rPr>
                        <a:t>Spaces</a:t>
                      </a:r>
                    </a:p>
                  </a:txBody>
                  <a:tcPr anchor="ctr">
                    <a:solidFill>
                      <a:schemeClr val="accent5">
                        <a:lumMod val="20000"/>
                        <a:lumOff val="80000"/>
                      </a:schemeClr>
                    </a:solidFill>
                  </a:tcPr>
                </a:tc>
                <a:tc>
                  <a:txBody>
                    <a:bodyPr/>
                    <a:lstStyle/>
                    <a:p>
                      <a:pPr>
                        <a:buNone/>
                      </a:pPr>
                      <a:r>
                        <a:rPr lang="en-US" sz="2800" dirty="0">
                          <a:latin typeface="Calibir"/>
                        </a:rPr>
                        <a:t>Stars</a:t>
                      </a:r>
                    </a:p>
                  </a:txBody>
                  <a:tcPr anchor="ctr">
                    <a:solidFill>
                      <a:schemeClr val="accent5">
                        <a:lumMod val="20000"/>
                        <a:lumOff val="80000"/>
                      </a:schemeClr>
                    </a:solidFill>
                  </a:tcPr>
                </a:tc>
                <a:extLst>
                  <a:ext uri="{0D108BD9-81ED-4DB2-BD59-A6C34878D82A}">
                    <a16:rowId xmlns:a16="http://schemas.microsoft.com/office/drawing/2014/main" val="392253052"/>
                  </a:ext>
                </a:extLst>
              </a:tr>
              <a:tr h="0">
                <a:tc>
                  <a:txBody>
                    <a:bodyPr/>
                    <a:lstStyle/>
                    <a:p>
                      <a:pPr>
                        <a:buNone/>
                      </a:pPr>
                      <a:r>
                        <a:rPr lang="en-US" sz="2800">
                          <a:latin typeface="Calibir"/>
                        </a:rPr>
                        <a:t>1</a:t>
                      </a:r>
                    </a:p>
                  </a:txBody>
                  <a:tcPr anchor="ctr"/>
                </a:tc>
                <a:tc>
                  <a:txBody>
                    <a:bodyPr/>
                    <a:lstStyle/>
                    <a:p>
                      <a:pPr>
                        <a:buNone/>
                      </a:pPr>
                      <a:r>
                        <a:rPr lang="en-US" sz="2800" dirty="0">
                          <a:latin typeface="Calibir"/>
                        </a:rPr>
                        <a:t>2</a:t>
                      </a:r>
                    </a:p>
                  </a:txBody>
                  <a:tcPr anchor="ctr"/>
                </a:tc>
                <a:tc>
                  <a:txBody>
                    <a:bodyPr/>
                    <a:lstStyle/>
                    <a:p>
                      <a:pPr>
                        <a:buNone/>
                      </a:pPr>
                      <a:r>
                        <a:rPr lang="en-US" sz="2800" dirty="0">
                          <a:latin typeface="Calibir"/>
                        </a:rPr>
                        <a:t>1</a:t>
                      </a:r>
                    </a:p>
                  </a:txBody>
                  <a:tcPr anchor="ctr"/>
                </a:tc>
                <a:extLst>
                  <a:ext uri="{0D108BD9-81ED-4DB2-BD59-A6C34878D82A}">
                    <a16:rowId xmlns:a16="http://schemas.microsoft.com/office/drawing/2014/main" val="442392950"/>
                  </a:ext>
                </a:extLst>
              </a:tr>
              <a:tr h="0">
                <a:tc>
                  <a:txBody>
                    <a:bodyPr/>
                    <a:lstStyle/>
                    <a:p>
                      <a:pPr>
                        <a:buNone/>
                      </a:pPr>
                      <a:r>
                        <a:rPr lang="en-US" sz="2800">
                          <a:latin typeface="Calibir"/>
                        </a:rPr>
                        <a:t>2</a:t>
                      </a:r>
                    </a:p>
                  </a:txBody>
                  <a:tcPr anchor="ctr"/>
                </a:tc>
                <a:tc>
                  <a:txBody>
                    <a:bodyPr/>
                    <a:lstStyle/>
                    <a:p>
                      <a:pPr>
                        <a:buNone/>
                      </a:pPr>
                      <a:r>
                        <a:rPr lang="en-US" sz="2800">
                          <a:latin typeface="Calibir"/>
                        </a:rPr>
                        <a:t>1</a:t>
                      </a:r>
                    </a:p>
                  </a:txBody>
                  <a:tcPr anchor="ctr"/>
                </a:tc>
                <a:tc>
                  <a:txBody>
                    <a:bodyPr/>
                    <a:lstStyle/>
                    <a:p>
                      <a:pPr>
                        <a:buNone/>
                      </a:pPr>
                      <a:r>
                        <a:rPr lang="en-US" sz="2800" dirty="0">
                          <a:latin typeface="Calibir"/>
                        </a:rPr>
                        <a:t>3</a:t>
                      </a:r>
                    </a:p>
                  </a:txBody>
                  <a:tcPr anchor="ctr"/>
                </a:tc>
                <a:extLst>
                  <a:ext uri="{0D108BD9-81ED-4DB2-BD59-A6C34878D82A}">
                    <a16:rowId xmlns:a16="http://schemas.microsoft.com/office/drawing/2014/main" val="410952691"/>
                  </a:ext>
                </a:extLst>
              </a:tr>
              <a:tr h="0">
                <a:tc>
                  <a:txBody>
                    <a:bodyPr/>
                    <a:lstStyle/>
                    <a:p>
                      <a:pPr>
                        <a:buNone/>
                      </a:pPr>
                      <a:r>
                        <a:rPr lang="en-US" sz="2800" dirty="0">
                          <a:latin typeface="Calibir"/>
                        </a:rPr>
                        <a:t>3</a:t>
                      </a:r>
                    </a:p>
                  </a:txBody>
                  <a:tcPr anchor="ctr"/>
                </a:tc>
                <a:tc>
                  <a:txBody>
                    <a:bodyPr/>
                    <a:lstStyle/>
                    <a:p>
                      <a:pPr>
                        <a:buNone/>
                      </a:pPr>
                      <a:r>
                        <a:rPr lang="en-US" sz="2800">
                          <a:latin typeface="Calibir"/>
                        </a:rPr>
                        <a:t>0</a:t>
                      </a:r>
                    </a:p>
                  </a:txBody>
                  <a:tcPr anchor="ctr"/>
                </a:tc>
                <a:tc>
                  <a:txBody>
                    <a:bodyPr/>
                    <a:lstStyle/>
                    <a:p>
                      <a:pPr>
                        <a:buNone/>
                      </a:pPr>
                      <a:r>
                        <a:rPr lang="en-US" sz="2800" dirty="0">
                          <a:latin typeface="Calibir"/>
                        </a:rPr>
                        <a:t>5</a:t>
                      </a:r>
                    </a:p>
                  </a:txBody>
                  <a:tcPr anchor="ctr"/>
                </a:tc>
                <a:extLst>
                  <a:ext uri="{0D108BD9-81ED-4DB2-BD59-A6C34878D82A}">
                    <a16:rowId xmlns:a16="http://schemas.microsoft.com/office/drawing/2014/main" val="3730262114"/>
                  </a:ext>
                </a:extLst>
              </a:tr>
            </a:tbl>
          </a:graphicData>
        </a:graphic>
      </p:graphicFrame>
      <p:sp>
        <p:nvSpPr>
          <p:cNvPr id="5" name="TextBox 4">
            <a:extLst>
              <a:ext uri="{FF2B5EF4-FFF2-40B4-BE49-F238E27FC236}">
                <a16:creationId xmlns:a16="http://schemas.microsoft.com/office/drawing/2014/main" id="{32000118-BB63-AECA-DFF3-90994A83DC52}"/>
              </a:ext>
            </a:extLst>
          </p:cNvPr>
          <p:cNvSpPr txBox="1"/>
          <p:nvPr/>
        </p:nvSpPr>
        <p:spPr>
          <a:xfrm>
            <a:off x="121672" y="817381"/>
            <a:ext cx="12207979" cy="1230593"/>
          </a:xfrm>
          <a:prstGeom prst="rect">
            <a:avLst/>
          </a:prstGeom>
          <a:noFill/>
        </p:spPr>
        <p:txBody>
          <a:bodyPr wrap="square">
            <a:spAutoFit/>
          </a:bodyPr>
          <a:lstStyle/>
          <a:p>
            <a:pPr>
              <a:lnSpc>
                <a:spcPct val="150000"/>
              </a:lnSpc>
              <a:buNone/>
            </a:pPr>
            <a:r>
              <a:rPr lang="en-US" sz="2600" b="1" dirty="0">
                <a:latin typeface="Calibir"/>
              </a:rPr>
              <a:t>Step 3 — Understand the upper half</a:t>
            </a:r>
          </a:p>
          <a:p>
            <a:pPr>
              <a:lnSpc>
                <a:spcPct val="150000"/>
              </a:lnSpc>
              <a:buNone/>
            </a:pPr>
            <a:r>
              <a:rPr lang="en-US" sz="2600" dirty="0">
                <a:latin typeface="Calibir"/>
              </a:rPr>
              <a:t>For size 5:</a:t>
            </a:r>
          </a:p>
        </p:txBody>
      </p:sp>
      <p:sp>
        <p:nvSpPr>
          <p:cNvPr id="7" name="TextBox 6">
            <a:extLst>
              <a:ext uri="{FF2B5EF4-FFF2-40B4-BE49-F238E27FC236}">
                <a16:creationId xmlns:a16="http://schemas.microsoft.com/office/drawing/2014/main" id="{84663FB7-01F1-8C63-B2EF-2AAE362BDFA0}"/>
              </a:ext>
            </a:extLst>
          </p:cNvPr>
          <p:cNvSpPr txBox="1"/>
          <p:nvPr/>
        </p:nvSpPr>
        <p:spPr>
          <a:xfrm>
            <a:off x="243348" y="4591172"/>
            <a:ext cx="6268064" cy="1230593"/>
          </a:xfrm>
          <a:prstGeom prst="rect">
            <a:avLst/>
          </a:prstGeom>
          <a:noFill/>
        </p:spPr>
        <p:txBody>
          <a:bodyPr wrap="square">
            <a:spAutoFit/>
          </a:bodyPr>
          <a:lstStyle/>
          <a:p>
            <a:pPr>
              <a:lnSpc>
                <a:spcPct val="150000"/>
              </a:lnSpc>
              <a:buNone/>
            </a:pPr>
            <a:r>
              <a:rPr lang="en-US" sz="2600" dirty="0">
                <a:latin typeface="Calibir"/>
              </a:rPr>
              <a:t>Stars increase by 2.</a:t>
            </a:r>
          </a:p>
          <a:p>
            <a:pPr>
              <a:lnSpc>
                <a:spcPct val="150000"/>
              </a:lnSpc>
              <a:buNone/>
            </a:pPr>
            <a:r>
              <a:rPr lang="en-US" sz="2600" dirty="0">
                <a:latin typeface="Calibir"/>
              </a:rPr>
              <a:t>Spaces decrease by 1.</a:t>
            </a:r>
          </a:p>
        </p:txBody>
      </p:sp>
    </p:spTree>
    <p:extLst>
      <p:ext uri="{BB962C8B-B14F-4D97-AF65-F5344CB8AC3E}">
        <p14:creationId xmlns:p14="http://schemas.microsoft.com/office/powerpoint/2010/main" val="102406970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FD01A81E-3E2C-83A8-60F2-C0E6C8AD2C3D}"/>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246744E9-6AF7-7DA1-0AC5-AE050168726F}"/>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graphicFrame>
        <p:nvGraphicFramePr>
          <p:cNvPr id="3" name="Table 2">
            <a:extLst>
              <a:ext uri="{FF2B5EF4-FFF2-40B4-BE49-F238E27FC236}">
                <a16:creationId xmlns:a16="http://schemas.microsoft.com/office/drawing/2014/main" id="{48926B4A-D490-3D70-7423-71F173D0996D}"/>
              </a:ext>
            </a:extLst>
          </p:cNvPr>
          <p:cNvGraphicFramePr>
            <a:graphicFrameLocks noGrp="1"/>
          </p:cNvGraphicFramePr>
          <p:nvPr>
            <p:extLst>
              <p:ext uri="{D42A27DB-BD31-4B8C-83A1-F6EECF244321}">
                <p14:modId xmlns:p14="http://schemas.microsoft.com/office/powerpoint/2010/main" val="693609251"/>
              </p:ext>
            </p:extLst>
          </p:nvPr>
        </p:nvGraphicFramePr>
        <p:xfrm>
          <a:off x="432165" y="3187183"/>
          <a:ext cx="10515600" cy="1554480"/>
        </p:xfrm>
        <a:graphic>
          <a:graphicData uri="http://schemas.openxmlformats.org/drawingml/2006/table">
            <a:tbl>
              <a:tblPr>
                <a:tableStyleId>{BDBED569-4797-4DF1-A0F4-6AAB3CD982D8}</a:tableStyleId>
              </a:tblPr>
              <a:tblGrid>
                <a:gridCol w="3505200">
                  <a:extLst>
                    <a:ext uri="{9D8B030D-6E8A-4147-A177-3AD203B41FA5}">
                      <a16:colId xmlns:a16="http://schemas.microsoft.com/office/drawing/2014/main" val="233319854"/>
                    </a:ext>
                  </a:extLst>
                </a:gridCol>
                <a:gridCol w="3505200">
                  <a:extLst>
                    <a:ext uri="{9D8B030D-6E8A-4147-A177-3AD203B41FA5}">
                      <a16:colId xmlns:a16="http://schemas.microsoft.com/office/drawing/2014/main" val="707430334"/>
                    </a:ext>
                  </a:extLst>
                </a:gridCol>
                <a:gridCol w="3505200">
                  <a:extLst>
                    <a:ext uri="{9D8B030D-6E8A-4147-A177-3AD203B41FA5}">
                      <a16:colId xmlns:a16="http://schemas.microsoft.com/office/drawing/2014/main" val="721075946"/>
                    </a:ext>
                  </a:extLst>
                </a:gridCol>
              </a:tblGrid>
              <a:tr h="0">
                <a:tc>
                  <a:txBody>
                    <a:bodyPr/>
                    <a:lstStyle/>
                    <a:p>
                      <a:pPr>
                        <a:buNone/>
                      </a:pPr>
                      <a:r>
                        <a:rPr lang="en-US" sz="2800" dirty="0">
                          <a:latin typeface="Calibir"/>
                        </a:rPr>
                        <a:t>Row</a:t>
                      </a:r>
                    </a:p>
                  </a:txBody>
                  <a:tcPr anchor="ctr">
                    <a:solidFill>
                      <a:schemeClr val="accent5">
                        <a:lumMod val="20000"/>
                        <a:lumOff val="80000"/>
                      </a:schemeClr>
                    </a:solidFill>
                  </a:tcPr>
                </a:tc>
                <a:tc>
                  <a:txBody>
                    <a:bodyPr/>
                    <a:lstStyle/>
                    <a:p>
                      <a:pPr>
                        <a:buNone/>
                      </a:pPr>
                      <a:r>
                        <a:rPr lang="en-US" sz="2800" dirty="0">
                          <a:latin typeface="Calibir"/>
                        </a:rPr>
                        <a:t>Spaces</a:t>
                      </a:r>
                    </a:p>
                  </a:txBody>
                  <a:tcPr anchor="ctr">
                    <a:solidFill>
                      <a:schemeClr val="accent5">
                        <a:lumMod val="20000"/>
                        <a:lumOff val="80000"/>
                      </a:schemeClr>
                    </a:solidFill>
                  </a:tcPr>
                </a:tc>
                <a:tc>
                  <a:txBody>
                    <a:bodyPr/>
                    <a:lstStyle/>
                    <a:p>
                      <a:pPr>
                        <a:buNone/>
                      </a:pPr>
                      <a:r>
                        <a:rPr lang="en-US" sz="2800" dirty="0">
                          <a:latin typeface="Calibir"/>
                        </a:rPr>
                        <a:t>Stars</a:t>
                      </a:r>
                    </a:p>
                  </a:txBody>
                  <a:tcPr anchor="ctr">
                    <a:solidFill>
                      <a:schemeClr val="accent5">
                        <a:lumMod val="20000"/>
                        <a:lumOff val="80000"/>
                      </a:schemeClr>
                    </a:solidFill>
                  </a:tcPr>
                </a:tc>
                <a:extLst>
                  <a:ext uri="{0D108BD9-81ED-4DB2-BD59-A6C34878D82A}">
                    <a16:rowId xmlns:a16="http://schemas.microsoft.com/office/drawing/2014/main" val="659609532"/>
                  </a:ext>
                </a:extLst>
              </a:tr>
              <a:tr h="0">
                <a:tc>
                  <a:txBody>
                    <a:bodyPr/>
                    <a:lstStyle/>
                    <a:p>
                      <a:pPr>
                        <a:buNone/>
                      </a:pPr>
                      <a:r>
                        <a:rPr lang="en-US" sz="2800">
                          <a:latin typeface="Calibir"/>
                        </a:rPr>
                        <a:t>4</a:t>
                      </a:r>
                    </a:p>
                  </a:txBody>
                  <a:tcPr anchor="ctr"/>
                </a:tc>
                <a:tc>
                  <a:txBody>
                    <a:bodyPr/>
                    <a:lstStyle/>
                    <a:p>
                      <a:pPr>
                        <a:buNone/>
                      </a:pPr>
                      <a:r>
                        <a:rPr lang="en-US" sz="2800">
                          <a:latin typeface="Calibir"/>
                        </a:rPr>
                        <a:t>1</a:t>
                      </a:r>
                    </a:p>
                  </a:txBody>
                  <a:tcPr anchor="ctr"/>
                </a:tc>
                <a:tc>
                  <a:txBody>
                    <a:bodyPr/>
                    <a:lstStyle/>
                    <a:p>
                      <a:pPr>
                        <a:buNone/>
                      </a:pPr>
                      <a:r>
                        <a:rPr lang="en-US" sz="2800">
                          <a:latin typeface="Calibir"/>
                        </a:rPr>
                        <a:t>3</a:t>
                      </a:r>
                    </a:p>
                  </a:txBody>
                  <a:tcPr anchor="ctr"/>
                </a:tc>
                <a:extLst>
                  <a:ext uri="{0D108BD9-81ED-4DB2-BD59-A6C34878D82A}">
                    <a16:rowId xmlns:a16="http://schemas.microsoft.com/office/drawing/2014/main" val="3452501028"/>
                  </a:ext>
                </a:extLst>
              </a:tr>
              <a:tr h="0">
                <a:tc>
                  <a:txBody>
                    <a:bodyPr/>
                    <a:lstStyle/>
                    <a:p>
                      <a:pPr>
                        <a:buNone/>
                      </a:pPr>
                      <a:r>
                        <a:rPr lang="en-US" sz="2800">
                          <a:latin typeface="Calibir"/>
                        </a:rPr>
                        <a:t>5</a:t>
                      </a:r>
                    </a:p>
                  </a:txBody>
                  <a:tcPr anchor="ctr"/>
                </a:tc>
                <a:tc>
                  <a:txBody>
                    <a:bodyPr/>
                    <a:lstStyle/>
                    <a:p>
                      <a:pPr>
                        <a:buNone/>
                      </a:pPr>
                      <a:r>
                        <a:rPr lang="en-US" sz="2800">
                          <a:latin typeface="Calibir"/>
                        </a:rPr>
                        <a:t>2</a:t>
                      </a:r>
                    </a:p>
                  </a:txBody>
                  <a:tcPr anchor="ctr"/>
                </a:tc>
                <a:tc>
                  <a:txBody>
                    <a:bodyPr/>
                    <a:lstStyle/>
                    <a:p>
                      <a:pPr>
                        <a:buNone/>
                      </a:pPr>
                      <a:r>
                        <a:rPr lang="en-US" sz="2800" dirty="0">
                          <a:latin typeface="Calibir"/>
                        </a:rPr>
                        <a:t>1</a:t>
                      </a:r>
                    </a:p>
                  </a:txBody>
                  <a:tcPr anchor="ctr"/>
                </a:tc>
                <a:extLst>
                  <a:ext uri="{0D108BD9-81ED-4DB2-BD59-A6C34878D82A}">
                    <a16:rowId xmlns:a16="http://schemas.microsoft.com/office/drawing/2014/main" val="3166779120"/>
                  </a:ext>
                </a:extLst>
              </a:tr>
            </a:tbl>
          </a:graphicData>
        </a:graphic>
      </p:graphicFrame>
      <p:sp>
        <p:nvSpPr>
          <p:cNvPr id="6" name="TextBox 5">
            <a:extLst>
              <a:ext uri="{FF2B5EF4-FFF2-40B4-BE49-F238E27FC236}">
                <a16:creationId xmlns:a16="http://schemas.microsoft.com/office/drawing/2014/main" id="{4D7EA4DA-90E4-5C59-E852-C9B541F30C66}"/>
              </a:ext>
            </a:extLst>
          </p:cNvPr>
          <p:cNvSpPr txBox="1"/>
          <p:nvPr/>
        </p:nvSpPr>
        <p:spPr>
          <a:xfrm>
            <a:off x="121674" y="1387648"/>
            <a:ext cx="6201696" cy="1318181"/>
          </a:xfrm>
          <a:prstGeom prst="rect">
            <a:avLst/>
          </a:prstGeom>
          <a:noFill/>
        </p:spPr>
        <p:txBody>
          <a:bodyPr wrap="square">
            <a:spAutoFit/>
          </a:bodyPr>
          <a:lstStyle/>
          <a:p>
            <a:pPr>
              <a:lnSpc>
                <a:spcPct val="150000"/>
              </a:lnSpc>
              <a:buNone/>
            </a:pPr>
            <a:r>
              <a:rPr lang="en-US" sz="2800" b="1" dirty="0">
                <a:latin typeface="Calibir"/>
              </a:rPr>
              <a:t>Step 4 — Understand the lower half</a:t>
            </a:r>
          </a:p>
          <a:p>
            <a:pPr>
              <a:lnSpc>
                <a:spcPct val="150000"/>
              </a:lnSpc>
              <a:buNone/>
            </a:pPr>
            <a:r>
              <a:rPr lang="en-US" sz="2800" dirty="0">
                <a:latin typeface="Calibir"/>
              </a:rPr>
              <a:t>Then reverse:</a:t>
            </a:r>
          </a:p>
        </p:txBody>
      </p:sp>
    </p:spTree>
    <p:extLst>
      <p:ext uri="{BB962C8B-B14F-4D97-AF65-F5344CB8AC3E}">
        <p14:creationId xmlns:p14="http://schemas.microsoft.com/office/powerpoint/2010/main" val="317813516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DA68DDE9-80A6-25B0-E28C-F80BBB8D707C}"/>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890CE59C-2137-07EA-2AA7-BBF8798A4993}"/>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4" name="TextBox 3">
            <a:extLst>
              <a:ext uri="{FF2B5EF4-FFF2-40B4-BE49-F238E27FC236}">
                <a16:creationId xmlns:a16="http://schemas.microsoft.com/office/drawing/2014/main" id="{5EC916E6-9B57-CD9E-7210-7BB070691DFD}"/>
              </a:ext>
            </a:extLst>
          </p:cNvPr>
          <p:cNvSpPr txBox="1"/>
          <p:nvPr/>
        </p:nvSpPr>
        <p:spPr>
          <a:xfrm>
            <a:off x="796413" y="1297858"/>
            <a:ext cx="10397612" cy="4549835"/>
          </a:xfrm>
          <a:prstGeom prst="rect">
            <a:avLst/>
          </a:prstGeom>
          <a:noFill/>
        </p:spPr>
        <p:txBody>
          <a:bodyPr wrap="square">
            <a:spAutoFit/>
          </a:bodyPr>
          <a:lstStyle/>
          <a:p>
            <a:pPr>
              <a:lnSpc>
                <a:spcPct val="150000"/>
              </a:lnSpc>
              <a:buNone/>
            </a:pPr>
            <a:r>
              <a:rPr lang="en-US" sz="2800" b="1" dirty="0">
                <a:latin typeface="Calibir"/>
              </a:rPr>
              <a:t>Python</a:t>
            </a:r>
          </a:p>
          <a:p>
            <a:pPr>
              <a:lnSpc>
                <a:spcPct val="150000"/>
              </a:lnSpc>
              <a:buNone/>
            </a:pPr>
            <a:r>
              <a:rPr lang="en-US" sz="2800" b="1" dirty="0">
                <a:latin typeface="Calibir"/>
              </a:rPr>
              <a:t>Step 5 — Write a method for one row</a:t>
            </a:r>
          </a:p>
          <a:p>
            <a:pPr rtl="0">
              <a:lnSpc>
                <a:spcPct val="150000"/>
              </a:lnSpc>
              <a:buNone/>
            </a:pPr>
            <a:r>
              <a:rPr lang="en-US" sz="2800" dirty="0">
                <a:highlight>
                  <a:srgbClr val="FFFF00"/>
                </a:highlight>
                <a:latin typeface="Calibir"/>
              </a:rPr>
              <a:t>def </a:t>
            </a:r>
            <a:r>
              <a:rPr lang="en-US" sz="2800" dirty="0" err="1">
                <a:highlight>
                  <a:srgbClr val="FFFF00"/>
                </a:highlight>
                <a:latin typeface="Calibir"/>
              </a:rPr>
              <a:t>print_row</a:t>
            </a:r>
            <a:r>
              <a:rPr lang="en-US" sz="2800" dirty="0">
                <a:highlight>
                  <a:srgbClr val="FFFF00"/>
                </a:highlight>
                <a:latin typeface="Calibir"/>
              </a:rPr>
              <a:t>(spaces, stars):</a:t>
            </a:r>
          </a:p>
          <a:p>
            <a:pPr rtl="0">
              <a:lnSpc>
                <a:spcPct val="150000"/>
              </a:lnSpc>
              <a:buNone/>
            </a:pPr>
            <a:r>
              <a:rPr lang="en-US" sz="2800" dirty="0">
                <a:highlight>
                  <a:srgbClr val="FFFF00"/>
                </a:highlight>
                <a:latin typeface="Calibir"/>
              </a:rPr>
              <a:t>    print(</a:t>
            </a:r>
          </a:p>
          <a:p>
            <a:pPr rtl="0">
              <a:lnSpc>
                <a:spcPct val="150000"/>
              </a:lnSpc>
              <a:buNone/>
            </a:pPr>
            <a:r>
              <a:rPr lang="en-US" sz="2800" dirty="0">
                <a:highlight>
                  <a:srgbClr val="FFFF00"/>
                </a:highlight>
                <a:latin typeface="Calibir"/>
              </a:rPr>
              <a:t>        " " * spaces</a:t>
            </a:r>
          </a:p>
          <a:p>
            <a:pPr rtl="0">
              <a:lnSpc>
                <a:spcPct val="150000"/>
              </a:lnSpc>
              <a:buNone/>
            </a:pPr>
            <a:r>
              <a:rPr lang="en-US" sz="2800" dirty="0">
                <a:highlight>
                  <a:srgbClr val="FFFF00"/>
                </a:highlight>
                <a:latin typeface="Calibir"/>
              </a:rPr>
              <a:t>        + "*" * stars</a:t>
            </a:r>
          </a:p>
          <a:p>
            <a:pPr rtl="0">
              <a:lnSpc>
                <a:spcPct val="150000"/>
              </a:lnSpc>
              <a:buNone/>
            </a:pPr>
            <a:r>
              <a:rPr lang="en-US" sz="2800" dirty="0">
                <a:highlight>
                  <a:srgbClr val="FFFF00"/>
                </a:highlight>
                <a:latin typeface="Calibir"/>
              </a:rPr>
              <a:t>    )</a:t>
            </a:r>
          </a:p>
        </p:txBody>
      </p:sp>
    </p:spTree>
    <p:extLst>
      <p:ext uri="{BB962C8B-B14F-4D97-AF65-F5344CB8AC3E}">
        <p14:creationId xmlns:p14="http://schemas.microsoft.com/office/powerpoint/2010/main" val="214636117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6A2B38C-F19A-6628-3DEB-77EFB1FF70ED}"/>
            </a:ext>
          </a:extLst>
        </p:cNvPr>
        <p:cNvGrpSpPr/>
        <p:nvPr/>
      </p:nvGrpSpPr>
      <p:grpSpPr>
        <a:xfrm>
          <a:off x="0" y="0"/>
          <a:ext cx="0" cy="0"/>
          <a:chOff x="0" y="0"/>
          <a:chExt cx="0" cy="0"/>
        </a:xfrm>
      </p:grpSpPr>
      <p:sp>
        <p:nvSpPr>
          <p:cNvPr id="12" name="Google Shape;101;p19">
            <a:extLst>
              <a:ext uri="{FF2B5EF4-FFF2-40B4-BE49-F238E27FC236}">
                <a16:creationId xmlns:a16="http://schemas.microsoft.com/office/drawing/2014/main" id="{ECCDF7D2-0D64-FD3E-E354-EA84F115F0D1}"/>
              </a:ext>
            </a:extLst>
          </p:cNvPr>
          <p:cNvSpPr txBox="1">
            <a:spLocks noGrp="1"/>
          </p:cNvSpPr>
          <p:nvPr>
            <p:ph type="title" idx="4294967295"/>
          </p:nvPr>
        </p:nvSpPr>
        <p:spPr>
          <a:xfrm>
            <a:off x="8832" y="-5459"/>
            <a:ext cx="11362267" cy="735898"/>
          </a:xfrm>
          <a:prstGeom prst="rect">
            <a:avLst/>
          </a:prstGeom>
        </p:spPr>
        <p:txBody>
          <a:bodyPr spcFirstLastPara="1" vert="horz" wrap="square" lIns="121900" tIns="121900" rIns="121900" bIns="121900" rtlCol="0" anchor="b" anchorCtr="0">
            <a:noAutofit/>
          </a:bodyPr>
          <a:lstStyle/>
          <a:p>
            <a:pPr>
              <a:spcBef>
                <a:spcPts val="0"/>
              </a:spcBef>
            </a:pPr>
            <a:r>
              <a:rPr lang="en-US" dirty="0"/>
              <a:t>Exercise 5 — Build a Diamond</a:t>
            </a:r>
            <a:endParaRPr dirty="0"/>
          </a:p>
        </p:txBody>
      </p:sp>
      <p:sp>
        <p:nvSpPr>
          <p:cNvPr id="4" name="TextBox 3">
            <a:extLst>
              <a:ext uri="{FF2B5EF4-FFF2-40B4-BE49-F238E27FC236}">
                <a16:creationId xmlns:a16="http://schemas.microsoft.com/office/drawing/2014/main" id="{4B6B2ECC-C370-7CB1-12E6-F1F7F8ACB9CA}"/>
              </a:ext>
            </a:extLst>
          </p:cNvPr>
          <p:cNvSpPr txBox="1"/>
          <p:nvPr/>
        </p:nvSpPr>
        <p:spPr>
          <a:xfrm>
            <a:off x="897194" y="1015503"/>
            <a:ext cx="10397612" cy="5842497"/>
          </a:xfrm>
          <a:prstGeom prst="rect">
            <a:avLst/>
          </a:prstGeom>
          <a:noFill/>
        </p:spPr>
        <p:txBody>
          <a:bodyPr wrap="square">
            <a:spAutoFit/>
          </a:bodyPr>
          <a:lstStyle/>
          <a:p>
            <a:pPr>
              <a:lnSpc>
                <a:spcPct val="150000"/>
              </a:lnSpc>
            </a:pPr>
            <a:r>
              <a:rPr lang="en-US" sz="2800" b="1" dirty="0">
                <a:latin typeface="Calibir"/>
              </a:rPr>
              <a:t>Step 6 — Create the upper half</a:t>
            </a:r>
          </a:p>
          <a:p>
            <a:pPr>
              <a:lnSpc>
                <a:spcPct val="150000"/>
              </a:lnSpc>
            </a:pPr>
            <a:r>
              <a:rPr lang="en-US" sz="2800" dirty="0">
                <a:highlight>
                  <a:srgbClr val="FFFF00"/>
                </a:highlight>
                <a:latin typeface="Calibir"/>
              </a:rPr>
              <a:t>middle = size // 2</a:t>
            </a:r>
          </a:p>
          <a:p>
            <a:pPr>
              <a:lnSpc>
                <a:spcPct val="150000"/>
              </a:lnSpc>
            </a:pPr>
            <a:r>
              <a:rPr lang="en-US" sz="2800" dirty="0">
                <a:highlight>
                  <a:srgbClr val="FFFF00"/>
                </a:highlight>
                <a:latin typeface="Calibir"/>
              </a:rPr>
              <a:t>for row in range(middle + 1):</a:t>
            </a:r>
          </a:p>
          <a:p>
            <a:pPr>
              <a:lnSpc>
                <a:spcPct val="150000"/>
              </a:lnSpc>
            </a:pPr>
            <a:r>
              <a:rPr lang="en-US" sz="2800" dirty="0">
                <a:highlight>
                  <a:srgbClr val="FFFF00"/>
                </a:highlight>
                <a:latin typeface="Calibir"/>
              </a:rPr>
              <a:t>    spaces = middle - row</a:t>
            </a:r>
          </a:p>
          <a:p>
            <a:pPr>
              <a:lnSpc>
                <a:spcPct val="150000"/>
              </a:lnSpc>
            </a:pPr>
            <a:r>
              <a:rPr lang="en-US" sz="2800" dirty="0">
                <a:highlight>
                  <a:srgbClr val="FFFF00"/>
                </a:highlight>
                <a:latin typeface="Calibir"/>
              </a:rPr>
              <a:t>    stars = 2 * row + 1</a:t>
            </a:r>
          </a:p>
          <a:p>
            <a:pPr>
              <a:lnSpc>
                <a:spcPct val="150000"/>
              </a:lnSpc>
            </a:pPr>
            <a:r>
              <a:rPr lang="en-US" sz="2800" dirty="0">
                <a:highlight>
                  <a:srgbClr val="FFFF00"/>
                </a:highlight>
                <a:latin typeface="Calibir"/>
              </a:rPr>
              <a:t>    </a:t>
            </a:r>
            <a:r>
              <a:rPr lang="en-US" sz="2800" dirty="0" err="1">
                <a:highlight>
                  <a:srgbClr val="FFFF00"/>
                </a:highlight>
                <a:latin typeface="Calibir"/>
              </a:rPr>
              <a:t>print_row</a:t>
            </a:r>
            <a:r>
              <a:rPr lang="en-US" sz="2800" dirty="0">
                <a:highlight>
                  <a:srgbClr val="FFFF00"/>
                </a:highlight>
                <a:latin typeface="Calibir"/>
              </a:rPr>
              <a:t>(</a:t>
            </a:r>
          </a:p>
          <a:p>
            <a:pPr>
              <a:lnSpc>
                <a:spcPct val="150000"/>
              </a:lnSpc>
            </a:pPr>
            <a:r>
              <a:rPr lang="en-US" sz="2800" dirty="0">
                <a:highlight>
                  <a:srgbClr val="FFFF00"/>
                </a:highlight>
                <a:latin typeface="Calibir"/>
              </a:rPr>
              <a:t>        spaces,</a:t>
            </a:r>
          </a:p>
          <a:p>
            <a:pPr>
              <a:lnSpc>
                <a:spcPct val="150000"/>
              </a:lnSpc>
            </a:pPr>
            <a:r>
              <a:rPr lang="en-US" sz="2800" dirty="0">
                <a:highlight>
                  <a:srgbClr val="FFFF00"/>
                </a:highlight>
                <a:latin typeface="Calibir"/>
              </a:rPr>
              <a:t>        stars</a:t>
            </a:r>
          </a:p>
          <a:p>
            <a:pPr>
              <a:lnSpc>
                <a:spcPct val="150000"/>
              </a:lnSpc>
            </a:pPr>
            <a:r>
              <a:rPr lang="en-US" sz="2800" dirty="0">
                <a:highlight>
                  <a:srgbClr val="FFFF00"/>
                </a:highlight>
                <a:latin typeface="Calibir"/>
              </a:rPr>
              <a:t>    )</a:t>
            </a:r>
          </a:p>
        </p:txBody>
      </p:sp>
    </p:spTree>
    <p:extLst>
      <p:ext uri="{BB962C8B-B14F-4D97-AF65-F5344CB8AC3E}">
        <p14:creationId xmlns:p14="http://schemas.microsoft.com/office/powerpoint/2010/main" val="31193294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E8A551A-9E24-1C3C-3BFF-CB3E7C58ED6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B17A20-4915-A3B1-7F13-CF38B405DC9D}"/>
              </a:ext>
            </a:extLst>
          </p:cNvPr>
          <p:cNvSpPr txBox="1"/>
          <p:nvPr/>
        </p:nvSpPr>
        <p:spPr>
          <a:xfrm>
            <a:off x="973487" y="362490"/>
            <a:ext cx="10397612" cy="6632072"/>
          </a:xfrm>
          <a:prstGeom prst="rect">
            <a:avLst/>
          </a:prstGeom>
          <a:noFill/>
        </p:spPr>
        <p:txBody>
          <a:bodyPr wrap="square">
            <a:spAutoFit/>
          </a:bodyPr>
          <a:lstStyle/>
          <a:p>
            <a:pPr>
              <a:lnSpc>
                <a:spcPct val="150000"/>
              </a:lnSpc>
            </a:pPr>
            <a:r>
              <a:rPr lang="en-US" sz="2600" b="1" dirty="0">
                <a:latin typeface="Calibir"/>
              </a:rPr>
              <a:t>Step 7 — Create the lower half</a:t>
            </a:r>
          </a:p>
          <a:p>
            <a:pPr>
              <a:lnSpc>
                <a:spcPct val="150000"/>
              </a:lnSpc>
            </a:pPr>
            <a:r>
              <a:rPr lang="en-US" sz="2600" dirty="0">
                <a:highlight>
                  <a:srgbClr val="FFFF00"/>
                </a:highlight>
                <a:latin typeface="Calibir"/>
              </a:rPr>
              <a:t>for row in range(</a:t>
            </a:r>
          </a:p>
          <a:p>
            <a:pPr>
              <a:lnSpc>
                <a:spcPct val="150000"/>
              </a:lnSpc>
            </a:pPr>
            <a:r>
              <a:rPr lang="en-US" sz="2600" dirty="0">
                <a:highlight>
                  <a:srgbClr val="FFFF00"/>
                </a:highlight>
                <a:latin typeface="Calibir"/>
              </a:rPr>
              <a:t>        middle - 1,</a:t>
            </a:r>
          </a:p>
          <a:p>
            <a:pPr>
              <a:lnSpc>
                <a:spcPct val="150000"/>
              </a:lnSpc>
            </a:pPr>
            <a:r>
              <a:rPr lang="en-US" sz="2600" dirty="0">
                <a:highlight>
                  <a:srgbClr val="FFFF00"/>
                </a:highlight>
                <a:latin typeface="Calibir"/>
              </a:rPr>
              <a:t>        -1,</a:t>
            </a:r>
          </a:p>
          <a:p>
            <a:pPr>
              <a:lnSpc>
                <a:spcPct val="150000"/>
              </a:lnSpc>
            </a:pPr>
            <a:r>
              <a:rPr lang="en-US" sz="2600" dirty="0">
                <a:highlight>
                  <a:srgbClr val="FFFF00"/>
                </a:highlight>
                <a:latin typeface="Calibir"/>
              </a:rPr>
              <a:t>        -1):</a:t>
            </a:r>
          </a:p>
          <a:p>
            <a:pPr>
              <a:lnSpc>
                <a:spcPct val="150000"/>
              </a:lnSpc>
            </a:pPr>
            <a:r>
              <a:rPr lang="en-US" sz="2600" dirty="0">
                <a:highlight>
                  <a:srgbClr val="FFFF00"/>
                </a:highlight>
                <a:latin typeface="Calibir"/>
              </a:rPr>
              <a:t>    spaces = middle - row</a:t>
            </a:r>
          </a:p>
          <a:p>
            <a:pPr>
              <a:lnSpc>
                <a:spcPct val="150000"/>
              </a:lnSpc>
            </a:pPr>
            <a:r>
              <a:rPr lang="en-US" sz="2600" dirty="0">
                <a:highlight>
                  <a:srgbClr val="FFFF00"/>
                </a:highlight>
                <a:latin typeface="Calibir"/>
              </a:rPr>
              <a:t>    stars = 2 * row + 1</a:t>
            </a:r>
          </a:p>
          <a:p>
            <a:pPr>
              <a:lnSpc>
                <a:spcPct val="150000"/>
              </a:lnSpc>
            </a:pPr>
            <a:r>
              <a:rPr lang="en-US" sz="2600" dirty="0">
                <a:highlight>
                  <a:srgbClr val="FFFF00"/>
                </a:highlight>
                <a:latin typeface="Calibir"/>
              </a:rPr>
              <a:t>    </a:t>
            </a:r>
            <a:r>
              <a:rPr lang="en-US" sz="2600" dirty="0" err="1">
                <a:highlight>
                  <a:srgbClr val="FFFF00"/>
                </a:highlight>
                <a:latin typeface="Calibir"/>
              </a:rPr>
              <a:t>print_row</a:t>
            </a:r>
            <a:r>
              <a:rPr lang="en-US" sz="2600" dirty="0">
                <a:highlight>
                  <a:srgbClr val="FFFF00"/>
                </a:highlight>
                <a:latin typeface="Calibir"/>
              </a:rPr>
              <a:t>(</a:t>
            </a:r>
          </a:p>
          <a:p>
            <a:pPr>
              <a:lnSpc>
                <a:spcPct val="150000"/>
              </a:lnSpc>
            </a:pPr>
            <a:r>
              <a:rPr lang="en-US" sz="2600" dirty="0">
                <a:highlight>
                  <a:srgbClr val="FFFF00"/>
                </a:highlight>
                <a:latin typeface="Calibir"/>
              </a:rPr>
              <a:t>        spaces,</a:t>
            </a:r>
          </a:p>
          <a:p>
            <a:pPr>
              <a:lnSpc>
                <a:spcPct val="150000"/>
              </a:lnSpc>
            </a:pPr>
            <a:r>
              <a:rPr lang="en-US" sz="2600" dirty="0">
                <a:highlight>
                  <a:srgbClr val="FFFF00"/>
                </a:highlight>
                <a:latin typeface="Calibir"/>
              </a:rPr>
              <a:t>        stars</a:t>
            </a:r>
          </a:p>
          <a:p>
            <a:pPr>
              <a:lnSpc>
                <a:spcPct val="150000"/>
              </a:lnSpc>
            </a:pPr>
            <a:r>
              <a:rPr lang="en-US" sz="2600" dirty="0">
                <a:highlight>
                  <a:srgbClr val="FFFF00"/>
                </a:highlight>
                <a:latin typeface="Calibir"/>
              </a:rPr>
              <a:t>    )</a:t>
            </a:r>
          </a:p>
        </p:txBody>
      </p:sp>
    </p:spTree>
    <p:extLst>
      <p:ext uri="{BB962C8B-B14F-4D97-AF65-F5344CB8AC3E}">
        <p14:creationId xmlns:p14="http://schemas.microsoft.com/office/powerpoint/2010/main" val="271638810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E186D8FF-1216-F8CE-8B1B-5C8991248A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182CB75-EDC3-958A-6B1A-90AD8A48D6EC}"/>
              </a:ext>
            </a:extLst>
          </p:cNvPr>
          <p:cNvSpPr txBox="1"/>
          <p:nvPr/>
        </p:nvSpPr>
        <p:spPr>
          <a:xfrm>
            <a:off x="973487" y="362490"/>
            <a:ext cx="10397612" cy="5866350"/>
          </a:xfrm>
          <a:prstGeom prst="rect">
            <a:avLst/>
          </a:prstGeom>
          <a:noFill/>
        </p:spPr>
        <p:txBody>
          <a:bodyPr wrap="square">
            <a:spAutoFit/>
          </a:bodyPr>
          <a:lstStyle/>
          <a:p>
            <a:pPr>
              <a:lnSpc>
                <a:spcPct val="150000"/>
              </a:lnSpc>
            </a:pPr>
            <a:r>
              <a:rPr lang="en-US" b="1" dirty="0">
                <a:latin typeface="Calibir"/>
              </a:rPr>
              <a:t>Step 8 — Put it inside </a:t>
            </a:r>
            <a:r>
              <a:rPr lang="en-US" b="1" dirty="0" err="1">
                <a:latin typeface="Calibir"/>
              </a:rPr>
              <a:t>show_diamond</a:t>
            </a:r>
            <a:r>
              <a:rPr lang="en-US" b="1" dirty="0">
                <a:latin typeface="Calibir"/>
              </a:rPr>
              <a:t>()</a:t>
            </a:r>
          </a:p>
          <a:p>
            <a:pPr>
              <a:lnSpc>
                <a:spcPct val="150000"/>
              </a:lnSpc>
            </a:pPr>
            <a:r>
              <a:rPr lang="en-US" dirty="0">
                <a:highlight>
                  <a:srgbClr val="FFFF00"/>
                </a:highlight>
                <a:latin typeface="Calibir"/>
              </a:rPr>
              <a:t>def </a:t>
            </a:r>
            <a:r>
              <a:rPr lang="en-US" dirty="0" err="1">
                <a:highlight>
                  <a:srgbClr val="FFFF00"/>
                </a:highlight>
                <a:latin typeface="Calibir"/>
              </a:rPr>
              <a:t>show_diamond</a:t>
            </a:r>
            <a:r>
              <a:rPr lang="en-US" dirty="0">
                <a:highlight>
                  <a:srgbClr val="FFFF00"/>
                </a:highlight>
                <a:latin typeface="Calibir"/>
              </a:rPr>
              <a:t>(size):</a:t>
            </a:r>
          </a:p>
          <a:p>
            <a:pPr>
              <a:lnSpc>
                <a:spcPct val="150000"/>
              </a:lnSpc>
            </a:pPr>
            <a:r>
              <a:rPr lang="en-US" dirty="0">
                <a:highlight>
                  <a:srgbClr val="FFFF00"/>
                </a:highlight>
                <a:latin typeface="Calibir"/>
              </a:rPr>
              <a:t>    middle = size // 2</a:t>
            </a:r>
          </a:p>
          <a:p>
            <a:pPr>
              <a:lnSpc>
                <a:spcPct val="150000"/>
              </a:lnSpc>
            </a:pPr>
            <a:r>
              <a:rPr lang="en-US" dirty="0">
                <a:highlight>
                  <a:srgbClr val="FFFF00"/>
                </a:highlight>
                <a:latin typeface="Calibir"/>
              </a:rPr>
              <a:t>    for row in range(middle + 1):</a:t>
            </a:r>
          </a:p>
          <a:p>
            <a:pPr>
              <a:lnSpc>
                <a:spcPct val="150000"/>
              </a:lnSpc>
            </a:pPr>
            <a:r>
              <a:rPr lang="en-US" dirty="0">
                <a:highlight>
                  <a:srgbClr val="FFFF00"/>
                </a:highlight>
                <a:latin typeface="Calibir"/>
              </a:rPr>
              <a:t>        spaces = middle - row</a:t>
            </a:r>
          </a:p>
          <a:p>
            <a:pPr>
              <a:lnSpc>
                <a:spcPct val="150000"/>
              </a:lnSpc>
            </a:pPr>
            <a:r>
              <a:rPr lang="en-US" dirty="0">
                <a:highlight>
                  <a:srgbClr val="FFFF00"/>
                </a:highlight>
                <a:latin typeface="Calibir"/>
              </a:rPr>
              <a:t>        stars = 2 * row + 1</a:t>
            </a:r>
          </a:p>
          <a:p>
            <a:pPr>
              <a:lnSpc>
                <a:spcPct val="150000"/>
              </a:lnSpc>
            </a:pPr>
            <a:r>
              <a:rPr lang="en-US" dirty="0">
                <a:highlight>
                  <a:srgbClr val="FFFF00"/>
                </a:highlight>
                <a:latin typeface="Calibir"/>
              </a:rPr>
              <a:t>        </a:t>
            </a:r>
            <a:r>
              <a:rPr lang="en-US" dirty="0" err="1">
                <a:highlight>
                  <a:srgbClr val="FFFF00"/>
                </a:highlight>
                <a:latin typeface="Calibir"/>
              </a:rPr>
              <a:t>print_row</a:t>
            </a:r>
            <a:r>
              <a:rPr lang="en-US" dirty="0">
                <a:highlight>
                  <a:srgbClr val="FFFF00"/>
                </a:highlight>
                <a:latin typeface="Calibir"/>
              </a:rPr>
              <a:t>(spaces, stars)</a:t>
            </a:r>
          </a:p>
          <a:p>
            <a:pPr>
              <a:lnSpc>
                <a:spcPct val="150000"/>
              </a:lnSpc>
            </a:pPr>
            <a:r>
              <a:rPr lang="en-US" dirty="0">
                <a:highlight>
                  <a:srgbClr val="FFFF00"/>
                </a:highlight>
                <a:latin typeface="Calibir"/>
              </a:rPr>
              <a:t>    for row in range(</a:t>
            </a:r>
          </a:p>
          <a:p>
            <a:pPr>
              <a:lnSpc>
                <a:spcPct val="150000"/>
              </a:lnSpc>
            </a:pPr>
            <a:r>
              <a:rPr lang="en-US" dirty="0">
                <a:highlight>
                  <a:srgbClr val="FFFF00"/>
                </a:highlight>
                <a:latin typeface="Calibir"/>
              </a:rPr>
              <a:t>            middle - 1,</a:t>
            </a:r>
          </a:p>
          <a:p>
            <a:pPr>
              <a:lnSpc>
                <a:spcPct val="150000"/>
              </a:lnSpc>
            </a:pPr>
            <a:r>
              <a:rPr lang="en-US" dirty="0">
                <a:highlight>
                  <a:srgbClr val="FFFF00"/>
                </a:highlight>
                <a:latin typeface="Calibir"/>
              </a:rPr>
              <a:t>            -1,</a:t>
            </a:r>
          </a:p>
          <a:p>
            <a:pPr>
              <a:lnSpc>
                <a:spcPct val="150000"/>
              </a:lnSpc>
            </a:pPr>
            <a:r>
              <a:rPr lang="en-US" dirty="0">
                <a:highlight>
                  <a:srgbClr val="FFFF00"/>
                </a:highlight>
                <a:latin typeface="Calibir"/>
              </a:rPr>
              <a:t>            -1):</a:t>
            </a:r>
          </a:p>
          <a:p>
            <a:pPr>
              <a:lnSpc>
                <a:spcPct val="150000"/>
              </a:lnSpc>
            </a:pPr>
            <a:r>
              <a:rPr lang="en-US" dirty="0">
                <a:highlight>
                  <a:srgbClr val="FFFF00"/>
                </a:highlight>
                <a:latin typeface="Calibir"/>
              </a:rPr>
              <a:t>        spaces = middle - row</a:t>
            </a:r>
          </a:p>
          <a:p>
            <a:pPr>
              <a:lnSpc>
                <a:spcPct val="150000"/>
              </a:lnSpc>
            </a:pPr>
            <a:r>
              <a:rPr lang="en-US" dirty="0">
                <a:highlight>
                  <a:srgbClr val="FFFF00"/>
                </a:highlight>
                <a:latin typeface="Calibir"/>
              </a:rPr>
              <a:t>        stars = 2 * row + 1</a:t>
            </a:r>
          </a:p>
          <a:p>
            <a:pPr>
              <a:lnSpc>
                <a:spcPct val="150000"/>
              </a:lnSpc>
            </a:pPr>
            <a:r>
              <a:rPr lang="en-US" dirty="0">
                <a:highlight>
                  <a:srgbClr val="FFFF00"/>
                </a:highlight>
                <a:latin typeface="Calibir"/>
              </a:rPr>
              <a:t>        </a:t>
            </a:r>
            <a:r>
              <a:rPr lang="en-US" dirty="0" err="1">
                <a:highlight>
                  <a:srgbClr val="FFFF00"/>
                </a:highlight>
                <a:latin typeface="Calibir"/>
              </a:rPr>
              <a:t>print_row</a:t>
            </a:r>
            <a:r>
              <a:rPr lang="en-US" dirty="0">
                <a:highlight>
                  <a:srgbClr val="FFFF00"/>
                </a:highlight>
                <a:latin typeface="Calibir"/>
              </a:rPr>
              <a:t>(spaces, stars)</a:t>
            </a:r>
          </a:p>
        </p:txBody>
      </p:sp>
    </p:spTree>
    <p:extLst>
      <p:ext uri="{BB962C8B-B14F-4D97-AF65-F5344CB8AC3E}">
        <p14:creationId xmlns:p14="http://schemas.microsoft.com/office/powerpoint/2010/main" val="61432956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399CF9D-87D7-EACB-6374-83969B4DC3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7D3B31-E8BB-6926-DB68-033C7AD496FD}"/>
              </a:ext>
            </a:extLst>
          </p:cNvPr>
          <p:cNvSpPr txBox="1"/>
          <p:nvPr/>
        </p:nvSpPr>
        <p:spPr>
          <a:xfrm>
            <a:off x="973487" y="362490"/>
            <a:ext cx="10397612" cy="4549835"/>
          </a:xfrm>
          <a:prstGeom prst="rect">
            <a:avLst/>
          </a:prstGeom>
          <a:noFill/>
        </p:spPr>
        <p:txBody>
          <a:bodyPr wrap="square">
            <a:spAutoFit/>
          </a:bodyPr>
          <a:lstStyle/>
          <a:p>
            <a:pPr>
              <a:lnSpc>
                <a:spcPct val="150000"/>
              </a:lnSpc>
            </a:pPr>
            <a:r>
              <a:rPr lang="en-US" sz="2800" b="1" dirty="0">
                <a:latin typeface="Calibir"/>
              </a:rPr>
              <a:t>Step 9 — Repeat until -1</a:t>
            </a:r>
          </a:p>
          <a:p>
            <a:pPr>
              <a:lnSpc>
                <a:spcPct val="150000"/>
              </a:lnSpc>
            </a:pPr>
            <a:r>
              <a:rPr lang="en-US" sz="2800" dirty="0">
                <a:highlight>
                  <a:srgbClr val="FFFF00"/>
                </a:highlight>
                <a:latin typeface="Calibir"/>
              </a:rPr>
              <a:t>while True:</a:t>
            </a:r>
          </a:p>
          <a:p>
            <a:pPr>
              <a:lnSpc>
                <a:spcPct val="150000"/>
              </a:lnSpc>
            </a:pPr>
            <a:r>
              <a:rPr lang="en-US" sz="2800" dirty="0">
                <a:highlight>
                  <a:srgbClr val="FFFF00"/>
                </a:highlight>
                <a:latin typeface="Calibir"/>
              </a:rPr>
              <a:t>    size = int(</a:t>
            </a:r>
          </a:p>
          <a:p>
            <a:pPr>
              <a:lnSpc>
                <a:spcPct val="150000"/>
              </a:lnSpc>
            </a:pPr>
            <a:r>
              <a:rPr lang="en-US" sz="2800" dirty="0">
                <a:highlight>
                  <a:srgbClr val="FFFF00"/>
                </a:highlight>
                <a:latin typeface="Calibir"/>
              </a:rPr>
              <a:t>        input("Size = ")</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    if size == -1:</a:t>
            </a:r>
          </a:p>
          <a:p>
            <a:pPr>
              <a:lnSpc>
                <a:spcPct val="150000"/>
              </a:lnSpc>
            </a:pPr>
            <a:r>
              <a:rPr lang="en-US" sz="2800" dirty="0">
                <a:highlight>
                  <a:srgbClr val="FFFF00"/>
                </a:highlight>
                <a:latin typeface="Calibir"/>
              </a:rPr>
              <a:t>        break</a:t>
            </a:r>
          </a:p>
        </p:txBody>
      </p:sp>
    </p:spTree>
    <p:extLst>
      <p:ext uri="{BB962C8B-B14F-4D97-AF65-F5344CB8AC3E}">
        <p14:creationId xmlns:p14="http://schemas.microsoft.com/office/powerpoint/2010/main" val="57822328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670D444F-DEC5-ECB7-D3B6-A7DD8BE296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58EA837-48AE-B310-CC55-0FFC57B1E856}"/>
              </a:ext>
            </a:extLst>
          </p:cNvPr>
          <p:cNvSpPr txBox="1"/>
          <p:nvPr/>
        </p:nvSpPr>
        <p:spPr>
          <a:xfrm>
            <a:off x="973487" y="362490"/>
            <a:ext cx="10397612" cy="6340197"/>
          </a:xfrm>
          <a:prstGeom prst="rect">
            <a:avLst/>
          </a:prstGeom>
          <a:noFill/>
        </p:spPr>
        <p:txBody>
          <a:bodyPr wrap="square">
            <a:spAutoFit/>
          </a:bodyPr>
          <a:lstStyle/>
          <a:p>
            <a:r>
              <a:rPr lang="en-US" sz="1400" b="1" dirty="0">
                <a:latin typeface="Calibir"/>
              </a:rPr>
              <a:t>Completed Python — Lab5Ex5.py</a:t>
            </a:r>
          </a:p>
          <a:p>
            <a:r>
              <a:rPr lang="en-US" sz="1400" dirty="0">
                <a:highlight>
                  <a:srgbClr val="FFFF00"/>
                </a:highlight>
                <a:latin typeface="Calibir"/>
              </a:rPr>
              <a:t>def </a:t>
            </a:r>
            <a:r>
              <a:rPr lang="en-US" sz="1400" dirty="0" err="1">
                <a:highlight>
                  <a:srgbClr val="FFFF00"/>
                </a:highlight>
                <a:latin typeface="Calibir"/>
              </a:rPr>
              <a:t>print_row</a:t>
            </a:r>
            <a:r>
              <a:rPr lang="en-US" sz="1400" dirty="0">
                <a:highlight>
                  <a:srgbClr val="FFFF00"/>
                </a:highlight>
                <a:latin typeface="Calibir"/>
              </a:rPr>
              <a:t>(spaces, stars):</a:t>
            </a:r>
          </a:p>
          <a:p>
            <a:endParaRPr lang="en-US" sz="1400" dirty="0">
              <a:highlight>
                <a:srgbClr val="FFFF00"/>
              </a:highlight>
              <a:latin typeface="Calibir"/>
            </a:endParaRPr>
          </a:p>
          <a:p>
            <a:r>
              <a:rPr lang="en-US" sz="1400" dirty="0">
                <a:highlight>
                  <a:srgbClr val="FFFF00"/>
                </a:highlight>
                <a:latin typeface="Calibir"/>
              </a:rPr>
              <a:t>    print(</a:t>
            </a:r>
          </a:p>
          <a:p>
            <a:r>
              <a:rPr lang="en-US" sz="1400" dirty="0">
                <a:highlight>
                  <a:srgbClr val="FFFF00"/>
                </a:highlight>
                <a:latin typeface="Calibir"/>
              </a:rPr>
              <a:t>        " " * spaces</a:t>
            </a:r>
          </a:p>
          <a:p>
            <a:r>
              <a:rPr lang="en-US" sz="1400" dirty="0">
                <a:highlight>
                  <a:srgbClr val="FFFF00"/>
                </a:highlight>
                <a:latin typeface="Calibir"/>
              </a:rPr>
              <a:t>        + "*" * stars</a:t>
            </a:r>
          </a:p>
          <a:p>
            <a:r>
              <a:rPr lang="en-US" sz="1400" dirty="0">
                <a:highlight>
                  <a:srgbClr val="FFFF00"/>
                </a:highlight>
                <a:latin typeface="Calibir"/>
              </a:rPr>
              <a:t>    )</a:t>
            </a:r>
          </a:p>
          <a:p>
            <a:endParaRPr lang="en-US" sz="1400" dirty="0">
              <a:highlight>
                <a:srgbClr val="FFFF00"/>
              </a:highlight>
              <a:latin typeface="Calibir"/>
            </a:endParaRPr>
          </a:p>
          <a:p>
            <a:endParaRPr lang="en-US" sz="1400" dirty="0">
              <a:highlight>
                <a:srgbClr val="FFFF00"/>
              </a:highlight>
              <a:latin typeface="Calibir"/>
            </a:endParaRPr>
          </a:p>
          <a:p>
            <a:r>
              <a:rPr lang="en-US" sz="1400" dirty="0">
                <a:highlight>
                  <a:srgbClr val="FFFF00"/>
                </a:highlight>
                <a:latin typeface="Calibir"/>
              </a:rPr>
              <a:t>def </a:t>
            </a:r>
            <a:r>
              <a:rPr lang="en-US" sz="1400" dirty="0" err="1">
                <a:highlight>
                  <a:srgbClr val="FFFF00"/>
                </a:highlight>
                <a:latin typeface="Calibir"/>
              </a:rPr>
              <a:t>show_diamond</a:t>
            </a:r>
            <a:r>
              <a:rPr lang="en-US" sz="1400" dirty="0">
                <a:highlight>
                  <a:srgbClr val="FFFF00"/>
                </a:highlight>
                <a:latin typeface="Calibir"/>
              </a:rPr>
              <a:t>(size):</a:t>
            </a:r>
          </a:p>
          <a:p>
            <a:endParaRPr lang="en-US" sz="1400" dirty="0">
              <a:highlight>
                <a:srgbClr val="FFFF00"/>
              </a:highlight>
              <a:latin typeface="Calibir"/>
            </a:endParaRPr>
          </a:p>
          <a:p>
            <a:r>
              <a:rPr lang="en-US" sz="1400" dirty="0">
                <a:highlight>
                  <a:srgbClr val="FFFF00"/>
                </a:highlight>
                <a:latin typeface="Calibir"/>
              </a:rPr>
              <a:t>    middle = size // 2</a:t>
            </a:r>
          </a:p>
          <a:p>
            <a:endParaRPr lang="en-US" sz="1400" dirty="0">
              <a:highlight>
                <a:srgbClr val="FFFF00"/>
              </a:highlight>
              <a:latin typeface="Calibir"/>
            </a:endParaRPr>
          </a:p>
          <a:p>
            <a:r>
              <a:rPr lang="en-US" sz="1400" dirty="0">
                <a:highlight>
                  <a:srgbClr val="FFFF00"/>
                </a:highlight>
                <a:latin typeface="Calibir"/>
              </a:rPr>
              <a:t>    # Upper half including middle</a:t>
            </a:r>
          </a:p>
          <a:p>
            <a:r>
              <a:rPr lang="en-US" sz="1400" dirty="0">
                <a:highlight>
                  <a:srgbClr val="FFFF00"/>
                </a:highlight>
                <a:latin typeface="Calibir"/>
              </a:rPr>
              <a:t>    for row in range(middle + 1):</a:t>
            </a:r>
          </a:p>
          <a:p>
            <a:endParaRPr lang="en-US" sz="1400" dirty="0">
              <a:highlight>
                <a:srgbClr val="FFFF00"/>
              </a:highlight>
              <a:latin typeface="Calibir"/>
            </a:endParaRPr>
          </a:p>
          <a:p>
            <a:r>
              <a:rPr lang="en-US" sz="1400" dirty="0">
                <a:highlight>
                  <a:srgbClr val="FFFF00"/>
                </a:highlight>
                <a:latin typeface="Calibir"/>
              </a:rPr>
              <a:t>        spaces = middle - row</a:t>
            </a:r>
          </a:p>
          <a:p>
            <a:r>
              <a:rPr lang="en-US" sz="1400" dirty="0">
                <a:highlight>
                  <a:srgbClr val="FFFF00"/>
                </a:highlight>
                <a:latin typeface="Calibir"/>
              </a:rPr>
              <a:t>        stars = 2 * row + 1</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print_row</a:t>
            </a:r>
            <a:r>
              <a:rPr lang="en-US" sz="1400" dirty="0">
                <a:highlight>
                  <a:srgbClr val="FFFF00"/>
                </a:highlight>
                <a:latin typeface="Calibir"/>
              </a:rPr>
              <a:t>(</a:t>
            </a:r>
          </a:p>
          <a:p>
            <a:r>
              <a:rPr lang="en-US" sz="1400" dirty="0">
                <a:highlight>
                  <a:srgbClr val="FFFF00"/>
                </a:highlight>
                <a:latin typeface="Calibir"/>
              </a:rPr>
              <a:t>            spaces,</a:t>
            </a:r>
          </a:p>
          <a:p>
            <a:r>
              <a:rPr lang="en-US" sz="1400" dirty="0">
                <a:highlight>
                  <a:srgbClr val="FFFF00"/>
                </a:highlight>
                <a:latin typeface="Calibir"/>
              </a:rPr>
              <a:t>            stars</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 Lower half</a:t>
            </a:r>
          </a:p>
          <a:p>
            <a:r>
              <a:rPr lang="en-US" sz="1400" dirty="0">
                <a:highlight>
                  <a:srgbClr val="FFFF00"/>
                </a:highlight>
                <a:latin typeface="Calibir"/>
              </a:rPr>
              <a:t>    for row in range(</a:t>
            </a:r>
          </a:p>
          <a:p>
            <a:r>
              <a:rPr lang="en-US" sz="1400" dirty="0">
                <a:highlight>
                  <a:srgbClr val="FFFF00"/>
                </a:highlight>
                <a:latin typeface="Calibir"/>
              </a:rPr>
              <a:t>            middle - 1,</a:t>
            </a:r>
          </a:p>
          <a:p>
            <a:r>
              <a:rPr lang="en-US" sz="1400" dirty="0">
                <a:highlight>
                  <a:srgbClr val="FFFF00"/>
                </a:highlight>
                <a:latin typeface="Calibir"/>
              </a:rPr>
              <a:t>            -1,</a:t>
            </a:r>
          </a:p>
          <a:p>
            <a:r>
              <a:rPr lang="en-US" sz="1400" dirty="0">
                <a:highlight>
                  <a:srgbClr val="FFFF00"/>
                </a:highlight>
                <a:latin typeface="Calibir"/>
              </a:rPr>
              <a:t>            -1):</a:t>
            </a:r>
          </a:p>
        </p:txBody>
      </p:sp>
    </p:spTree>
    <p:extLst>
      <p:ext uri="{BB962C8B-B14F-4D97-AF65-F5344CB8AC3E}">
        <p14:creationId xmlns:p14="http://schemas.microsoft.com/office/powerpoint/2010/main" val="152970248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F85D55D-2C43-AC81-486C-98D2645187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32E55C-6E69-70DB-34E7-B594661EC522}"/>
              </a:ext>
            </a:extLst>
          </p:cNvPr>
          <p:cNvSpPr txBox="1"/>
          <p:nvPr/>
        </p:nvSpPr>
        <p:spPr>
          <a:xfrm>
            <a:off x="973487" y="362490"/>
            <a:ext cx="10397612" cy="6771084"/>
          </a:xfrm>
          <a:prstGeom prst="rect">
            <a:avLst/>
          </a:prstGeom>
          <a:noFill/>
        </p:spPr>
        <p:txBody>
          <a:bodyPr wrap="square">
            <a:spAutoFit/>
          </a:bodyPr>
          <a:lstStyle/>
          <a:p>
            <a:r>
              <a:rPr lang="en-US" sz="1400" dirty="0">
                <a:highlight>
                  <a:srgbClr val="FFFF00"/>
                </a:highlight>
                <a:latin typeface="Calibir"/>
              </a:rPr>
              <a:t>        spaces = middle - row</a:t>
            </a:r>
          </a:p>
          <a:p>
            <a:r>
              <a:rPr lang="en-US" sz="1400" dirty="0">
                <a:highlight>
                  <a:srgbClr val="FFFF00"/>
                </a:highlight>
                <a:latin typeface="Calibir"/>
              </a:rPr>
              <a:t>        stars = 2 * row + 1</a:t>
            </a:r>
          </a:p>
          <a:p>
            <a:r>
              <a:rPr lang="en-US" sz="1400" dirty="0">
                <a:highlight>
                  <a:srgbClr val="FFFF00"/>
                </a:highlight>
                <a:latin typeface="Calibir"/>
              </a:rPr>
              <a:t>        </a:t>
            </a:r>
            <a:r>
              <a:rPr lang="en-US" sz="1400" dirty="0" err="1">
                <a:highlight>
                  <a:srgbClr val="FFFF00"/>
                </a:highlight>
                <a:latin typeface="Calibir"/>
              </a:rPr>
              <a:t>print_row</a:t>
            </a:r>
            <a:r>
              <a:rPr lang="en-US" sz="1400" dirty="0">
                <a:highlight>
                  <a:srgbClr val="FFFF00"/>
                </a:highlight>
                <a:latin typeface="Calibir"/>
              </a:rPr>
              <a:t>(</a:t>
            </a:r>
          </a:p>
          <a:p>
            <a:r>
              <a:rPr lang="en-US" sz="1400" dirty="0">
                <a:highlight>
                  <a:srgbClr val="FFFF00"/>
                </a:highlight>
                <a:latin typeface="Calibir"/>
              </a:rPr>
              <a:t>            spaces,</a:t>
            </a:r>
          </a:p>
          <a:p>
            <a:r>
              <a:rPr lang="en-US" sz="1400" dirty="0">
                <a:highlight>
                  <a:srgbClr val="FFFF00"/>
                </a:highlight>
                <a:latin typeface="Calibir"/>
              </a:rPr>
              <a:t>            stars</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def main():</a:t>
            </a:r>
          </a:p>
          <a:p>
            <a:r>
              <a:rPr lang="en-US" sz="1400" dirty="0">
                <a:highlight>
                  <a:srgbClr val="FFFF00"/>
                </a:highlight>
                <a:latin typeface="Calibir"/>
              </a:rPr>
              <a:t>    while True:</a:t>
            </a:r>
          </a:p>
          <a:p>
            <a:endParaRPr lang="en-US" sz="1400" dirty="0">
              <a:highlight>
                <a:srgbClr val="FFFF00"/>
              </a:highlight>
              <a:latin typeface="Calibir"/>
            </a:endParaRPr>
          </a:p>
          <a:p>
            <a:r>
              <a:rPr lang="en-US" sz="1400" dirty="0">
                <a:highlight>
                  <a:srgbClr val="FFFF00"/>
                </a:highlight>
                <a:latin typeface="Calibir"/>
              </a:rPr>
              <a:t>        size = int(</a:t>
            </a:r>
          </a:p>
          <a:p>
            <a:r>
              <a:rPr lang="en-US" sz="1400" dirty="0">
                <a:highlight>
                  <a:srgbClr val="FFFF00"/>
                </a:highlight>
                <a:latin typeface="Calibir"/>
              </a:rPr>
              <a:t>            input("Size = ")</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if size == -1:</a:t>
            </a:r>
          </a:p>
          <a:p>
            <a:endParaRPr lang="en-US" sz="1400" dirty="0">
              <a:highlight>
                <a:srgbClr val="FFFF00"/>
              </a:highlight>
              <a:latin typeface="Calibir"/>
            </a:endParaRPr>
          </a:p>
          <a:p>
            <a:r>
              <a:rPr lang="en-US" sz="1400" dirty="0">
                <a:highlight>
                  <a:srgbClr val="FFFF00"/>
                </a:highlight>
                <a:latin typeface="Calibir"/>
              </a:rPr>
              <a:t>            break</a:t>
            </a:r>
          </a:p>
          <a:p>
            <a:endParaRPr lang="en-US" sz="1400" dirty="0">
              <a:highlight>
                <a:srgbClr val="FFFF00"/>
              </a:highlight>
              <a:latin typeface="Calibir"/>
            </a:endParaRPr>
          </a:p>
          <a:p>
            <a:r>
              <a:rPr lang="en-US" sz="1400" dirty="0">
                <a:highlight>
                  <a:srgbClr val="FFFF00"/>
                </a:highlight>
                <a:latin typeface="Calibir"/>
              </a:rPr>
              <a:t>        if size &lt;= 0 or size % 2 == 0:</a:t>
            </a:r>
          </a:p>
          <a:p>
            <a:endParaRPr lang="en-US" sz="1400" dirty="0">
              <a:highlight>
                <a:srgbClr val="FFFF00"/>
              </a:highlight>
              <a:latin typeface="Calibir"/>
            </a:endParaRPr>
          </a:p>
          <a:p>
            <a:r>
              <a:rPr lang="en-US" sz="1400" dirty="0">
                <a:highlight>
                  <a:srgbClr val="FFFF00"/>
                </a:highlight>
                <a:latin typeface="Calibir"/>
              </a:rPr>
              <a:t>            print(</a:t>
            </a:r>
          </a:p>
          <a:p>
            <a:r>
              <a:rPr lang="en-US" sz="1400" dirty="0">
                <a:highlight>
                  <a:srgbClr val="FFFF00"/>
                </a:highlight>
                <a:latin typeface="Calibir"/>
              </a:rPr>
              <a:t>                "Please enter a positive odd size."</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continue</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show_diamond</a:t>
            </a:r>
            <a:r>
              <a:rPr lang="en-US" sz="1400" dirty="0">
                <a:highlight>
                  <a:srgbClr val="FFFF00"/>
                </a:highlight>
                <a:latin typeface="Calibir"/>
              </a:rPr>
              <a:t>(size)</a:t>
            </a:r>
          </a:p>
          <a:p>
            <a:endParaRPr lang="en-US" sz="1400" dirty="0">
              <a:highlight>
                <a:srgbClr val="FFFF00"/>
              </a:highlight>
              <a:latin typeface="Calibir"/>
            </a:endParaRPr>
          </a:p>
          <a:p>
            <a:r>
              <a:rPr lang="en-US" sz="1400" dirty="0">
                <a:highlight>
                  <a:srgbClr val="FFFF00"/>
                </a:highlight>
                <a:latin typeface="Calibir"/>
              </a:rPr>
              <a:t>if __name__ == "__main__":</a:t>
            </a:r>
          </a:p>
          <a:p>
            <a:r>
              <a:rPr lang="en-US" sz="1400" dirty="0">
                <a:highlight>
                  <a:srgbClr val="FFFF00"/>
                </a:highlight>
                <a:latin typeface="Calibir"/>
              </a:rPr>
              <a:t>    main()</a:t>
            </a:r>
          </a:p>
        </p:txBody>
      </p:sp>
    </p:spTree>
    <p:extLst>
      <p:ext uri="{BB962C8B-B14F-4D97-AF65-F5344CB8AC3E}">
        <p14:creationId xmlns:p14="http://schemas.microsoft.com/office/powerpoint/2010/main" val="290116537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A1953CBE-7CD6-B1FC-B076-B2B98C42E1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667AAF-2197-C34A-534F-A4687E2970B9}"/>
              </a:ext>
            </a:extLst>
          </p:cNvPr>
          <p:cNvSpPr txBox="1"/>
          <p:nvPr/>
        </p:nvSpPr>
        <p:spPr>
          <a:xfrm>
            <a:off x="897194" y="12600"/>
            <a:ext cx="10397612" cy="6845400"/>
          </a:xfrm>
          <a:prstGeom prst="rect">
            <a:avLst/>
          </a:prstGeom>
          <a:noFill/>
        </p:spPr>
        <p:txBody>
          <a:bodyPr wrap="square">
            <a:spAutoFit/>
          </a:bodyPr>
          <a:lstStyle/>
          <a:p>
            <a:pPr>
              <a:lnSpc>
                <a:spcPct val="150000"/>
              </a:lnSpc>
            </a:pPr>
            <a:r>
              <a:rPr lang="en-US" sz="1400" b="1" dirty="0">
                <a:latin typeface="Calibir"/>
              </a:rPr>
              <a:t>Java</a:t>
            </a:r>
          </a:p>
          <a:p>
            <a:pPr>
              <a:lnSpc>
                <a:spcPct val="150000"/>
              </a:lnSpc>
            </a:pPr>
            <a:r>
              <a:rPr lang="en-US" sz="1400" b="1" dirty="0">
                <a:latin typeface="Calibir"/>
              </a:rPr>
              <a:t>Step 1 — Create a method to print one row</a:t>
            </a:r>
          </a:p>
          <a:p>
            <a:pPr>
              <a:lnSpc>
                <a:spcPct val="150000"/>
              </a:lnSpc>
            </a:pPr>
            <a:r>
              <a:rPr lang="en-US" sz="1400" dirty="0">
                <a:highlight>
                  <a:srgbClr val="FFFF00"/>
                </a:highlight>
                <a:latin typeface="Calibir"/>
              </a:rPr>
              <a:t>public static void </a:t>
            </a:r>
            <a:r>
              <a:rPr lang="en-US" sz="1400" dirty="0" err="1">
                <a:highlight>
                  <a:srgbClr val="FFFF00"/>
                </a:highlight>
                <a:latin typeface="Calibir"/>
              </a:rPr>
              <a:t>printRow</a:t>
            </a:r>
            <a:r>
              <a:rPr lang="en-US" sz="1400" dirty="0">
                <a:highlight>
                  <a:srgbClr val="FFFF00"/>
                </a:highlight>
                <a:latin typeface="Calibir"/>
              </a:rPr>
              <a:t>(</a:t>
            </a:r>
          </a:p>
          <a:p>
            <a:pPr>
              <a:lnSpc>
                <a:spcPct val="150000"/>
              </a:lnSpc>
            </a:pPr>
            <a:r>
              <a:rPr lang="en-US" sz="1400" dirty="0">
                <a:highlight>
                  <a:srgbClr val="FFFF00"/>
                </a:highlight>
                <a:latin typeface="Calibir"/>
              </a:rPr>
              <a:t>        int spaces,</a:t>
            </a:r>
          </a:p>
          <a:p>
            <a:pPr>
              <a:lnSpc>
                <a:spcPct val="150000"/>
              </a:lnSpc>
            </a:pPr>
            <a:r>
              <a:rPr lang="en-US" sz="1400" dirty="0">
                <a:highlight>
                  <a:srgbClr val="FFFF00"/>
                </a:highlight>
                <a:latin typeface="Calibir"/>
              </a:rPr>
              <a:t>        int stars) {</a:t>
            </a:r>
          </a:p>
          <a:p>
            <a:pPr>
              <a:lnSpc>
                <a:spcPct val="150000"/>
              </a:lnSpc>
            </a:pPr>
            <a:r>
              <a:rPr lang="en-US" sz="1400" dirty="0">
                <a:highlight>
                  <a:srgbClr val="FFFF00"/>
                </a:highlight>
                <a:latin typeface="Calibir"/>
              </a:rPr>
              <a:t>    for (</a:t>
            </a:r>
          </a:p>
          <a:p>
            <a:pPr>
              <a:lnSpc>
                <a:spcPct val="150000"/>
              </a:lnSpc>
            </a:pPr>
            <a:r>
              <a:rPr lang="en-US" sz="1400" dirty="0">
                <a:highlight>
                  <a:srgbClr val="FFFF00"/>
                </a:highlight>
                <a:latin typeface="Calibir"/>
              </a:rPr>
              <a:t>        int </a:t>
            </a:r>
            <a:r>
              <a:rPr lang="en-US" sz="1400" dirty="0" err="1">
                <a:highlight>
                  <a:srgbClr val="FFFF00"/>
                </a:highlight>
                <a:latin typeface="Calibir"/>
              </a:rPr>
              <a:t>i</a:t>
            </a:r>
            <a:r>
              <a:rPr lang="en-US" sz="1400" dirty="0">
                <a:highlight>
                  <a:srgbClr val="FFFF00"/>
                </a:highlight>
                <a:latin typeface="Calibir"/>
              </a:rPr>
              <a:t> = 0;</a:t>
            </a:r>
          </a:p>
          <a:p>
            <a:pPr>
              <a:lnSpc>
                <a:spcPct val="150000"/>
              </a:lnSpc>
            </a:pPr>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 &lt; spaces;</a:t>
            </a:r>
          </a:p>
          <a:p>
            <a:pPr>
              <a:lnSpc>
                <a:spcPct val="150000"/>
              </a:lnSpc>
            </a:pPr>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a:t>
            </a:r>
          </a:p>
          <a:p>
            <a:pPr>
              <a:lnSpc>
                <a:spcPct val="150000"/>
              </a:lnSpc>
            </a:pPr>
            <a:r>
              <a:rPr lang="en-US" sz="1400" dirty="0">
                <a:highlight>
                  <a:srgbClr val="FFFF00"/>
                </a:highlight>
                <a:latin typeface="Calibir"/>
              </a:rPr>
              <a:t>    ) {</a:t>
            </a:r>
          </a:p>
          <a:p>
            <a:pPr>
              <a:lnSpc>
                <a:spcPct val="150000"/>
              </a:lnSpc>
            </a:pPr>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 ");</a:t>
            </a:r>
          </a:p>
          <a:p>
            <a:pPr>
              <a:lnSpc>
                <a:spcPct val="150000"/>
              </a:lnSpc>
            </a:pPr>
            <a:r>
              <a:rPr lang="en-US" sz="1400" dirty="0">
                <a:highlight>
                  <a:srgbClr val="FFFF00"/>
                </a:highlight>
                <a:latin typeface="Calibir"/>
              </a:rPr>
              <a:t>    }</a:t>
            </a:r>
          </a:p>
          <a:p>
            <a:pPr>
              <a:lnSpc>
                <a:spcPct val="150000"/>
              </a:lnSpc>
            </a:pPr>
            <a:r>
              <a:rPr lang="en-US" sz="1400" dirty="0">
                <a:highlight>
                  <a:srgbClr val="FFFF00"/>
                </a:highlight>
                <a:latin typeface="Calibir"/>
              </a:rPr>
              <a:t>    for (</a:t>
            </a:r>
          </a:p>
          <a:p>
            <a:pPr>
              <a:lnSpc>
                <a:spcPct val="150000"/>
              </a:lnSpc>
            </a:pPr>
            <a:r>
              <a:rPr lang="en-US" sz="1400" dirty="0">
                <a:highlight>
                  <a:srgbClr val="FFFF00"/>
                </a:highlight>
                <a:latin typeface="Calibir"/>
              </a:rPr>
              <a:t>        int </a:t>
            </a:r>
            <a:r>
              <a:rPr lang="en-US" sz="1400" dirty="0" err="1">
                <a:highlight>
                  <a:srgbClr val="FFFF00"/>
                </a:highlight>
                <a:latin typeface="Calibir"/>
              </a:rPr>
              <a:t>i</a:t>
            </a:r>
            <a:r>
              <a:rPr lang="en-US" sz="1400" dirty="0">
                <a:highlight>
                  <a:srgbClr val="FFFF00"/>
                </a:highlight>
                <a:latin typeface="Calibir"/>
              </a:rPr>
              <a:t> = 0;</a:t>
            </a:r>
          </a:p>
          <a:p>
            <a:pPr>
              <a:lnSpc>
                <a:spcPct val="150000"/>
              </a:lnSpc>
            </a:pPr>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 &lt; stars;</a:t>
            </a:r>
          </a:p>
          <a:p>
            <a:pPr>
              <a:lnSpc>
                <a:spcPct val="150000"/>
              </a:lnSpc>
            </a:pPr>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a:t>
            </a:r>
          </a:p>
          <a:p>
            <a:pPr>
              <a:lnSpc>
                <a:spcPct val="150000"/>
              </a:lnSpc>
            </a:pPr>
            <a:r>
              <a:rPr lang="en-US" sz="1400" dirty="0">
                <a:highlight>
                  <a:srgbClr val="FFFF00"/>
                </a:highlight>
                <a:latin typeface="Calibir"/>
              </a:rPr>
              <a:t>    ) {</a:t>
            </a:r>
          </a:p>
          <a:p>
            <a:pPr>
              <a:lnSpc>
                <a:spcPct val="150000"/>
              </a:lnSpc>
            </a:pPr>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pPr>
              <a:lnSpc>
                <a:spcPct val="150000"/>
              </a:lnSpc>
            </a:pPr>
            <a:r>
              <a:rPr lang="en-US" sz="1400" dirty="0">
                <a:highlight>
                  <a:srgbClr val="FFFF00"/>
                </a:highlight>
                <a:latin typeface="Calibir"/>
              </a:rPr>
              <a:t>    }</a:t>
            </a:r>
          </a:p>
          <a:p>
            <a:pPr>
              <a:lnSpc>
                <a:spcPct val="150000"/>
              </a:lnSpc>
            </a:pPr>
            <a:r>
              <a:rPr lang="en-US" sz="1400" dirty="0">
                <a:highlight>
                  <a:srgbClr val="FFFF00"/>
                </a:highlight>
                <a:latin typeface="Calibir"/>
              </a:rPr>
              <a:t>    </a:t>
            </a:r>
            <a:r>
              <a:rPr lang="en-US" sz="1400" dirty="0" err="1">
                <a:highlight>
                  <a:srgbClr val="FFFF00"/>
                </a:highlight>
                <a:latin typeface="Calibir"/>
              </a:rPr>
              <a:t>System.out.println</a:t>
            </a:r>
            <a:r>
              <a:rPr lang="en-US" sz="1400" dirty="0">
                <a:highlight>
                  <a:srgbClr val="FFFF00"/>
                </a:highlight>
                <a:latin typeface="Calibir"/>
              </a:rPr>
              <a:t>();</a:t>
            </a:r>
          </a:p>
          <a:p>
            <a:pPr>
              <a:lnSpc>
                <a:spcPct val="150000"/>
              </a:lnSpc>
            </a:pPr>
            <a:r>
              <a:rPr lang="en-US" sz="1400" dirty="0">
                <a:highlight>
                  <a:srgbClr val="FFFF00"/>
                </a:highlight>
                <a:latin typeface="Calibir"/>
              </a:rPr>
              <a:t>}</a:t>
            </a:r>
          </a:p>
        </p:txBody>
      </p:sp>
    </p:spTree>
    <p:extLst>
      <p:ext uri="{BB962C8B-B14F-4D97-AF65-F5344CB8AC3E}">
        <p14:creationId xmlns:p14="http://schemas.microsoft.com/office/powerpoint/2010/main" val="241012525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313EB1E5-47DE-2AF1-6776-19839541167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AC5B170-BC11-494E-EAA5-8C5CC0F0B47D}"/>
              </a:ext>
            </a:extLst>
          </p:cNvPr>
          <p:cNvSpPr txBox="1"/>
          <p:nvPr/>
        </p:nvSpPr>
        <p:spPr>
          <a:xfrm>
            <a:off x="897194" y="12600"/>
            <a:ext cx="10397612" cy="4549835"/>
          </a:xfrm>
          <a:prstGeom prst="rect">
            <a:avLst/>
          </a:prstGeom>
          <a:noFill/>
        </p:spPr>
        <p:txBody>
          <a:bodyPr wrap="square">
            <a:spAutoFit/>
          </a:bodyPr>
          <a:lstStyle/>
          <a:p>
            <a:pPr>
              <a:lnSpc>
                <a:spcPct val="150000"/>
              </a:lnSpc>
            </a:pPr>
            <a:r>
              <a:rPr lang="en-US" sz="2800" b="1" dirty="0">
                <a:latin typeface="Calibir"/>
              </a:rPr>
              <a:t>Step 2 — Create the diamond method</a:t>
            </a:r>
          </a:p>
          <a:p>
            <a:pPr>
              <a:lnSpc>
                <a:spcPct val="150000"/>
              </a:lnSpc>
            </a:pPr>
            <a:r>
              <a:rPr lang="en-US" sz="2800" dirty="0">
                <a:highlight>
                  <a:srgbClr val="FFFF00"/>
                </a:highlight>
                <a:latin typeface="Calibir"/>
              </a:rPr>
              <a:t>public static void </a:t>
            </a:r>
            <a:r>
              <a:rPr lang="en-US" sz="2800" dirty="0" err="1">
                <a:highlight>
                  <a:srgbClr val="FFFF00"/>
                </a:highlight>
                <a:latin typeface="Calibir"/>
              </a:rPr>
              <a:t>showDiamond</a:t>
            </a:r>
            <a:r>
              <a:rPr lang="en-US" sz="2800" dirty="0">
                <a:highlight>
                  <a:srgbClr val="FFFF00"/>
                </a:highlight>
                <a:latin typeface="Calibir"/>
              </a:rPr>
              <a:t>(</a:t>
            </a:r>
          </a:p>
          <a:p>
            <a:pPr>
              <a:lnSpc>
                <a:spcPct val="150000"/>
              </a:lnSpc>
            </a:pPr>
            <a:r>
              <a:rPr lang="en-US" sz="2800" dirty="0">
                <a:highlight>
                  <a:srgbClr val="FFFF00"/>
                </a:highlight>
                <a:latin typeface="Calibir"/>
              </a:rPr>
              <a:t>        int size) {</a:t>
            </a:r>
          </a:p>
          <a:p>
            <a:pPr>
              <a:lnSpc>
                <a:spcPct val="150000"/>
              </a:lnSpc>
            </a:pPr>
            <a:endParaRPr lang="en-US" sz="2800" dirty="0">
              <a:highlight>
                <a:srgbClr val="FFFF00"/>
              </a:highlight>
              <a:latin typeface="Calibir"/>
            </a:endParaRPr>
          </a:p>
          <a:p>
            <a:pPr>
              <a:lnSpc>
                <a:spcPct val="150000"/>
              </a:lnSpc>
            </a:pPr>
            <a:r>
              <a:rPr lang="en-US" sz="2800" dirty="0">
                <a:highlight>
                  <a:srgbClr val="FFFF00"/>
                </a:highlight>
                <a:latin typeface="Calibir"/>
              </a:rPr>
              <a:t>    int middle =</a:t>
            </a:r>
          </a:p>
          <a:p>
            <a:pPr>
              <a:lnSpc>
                <a:spcPct val="150000"/>
              </a:lnSpc>
            </a:pPr>
            <a:r>
              <a:rPr lang="en-US" sz="2800" dirty="0">
                <a:highlight>
                  <a:srgbClr val="FFFF00"/>
                </a:highlight>
                <a:latin typeface="Calibir"/>
              </a:rPr>
              <a:t>            size / 2;</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97847087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95EA1C0-049E-B5AC-CBA1-357A91DE72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24F94DB-E50A-634D-44E5-C4914FA22D0D}"/>
              </a:ext>
            </a:extLst>
          </p:cNvPr>
          <p:cNvSpPr txBox="1"/>
          <p:nvPr/>
        </p:nvSpPr>
        <p:spPr>
          <a:xfrm>
            <a:off x="897194" y="12600"/>
            <a:ext cx="10397612" cy="6512680"/>
          </a:xfrm>
          <a:prstGeom prst="rect">
            <a:avLst/>
          </a:prstGeom>
          <a:noFill/>
        </p:spPr>
        <p:txBody>
          <a:bodyPr wrap="square">
            <a:spAutoFit/>
          </a:bodyPr>
          <a:lstStyle/>
          <a:p>
            <a:pPr>
              <a:lnSpc>
                <a:spcPct val="150000"/>
              </a:lnSpc>
            </a:pPr>
            <a:r>
              <a:rPr lang="en-US" sz="2800" b="1" dirty="0">
                <a:latin typeface="Calibir"/>
              </a:rPr>
              <a:t>Step 3 — Build the upper half</a:t>
            </a:r>
          </a:p>
          <a:p>
            <a:pPr>
              <a:lnSpc>
                <a:spcPct val="150000"/>
              </a:lnSpc>
            </a:pPr>
            <a:r>
              <a:rPr lang="en-US" dirty="0">
                <a:highlight>
                  <a:srgbClr val="FFFF00"/>
                </a:highlight>
                <a:latin typeface="Calibir"/>
              </a:rPr>
              <a:t>for (</a:t>
            </a:r>
          </a:p>
          <a:p>
            <a:pPr>
              <a:lnSpc>
                <a:spcPct val="150000"/>
              </a:lnSpc>
            </a:pPr>
            <a:r>
              <a:rPr lang="en-US" dirty="0">
                <a:highlight>
                  <a:srgbClr val="FFFF00"/>
                </a:highlight>
                <a:latin typeface="Calibir"/>
              </a:rPr>
              <a:t>    int row = 0;</a:t>
            </a:r>
          </a:p>
          <a:p>
            <a:pPr>
              <a:lnSpc>
                <a:spcPct val="150000"/>
              </a:lnSpc>
            </a:pPr>
            <a:r>
              <a:rPr lang="en-US" dirty="0">
                <a:highlight>
                  <a:srgbClr val="FFFF00"/>
                </a:highlight>
                <a:latin typeface="Calibir"/>
              </a:rPr>
              <a:t>    row &lt;= middle;</a:t>
            </a:r>
          </a:p>
          <a:p>
            <a:pPr>
              <a:lnSpc>
                <a:spcPct val="150000"/>
              </a:lnSpc>
            </a:pPr>
            <a:r>
              <a:rPr lang="en-US" dirty="0">
                <a:highlight>
                  <a:srgbClr val="FFFF00"/>
                </a:highlight>
                <a:latin typeface="Calibir"/>
              </a:rPr>
              <a:t>    row++</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    int spaces =</a:t>
            </a:r>
          </a:p>
          <a:p>
            <a:pPr>
              <a:lnSpc>
                <a:spcPct val="150000"/>
              </a:lnSpc>
            </a:pPr>
            <a:r>
              <a:rPr lang="en-US" dirty="0">
                <a:highlight>
                  <a:srgbClr val="FFFF00"/>
                </a:highlight>
                <a:latin typeface="Calibir"/>
              </a:rPr>
              <a:t>            middle - row;</a:t>
            </a:r>
          </a:p>
          <a:p>
            <a:pPr>
              <a:lnSpc>
                <a:spcPct val="150000"/>
              </a:lnSpc>
            </a:pPr>
            <a:r>
              <a:rPr lang="en-US" dirty="0">
                <a:highlight>
                  <a:srgbClr val="FFFF00"/>
                </a:highlight>
                <a:latin typeface="Calibir"/>
              </a:rPr>
              <a:t>    int stars =</a:t>
            </a:r>
          </a:p>
          <a:p>
            <a:pPr>
              <a:lnSpc>
                <a:spcPct val="150000"/>
              </a:lnSpc>
            </a:pPr>
            <a:r>
              <a:rPr lang="en-US" dirty="0">
                <a:highlight>
                  <a:srgbClr val="FFFF00"/>
                </a:highlight>
                <a:latin typeface="Calibir"/>
              </a:rPr>
              <a:t>            2 * row + 1;</a:t>
            </a:r>
          </a:p>
          <a:p>
            <a:pPr>
              <a:lnSpc>
                <a:spcPct val="150000"/>
              </a:lnSpc>
            </a:pPr>
            <a:r>
              <a:rPr lang="en-US" dirty="0">
                <a:highlight>
                  <a:srgbClr val="FFFF00"/>
                </a:highlight>
                <a:latin typeface="Calibir"/>
              </a:rPr>
              <a:t>    </a:t>
            </a:r>
            <a:r>
              <a:rPr lang="en-US" dirty="0" err="1">
                <a:highlight>
                  <a:srgbClr val="FFFF00"/>
                </a:highlight>
                <a:latin typeface="Calibir"/>
              </a:rPr>
              <a:t>printRow</a:t>
            </a:r>
            <a:r>
              <a:rPr lang="en-US" dirty="0">
                <a:highlight>
                  <a:srgbClr val="FFFF00"/>
                </a:highlight>
                <a:latin typeface="Calibir"/>
              </a:rPr>
              <a:t>(</a:t>
            </a:r>
          </a:p>
          <a:p>
            <a:pPr>
              <a:lnSpc>
                <a:spcPct val="150000"/>
              </a:lnSpc>
            </a:pPr>
            <a:r>
              <a:rPr lang="en-US" dirty="0">
                <a:highlight>
                  <a:srgbClr val="FFFF00"/>
                </a:highlight>
                <a:latin typeface="Calibir"/>
              </a:rPr>
              <a:t>        spaces,</a:t>
            </a:r>
          </a:p>
          <a:p>
            <a:pPr>
              <a:lnSpc>
                <a:spcPct val="150000"/>
              </a:lnSpc>
            </a:pPr>
            <a:r>
              <a:rPr lang="en-US" dirty="0">
                <a:highlight>
                  <a:srgbClr val="FFFF00"/>
                </a:highlight>
                <a:latin typeface="Calibir"/>
              </a:rPr>
              <a:t>        stars</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a:t>
            </a:r>
          </a:p>
        </p:txBody>
      </p:sp>
    </p:spTree>
    <p:extLst>
      <p:ext uri="{BB962C8B-B14F-4D97-AF65-F5344CB8AC3E}">
        <p14:creationId xmlns:p14="http://schemas.microsoft.com/office/powerpoint/2010/main" val="413429946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D06D762-16C8-BF5B-C49A-18764D70EAE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6E0DA0-9D74-DF89-AF7B-742DD2477198}"/>
              </a:ext>
            </a:extLst>
          </p:cNvPr>
          <p:cNvSpPr txBox="1"/>
          <p:nvPr/>
        </p:nvSpPr>
        <p:spPr>
          <a:xfrm>
            <a:off x="897194" y="12600"/>
            <a:ext cx="10397612" cy="6281848"/>
          </a:xfrm>
          <a:prstGeom prst="rect">
            <a:avLst/>
          </a:prstGeom>
          <a:noFill/>
        </p:spPr>
        <p:txBody>
          <a:bodyPr wrap="square">
            <a:spAutoFit/>
          </a:bodyPr>
          <a:lstStyle/>
          <a:p>
            <a:pPr>
              <a:lnSpc>
                <a:spcPct val="150000"/>
              </a:lnSpc>
            </a:pPr>
            <a:r>
              <a:rPr lang="en-US" b="1" dirty="0">
                <a:latin typeface="Calibir"/>
              </a:rPr>
              <a:t>Step 4 — Build the lower half</a:t>
            </a:r>
          </a:p>
          <a:p>
            <a:pPr>
              <a:lnSpc>
                <a:spcPct val="150000"/>
              </a:lnSpc>
            </a:pPr>
            <a:r>
              <a:rPr lang="en-US" dirty="0">
                <a:highlight>
                  <a:srgbClr val="FFFF00"/>
                </a:highlight>
                <a:latin typeface="Calibir"/>
              </a:rPr>
              <a:t>for (</a:t>
            </a:r>
          </a:p>
          <a:p>
            <a:pPr>
              <a:lnSpc>
                <a:spcPct val="150000"/>
              </a:lnSpc>
            </a:pPr>
            <a:r>
              <a:rPr lang="en-US" dirty="0">
                <a:highlight>
                  <a:srgbClr val="FFFF00"/>
                </a:highlight>
                <a:latin typeface="Calibir"/>
              </a:rPr>
              <a:t>    int row = middle - 1;</a:t>
            </a:r>
          </a:p>
          <a:p>
            <a:pPr>
              <a:lnSpc>
                <a:spcPct val="150000"/>
              </a:lnSpc>
            </a:pPr>
            <a:r>
              <a:rPr lang="en-US" dirty="0">
                <a:highlight>
                  <a:srgbClr val="FFFF00"/>
                </a:highlight>
                <a:latin typeface="Calibir"/>
              </a:rPr>
              <a:t>    row &gt;= 0;</a:t>
            </a:r>
          </a:p>
          <a:p>
            <a:pPr>
              <a:lnSpc>
                <a:spcPct val="150000"/>
              </a:lnSpc>
            </a:pPr>
            <a:r>
              <a:rPr lang="en-US" dirty="0">
                <a:highlight>
                  <a:srgbClr val="FFFF00"/>
                </a:highlight>
                <a:latin typeface="Calibir"/>
              </a:rPr>
              <a:t>    row--</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    int spaces =</a:t>
            </a:r>
          </a:p>
          <a:p>
            <a:pPr>
              <a:lnSpc>
                <a:spcPct val="150000"/>
              </a:lnSpc>
            </a:pPr>
            <a:r>
              <a:rPr lang="en-US" dirty="0">
                <a:highlight>
                  <a:srgbClr val="FFFF00"/>
                </a:highlight>
                <a:latin typeface="Calibir"/>
              </a:rPr>
              <a:t>            middle - row;</a:t>
            </a:r>
          </a:p>
          <a:p>
            <a:pPr>
              <a:lnSpc>
                <a:spcPct val="150000"/>
              </a:lnSpc>
            </a:pPr>
            <a:r>
              <a:rPr lang="en-US" dirty="0">
                <a:highlight>
                  <a:srgbClr val="FFFF00"/>
                </a:highlight>
                <a:latin typeface="Calibir"/>
              </a:rPr>
              <a:t>    int stars =</a:t>
            </a:r>
          </a:p>
          <a:p>
            <a:pPr>
              <a:lnSpc>
                <a:spcPct val="150000"/>
              </a:lnSpc>
            </a:pPr>
            <a:r>
              <a:rPr lang="en-US" dirty="0">
                <a:highlight>
                  <a:srgbClr val="FFFF00"/>
                </a:highlight>
                <a:latin typeface="Calibir"/>
              </a:rPr>
              <a:t>            2 * row + 1;</a:t>
            </a:r>
          </a:p>
          <a:p>
            <a:pPr>
              <a:lnSpc>
                <a:spcPct val="150000"/>
              </a:lnSpc>
            </a:pPr>
            <a:r>
              <a:rPr lang="en-US" dirty="0">
                <a:highlight>
                  <a:srgbClr val="FFFF00"/>
                </a:highlight>
                <a:latin typeface="Calibir"/>
              </a:rPr>
              <a:t>    </a:t>
            </a:r>
            <a:r>
              <a:rPr lang="en-US" dirty="0" err="1">
                <a:highlight>
                  <a:srgbClr val="FFFF00"/>
                </a:highlight>
                <a:latin typeface="Calibir"/>
              </a:rPr>
              <a:t>printRow</a:t>
            </a:r>
            <a:r>
              <a:rPr lang="en-US" dirty="0">
                <a:highlight>
                  <a:srgbClr val="FFFF00"/>
                </a:highlight>
                <a:latin typeface="Calibir"/>
              </a:rPr>
              <a:t>(</a:t>
            </a:r>
          </a:p>
          <a:p>
            <a:pPr>
              <a:lnSpc>
                <a:spcPct val="150000"/>
              </a:lnSpc>
            </a:pPr>
            <a:r>
              <a:rPr lang="en-US" dirty="0">
                <a:highlight>
                  <a:srgbClr val="FFFF00"/>
                </a:highlight>
                <a:latin typeface="Calibir"/>
              </a:rPr>
              <a:t>        spaces,</a:t>
            </a:r>
          </a:p>
          <a:p>
            <a:pPr>
              <a:lnSpc>
                <a:spcPct val="150000"/>
              </a:lnSpc>
            </a:pPr>
            <a:r>
              <a:rPr lang="en-US" dirty="0">
                <a:highlight>
                  <a:srgbClr val="FFFF00"/>
                </a:highlight>
                <a:latin typeface="Calibir"/>
              </a:rPr>
              <a:t>        stars</a:t>
            </a:r>
          </a:p>
          <a:p>
            <a:pPr>
              <a:lnSpc>
                <a:spcPct val="150000"/>
              </a:lnSpc>
            </a:pPr>
            <a:r>
              <a:rPr lang="en-US" dirty="0">
                <a:highlight>
                  <a:srgbClr val="FFFF00"/>
                </a:highlight>
                <a:latin typeface="Calibir"/>
              </a:rPr>
              <a:t>    );</a:t>
            </a:r>
          </a:p>
          <a:p>
            <a:pPr>
              <a:lnSpc>
                <a:spcPct val="150000"/>
              </a:lnSpc>
            </a:pPr>
            <a:r>
              <a:rPr lang="en-US" dirty="0">
                <a:highlight>
                  <a:srgbClr val="FFFF00"/>
                </a:highlight>
                <a:latin typeface="Calibir"/>
              </a:rPr>
              <a:t>}</a:t>
            </a:r>
          </a:p>
        </p:txBody>
      </p:sp>
    </p:spTree>
    <p:extLst>
      <p:ext uri="{BB962C8B-B14F-4D97-AF65-F5344CB8AC3E}">
        <p14:creationId xmlns:p14="http://schemas.microsoft.com/office/powerpoint/2010/main" val="285289639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785B61A9-B814-B456-837E-AD8101F6074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0C69190-E683-D5D8-F165-032ACF8D0F01}"/>
              </a:ext>
            </a:extLst>
          </p:cNvPr>
          <p:cNvSpPr txBox="1"/>
          <p:nvPr/>
        </p:nvSpPr>
        <p:spPr>
          <a:xfrm>
            <a:off x="897194" y="12600"/>
            <a:ext cx="10397612" cy="5842497"/>
          </a:xfrm>
          <a:prstGeom prst="rect">
            <a:avLst/>
          </a:prstGeom>
          <a:noFill/>
        </p:spPr>
        <p:txBody>
          <a:bodyPr wrap="square">
            <a:spAutoFit/>
          </a:bodyPr>
          <a:lstStyle/>
          <a:p>
            <a:pPr>
              <a:lnSpc>
                <a:spcPct val="150000"/>
              </a:lnSpc>
            </a:pPr>
            <a:r>
              <a:rPr lang="en-US" sz="2800" b="1" dirty="0">
                <a:latin typeface="Calibir"/>
              </a:rPr>
              <a:t>Step 5 — Repeat until -1</a:t>
            </a:r>
          </a:p>
          <a:p>
            <a:pPr>
              <a:lnSpc>
                <a:spcPct val="150000"/>
              </a:lnSpc>
            </a:pPr>
            <a:r>
              <a:rPr lang="en-US" sz="2800" dirty="0">
                <a:highlight>
                  <a:srgbClr val="FFFF00"/>
                </a:highlight>
                <a:latin typeface="Calibir"/>
              </a:rPr>
              <a:t>while (true) {</a:t>
            </a:r>
          </a:p>
          <a:p>
            <a:pPr>
              <a:lnSpc>
                <a:spcPct val="150000"/>
              </a:lnSpc>
            </a:pPr>
            <a:r>
              <a:rPr lang="en-US" sz="2800" dirty="0">
                <a:highlight>
                  <a:srgbClr val="FFFF00"/>
                </a:highlight>
                <a:latin typeface="Calibir"/>
              </a:rPr>
              <a:t>    int size =</a:t>
            </a:r>
          </a:p>
          <a:p>
            <a:pPr>
              <a:lnSpc>
                <a:spcPct val="150000"/>
              </a:lnSpc>
            </a:pPr>
            <a:r>
              <a:rPr lang="en-US" sz="2800" dirty="0">
                <a:highlight>
                  <a:srgbClr val="FFFF00"/>
                </a:highlight>
                <a:latin typeface="Calibir"/>
              </a:rPr>
              <a:t>            </a:t>
            </a:r>
            <a:r>
              <a:rPr lang="en-US" sz="2800" dirty="0" err="1">
                <a:highlight>
                  <a:srgbClr val="FFFF00"/>
                </a:highlight>
                <a:latin typeface="Calibir"/>
              </a:rPr>
              <a:t>input.nextInt</a:t>
            </a:r>
            <a:r>
              <a:rPr lang="en-US" sz="2800" dirty="0">
                <a:highlight>
                  <a:srgbClr val="FFFF00"/>
                </a:highlight>
                <a:latin typeface="Calibir"/>
              </a:rPr>
              <a:t>();</a:t>
            </a:r>
          </a:p>
          <a:p>
            <a:pPr>
              <a:lnSpc>
                <a:spcPct val="150000"/>
              </a:lnSpc>
            </a:pPr>
            <a:r>
              <a:rPr lang="en-US" sz="2800" dirty="0">
                <a:highlight>
                  <a:srgbClr val="FFFF00"/>
                </a:highlight>
                <a:latin typeface="Calibir"/>
              </a:rPr>
              <a:t>    if (size == -1) {</a:t>
            </a:r>
          </a:p>
          <a:p>
            <a:pPr>
              <a:lnSpc>
                <a:spcPct val="150000"/>
              </a:lnSpc>
            </a:pPr>
            <a:r>
              <a:rPr lang="en-US" sz="2800" dirty="0">
                <a:highlight>
                  <a:srgbClr val="FFFF00"/>
                </a:highlight>
                <a:latin typeface="Calibir"/>
              </a:rPr>
              <a:t>        break;</a:t>
            </a:r>
          </a:p>
          <a:p>
            <a:pPr>
              <a:lnSpc>
                <a:spcPct val="150000"/>
              </a:lnSpc>
            </a:pPr>
            <a:r>
              <a:rPr lang="en-US" sz="2800" dirty="0">
                <a:highlight>
                  <a:srgbClr val="FFFF00"/>
                </a:highlight>
                <a:latin typeface="Calibir"/>
              </a:rPr>
              <a:t>    }</a:t>
            </a:r>
          </a:p>
          <a:p>
            <a:pPr>
              <a:lnSpc>
                <a:spcPct val="150000"/>
              </a:lnSpc>
            </a:pPr>
            <a:r>
              <a:rPr lang="en-US" sz="2800" dirty="0">
                <a:highlight>
                  <a:srgbClr val="FFFF00"/>
                </a:highlight>
                <a:latin typeface="Calibir"/>
              </a:rPr>
              <a:t>    </a:t>
            </a:r>
            <a:r>
              <a:rPr lang="en-US" sz="2800" dirty="0" err="1">
                <a:highlight>
                  <a:srgbClr val="FFFF00"/>
                </a:highlight>
                <a:latin typeface="Calibir"/>
              </a:rPr>
              <a:t>showDiamond</a:t>
            </a:r>
            <a:r>
              <a:rPr lang="en-US" sz="2800" dirty="0">
                <a:highlight>
                  <a:srgbClr val="FFFF00"/>
                </a:highlight>
                <a:latin typeface="Calibir"/>
              </a:rPr>
              <a:t>(size);</a:t>
            </a:r>
          </a:p>
          <a:p>
            <a:pPr>
              <a:lnSpc>
                <a:spcPct val="150000"/>
              </a:lnSpc>
            </a:pPr>
            <a:r>
              <a:rPr lang="en-US" sz="2800" dirty="0">
                <a:highlight>
                  <a:srgbClr val="FFFF00"/>
                </a:highlight>
                <a:latin typeface="Calibir"/>
              </a:rPr>
              <a:t>}</a:t>
            </a:r>
          </a:p>
        </p:txBody>
      </p:sp>
    </p:spTree>
    <p:extLst>
      <p:ext uri="{BB962C8B-B14F-4D97-AF65-F5344CB8AC3E}">
        <p14:creationId xmlns:p14="http://schemas.microsoft.com/office/powerpoint/2010/main" val="30060946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045D8A5-DB1B-0744-6EC9-A8C17F07B94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3E13E0-8FA4-3C9E-2448-5DFAACCF2E27}"/>
              </a:ext>
            </a:extLst>
          </p:cNvPr>
          <p:cNvSpPr txBox="1"/>
          <p:nvPr/>
        </p:nvSpPr>
        <p:spPr>
          <a:xfrm>
            <a:off x="897194" y="12600"/>
            <a:ext cx="10397612" cy="6555641"/>
          </a:xfrm>
          <a:prstGeom prst="rect">
            <a:avLst/>
          </a:prstGeom>
          <a:noFill/>
        </p:spPr>
        <p:txBody>
          <a:bodyPr wrap="square">
            <a:spAutoFit/>
          </a:bodyPr>
          <a:lstStyle/>
          <a:p>
            <a:r>
              <a:rPr lang="en-US" sz="1400" b="1" dirty="0">
                <a:latin typeface="Calibir"/>
              </a:rPr>
              <a:t>Completed Java — Lab5Ex5.java</a:t>
            </a:r>
          </a:p>
          <a:p>
            <a:r>
              <a:rPr lang="en-US" sz="1400" dirty="0">
                <a:highlight>
                  <a:srgbClr val="FFFF00"/>
                </a:highlight>
                <a:latin typeface="Calibir"/>
              </a:rPr>
              <a:t>import </a:t>
            </a:r>
            <a:r>
              <a:rPr lang="en-US" sz="1400" dirty="0" err="1">
                <a:highlight>
                  <a:srgbClr val="FFFF00"/>
                </a:highlight>
                <a:latin typeface="Calibir"/>
              </a:rPr>
              <a:t>java.util.Scanner</a:t>
            </a:r>
            <a:r>
              <a:rPr lang="en-US" sz="1400" dirty="0">
                <a:highlight>
                  <a:srgbClr val="FFFF00"/>
                </a:highlight>
                <a:latin typeface="Calibir"/>
              </a:rPr>
              <a:t>;</a:t>
            </a:r>
          </a:p>
          <a:p>
            <a:endParaRPr lang="en-US" sz="1400" dirty="0">
              <a:highlight>
                <a:srgbClr val="FFFF00"/>
              </a:highlight>
              <a:latin typeface="Calibir"/>
            </a:endParaRPr>
          </a:p>
          <a:p>
            <a:r>
              <a:rPr lang="en-US" sz="1400" dirty="0">
                <a:highlight>
                  <a:srgbClr val="FFFF00"/>
                </a:highlight>
                <a:latin typeface="Calibir"/>
              </a:rPr>
              <a:t>public class Lab5Ex5 {</a:t>
            </a:r>
          </a:p>
          <a:p>
            <a:endParaRPr lang="en-US" sz="1400" dirty="0">
              <a:highlight>
                <a:srgbClr val="FFFF00"/>
              </a:highlight>
              <a:latin typeface="Calibir"/>
            </a:endParaRPr>
          </a:p>
          <a:p>
            <a:r>
              <a:rPr lang="en-US" sz="1400" dirty="0">
                <a:highlight>
                  <a:srgbClr val="FFFF00"/>
                </a:highlight>
                <a:latin typeface="Calibir"/>
              </a:rPr>
              <a:t>    public static void </a:t>
            </a:r>
            <a:r>
              <a:rPr lang="en-US" sz="1400" dirty="0" err="1">
                <a:highlight>
                  <a:srgbClr val="FFFF00"/>
                </a:highlight>
                <a:latin typeface="Calibir"/>
              </a:rPr>
              <a:t>printRow</a:t>
            </a:r>
            <a:r>
              <a:rPr lang="en-US" sz="1400" dirty="0">
                <a:highlight>
                  <a:srgbClr val="FFFF00"/>
                </a:highlight>
                <a:latin typeface="Calibir"/>
              </a:rPr>
              <a:t>(</a:t>
            </a:r>
          </a:p>
          <a:p>
            <a:r>
              <a:rPr lang="en-US" sz="1400" dirty="0">
                <a:highlight>
                  <a:srgbClr val="FFFF00"/>
                </a:highlight>
                <a:latin typeface="Calibir"/>
              </a:rPr>
              <a:t>            int spaces,</a:t>
            </a:r>
          </a:p>
          <a:p>
            <a:r>
              <a:rPr lang="en-US" sz="1400" dirty="0">
                <a:highlight>
                  <a:srgbClr val="FFFF00"/>
                </a:highlight>
                <a:latin typeface="Calibir"/>
              </a:rPr>
              <a:t>            int stars) {</a:t>
            </a:r>
          </a:p>
          <a:p>
            <a:endParaRPr lang="en-US" sz="1400" dirty="0">
              <a:highlight>
                <a:srgbClr val="FFFF00"/>
              </a:highlight>
              <a:latin typeface="Calibir"/>
            </a:endParaRPr>
          </a:p>
          <a:p>
            <a:r>
              <a:rPr lang="en-US" sz="1400" dirty="0">
                <a:highlight>
                  <a:srgbClr val="FFFF00"/>
                </a:highlight>
                <a:latin typeface="Calibir"/>
              </a:rPr>
              <a:t>        for (</a:t>
            </a:r>
          </a:p>
          <a:p>
            <a:r>
              <a:rPr lang="en-US" sz="1400" dirty="0">
                <a:highlight>
                  <a:srgbClr val="FFFF00"/>
                </a:highlight>
                <a:latin typeface="Calibir"/>
              </a:rPr>
              <a:t>            int </a:t>
            </a:r>
            <a:r>
              <a:rPr lang="en-US" sz="1400" dirty="0" err="1">
                <a:highlight>
                  <a:srgbClr val="FFFF00"/>
                </a:highlight>
                <a:latin typeface="Calibir"/>
              </a:rPr>
              <a:t>i</a:t>
            </a:r>
            <a:r>
              <a:rPr lang="en-US" sz="1400" dirty="0">
                <a:highlight>
                  <a:srgbClr val="FFFF00"/>
                </a:highlight>
                <a:latin typeface="Calibir"/>
              </a:rPr>
              <a:t> = 0;</a:t>
            </a:r>
          </a:p>
          <a:p>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 &lt; spaces;</a:t>
            </a:r>
          </a:p>
          <a:p>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a:t>
            </a:r>
          </a:p>
          <a:p>
            <a:r>
              <a:rPr lang="en-US" sz="1400" dirty="0">
                <a:highlight>
                  <a:srgbClr val="FFFF00"/>
                </a:highlight>
                <a:latin typeface="Calibir"/>
              </a:rPr>
              <a:t>        )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 ");</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for (</a:t>
            </a:r>
          </a:p>
          <a:p>
            <a:r>
              <a:rPr lang="en-US" sz="1400" dirty="0">
                <a:highlight>
                  <a:srgbClr val="FFFF00"/>
                </a:highlight>
                <a:latin typeface="Calibir"/>
              </a:rPr>
              <a:t>            int </a:t>
            </a:r>
            <a:r>
              <a:rPr lang="en-US" sz="1400" dirty="0" err="1">
                <a:highlight>
                  <a:srgbClr val="FFFF00"/>
                </a:highlight>
                <a:latin typeface="Calibir"/>
              </a:rPr>
              <a:t>i</a:t>
            </a:r>
            <a:r>
              <a:rPr lang="en-US" sz="1400" dirty="0">
                <a:highlight>
                  <a:srgbClr val="FFFF00"/>
                </a:highlight>
                <a:latin typeface="Calibir"/>
              </a:rPr>
              <a:t> = 0;</a:t>
            </a:r>
          </a:p>
          <a:p>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 &lt; stars;</a:t>
            </a:r>
          </a:p>
          <a:p>
            <a:r>
              <a:rPr lang="en-US" sz="1400" dirty="0">
                <a:highlight>
                  <a:srgbClr val="FFFF00"/>
                </a:highlight>
                <a:latin typeface="Calibir"/>
              </a:rPr>
              <a:t>            </a:t>
            </a:r>
            <a:r>
              <a:rPr lang="en-US" sz="1400" dirty="0" err="1">
                <a:highlight>
                  <a:srgbClr val="FFFF00"/>
                </a:highlight>
                <a:latin typeface="Calibir"/>
              </a:rPr>
              <a:t>i</a:t>
            </a:r>
            <a:r>
              <a:rPr lang="en-US" sz="1400" dirty="0">
                <a:highlight>
                  <a:srgbClr val="FFFF00"/>
                </a:highlight>
                <a:latin typeface="Calibir"/>
              </a:rPr>
              <a:t>++</a:t>
            </a:r>
          </a:p>
          <a:p>
            <a:r>
              <a:rPr lang="en-US" sz="1400" dirty="0">
                <a:highlight>
                  <a:srgbClr val="FFFF00"/>
                </a:highlight>
                <a:latin typeface="Calibir"/>
              </a:rPr>
              <a:t>        )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System.out.println</a:t>
            </a:r>
            <a:r>
              <a:rPr lang="en-US" sz="1400" dirty="0">
                <a:highlight>
                  <a:srgbClr val="FFFF00"/>
                </a:highlight>
                <a:latin typeface="Calibir"/>
              </a:rPr>
              <a:t>();</a:t>
            </a:r>
          </a:p>
          <a:p>
            <a:r>
              <a:rPr lang="en-US" sz="1400" dirty="0">
                <a:highlight>
                  <a:srgbClr val="FFFF00"/>
                </a:highlight>
                <a:latin typeface="Calibir"/>
              </a:rPr>
              <a:t>    }</a:t>
            </a:r>
          </a:p>
          <a:p>
            <a:endParaRPr lang="en-US" sz="1400" dirty="0">
              <a:highlight>
                <a:srgbClr val="FFFF00"/>
              </a:highlight>
              <a:latin typeface="Calibir"/>
            </a:endParaRPr>
          </a:p>
        </p:txBody>
      </p:sp>
    </p:spTree>
    <p:extLst>
      <p:ext uri="{BB962C8B-B14F-4D97-AF65-F5344CB8AC3E}">
        <p14:creationId xmlns:p14="http://schemas.microsoft.com/office/powerpoint/2010/main" val="290780711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CAB757AC-F6F8-7CEC-A3FB-5FFA75DABFA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1D0D21-F094-F2C3-8C40-C2233012CDAF}"/>
              </a:ext>
            </a:extLst>
          </p:cNvPr>
          <p:cNvSpPr txBox="1"/>
          <p:nvPr/>
        </p:nvSpPr>
        <p:spPr>
          <a:xfrm>
            <a:off x="897194" y="12600"/>
            <a:ext cx="10397612" cy="6771084"/>
          </a:xfrm>
          <a:prstGeom prst="rect">
            <a:avLst/>
          </a:prstGeom>
          <a:noFill/>
        </p:spPr>
        <p:txBody>
          <a:bodyPr wrap="square">
            <a:spAutoFit/>
          </a:bodyPr>
          <a:lstStyle/>
          <a:p>
            <a:r>
              <a:rPr lang="en-US" sz="1400" dirty="0">
                <a:highlight>
                  <a:srgbClr val="FFFF00"/>
                </a:highlight>
                <a:latin typeface="Calibir"/>
              </a:rPr>
              <a:t> public static void </a:t>
            </a:r>
            <a:r>
              <a:rPr lang="en-US" sz="1400" dirty="0" err="1">
                <a:highlight>
                  <a:srgbClr val="FFFF00"/>
                </a:highlight>
                <a:latin typeface="Calibir"/>
              </a:rPr>
              <a:t>showDiamond</a:t>
            </a:r>
            <a:r>
              <a:rPr lang="en-US" sz="1400" dirty="0">
                <a:highlight>
                  <a:srgbClr val="FFFF00"/>
                </a:highlight>
                <a:latin typeface="Calibir"/>
              </a:rPr>
              <a:t>(</a:t>
            </a:r>
          </a:p>
          <a:p>
            <a:r>
              <a:rPr lang="en-US" sz="1400" dirty="0">
                <a:highlight>
                  <a:srgbClr val="FFFF00"/>
                </a:highlight>
                <a:latin typeface="Calibir"/>
              </a:rPr>
              <a:t>            int size) {</a:t>
            </a:r>
          </a:p>
          <a:p>
            <a:endParaRPr lang="en-US" sz="1400" dirty="0">
              <a:highlight>
                <a:srgbClr val="FFFF00"/>
              </a:highlight>
              <a:latin typeface="Calibir"/>
            </a:endParaRPr>
          </a:p>
          <a:p>
            <a:r>
              <a:rPr lang="en-US" sz="1400" dirty="0">
                <a:highlight>
                  <a:srgbClr val="FFFF00"/>
                </a:highlight>
                <a:latin typeface="Calibir"/>
              </a:rPr>
              <a:t>        int middle =</a:t>
            </a:r>
          </a:p>
          <a:p>
            <a:r>
              <a:rPr lang="en-US" sz="1400" dirty="0">
                <a:highlight>
                  <a:srgbClr val="FFFF00"/>
                </a:highlight>
                <a:latin typeface="Calibir"/>
              </a:rPr>
              <a:t>                size / 2;</a:t>
            </a:r>
          </a:p>
          <a:p>
            <a:endParaRPr lang="en-US" sz="1400" dirty="0">
              <a:highlight>
                <a:srgbClr val="FFFF00"/>
              </a:highlight>
              <a:latin typeface="Calibir"/>
            </a:endParaRPr>
          </a:p>
          <a:p>
            <a:r>
              <a:rPr lang="en-US" sz="1400" dirty="0">
                <a:highlight>
                  <a:srgbClr val="FFFF00"/>
                </a:highlight>
                <a:latin typeface="Calibir"/>
              </a:rPr>
              <a:t>        // Upper half including middle</a:t>
            </a:r>
          </a:p>
          <a:p>
            <a:r>
              <a:rPr lang="en-US" sz="1400" dirty="0">
                <a:highlight>
                  <a:srgbClr val="FFFF00"/>
                </a:highlight>
                <a:latin typeface="Calibir"/>
              </a:rPr>
              <a:t>        for (</a:t>
            </a:r>
          </a:p>
          <a:p>
            <a:r>
              <a:rPr lang="en-US" sz="1400" dirty="0">
                <a:highlight>
                  <a:srgbClr val="FFFF00"/>
                </a:highlight>
                <a:latin typeface="Calibir"/>
              </a:rPr>
              <a:t>            int row = 0;</a:t>
            </a:r>
          </a:p>
          <a:p>
            <a:r>
              <a:rPr lang="en-US" sz="1400" dirty="0">
                <a:highlight>
                  <a:srgbClr val="FFFF00"/>
                </a:highlight>
                <a:latin typeface="Calibir"/>
              </a:rPr>
              <a:t>            row &lt;= middle;</a:t>
            </a:r>
          </a:p>
          <a:p>
            <a:r>
              <a:rPr lang="en-US" sz="1400" dirty="0">
                <a:highlight>
                  <a:srgbClr val="FFFF00"/>
                </a:highlight>
                <a:latin typeface="Calibir"/>
              </a:rPr>
              <a:t>            row++</a:t>
            </a:r>
          </a:p>
          <a:p>
            <a:r>
              <a:rPr lang="en-US" sz="1400" dirty="0">
                <a:highlight>
                  <a:srgbClr val="FFFF00"/>
                </a:highlight>
                <a:latin typeface="Calibir"/>
              </a:rPr>
              <a:t>        ) {</a:t>
            </a:r>
          </a:p>
          <a:p>
            <a:endParaRPr lang="en-US" sz="1400" dirty="0">
              <a:highlight>
                <a:srgbClr val="FFFF00"/>
              </a:highlight>
              <a:latin typeface="Calibir"/>
            </a:endParaRPr>
          </a:p>
          <a:p>
            <a:r>
              <a:rPr lang="en-US" sz="1400" dirty="0">
                <a:highlight>
                  <a:srgbClr val="FFFF00"/>
                </a:highlight>
                <a:latin typeface="Calibir"/>
              </a:rPr>
              <a:t>            int spaces =</a:t>
            </a:r>
          </a:p>
          <a:p>
            <a:r>
              <a:rPr lang="en-US" sz="1400" dirty="0">
                <a:highlight>
                  <a:srgbClr val="FFFF00"/>
                </a:highlight>
                <a:latin typeface="Calibir"/>
              </a:rPr>
              <a:t>                    middle - row;</a:t>
            </a:r>
          </a:p>
          <a:p>
            <a:endParaRPr lang="en-US" sz="1400" dirty="0">
              <a:highlight>
                <a:srgbClr val="FFFF00"/>
              </a:highlight>
              <a:latin typeface="Calibir"/>
            </a:endParaRPr>
          </a:p>
          <a:p>
            <a:r>
              <a:rPr lang="en-US" sz="1400" dirty="0">
                <a:highlight>
                  <a:srgbClr val="FFFF00"/>
                </a:highlight>
                <a:latin typeface="Calibir"/>
              </a:rPr>
              <a:t>            int stars =</a:t>
            </a:r>
          </a:p>
          <a:p>
            <a:r>
              <a:rPr lang="en-US" sz="1400" dirty="0">
                <a:highlight>
                  <a:srgbClr val="FFFF00"/>
                </a:highlight>
                <a:latin typeface="Calibir"/>
              </a:rPr>
              <a:t>                    2 * row + 1;</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printRow</a:t>
            </a:r>
            <a:r>
              <a:rPr lang="en-US" sz="1400" dirty="0">
                <a:highlight>
                  <a:srgbClr val="FFFF00"/>
                </a:highlight>
                <a:latin typeface="Calibir"/>
              </a:rPr>
              <a:t>(</a:t>
            </a:r>
          </a:p>
          <a:p>
            <a:r>
              <a:rPr lang="en-US" sz="1400" dirty="0">
                <a:highlight>
                  <a:srgbClr val="FFFF00"/>
                </a:highlight>
                <a:latin typeface="Calibir"/>
              </a:rPr>
              <a:t>                    spaces,</a:t>
            </a:r>
          </a:p>
          <a:p>
            <a:r>
              <a:rPr lang="en-US" sz="1400" dirty="0">
                <a:highlight>
                  <a:srgbClr val="FFFF00"/>
                </a:highlight>
                <a:latin typeface="Calibir"/>
              </a:rPr>
              <a:t>                    stars</a:t>
            </a:r>
          </a:p>
          <a:p>
            <a:r>
              <a:rPr lang="en-US" sz="1400" dirty="0">
                <a:highlight>
                  <a:srgbClr val="FFFF00"/>
                </a:highlight>
                <a:latin typeface="Calibir"/>
              </a:rPr>
              <a:t>            );</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 Lower half</a:t>
            </a:r>
          </a:p>
          <a:p>
            <a:r>
              <a:rPr lang="en-US" sz="1400" dirty="0">
                <a:highlight>
                  <a:srgbClr val="FFFF00"/>
                </a:highlight>
                <a:latin typeface="Calibir"/>
              </a:rPr>
              <a:t>        for (</a:t>
            </a:r>
          </a:p>
          <a:p>
            <a:r>
              <a:rPr lang="en-US" sz="1400" dirty="0">
                <a:highlight>
                  <a:srgbClr val="FFFF00"/>
                </a:highlight>
                <a:latin typeface="Calibir"/>
              </a:rPr>
              <a:t>            int row = middle - 1;</a:t>
            </a:r>
          </a:p>
          <a:p>
            <a:r>
              <a:rPr lang="en-US" sz="1400" dirty="0">
                <a:highlight>
                  <a:srgbClr val="FFFF00"/>
                </a:highlight>
                <a:latin typeface="Calibir"/>
              </a:rPr>
              <a:t>            row &gt;= 0;</a:t>
            </a:r>
          </a:p>
          <a:p>
            <a:r>
              <a:rPr lang="en-US" sz="1400" dirty="0">
                <a:highlight>
                  <a:srgbClr val="FFFF00"/>
                </a:highlight>
                <a:latin typeface="Calibir"/>
              </a:rPr>
              <a:t>            row--</a:t>
            </a:r>
          </a:p>
          <a:p>
            <a:r>
              <a:rPr lang="en-US" sz="1400" dirty="0">
                <a:highlight>
                  <a:srgbClr val="FFFF00"/>
                </a:highlight>
                <a:latin typeface="Calibir"/>
              </a:rPr>
              <a:t>        ) {</a:t>
            </a:r>
          </a:p>
        </p:txBody>
      </p:sp>
    </p:spTree>
    <p:extLst>
      <p:ext uri="{BB962C8B-B14F-4D97-AF65-F5344CB8AC3E}">
        <p14:creationId xmlns:p14="http://schemas.microsoft.com/office/powerpoint/2010/main" val="26117227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8DE911CE-2328-C1E4-1F70-B5FD780C4EE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D5FE97-62B8-9FC9-88A7-FE9DB4CBA877}"/>
              </a:ext>
            </a:extLst>
          </p:cNvPr>
          <p:cNvSpPr txBox="1"/>
          <p:nvPr/>
        </p:nvSpPr>
        <p:spPr>
          <a:xfrm>
            <a:off x="897194" y="12600"/>
            <a:ext cx="10397612" cy="6771084"/>
          </a:xfrm>
          <a:prstGeom prst="rect">
            <a:avLst/>
          </a:prstGeom>
          <a:noFill/>
        </p:spPr>
        <p:txBody>
          <a:bodyPr wrap="square">
            <a:spAutoFit/>
          </a:bodyPr>
          <a:lstStyle/>
          <a:p>
            <a:r>
              <a:rPr lang="en-US" sz="1400" dirty="0">
                <a:highlight>
                  <a:srgbClr val="FFFF00"/>
                </a:highlight>
                <a:latin typeface="Calibir"/>
              </a:rPr>
              <a:t>            int spaces =</a:t>
            </a:r>
          </a:p>
          <a:p>
            <a:r>
              <a:rPr lang="en-US" sz="1400" dirty="0">
                <a:highlight>
                  <a:srgbClr val="FFFF00"/>
                </a:highlight>
                <a:latin typeface="Calibir"/>
              </a:rPr>
              <a:t>                    middle - row;</a:t>
            </a:r>
          </a:p>
          <a:p>
            <a:endParaRPr lang="en-US" sz="1400" dirty="0">
              <a:highlight>
                <a:srgbClr val="FFFF00"/>
              </a:highlight>
              <a:latin typeface="Calibir"/>
            </a:endParaRPr>
          </a:p>
          <a:p>
            <a:r>
              <a:rPr lang="en-US" sz="1400" dirty="0">
                <a:highlight>
                  <a:srgbClr val="FFFF00"/>
                </a:highlight>
                <a:latin typeface="Calibir"/>
              </a:rPr>
              <a:t>            int stars =</a:t>
            </a:r>
          </a:p>
          <a:p>
            <a:r>
              <a:rPr lang="en-US" sz="1400" dirty="0">
                <a:highlight>
                  <a:srgbClr val="FFFF00"/>
                </a:highlight>
                <a:latin typeface="Calibir"/>
              </a:rPr>
              <a:t>                    2 * row + 1;</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printRow</a:t>
            </a:r>
            <a:r>
              <a:rPr lang="en-US" sz="1400" dirty="0">
                <a:highlight>
                  <a:srgbClr val="FFFF00"/>
                </a:highlight>
                <a:latin typeface="Calibir"/>
              </a:rPr>
              <a:t>(</a:t>
            </a:r>
          </a:p>
          <a:p>
            <a:r>
              <a:rPr lang="en-US" sz="1400" dirty="0">
                <a:highlight>
                  <a:srgbClr val="FFFF00"/>
                </a:highlight>
                <a:latin typeface="Calibir"/>
              </a:rPr>
              <a:t>                    spaces,</a:t>
            </a:r>
          </a:p>
          <a:p>
            <a:r>
              <a:rPr lang="en-US" sz="1400" dirty="0">
                <a:highlight>
                  <a:srgbClr val="FFFF00"/>
                </a:highlight>
                <a:latin typeface="Calibir"/>
              </a:rPr>
              <a:t>                    stars</a:t>
            </a:r>
          </a:p>
          <a:p>
            <a:r>
              <a:rPr lang="en-US" sz="1400" dirty="0">
                <a:highlight>
                  <a:srgbClr val="FFFF00"/>
                </a:highlight>
                <a:latin typeface="Calibir"/>
              </a:rPr>
              <a:t>            );</a:t>
            </a:r>
          </a:p>
          <a:p>
            <a:r>
              <a:rPr lang="en-US" sz="1400" dirty="0">
                <a:highlight>
                  <a:srgbClr val="FFFF00"/>
                </a:highlight>
                <a:latin typeface="Calibir"/>
              </a:rPr>
              <a:t>        }</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public static void main(String[] </a:t>
            </a:r>
            <a:r>
              <a:rPr lang="en-US" sz="1400" dirty="0" err="1">
                <a:highlight>
                  <a:srgbClr val="FFFF00"/>
                </a:highlight>
                <a:latin typeface="Calibir"/>
              </a:rPr>
              <a:t>args</a:t>
            </a:r>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Scanner input =</a:t>
            </a:r>
          </a:p>
          <a:p>
            <a:r>
              <a:rPr lang="en-US" sz="1400" dirty="0">
                <a:highlight>
                  <a:srgbClr val="FFFF00"/>
                </a:highlight>
                <a:latin typeface="Calibir"/>
              </a:rPr>
              <a:t>                new Scanner(System.in);</a:t>
            </a:r>
          </a:p>
          <a:p>
            <a:endParaRPr lang="en-US" sz="1400" dirty="0">
              <a:highlight>
                <a:srgbClr val="FFFF00"/>
              </a:highlight>
              <a:latin typeface="Calibir"/>
            </a:endParaRPr>
          </a:p>
          <a:p>
            <a:r>
              <a:rPr lang="en-US" sz="1400" dirty="0">
                <a:highlight>
                  <a:srgbClr val="FFFF00"/>
                </a:highlight>
                <a:latin typeface="Calibir"/>
              </a:rPr>
              <a:t>        while (true)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System.out.print</a:t>
            </a:r>
            <a:r>
              <a:rPr lang="en-US" sz="1400" dirty="0">
                <a:highlight>
                  <a:srgbClr val="FFFF00"/>
                </a:highlight>
                <a:latin typeface="Calibir"/>
              </a:rPr>
              <a:t>(</a:t>
            </a:r>
          </a:p>
          <a:p>
            <a:r>
              <a:rPr lang="en-US" sz="1400" dirty="0">
                <a:highlight>
                  <a:srgbClr val="FFFF00"/>
                </a:highlight>
                <a:latin typeface="Calibir"/>
              </a:rPr>
              <a:t>                "Size = "</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int size =</a:t>
            </a:r>
          </a:p>
          <a:p>
            <a:r>
              <a:rPr lang="en-US" sz="1400" dirty="0">
                <a:highlight>
                  <a:srgbClr val="FFFF00"/>
                </a:highlight>
                <a:latin typeface="Calibir"/>
              </a:rPr>
              <a:t>                    </a:t>
            </a:r>
            <a:r>
              <a:rPr lang="en-US" sz="1400" dirty="0" err="1">
                <a:highlight>
                  <a:srgbClr val="FFFF00"/>
                </a:highlight>
                <a:latin typeface="Calibir"/>
              </a:rPr>
              <a:t>input.nextInt</a:t>
            </a:r>
            <a:r>
              <a:rPr lang="en-US" sz="1400" dirty="0">
                <a:highlight>
                  <a:srgbClr val="FFFF00"/>
                </a:highlight>
                <a:latin typeface="Calibir"/>
              </a:rPr>
              <a:t>();</a:t>
            </a:r>
          </a:p>
          <a:p>
            <a:endParaRPr lang="en-US" sz="1400" dirty="0">
              <a:highlight>
                <a:srgbClr val="FFFF00"/>
              </a:highlight>
              <a:latin typeface="Calibir"/>
            </a:endParaRPr>
          </a:p>
          <a:p>
            <a:r>
              <a:rPr lang="en-US" sz="1400" dirty="0">
                <a:highlight>
                  <a:srgbClr val="FFFF00"/>
                </a:highlight>
                <a:latin typeface="Calibir"/>
              </a:rPr>
              <a:t>            if (size == -1) {</a:t>
            </a:r>
          </a:p>
          <a:p>
            <a:endParaRPr lang="en-US" sz="1400" dirty="0">
              <a:highlight>
                <a:srgbClr val="FFFF00"/>
              </a:highlight>
              <a:latin typeface="Calibir"/>
            </a:endParaRPr>
          </a:p>
          <a:p>
            <a:r>
              <a:rPr lang="en-US" sz="1400" dirty="0">
                <a:highlight>
                  <a:srgbClr val="FFFF00"/>
                </a:highlight>
                <a:latin typeface="Calibir"/>
              </a:rPr>
              <a:t>                break;</a:t>
            </a:r>
          </a:p>
          <a:p>
            <a:r>
              <a:rPr lang="en-US" sz="1400" dirty="0">
                <a:highlight>
                  <a:srgbClr val="FFFF00"/>
                </a:highlight>
                <a:latin typeface="Calibir"/>
              </a:rPr>
              <a:t>            }</a:t>
            </a:r>
          </a:p>
        </p:txBody>
      </p:sp>
    </p:spTree>
    <p:extLst>
      <p:ext uri="{BB962C8B-B14F-4D97-AF65-F5344CB8AC3E}">
        <p14:creationId xmlns:p14="http://schemas.microsoft.com/office/powerpoint/2010/main" val="277639667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115D0709-B122-D462-22CE-B38507AE7B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3B2718-CE61-41BC-F40B-B7E10C074C56}"/>
              </a:ext>
            </a:extLst>
          </p:cNvPr>
          <p:cNvSpPr txBox="1"/>
          <p:nvPr/>
        </p:nvSpPr>
        <p:spPr>
          <a:xfrm>
            <a:off x="897194" y="12600"/>
            <a:ext cx="10397612" cy="4401205"/>
          </a:xfrm>
          <a:prstGeom prst="rect">
            <a:avLst/>
          </a:prstGeom>
          <a:noFill/>
        </p:spPr>
        <p:txBody>
          <a:bodyPr wrap="square">
            <a:spAutoFit/>
          </a:bodyPr>
          <a:lstStyle/>
          <a:p>
            <a:endParaRPr lang="en-US" sz="1400" dirty="0">
              <a:highlight>
                <a:srgbClr val="FFFF00"/>
              </a:highlight>
              <a:latin typeface="Calibir"/>
            </a:endParaRPr>
          </a:p>
          <a:p>
            <a:r>
              <a:rPr lang="en-US" sz="1400" dirty="0">
                <a:highlight>
                  <a:srgbClr val="FFFF00"/>
                </a:highlight>
                <a:latin typeface="Calibir"/>
              </a:rPr>
              <a:t>            if (</a:t>
            </a:r>
          </a:p>
          <a:p>
            <a:r>
              <a:rPr lang="en-US" sz="1400" dirty="0">
                <a:highlight>
                  <a:srgbClr val="FFFF00"/>
                </a:highlight>
                <a:latin typeface="Calibir"/>
              </a:rPr>
              <a:t>                size &lt;= 0</a:t>
            </a:r>
          </a:p>
          <a:p>
            <a:r>
              <a:rPr lang="en-US" sz="1400" dirty="0">
                <a:highlight>
                  <a:srgbClr val="FFFF00"/>
                </a:highlight>
                <a:latin typeface="Calibir"/>
              </a:rPr>
              <a:t>                || size % 2 == 0</a:t>
            </a:r>
          </a:p>
          <a:p>
            <a:r>
              <a:rPr lang="en-US" sz="1400" dirty="0">
                <a:highlight>
                  <a:srgbClr val="FFFF00"/>
                </a:highlight>
                <a:latin typeface="Calibir"/>
              </a:rPr>
              <a:t>            )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System.out.println</a:t>
            </a:r>
            <a:r>
              <a:rPr lang="en-US" sz="1400" dirty="0">
                <a:highlight>
                  <a:srgbClr val="FFFF00"/>
                </a:highlight>
                <a:latin typeface="Calibir"/>
              </a:rPr>
              <a:t>(</a:t>
            </a:r>
          </a:p>
          <a:p>
            <a:r>
              <a:rPr lang="en-US" sz="1400" dirty="0">
                <a:highlight>
                  <a:srgbClr val="FFFF00"/>
                </a:highlight>
                <a:latin typeface="Calibir"/>
              </a:rPr>
              <a:t>                    "Please enter "</a:t>
            </a:r>
          </a:p>
          <a:p>
            <a:r>
              <a:rPr lang="en-US" sz="1400" dirty="0">
                <a:highlight>
                  <a:srgbClr val="FFFF00"/>
                </a:highlight>
                <a:latin typeface="Calibir"/>
              </a:rPr>
              <a:t>                    + "a positive odd size."</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continue;</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showDiamond</a:t>
            </a:r>
            <a:r>
              <a:rPr lang="en-US" sz="1400" dirty="0">
                <a:highlight>
                  <a:srgbClr val="FFFF00"/>
                </a:highlight>
                <a:latin typeface="Calibir"/>
              </a:rPr>
              <a:t>(size);</a:t>
            </a:r>
          </a:p>
          <a:p>
            <a:r>
              <a:rPr lang="en-US" sz="1400" dirty="0">
                <a:highlight>
                  <a:srgbClr val="FFFF00"/>
                </a:highlight>
                <a:latin typeface="Calibir"/>
              </a:rPr>
              <a:t>        }</a:t>
            </a:r>
          </a:p>
          <a:p>
            <a:endParaRPr lang="en-US" sz="1400" dirty="0">
              <a:highlight>
                <a:srgbClr val="FFFF00"/>
              </a:highlight>
              <a:latin typeface="Calibir"/>
            </a:endParaRPr>
          </a:p>
          <a:p>
            <a:r>
              <a:rPr lang="en-US" sz="1400" dirty="0">
                <a:highlight>
                  <a:srgbClr val="FFFF00"/>
                </a:highlight>
                <a:latin typeface="Calibir"/>
              </a:rPr>
              <a:t>        </a:t>
            </a:r>
            <a:r>
              <a:rPr lang="en-US" sz="1400" dirty="0" err="1">
                <a:highlight>
                  <a:srgbClr val="FFFF00"/>
                </a:highlight>
                <a:latin typeface="Calibir"/>
              </a:rPr>
              <a:t>input.close</a:t>
            </a:r>
            <a:r>
              <a:rPr lang="en-US" sz="1400" dirty="0">
                <a:highlight>
                  <a:srgbClr val="FFFF00"/>
                </a:highlight>
                <a:latin typeface="Calibir"/>
              </a:rPr>
              <a:t>();</a:t>
            </a:r>
          </a:p>
          <a:p>
            <a:r>
              <a:rPr lang="en-US" sz="1400" dirty="0">
                <a:highlight>
                  <a:srgbClr val="FFFF00"/>
                </a:highlight>
                <a:latin typeface="Calibir"/>
              </a:rPr>
              <a:t>    }</a:t>
            </a:r>
          </a:p>
          <a:p>
            <a:r>
              <a:rPr lang="en-US" sz="1400" dirty="0">
                <a:highlight>
                  <a:srgbClr val="FFFF00"/>
                </a:highlight>
                <a:latin typeface="Calibir"/>
              </a:rPr>
              <a:t>}</a:t>
            </a:r>
          </a:p>
        </p:txBody>
      </p:sp>
    </p:spTree>
    <p:extLst>
      <p:ext uri="{BB962C8B-B14F-4D97-AF65-F5344CB8AC3E}">
        <p14:creationId xmlns:p14="http://schemas.microsoft.com/office/powerpoint/2010/main" val="358914450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BCADA-C2BC-8C89-F224-6C84B30E180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2E8AB4A3-BE79-06FA-AC7C-BEC57E783D0D}"/>
              </a:ext>
            </a:extLst>
          </p:cNvPr>
          <p:cNvSpPr>
            <a:spLocks noGrp="1"/>
          </p:cNvSpPr>
          <p:nvPr>
            <p:ph type="title"/>
          </p:nvPr>
        </p:nvSpPr>
        <p:spPr>
          <a:xfrm>
            <a:off x="0" y="24042"/>
            <a:ext cx="9144000" cy="577517"/>
          </a:xfrm>
        </p:spPr>
        <p:txBody>
          <a:bodyPr>
            <a:normAutofit fontScale="90000"/>
          </a:bodyPr>
          <a:lstStyle/>
          <a:p>
            <a:r>
              <a:rPr lang="en-US" dirty="0">
                <a:solidFill>
                  <a:schemeClr val="tx1"/>
                </a:solidFill>
                <a:latin typeface="Calibir"/>
                <a:cs typeface="Arial" panose="020B0604020202020204" pitchFamily="34" charset="0"/>
              </a:rPr>
              <a:t>Let’s Answer Your Questions</a:t>
            </a:r>
            <a:endParaRPr lang="en-AU" dirty="0">
              <a:solidFill>
                <a:schemeClr val="tx1"/>
              </a:solidFill>
              <a:latin typeface="Calibir"/>
              <a:cs typeface="Arial" panose="020B0604020202020204" pitchFamily="34" charset="0"/>
            </a:endParaRPr>
          </a:p>
        </p:txBody>
      </p:sp>
      <p:pic>
        <p:nvPicPr>
          <p:cNvPr id="1028" name="Picture 4" descr="Answering Questions In Complete Sentences">
            <a:extLst>
              <a:ext uri="{FF2B5EF4-FFF2-40B4-BE49-F238E27FC236}">
                <a16:creationId xmlns:a16="http://schemas.microsoft.com/office/drawing/2014/main" id="{84E5527E-4D0B-667B-4471-EFDB8B3143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3245" y="1041882"/>
            <a:ext cx="3385511" cy="211594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10BBB43-1E60-3AC7-6893-6AAB3EFF1E14}"/>
              </a:ext>
            </a:extLst>
          </p:cNvPr>
          <p:cNvSpPr txBox="1"/>
          <p:nvPr/>
        </p:nvSpPr>
        <p:spPr>
          <a:xfrm>
            <a:off x="49443" y="3572103"/>
            <a:ext cx="12093114" cy="3261855"/>
          </a:xfrm>
          <a:prstGeom prst="rect">
            <a:avLst/>
          </a:prstGeom>
          <a:noFill/>
        </p:spPr>
        <p:txBody>
          <a:bodyPr wrap="square" rtlCol="0">
            <a:spAutoFit/>
          </a:bodyPr>
          <a:lstStyle/>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Canvas Inbox</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academic queries.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Email</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formal communication and attachments.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Canvas Discussion</a:t>
            </a:r>
            <a:r>
              <a:rPr kumimoji="0" lang="en-US" sz="2800" b="0" i="0" u="none" strike="noStrike" kern="1200" cap="none" spc="0" normalizeH="0" baseline="0" noProof="0" dirty="0">
                <a:ln>
                  <a:noFill/>
                </a:ln>
                <a:solidFill>
                  <a:prstClr val="black"/>
                </a:solidFill>
                <a:effectLst/>
                <a:uLnTx/>
                <a:uFillTx/>
                <a:latin typeface="Calibir"/>
                <a:ea typeface="+mn-ea"/>
                <a:cs typeface="+mn-cs"/>
              </a:rPr>
              <a:t> – For academic discussions and general queries. </a:t>
            </a:r>
          </a:p>
          <a:p>
            <a:pPr marL="514350" marR="0" lvl="0" indent="-51435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2800" b="1" i="0" u="none" strike="noStrike" kern="1200" cap="none" spc="0" normalizeH="0" baseline="0" noProof="0" dirty="0">
                <a:ln>
                  <a:noFill/>
                </a:ln>
                <a:solidFill>
                  <a:prstClr val="black"/>
                </a:solidFill>
                <a:effectLst/>
                <a:uLnTx/>
                <a:uFillTx/>
                <a:latin typeface="Calibir"/>
                <a:ea typeface="+mn-ea"/>
                <a:cs typeface="+mn-cs"/>
              </a:rPr>
              <a:t>Reminder</a:t>
            </a:r>
            <a:r>
              <a:rPr kumimoji="0" lang="en-US" sz="2800" b="0" i="0" u="none" strike="noStrike" kern="1200" cap="none" spc="0" normalizeH="0" baseline="0" noProof="0" dirty="0">
                <a:ln>
                  <a:noFill/>
                </a:ln>
                <a:solidFill>
                  <a:prstClr val="black"/>
                </a:solidFill>
                <a:effectLst/>
                <a:uLnTx/>
                <a:uFillTx/>
                <a:latin typeface="Calibir"/>
                <a:ea typeface="+mn-ea"/>
                <a:cs typeface="+mn-cs"/>
              </a:rPr>
              <a:t> – Please follow up if you do not receive a response within 3 business days.</a:t>
            </a:r>
          </a:p>
        </p:txBody>
      </p:sp>
    </p:spTree>
    <p:extLst>
      <p:ext uri="{BB962C8B-B14F-4D97-AF65-F5344CB8AC3E}">
        <p14:creationId xmlns:p14="http://schemas.microsoft.com/office/powerpoint/2010/main" val="219122358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a:t>
            </a:r>
            <a:r>
              <a:rPr kumimoji="0" lang="en-US" sz="2800" b="0" i="0" u="none" strike="noStrike" kern="1200" cap="none" spc="0" normalizeH="0" baseline="0" noProof="0" dirty="0" err="1">
                <a:ln>
                  <a:noFill/>
                </a:ln>
                <a:solidFill>
                  <a:prstClr val="black">
                    <a:alpha val="80000"/>
                  </a:prstClr>
                </a:solidFill>
                <a:effectLst/>
                <a:uLnTx/>
                <a:uFillTx/>
                <a:latin typeface="Calibri" panose="020F0502020204030204"/>
                <a:ea typeface="+mn-ea"/>
                <a:cs typeface="+mn-cs"/>
                <a:hlinkClick r:id="rId4"/>
              </a:rPr>
              <a:t>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Tree>
    <p:extLst>
      <p:ext uri="{BB962C8B-B14F-4D97-AF65-F5344CB8AC3E}">
        <p14:creationId xmlns:p14="http://schemas.microsoft.com/office/powerpoint/2010/main" val="2540710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1791</TotalTime>
  <Words>12451</Words>
  <Application>Microsoft Office PowerPoint</Application>
  <PresentationFormat>Widescreen</PresentationFormat>
  <Paragraphs>2075</Paragraphs>
  <Slides>159</Slides>
  <Notes>120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159</vt:i4>
      </vt:variant>
    </vt:vector>
  </HeadingPairs>
  <TitlesOfParts>
    <vt:vector size="166" baseType="lpstr">
      <vt:lpstr>Aptos</vt:lpstr>
      <vt:lpstr>Aptos Display</vt:lpstr>
      <vt:lpstr>Arial</vt:lpstr>
      <vt:lpstr>Calibir</vt:lpstr>
      <vt:lpstr>Calibri</vt:lpstr>
      <vt:lpstr>Economica</vt:lpstr>
      <vt:lpstr>Office Theme</vt:lpstr>
      <vt:lpstr>32555 – Fundamentals of Software Development</vt:lpstr>
      <vt:lpstr>Welcome to 32555 – Fundamentals of Software Development</vt:lpstr>
      <vt:lpstr>Welcome to 32555 – Fundamentals of Software Development</vt:lpstr>
      <vt:lpstr>Week 5 Outline</vt:lpstr>
      <vt:lpstr>Week 5 Outline</vt:lpstr>
      <vt:lpstr>Have you formed your group?</vt:lpstr>
      <vt:lpstr>Assessment Task 1: Case Study – Part 1: Analysis and Design Preparation Guide</vt:lpstr>
      <vt:lpstr>Assessment Task 1: Case Study – Part 1: Analysis and Design Preparation Guide</vt:lpstr>
      <vt:lpstr>Assessment Task 1: Case Study – Part 1: Analysis and Design Preparation Guide</vt:lpstr>
      <vt:lpstr>Assessment Task 1: Case Study – Part 1: Analysis and Design Preparation Guide</vt:lpstr>
      <vt:lpstr>Assessment Task 1: Case Study – Part 1: Analysis and Design Preparation Guide</vt:lpstr>
      <vt:lpstr>PowerPoint Presentation</vt:lpstr>
      <vt:lpstr>Assessment Task 1: Case Study – Part 1: Analysis and Design Preparation Guide</vt:lpstr>
      <vt:lpstr>PowerPoint Presentation</vt:lpstr>
      <vt:lpstr>PowerPoint Presentation</vt:lpstr>
      <vt:lpstr>PowerPoint Presentation</vt:lpstr>
      <vt:lpstr>Assessment Task 1: Case Study – Part 1: Analysis and Design Preparation Guide</vt:lpstr>
      <vt:lpstr>Assessment Task 1: Case Study – Part 1: Analysis and Design Preparation Guide</vt:lpstr>
      <vt:lpstr>PowerPoint Presentation</vt:lpstr>
      <vt:lpstr>PowerPoint Presentation</vt:lpstr>
      <vt:lpstr>PowerPoint Presentation</vt:lpstr>
      <vt:lpstr>PowerPoint Presentation</vt:lpstr>
      <vt:lpstr>PowerPoint Presentation</vt:lpstr>
      <vt:lpstr>PowerPoint Presentation</vt:lpstr>
      <vt:lpstr>Assessment Task 1: Case Study – Part 1: Analysis and Design Preparation Guide</vt:lpstr>
      <vt:lpstr>Assessment Task 1: Case Study – Part 1: Analysis and Design Preparation Guide</vt:lpstr>
      <vt:lpstr>Assessment Task 1: Case Study – Part 1: Analysis and Design Preparation Guide</vt:lpstr>
      <vt:lpstr>PowerPoint Presentation</vt:lpstr>
      <vt:lpstr>Assessment Task 1: Case Study – Part 1: Analysis and Design Preparation Guide</vt:lpstr>
      <vt:lpstr>Assessment Task 1: Case Study – Part 1: Analysis and Design Preparation Guide</vt:lpstr>
      <vt:lpstr>Assessment Task 1: Case Study – Part 1: Analysis and Design Preparation Guide</vt:lpstr>
      <vt:lpstr>PowerPoint Presentation</vt:lpstr>
      <vt:lpstr>PowerPoint Presentation</vt:lpstr>
      <vt:lpstr>PowerPoint Presentation</vt:lpstr>
      <vt:lpstr>Assessment Task 1: Case Study – Part 1: Analysis and Design Preparation Guide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1 — Circle and Sphere Calculations Using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2 — Random Numbers, Mean and Standard Deviation: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3 — Count Vowels Using Methods</vt:lpstr>
      <vt:lpstr>Exercise 3 — Count Vowels Using Methods</vt:lpstr>
      <vt:lpstr>Exercise 3 — Count Vowels Using Methods</vt:lpstr>
      <vt:lpstr>Exercise 3 — Count Vowels Using Methods</vt:lpstr>
      <vt:lpstr>Exercise 3 — Count Vowels Using Methods</vt:lpstr>
      <vt:lpstr>Exercise 3 — Count Vowels Using Methods</vt:lpstr>
      <vt:lpstr>PowerPoint Presentation</vt:lpstr>
      <vt:lpstr>PowerPoint Presentation</vt:lpstr>
      <vt:lpstr>PowerPoint Presentation</vt:lpstr>
      <vt:lpstr>PowerPoint Presentation</vt:lpstr>
      <vt:lpstr>PowerPoint Presentation</vt:lpstr>
      <vt:lpstr>PowerPoint Presentation</vt:lpstr>
      <vt:lpstr>Exercise 4 — Factorial Methods and Arrays</vt:lpstr>
      <vt:lpstr>Exercise 4 — Factorial Methods and Arrays</vt:lpstr>
      <vt:lpstr>Exercise 4 — Factorial Methods and Arrays</vt:lpstr>
      <vt:lpstr>Exercise 4 — Factorial Methods and Arrays</vt:lpstr>
      <vt:lpstr>Exercise 4 — Factorial Methods and Arrays</vt:lpstr>
      <vt:lpstr>Exercise 4 — Factorial Methods and Arrays</vt:lpstr>
      <vt:lpstr>Exercise 4 — Factorial Methods and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5 — Build a Diamond</vt:lpstr>
      <vt:lpstr>Exercise 5 — Build a Diamond</vt:lpstr>
      <vt:lpstr>Exercise 5 — Build a Diamond</vt:lpstr>
      <vt:lpstr>Exercise 5 — Build a Diamond</vt:lpstr>
      <vt:lpstr>Exercise 5 — Build a Diamond</vt:lpstr>
      <vt:lpstr>Exercise 5 — Build a Diamond</vt:lpstr>
      <vt:lpstr>Exercise 5 — Build a Diamond</vt:lpstr>
      <vt:lpstr>Exercise 5 — Build a Diamond</vt:lpstr>
      <vt:lpstr>Exercise 5 — Build a Diamond</vt:lpstr>
      <vt:lpstr>Exercise 5 — Build a Diamond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Answer Your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649</cp:revision>
  <dcterms:created xsi:type="dcterms:W3CDTF">2025-07-28T16:39:25Z</dcterms:created>
  <dcterms:modified xsi:type="dcterms:W3CDTF">2026-08-25T11:18:11Z</dcterms:modified>
</cp:coreProperties>
</file>