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82" r:id="rId3"/>
    <p:sldId id="2523" r:id="rId4"/>
    <p:sldId id="2524" r:id="rId5"/>
    <p:sldId id="2525" r:id="rId6"/>
    <p:sldId id="2526" r:id="rId7"/>
    <p:sldId id="2528" r:id="rId8"/>
    <p:sldId id="2529" r:id="rId9"/>
    <p:sldId id="2527" r:id="rId10"/>
    <p:sldId id="2530" r:id="rId11"/>
    <p:sldId id="2531" r:id="rId12"/>
    <p:sldId id="2585" r:id="rId13"/>
    <p:sldId id="2586" r:id="rId14"/>
    <p:sldId id="2588" r:id="rId15"/>
    <p:sldId id="2587" r:id="rId16"/>
    <p:sldId id="2589" r:id="rId17"/>
    <p:sldId id="2532" r:id="rId18"/>
    <p:sldId id="2584" r:id="rId19"/>
    <p:sldId id="2583" r:id="rId20"/>
    <p:sldId id="2533" r:id="rId21"/>
    <p:sldId id="2535" r:id="rId22"/>
    <p:sldId id="2536" r:id="rId23"/>
    <p:sldId id="2537" r:id="rId24"/>
    <p:sldId id="2538" r:id="rId25"/>
    <p:sldId id="2539" r:id="rId26"/>
    <p:sldId id="2540" r:id="rId27"/>
    <p:sldId id="2541" r:id="rId28"/>
    <p:sldId id="2542" r:id="rId29"/>
    <p:sldId id="2581" r:id="rId30"/>
    <p:sldId id="2544" r:id="rId31"/>
    <p:sldId id="2545" r:id="rId32"/>
    <p:sldId id="2546" r:id="rId33"/>
    <p:sldId id="2547" r:id="rId34"/>
    <p:sldId id="2549" r:id="rId35"/>
    <p:sldId id="2550" r:id="rId36"/>
    <p:sldId id="2548" r:id="rId37"/>
    <p:sldId id="2551" r:id="rId38"/>
    <p:sldId id="2552" r:id="rId39"/>
    <p:sldId id="2562" r:id="rId40"/>
    <p:sldId id="2563" r:id="rId41"/>
    <p:sldId id="2564" r:id="rId42"/>
    <p:sldId id="2565" r:id="rId43"/>
    <p:sldId id="2566" r:id="rId44"/>
    <p:sldId id="2567" r:id="rId45"/>
    <p:sldId id="2568" r:id="rId46"/>
    <p:sldId id="2569" r:id="rId47"/>
    <p:sldId id="2570" r:id="rId48"/>
    <p:sldId id="2556" r:id="rId49"/>
    <p:sldId id="2571" r:id="rId50"/>
    <p:sldId id="2572" r:id="rId51"/>
    <p:sldId id="2573" r:id="rId52"/>
    <p:sldId id="2574" r:id="rId53"/>
    <p:sldId id="2575" r:id="rId54"/>
    <p:sldId id="2576" r:id="rId55"/>
    <p:sldId id="2577" r:id="rId56"/>
    <p:sldId id="2578" r:id="rId57"/>
    <p:sldId id="2579" r:id="rId58"/>
    <p:sldId id="2580" r:id="rId59"/>
    <p:sldId id="1889" r:id="rId60"/>
    <p:sldId id="2590"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95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6E39-22D3-C032-54C9-95A00528F3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107CBF-71F7-20BF-C0BA-2B743C023A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26B0CF-E5AB-8E81-8126-4C862A3685EC}"/>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25226219-ACEB-3063-85CA-615BBF5DB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16B42-BD5C-8CEA-C2DE-9C9A2A100867}"/>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4130989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F284-B98B-B2E7-8F5E-00D32FDADD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4EF5FB-8747-326C-C1A8-2C0DFE8F0D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F6E929-EE45-5CF6-2C4C-46F991C09425}"/>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4C3B8D59-D2FC-555F-6BDA-E5CFD0FA8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D4958E-4E3D-E208-67CB-544B97B1EAD2}"/>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2291146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8C244-ACE5-CA74-EAF6-A9F84262FC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CDEBD1-4C52-7DCD-1577-F062F9E8E9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563DAD-E113-D725-B720-5EF09A105AB5}"/>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0945757F-021C-52D0-44EF-8FCE84CF2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BA963-F141-32BC-F3D3-1141E58EEDB3}"/>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513183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49F9-717C-F9DF-4C2B-0B41A12AE1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02496F-CCB9-6334-0D68-C5AA43466B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55FF24-A814-9072-AA56-3096FCC6E0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708BA7-F695-1BD1-0228-DC2BA695F8E7}"/>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6" name="Footer Placeholder 5">
            <a:extLst>
              <a:ext uri="{FF2B5EF4-FFF2-40B4-BE49-F238E27FC236}">
                <a16:creationId xmlns:a16="http://schemas.microsoft.com/office/drawing/2014/main" id="{A786C7F2-9800-58C2-E068-1B62456AFE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DADB33-AA82-27CE-C656-14F3AE00F120}"/>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402210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7E5DD-B466-3609-E238-45DE06A1C5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39E76B-5B8F-0DD7-AC6F-1587B1C23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811A56-FA4D-E7FC-A41D-C10E94146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9224AA-4A99-D433-3847-7BB55A4765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6F94A9-4606-C48F-ED37-39F46FD8C1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2E64BC-5E3A-DF0E-AAF8-44C7E72EFD21}"/>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8" name="Footer Placeholder 7">
            <a:extLst>
              <a:ext uri="{FF2B5EF4-FFF2-40B4-BE49-F238E27FC236}">
                <a16:creationId xmlns:a16="http://schemas.microsoft.com/office/drawing/2014/main" id="{02A3DE5C-3C7F-A407-CBE3-B50769BCD2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BE0F0E-D23E-FC46-A744-5E0BD79301D2}"/>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1798927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C87C-DA5E-269A-4C10-4154C08E21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3EE487-B956-273D-9895-FFC49DA1BAAC}"/>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4" name="Footer Placeholder 3">
            <a:extLst>
              <a:ext uri="{FF2B5EF4-FFF2-40B4-BE49-F238E27FC236}">
                <a16:creationId xmlns:a16="http://schemas.microsoft.com/office/drawing/2014/main" id="{D89BECBB-FAD7-22D4-0579-66F910DFF5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699DA1-6067-5FC6-FD89-E6252050B38D}"/>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142757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79CF9B-B523-EB94-71DE-93C5136B04C0}"/>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3" name="Footer Placeholder 2">
            <a:extLst>
              <a:ext uri="{FF2B5EF4-FFF2-40B4-BE49-F238E27FC236}">
                <a16:creationId xmlns:a16="http://schemas.microsoft.com/office/drawing/2014/main" id="{E8B57D1E-5E32-D953-17DA-B2DCD41C9F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ACB909-9E24-258A-6C9E-1B31B1832FA4}"/>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4078850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4254-EA62-BC53-77AD-A43AB1FDD2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CD1E1D-E2FB-8CE6-9E5C-3047E2EDCA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F7640-6485-E57F-8FC0-B74D4517A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B9E29-DABE-2F02-F569-C86DB85E1525}"/>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6" name="Footer Placeholder 5">
            <a:extLst>
              <a:ext uri="{FF2B5EF4-FFF2-40B4-BE49-F238E27FC236}">
                <a16:creationId xmlns:a16="http://schemas.microsoft.com/office/drawing/2014/main" id="{8937B1CC-A25E-89B4-834B-FADCD89F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120C0D-1765-70DC-F8CF-FFBE3446643F}"/>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3874921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E2544-915E-8093-F281-F6C159BC4C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8892D4-08CA-3A3A-0E23-22BC5CB6EF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9057F6-260F-4794-31ED-6E2EF54AC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3BFDA-D6AE-184C-A726-7BA7E18C13F5}"/>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6" name="Footer Placeholder 5">
            <a:extLst>
              <a:ext uri="{FF2B5EF4-FFF2-40B4-BE49-F238E27FC236}">
                <a16:creationId xmlns:a16="http://schemas.microsoft.com/office/drawing/2014/main" id="{0512D67D-D577-3E76-1CA1-D40F8D8AEA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1DBFFF-33F9-1117-B20C-5B9E0CFA04C6}"/>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2834317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F4BF-8640-385E-3C33-4A45980637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1ECDF2-4D45-116E-332B-68B8D0C67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153733-34C3-708A-20A1-D5DC201BB11E}"/>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CFB1FC78-5C56-DF68-8084-722CD36D1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EC4CA-5AB3-54CA-BBD3-094C5CFD2CB9}"/>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238954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8D958F-C88C-418C-4687-F1E70DF481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5DABCF-04FD-5A00-579B-21D28F85CE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BC6ED3-4169-78DC-AC14-A7087F58D317}"/>
              </a:ext>
            </a:extLst>
          </p:cNvPr>
          <p:cNvSpPr>
            <a:spLocks noGrp="1"/>
          </p:cNvSpPr>
          <p:nvPr>
            <p:ph type="dt" sz="half" idx="10"/>
          </p:nvPr>
        </p:nvSpPr>
        <p:spPr/>
        <p:txBody>
          <a:body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EE6AB5CE-B98F-5B2B-8440-93C8D2899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8DE40-86FF-2CFA-BF7D-5DF92172D066}"/>
              </a:ext>
            </a:extLst>
          </p:cNvPr>
          <p:cNvSpPr>
            <a:spLocks noGrp="1"/>
          </p:cNvSpPr>
          <p:nvPr>
            <p:ph type="sldNum" sz="quarter" idx="12"/>
          </p:nvPr>
        </p:nvSpPr>
        <p:spPr/>
        <p:txBody>
          <a:bodyPr/>
          <a:lstStyle/>
          <a:p>
            <a:fld id="{8B349759-513E-4BD2-B69C-595D8556345D}" type="slidenum">
              <a:rPr lang="en-US" smtClean="0"/>
              <a:t>‹#›</a:t>
            </a:fld>
            <a:endParaRPr lang="en-US"/>
          </a:p>
        </p:txBody>
      </p:sp>
    </p:spTree>
    <p:extLst>
      <p:ext uri="{BB962C8B-B14F-4D97-AF65-F5344CB8AC3E}">
        <p14:creationId xmlns:p14="http://schemas.microsoft.com/office/powerpoint/2010/main" val="1401246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53590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8046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454260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394732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722187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4403454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876259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408049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724645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5467531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95625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D1F130-F126-DDBE-E432-BC3A512994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44EC2E-E39E-D5DE-2F44-D51B062F3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D5DEF-1B5A-27E8-2904-1C0F524B06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F6B0A5-DD26-4115-89D9-BA8D5F026ABC}" type="datetimeFigureOut">
              <a:rPr lang="en-US" smtClean="0"/>
              <a:t>8/11/2026</a:t>
            </a:fld>
            <a:endParaRPr lang="en-US"/>
          </a:p>
        </p:txBody>
      </p:sp>
      <p:sp>
        <p:nvSpPr>
          <p:cNvPr id="5" name="Footer Placeholder 4">
            <a:extLst>
              <a:ext uri="{FF2B5EF4-FFF2-40B4-BE49-F238E27FC236}">
                <a16:creationId xmlns:a16="http://schemas.microsoft.com/office/drawing/2014/main" id="{DDBD40FA-A200-F60B-C445-59316B0E57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B557F6-A959-82DD-FA0F-CDFA19682D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349759-513E-4BD2-B69C-595D8556345D}" type="slidenum">
              <a:rPr lang="en-US" smtClean="0"/>
              <a:t>‹#›</a:t>
            </a:fld>
            <a:endParaRPr lang="en-US"/>
          </a:p>
        </p:txBody>
      </p:sp>
    </p:spTree>
    <p:extLst>
      <p:ext uri="{BB962C8B-B14F-4D97-AF65-F5344CB8AC3E}">
        <p14:creationId xmlns:p14="http://schemas.microsoft.com/office/powerpoint/2010/main" val="2400983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11/08/2026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4122158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34.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38528-87AF-7129-060C-DE790DB4C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6112E-412B-5D01-7AC9-EEC8ED4A45F0}"/>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4" name="Rectangle 1">
            <a:extLst>
              <a:ext uri="{FF2B5EF4-FFF2-40B4-BE49-F238E27FC236}">
                <a16:creationId xmlns:a16="http://schemas.microsoft.com/office/drawing/2014/main" id="{4F5053D9-A359-77A0-BD99-562617E0EA54}"/>
              </a:ext>
            </a:extLst>
          </p:cNvPr>
          <p:cNvSpPr>
            <a:spLocks noChangeArrowheads="1"/>
          </p:cNvSpPr>
          <p:nvPr/>
        </p:nvSpPr>
        <p:spPr bwMode="auto">
          <a:xfrm>
            <a:off x="92365" y="1963270"/>
            <a:ext cx="12007269"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OOP is like building with LEGO:</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Each LEGO piece = Object (it has shape,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colour</a:t>
            </a:r>
            <a:r>
              <a:rPr kumimoji="0" lang="en-US" sz="2800" b="0" i="0" u="none" strike="noStrike" kern="1200" cap="none" spc="0" normalizeH="0" baseline="0" noProof="0" dirty="0">
                <a:ln>
                  <a:noFill/>
                </a:ln>
                <a:solidFill>
                  <a:prstClr val="black"/>
                </a:solidFill>
                <a:effectLst/>
                <a:uLnTx/>
                <a:uFillTx/>
                <a:latin typeface="Calibir"/>
                <a:ea typeface="+mn-ea"/>
                <a:cs typeface="+mn-cs"/>
              </a:rPr>
              <a:t>, purpose)</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LEGO instructions = Class (blueprint to create objects)</a:t>
            </a:r>
          </a:p>
        </p:txBody>
      </p:sp>
    </p:spTree>
    <p:extLst>
      <p:ext uri="{BB962C8B-B14F-4D97-AF65-F5344CB8AC3E}">
        <p14:creationId xmlns:p14="http://schemas.microsoft.com/office/powerpoint/2010/main" val="565443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883EC-628A-19A0-216C-F685BDC88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AF036-A40C-0E48-37AE-60007FDADA41}"/>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4" name="Rectangle 1">
            <a:extLst>
              <a:ext uri="{FF2B5EF4-FFF2-40B4-BE49-F238E27FC236}">
                <a16:creationId xmlns:a16="http://schemas.microsoft.com/office/drawing/2014/main" id="{942CD3F4-0F1B-6D33-24FF-1BAD7DAD7998}"/>
              </a:ext>
            </a:extLst>
          </p:cNvPr>
          <p:cNvSpPr>
            <a:spLocks noChangeArrowheads="1"/>
          </p:cNvSpPr>
          <p:nvPr/>
        </p:nvSpPr>
        <p:spPr bwMode="auto">
          <a:xfrm>
            <a:off x="92365" y="993774"/>
            <a:ext cx="12007269"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Key OOP ideas:</a:t>
            </a:r>
          </a:p>
          <a:p>
            <a:pPr marL="809625"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Class</a:t>
            </a:r>
            <a:r>
              <a:rPr kumimoji="0" lang="en-US" sz="2800" b="0" i="0" u="none" strike="noStrike" kern="1200" cap="none" spc="0" normalizeH="0" baseline="0" noProof="0" dirty="0">
                <a:ln>
                  <a:noFill/>
                </a:ln>
                <a:solidFill>
                  <a:prstClr val="black"/>
                </a:solidFill>
                <a:effectLst/>
                <a:uLnTx/>
                <a:uFillTx/>
                <a:latin typeface="Calibir"/>
                <a:ea typeface="+mn-ea"/>
                <a:cs typeface="+mn-cs"/>
              </a:rPr>
              <a:t> – blueprint (e.g., “Car” design)</a:t>
            </a:r>
          </a:p>
          <a:p>
            <a:pPr marL="809625"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Object</a:t>
            </a:r>
            <a:r>
              <a:rPr kumimoji="0" lang="en-US" sz="2800" b="0" i="0" u="none" strike="noStrike" kern="1200" cap="none" spc="0" normalizeH="0" baseline="0" noProof="0" dirty="0">
                <a:ln>
                  <a:noFill/>
                </a:ln>
                <a:solidFill>
                  <a:prstClr val="black"/>
                </a:solidFill>
                <a:effectLst/>
                <a:uLnTx/>
                <a:uFillTx/>
                <a:latin typeface="Calibir"/>
                <a:ea typeface="+mn-ea"/>
                <a:cs typeface="+mn-cs"/>
              </a:rPr>
              <a:t> – actual item made from the blueprint (e.g., a Toyota Corolla in Sydney)</a:t>
            </a:r>
          </a:p>
          <a:p>
            <a:pPr marL="809625"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Attributes</a:t>
            </a:r>
            <a:r>
              <a:rPr kumimoji="0" lang="en-US" sz="2800" b="0" i="0" u="none" strike="noStrike" kern="1200" cap="none" spc="0" normalizeH="0" baseline="0" noProof="0" dirty="0">
                <a:ln>
                  <a:noFill/>
                </a:ln>
                <a:solidFill>
                  <a:prstClr val="black"/>
                </a:solidFill>
                <a:effectLst/>
                <a:uLnTx/>
                <a:uFillTx/>
                <a:latin typeface="Calibir"/>
                <a:ea typeface="+mn-ea"/>
                <a:cs typeface="+mn-cs"/>
              </a:rPr>
              <a:t> – properties (e.g.,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colour</a:t>
            </a:r>
            <a:r>
              <a:rPr kumimoji="0" lang="en-US" sz="2800" b="0" i="0" u="none" strike="noStrike" kern="1200" cap="none" spc="0" normalizeH="0" baseline="0" noProof="0" dirty="0">
                <a:ln>
                  <a:noFill/>
                </a:ln>
                <a:solidFill>
                  <a:prstClr val="black"/>
                </a:solidFill>
                <a:effectLst/>
                <a:uLnTx/>
                <a:uFillTx/>
                <a:latin typeface="Calibir"/>
                <a:ea typeface="+mn-ea"/>
                <a:cs typeface="+mn-cs"/>
              </a:rPr>
              <a:t>, model)</a:t>
            </a:r>
          </a:p>
          <a:p>
            <a:pPr marL="809625"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Methods</a:t>
            </a:r>
            <a:r>
              <a:rPr kumimoji="0" lang="en-US" sz="2800" b="0" i="0" u="none" strike="noStrike" kern="1200" cap="none" spc="0" normalizeH="0" baseline="0" noProof="0" dirty="0">
                <a:ln>
                  <a:noFill/>
                </a:ln>
                <a:solidFill>
                  <a:prstClr val="black"/>
                </a:solidFill>
                <a:effectLst/>
                <a:uLnTx/>
                <a:uFillTx/>
                <a:latin typeface="Calibir"/>
                <a:ea typeface="+mn-ea"/>
                <a:cs typeface="+mn-cs"/>
              </a:rPr>
              <a:t> – actions (e.g., start engine, honk)</a:t>
            </a:r>
          </a:p>
        </p:txBody>
      </p:sp>
    </p:spTree>
    <p:extLst>
      <p:ext uri="{BB962C8B-B14F-4D97-AF65-F5344CB8AC3E}">
        <p14:creationId xmlns:p14="http://schemas.microsoft.com/office/powerpoint/2010/main" val="80471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D547-5156-0C52-4275-E90EE2055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6D09E-51E0-582C-63D7-2776126DB7E8}"/>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4" name="Rectangle 1">
            <a:extLst>
              <a:ext uri="{FF2B5EF4-FFF2-40B4-BE49-F238E27FC236}">
                <a16:creationId xmlns:a16="http://schemas.microsoft.com/office/drawing/2014/main" id="{8E3D7A7C-285F-3466-6CF7-16BE2B82C1CE}"/>
              </a:ext>
            </a:extLst>
          </p:cNvPr>
          <p:cNvSpPr>
            <a:spLocks noChangeArrowheads="1"/>
          </p:cNvSpPr>
          <p:nvPr/>
        </p:nvSpPr>
        <p:spPr bwMode="auto">
          <a:xfrm>
            <a:off x="92365" y="1316939"/>
            <a:ext cx="12007269"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Australian Example: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Class: Kangaroo</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Objects: Red Kangaroo, Eastern Grey Kangaroo in NSW</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Attributes: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tailLength</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weight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Methods: hop(),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eatGrass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
            </a:r>
          </a:p>
        </p:txBody>
      </p:sp>
    </p:spTree>
    <p:extLst>
      <p:ext uri="{BB962C8B-B14F-4D97-AF65-F5344CB8AC3E}">
        <p14:creationId xmlns:p14="http://schemas.microsoft.com/office/powerpoint/2010/main" val="396456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912D-30DF-6264-3D1E-3DF878EC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E18A6-EDFE-2025-D07F-7E2AA863E12D}"/>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graphicFrame>
        <p:nvGraphicFramePr>
          <p:cNvPr id="3" name="Table 2">
            <a:extLst>
              <a:ext uri="{FF2B5EF4-FFF2-40B4-BE49-F238E27FC236}">
                <a16:creationId xmlns:a16="http://schemas.microsoft.com/office/drawing/2014/main" id="{EB8C84F0-ADEE-1FAF-355C-3A66311D8B90}"/>
              </a:ext>
            </a:extLst>
          </p:cNvPr>
          <p:cNvGraphicFramePr>
            <a:graphicFrameLocks noGrp="1"/>
          </p:cNvGraphicFramePr>
          <p:nvPr/>
        </p:nvGraphicFramePr>
        <p:xfrm>
          <a:off x="838200" y="1125537"/>
          <a:ext cx="10515600" cy="4606925"/>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3572332400"/>
                    </a:ext>
                  </a:extLst>
                </a:gridCol>
                <a:gridCol w="3505200">
                  <a:extLst>
                    <a:ext uri="{9D8B030D-6E8A-4147-A177-3AD203B41FA5}">
                      <a16:colId xmlns:a16="http://schemas.microsoft.com/office/drawing/2014/main" val="1677447644"/>
                    </a:ext>
                  </a:extLst>
                </a:gridCol>
                <a:gridCol w="3505200">
                  <a:extLst>
                    <a:ext uri="{9D8B030D-6E8A-4147-A177-3AD203B41FA5}">
                      <a16:colId xmlns:a16="http://schemas.microsoft.com/office/drawing/2014/main" val="607648192"/>
                    </a:ext>
                  </a:extLst>
                </a:gridCol>
              </a:tblGrid>
              <a:tr h="0">
                <a:tc>
                  <a:txBody>
                    <a:bodyPr/>
                    <a:lstStyle/>
                    <a:p>
                      <a:pPr>
                        <a:lnSpc>
                          <a:spcPct val="150000"/>
                        </a:lnSpc>
                        <a:buNone/>
                      </a:pPr>
                      <a:r>
                        <a:rPr lang="en-US" sz="2800" dirty="0">
                          <a:latin typeface="Calibir"/>
                        </a:rPr>
                        <a:t>OOP Concept</a:t>
                      </a:r>
                    </a:p>
                  </a:txBody>
                  <a:tcPr anchor="ctr">
                    <a:solidFill>
                      <a:schemeClr val="accent5">
                        <a:lumMod val="20000"/>
                        <a:lumOff val="80000"/>
                      </a:schemeClr>
                    </a:solidFill>
                  </a:tcPr>
                </a:tc>
                <a:tc>
                  <a:txBody>
                    <a:bodyPr/>
                    <a:lstStyle/>
                    <a:p>
                      <a:pPr>
                        <a:lnSpc>
                          <a:spcPct val="150000"/>
                        </a:lnSpc>
                        <a:buNone/>
                      </a:pPr>
                      <a:r>
                        <a:rPr lang="en-US" sz="2800" dirty="0">
                          <a:latin typeface="Calibir"/>
                        </a:rPr>
                        <a:t>Real-world Analogy</a:t>
                      </a:r>
                    </a:p>
                  </a:txBody>
                  <a:tcPr anchor="ctr">
                    <a:solidFill>
                      <a:schemeClr val="accent5">
                        <a:lumMod val="20000"/>
                        <a:lumOff val="80000"/>
                      </a:schemeClr>
                    </a:solidFill>
                  </a:tcPr>
                </a:tc>
                <a:tc>
                  <a:txBody>
                    <a:bodyPr/>
                    <a:lstStyle/>
                    <a:p>
                      <a:pPr>
                        <a:lnSpc>
                          <a:spcPct val="150000"/>
                        </a:lnSpc>
                        <a:buNone/>
                      </a:pPr>
                      <a:r>
                        <a:rPr lang="en-US" sz="2800" dirty="0">
                          <a:latin typeface="Calibir"/>
                        </a:rPr>
                        <a:t>Australian Example</a:t>
                      </a:r>
                    </a:p>
                  </a:txBody>
                  <a:tcPr anchor="ctr">
                    <a:solidFill>
                      <a:schemeClr val="accent5">
                        <a:lumMod val="20000"/>
                        <a:lumOff val="80000"/>
                      </a:schemeClr>
                    </a:solidFill>
                  </a:tcPr>
                </a:tc>
                <a:extLst>
                  <a:ext uri="{0D108BD9-81ED-4DB2-BD59-A6C34878D82A}">
                    <a16:rowId xmlns:a16="http://schemas.microsoft.com/office/drawing/2014/main" val="1848531857"/>
                  </a:ext>
                </a:extLst>
              </a:tr>
              <a:tr h="0">
                <a:tc>
                  <a:txBody>
                    <a:bodyPr/>
                    <a:lstStyle/>
                    <a:p>
                      <a:pPr>
                        <a:lnSpc>
                          <a:spcPct val="150000"/>
                        </a:lnSpc>
                        <a:buNone/>
                      </a:pPr>
                      <a:r>
                        <a:rPr lang="en-US" sz="2800">
                          <a:latin typeface="Calibir"/>
                        </a:rPr>
                        <a:t>Class</a:t>
                      </a:r>
                    </a:p>
                  </a:txBody>
                  <a:tcPr anchor="ctr"/>
                </a:tc>
                <a:tc>
                  <a:txBody>
                    <a:bodyPr/>
                    <a:lstStyle/>
                    <a:p>
                      <a:pPr>
                        <a:lnSpc>
                          <a:spcPct val="150000"/>
                        </a:lnSpc>
                        <a:buNone/>
                      </a:pPr>
                      <a:r>
                        <a:rPr lang="en-US" sz="2800">
                          <a:latin typeface="Calibir"/>
                        </a:rPr>
                        <a:t>Building design</a:t>
                      </a:r>
                    </a:p>
                  </a:txBody>
                  <a:tcPr anchor="ctr"/>
                </a:tc>
                <a:tc>
                  <a:txBody>
                    <a:bodyPr/>
                    <a:lstStyle/>
                    <a:p>
                      <a:pPr>
                        <a:lnSpc>
                          <a:spcPct val="150000"/>
                        </a:lnSpc>
                        <a:buNone/>
                      </a:pPr>
                      <a:r>
                        <a:rPr lang="en-US" sz="2800">
                          <a:latin typeface="Calibir"/>
                        </a:rPr>
                        <a:t>"Opal Tower" plan in Sydney</a:t>
                      </a:r>
                    </a:p>
                  </a:txBody>
                  <a:tcPr anchor="ctr"/>
                </a:tc>
                <a:extLst>
                  <a:ext uri="{0D108BD9-81ED-4DB2-BD59-A6C34878D82A}">
                    <a16:rowId xmlns:a16="http://schemas.microsoft.com/office/drawing/2014/main" val="2336924844"/>
                  </a:ext>
                </a:extLst>
              </a:tr>
              <a:tr h="0">
                <a:tc>
                  <a:txBody>
                    <a:bodyPr/>
                    <a:lstStyle/>
                    <a:p>
                      <a:pPr>
                        <a:lnSpc>
                          <a:spcPct val="150000"/>
                        </a:lnSpc>
                        <a:buNone/>
                      </a:pPr>
                      <a:r>
                        <a:rPr lang="en-US" sz="2800">
                          <a:latin typeface="Calibir"/>
                        </a:rPr>
                        <a:t>Object</a:t>
                      </a:r>
                    </a:p>
                  </a:txBody>
                  <a:tcPr anchor="ctr"/>
                </a:tc>
                <a:tc>
                  <a:txBody>
                    <a:bodyPr/>
                    <a:lstStyle/>
                    <a:p>
                      <a:pPr>
                        <a:lnSpc>
                          <a:spcPct val="150000"/>
                        </a:lnSpc>
                        <a:buNone/>
                      </a:pPr>
                      <a:r>
                        <a:rPr lang="en-US" sz="2800">
                          <a:latin typeface="Calibir"/>
                        </a:rPr>
                        <a:t>Actual building</a:t>
                      </a:r>
                    </a:p>
                  </a:txBody>
                  <a:tcPr anchor="ctr"/>
                </a:tc>
                <a:tc>
                  <a:txBody>
                    <a:bodyPr/>
                    <a:lstStyle/>
                    <a:p>
                      <a:pPr>
                        <a:lnSpc>
                          <a:spcPct val="150000"/>
                        </a:lnSpc>
                        <a:buNone/>
                      </a:pPr>
                      <a:r>
                        <a:rPr lang="en-US" sz="2800">
                          <a:latin typeface="Calibir"/>
                        </a:rPr>
                        <a:t>Completed Opal Tower</a:t>
                      </a:r>
                    </a:p>
                  </a:txBody>
                  <a:tcPr anchor="ctr"/>
                </a:tc>
                <a:extLst>
                  <a:ext uri="{0D108BD9-81ED-4DB2-BD59-A6C34878D82A}">
                    <a16:rowId xmlns:a16="http://schemas.microsoft.com/office/drawing/2014/main" val="3360974535"/>
                  </a:ext>
                </a:extLst>
              </a:tr>
              <a:tr h="0">
                <a:tc>
                  <a:txBody>
                    <a:bodyPr/>
                    <a:lstStyle/>
                    <a:p>
                      <a:pPr>
                        <a:lnSpc>
                          <a:spcPct val="150000"/>
                        </a:lnSpc>
                        <a:buNone/>
                      </a:pPr>
                      <a:r>
                        <a:rPr lang="en-US" sz="2800">
                          <a:latin typeface="Calibir"/>
                        </a:rPr>
                        <a:t>Attributes</a:t>
                      </a:r>
                    </a:p>
                  </a:txBody>
                  <a:tcPr anchor="ctr"/>
                </a:tc>
                <a:tc>
                  <a:txBody>
                    <a:bodyPr/>
                    <a:lstStyle/>
                    <a:p>
                      <a:pPr>
                        <a:lnSpc>
                          <a:spcPct val="150000"/>
                        </a:lnSpc>
                        <a:buNone/>
                      </a:pPr>
                      <a:r>
                        <a:rPr lang="en-US" sz="2800">
                          <a:latin typeface="Calibir"/>
                        </a:rPr>
                        <a:t>Room size, colour</a:t>
                      </a:r>
                    </a:p>
                  </a:txBody>
                  <a:tcPr anchor="ctr"/>
                </a:tc>
                <a:tc>
                  <a:txBody>
                    <a:bodyPr/>
                    <a:lstStyle/>
                    <a:p>
                      <a:pPr>
                        <a:lnSpc>
                          <a:spcPct val="150000"/>
                        </a:lnSpc>
                        <a:buNone/>
                      </a:pPr>
                      <a:r>
                        <a:rPr lang="en-US" sz="2800">
                          <a:latin typeface="Calibir"/>
                        </a:rPr>
                        <a:t>Apartment floor plan</a:t>
                      </a:r>
                    </a:p>
                  </a:txBody>
                  <a:tcPr anchor="ctr"/>
                </a:tc>
                <a:extLst>
                  <a:ext uri="{0D108BD9-81ED-4DB2-BD59-A6C34878D82A}">
                    <a16:rowId xmlns:a16="http://schemas.microsoft.com/office/drawing/2014/main" val="2623478163"/>
                  </a:ext>
                </a:extLst>
              </a:tr>
              <a:tr h="0">
                <a:tc>
                  <a:txBody>
                    <a:bodyPr/>
                    <a:lstStyle/>
                    <a:p>
                      <a:pPr>
                        <a:lnSpc>
                          <a:spcPct val="150000"/>
                        </a:lnSpc>
                        <a:buNone/>
                      </a:pPr>
                      <a:r>
                        <a:rPr lang="en-US" sz="2800" dirty="0">
                          <a:latin typeface="Calibir"/>
                        </a:rPr>
                        <a:t>Methods</a:t>
                      </a:r>
                    </a:p>
                  </a:txBody>
                  <a:tcPr anchor="ctr"/>
                </a:tc>
                <a:tc>
                  <a:txBody>
                    <a:bodyPr/>
                    <a:lstStyle/>
                    <a:p>
                      <a:pPr>
                        <a:lnSpc>
                          <a:spcPct val="150000"/>
                        </a:lnSpc>
                        <a:buNone/>
                      </a:pPr>
                      <a:r>
                        <a:rPr lang="en-US" sz="2800">
                          <a:latin typeface="Calibir"/>
                        </a:rPr>
                        <a:t>Actions</a:t>
                      </a:r>
                    </a:p>
                  </a:txBody>
                  <a:tcPr anchor="ctr"/>
                </a:tc>
                <a:tc>
                  <a:txBody>
                    <a:bodyPr/>
                    <a:lstStyle/>
                    <a:p>
                      <a:pPr>
                        <a:lnSpc>
                          <a:spcPct val="150000"/>
                        </a:lnSpc>
                        <a:buNone/>
                      </a:pPr>
                      <a:r>
                        <a:rPr lang="en-US" sz="2800" dirty="0">
                          <a:latin typeface="Calibir"/>
                        </a:rPr>
                        <a:t>Lift moves, lights turn on</a:t>
                      </a:r>
                    </a:p>
                  </a:txBody>
                  <a:tcPr anchor="ctr"/>
                </a:tc>
                <a:extLst>
                  <a:ext uri="{0D108BD9-81ED-4DB2-BD59-A6C34878D82A}">
                    <a16:rowId xmlns:a16="http://schemas.microsoft.com/office/drawing/2014/main" val="2950673234"/>
                  </a:ext>
                </a:extLst>
              </a:tr>
            </a:tbl>
          </a:graphicData>
        </a:graphic>
      </p:graphicFrame>
    </p:spTree>
    <p:extLst>
      <p:ext uri="{BB962C8B-B14F-4D97-AF65-F5344CB8AC3E}">
        <p14:creationId xmlns:p14="http://schemas.microsoft.com/office/powerpoint/2010/main" val="1285706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6D6B-E73C-724E-952F-4094497F6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F0E6D-9BE6-59BE-1AEC-D4FD10D71CDA}"/>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5" name="TextBox 4">
            <a:extLst>
              <a:ext uri="{FF2B5EF4-FFF2-40B4-BE49-F238E27FC236}">
                <a16:creationId xmlns:a16="http://schemas.microsoft.com/office/drawing/2014/main" id="{9EB8DB41-F2EC-DEA8-0CF4-DD1BCEA32A2B}"/>
              </a:ext>
            </a:extLst>
          </p:cNvPr>
          <p:cNvSpPr txBox="1"/>
          <p:nvPr/>
        </p:nvSpPr>
        <p:spPr>
          <a:xfrm>
            <a:off x="-1" y="1280160"/>
            <a:ext cx="12113111" cy="261084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Why do modern apps in Australia (e.g., MyGov, Service NSW) use OOP rather than procedural programming?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Because OOP allows reusable code, easy maintenance, and modelling of real-world services like forms, accounts, and processes.</a:t>
            </a:r>
            <a:endParaRPr kumimoji="0" lang="en-AU"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398997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FD1A1-0ADB-546E-4DFB-547D2190E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0DBA3-954A-6FE9-EB68-A34CFE17A782}"/>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5" name="TextBox 4">
            <a:extLst>
              <a:ext uri="{FF2B5EF4-FFF2-40B4-BE49-F238E27FC236}">
                <a16:creationId xmlns:a16="http://schemas.microsoft.com/office/drawing/2014/main" id="{F62CE33D-5274-3AD8-6B99-E40DF8093DBE}"/>
              </a:ext>
            </a:extLst>
          </p:cNvPr>
          <p:cNvSpPr txBox="1"/>
          <p:nvPr/>
        </p:nvSpPr>
        <p:spPr>
          <a:xfrm>
            <a:off x="-1" y="1280160"/>
            <a:ext cx="12113111" cy="131818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Why does Commonwealth Bank’s NetBank use OOP principles instead of procedural programming for its online banking platform?</a:t>
            </a:r>
            <a:endParaRPr kumimoji="0" lang="en-AU" sz="2800" b="1" i="0" u="none" strike="noStrike" kern="1200" cap="none" spc="0" normalizeH="0" baseline="0" noProof="0" dirty="0">
              <a:ln>
                <a:noFill/>
              </a:ln>
              <a:solidFill>
                <a:prstClr val="black"/>
              </a:solidFill>
              <a:effectLst/>
              <a:uLnTx/>
              <a:uFillTx/>
              <a:latin typeface="Calibir"/>
              <a:ea typeface="+mn-ea"/>
              <a:cs typeface="+mn-cs"/>
            </a:endParaRPr>
          </a:p>
        </p:txBody>
      </p:sp>
      <p:sp>
        <p:nvSpPr>
          <p:cNvPr id="4" name="TextBox 3">
            <a:extLst>
              <a:ext uri="{FF2B5EF4-FFF2-40B4-BE49-F238E27FC236}">
                <a16:creationId xmlns:a16="http://schemas.microsoft.com/office/drawing/2014/main" id="{D1C949A9-185D-B903-7DD7-F0E10D72FDFE}"/>
              </a:ext>
            </a:extLst>
          </p:cNvPr>
          <p:cNvSpPr txBox="1"/>
          <p:nvPr/>
        </p:nvSpPr>
        <p:spPr>
          <a:xfrm>
            <a:off x="0" y="3248263"/>
            <a:ext cx="12191999" cy="325717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OOP lets developers create reusable classes like Account, Transaction, and Customer, so features such as viewing statements or transferring money can be reused across mobile and web apps. It also makes it easier to maintain security, adapt to new regulations (like ASIC compliance), and roll out new services such as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PayID</a:t>
            </a:r>
            <a:r>
              <a:rPr kumimoji="0" lang="en-US" sz="2800" b="0" i="0" u="none" strike="noStrike" kern="1200" cap="none" spc="0" normalizeH="0" baseline="0" noProof="0" dirty="0">
                <a:ln>
                  <a:noFill/>
                </a:ln>
                <a:solidFill>
                  <a:prstClr val="black"/>
                </a:solidFill>
                <a:effectLst/>
                <a:uLnTx/>
                <a:uFillTx/>
                <a:latin typeface="Calibir"/>
                <a:ea typeface="+mn-ea"/>
                <a:cs typeface="+mn-cs"/>
              </a:rPr>
              <a:t> without rewriting large parts of the system.</a:t>
            </a:r>
            <a:endParaRPr kumimoji="0" lang="en-AU"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329510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C67DE-99B2-DEA0-824A-BDB5CB1D4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41B9D-D8DA-1A4B-347D-897452C629EF}"/>
              </a:ext>
            </a:extLst>
          </p:cNvPr>
          <p:cNvSpPr>
            <a:spLocks noGrp="1"/>
          </p:cNvSpPr>
          <p:nvPr>
            <p:ph type="title"/>
          </p:nvPr>
        </p:nvSpPr>
        <p:spPr>
          <a:xfrm>
            <a:off x="0" y="1"/>
            <a:ext cx="12192000" cy="672661"/>
          </a:xfrm>
        </p:spPr>
        <p:txBody>
          <a:bodyPr anchor="b">
            <a:normAutofit/>
          </a:bodyPr>
          <a:lstStyle/>
          <a:p>
            <a:r>
              <a:rPr lang="en-US" sz="4000" dirty="0">
                <a:latin typeface="Calibir"/>
              </a:rPr>
              <a:t>Object-Oriented Programming (OOP)</a:t>
            </a:r>
            <a:endParaRPr lang="en-AU" sz="4000" b="1" dirty="0">
              <a:latin typeface="Calibir"/>
            </a:endParaRPr>
          </a:p>
        </p:txBody>
      </p:sp>
      <p:sp>
        <p:nvSpPr>
          <p:cNvPr id="5" name="TextBox 4">
            <a:extLst>
              <a:ext uri="{FF2B5EF4-FFF2-40B4-BE49-F238E27FC236}">
                <a16:creationId xmlns:a16="http://schemas.microsoft.com/office/drawing/2014/main" id="{77D3BDC5-9AD8-94EF-025B-78C9CCE09EB3}"/>
              </a:ext>
            </a:extLst>
          </p:cNvPr>
          <p:cNvSpPr txBox="1"/>
          <p:nvPr/>
        </p:nvSpPr>
        <p:spPr>
          <a:xfrm>
            <a:off x="-1" y="1280160"/>
            <a:ext cx="12113111" cy="390350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Australian Real-World Analogy</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Think of NetBank as a shopping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centre</a:t>
            </a:r>
            <a:r>
              <a:rPr kumimoji="0" lang="en-US" sz="2800" b="0" i="0" u="none" strike="noStrike" kern="1200" cap="none" spc="0" normalizeH="0" baseline="0" noProof="0" dirty="0">
                <a:ln>
                  <a:noFill/>
                </a:ln>
                <a:solidFill>
                  <a:prstClr val="black"/>
                </a:solidFill>
                <a:effectLst/>
                <a:uLnTx/>
                <a:uFillTx/>
                <a:latin typeface="Calibir"/>
                <a:ea typeface="+mn-ea"/>
                <a:cs typeface="+mn-cs"/>
              </a:rPr>
              <a:t>:</a:t>
            </a:r>
          </a:p>
          <a:p>
            <a:pPr marL="7143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Classes</a:t>
            </a:r>
            <a:r>
              <a:rPr kumimoji="0" lang="en-US" sz="2800" b="0" i="0" u="none" strike="noStrike" kern="1200" cap="none" spc="0" normalizeH="0" baseline="0" noProof="0" dirty="0">
                <a:ln>
                  <a:noFill/>
                </a:ln>
                <a:solidFill>
                  <a:prstClr val="black"/>
                </a:solidFill>
                <a:effectLst/>
                <a:uLnTx/>
                <a:uFillTx/>
                <a:latin typeface="Calibir"/>
                <a:ea typeface="+mn-ea"/>
                <a:cs typeface="+mn-cs"/>
              </a:rPr>
              <a:t> = store blueprints (e.g., Woolworths, JB Hi-Fi)</a:t>
            </a:r>
          </a:p>
          <a:p>
            <a:pPr marL="7143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Objects</a:t>
            </a:r>
            <a:r>
              <a:rPr kumimoji="0" lang="en-US" sz="2800" b="0" i="0" u="none" strike="noStrike" kern="1200" cap="none" spc="0" normalizeH="0" baseline="0" noProof="0" dirty="0">
                <a:ln>
                  <a:noFill/>
                </a:ln>
                <a:solidFill>
                  <a:prstClr val="black"/>
                </a:solidFill>
                <a:effectLst/>
                <a:uLnTx/>
                <a:uFillTx/>
                <a:latin typeface="Calibir"/>
                <a:ea typeface="+mn-ea"/>
                <a:cs typeface="+mn-cs"/>
              </a:rPr>
              <a:t> = actual store branches in the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centre</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714375"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Updating one blueprint updates all branches — just like updating one class in OOP updates all relevant objects in the system.</a:t>
            </a:r>
          </a:p>
        </p:txBody>
      </p:sp>
    </p:spTree>
    <p:extLst>
      <p:ext uri="{BB962C8B-B14F-4D97-AF65-F5344CB8AC3E}">
        <p14:creationId xmlns:p14="http://schemas.microsoft.com/office/powerpoint/2010/main" val="175915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016C-739D-6BC2-D4EE-57B1F2C5B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4BDAF-AA22-4FBC-86E8-21F1C329FD07}"/>
              </a:ext>
            </a:extLst>
          </p:cNvPr>
          <p:cNvSpPr>
            <a:spLocks noGrp="1"/>
          </p:cNvSpPr>
          <p:nvPr>
            <p:ph type="title"/>
          </p:nvPr>
        </p:nvSpPr>
        <p:spPr>
          <a:xfrm>
            <a:off x="0" y="1"/>
            <a:ext cx="12192000" cy="672661"/>
          </a:xfrm>
        </p:spPr>
        <p:txBody>
          <a:bodyPr anchor="b">
            <a:normAutofit fontScale="90000"/>
          </a:bodyPr>
          <a:lstStyle/>
          <a:p>
            <a:r>
              <a:rPr lang="en-US" sz="4000" dirty="0">
                <a:latin typeface="Calibir"/>
              </a:rPr>
              <a:t>Hands-On Activity 1 (</a:t>
            </a:r>
            <a:r>
              <a:rPr lang="en-US" sz="4000" dirty="0" err="1">
                <a:latin typeface="Calibir"/>
              </a:rPr>
              <a:t>CBA_BankAccount_Deposit</a:t>
            </a:r>
            <a:r>
              <a:rPr lang="en-US" sz="4000" dirty="0">
                <a:latin typeface="Calibir"/>
              </a:rPr>
              <a:t> in Python)</a:t>
            </a:r>
            <a:endParaRPr lang="en-AU" sz="4000" b="1" dirty="0">
              <a:latin typeface="Calibir"/>
            </a:endParaRPr>
          </a:p>
        </p:txBody>
      </p:sp>
      <p:sp>
        <p:nvSpPr>
          <p:cNvPr id="5" name="TextBox 4">
            <a:extLst>
              <a:ext uri="{FF2B5EF4-FFF2-40B4-BE49-F238E27FC236}">
                <a16:creationId xmlns:a16="http://schemas.microsoft.com/office/drawing/2014/main" id="{CCEE132D-CEB9-A3B2-8DE2-4A14B14578B5}"/>
              </a:ext>
            </a:extLst>
          </p:cNvPr>
          <p:cNvSpPr txBox="1"/>
          <p:nvPr/>
        </p:nvSpPr>
        <p:spPr>
          <a:xfrm>
            <a:off x="-1" y="1280160"/>
            <a:ext cx="12113111" cy="261084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ir"/>
                <a:ea typeface="+mn-ea"/>
                <a:cs typeface="+mn-cs"/>
              </a:rPr>
              <a:t>Write a class BankAccount in Java or Python with:</a:t>
            </a: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a:ln>
                  <a:noFill/>
                </a:ln>
                <a:solidFill>
                  <a:prstClr val="black"/>
                </a:solidFill>
                <a:effectLst/>
                <a:uLnTx/>
                <a:uFillTx/>
                <a:latin typeface="Calibir"/>
                <a:ea typeface="+mn-ea"/>
                <a:cs typeface="+mn-cs"/>
              </a:rPr>
              <a:t>Two attributes: account_holder and balance</a:t>
            </a:r>
          </a:p>
          <a:p>
            <a:pPr marL="714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a:ln>
                  <a:noFill/>
                </a:ln>
                <a:solidFill>
                  <a:prstClr val="black"/>
                </a:solidFill>
                <a:effectLst/>
                <a:uLnTx/>
                <a:uFillTx/>
                <a:latin typeface="Calibir"/>
                <a:ea typeface="+mn-ea"/>
                <a:cs typeface="+mn-cs"/>
              </a:rPr>
              <a:t>One method: deposit(amount) that increases the balance and prints the new balance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208292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4F8F2-743B-A859-826E-8359C6FA9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D192C-9756-E6EB-9D1E-4B8562B38086}"/>
              </a:ext>
            </a:extLst>
          </p:cNvPr>
          <p:cNvSpPr>
            <a:spLocks noGrp="1"/>
          </p:cNvSpPr>
          <p:nvPr>
            <p:ph type="title"/>
          </p:nvPr>
        </p:nvSpPr>
        <p:spPr>
          <a:xfrm>
            <a:off x="0" y="1"/>
            <a:ext cx="12192000" cy="672661"/>
          </a:xfrm>
        </p:spPr>
        <p:txBody>
          <a:bodyPr anchor="b">
            <a:normAutofit fontScale="90000"/>
          </a:bodyPr>
          <a:lstStyle/>
          <a:p>
            <a:r>
              <a:rPr lang="en-US" sz="4000" dirty="0">
                <a:latin typeface="Calibir"/>
              </a:rPr>
              <a:t>Hands-On Activity 1 (</a:t>
            </a:r>
            <a:r>
              <a:rPr lang="en-US" sz="4000" dirty="0" err="1">
                <a:latin typeface="Calibir"/>
              </a:rPr>
              <a:t>CBA_BankAccount_Deposit</a:t>
            </a:r>
            <a:r>
              <a:rPr lang="en-US" sz="4000" dirty="0">
                <a:latin typeface="Calibir"/>
              </a:rPr>
              <a:t> in Python)</a:t>
            </a:r>
            <a:endParaRPr lang="en-AU" sz="4000" b="1" dirty="0">
              <a:latin typeface="Calibir"/>
            </a:endParaRPr>
          </a:p>
        </p:txBody>
      </p:sp>
      <p:sp>
        <p:nvSpPr>
          <p:cNvPr id="9" name="Rectangle 1">
            <a:extLst>
              <a:ext uri="{FF2B5EF4-FFF2-40B4-BE49-F238E27FC236}">
                <a16:creationId xmlns:a16="http://schemas.microsoft.com/office/drawing/2014/main" id="{9D06282C-299E-5175-B8D6-5B9F6E0AD6E1}"/>
              </a:ext>
            </a:extLst>
          </p:cNvPr>
          <p:cNvSpPr>
            <a:spLocks noChangeArrowheads="1"/>
          </p:cNvSpPr>
          <p:nvPr/>
        </p:nvSpPr>
        <p:spPr bwMode="auto">
          <a:xfrm>
            <a:off x="0" y="4453578"/>
            <a:ext cx="12192000" cy="216110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The </a:t>
            </a:r>
            <a:r>
              <a:rPr kumimoji="0" lang="en-US" altLang="en-US" sz="2300" b="1" i="0" u="none" strike="noStrike" kern="1200" cap="none" spc="0" normalizeH="0" baseline="0" noProof="0" dirty="0" err="1">
                <a:ln>
                  <a:noFill/>
                </a:ln>
                <a:solidFill>
                  <a:prstClr val="black"/>
                </a:solidFill>
                <a:effectLst/>
                <a:uLnTx/>
                <a:uFillTx/>
                <a:latin typeface="Calibir"/>
                <a:ea typeface="+mn-ea"/>
                <a:cs typeface="+mn-cs"/>
              </a:rPr>
              <a:t>BankAccount</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class is created with two attributes: the account holder’s name and their balance.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The </a:t>
            </a:r>
            <a:r>
              <a:rPr kumimoji="0" lang="en-US" altLang="en-US" sz="2300" b="1" i="0" u="none" strike="noStrike" kern="1200" cap="none" spc="0" normalizeH="0" baseline="0" noProof="0" dirty="0">
                <a:ln>
                  <a:noFill/>
                </a:ln>
                <a:solidFill>
                  <a:prstClr val="black"/>
                </a:solidFill>
                <a:effectLst/>
                <a:uLnTx/>
                <a:uFillTx/>
                <a:latin typeface="Calibir"/>
                <a:ea typeface="+mn-ea"/>
                <a:cs typeface="+mn-cs"/>
              </a:rPr>
              <a:t>deposit</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method adds money to the balance and shows the updated amount.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An example account for </a:t>
            </a:r>
            <a:r>
              <a:rPr kumimoji="0" lang="en-US" altLang="en-US" sz="2300" b="0" i="1" u="none" strike="noStrike" kern="1200" cap="none" spc="0" normalizeH="0" baseline="0" noProof="0" dirty="0">
                <a:ln>
                  <a:noFill/>
                </a:ln>
                <a:solidFill>
                  <a:prstClr val="black"/>
                </a:solidFill>
                <a:effectLst/>
                <a:uLnTx/>
                <a:uFillTx/>
                <a:latin typeface="Calibir"/>
                <a:ea typeface="+mn-ea"/>
                <a:cs typeface="+mn-cs"/>
              </a:rPr>
              <a:t>Sarah Johnson</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is created, and $200 is deposited to update her balance.</a:t>
            </a:r>
          </a:p>
        </p:txBody>
      </p:sp>
      <p:pic>
        <p:nvPicPr>
          <p:cNvPr id="13" name="Picture 12">
            <a:extLst>
              <a:ext uri="{FF2B5EF4-FFF2-40B4-BE49-F238E27FC236}">
                <a16:creationId xmlns:a16="http://schemas.microsoft.com/office/drawing/2014/main" id="{BFF0F670-D566-2C8E-F336-D6ACF89BAD7A}"/>
              </a:ext>
            </a:extLst>
          </p:cNvPr>
          <p:cNvPicPr>
            <a:picLocks noChangeAspect="1"/>
          </p:cNvPicPr>
          <p:nvPr/>
        </p:nvPicPr>
        <p:blipFill>
          <a:blip r:embed="rId2"/>
          <a:srcRect l="7742" t="9808" r="8186" b="44301"/>
          <a:stretch>
            <a:fillRect/>
          </a:stretch>
        </p:blipFill>
        <p:spPr>
          <a:xfrm>
            <a:off x="0" y="691422"/>
            <a:ext cx="12192000" cy="3743396"/>
          </a:xfrm>
          <a:prstGeom prst="rect">
            <a:avLst/>
          </a:prstGeom>
        </p:spPr>
      </p:pic>
    </p:spTree>
    <p:extLst>
      <p:ext uri="{BB962C8B-B14F-4D97-AF65-F5344CB8AC3E}">
        <p14:creationId xmlns:p14="http://schemas.microsoft.com/office/powerpoint/2010/main" val="62352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6E529-A6F4-7D01-336C-C242E9307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A40D5-4B60-E7A6-CFA1-BA38B958EA0E}"/>
              </a:ext>
            </a:extLst>
          </p:cNvPr>
          <p:cNvSpPr>
            <a:spLocks noGrp="1"/>
          </p:cNvSpPr>
          <p:nvPr>
            <p:ph type="title"/>
          </p:nvPr>
        </p:nvSpPr>
        <p:spPr>
          <a:xfrm>
            <a:off x="0" y="1"/>
            <a:ext cx="12192000" cy="672661"/>
          </a:xfrm>
        </p:spPr>
        <p:txBody>
          <a:bodyPr anchor="b">
            <a:normAutofit/>
          </a:bodyPr>
          <a:lstStyle/>
          <a:p>
            <a:r>
              <a:rPr lang="en-US" sz="4000" dirty="0">
                <a:latin typeface="Calibir"/>
              </a:rPr>
              <a:t>Hands-On Activity 1 (</a:t>
            </a:r>
            <a:r>
              <a:rPr lang="en-US" sz="4000" dirty="0" err="1">
                <a:latin typeface="Calibir"/>
              </a:rPr>
              <a:t>CBA_BankAccount_Deposit</a:t>
            </a:r>
            <a:r>
              <a:rPr lang="en-US" sz="4000" dirty="0">
                <a:latin typeface="Calibir"/>
              </a:rPr>
              <a:t> in Java)</a:t>
            </a:r>
            <a:endParaRPr lang="en-AU" sz="4000" b="1" dirty="0">
              <a:latin typeface="Calibir"/>
            </a:endParaRPr>
          </a:p>
        </p:txBody>
      </p:sp>
      <p:sp>
        <p:nvSpPr>
          <p:cNvPr id="5" name="Rectangle 1">
            <a:extLst>
              <a:ext uri="{FF2B5EF4-FFF2-40B4-BE49-F238E27FC236}">
                <a16:creationId xmlns:a16="http://schemas.microsoft.com/office/drawing/2014/main" id="{76AD09A7-3B37-ACA6-CC40-4F7D783C049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7" name="Picture 6">
            <a:extLst>
              <a:ext uri="{FF2B5EF4-FFF2-40B4-BE49-F238E27FC236}">
                <a16:creationId xmlns:a16="http://schemas.microsoft.com/office/drawing/2014/main" id="{0CAFC075-8D5C-DEDC-AC52-8BF93859FA4C}"/>
              </a:ext>
            </a:extLst>
          </p:cNvPr>
          <p:cNvPicPr>
            <a:picLocks noChangeAspect="1"/>
          </p:cNvPicPr>
          <p:nvPr/>
        </p:nvPicPr>
        <p:blipFill>
          <a:blip r:embed="rId2"/>
          <a:srcRect l="7984" t="6667" r="7701" b="15914"/>
          <a:stretch>
            <a:fillRect/>
          </a:stretch>
        </p:blipFill>
        <p:spPr>
          <a:xfrm>
            <a:off x="92365" y="672662"/>
            <a:ext cx="12099635" cy="6249453"/>
          </a:xfrm>
          <a:prstGeom prst="rect">
            <a:avLst/>
          </a:prstGeom>
        </p:spPr>
      </p:pic>
      <p:sp>
        <p:nvSpPr>
          <p:cNvPr id="8" name="Rectangle 2">
            <a:extLst>
              <a:ext uri="{FF2B5EF4-FFF2-40B4-BE49-F238E27FC236}">
                <a16:creationId xmlns:a16="http://schemas.microsoft.com/office/drawing/2014/main" id="{F42CFCA3-C44F-62A3-66B7-66F7633242DF}"/>
              </a:ext>
            </a:extLst>
          </p:cNvPr>
          <p:cNvSpPr>
            <a:spLocks noChangeArrowheads="1"/>
          </p:cNvSpPr>
          <p:nvPr/>
        </p:nvSpPr>
        <p:spPr bwMode="auto">
          <a:xfrm>
            <a:off x="4247535" y="4586748"/>
            <a:ext cx="7944465" cy="2291085"/>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The </a:t>
            </a:r>
            <a:r>
              <a:rPr kumimoji="0" lang="en-US" altLang="en-US" sz="2300" b="1" i="0" u="none" strike="noStrike" kern="1200" cap="none" spc="0" normalizeH="0" baseline="0" noProof="0" dirty="0" err="1">
                <a:ln>
                  <a:noFill/>
                </a:ln>
                <a:solidFill>
                  <a:prstClr val="black"/>
                </a:solidFill>
                <a:effectLst/>
                <a:uLnTx/>
                <a:uFillTx/>
                <a:latin typeface="Calibir"/>
                <a:ea typeface="+mn-ea"/>
                <a:cs typeface="+mn-cs"/>
              </a:rPr>
              <a:t>BankAccount</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class is created with two attributes: the account holder’s name and their balance.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The </a:t>
            </a:r>
            <a:r>
              <a:rPr kumimoji="0" lang="en-US" altLang="en-US" sz="2300" b="1" i="0" u="none" strike="noStrike" kern="1200" cap="none" spc="0" normalizeH="0" baseline="0" noProof="0" dirty="0">
                <a:ln>
                  <a:noFill/>
                </a:ln>
                <a:solidFill>
                  <a:prstClr val="black"/>
                </a:solidFill>
                <a:effectLst/>
                <a:uLnTx/>
                <a:uFillTx/>
                <a:latin typeface="Calibir"/>
                <a:ea typeface="+mn-ea"/>
                <a:cs typeface="+mn-cs"/>
              </a:rPr>
              <a:t>deposit</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method adds money to the balance and prints the updated amount.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In the </a:t>
            </a:r>
            <a:r>
              <a:rPr kumimoji="0" lang="en-US" altLang="en-US" sz="2300" b="1" i="0" u="none" strike="noStrike" kern="1200" cap="none" spc="0" normalizeH="0" baseline="0" noProof="0" dirty="0">
                <a:ln>
                  <a:noFill/>
                </a:ln>
                <a:solidFill>
                  <a:prstClr val="black"/>
                </a:solidFill>
                <a:effectLst/>
                <a:uLnTx/>
                <a:uFillTx/>
                <a:latin typeface="Calibir"/>
                <a:ea typeface="+mn-ea"/>
                <a:cs typeface="+mn-cs"/>
              </a:rPr>
              <a:t>main</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method, an example account for </a:t>
            </a:r>
            <a:r>
              <a:rPr kumimoji="0" lang="en-US" altLang="en-US" sz="2300" b="0" i="1" u="none" strike="noStrike" kern="1200" cap="none" spc="0" normalizeH="0" baseline="0" noProof="0" dirty="0">
                <a:ln>
                  <a:noFill/>
                </a:ln>
                <a:solidFill>
                  <a:prstClr val="black"/>
                </a:solidFill>
                <a:effectLst/>
                <a:uLnTx/>
                <a:uFillTx/>
                <a:latin typeface="Calibir"/>
                <a:ea typeface="+mn-ea"/>
                <a:cs typeface="+mn-cs"/>
              </a:rPr>
              <a:t>Sarah Johnson</a:t>
            </a:r>
            <a:r>
              <a:rPr kumimoji="0" lang="en-US" altLang="en-US" sz="2300" b="0" i="0" u="none" strike="noStrike" kern="1200" cap="none" spc="0" normalizeH="0" baseline="0" noProof="0" dirty="0">
                <a:ln>
                  <a:noFill/>
                </a:ln>
                <a:solidFill>
                  <a:prstClr val="black"/>
                </a:solidFill>
                <a:effectLst/>
                <a:uLnTx/>
                <a:uFillTx/>
                <a:latin typeface="Calibir"/>
                <a:ea typeface="+mn-ea"/>
                <a:cs typeface="+mn-cs"/>
              </a:rPr>
              <a:t> is created, and $200 is deposited to update her balance. </a:t>
            </a:r>
          </a:p>
        </p:txBody>
      </p:sp>
    </p:spTree>
    <p:extLst>
      <p:ext uri="{BB962C8B-B14F-4D97-AF65-F5344CB8AC3E}">
        <p14:creationId xmlns:p14="http://schemas.microsoft.com/office/powerpoint/2010/main" val="178385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933E6-9EA9-525C-E9CF-38BB42F7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4F572-7B78-60D9-D707-54689F300C0A}"/>
              </a:ext>
            </a:extLst>
          </p:cNvPr>
          <p:cNvSpPr>
            <a:spLocks noGrp="1"/>
          </p:cNvSpPr>
          <p:nvPr>
            <p:ph type="title"/>
          </p:nvPr>
        </p:nvSpPr>
        <p:spPr>
          <a:xfrm>
            <a:off x="0" y="1"/>
            <a:ext cx="12192000" cy="1194618"/>
          </a:xfrm>
        </p:spPr>
        <p:txBody>
          <a:bodyPr anchor="b">
            <a:normAutofit/>
          </a:bodyPr>
          <a:lstStyle/>
          <a:p>
            <a:r>
              <a:rPr lang="en-US" sz="4000" dirty="0"/>
              <a:t>Hands-On Activity 2 (Create Multiple Bank Accounts and Call Their Methods) – Python</a:t>
            </a:r>
            <a:endParaRPr lang="en-AU" sz="4000" b="1" dirty="0">
              <a:latin typeface="Calibir"/>
            </a:endParaRPr>
          </a:p>
        </p:txBody>
      </p:sp>
      <p:sp>
        <p:nvSpPr>
          <p:cNvPr id="5" name="Rectangle 1">
            <a:extLst>
              <a:ext uri="{FF2B5EF4-FFF2-40B4-BE49-F238E27FC236}">
                <a16:creationId xmlns:a16="http://schemas.microsoft.com/office/drawing/2014/main" id="{62B85FF1-1AC3-C5A1-BAF4-D12018D890E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 name="Rectangle 1">
            <a:extLst>
              <a:ext uri="{FF2B5EF4-FFF2-40B4-BE49-F238E27FC236}">
                <a16:creationId xmlns:a16="http://schemas.microsoft.com/office/drawing/2014/main" id="{822C3266-3DCF-A667-7CBF-20FD20FD2269}"/>
              </a:ext>
            </a:extLst>
          </p:cNvPr>
          <p:cNvSpPr>
            <a:spLocks noChangeArrowheads="1"/>
          </p:cNvSpPr>
          <p:nvPr/>
        </p:nvSpPr>
        <p:spPr bwMode="auto">
          <a:xfrm>
            <a:off x="0" y="1477248"/>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Write a Python program that: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Creates a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BankAccount</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class with attributes for account holder name, account number, and balance.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Adds methods to deposit() money and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show_balance</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Creates two different bank account objects (e.g., for two Australian customers) and calls their methods to deposit money and display balances.</a:t>
            </a:r>
          </a:p>
        </p:txBody>
      </p:sp>
    </p:spTree>
    <p:extLst>
      <p:ext uri="{BB962C8B-B14F-4D97-AF65-F5344CB8AC3E}">
        <p14:creationId xmlns:p14="http://schemas.microsoft.com/office/powerpoint/2010/main" val="29797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84BC4-EC0B-65AB-236A-9F3CE080BAA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9BA43529-6962-329B-45C7-989A10DE4DA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9" name="Picture 8">
            <a:extLst>
              <a:ext uri="{FF2B5EF4-FFF2-40B4-BE49-F238E27FC236}">
                <a16:creationId xmlns:a16="http://schemas.microsoft.com/office/drawing/2014/main" id="{A330FA13-82A2-D8E7-2115-FC9A745FD339}"/>
              </a:ext>
            </a:extLst>
          </p:cNvPr>
          <p:cNvPicPr>
            <a:picLocks noChangeAspect="1"/>
          </p:cNvPicPr>
          <p:nvPr/>
        </p:nvPicPr>
        <p:blipFill>
          <a:blip r:embed="rId2"/>
          <a:srcRect l="6192" t="27935" r="60687" b="14471"/>
          <a:stretch>
            <a:fillRect/>
          </a:stretch>
        </p:blipFill>
        <p:spPr>
          <a:xfrm>
            <a:off x="0" y="0"/>
            <a:ext cx="7011396" cy="6858000"/>
          </a:xfrm>
          <a:prstGeom prst="rect">
            <a:avLst/>
          </a:prstGeom>
        </p:spPr>
      </p:pic>
      <p:sp>
        <p:nvSpPr>
          <p:cNvPr id="3" name="Rectangle 1">
            <a:extLst>
              <a:ext uri="{FF2B5EF4-FFF2-40B4-BE49-F238E27FC236}">
                <a16:creationId xmlns:a16="http://schemas.microsoft.com/office/drawing/2014/main" id="{EACB3E57-FCE3-CC0F-5E70-90398568A7E6}"/>
              </a:ext>
            </a:extLst>
          </p:cNvPr>
          <p:cNvSpPr>
            <a:spLocks noChangeArrowheads="1"/>
          </p:cNvSpPr>
          <p:nvPr/>
        </p:nvSpPr>
        <p:spPr bwMode="auto">
          <a:xfrm>
            <a:off x="7011396" y="0"/>
            <a:ext cx="5048969"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This code creates two Australian bank account objects and lets you deposit money into them and check their balances.</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4013386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4FC21-AA5D-AD24-4E53-050233FA1AD9}"/>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60E3716-91D4-9272-77BD-8B83EC0F02F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B81C51A1-7826-9656-7814-F92F009E4C73}"/>
              </a:ext>
            </a:extLst>
          </p:cNvPr>
          <p:cNvSpPr>
            <a:spLocks noChangeArrowheads="1"/>
          </p:cNvSpPr>
          <p:nvPr/>
        </p:nvSpPr>
        <p:spPr bwMode="auto">
          <a:xfrm>
            <a:off x="6992810" y="0"/>
            <a:ext cx="5180604" cy="410253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1.  Class</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200" b="0" i="0" u="none" strike="noStrike" kern="1200" cap="none" spc="0" normalizeH="0" baseline="0" noProof="0" dirty="0" err="1">
                <a:ln>
                  <a:noFill/>
                </a:ln>
                <a:solidFill>
                  <a:prstClr val="black"/>
                </a:solidFill>
                <a:effectLst/>
                <a:uLnTx/>
                <a:uFillTx/>
                <a:latin typeface="Calibir"/>
                <a:ea typeface="+mn-ea"/>
                <a:cs typeface="+mn-cs"/>
              </a:rPr>
              <a:t>BankAccount</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a blueprint for creating bank account objects.</a:t>
            </a:r>
            <a:endParaRPr kumimoji="0" lang="en-US" altLang="en-US" sz="2200" b="1"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2. Attributes (data about the object)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err="1">
                <a:ln>
                  <a:noFill/>
                </a:ln>
                <a:solidFill>
                  <a:prstClr val="black"/>
                </a:solidFill>
                <a:effectLst/>
                <a:uLnTx/>
                <a:uFillTx/>
                <a:latin typeface="Calibir"/>
                <a:ea typeface="+mn-ea"/>
                <a:cs typeface="+mn-cs"/>
              </a:rPr>
              <a:t>holder_name</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name of the customer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err="1">
                <a:ln>
                  <a:noFill/>
                </a:ln>
                <a:solidFill>
                  <a:prstClr val="black"/>
                </a:solidFill>
                <a:effectLst/>
                <a:uLnTx/>
                <a:uFillTx/>
                <a:latin typeface="Calibir"/>
                <a:ea typeface="+mn-ea"/>
                <a:cs typeface="+mn-cs"/>
              </a:rPr>
              <a:t>account_number</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unique account ID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balance → how much money is in the account</a:t>
            </a:r>
          </a:p>
        </p:txBody>
      </p:sp>
      <p:sp>
        <p:nvSpPr>
          <p:cNvPr id="10" name="TextBox 9">
            <a:extLst>
              <a:ext uri="{FF2B5EF4-FFF2-40B4-BE49-F238E27FC236}">
                <a16:creationId xmlns:a16="http://schemas.microsoft.com/office/drawing/2014/main" id="{6E352543-C5C8-7667-3239-B391BE13B824}"/>
              </a:ext>
            </a:extLst>
          </p:cNvPr>
          <p:cNvSpPr txBox="1"/>
          <p:nvPr/>
        </p:nvSpPr>
        <p:spPr>
          <a:xfrm>
            <a:off x="7018284" y="4190747"/>
            <a:ext cx="5185413" cy="2579039"/>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3. Methods (actions the object can do)</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deposit(amount) → add money to the account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0" i="0" u="none" strike="noStrike" kern="1200" cap="none" spc="0" normalizeH="0" baseline="0" noProof="0" dirty="0" err="1">
                <a:ln>
                  <a:noFill/>
                </a:ln>
                <a:solidFill>
                  <a:prstClr val="black"/>
                </a:solidFill>
                <a:effectLst/>
                <a:uLnTx/>
                <a:uFillTx/>
                <a:latin typeface="Calibir"/>
                <a:ea typeface="+mn-ea"/>
                <a:cs typeface="+mn-cs"/>
              </a:rPr>
              <a:t>show_balance</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display the current balance</a:t>
            </a:r>
          </a:p>
        </p:txBody>
      </p:sp>
      <p:pic>
        <p:nvPicPr>
          <p:cNvPr id="4" name="Picture 3">
            <a:extLst>
              <a:ext uri="{FF2B5EF4-FFF2-40B4-BE49-F238E27FC236}">
                <a16:creationId xmlns:a16="http://schemas.microsoft.com/office/drawing/2014/main" id="{E3FCEE36-EEE2-0229-3AF2-9F8F621D50EF}"/>
              </a:ext>
            </a:extLst>
          </p:cNvPr>
          <p:cNvPicPr>
            <a:picLocks noChangeAspect="1"/>
          </p:cNvPicPr>
          <p:nvPr/>
        </p:nvPicPr>
        <p:blipFill>
          <a:blip r:embed="rId2"/>
          <a:srcRect l="6192" t="27935" r="60687" b="14471"/>
          <a:stretch>
            <a:fillRect/>
          </a:stretch>
        </p:blipFill>
        <p:spPr>
          <a:xfrm>
            <a:off x="0" y="0"/>
            <a:ext cx="7011396" cy="6858000"/>
          </a:xfrm>
          <a:prstGeom prst="rect">
            <a:avLst/>
          </a:prstGeom>
        </p:spPr>
      </p:pic>
    </p:spTree>
    <p:extLst>
      <p:ext uri="{BB962C8B-B14F-4D97-AF65-F5344CB8AC3E}">
        <p14:creationId xmlns:p14="http://schemas.microsoft.com/office/powerpoint/2010/main" val="380326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F17B-9ECB-8B37-EBE9-1EF2920DEBA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AF81CF1-6875-6171-43FC-33208719C51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9D2450FD-9DBE-35DF-3155-523A897A26F5}"/>
              </a:ext>
            </a:extLst>
          </p:cNvPr>
          <p:cNvSpPr>
            <a:spLocks noChangeArrowheads="1"/>
          </p:cNvSpPr>
          <p:nvPr/>
        </p:nvSpPr>
        <p:spPr bwMode="auto">
          <a:xfrm>
            <a:off x="7011396" y="0"/>
            <a:ext cx="5081878" cy="349518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500" b="1" i="0" u="none" strike="noStrike" kern="1200" cap="none" spc="0" normalizeH="0" baseline="0" noProof="0" dirty="0">
                <a:ln>
                  <a:noFill/>
                </a:ln>
                <a:solidFill>
                  <a:prstClr val="black"/>
                </a:solidFill>
                <a:effectLst/>
                <a:uLnTx/>
                <a:uFillTx/>
                <a:latin typeface="Calibir"/>
                <a:ea typeface="+mn-ea"/>
                <a:cs typeface="+mn-cs"/>
              </a:rPr>
              <a:t>4. Objects (real examples from the class)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acc1 → Alice Smith’s account with $500 starting balance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acc2 → David Jones’ account with $1,200 starting balance</a:t>
            </a:r>
          </a:p>
        </p:txBody>
      </p:sp>
      <p:sp>
        <p:nvSpPr>
          <p:cNvPr id="10" name="TextBox 9">
            <a:extLst>
              <a:ext uri="{FF2B5EF4-FFF2-40B4-BE49-F238E27FC236}">
                <a16:creationId xmlns:a16="http://schemas.microsoft.com/office/drawing/2014/main" id="{3E90C8F5-A6A6-8024-95D5-8A873C0723B6}"/>
              </a:ext>
            </a:extLst>
          </p:cNvPr>
          <p:cNvSpPr txBox="1"/>
          <p:nvPr/>
        </p:nvSpPr>
        <p:spPr>
          <a:xfrm>
            <a:off x="7011396" y="3495188"/>
            <a:ext cx="5183613" cy="234102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500" b="1" i="0" u="none" strike="noStrike" kern="1200" cap="none" spc="0" normalizeH="0" baseline="0" noProof="0" dirty="0">
                <a:ln>
                  <a:noFill/>
                </a:ln>
                <a:solidFill>
                  <a:prstClr val="black"/>
                </a:solidFill>
                <a:effectLst/>
                <a:uLnTx/>
                <a:uFillTx/>
                <a:latin typeface="Calibir"/>
                <a:ea typeface="+mn-ea"/>
                <a:cs typeface="+mn-cs"/>
              </a:rPr>
              <a:t>5. Process</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prstClr val="black"/>
                </a:solidFill>
                <a:effectLst/>
                <a:uLnTx/>
                <a:uFillTx/>
                <a:latin typeface="Calibir"/>
                <a:ea typeface="+mn-ea"/>
                <a:cs typeface="+mn-cs"/>
              </a:rPr>
              <a:t>Create the two accounts.</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prstClr val="black"/>
                </a:solidFill>
                <a:effectLst/>
                <a:uLnTx/>
                <a:uFillTx/>
                <a:latin typeface="Calibir"/>
                <a:ea typeface="+mn-ea"/>
                <a:cs typeface="+mn-cs"/>
              </a:rPr>
              <a:t>Deposit money into each account.</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500" b="0" i="0" u="none" strike="noStrike" kern="1200" cap="none" spc="0" normalizeH="0" baseline="0" noProof="0" dirty="0">
                <a:ln>
                  <a:noFill/>
                </a:ln>
                <a:solidFill>
                  <a:prstClr val="black"/>
                </a:solidFill>
                <a:effectLst/>
                <a:uLnTx/>
                <a:uFillTx/>
                <a:latin typeface="Calibir"/>
                <a:ea typeface="+mn-ea"/>
                <a:cs typeface="+mn-cs"/>
              </a:rPr>
              <a:t>Show the updated balances.</a:t>
            </a:r>
          </a:p>
        </p:txBody>
      </p:sp>
      <p:pic>
        <p:nvPicPr>
          <p:cNvPr id="4" name="Picture 3">
            <a:extLst>
              <a:ext uri="{FF2B5EF4-FFF2-40B4-BE49-F238E27FC236}">
                <a16:creationId xmlns:a16="http://schemas.microsoft.com/office/drawing/2014/main" id="{DC88FC0D-F7BF-3A24-87DC-73AB332C305D}"/>
              </a:ext>
            </a:extLst>
          </p:cNvPr>
          <p:cNvPicPr>
            <a:picLocks noChangeAspect="1"/>
          </p:cNvPicPr>
          <p:nvPr/>
        </p:nvPicPr>
        <p:blipFill>
          <a:blip r:embed="rId2"/>
          <a:srcRect l="6192" t="27935" r="60687" b="14471"/>
          <a:stretch>
            <a:fillRect/>
          </a:stretch>
        </p:blipFill>
        <p:spPr>
          <a:xfrm>
            <a:off x="0" y="0"/>
            <a:ext cx="7011396" cy="6858000"/>
          </a:xfrm>
          <a:prstGeom prst="rect">
            <a:avLst/>
          </a:prstGeom>
        </p:spPr>
      </p:pic>
    </p:spTree>
    <p:extLst>
      <p:ext uri="{BB962C8B-B14F-4D97-AF65-F5344CB8AC3E}">
        <p14:creationId xmlns:p14="http://schemas.microsoft.com/office/powerpoint/2010/main" val="307365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BDDE7-6743-9F94-ABDC-7364F3FAF77B}"/>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3A37F71-3B1C-32AD-52C4-9E2117F2A1D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Rectangle 2">
            <a:extLst>
              <a:ext uri="{FF2B5EF4-FFF2-40B4-BE49-F238E27FC236}">
                <a16:creationId xmlns:a16="http://schemas.microsoft.com/office/drawing/2014/main" id="{E1691F9D-C905-FE00-26A7-7FACC0FCBA9A}"/>
              </a:ext>
            </a:extLst>
          </p:cNvPr>
          <p:cNvSpPr>
            <a:spLocks noChangeArrowheads="1"/>
          </p:cNvSpPr>
          <p:nvPr/>
        </p:nvSpPr>
        <p:spPr bwMode="auto">
          <a:xfrm>
            <a:off x="7011396" y="0"/>
            <a:ext cx="5180604" cy="2918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500" b="1" i="0" u="none" strike="noStrike" kern="1200" cap="none" spc="0" normalizeH="0" baseline="0" noProof="0" dirty="0">
                <a:ln>
                  <a:noFill/>
                </a:ln>
                <a:solidFill>
                  <a:prstClr val="black"/>
                </a:solidFill>
                <a:effectLst/>
                <a:uLnTx/>
                <a:uFillTx/>
                <a:latin typeface="Calibir"/>
                <a:ea typeface="+mn-ea"/>
                <a:cs typeface="+mn-cs"/>
              </a:rPr>
              <a:t>6. Key idea</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Even though acc1 and acc2 are different accounts, they are built from the same class and can do the same actions (deposit, </a:t>
            </a:r>
            <a:r>
              <a:rPr kumimoji="0" lang="en-US" altLang="en-US" sz="2500" b="0" i="0" u="none" strike="noStrike" kern="1200" cap="none" spc="0" normalizeH="0" baseline="0" noProof="0" dirty="0" err="1">
                <a:ln>
                  <a:noFill/>
                </a:ln>
                <a:solidFill>
                  <a:prstClr val="black"/>
                </a:solidFill>
                <a:effectLst/>
                <a:uLnTx/>
                <a:uFillTx/>
                <a:latin typeface="Calibir"/>
                <a:ea typeface="+mn-ea"/>
                <a:cs typeface="+mn-cs"/>
              </a:rPr>
              <a:t>show_balance</a:t>
            </a:r>
            <a:r>
              <a:rPr kumimoji="0" lang="en-US" altLang="en-US" sz="2500" b="0" i="0" u="none" strike="noStrike" kern="1200" cap="none" spc="0" normalizeH="0" baseline="0" noProof="0" dirty="0">
                <a:ln>
                  <a:noFill/>
                </a:ln>
                <a:solidFill>
                  <a:prstClr val="black"/>
                </a:solidFill>
                <a:effectLst/>
                <a:uLnTx/>
                <a:uFillTx/>
                <a:latin typeface="Calibir"/>
                <a:ea typeface="+mn-ea"/>
                <a:cs typeface="+mn-cs"/>
              </a:rPr>
              <a:t>).</a:t>
            </a:r>
          </a:p>
        </p:txBody>
      </p:sp>
      <p:pic>
        <p:nvPicPr>
          <p:cNvPr id="4" name="Picture 3">
            <a:extLst>
              <a:ext uri="{FF2B5EF4-FFF2-40B4-BE49-F238E27FC236}">
                <a16:creationId xmlns:a16="http://schemas.microsoft.com/office/drawing/2014/main" id="{29726BA1-328E-3901-BF47-EEB12C1C215E}"/>
              </a:ext>
            </a:extLst>
          </p:cNvPr>
          <p:cNvPicPr>
            <a:picLocks noChangeAspect="1"/>
          </p:cNvPicPr>
          <p:nvPr/>
        </p:nvPicPr>
        <p:blipFill>
          <a:blip r:embed="rId2"/>
          <a:srcRect l="6192" t="27935" r="60687" b="14471"/>
          <a:stretch>
            <a:fillRect/>
          </a:stretch>
        </p:blipFill>
        <p:spPr>
          <a:xfrm>
            <a:off x="0" y="0"/>
            <a:ext cx="7011396" cy="6858000"/>
          </a:xfrm>
          <a:prstGeom prst="rect">
            <a:avLst/>
          </a:prstGeom>
        </p:spPr>
      </p:pic>
    </p:spTree>
    <p:extLst>
      <p:ext uri="{BB962C8B-B14F-4D97-AF65-F5344CB8AC3E}">
        <p14:creationId xmlns:p14="http://schemas.microsoft.com/office/powerpoint/2010/main" val="280959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146E9-EFCC-2744-87CE-E0D553E56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65A81-209B-3ADC-7C9A-B9DD598A0F08}"/>
              </a:ext>
            </a:extLst>
          </p:cNvPr>
          <p:cNvSpPr>
            <a:spLocks noGrp="1"/>
          </p:cNvSpPr>
          <p:nvPr>
            <p:ph type="title"/>
          </p:nvPr>
        </p:nvSpPr>
        <p:spPr>
          <a:xfrm>
            <a:off x="0" y="1"/>
            <a:ext cx="12192000" cy="672661"/>
          </a:xfrm>
        </p:spPr>
        <p:txBody>
          <a:bodyPr anchor="b">
            <a:normAutofit/>
          </a:bodyPr>
          <a:lstStyle/>
          <a:p>
            <a:r>
              <a:rPr lang="en-US" sz="4000" dirty="0">
                <a:latin typeface="Calibir"/>
              </a:rPr>
              <a:t>Hands-On Activity 3 (OOP Example – Train Class) in Python</a:t>
            </a:r>
            <a:endParaRPr lang="en-AU" sz="4000" b="1" dirty="0">
              <a:latin typeface="Calibir"/>
            </a:endParaRPr>
          </a:p>
        </p:txBody>
      </p:sp>
      <p:sp>
        <p:nvSpPr>
          <p:cNvPr id="5" name="Rectangle 1">
            <a:extLst>
              <a:ext uri="{FF2B5EF4-FFF2-40B4-BE49-F238E27FC236}">
                <a16:creationId xmlns:a16="http://schemas.microsoft.com/office/drawing/2014/main" id="{5F0666DE-CE7F-B269-BDAC-49A75A87488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59B3E673-3C1A-F9E9-6B5A-9F95F4CE7D94}"/>
              </a:ext>
            </a:extLst>
          </p:cNvPr>
          <p:cNvSpPr>
            <a:spLocks noChangeArrowheads="1"/>
          </p:cNvSpPr>
          <p:nvPr/>
        </p:nvSpPr>
        <p:spPr bwMode="auto">
          <a:xfrm>
            <a:off x="0" y="67266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Build a class Train that can show the train number and destination (e.g., Sydney → Newcastle).</a:t>
            </a:r>
          </a:p>
        </p:txBody>
      </p:sp>
      <p:pic>
        <p:nvPicPr>
          <p:cNvPr id="7" name="Picture 6">
            <a:extLst>
              <a:ext uri="{FF2B5EF4-FFF2-40B4-BE49-F238E27FC236}">
                <a16:creationId xmlns:a16="http://schemas.microsoft.com/office/drawing/2014/main" id="{DF5B35A6-5E8D-25E8-40FB-F7CD5E15B42F}"/>
              </a:ext>
            </a:extLst>
          </p:cNvPr>
          <p:cNvPicPr>
            <a:picLocks noChangeAspect="1"/>
          </p:cNvPicPr>
          <p:nvPr/>
        </p:nvPicPr>
        <p:blipFill>
          <a:blip r:embed="rId2"/>
          <a:srcRect l="9496" t="35554" r="51031" b="23922"/>
          <a:stretch>
            <a:fillRect/>
          </a:stretch>
        </p:blipFill>
        <p:spPr>
          <a:xfrm>
            <a:off x="0" y="1887304"/>
            <a:ext cx="8675649" cy="5010009"/>
          </a:xfrm>
          <a:prstGeom prst="rect">
            <a:avLst/>
          </a:prstGeom>
        </p:spPr>
      </p:pic>
      <p:sp>
        <p:nvSpPr>
          <p:cNvPr id="8" name="Rectangle 1">
            <a:extLst>
              <a:ext uri="{FF2B5EF4-FFF2-40B4-BE49-F238E27FC236}">
                <a16:creationId xmlns:a16="http://schemas.microsoft.com/office/drawing/2014/main" id="{08A0682F-505F-FAD4-E57F-5FEE6DC0A642}"/>
              </a:ext>
            </a:extLst>
          </p:cNvPr>
          <p:cNvSpPr>
            <a:spLocks noChangeArrowheads="1"/>
          </p:cNvSpPr>
          <p:nvPr/>
        </p:nvSpPr>
        <p:spPr bwMode="auto">
          <a:xfrm>
            <a:off x="8675648" y="1887304"/>
            <a:ext cx="3516352" cy="3903504"/>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This creates a Train1 object with its number and destination, then displays them in the desired format.</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406664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6"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255D3-D4E8-8255-EABA-16E592FC8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74A54-1A1C-D5A1-25A9-9DF95D3EBB6B}"/>
              </a:ext>
            </a:extLst>
          </p:cNvPr>
          <p:cNvSpPr>
            <a:spLocks noGrp="1"/>
          </p:cNvSpPr>
          <p:nvPr>
            <p:ph type="title"/>
          </p:nvPr>
        </p:nvSpPr>
        <p:spPr>
          <a:xfrm>
            <a:off x="0" y="1"/>
            <a:ext cx="12192000" cy="672661"/>
          </a:xfrm>
        </p:spPr>
        <p:txBody>
          <a:bodyPr anchor="b">
            <a:normAutofit/>
          </a:bodyPr>
          <a:lstStyle/>
          <a:p>
            <a:r>
              <a:rPr lang="en-US" sz="4000" dirty="0">
                <a:latin typeface="Calibir"/>
              </a:rPr>
              <a:t>Hands-On Activity 3 (OOP Example – Train Class) in Python</a:t>
            </a:r>
            <a:endParaRPr lang="en-AU" sz="4000" b="1" dirty="0">
              <a:latin typeface="Calibir"/>
            </a:endParaRPr>
          </a:p>
        </p:txBody>
      </p:sp>
      <p:sp>
        <p:nvSpPr>
          <p:cNvPr id="5" name="Rectangle 1">
            <a:extLst>
              <a:ext uri="{FF2B5EF4-FFF2-40B4-BE49-F238E27FC236}">
                <a16:creationId xmlns:a16="http://schemas.microsoft.com/office/drawing/2014/main" id="{4838D26A-2078-78B6-DB23-444BE362334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C30C66DB-2079-7E8A-D7A6-3845700360A5}"/>
              </a:ext>
            </a:extLst>
          </p:cNvPr>
          <p:cNvSpPr>
            <a:spLocks noChangeArrowheads="1"/>
          </p:cNvSpPr>
          <p:nvPr/>
        </p:nvSpPr>
        <p:spPr bwMode="auto">
          <a:xfrm>
            <a:off x="0" y="672662"/>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Build a class Train that can show the train number and destination (e.g., Sydney → Newcastle).</a:t>
            </a:r>
          </a:p>
        </p:txBody>
      </p:sp>
      <p:sp>
        <p:nvSpPr>
          <p:cNvPr id="8" name="Rectangle 1">
            <a:extLst>
              <a:ext uri="{FF2B5EF4-FFF2-40B4-BE49-F238E27FC236}">
                <a16:creationId xmlns:a16="http://schemas.microsoft.com/office/drawing/2014/main" id="{FDDE319F-0E76-7151-12B4-7A49A993E511}"/>
              </a:ext>
            </a:extLst>
          </p:cNvPr>
          <p:cNvSpPr>
            <a:spLocks noChangeArrowheads="1"/>
          </p:cNvSpPr>
          <p:nvPr/>
        </p:nvSpPr>
        <p:spPr bwMode="auto">
          <a:xfrm>
            <a:off x="8675649" y="1854975"/>
            <a:ext cx="3516352" cy="5035353"/>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a:ln>
                  <a:noFill/>
                </a:ln>
                <a:solidFill>
                  <a:prstClr val="black"/>
                </a:solidFill>
                <a:effectLst/>
                <a:uLnTx/>
                <a:uFillTx/>
                <a:latin typeface="Calibir"/>
                <a:ea typeface="+mn-ea"/>
                <a:cs typeface="+mn-cs"/>
              </a:rPr>
              <a:t>class Train</a:t>
            </a:r>
            <a:r>
              <a:rPr kumimoji="0" lang="en-US" altLang="en-US" sz="1800" b="0" i="0" u="none" strike="noStrike" kern="1200" cap="none" spc="0" normalizeH="0" baseline="0" noProof="0" dirty="0">
                <a:ln>
                  <a:noFill/>
                </a:ln>
                <a:solidFill>
                  <a:prstClr val="black"/>
                </a:solidFill>
                <a:effectLst/>
                <a:uLnTx/>
                <a:uFillTx/>
                <a:latin typeface="Calibir"/>
                <a:ea typeface="+mn-ea"/>
                <a:cs typeface="+mn-cs"/>
              </a:rPr>
              <a:t> – creates a blueprint for trains.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a:ln>
                  <a:noFill/>
                </a:ln>
                <a:solidFill>
                  <a:prstClr val="black"/>
                </a:solidFill>
                <a:effectLst/>
                <a:uLnTx/>
                <a:uFillTx/>
                <a:latin typeface="Calibir"/>
                <a:ea typeface="+mn-ea"/>
                <a:cs typeface="+mn-cs"/>
              </a:rPr>
              <a:t>__</a:t>
            </a:r>
            <a:r>
              <a:rPr kumimoji="0" lang="en-US" altLang="en-US" sz="1800" b="1" i="0" u="none" strike="noStrike" kern="1200" cap="none" spc="0" normalizeH="0" baseline="0" noProof="0" dirty="0" err="1">
                <a:ln>
                  <a:noFill/>
                </a:ln>
                <a:solidFill>
                  <a:prstClr val="black"/>
                </a:solidFill>
                <a:effectLst/>
                <a:uLnTx/>
                <a:uFillTx/>
                <a:latin typeface="Calibir"/>
                <a:ea typeface="+mn-ea"/>
                <a:cs typeface="+mn-cs"/>
              </a:rPr>
              <a:t>init</a:t>
            </a:r>
            <a:r>
              <a:rPr kumimoji="0" lang="en-US" altLang="en-US" sz="1800" b="1" i="0" u="none" strike="noStrike" kern="1200" cap="none" spc="0" normalizeH="0" baseline="0" noProof="0" dirty="0">
                <a:ln>
                  <a:noFill/>
                </a:ln>
                <a:solidFill>
                  <a:prstClr val="black"/>
                </a:solidFill>
                <a:effectLst/>
                <a:uLnTx/>
                <a:uFillTx/>
                <a:latin typeface="Calibir"/>
                <a:ea typeface="+mn-ea"/>
                <a:cs typeface="+mn-cs"/>
              </a:rPr>
              <a:t>__ method</a:t>
            </a:r>
            <a:r>
              <a:rPr kumimoji="0" lang="en-US" altLang="en-US" sz="1800" b="0" i="0" u="none" strike="noStrike" kern="1200" cap="none" spc="0" normalizeH="0" baseline="0" noProof="0" dirty="0">
                <a:ln>
                  <a:noFill/>
                </a:ln>
                <a:solidFill>
                  <a:prstClr val="black"/>
                </a:solidFill>
                <a:effectLst/>
                <a:uLnTx/>
                <a:uFillTx/>
                <a:latin typeface="Calibir"/>
                <a:ea typeface="+mn-ea"/>
                <a:cs typeface="+mn-cs"/>
              </a:rPr>
              <a:t> – runs when a train is made, storing its number and destination.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err="1">
                <a:ln>
                  <a:noFill/>
                </a:ln>
                <a:solidFill>
                  <a:prstClr val="black"/>
                </a:solidFill>
                <a:effectLst/>
                <a:uLnTx/>
                <a:uFillTx/>
                <a:latin typeface="Calibir"/>
                <a:ea typeface="+mn-ea"/>
                <a:cs typeface="+mn-cs"/>
              </a:rPr>
              <a:t>show_info</a:t>
            </a:r>
            <a:r>
              <a:rPr kumimoji="0" lang="en-US" altLang="en-US" sz="1800" b="1" i="0" u="none" strike="noStrike" kern="1200" cap="none" spc="0" normalizeH="0" baseline="0" noProof="0" dirty="0">
                <a:ln>
                  <a:noFill/>
                </a:ln>
                <a:solidFill>
                  <a:prstClr val="black"/>
                </a:solidFill>
                <a:effectLst/>
                <a:uLnTx/>
                <a:uFillTx/>
                <a:latin typeface="Calibir"/>
                <a:ea typeface="+mn-ea"/>
                <a:cs typeface="+mn-cs"/>
              </a:rPr>
              <a:t> method</a:t>
            </a:r>
            <a:r>
              <a:rPr kumimoji="0" lang="en-US" altLang="en-US" sz="1800" b="0" i="0" u="none" strike="noStrike" kern="1200" cap="none" spc="0" normalizeH="0" baseline="0" noProof="0" dirty="0">
                <a:ln>
                  <a:noFill/>
                </a:ln>
                <a:solidFill>
                  <a:prstClr val="black"/>
                </a:solidFill>
                <a:effectLst/>
                <a:uLnTx/>
                <a:uFillTx/>
                <a:latin typeface="Calibir"/>
                <a:ea typeface="+mn-ea"/>
                <a:cs typeface="+mn-cs"/>
              </a:rPr>
              <a:t> – prints the train’s details (number and where it’s going).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a:ln>
                  <a:noFill/>
                </a:ln>
                <a:solidFill>
                  <a:prstClr val="black"/>
                </a:solidFill>
                <a:effectLst/>
                <a:uLnTx/>
                <a:uFillTx/>
                <a:latin typeface="Calibir"/>
                <a:ea typeface="+mn-ea"/>
                <a:cs typeface="+mn-cs"/>
              </a:rPr>
              <a:t>Example use</a:t>
            </a:r>
            <a:r>
              <a:rPr kumimoji="0" lang="en-US" altLang="en-US" sz="1800" b="0" i="0" u="none" strike="noStrike" kern="1200" cap="none" spc="0" normalizeH="0" baseline="0" noProof="0" dirty="0">
                <a:ln>
                  <a:noFill/>
                </a:ln>
                <a:solidFill>
                  <a:prstClr val="black"/>
                </a:solidFill>
                <a:effectLst/>
                <a:uLnTx/>
                <a:uFillTx/>
                <a:latin typeface="Calibir"/>
                <a:ea typeface="+mn-ea"/>
                <a:cs typeface="+mn-cs"/>
              </a:rPr>
              <a:t> – we make a train (T123 from Sydney to Newcastle) and call </a:t>
            </a:r>
            <a:r>
              <a:rPr kumimoji="0" lang="en-US" altLang="en-US" sz="1800" b="0" i="0" u="none" strike="noStrike" kern="1200" cap="none" spc="0" normalizeH="0" baseline="0" noProof="0" dirty="0" err="1">
                <a:ln>
                  <a:noFill/>
                </a:ln>
                <a:solidFill>
                  <a:prstClr val="black"/>
                </a:solidFill>
                <a:effectLst/>
                <a:uLnTx/>
                <a:uFillTx/>
                <a:latin typeface="Calibir"/>
                <a:ea typeface="+mn-ea"/>
                <a:cs typeface="+mn-cs"/>
              </a:rPr>
              <a:t>show_info</a:t>
            </a:r>
            <a:r>
              <a:rPr kumimoji="0" lang="en-US" altLang="en-US" sz="1800" b="0" i="0" u="none" strike="noStrike" kern="1200" cap="none" spc="0" normalizeH="0" baseline="0" noProof="0" dirty="0">
                <a:ln>
                  <a:noFill/>
                </a:ln>
                <a:solidFill>
                  <a:prstClr val="black"/>
                </a:solidFill>
                <a:effectLst/>
                <a:uLnTx/>
                <a:uFillTx/>
                <a:latin typeface="Calibir"/>
                <a:ea typeface="+mn-ea"/>
                <a:cs typeface="+mn-cs"/>
              </a:rPr>
              <a:t>() to display it.</a:t>
            </a:r>
          </a:p>
        </p:txBody>
      </p:sp>
      <p:pic>
        <p:nvPicPr>
          <p:cNvPr id="4" name="Picture 3">
            <a:extLst>
              <a:ext uri="{FF2B5EF4-FFF2-40B4-BE49-F238E27FC236}">
                <a16:creationId xmlns:a16="http://schemas.microsoft.com/office/drawing/2014/main" id="{2AE68E4D-C1BD-E125-B242-BB4207B3A117}"/>
              </a:ext>
            </a:extLst>
          </p:cNvPr>
          <p:cNvPicPr>
            <a:picLocks noChangeAspect="1"/>
          </p:cNvPicPr>
          <p:nvPr/>
        </p:nvPicPr>
        <p:blipFill>
          <a:blip r:embed="rId2"/>
          <a:srcRect l="9496" t="35554" r="51031" b="23922"/>
          <a:stretch>
            <a:fillRect/>
          </a:stretch>
        </p:blipFill>
        <p:spPr>
          <a:xfrm>
            <a:off x="0" y="1887304"/>
            <a:ext cx="8675649" cy="5010009"/>
          </a:xfrm>
          <a:prstGeom prst="rect">
            <a:avLst/>
          </a:prstGeom>
        </p:spPr>
      </p:pic>
    </p:spTree>
    <p:extLst>
      <p:ext uri="{BB962C8B-B14F-4D97-AF65-F5344CB8AC3E}">
        <p14:creationId xmlns:p14="http://schemas.microsoft.com/office/powerpoint/2010/main" val="145031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03F0-48D6-C697-BC14-9B592237A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79B0-2E6C-6EAA-6893-8C693374B87B}"/>
              </a:ext>
            </a:extLst>
          </p:cNvPr>
          <p:cNvSpPr>
            <a:spLocks noGrp="1"/>
          </p:cNvSpPr>
          <p:nvPr>
            <p:ph type="title"/>
          </p:nvPr>
        </p:nvSpPr>
        <p:spPr>
          <a:xfrm>
            <a:off x="0" y="1"/>
            <a:ext cx="12192000" cy="672661"/>
          </a:xfrm>
        </p:spPr>
        <p:txBody>
          <a:bodyPr anchor="b">
            <a:normAutofit/>
          </a:bodyPr>
          <a:lstStyle/>
          <a:p>
            <a:r>
              <a:rPr lang="en-US" sz="4000" dirty="0">
                <a:latin typeface="Calibir"/>
              </a:rPr>
              <a:t>Hands-On Activity 3 (OOP Example – Train Class) in Python</a:t>
            </a:r>
            <a:endParaRPr lang="en-AU" sz="4000" b="1" dirty="0">
              <a:latin typeface="Calibir"/>
            </a:endParaRPr>
          </a:p>
        </p:txBody>
      </p:sp>
      <p:sp>
        <p:nvSpPr>
          <p:cNvPr id="5" name="Rectangle 1">
            <a:extLst>
              <a:ext uri="{FF2B5EF4-FFF2-40B4-BE49-F238E27FC236}">
                <a16:creationId xmlns:a16="http://schemas.microsoft.com/office/drawing/2014/main" id="{37732C7D-0021-BFB6-CBB4-6222C3CBAC83}"/>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1">
            <a:extLst>
              <a:ext uri="{FF2B5EF4-FFF2-40B4-BE49-F238E27FC236}">
                <a16:creationId xmlns:a16="http://schemas.microsoft.com/office/drawing/2014/main" id="{60024ECB-63D5-44B0-13D4-4429609A3A6D}"/>
              </a:ext>
            </a:extLst>
          </p:cNvPr>
          <p:cNvSpPr>
            <a:spLocks noChangeArrowheads="1"/>
          </p:cNvSpPr>
          <p:nvPr/>
        </p:nvSpPr>
        <p:spPr bwMode="auto">
          <a:xfrm>
            <a:off x="8675649" y="1672683"/>
            <a:ext cx="3498040" cy="5185316"/>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Class</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the blueprint (Train)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Object</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something built from the blueprint (train1)</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Attributes</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data stored inside the object (number, destination)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Methods</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actions the object can do (</a:t>
            </a:r>
            <a:r>
              <a:rPr kumimoji="0" lang="en-US" altLang="en-US" sz="2200" b="0" i="0" u="none" strike="noStrike" kern="1200" cap="none" spc="0" normalizeH="0" baseline="0" noProof="0" dirty="0" err="1">
                <a:ln>
                  <a:noFill/>
                </a:ln>
                <a:solidFill>
                  <a:prstClr val="black"/>
                </a:solidFill>
                <a:effectLst/>
                <a:uLnTx/>
                <a:uFillTx/>
                <a:latin typeface="Calibir"/>
                <a:ea typeface="+mn-ea"/>
                <a:cs typeface="+mn-cs"/>
              </a:rPr>
              <a:t>show_info</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a:t>
            </a:r>
          </a:p>
        </p:txBody>
      </p:sp>
      <p:pic>
        <p:nvPicPr>
          <p:cNvPr id="3" name="Picture 2">
            <a:extLst>
              <a:ext uri="{FF2B5EF4-FFF2-40B4-BE49-F238E27FC236}">
                <a16:creationId xmlns:a16="http://schemas.microsoft.com/office/drawing/2014/main" id="{718C0103-9762-6CB9-C1E0-24CD58E75163}"/>
              </a:ext>
            </a:extLst>
          </p:cNvPr>
          <p:cNvPicPr>
            <a:picLocks noChangeAspect="1"/>
          </p:cNvPicPr>
          <p:nvPr/>
        </p:nvPicPr>
        <p:blipFill>
          <a:blip r:embed="rId2"/>
          <a:srcRect l="9496" t="35554" r="51031" b="23922"/>
          <a:stretch>
            <a:fillRect/>
          </a:stretch>
        </p:blipFill>
        <p:spPr>
          <a:xfrm>
            <a:off x="0" y="1887304"/>
            <a:ext cx="8675649" cy="5010009"/>
          </a:xfrm>
          <a:prstGeom prst="rect">
            <a:avLst/>
          </a:prstGeom>
        </p:spPr>
      </p:pic>
    </p:spTree>
    <p:extLst>
      <p:ext uri="{BB962C8B-B14F-4D97-AF65-F5344CB8AC3E}">
        <p14:creationId xmlns:p14="http://schemas.microsoft.com/office/powerpoint/2010/main" val="3699839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175E-DA15-6AA3-12B8-72E66FC5B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CD2B0-E8FB-9DDF-64B6-FEF46BB00336}"/>
              </a:ext>
            </a:extLst>
          </p:cNvPr>
          <p:cNvSpPr>
            <a:spLocks noGrp="1"/>
          </p:cNvSpPr>
          <p:nvPr>
            <p:ph type="title"/>
          </p:nvPr>
        </p:nvSpPr>
        <p:spPr>
          <a:xfrm>
            <a:off x="0" y="1"/>
            <a:ext cx="12192000" cy="1120876"/>
          </a:xfrm>
        </p:spPr>
        <p:txBody>
          <a:bodyPr anchor="b">
            <a:normAutofit fontScale="90000"/>
          </a:bodyPr>
          <a:lstStyle/>
          <a:p>
            <a:r>
              <a:rPr lang="en-US" sz="4000" dirty="0">
                <a:latin typeface="Calibir"/>
              </a:rPr>
              <a:t>Hands-On Activity 4 (Create Your </a:t>
            </a:r>
            <a:r>
              <a:rPr lang="en-US" sz="4000" dirty="0" err="1">
                <a:latin typeface="Calibir"/>
              </a:rPr>
              <a:t>Favourite</a:t>
            </a:r>
            <a:r>
              <a:rPr lang="en-US" sz="4000" dirty="0">
                <a:latin typeface="Calibir"/>
              </a:rPr>
              <a:t> Aussie Sport Class) in Python</a:t>
            </a:r>
            <a:endParaRPr lang="en-AU" sz="4000" b="1" dirty="0">
              <a:latin typeface="Calibir"/>
            </a:endParaRPr>
          </a:p>
        </p:txBody>
      </p:sp>
      <p:sp>
        <p:nvSpPr>
          <p:cNvPr id="5" name="Rectangle 1">
            <a:extLst>
              <a:ext uri="{FF2B5EF4-FFF2-40B4-BE49-F238E27FC236}">
                <a16:creationId xmlns:a16="http://schemas.microsoft.com/office/drawing/2014/main" id="{781FC9F2-2844-D11D-CA84-7B8CE3A0D1A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BB81F25F-E6F4-9C53-F5B3-089793EF67E8}"/>
              </a:ext>
            </a:extLst>
          </p:cNvPr>
          <p:cNvSpPr>
            <a:spLocks noChangeArrowheads="1"/>
          </p:cNvSpPr>
          <p:nvPr/>
        </p:nvSpPr>
        <p:spPr bwMode="auto">
          <a:xfrm>
            <a:off x="1" y="932901"/>
            <a:ext cx="12192000" cy="1321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Create a class for a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favourite</a:t>
            </a:r>
            <a:r>
              <a:rPr kumimoji="0" lang="en-US" sz="2800" b="0" i="0" u="none" strike="noStrike" kern="1200" cap="none" spc="0" normalizeH="0" baseline="0" noProof="0" dirty="0">
                <a:ln>
                  <a:noFill/>
                </a:ln>
                <a:solidFill>
                  <a:prstClr val="black"/>
                </a:solidFill>
                <a:effectLst/>
                <a:uLnTx/>
                <a:uFillTx/>
                <a:latin typeface="Calibir"/>
                <a:ea typeface="+mn-ea"/>
                <a:cs typeface="+mn-cs"/>
              </a:rPr>
              <a:t> Aussie sport (e.g.,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CricketPlayer</a:t>
            </a:r>
            <a:r>
              <a:rPr kumimoji="0" lang="en-US" sz="2800" b="0" i="0" u="none" strike="noStrike" kern="1200" cap="none" spc="0" normalizeH="0" baseline="0" noProof="0" dirty="0">
                <a:ln>
                  <a:noFill/>
                </a:ln>
                <a:solidFill>
                  <a:prstClr val="black"/>
                </a:solidFill>
                <a:effectLst/>
                <a:uLnTx/>
                <a:uFillTx/>
                <a:latin typeface="Calibir"/>
                <a:ea typeface="+mn-ea"/>
                <a:cs typeface="+mn-cs"/>
              </a:rPr>
              <a:t>) with attributes and actions.</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6" name="Picture 5">
            <a:extLst>
              <a:ext uri="{FF2B5EF4-FFF2-40B4-BE49-F238E27FC236}">
                <a16:creationId xmlns:a16="http://schemas.microsoft.com/office/drawing/2014/main" id="{E35F1EBD-14E6-B484-B58B-77A1FC7160AE}"/>
              </a:ext>
            </a:extLst>
          </p:cNvPr>
          <p:cNvPicPr>
            <a:picLocks noChangeAspect="1"/>
          </p:cNvPicPr>
          <p:nvPr/>
        </p:nvPicPr>
        <p:blipFill>
          <a:blip r:embed="rId2"/>
          <a:srcRect l="5529" t="32959" r="44852" b="14425"/>
          <a:stretch>
            <a:fillRect/>
          </a:stretch>
        </p:blipFill>
        <p:spPr>
          <a:xfrm>
            <a:off x="0" y="2228665"/>
            <a:ext cx="7761249" cy="4629334"/>
          </a:xfrm>
          <a:prstGeom prst="rect">
            <a:avLst/>
          </a:prstGeom>
        </p:spPr>
      </p:pic>
      <p:sp>
        <p:nvSpPr>
          <p:cNvPr id="7" name="Rectangle 1">
            <a:extLst>
              <a:ext uri="{FF2B5EF4-FFF2-40B4-BE49-F238E27FC236}">
                <a16:creationId xmlns:a16="http://schemas.microsoft.com/office/drawing/2014/main" id="{CA6E7B17-BA1D-6312-A4EF-5744A56129EB}"/>
              </a:ext>
            </a:extLst>
          </p:cNvPr>
          <p:cNvSpPr>
            <a:spLocks noChangeArrowheads="1"/>
          </p:cNvSpPr>
          <p:nvPr/>
        </p:nvSpPr>
        <p:spPr bwMode="auto">
          <a:xfrm>
            <a:off x="7761248" y="2173468"/>
            <a:ext cx="4430751" cy="468453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Attributes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name, team, runs → facts about the player.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Actions (methods)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score_run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and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show_info</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what the player can do.</a:t>
            </a:r>
          </a:p>
        </p:txBody>
      </p:sp>
    </p:spTree>
    <p:extLst>
      <p:ext uri="{BB962C8B-B14F-4D97-AF65-F5344CB8AC3E}">
        <p14:creationId xmlns:p14="http://schemas.microsoft.com/office/powerpoint/2010/main" val="204645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4AD0-9350-31DD-D9E4-79D481BD0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E32E6-B43B-64A4-5698-A9F93A53BAC3}"/>
              </a:ext>
            </a:extLst>
          </p:cNvPr>
          <p:cNvSpPr>
            <a:spLocks noGrp="1"/>
          </p:cNvSpPr>
          <p:nvPr>
            <p:ph type="title"/>
          </p:nvPr>
        </p:nvSpPr>
        <p:spPr>
          <a:xfrm>
            <a:off x="0" y="1"/>
            <a:ext cx="12192000" cy="766915"/>
          </a:xfrm>
        </p:spPr>
        <p:txBody>
          <a:bodyPr anchor="b">
            <a:normAutofit/>
          </a:bodyPr>
          <a:lstStyle/>
          <a:p>
            <a:r>
              <a:rPr lang="en-US" sz="4000" dirty="0">
                <a:latin typeface="Calibir"/>
              </a:rPr>
              <a:t>Data Types, Variables, and Operators</a:t>
            </a:r>
            <a:endParaRPr lang="en-AU" sz="4000" b="1" dirty="0">
              <a:latin typeface="Calibir"/>
            </a:endParaRPr>
          </a:p>
        </p:txBody>
      </p:sp>
      <p:sp>
        <p:nvSpPr>
          <p:cNvPr id="5" name="Rectangle 1">
            <a:extLst>
              <a:ext uri="{FF2B5EF4-FFF2-40B4-BE49-F238E27FC236}">
                <a16:creationId xmlns:a16="http://schemas.microsoft.com/office/drawing/2014/main" id="{587BEA07-513D-D2F7-E699-9B9AF2F3009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F8A2BE69-8F15-0F18-EE81-3610133D448A}"/>
              </a:ext>
            </a:extLst>
          </p:cNvPr>
          <p:cNvSpPr>
            <a:spLocks noChangeArrowheads="1"/>
          </p:cNvSpPr>
          <p:nvPr/>
        </p:nvSpPr>
        <p:spPr bwMode="auto">
          <a:xfrm>
            <a:off x="0" y="799508"/>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Variables are like containers that store information.</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Python:</a:t>
            </a:r>
            <a:r>
              <a:rPr kumimoji="0" lang="en-US" sz="2800" b="0" i="0" u="none" strike="noStrike" kern="1200" cap="none" spc="0" normalizeH="0" baseline="0" noProof="0" dirty="0">
                <a:ln>
                  <a:noFill/>
                </a:ln>
                <a:solidFill>
                  <a:prstClr val="black"/>
                </a:solidFill>
                <a:effectLst/>
                <a:uLnTx/>
                <a:uFillTx/>
                <a:latin typeface="Calibir"/>
                <a:ea typeface="+mn-ea"/>
                <a:cs typeface="+mn-cs"/>
              </a:rPr>
              <a:t> Flexible – you can put anything inside.</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Java:</a:t>
            </a:r>
            <a:r>
              <a:rPr kumimoji="0" lang="en-US" sz="2800" b="0" i="0" u="none" strike="noStrike" kern="1200" cap="none" spc="0" normalizeH="0" baseline="0" noProof="0" dirty="0">
                <a:ln>
                  <a:noFill/>
                </a:ln>
                <a:solidFill>
                  <a:prstClr val="black"/>
                </a:solidFill>
                <a:effectLst/>
                <a:uLnTx/>
                <a:uFillTx/>
                <a:latin typeface="Calibir"/>
                <a:ea typeface="+mn-ea"/>
                <a:cs typeface="+mn-cs"/>
              </a:rPr>
              <a:t> Strict – each container has a label for the type it can hold.</a:t>
            </a:r>
          </a:p>
        </p:txBody>
      </p:sp>
    </p:spTree>
    <p:extLst>
      <p:ext uri="{BB962C8B-B14F-4D97-AF65-F5344CB8AC3E}">
        <p14:creationId xmlns:p14="http://schemas.microsoft.com/office/powerpoint/2010/main" val="2142777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1DA8-F173-B0AD-DE4B-121B89DEF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5D32A-D0E4-0330-0269-1BC49E3E748D}"/>
              </a:ext>
            </a:extLst>
          </p:cNvPr>
          <p:cNvSpPr>
            <a:spLocks noGrp="1"/>
          </p:cNvSpPr>
          <p:nvPr>
            <p:ph type="title"/>
          </p:nvPr>
        </p:nvSpPr>
        <p:spPr>
          <a:xfrm>
            <a:off x="0" y="1"/>
            <a:ext cx="12192000" cy="766915"/>
          </a:xfrm>
        </p:spPr>
        <p:txBody>
          <a:bodyPr anchor="b">
            <a:normAutofit/>
          </a:bodyPr>
          <a:lstStyle/>
          <a:p>
            <a:r>
              <a:rPr lang="en-US" sz="4000" dirty="0">
                <a:latin typeface="Calibir"/>
              </a:rPr>
              <a:t>Data Types, Variables, and Operators</a:t>
            </a:r>
            <a:endParaRPr lang="en-AU" sz="4000" b="1" dirty="0">
              <a:latin typeface="Calibir"/>
            </a:endParaRPr>
          </a:p>
        </p:txBody>
      </p:sp>
      <p:sp>
        <p:nvSpPr>
          <p:cNvPr id="5" name="Rectangle 1">
            <a:extLst>
              <a:ext uri="{FF2B5EF4-FFF2-40B4-BE49-F238E27FC236}">
                <a16:creationId xmlns:a16="http://schemas.microsoft.com/office/drawing/2014/main" id="{A0A40018-FE41-94A6-E429-67C4544EE40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EA96834D-E0AF-0940-BE20-298416742110}"/>
              </a:ext>
            </a:extLst>
          </p:cNvPr>
          <p:cNvSpPr>
            <a:spLocks noChangeArrowheads="1"/>
          </p:cNvSpPr>
          <p:nvPr/>
        </p:nvSpPr>
        <p:spPr bwMode="auto">
          <a:xfrm>
            <a:off x="0" y="1477247"/>
            <a:ext cx="4807973"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Common types:</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int – whole numbers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float / double – decimals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boolean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true/false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char – one letter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String – text</a:t>
            </a:r>
          </a:p>
        </p:txBody>
      </p:sp>
      <p:sp>
        <p:nvSpPr>
          <p:cNvPr id="6" name="Rectangle 2">
            <a:extLst>
              <a:ext uri="{FF2B5EF4-FFF2-40B4-BE49-F238E27FC236}">
                <a16:creationId xmlns:a16="http://schemas.microsoft.com/office/drawing/2014/main" id="{F609C402-4A21-C7CA-3A42-779A7A033FBA}"/>
              </a:ext>
            </a:extLst>
          </p:cNvPr>
          <p:cNvSpPr>
            <a:spLocks noChangeArrowheads="1"/>
          </p:cNvSpPr>
          <p:nvPr/>
        </p:nvSpPr>
        <p:spPr bwMode="auto">
          <a:xfrm>
            <a:off x="4807973" y="1154082"/>
            <a:ext cx="7384027"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These types are explicitly defined in Java, but Python handles them differently:</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Java: We must declare the type (int age = 25;) – it’s strictly typed.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Python: We don’t declare the type (age = 25) – it’s dynamically typed, but those </a:t>
            </a:r>
            <a:r>
              <a:rPr kumimoji="0" lang="en-US" altLang="en-US" sz="2800" b="0" i="1" u="none" strike="noStrike" kern="1200" cap="none" spc="0" normalizeH="0" baseline="0" noProof="0" dirty="0">
                <a:ln>
                  <a:noFill/>
                </a:ln>
                <a:solidFill>
                  <a:prstClr val="black"/>
                </a:solidFill>
                <a:effectLst/>
                <a:uLnTx/>
                <a:uFillTx/>
                <a:latin typeface="Calibir"/>
                <a:ea typeface="+mn-ea"/>
                <a:cs typeface="+mn-cs"/>
              </a:rPr>
              <a:t>kinds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of values still exist.</a:t>
            </a:r>
          </a:p>
        </p:txBody>
      </p:sp>
    </p:spTree>
    <p:extLst>
      <p:ext uri="{BB962C8B-B14F-4D97-AF65-F5344CB8AC3E}">
        <p14:creationId xmlns:p14="http://schemas.microsoft.com/office/powerpoint/2010/main" val="1045880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6196E-F37A-5FFB-C803-F45EA924B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2FC8F-67B7-BE77-6E88-717569AB868C}"/>
              </a:ext>
            </a:extLst>
          </p:cNvPr>
          <p:cNvSpPr>
            <a:spLocks noGrp="1"/>
          </p:cNvSpPr>
          <p:nvPr>
            <p:ph type="title"/>
          </p:nvPr>
        </p:nvSpPr>
        <p:spPr>
          <a:xfrm>
            <a:off x="0" y="1"/>
            <a:ext cx="12192000" cy="766915"/>
          </a:xfrm>
        </p:spPr>
        <p:txBody>
          <a:bodyPr anchor="b">
            <a:normAutofit/>
          </a:bodyPr>
          <a:lstStyle/>
          <a:p>
            <a:r>
              <a:rPr lang="en-US" sz="4000" dirty="0">
                <a:latin typeface="Calibir"/>
              </a:rPr>
              <a:t>Data Types, Variables, and Operators</a:t>
            </a:r>
            <a:endParaRPr lang="en-AU" sz="4000" b="1" dirty="0">
              <a:latin typeface="Calibir"/>
            </a:endParaRPr>
          </a:p>
        </p:txBody>
      </p:sp>
      <p:sp>
        <p:nvSpPr>
          <p:cNvPr id="5" name="Rectangle 1">
            <a:extLst>
              <a:ext uri="{FF2B5EF4-FFF2-40B4-BE49-F238E27FC236}">
                <a16:creationId xmlns:a16="http://schemas.microsoft.com/office/drawing/2014/main" id="{6261B6F5-C5DA-0C7A-BB81-84201588845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 name="Rectangle 1">
            <a:extLst>
              <a:ext uri="{FF2B5EF4-FFF2-40B4-BE49-F238E27FC236}">
                <a16:creationId xmlns:a16="http://schemas.microsoft.com/office/drawing/2014/main" id="{55936F26-9260-13D8-FD55-D4BB704CD25D}"/>
              </a:ext>
            </a:extLst>
          </p:cNvPr>
          <p:cNvSpPr>
            <a:spLocks noChangeArrowheads="1"/>
          </p:cNvSpPr>
          <p:nvPr/>
        </p:nvSpPr>
        <p:spPr bwMode="auto">
          <a:xfrm>
            <a:off x="0" y="1477248"/>
            <a:ext cx="4807973"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Common types:</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int – whole numbers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float / double – decimals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boolean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true/false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char – one letter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String – text</a:t>
            </a:r>
          </a:p>
        </p:txBody>
      </p:sp>
      <p:sp>
        <p:nvSpPr>
          <p:cNvPr id="6" name="Rectangle 2">
            <a:extLst>
              <a:ext uri="{FF2B5EF4-FFF2-40B4-BE49-F238E27FC236}">
                <a16:creationId xmlns:a16="http://schemas.microsoft.com/office/drawing/2014/main" id="{A3891015-A5E4-5BC6-85A6-83033899BCEE}"/>
              </a:ext>
            </a:extLst>
          </p:cNvPr>
          <p:cNvSpPr>
            <a:spLocks noChangeArrowheads="1"/>
          </p:cNvSpPr>
          <p:nvPr/>
        </p:nvSpPr>
        <p:spPr bwMode="auto">
          <a:xfrm>
            <a:off x="4807973" y="830917"/>
            <a:ext cx="7384027"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So:</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 Java, int, double,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boolean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char, and String are actual type keywords (except String, which is a class).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 Python, the variable type is inferred automatically, but it still stores integers, floats,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booleans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strings, etc. (char isn’t a separate type; it’s just a string of length 1).</a:t>
            </a:r>
          </a:p>
        </p:txBody>
      </p:sp>
    </p:spTree>
    <p:extLst>
      <p:ext uri="{BB962C8B-B14F-4D97-AF65-F5344CB8AC3E}">
        <p14:creationId xmlns:p14="http://schemas.microsoft.com/office/powerpoint/2010/main" val="3903548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076EA-3E37-BA94-D931-9B7AE5458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37FA2-0778-29DC-3D16-02259BCCE9B0}"/>
              </a:ext>
            </a:extLst>
          </p:cNvPr>
          <p:cNvSpPr>
            <a:spLocks noGrp="1"/>
          </p:cNvSpPr>
          <p:nvPr>
            <p:ph type="title"/>
          </p:nvPr>
        </p:nvSpPr>
        <p:spPr>
          <a:xfrm>
            <a:off x="0" y="1"/>
            <a:ext cx="12192000" cy="766915"/>
          </a:xfrm>
        </p:spPr>
        <p:txBody>
          <a:bodyPr anchor="b">
            <a:normAutofit/>
          </a:bodyPr>
          <a:lstStyle/>
          <a:p>
            <a:r>
              <a:rPr lang="en-US" sz="4000" dirty="0">
                <a:latin typeface="Calibir"/>
              </a:rPr>
              <a:t>Data Types, Variables, and Operators</a:t>
            </a:r>
            <a:endParaRPr lang="en-AU" sz="4000" b="1" dirty="0">
              <a:latin typeface="Calibir"/>
            </a:endParaRPr>
          </a:p>
        </p:txBody>
      </p:sp>
      <p:sp>
        <p:nvSpPr>
          <p:cNvPr id="5" name="Rectangle 1">
            <a:extLst>
              <a:ext uri="{FF2B5EF4-FFF2-40B4-BE49-F238E27FC236}">
                <a16:creationId xmlns:a16="http://schemas.microsoft.com/office/drawing/2014/main" id="{DFE8E74E-2F4F-2FC0-7331-E5ABE052DB5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Rectangle 1">
            <a:extLst>
              <a:ext uri="{FF2B5EF4-FFF2-40B4-BE49-F238E27FC236}">
                <a16:creationId xmlns:a16="http://schemas.microsoft.com/office/drawing/2014/main" id="{C6A9D88F-E727-924D-76A9-996AAFD79B99}"/>
              </a:ext>
            </a:extLst>
          </p:cNvPr>
          <p:cNvSpPr>
            <a:spLocks noChangeArrowheads="1"/>
          </p:cNvSpPr>
          <p:nvPr/>
        </p:nvSpPr>
        <p:spPr bwMode="auto">
          <a:xfrm>
            <a:off x="184731" y="818157"/>
            <a:ext cx="6103274"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Australian Example: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Temperature in Sydney: float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Number of trams in Melbourne: int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Is it a public holiday in NSW?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boolean</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graphicFrame>
        <p:nvGraphicFramePr>
          <p:cNvPr id="9" name="Table 8">
            <a:extLst>
              <a:ext uri="{FF2B5EF4-FFF2-40B4-BE49-F238E27FC236}">
                <a16:creationId xmlns:a16="http://schemas.microsoft.com/office/drawing/2014/main" id="{4A3E9946-017E-8D1C-3E86-964D53AA9A9C}"/>
              </a:ext>
            </a:extLst>
          </p:cNvPr>
          <p:cNvGraphicFramePr>
            <a:graphicFrameLocks noGrp="1"/>
          </p:cNvGraphicFramePr>
          <p:nvPr/>
        </p:nvGraphicFramePr>
        <p:xfrm>
          <a:off x="838200" y="3682729"/>
          <a:ext cx="10515600" cy="2661412"/>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303513295"/>
                    </a:ext>
                  </a:extLst>
                </a:gridCol>
                <a:gridCol w="3505200">
                  <a:extLst>
                    <a:ext uri="{9D8B030D-6E8A-4147-A177-3AD203B41FA5}">
                      <a16:colId xmlns:a16="http://schemas.microsoft.com/office/drawing/2014/main" val="117839560"/>
                    </a:ext>
                  </a:extLst>
                </a:gridCol>
                <a:gridCol w="3505200">
                  <a:extLst>
                    <a:ext uri="{9D8B030D-6E8A-4147-A177-3AD203B41FA5}">
                      <a16:colId xmlns:a16="http://schemas.microsoft.com/office/drawing/2014/main" val="3102399417"/>
                    </a:ext>
                  </a:extLst>
                </a:gridCol>
              </a:tblGrid>
              <a:tr h="0">
                <a:tc>
                  <a:txBody>
                    <a:bodyPr/>
                    <a:lstStyle/>
                    <a:p>
                      <a:pPr>
                        <a:lnSpc>
                          <a:spcPct val="150000"/>
                        </a:lnSpc>
                        <a:buNone/>
                      </a:pPr>
                      <a:r>
                        <a:rPr lang="en-US" sz="2800" dirty="0">
                          <a:latin typeface="Calibir"/>
                        </a:rPr>
                        <a:t>Type</a:t>
                      </a:r>
                    </a:p>
                  </a:txBody>
                  <a:tcPr anchor="ctr">
                    <a:solidFill>
                      <a:schemeClr val="accent5">
                        <a:lumMod val="20000"/>
                        <a:lumOff val="80000"/>
                      </a:schemeClr>
                    </a:solidFill>
                  </a:tcPr>
                </a:tc>
                <a:tc>
                  <a:txBody>
                    <a:bodyPr/>
                    <a:lstStyle/>
                    <a:p>
                      <a:pPr>
                        <a:lnSpc>
                          <a:spcPct val="150000"/>
                        </a:lnSpc>
                        <a:buNone/>
                      </a:pPr>
                      <a:r>
                        <a:rPr lang="en-US" sz="2800" dirty="0">
                          <a:latin typeface="Calibir"/>
                        </a:rPr>
                        <a:t>Python Example</a:t>
                      </a:r>
                    </a:p>
                  </a:txBody>
                  <a:tcPr anchor="ctr">
                    <a:solidFill>
                      <a:schemeClr val="accent5">
                        <a:lumMod val="20000"/>
                        <a:lumOff val="80000"/>
                      </a:schemeClr>
                    </a:solidFill>
                  </a:tcPr>
                </a:tc>
                <a:tc>
                  <a:txBody>
                    <a:bodyPr/>
                    <a:lstStyle/>
                    <a:p>
                      <a:pPr>
                        <a:lnSpc>
                          <a:spcPct val="150000"/>
                        </a:lnSpc>
                        <a:buNone/>
                      </a:pPr>
                      <a:r>
                        <a:rPr lang="en-US" sz="2800" dirty="0">
                          <a:latin typeface="Calibir"/>
                        </a:rPr>
                        <a:t>Java Example</a:t>
                      </a:r>
                    </a:p>
                  </a:txBody>
                  <a:tcPr anchor="ctr">
                    <a:solidFill>
                      <a:schemeClr val="accent5">
                        <a:lumMod val="20000"/>
                        <a:lumOff val="80000"/>
                      </a:schemeClr>
                    </a:solidFill>
                  </a:tcPr>
                </a:tc>
                <a:extLst>
                  <a:ext uri="{0D108BD9-81ED-4DB2-BD59-A6C34878D82A}">
                    <a16:rowId xmlns:a16="http://schemas.microsoft.com/office/drawing/2014/main" val="1272621766"/>
                  </a:ext>
                </a:extLst>
              </a:tr>
              <a:tr h="0">
                <a:tc>
                  <a:txBody>
                    <a:bodyPr/>
                    <a:lstStyle/>
                    <a:p>
                      <a:pPr>
                        <a:lnSpc>
                          <a:spcPct val="150000"/>
                        </a:lnSpc>
                        <a:buNone/>
                      </a:pPr>
                      <a:r>
                        <a:rPr lang="en-US" sz="2800">
                          <a:latin typeface="Calibir"/>
                        </a:rPr>
                        <a:t>int</a:t>
                      </a:r>
                    </a:p>
                  </a:txBody>
                  <a:tcPr anchor="ctr"/>
                </a:tc>
                <a:tc>
                  <a:txBody>
                    <a:bodyPr/>
                    <a:lstStyle/>
                    <a:p>
                      <a:pPr>
                        <a:lnSpc>
                          <a:spcPct val="150000"/>
                        </a:lnSpc>
                        <a:buNone/>
                      </a:pPr>
                      <a:r>
                        <a:rPr lang="en-US" sz="2800">
                          <a:latin typeface="Calibir"/>
                        </a:rPr>
                        <a:t>age = 25</a:t>
                      </a:r>
                    </a:p>
                  </a:txBody>
                  <a:tcPr anchor="ctr"/>
                </a:tc>
                <a:tc>
                  <a:txBody>
                    <a:bodyPr/>
                    <a:lstStyle/>
                    <a:p>
                      <a:pPr>
                        <a:lnSpc>
                          <a:spcPct val="150000"/>
                        </a:lnSpc>
                        <a:buNone/>
                      </a:pPr>
                      <a:r>
                        <a:rPr lang="en-US" sz="2800" dirty="0">
                          <a:latin typeface="Calibir"/>
                        </a:rPr>
                        <a:t>int age = 25;</a:t>
                      </a:r>
                    </a:p>
                  </a:txBody>
                  <a:tcPr anchor="ctr"/>
                </a:tc>
                <a:extLst>
                  <a:ext uri="{0D108BD9-81ED-4DB2-BD59-A6C34878D82A}">
                    <a16:rowId xmlns:a16="http://schemas.microsoft.com/office/drawing/2014/main" val="1987418816"/>
                  </a:ext>
                </a:extLst>
              </a:tr>
              <a:tr h="0">
                <a:tc>
                  <a:txBody>
                    <a:bodyPr/>
                    <a:lstStyle/>
                    <a:p>
                      <a:pPr>
                        <a:lnSpc>
                          <a:spcPct val="150000"/>
                        </a:lnSpc>
                        <a:buNone/>
                      </a:pPr>
                      <a:r>
                        <a:rPr lang="en-US" sz="2800">
                          <a:latin typeface="Calibir"/>
                        </a:rPr>
                        <a:t>float/double</a:t>
                      </a:r>
                    </a:p>
                  </a:txBody>
                  <a:tcPr anchor="ctr"/>
                </a:tc>
                <a:tc>
                  <a:txBody>
                    <a:bodyPr/>
                    <a:lstStyle/>
                    <a:p>
                      <a:pPr>
                        <a:lnSpc>
                          <a:spcPct val="150000"/>
                        </a:lnSpc>
                        <a:buNone/>
                      </a:pPr>
                      <a:r>
                        <a:rPr lang="en-US" sz="2800">
                          <a:latin typeface="Calibir"/>
                        </a:rPr>
                        <a:t>price = 4.5</a:t>
                      </a:r>
                    </a:p>
                  </a:txBody>
                  <a:tcPr anchor="ctr"/>
                </a:tc>
                <a:tc>
                  <a:txBody>
                    <a:bodyPr/>
                    <a:lstStyle/>
                    <a:p>
                      <a:pPr>
                        <a:lnSpc>
                          <a:spcPct val="150000"/>
                        </a:lnSpc>
                        <a:buNone/>
                      </a:pPr>
                      <a:r>
                        <a:rPr lang="en-US" sz="2800">
                          <a:latin typeface="Calibir"/>
                        </a:rPr>
                        <a:t>double price = 4.5;</a:t>
                      </a:r>
                    </a:p>
                  </a:txBody>
                  <a:tcPr anchor="ctr"/>
                </a:tc>
                <a:extLst>
                  <a:ext uri="{0D108BD9-81ED-4DB2-BD59-A6C34878D82A}">
                    <a16:rowId xmlns:a16="http://schemas.microsoft.com/office/drawing/2014/main" val="994317647"/>
                  </a:ext>
                </a:extLst>
              </a:tr>
              <a:tr h="0">
                <a:tc>
                  <a:txBody>
                    <a:bodyPr/>
                    <a:lstStyle/>
                    <a:p>
                      <a:pPr>
                        <a:lnSpc>
                          <a:spcPct val="150000"/>
                        </a:lnSpc>
                        <a:buNone/>
                      </a:pPr>
                      <a:r>
                        <a:rPr lang="en-US" sz="2800">
                          <a:latin typeface="Calibir"/>
                        </a:rPr>
                        <a:t>boolean</a:t>
                      </a:r>
                    </a:p>
                  </a:txBody>
                  <a:tcPr anchor="ctr"/>
                </a:tc>
                <a:tc>
                  <a:txBody>
                    <a:bodyPr/>
                    <a:lstStyle/>
                    <a:p>
                      <a:pPr>
                        <a:lnSpc>
                          <a:spcPct val="150000"/>
                        </a:lnSpc>
                        <a:buNone/>
                      </a:pPr>
                      <a:r>
                        <a:rPr lang="en-US" sz="2800">
                          <a:latin typeface="Calibir"/>
                        </a:rPr>
                        <a:t>sunny = True</a:t>
                      </a:r>
                    </a:p>
                  </a:txBody>
                  <a:tcPr anchor="ctr"/>
                </a:tc>
                <a:tc>
                  <a:txBody>
                    <a:bodyPr/>
                    <a:lstStyle/>
                    <a:p>
                      <a:pPr>
                        <a:lnSpc>
                          <a:spcPct val="150000"/>
                        </a:lnSpc>
                        <a:buNone/>
                      </a:pPr>
                      <a:r>
                        <a:rPr lang="en-US" sz="2800" dirty="0" err="1">
                          <a:latin typeface="Calibir"/>
                        </a:rPr>
                        <a:t>boolean</a:t>
                      </a:r>
                      <a:r>
                        <a:rPr lang="en-US" sz="2800" dirty="0">
                          <a:latin typeface="Calibir"/>
                        </a:rPr>
                        <a:t> sunny = true;</a:t>
                      </a:r>
                    </a:p>
                  </a:txBody>
                  <a:tcPr anchor="ctr"/>
                </a:tc>
                <a:extLst>
                  <a:ext uri="{0D108BD9-81ED-4DB2-BD59-A6C34878D82A}">
                    <a16:rowId xmlns:a16="http://schemas.microsoft.com/office/drawing/2014/main" val="1298798496"/>
                  </a:ext>
                </a:extLst>
              </a:tr>
            </a:tbl>
          </a:graphicData>
        </a:graphic>
      </p:graphicFrame>
    </p:spTree>
    <p:extLst>
      <p:ext uri="{BB962C8B-B14F-4D97-AF65-F5344CB8AC3E}">
        <p14:creationId xmlns:p14="http://schemas.microsoft.com/office/powerpoint/2010/main" val="829669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49522-40DC-0747-6B42-C2903121B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9B34A-070F-6D89-32B7-E4AB7EF39DD4}"/>
              </a:ext>
            </a:extLst>
          </p:cNvPr>
          <p:cNvSpPr>
            <a:spLocks noGrp="1"/>
          </p:cNvSpPr>
          <p:nvPr>
            <p:ph type="title"/>
          </p:nvPr>
        </p:nvSpPr>
        <p:spPr>
          <a:xfrm>
            <a:off x="0" y="1"/>
            <a:ext cx="12192000" cy="766915"/>
          </a:xfrm>
        </p:spPr>
        <p:txBody>
          <a:bodyPr anchor="b">
            <a:normAutofit/>
          </a:bodyPr>
          <a:lstStyle/>
          <a:p>
            <a:r>
              <a:rPr lang="en-US" sz="4000" dirty="0">
                <a:latin typeface="Calibir"/>
              </a:rPr>
              <a:t>Data Types, Variables, and Operators</a:t>
            </a:r>
            <a:endParaRPr lang="en-AU" sz="4000" b="1" dirty="0">
              <a:latin typeface="Calibir"/>
            </a:endParaRPr>
          </a:p>
        </p:txBody>
      </p:sp>
      <p:sp>
        <p:nvSpPr>
          <p:cNvPr id="5" name="Rectangle 1">
            <a:extLst>
              <a:ext uri="{FF2B5EF4-FFF2-40B4-BE49-F238E27FC236}">
                <a16:creationId xmlns:a16="http://schemas.microsoft.com/office/drawing/2014/main" id="{72312362-982A-F7F8-A4ED-160F1BF0159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Rectangle 1">
            <a:extLst>
              <a:ext uri="{FF2B5EF4-FFF2-40B4-BE49-F238E27FC236}">
                <a16:creationId xmlns:a16="http://schemas.microsoft.com/office/drawing/2014/main" id="{6D3F8447-495A-BC2C-1C9C-B27C5DC748ED}"/>
              </a:ext>
            </a:extLst>
          </p:cNvPr>
          <p:cNvSpPr>
            <a:spLocks noChangeArrowheads="1"/>
          </p:cNvSpPr>
          <p:nvPr/>
        </p:nvSpPr>
        <p:spPr bwMode="auto">
          <a:xfrm>
            <a:off x="184731" y="979740"/>
            <a:ext cx="12007269"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Discussion Question:</a:t>
            </a:r>
            <a:br>
              <a:rPr kumimoji="0" lang="en-US" sz="2800" b="0" i="0" u="none" strike="noStrike" kern="1200" cap="none" spc="0" normalizeH="0" baseline="0" noProof="0" dirty="0">
                <a:ln>
                  <a:noFill/>
                </a:ln>
                <a:solidFill>
                  <a:prstClr val="black"/>
                </a:solidFill>
                <a:effectLst/>
                <a:uLnTx/>
                <a:uFillTx/>
                <a:latin typeface="Calibir"/>
                <a:ea typeface="+mn-ea"/>
                <a:cs typeface="+mn-cs"/>
              </a:rPr>
            </a:br>
            <a:r>
              <a:rPr kumimoji="0" lang="en-US" sz="2800" b="0" i="0" u="none" strike="noStrike" kern="1200" cap="none" spc="0" normalizeH="0" baseline="0" noProof="0" dirty="0">
                <a:ln>
                  <a:noFill/>
                </a:ln>
                <a:solidFill>
                  <a:prstClr val="black"/>
                </a:solidFill>
                <a:effectLst/>
                <a:uLnTx/>
                <a:uFillTx/>
                <a:latin typeface="Calibir"/>
                <a:ea typeface="+mn-ea"/>
                <a:cs typeface="+mn-cs"/>
              </a:rPr>
              <a:t>Why is it important to choose the correct data type for Australian weather data?</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Correct types ensure accurate storage and calculations, e.g., temperature needs decimals for precision</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Tree>
    <p:extLst>
      <p:ext uri="{BB962C8B-B14F-4D97-AF65-F5344CB8AC3E}">
        <p14:creationId xmlns:p14="http://schemas.microsoft.com/office/powerpoint/2010/main" val="42131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DE08-518C-56CB-0FDB-FD31834D2EFA}"/>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674E77BE-3005-0A49-FE6C-F428A4C6BE6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Rectangle 1">
            <a:extLst>
              <a:ext uri="{FF2B5EF4-FFF2-40B4-BE49-F238E27FC236}">
                <a16:creationId xmlns:a16="http://schemas.microsoft.com/office/drawing/2014/main" id="{87017099-C8F3-EA80-E502-B0E75D09AA44}"/>
              </a:ext>
            </a:extLst>
          </p:cNvPr>
          <p:cNvSpPr>
            <a:spLocks noChangeArrowheads="1"/>
          </p:cNvSpPr>
          <p:nvPr/>
        </p:nvSpPr>
        <p:spPr bwMode="auto">
          <a:xfrm>
            <a:off x="184731" y="1626070"/>
            <a:ext cx="1200726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Declare and print three variables for your suburb’s name, current temperature, and if it’s raining. (in python and java)</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sp>
        <p:nvSpPr>
          <p:cNvPr id="7" name="Title 1">
            <a:extLst>
              <a:ext uri="{FF2B5EF4-FFF2-40B4-BE49-F238E27FC236}">
                <a16:creationId xmlns:a16="http://schemas.microsoft.com/office/drawing/2014/main" id="{5F696F1A-4C36-31FA-A0BF-128D06A667A9}"/>
              </a:ext>
            </a:extLst>
          </p:cNvPr>
          <p:cNvSpPr>
            <a:spLocks noGrp="1"/>
          </p:cNvSpPr>
          <p:nvPr>
            <p:ph type="title"/>
          </p:nvPr>
        </p:nvSpPr>
        <p:spPr>
          <a:xfrm>
            <a:off x="0" y="1"/>
            <a:ext cx="12192000" cy="722670"/>
          </a:xfrm>
        </p:spPr>
        <p:txBody>
          <a:bodyPr anchor="b">
            <a:normAutofit/>
          </a:bodyPr>
          <a:lstStyle/>
          <a:p>
            <a:r>
              <a:rPr lang="en-US" sz="4000" dirty="0">
                <a:latin typeface="Calibir"/>
              </a:rPr>
              <a:t>Hands-On Activity 5: Data Types, Variables, and Operators</a:t>
            </a:r>
            <a:endParaRPr lang="en-AU" sz="4000" b="1" dirty="0">
              <a:latin typeface="Calibir"/>
            </a:endParaRPr>
          </a:p>
        </p:txBody>
      </p:sp>
    </p:spTree>
    <p:extLst>
      <p:ext uri="{BB962C8B-B14F-4D97-AF65-F5344CB8AC3E}">
        <p14:creationId xmlns:p14="http://schemas.microsoft.com/office/powerpoint/2010/main" val="2451715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83651-6507-B81D-7C88-3A0D61A51229}"/>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D1D5AFC-11ED-D293-BC65-0A0855E114A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3627BF95-6B6C-D20F-93B8-F2EE22239193}"/>
              </a:ext>
            </a:extLst>
          </p:cNvPr>
          <p:cNvSpPr>
            <a:spLocks noGrp="1"/>
          </p:cNvSpPr>
          <p:nvPr>
            <p:ph type="title"/>
          </p:nvPr>
        </p:nvSpPr>
        <p:spPr>
          <a:xfrm>
            <a:off x="0" y="1"/>
            <a:ext cx="12192000" cy="722670"/>
          </a:xfrm>
        </p:spPr>
        <p:txBody>
          <a:bodyPr anchor="b">
            <a:normAutofit/>
          </a:bodyPr>
          <a:lstStyle/>
          <a:p>
            <a:r>
              <a:rPr lang="en-US" sz="4000" dirty="0">
                <a:latin typeface="Calibir"/>
              </a:rPr>
              <a:t>Hands-On Activity 5: Data Types, Variables, and Operators</a:t>
            </a:r>
            <a:endParaRPr lang="en-AU" sz="4000" b="1" dirty="0">
              <a:latin typeface="Calibir"/>
            </a:endParaRPr>
          </a:p>
        </p:txBody>
      </p:sp>
      <p:sp>
        <p:nvSpPr>
          <p:cNvPr id="3" name="TextBox 2">
            <a:extLst>
              <a:ext uri="{FF2B5EF4-FFF2-40B4-BE49-F238E27FC236}">
                <a16:creationId xmlns:a16="http://schemas.microsoft.com/office/drawing/2014/main" id="{A45D4E98-4B91-3C4B-ED77-6CAF8B422ADD}"/>
              </a:ext>
            </a:extLst>
          </p:cNvPr>
          <p:cNvSpPr txBox="1"/>
          <p:nvPr/>
        </p:nvSpPr>
        <p:spPr>
          <a:xfrm>
            <a:off x="184731" y="1430594"/>
            <a:ext cx="11584482" cy="2608406"/>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suburb</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"Castle Hill"</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temperature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22.5</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is_raining</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4FC1FF"/>
                </a:solidFill>
                <a:effectLst/>
                <a:uLnTx/>
                <a:uFillTx/>
                <a:latin typeface="Consolas" panose="020B0609020204030204" pitchFamily="49" charset="0"/>
                <a:ea typeface="+mn-ea"/>
                <a:cs typeface="+mn-cs"/>
              </a:rPr>
              <a:t>False</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suburb</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temperature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is_raining</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
        <p:nvSpPr>
          <p:cNvPr id="8" name="TextBox 7">
            <a:extLst>
              <a:ext uri="{FF2B5EF4-FFF2-40B4-BE49-F238E27FC236}">
                <a16:creationId xmlns:a16="http://schemas.microsoft.com/office/drawing/2014/main" id="{BF2CE4D8-9C49-7A13-1EBF-5E819AC49011}"/>
              </a:ext>
            </a:extLst>
          </p:cNvPr>
          <p:cNvSpPr txBox="1"/>
          <p:nvPr/>
        </p:nvSpPr>
        <p:spPr>
          <a:xfrm>
            <a:off x="184731" y="907338"/>
            <a:ext cx="6253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Python</a:t>
            </a:r>
            <a:endParaRPr kumimoji="0" lang="en-AU"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1320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19710-3ACB-9D09-76B9-814AFE26DB6C}"/>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A7480F27-EE7B-AF5D-20F0-134C068E34C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EF4A80FA-18B1-5361-5539-BDB57B0B5BDC}"/>
              </a:ext>
            </a:extLst>
          </p:cNvPr>
          <p:cNvSpPr>
            <a:spLocks noGrp="1"/>
          </p:cNvSpPr>
          <p:nvPr>
            <p:ph type="title"/>
          </p:nvPr>
        </p:nvSpPr>
        <p:spPr>
          <a:xfrm>
            <a:off x="0" y="1"/>
            <a:ext cx="12192000" cy="722670"/>
          </a:xfrm>
        </p:spPr>
        <p:txBody>
          <a:bodyPr anchor="b">
            <a:normAutofit/>
          </a:bodyPr>
          <a:lstStyle/>
          <a:p>
            <a:r>
              <a:rPr lang="en-US" sz="4000" dirty="0">
                <a:latin typeface="Calibir"/>
              </a:rPr>
              <a:t>Hands-On Activity 5: Data Types, Variables, and Operators</a:t>
            </a:r>
            <a:endParaRPr lang="en-AU" sz="4000" b="1" dirty="0">
              <a:latin typeface="Calibir"/>
            </a:endParaRPr>
          </a:p>
        </p:txBody>
      </p:sp>
      <p:sp>
        <p:nvSpPr>
          <p:cNvPr id="8" name="TextBox 7">
            <a:extLst>
              <a:ext uri="{FF2B5EF4-FFF2-40B4-BE49-F238E27FC236}">
                <a16:creationId xmlns:a16="http://schemas.microsoft.com/office/drawing/2014/main" id="{ACEDD2C7-5E8B-B031-CB04-47651F3A4E83}"/>
              </a:ext>
            </a:extLst>
          </p:cNvPr>
          <p:cNvSpPr txBox="1"/>
          <p:nvPr/>
        </p:nvSpPr>
        <p:spPr>
          <a:xfrm>
            <a:off x="184731" y="907338"/>
            <a:ext cx="625331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Java</a:t>
            </a:r>
            <a:endParaRPr kumimoji="0" lang="en-AU"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59CEED86-402D-A84B-AB9D-6A4A97CD97F4}"/>
              </a:ext>
            </a:extLst>
          </p:cNvPr>
          <p:cNvSpPr txBox="1"/>
          <p:nvPr/>
        </p:nvSpPr>
        <p:spPr>
          <a:xfrm>
            <a:off x="184731" y="5291571"/>
            <a:ext cx="11584481" cy="13181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 Java, all code that runs must be inside a method, usually the main method, and inside a class. </a:t>
            </a:r>
          </a:p>
        </p:txBody>
      </p:sp>
      <p:pic>
        <p:nvPicPr>
          <p:cNvPr id="6" name="Picture 5">
            <a:extLst>
              <a:ext uri="{FF2B5EF4-FFF2-40B4-BE49-F238E27FC236}">
                <a16:creationId xmlns:a16="http://schemas.microsoft.com/office/drawing/2014/main" id="{F1B2AA5F-FA6A-98BC-72F4-4C13A059B1D3}"/>
              </a:ext>
            </a:extLst>
          </p:cNvPr>
          <p:cNvPicPr>
            <a:picLocks noChangeAspect="1"/>
          </p:cNvPicPr>
          <p:nvPr/>
        </p:nvPicPr>
        <p:blipFill>
          <a:blip r:embed="rId2"/>
          <a:srcRect r="39742" b="70881"/>
          <a:stretch>
            <a:fillRect/>
          </a:stretch>
        </p:blipFill>
        <p:spPr>
          <a:xfrm>
            <a:off x="92365" y="1615225"/>
            <a:ext cx="7346731" cy="1996966"/>
          </a:xfrm>
          <a:prstGeom prst="rect">
            <a:avLst/>
          </a:prstGeom>
        </p:spPr>
      </p:pic>
      <p:pic>
        <p:nvPicPr>
          <p:cNvPr id="10" name="Picture 9">
            <a:extLst>
              <a:ext uri="{FF2B5EF4-FFF2-40B4-BE49-F238E27FC236}">
                <a16:creationId xmlns:a16="http://schemas.microsoft.com/office/drawing/2014/main" id="{763AE850-8DAB-5B85-55FC-9943CB99303A}"/>
              </a:ext>
            </a:extLst>
          </p:cNvPr>
          <p:cNvPicPr>
            <a:picLocks noChangeAspect="1"/>
          </p:cNvPicPr>
          <p:nvPr/>
        </p:nvPicPr>
        <p:blipFill>
          <a:blip r:embed="rId3"/>
          <a:srcRect r="19914" b="80779"/>
          <a:stretch>
            <a:fillRect/>
          </a:stretch>
        </p:blipFill>
        <p:spPr>
          <a:xfrm>
            <a:off x="2217683" y="3924594"/>
            <a:ext cx="9764110" cy="1318181"/>
          </a:xfrm>
          <a:prstGeom prst="rect">
            <a:avLst/>
          </a:prstGeom>
        </p:spPr>
      </p:pic>
      <p:cxnSp>
        <p:nvCxnSpPr>
          <p:cNvPr id="12" name="Connector: Elbow 11">
            <a:extLst>
              <a:ext uri="{FF2B5EF4-FFF2-40B4-BE49-F238E27FC236}">
                <a16:creationId xmlns:a16="http://schemas.microsoft.com/office/drawing/2014/main" id="{F5D78C0B-2CED-2832-4432-81A7B987846F}"/>
              </a:ext>
            </a:extLst>
          </p:cNvPr>
          <p:cNvCxnSpPr>
            <a:stCxn id="6" idx="3"/>
          </p:cNvCxnSpPr>
          <p:nvPr/>
        </p:nvCxnSpPr>
        <p:spPr>
          <a:xfrm>
            <a:off x="7439096" y="2613708"/>
            <a:ext cx="737952" cy="1359202"/>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11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46C0-8238-14B6-8198-4DA24A739BF0}"/>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8D452D1D-2D17-EFF8-9D53-AF2C7F4334B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1D129518-F48C-654F-41AB-379EFB3254EA}"/>
              </a:ext>
            </a:extLst>
          </p:cNvPr>
          <p:cNvSpPr>
            <a:spLocks noGrp="1"/>
          </p:cNvSpPr>
          <p:nvPr>
            <p:ph type="title"/>
          </p:nvPr>
        </p:nvSpPr>
        <p:spPr>
          <a:xfrm>
            <a:off x="0" y="1"/>
            <a:ext cx="12192000" cy="722670"/>
          </a:xfrm>
        </p:spPr>
        <p:txBody>
          <a:bodyPr anchor="b">
            <a:normAutofit/>
          </a:bodyPr>
          <a:lstStyle/>
          <a:p>
            <a:r>
              <a:rPr lang="en-US" sz="4000">
                <a:latin typeface="Calibir"/>
              </a:rPr>
              <a:t>Hands-On Activity 5: Data Types, Variables, and Operators</a:t>
            </a:r>
            <a:endParaRPr lang="en-AU" sz="4000" b="1" dirty="0">
              <a:latin typeface="Calibir"/>
            </a:endParaRPr>
          </a:p>
        </p:txBody>
      </p:sp>
      <p:sp>
        <p:nvSpPr>
          <p:cNvPr id="2" name="TextBox 1">
            <a:extLst>
              <a:ext uri="{FF2B5EF4-FFF2-40B4-BE49-F238E27FC236}">
                <a16:creationId xmlns:a16="http://schemas.microsoft.com/office/drawing/2014/main" id="{6A9BD427-B933-824B-3E46-4CD971133EBC}"/>
              </a:ext>
            </a:extLst>
          </p:cNvPr>
          <p:cNvSpPr txBox="1"/>
          <p:nvPr/>
        </p:nvSpPr>
        <p:spPr>
          <a:xfrm>
            <a:off x="34991" y="4763729"/>
            <a:ext cx="11584481" cy="196810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This Java program stores a suburb name, its temperature, and whether it’s raining, then prints them all together on one line. It’s a simple Java example showing variables of different data types and basic output.</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4" name="Picture 3">
            <a:extLst>
              <a:ext uri="{FF2B5EF4-FFF2-40B4-BE49-F238E27FC236}">
                <a16:creationId xmlns:a16="http://schemas.microsoft.com/office/drawing/2014/main" id="{E5BAFDC0-DAEE-B14A-DE26-D58ACEF10C62}"/>
              </a:ext>
            </a:extLst>
          </p:cNvPr>
          <p:cNvPicPr>
            <a:picLocks noChangeAspect="1"/>
          </p:cNvPicPr>
          <p:nvPr/>
        </p:nvPicPr>
        <p:blipFill>
          <a:blip r:embed="rId2"/>
          <a:srcRect b="44157"/>
          <a:stretch>
            <a:fillRect/>
          </a:stretch>
        </p:blipFill>
        <p:spPr>
          <a:xfrm>
            <a:off x="34991" y="828339"/>
            <a:ext cx="12192000" cy="3829722"/>
          </a:xfrm>
          <a:prstGeom prst="rect">
            <a:avLst/>
          </a:prstGeom>
        </p:spPr>
      </p:pic>
    </p:spTree>
    <p:extLst>
      <p:ext uri="{BB962C8B-B14F-4D97-AF65-F5344CB8AC3E}">
        <p14:creationId xmlns:p14="http://schemas.microsoft.com/office/powerpoint/2010/main" val="3515381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8F7B-DA84-0B92-317D-2CEAEB047D6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CBB4F066-4934-9155-4328-A35D7FF2E39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39EF1366-D9BC-EC5B-306B-B3EAFF4ECEA6}"/>
              </a:ext>
            </a:extLst>
          </p:cNvPr>
          <p:cNvSpPr>
            <a:spLocks noGrp="1"/>
          </p:cNvSpPr>
          <p:nvPr>
            <p:ph type="title"/>
          </p:nvPr>
        </p:nvSpPr>
        <p:spPr>
          <a:xfrm>
            <a:off x="0" y="1"/>
            <a:ext cx="12192000" cy="722670"/>
          </a:xfrm>
        </p:spPr>
        <p:txBody>
          <a:bodyPr anchor="b">
            <a:normAutofit/>
          </a:bodyPr>
          <a:lstStyle/>
          <a:p>
            <a:r>
              <a:rPr lang="en-US" sz="4000" dirty="0">
                <a:latin typeface="Calibir"/>
              </a:rPr>
              <a:t>Strings &amp; String Formatting</a:t>
            </a:r>
            <a:endParaRPr lang="en-AU" sz="4000" b="1" dirty="0">
              <a:latin typeface="Calibir"/>
            </a:endParaRPr>
          </a:p>
        </p:txBody>
      </p:sp>
      <p:sp>
        <p:nvSpPr>
          <p:cNvPr id="2" name="TextBox 1">
            <a:extLst>
              <a:ext uri="{FF2B5EF4-FFF2-40B4-BE49-F238E27FC236}">
                <a16:creationId xmlns:a16="http://schemas.microsoft.com/office/drawing/2014/main" id="{9C342E39-FAF9-A785-0834-131E6C49B1D1}"/>
              </a:ext>
            </a:extLst>
          </p:cNvPr>
          <p:cNvSpPr txBox="1"/>
          <p:nvPr/>
        </p:nvSpPr>
        <p:spPr>
          <a:xfrm>
            <a:off x="92365" y="1477248"/>
            <a:ext cx="11584481" cy="3257174"/>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String = text data.</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Formatting = inserting variables into text.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Think of it like a fill-in-the-blank postcard.</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Australian Example: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"Welcome to {}!" → "Welcome to Sydney!"</a:t>
            </a:r>
          </a:p>
        </p:txBody>
      </p:sp>
    </p:spTree>
    <p:extLst>
      <p:ext uri="{BB962C8B-B14F-4D97-AF65-F5344CB8AC3E}">
        <p14:creationId xmlns:p14="http://schemas.microsoft.com/office/powerpoint/2010/main" val="2438623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96496-BB98-D995-3625-AD50C40ADCCC}"/>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AB641B9A-FA44-1BF2-60B6-7FB96F9DB67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D76DDA54-5FFA-AF67-DC7D-7E10B7B699EF}"/>
              </a:ext>
            </a:extLst>
          </p:cNvPr>
          <p:cNvSpPr>
            <a:spLocks noGrp="1"/>
          </p:cNvSpPr>
          <p:nvPr>
            <p:ph type="title"/>
          </p:nvPr>
        </p:nvSpPr>
        <p:spPr>
          <a:xfrm>
            <a:off x="0" y="1"/>
            <a:ext cx="12192000" cy="722670"/>
          </a:xfrm>
        </p:spPr>
        <p:txBody>
          <a:bodyPr anchor="b">
            <a:normAutofit/>
          </a:bodyPr>
          <a:lstStyle/>
          <a:p>
            <a:r>
              <a:rPr lang="en-US" sz="4000" dirty="0">
                <a:latin typeface="Calibir"/>
              </a:rPr>
              <a:t>Strings &amp; String Formatting</a:t>
            </a:r>
            <a:endParaRPr lang="en-AU" sz="4000" b="1" dirty="0">
              <a:latin typeface="Calibir"/>
            </a:endParaRPr>
          </a:p>
        </p:txBody>
      </p:sp>
      <p:sp>
        <p:nvSpPr>
          <p:cNvPr id="2" name="TextBox 1">
            <a:extLst>
              <a:ext uri="{FF2B5EF4-FFF2-40B4-BE49-F238E27FC236}">
                <a16:creationId xmlns:a16="http://schemas.microsoft.com/office/drawing/2014/main" id="{7E4EE0A8-DEBC-C46D-EB5F-66A93583EAB2}"/>
              </a:ext>
            </a:extLst>
          </p:cNvPr>
          <p:cNvSpPr txBox="1"/>
          <p:nvPr/>
        </p:nvSpPr>
        <p:spPr>
          <a:xfrm>
            <a:off x="92365" y="1477248"/>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Python Example:</a:t>
            </a:r>
          </a:p>
        </p:txBody>
      </p:sp>
      <p:sp>
        <p:nvSpPr>
          <p:cNvPr id="4" name="TextBox 3">
            <a:extLst>
              <a:ext uri="{FF2B5EF4-FFF2-40B4-BE49-F238E27FC236}">
                <a16:creationId xmlns:a16="http://schemas.microsoft.com/office/drawing/2014/main" id="{17737F26-6CC7-70EC-542A-AA6509BDE74B}"/>
              </a:ext>
            </a:extLst>
          </p:cNvPr>
          <p:cNvSpPr txBox="1"/>
          <p:nvPr/>
        </p:nvSpPr>
        <p:spPr>
          <a:xfrm>
            <a:off x="184731" y="2474893"/>
            <a:ext cx="6209070" cy="1315745"/>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city</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"Sydney"</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f</a:t>
            </a:r>
            <a:r>
              <a:rPr kumimoji="0" lang="en-US" sz="28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"Welcome</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to </a:t>
            </a:r>
            <a:r>
              <a:rPr kumimoji="0" lang="en-US"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city</a:t>
            </a:r>
            <a:r>
              <a:rPr kumimoji="0" lang="en-US"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298312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E5C79-25B3-5000-9D6B-CAE7D29E3981}"/>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D31C4EBE-0BB8-EBFA-777B-34F3EAE81DB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98BE5A8E-115E-B765-8D79-D5ABB070B002}"/>
              </a:ext>
            </a:extLst>
          </p:cNvPr>
          <p:cNvSpPr>
            <a:spLocks noGrp="1"/>
          </p:cNvSpPr>
          <p:nvPr>
            <p:ph type="title"/>
          </p:nvPr>
        </p:nvSpPr>
        <p:spPr>
          <a:xfrm>
            <a:off x="0" y="1"/>
            <a:ext cx="12192000" cy="722670"/>
          </a:xfrm>
        </p:spPr>
        <p:txBody>
          <a:bodyPr anchor="b">
            <a:normAutofit/>
          </a:bodyPr>
          <a:lstStyle/>
          <a:p>
            <a:r>
              <a:rPr lang="en-US" sz="4000" dirty="0">
                <a:latin typeface="Calibir"/>
              </a:rPr>
              <a:t>Strings &amp; String Formatting</a:t>
            </a:r>
            <a:endParaRPr lang="en-AU" sz="4000" b="1" dirty="0">
              <a:latin typeface="Calibir"/>
            </a:endParaRPr>
          </a:p>
        </p:txBody>
      </p:sp>
      <p:sp>
        <p:nvSpPr>
          <p:cNvPr id="2" name="TextBox 1">
            <a:extLst>
              <a:ext uri="{FF2B5EF4-FFF2-40B4-BE49-F238E27FC236}">
                <a16:creationId xmlns:a16="http://schemas.microsoft.com/office/drawing/2014/main" id="{C0FF8BDD-CCC1-65F8-B0C7-E04027A8BF51}"/>
              </a:ext>
            </a:extLst>
          </p:cNvPr>
          <p:cNvSpPr txBox="1"/>
          <p:nvPr/>
        </p:nvSpPr>
        <p:spPr>
          <a:xfrm>
            <a:off x="92365" y="1477248"/>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Java Example in Eclipse:</a:t>
            </a:r>
          </a:p>
        </p:txBody>
      </p:sp>
      <p:pic>
        <p:nvPicPr>
          <p:cNvPr id="6" name="Picture 5">
            <a:extLst>
              <a:ext uri="{FF2B5EF4-FFF2-40B4-BE49-F238E27FC236}">
                <a16:creationId xmlns:a16="http://schemas.microsoft.com/office/drawing/2014/main" id="{68714FE8-CC7C-3910-700F-F11FD6B943D4}"/>
              </a:ext>
            </a:extLst>
          </p:cNvPr>
          <p:cNvPicPr>
            <a:picLocks noChangeAspect="1"/>
          </p:cNvPicPr>
          <p:nvPr/>
        </p:nvPicPr>
        <p:blipFill>
          <a:blip r:embed="rId2"/>
          <a:srcRect l="14758" t="13231" r="34677" b="19570"/>
          <a:stretch>
            <a:fillRect/>
          </a:stretch>
        </p:blipFill>
        <p:spPr>
          <a:xfrm>
            <a:off x="184731" y="2249440"/>
            <a:ext cx="6164826" cy="4608559"/>
          </a:xfrm>
          <a:prstGeom prst="rect">
            <a:avLst/>
          </a:prstGeom>
        </p:spPr>
      </p:pic>
      <p:pic>
        <p:nvPicPr>
          <p:cNvPr id="9" name="Picture 8">
            <a:extLst>
              <a:ext uri="{FF2B5EF4-FFF2-40B4-BE49-F238E27FC236}">
                <a16:creationId xmlns:a16="http://schemas.microsoft.com/office/drawing/2014/main" id="{BBCC5A70-5E3E-84EA-C56C-2D5006683F96}"/>
              </a:ext>
            </a:extLst>
          </p:cNvPr>
          <p:cNvPicPr>
            <a:picLocks noChangeAspect="1"/>
          </p:cNvPicPr>
          <p:nvPr/>
        </p:nvPicPr>
        <p:blipFill>
          <a:blip r:embed="rId3"/>
          <a:srcRect l="29880" t="23656" r="30442" b="41935"/>
          <a:stretch>
            <a:fillRect/>
          </a:stretch>
        </p:blipFill>
        <p:spPr>
          <a:xfrm>
            <a:off x="7169798" y="3021010"/>
            <a:ext cx="4837471" cy="2359742"/>
          </a:xfrm>
          <a:prstGeom prst="rect">
            <a:avLst/>
          </a:prstGeom>
        </p:spPr>
      </p:pic>
      <p:cxnSp>
        <p:nvCxnSpPr>
          <p:cNvPr id="11" name="Connector: Elbow 10">
            <a:extLst>
              <a:ext uri="{FF2B5EF4-FFF2-40B4-BE49-F238E27FC236}">
                <a16:creationId xmlns:a16="http://schemas.microsoft.com/office/drawing/2014/main" id="{7B7B538F-8C80-3B9F-3BD7-7C39DE462AD7}"/>
              </a:ext>
            </a:extLst>
          </p:cNvPr>
          <p:cNvCxnSpPr>
            <a:endCxn id="9" idx="1"/>
          </p:cNvCxnSpPr>
          <p:nvPr/>
        </p:nvCxnSpPr>
        <p:spPr>
          <a:xfrm flipV="1">
            <a:off x="6474542" y="4200881"/>
            <a:ext cx="695256" cy="352838"/>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2159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50510-A5CB-B8A1-73EC-FB695428FF61}"/>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E1AF5E9A-5A46-EF31-62CE-5A9C962468B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D72EAD8A-83BC-D8AA-EC1B-6E85B2D2A65D}"/>
              </a:ext>
            </a:extLst>
          </p:cNvPr>
          <p:cNvSpPr>
            <a:spLocks noGrp="1"/>
          </p:cNvSpPr>
          <p:nvPr>
            <p:ph type="title"/>
          </p:nvPr>
        </p:nvSpPr>
        <p:spPr>
          <a:xfrm>
            <a:off x="0" y="1"/>
            <a:ext cx="12192000" cy="722670"/>
          </a:xfrm>
        </p:spPr>
        <p:txBody>
          <a:bodyPr anchor="b">
            <a:normAutofit/>
          </a:bodyPr>
          <a:lstStyle/>
          <a:p>
            <a:r>
              <a:rPr lang="en-US" sz="4000" dirty="0">
                <a:latin typeface="Calibir"/>
              </a:rPr>
              <a:t>Strings &amp; String Formatting</a:t>
            </a:r>
            <a:endParaRPr lang="en-AU" sz="4000" b="1" dirty="0">
              <a:latin typeface="Calibir"/>
            </a:endParaRPr>
          </a:p>
        </p:txBody>
      </p:sp>
      <p:sp>
        <p:nvSpPr>
          <p:cNvPr id="2" name="TextBox 1">
            <a:extLst>
              <a:ext uri="{FF2B5EF4-FFF2-40B4-BE49-F238E27FC236}">
                <a16:creationId xmlns:a16="http://schemas.microsoft.com/office/drawing/2014/main" id="{FD2CB2AC-73D6-8AC2-4F0D-651B1FDC48AE}"/>
              </a:ext>
            </a:extLst>
          </p:cNvPr>
          <p:cNvSpPr txBox="1"/>
          <p:nvPr/>
        </p:nvSpPr>
        <p:spPr>
          <a:xfrm>
            <a:off x="92365" y="1477248"/>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New Java Project in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Eclpise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4" name="Picture 3">
            <a:extLst>
              <a:ext uri="{FF2B5EF4-FFF2-40B4-BE49-F238E27FC236}">
                <a16:creationId xmlns:a16="http://schemas.microsoft.com/office/drawing/2014/main" id="{8D838A79-4CBB-0B6B-D319-139279307DD5}"/>
              </a:ext>
            </a:extLst>
          </p:cNvPr>
          <p:cNvPicPr>
            <a:picLocks noChangeAspect="1"/>
          </p:cNvPicPr>
          <p:nvPr/>
        </p:nvPicPr>
        <p:blipFill>
          <a:blip r:embed="rId2"/>
          <a:srcRect r="64194" b="35484"/>
          <a:stretch>
            <a:fillRect/>
          </a:stretch>
        </p:blipFill>
        <p:spPr>
          <a:xfrm>
            <a:off x="0" y="2278626"/>
            <a:ext cx="4365523" cy="4424516"/>
          </a:xfrm>
          <a:prstGeom prst="rect">
            <a:avLst/>
          </a:prstGeom>
        </p:spPr>
      </p:pic>
      <p:pic>
        <p:nvPicPr>
          <p:cNvPr id="10" name="Picture 9">
            <a:extLst>
              <a:ext uri="{FF2B5EF4-FFF2-40B4-BE49-F238E27FC236}">
                <a16:creationId xmlns:a16="http://schemas.microsoft.com/office/drawing/2014/main" id="{80BCEBBD-0B68-E64E-BF61-B81E6744BAAD}"/>
              </a:ext>
            </a:extLst>
          </p:cNvPr>
          <p:cNvPicPr>
            <a:picLocks noChangeAspect="1"/>
          </p:cNvPicPr>
          <p:nvPr/>
        </p:nvPicPr>
        <p:blipFill>
          <a:blip r:embed="rId3"/>
          <a:srcRect l="22500" r="22580" b="6881"/>
          <a:stretch>
            <a:fillRect/>
          </a:stretch>
        </p:blipFill>
        <p:spPr>
          <a:xfrm>
            <a:off x="6207562" y="1150373"/>
            <a:ext cx="5984438" cy="5707625"/>
          </a:xfrm>
          <a:prstGeom prst="rect">
            <a:avLst/>
          </a:prstGeom>
        </p:spPr>
      </p:pic>
      <p:cxnSp>
        <p:nvCxnSpPr>
          <p:cNvPr id="13" name="Connector: Elbow 12">
            <a:extLst>
              <a:ext uri="{FF2B5EF4-FFF2-40B4-BE49-F238E27FC236}">
                <a16:creationId xmlns:a16="http://schemas.microsoft.com/office/drawing/2014/main" id="{2DEF1884-8762-C28A-9134-CFCCDC2CEA1C}"/>
              </a:ext>
            </a:extLst>
          </p:cNvPr>
          <p:cNvCxnSpPr>
            <a:endCxn id="10" idx="1"/>
          </p:cNvCxnSpPr>
          <p:nvPr/>
        </p:nvCxnSpPr>
        <p:spPr>
          <a:xfrm flipV="1">
            <a:off x="4365523" y="4004186"/>
            <a:ext cx="1842039" cy="361337"/>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9995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E808-0E59-4115-060F-9A3BFCDEFA7A}"/>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8BB77AFD-8E2D-E08A-4341-FF79F09FB8E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TextBox 1">
            <a:extLst>
              <a:ext uri="{FF2B5EF4-FFF2-40B4-BE49-F238E27FC236}">
                <a16:creationId xmlns:a16="http://schemas.microsoft.com/office/drawing/2014/main" id="{CEFC534A-D3D9-388E-6F43-F6E685D972C1}"/>
              </a:ext>
            </a:extLst>
          </p:cNvPr>
          <p:cNvSpPr txBox="1"/>
          <p:nvPr/>
        </p:nvSpPr>
        <p:spPr>
          <a:xfrm>
            <a:off x="10607965" y="-184666"/>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Java Code</a:t>
            </a:r>
          </a:p>
        </p:txBody>
      </p:sp>
      <p:pic>
        <p:nvPicPr>
          <p:cNvPr id="9" name="Picture 8">
            <a:extLst>
              <a:ext uri="{FF2B5EF4-FFF2-40B4-BE49-F238E27FC236}">
                <a16:creationId xmlns:a16="http://schemas.microsoft.com/office/drawing/2014/main" id="{28C9FF0F-A5C9-E0A5-D3AD-D379C1B90A27}"/>
              </a:ext>
            </a:extLst>
          </p:cNvPr>
          <p:cNvPicPr>
            <a:picLocks noChangeAspect="1"/>
          </p:cNvPicPr>
          <p:nvPr/>
        </p:nvPicPr>
        <p:blipFill>
          <a:blip r:embed="rId2"/>
          <a:srcRect l="2" r="47300" b="60216"/>
          <a:stretch>
            <a:fillRect/>
          </a:stretch>
        </p:blipFill>
        <p:spPr>
          <a:xfrm>
            <a:off x="-1" y="0"/>
            <a:ext cx="12192001" cy="5177518"/>
          </a:xfrm>
          <a:prstGeom prst="rect">
            <a:avLst/>
          </a:prstGeom>
        </p:spPr>
      </p:pic>
      <p:sp>
        <p:nvSpPr>
          <p:cNvPr id="14" name="Rectangle 1">
            <a:extLst>
              <a:ext uri="{FF2B5EF4-FFF2-40B4-BE49-F238E27FC236}">
                <a16:creationId xmlns:a16="http://schemas.microsoft.com/office/drawing/2014/main" id="{A7F5ED84-6DAE-5716-345F-3E078803484C}"/>
              </a:ext>
            </a:extLst>
          </p:cNvPr>
          <p:cNvSpPr>
            <a:spLocks noChangeArrowheads="1"/>
          </p:cNvSpPr>
          <p:nvPr/>
        </p:nvSpPr>
        <p:spPr bwMode="auto">
          <a:xfrm>
            <a:off x="0" y="5177518"/>
            <a:ext cx="10882531" cy="1563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package </a:t>
            </a:r>
            <a:r>
              <a:rPr kumimoji="0" lang="en-US" altLang="en-US" sz="2200" b="1" i="0" u="none" strike="noStrike" kern="1200" cap="none" spc="0" normalizeH="0" baseline="0" noProof="0" dirty="0" err="1">
                <a:ln>
                  <a:noFill/>
                </a:ln>
                <a:solidFill>
                  <a:prstClr val="black"/>
                </a:solidFill>
                <a:effectLst/>
                <a:uLnTx/>
                <a:uFillTx/>
                <a:latin typeface="Calibir"/>
                <a:ea typeface="+mn-ea"/>
                <a:cs typeface="+mn-cs"/>
              </a:rPr>
              <a:t>welcome_to_java</a:t>
            </a: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Groups this class into a package called </a:t>
            </a:r>
            <a:r>
              <a:rPr kumimoji="0" lang="en-US" altLang="en-US" sz="2200" b="0" i="1" u="none" strike="noStrike" kern="1200" cap="none" spc="0" normalizeH="0" baseline="0" noProof="0" dirty="0" err="1">
                <a:ln>
                  <a:noFill/>
                </a:ln>
                <a:solidFill>
                  <a:prstClr val="black"/>
                </a:solidFill>
                <a:effectLst/>
                <a:uLnTx/>
                <a:uFillTx/>
                <a:latin typeface="Calibir"/>
                <a:ea typeface="+mn-ea"/>
                <a:cs typeface="+mn-cs"/>
              </a:rPr>
              <a:t>welcome_to_java</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public class </a:t>
            </a:r>
            <a:r>
              <a:rPr kumimoji="0" lang="en-US" altLang="en-US" sz="2200" b="1" i="0" u="none" strike="noStrike" kern="1200" cap="none" spc="0" normalizeH="0" baseline="0" noProof="0" dirty="0" err="1">
                <a:ln>
                  <a:noFill/>
                </a:ln>
                <a:solidFill>
                  <a:prstClr val="black"/>
                </a:solidFill>
                <a:effectLst/>
                <a:uLnTx/>
                <a:uFillTx/>
                <a:latin typeface="Calibir"/>
                <a:ea typeface="+mn-ea"/>
                <a:cs typeface="+mn-cs"/>
              </a:rPr>
              <a:t>Welcome_to_Java</a:t>
            </a: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 { ... }</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Defines a public class named </a:t>
            </a:r>
            <a:r>
              <a:rPr kumimoji="0" lang="en-US" altLang="en-US" sz="2200" b="0" i="1" u="none" strike="noStrike" kern="1200" cap="none" spc="0" normalizeH="0" baseline="0" noProof="0" dirty="0" err="1">
                <a:ln>
                  <a:noFill/>
                </a:ln>
                <a:solidFill>
                  <a:prstClr val="black"/>
                </a:solidFill>
                <a:effectLst/>
                <a:uLnTx/>
                <a:uFillTx/>
                <a:latin typeface="Calibir"/>
                <a:ea typeface="+mn-ea"/>
                <a:cs typeface="+mn-cs"/>
              </a:rPr>
              <a:t>Welcome_to_Java</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public static void main(String[] </a:t>
            </a:r>
            <a:r>
              <a:rPr kumimoji="0" lang="en-US" altLang="en-US" sz="2200" b="1" i="0" u="none" strike="noStrike" kern="1200" cap="none" spc="0" normalizeH="0" baseline="0" noProof="0" dirty="0" err="1">
                <a:ln>
                  <a:noFill/>
                </a:ln>
                <a:solidFill>
                  <a:prstClr val="black"/>
                </a:solidFill>
                <a:effectLst/>
                <a:uLnTx/>
                <a:uFillTx/>
                <a:latin typeface="Calibir"/>
                <a:ea typeface="+mn-ea"/>
                <a:cs typeface="+mn-cs"/>
              </a:rPr>
              <a:t>args</a:t>
            </a: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The entry point where the program starts running.</a:t>
            </a:r>
          </a:p>
        </p:txBody>
      </p:sp>
    </p:spTree>
    <p:extLst>
      <p:ext uri="{BB962C8B-B14F-4D97-AF65-F5344CB8AC3E}">
        <p14:creationId xmlns:p14="http://schemas.microsoft.com/office/powerpoint/2010/main" val="4139057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9438-C98F-68D0-6933-53A0B34CE11B}"/>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6F80DE6-13E3-076B-0665-6E6228C3081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TextBox 1">
            <a:extLst>
              <a:ext uri="{FF2B5EF4-FFF2-40B4-BE49-F238E27FC236}">
                <a16:creationId xmlns:a16="http://schemas.microsoft.com/office/drawing/2014/main" id="{2751645E-F7B8-D668-B510-0F820D01D958}"/>
              </a:ext>
            </a:extLst>
          </p:cNvPr>
          <p:cNvSpPr txBox="1"/>
          <p:nvPr/>
        </p:nvSpPr>
        <p:spPr>
          <a:xfrm>
            <a:off x="10607965" y="-184666"/>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Java Code</a:t>
            </a:r>
          </a:p>
        </p:txBody>
      </p:sp>
      <p:pic>
        <p:nvPicPr>
          <p:cNvPr id="9" name="Picture 8">
            <a:extLst>
              <a:ext uri="{FF2B5EF4-FFF2-40B4-BE49-F238E27FC236}">
                <a16:creationId xmlns:a16="http://schemas.microsoft.com/office/drawing/2014/main" id="{43AAA8B2-D32B-2388-680E-3CABD724FFB7}"/>
              </a:ext>
            </a:extLst>
          </p:cNvPr>
          <p:cNvPicPr>
            <a:picLocks noChangeAspect="1"/>
          </p:cNvPicPr>
          <p:nvPr/>
        </p:nvPicPr>
        <p:blipFill>
          <a:blip r:embed="rId2"/>
          <a:srcRect l="2" r="47300" b="60216"/>
          <a:stretch>
            <a:fillRect/>
          </a:stretch>
        </p:blipFill>
        <p:spPr>
          <a:xfrm>
            <a:off x="-1" y="0"/>
            <a:ext cx="12192001" cy="5177518"/>
          </a:xfrm>
          <a:prstGeom prst="rect">
            <a:avLst/>
          </a:prstGeom>
        </p:spPr>
      </p:pic>
      <p:sp>
        <p:nvSpPr>
          <p:cNvPr id="14" name="Rectangle 1">
            <a:extLst>
              <a:ext uri="{FF2B5EF4-FFF2-40B4-BE49-F238E27FC236}">
                <a16:creationId xmlns:a16="http://schemas.microsoft.com/office/drawing/2014/main" id="{1AB95EFB-2D73-6B3D-A8B2-986FAE3DD185}"/>
              </a:ext>
            </a:extLst>
          </p:cNvPr>
          <p:cNvSpPr>
            <a:spLocks noChangeArrowheads="1"/>
          </p:cNvSpPr>
          <p:nvPr/>
        </p:nvSpPr>
        <p:spPr bwMode="auto">
          <a:xfrm>
            <a:off x="0" y="5431434"/>
            <a:ext cx="11591058" cy="1055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4"/>
              <a:tabLst/>
              <a:defRPr/>
            </a:pP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 Comment</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A note for humans, ignored by the computer.</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4"/>
              <a:tabLst/>
              <a:defRPr/>
            </a:pPr>
            <a:r>
              <a:rPr kumimoji="0" lang="en-US" altLang="en-US" sz="2200" b="1" i="0" u="none" strike="noStrike" kern="1200" cap="none" spc="0" normalizeH="0" baseline="0" noProof="0" dirty="0" err="1">
                <a:ln>
                  <a:noFill/>
                </a:ln>
                <a:solidFill>
                  <a:prstClr val="black"/>
                </a:solidFill>
                <a:effectLst/>
                <a:uLnTx/>
                <a:uFillTx/>
                <a:latin typeface="Calibir"/>
                <a:ea typeface="+mn-ea"/>
                <a:cs typeface="+mn-cs"/>
              </a:rPr>
              <a:t>System.out.println</a:t>
            </a:r>
            <a:r>
              <a:rPr kumimoji="0" lang="en-US" altLang="en-US" sz="2200" b="1" i="0" u="none" strike="noStrike" kern="1200" cap="none" spc="0" normalizeH="0" baseline="0" noProof="0" dirty="0">
                <a:ln>
                  <a:noFill/>
                </a:ln>
                <a:solidFill>
                  <a:prstClr val="black"/>
                </a:solidFill>
                <a:effectLst/>
                <a:uLnTx/>
                <a:uFillTx/>
                <a:latin typeface="Calibir"/>
                <a:ea typeface="+mn-ea"/>
                <a:cs typeface="+mn-cs"/>
              </a:rPr>
              <a:t>("Welcome to Java!");</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 Prints the message </a:t>
            </a:r>
            <a:r>
              <a:rPr kumimoji="0" lang="en-US" altLang="en-US" sz="2200" b="0" i="1" u="none" strike="noStrike" kern="1200" cap="none" spc="0" normalizeH="0" baseline="0" noProof="0" dirty="0">
                <a:ln>
                  <a:noFill/>
                </a:ln>
                <a:solidFill>
                  <a:prstClr val="black"/>
                </a:solidFill>
                <a:effectLst/>
                <a:uLnTx/>
                <a:uFillTx/>
                <a:latin typeface="Calibir"/>
                <a:ea typeface="+mn-ea"/>
                <a:cs typeface="+mn-cs"/>
              </a:rPr>
              <a:t>Welcome to Java!</a:t>
            </a:r>
            <a:r>
              <a:rPr kumimoji="0" lang="en-US" altLang="en-US" sz="2200" b="0" i="0" u="none" strike="noStrike" kern="1200" cap="none" spc="0" normalizeH="0" baseline="0" noProof="0" dirty="0">
                <a:ln>
                  <a:noFill/>
                </a:ln>
                <a:solidFill>
                  <a:prstClr val="black"/>
                </a:solidFill>
                <a:effectLst/>
                <a:uLnTx/>
                <a:uFillTx/>
                <a:latin typeface="Calibir"/>
                <a:ea typeface="+mn-ea"/>
                <a:cs typeface="+mn-cs"/>
              </a:rPr>
              <a:t> on the screen.</a:t>
            </a:r>
          </a:p>
        </p:txBody>
      </p:sp>
    </p:spTree>
    <p:extLst>
      <p:ext uri="{BB962C8B-B14F-4D97-AF65-F5344CB8AC3E}">
        <p14:creationId xmlns:p14="http://schemas.microsoft.com/office/powerpoint/2010/main" val="1651251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D5E00-82AC-EED5-C051-53D2E135F1AA}"/>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2094039-AB51-26D2-F8DC-5A49F9A6A95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64782B81-167F-1739-55DE-9C1B53BEAAC0}"/>
              </a:ext>
            </a:extLst>
          </p:cNvPr>
          <p:cNvSpPr>
            <a:spLocks noGrp="1"/>
          </p:cNvSpPr>
          <p:nvPr>
            <p:ph type="title"/>
          </p:nvPr>
        </p:nvSpPr>
        <p:spPr>
          <a:xfrm>
            <a:off x="0" y="1"/>
            <a:ext cx="12192000" cy="722670"/>
          </a:xfrm>
        </p:spPr>
        <p:txBody>
          <a:bodyPr anchor="b">
            <a:normAutofit/>
          </a:bodyPr>
          <a:lstStyle/>
          <a:p>
            <a:r>
              <a:rPr lang="en-US" sz="4000" dirty="0">
                <a:latin typeface="Calibir"/>
              </a:rPr>
              <a:t>Strings &amp; String Formatting</a:t>
            </a:r>
            <a:endParaRPr lang="en-AU" sz="4000" b="1" dirty="0">
              <a:latin typeface="Calibir"/>
            </a:endParaRPr>
          </a:p>
        </p:txBody>
      </p:sp>
      <p:sp>
        <p:nvSpPr>
          <p:cNvPr id="2" name="TextBox 1">
            <a:extLst>
              <a:ext uri="{FF2B5EF4-FFF2-40B4-BE49-F238E27FC236}">
                <a16:creationId xmlns:a16="http://schemas.microsoft.com/office/drawing/2014/main" id="{89681C93-41B2-DC32-A117-7440AEC8DE1D}"/>
              </a:ext>
            </a:extLst>
          </p:cNvPr>
          <p:cNvSpPr txBox="1"/>
          <p:nvPr/>
        </p:nvSpPr>
        <p:spPr>
          <a:xfrm>
            <a:off x="-23100" y="522767"/>
            <a:ext cx="11584481" cy="67185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Run as Java Application (Eclipse)</a:t>
            </a:r>
          </a:p>
        </p:txBody>
      </p:sp>
      <p:cxnSp>
        <p:nvCxnSpPr>
          <p:cNvPr id="13" name="Connector: Elbow 12">
            <a:extLst>
              <a:ext uri="{FF2B5EF4-FFF2-40B4-BE49-F238E27FC236}">
                <a16:creationId xmlns:a16="http://schemas.microsoft.com/office/drawing/2014/main" id="{5A029DCA-B497-B896-A96D-6BC3FCFC5419}"/>
              </a:ext>
            </a:extLst>
          </p:cNvPr>
          <p:cNvCxnSpPr>
            <a:cxnSpLocks/>
            <a:endCxn id="9" idx="0"/>
          </p:cNvCxnSpPr>
          <p:nvPr/>
        </p:nvCxnSpPr>
        <p:spPr>
          <a:xfrm>
            <a:off x="5792241" y="2993923"/>
            <a:ext cx="3213438" cy="1398118"/>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B040C07D-8AB7-1CFE-837B-726ABAAD66C4}"/>
              </a:ext>
            </a:extLst>
          </p:cNvPr>
          <p:cNvPicPr>
            <a:picLocks noChangeAspect="1"/>
          </p:cNvPicPr>
          <p:nvPr/>
        </p:nvPicPr>
        <p:blipFill>
          <a:blip r:embed="rId2"/>
          <a:srcRect l="18629" t="2692" r="30081" b="7096"/>
          <a:stretch>
            <a:fillRect/>
          </a:stretch>
        </p:blipFill>
        <p:spPr>
          <a:xfrm>
            <a:off x="0" y="1109106"/>
            <a:ext cx="5769141" cy="5707625"/>
          </a:xfrm>
          <a:prstGeom prst="rect">
            <a:avLst/>
          </a:prstGeom>
          <a:ln>
            <a:solidFill>
              <a:srgbClr val="FF0000"/>
            </a:solidFill>
          </a:ln>
        </p:spPr>
      </p:pic>
      <p:pic>
        <p:nvPicPr>
          <p:cNvPr id="9" name="Picture 8">
            <a:extLst>
              <a:ext uri="{FF2B5EF4-FFF2-40B4-BE49-F238E27FC236}">
                <a16:creationId xmlns:a16="http://schemas.microsoft.com/office/drawing/2014/main" id="{46B9D43A-3E1A-D86E-70CB-2C4A7DBBAA9A}"/>
              </a:ext>
            </a:extLst>
          </p:cNvPr>
          <p:cNvPicPr>
            <a:picLocks noChangeAspect="1"/>
          </p:cNvPicPr>
          <p:nvPr/>
        </p:nvPicPr>
        <p:blipFill>
          <a:blip r:embed="rId3"/>
          <a:srcRect l="17298" t="53118" r="29415" b="26882"/>
          <a:stretch>
            <a:fillRect/>
          </a:stretch>
        </p:blipFill>
        <p:spPr>
          <a:xfrm>
            <a:off x="5792241" y="4392041"/>
            <a:ext cx="6426875" cy="1356853"/>
          </a:xfrm>
          <a:prstGeom prst="rect">
            <a:avLst/>
          </a:prstGeom>
          <a:ln>
            <a:solidFill>
              <a:srgbClr val="FF0000"/>
            </a:solidFill>
          </a:ln>
        </p:spPr>
      </p:pic>
    </p:spTree>
    <p:extLst>
      <p:ext uri="{BB962C8B-B14F-4D97-AF65-F5344CB8AC3E}">
        <p14:creationId xmlns:p14="http://schemas.microsoft.com/office/powerpoint/2010/main" val="1932960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6FA21-658B-361E-31B6-49DE5684997C}"/>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FEAE0100-37DE-4253-8264-60BB406A097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6CE15ED9-DC8C-AC6E-6C45-E139F430C687}"/>
              </a:ext>
            </a:extLst>
          </p:cNvPr>
          <p:cNvSpPr>
            <a:spLocks noGrp="1"/>
          </p:cNvSpPr>
          <p:nvPr>
            <p:ph type="title"/>
          </p:nvPr>
        </p:nvSpPr>
        <p:spPr>
          <a:xfrm>
            <a:off x="0" y="1"/>
            <a:ext cx="12192000" cy="722670"/>
          </a:xfrm>
        </p:spPr>
        <p:txBody>
          <a:bodyPr anchor="b">
            <a:normAutofit/>
          </a:bodyPr>
          <a:lstStyle/>
          <a:p>
            <a:r>
              <a:rPr lang="en-US" sz="4000" dirty="0">
                <a:latin typeface="Calibir"/>
              </a:rPr>
              <a:t>Arrays</a:t>
            </a:r>
            <a:endParaRPr lang="en-AU" sz="4000" b="1" dirty="0">
              <a:latin typeface="Calibir"/>
            </a:endParaRPr>
          </a:p>
        </p:txBody>
      </p:sp>
      <p:sp>
        <p:nvSpPr>
          <p:cNvPr id="2" name="TextBox 1">
            <a:extLst>
              <a:ext uri="{FF2B5EF4-FFF2-40B4-BE49-F238E27FC236}">
                <a16:creationId xmlns:a16="http://schemas.microsoft.com/office/drawing/2014/main" id="{9BE6BBB7-6156-6BC4-AE41-32B4A4DCF4FB}"/>
              </a:ext>
            </a:extLst>
          </p:cNvPr>
          <p:cNvSpPr txBox="1"/>
          <p:nvPr/>
        </p:nvSpPr>
        <p:spPr>
          <a:xfrm>
            <a:off x="0" y="907338"/>
            <a:ext cx="11584481" cy="3257174"/>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Array = a </a:t>
            </a: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train carriage</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with fixed seats for values of the same type.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 Python: list (more flexible).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 Java: fixed size array.</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Australian Example: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Array of Sydney train station names: ["Central", "Redfern", "Strathfield"]</a:t>
            </a:r>
          </a:p>
        </p:txBody>
      </p:sp>
    </p:spTree>
    <p:extLst>
      <p:ext uri="{BB962C8B-B14F-4D97-AF65-F5344CB8AC3E}">
        <p14:creationId xmlns:p14="http://schemas.microsoft.com/office/powerpoint/2010/main" val="992932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59F3F-EC53-EB4E-BC32-6A72F456AF61}"/>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2DB09F8D-5342-11CF-4015-0E5052BB635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8BEB0EE8-08E0-1CCD-0B80-6F943A1872BA}"/>
              </a:ext>
            </a:extLst>
          </p:cNvPr>
          <p:cNvSpPr>
            <a:spLocks noGrp="1"/>
          </p:cNvSpPr>
          <p:nvPr>
            <p:ph type="title"/>
          </p:nvPr>
        </p:nvSpPr>
        <p:spPr>
          <a:xfrm>
            <a:off x="0" y="1"/>
            <a:ext cx="12192000" cy="722670"/>
          </a:xfrm>
        </p:spPr>
        <p:txBody>
          <a:bodyPr anchor="b">
            <a:normAutofit/>
          </a:bodyPr>
          <a:lstStyle/>
          <a:p>
            <a:r>
              <a:rPr lang="en-US" sz="4000" dirty="0">
                <a:latin typeface="Calibir"/>
              </a:rPr>
              <a:t>Arrays</a:t>
            </a:r>
            <a:endParaRPr lang="en-AU" sz="4000" b="1" dirty="0">
              <a:latin typeface="Calibir"/>
            </a:endParaRPr>
          </a:p>
        </p:txBody>
      </p:sp>
      <p:sp>
        <p:nvSpPr>
          <p:cNvPr id="2" name="TextBox 1">
            <a:extLst>
              <a:ext uri="{FF2B5EF4-FFF2-40B4-BE49-F238E27FC236}">
                <a16:creationId xmlns:a16="http://schemas.microsoft.com/office/drawing/2014/main" id="{7E9178C1-F269-6699-4363-8B95B518CBBA}"/>
              </a:ext>
            </a:extLst>
          </p:cNvPr>
          <p:cNvSpPr txBox="1"/>
          <p:nvPr/>
        </p:nvSpPr>
        <p:spPr>
          <a:xfrm>
            <a:off x="0" y="907338"/>
            <a:ext cx="11584481" cy="671851"/>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Python example:</a:t>
            </a:r>
          </a:p>
        </p:txBody>
      </p:sp>
      <p:sp>
        <p:nvSpPr>
          <p:cNvPr id="4" name="TextBox 3">
            <a:extLst>
              <a:ext uri="{FF2B5EF4-FFF2-40B4-BE49-F238E27FC236}">
                <a16:creationId xmlns:a16="http://schemas.microsoft.com/office/drawing/2014/main" id="{5CD3956F-0143-6CFC-3565-238D092BB181}"/>
              </a:ext>
            </a:extLst>
          </p:cNvPr>
          <p:cNvSpPr txBox="1"/>
          <p:nvPr/>
        </p:nvSpPr>
        <p:spPr>
          <a:xfrm>
            <a:off x="283779" y="1996966"/>
            <a:ext cx="11225049" cy="1315745"/>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stations</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"Central"</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"Redfern"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"Strathfield"</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stations</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
        <p:nvSpPr>
          <p:cNvPr id="6" name="TextBox 5">
            <a:extLst>
              <a:ext uri="{FF2B5EF4-FFF2-40B4-BE49-F238E27FC236}">
                <a16:creationId xmlns:a16="http://schemas.microsoft.com/office/drawing/2014/main" id="{EFE88A30-447A-2ED8-37EC-82C041093064}"/>
              </a:ext>
            </a:extLst>
          </p:cNvPr>
          <p:cNvSpPr txBox="1"/>
          <p:nvPr/>
        </p:nvSpPr>
        <p:spPr>
          <a:xfrm>
            <a:off x="92365" y="3375292"/>
            <a:ext cx="11584481" cy="671851"/>
          </a:xfrm>
          <a:prstGeom prst="rect">
            <a:avLst/>
          </a:prstGeom>
          <a:no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Java example:</a:t>
            </a:r>
          </a:p>
        </p:txBody>
      </p:sp>
      <p:sp>
        <p:nvSpPr>
          <p:cNvPr id="9" name="TextBox 8">
            <a:extLst>
              <a:ext uri="{FF2B5EF4-FFF2-40B4-BE49-F238E27FC236}">
                <a16:creationId xmlns:a16="http://schemas.microsoft.com/office/drawing/2014/main" id="{D1699041-1143-0264-C737-9A93F54D166C}"/>
              </a:ext>
            </a:extLst>
          </p:cNvPr>
          <p:cNvSpPr txBox="1"/>
          <p:nvPr/>
        </p:nvSpPr>
        <p:spPr>
          <a:xfrm>
            <a:off x="283779" y="4109724"/>
            <a:ext cx="11719036" cy="1315745"/>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String</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stations</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"Central"</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"Redfern"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"Strathfield"</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System</a:t>
            </a: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out</a:t>
            </a: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println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(stations[</a:t>
            </a:r>
            <a:r>
              <a:rPr kumimoji="0" lang="en-US" sz="2800" b="0"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
        <p:nvSpPr>
          <p:cNvPr id="10" name="Rectangle 1">
            <a:extLst>
              <a:ext uri="{FF2B5EF4-FFF2-40B4-BE49-F238E27FC236}">
                <a16:creationId xmlns:a16="http://schemas.microsoft.com/office/drawing/2014/main" id="{75E97E2E-FEEC-CA25-0E54-B3182846984E}"/>
              </a:ext>
            </a:extLst>
          </p:cNvPr>
          <p:cNvSpPr>
            <a:spLocks noChangeArrowheads="1"/>
          </p:cNvSpPr>
          <p:nvPr/>
        </p:nvSpPr>
        <p:spPr bwMode="auto">
          <a:xfrm>
            <a:off x="-33088" y="5548955"/>
            <a:ext cx="12225088" cy="127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700" b="0" i="0" u="none" strike="noStrike" kern="1200" cap="none" spc="0" normalizeH="0" baseline="0" noProof="0" dirty="0">
                <a:ln>
                  <a:noFill/>
                </a:ln>
                <a:solidFill>
                  <a:prstClr val="black"/>
                </a:solidFill>
                <a:effectLst/>
                <a:uLnTx/>
                <a:uFillTx/>
                <a:latin typeface="Calibir"/>
                <a:ea typeface="+mn-ea"/>
                <a:cs typeface="+mn-cs"/>
              </a:rPr>
              <a:t>That code doesn’t work by itself in Java because Java doesn’t allow loose statements — everything must be inside a class and usually inside the main method. </a:t>
            </a:r>
          </a:p>
        </p:txBody>
      </p:sp>
    </p:spTree>
    <p:extLst>
      <p:ext uri="{BB962C8B-B14F-4D97-AF65-F5344CB8AC3E}">
        <p14:creationId xmlns:p14="http://schemas.microsoft.com/office/powerpoint/2010/main" val="336379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EEEEC-4CC8-92E4-4EED-1F27F9D2C63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B7CECB34-9188-F867-9FA6-D64FB90F620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24EEA895-94A9-CA8F-A20B-86C19024F55B}"/>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D93B3038-1CF5-D670-646E-A210CD0346A0}"/>
              </a:ext>
            </a:extLst>
          </p:cNvPr>
          <p:cNvSpPr>
            <a:spLocks noChangeArrowheads="1"/>
          </p:cNvSpPr>
          <p:nvPr/>
        </p:nvSpPr>
        <p:spPr bwMode="auto">
          <a:xfrm>
            <a:off x="0" y="722671"/>
            <a:ext cx="6282812"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Create project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File ▸ New ▸ Java Project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Project 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TrainStationsDemo</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Uncheck “Create module-info.java” (if shown).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Click Finish.</a:t>
            </a:r>
          </a:p>
        </p:txBody>
      </p:sp>
      <p:pic>
        <p:nvPicPr>
          <p:cNvPr id="4" name="Picture 3">
            <a:extLst>
              <a:ext uri="{FF2B5EF4-FFF2-40B4-BE49-F238E27FC236}">
                <a16:creationId xmlns:a16="http://schemas.microsoft.com/office/drawing/2014/main" id="{7ABAE744-9956-7A1D-9E0F-3CB8FABE76DB}"/>
              </a:ext>
            </a:extLst>
          </p:cNvPr>
          <p:cNvPicPr>
            <a:picLocks noChangeAspect="1"/>
          </p:cNvPicPr>
          <p:nvPr/>
        </p:nvPicPr>
        <p:blipFill>
          <a:blip r:embed="rId2"/>
          <a:srcRect r="64194" b="32544"/>
          <a:stretch>
            <a:fillRect/>
          </a:stretch>
        </p:blipFill>
        <p:spPr>
          <a:xfrm>
            <a:off x="6445044" y="722671"/>
            <a:ext cx="5746956" cy="6090089"/>
          </a:xfrm>
          <a:prstGeom prst="rect">
            <a:avLst/>
          </a:prstGeom>
        </p:spPr>
      </p:pic>
    </p:spTree>
    <p:extLst>
      <p:ext uri="{BB962C8B-B14F-4D97-AF65-F5344CB8AC3E}">
        <p14:creationId xmlns:p14="http://schemas.microsoft.com/office/powerpoint/2010/main" val="1626383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986D8-5EF5-AA8F-2C60-937ACC94F6BB}"/>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5E8D53C-A961-67FD-0618-2F881D1152F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C2741781-D0CF-2989-2867-C2B98256D112}"/>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7EFFBF24-D695-EE96-1C19-6D2F8C7A838C}"/>
              </a:ext>
            </a:extLst>
          </p:cNvPr>
          <p:cNvSpPr>
            <a:spLocks noChangeArrowheads="1"/>
          </p:cNvSpPr>
          <p:nvPr/>
        </p:nvSpPr>
        <p:spPr bwMode="auto">
          <a:xfrm>
            <a:off x="0" y="722671"/>
            <a:ext cx="6282812"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Create project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File ▸ New ▸ Java Project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Project 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TrainStationsDemo</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Uncheck “Create module-info.java” (if shown).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Click Finish.</a:t>
            </a:r>
          </a:p>
        </p:txBody>
      </p:sp>
      <p:pic>
        <p:nvPicPr>
          <p:cNvPr id="6" name="Picture 5">
            <a:extLst>
              <a:ext uri="{FF2B5EF4-FFF2-40B4-BE49-F238E27FC236}">
                <a16:creationId xmlns:a16="http://schemas.microsoft.com/office/drawing/2014/main" id="{C8BD029D-A6F2-4F2F-A199-FECA98A45485}"/>
              </a:ext>
            </a:extLst>
          </p:cNvPr>
          <p:cNvPicPr>
            <a:picLocks noChangeAspect="1"/>
          </p:cNvPicPr>
          <p:nvPr/>
        </p:nvPicPr>
        <p:blipFill>
          <a:blip r:embed="rId2"/>
          <a:srcRect l="22258" r="22580" b="6881"/>
          <a:stretch>
            <a:fillRect/>
          </a:stretch>
        </p:blipFill>
        <p:spPr>
          <a:xfrm>
            <a:off x="5730777" y="722671"/>
            <a:ext cx="6461223" cy="6135328"/>
          </a:xfrm>
          <a:prstGeom prst="rect">
            <a:avLst/>
          </a:prstGeom>
        </p:spPr>
      </p:pic>
    </p:spTree>
    <p:extLst>
      <p:ext uri="{BB962C8B-B14F-4D97-AF65-F5344CB8AC3E}">
        <p14:creationId xmlns:p14="http://schemas.microsoft.com/office/powerpoint/2010/main" val="663257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425FB-4309-A94C-021C-25376EAD6CEF}"/>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3F95F2A-52EC-CD72-6724-214A34206DF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F55878A2-0E21-0E78-387B-CCD2AD3D7B1A}"/>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E280833B-B408-E6C6-F32C-F4B4A4992AC2}"/>
              </a:ext>
            </a:extLst>
          </p:cNvPr>
          <p:cNvSpPr>
            <a:spLocks noChangeArrowheads="1"/>
          </p:cNvSpPr>
          <p:nvPr/>
        </p:nvSpPr>
        <p:spPr bwMode="auto">
          <a:xfrm>
            <a:off x="0" y="1327355"/>
            <a:ext cx="7079226" cy="265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Make a package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 </a:t>
            </a:r>
            <a:r>
              <a:rPr kumimoji="0" lang="en-US" sz="2800" b="0" i="1" u="none" strike="noStrike" kern="1200" cap="none" spc="0" normalizeH="0" baseline="0" noProof="0" dirty="0">
                <a:ln>
                  <a:noFill/>
                </a:ln>
                <a:solidFill>
                  <a:prstClr val="black"/>
                </a:solidFill>
                <a:effectLst/>
                <a:uLnTx/>
                <a:uFillTx/>
                <a:latin typeface="Calibir"/>
                <a:ea typeface="+mn-ea"/>
                <a:cs typeface="+mn-cs"/>
              </a:rPr>
              <a:t>Package Explorer</a:t>
            </a:r>
            <a:r>
              <a:rPr kumimoji="0" lang="en-US" sz="2800" b="0" i="0" u="none" strike="noStrike" kern="1200" cap="none" spc="0" normalizeH="0" baseline="0" noProof="0" dirty="0">
                <a:ln>
                  <a:noFill/>
                </a:ln>
                <a:solidFill>
                  <a:prstClr val="black"/>
                </a:solidFill>
                <a:effectLst/>
                <a:uLnTx/>
                <a:uFillTx/>
                <a:latin typeface="Calibir"/>
                <a:ea typeface="+mn-ea"/>
                <a:cs typeface="+mn-cs"/>
              </a:rPr>
              <a:t>, right-click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src</a:t>
            </a:r>
            <a:r>
              <a:rPr kumimoji="0" lang="en-US" sz="2800" b="0" i="0" u="none" strike="noStrike" kern="1200" cap="none" spc="0" normalizeH="0" baseline="0" noProof="0" dirty="0">
                <a:ln>
                  <a:noFill/>
                </a:ln>
                <a:solidFill>
                  <a:prstClr val="black"/>
                </a:solidFill>
                <a:effectLst/>
                <a:uLnTx/>
                <a:uFillTx/>
                <a:latin typeface="Calibir"/>
                <a:ea typeface="+mn-ea"/>
                <a:cs typeface="+mn-cs"/>
              </a:rPr>
              <a:t> ▸ New ▸ Package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au.sydney.demo</a:t>
            </a:r>
            <a:r>
              <a:rPr kumimoji="0" 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4" name="Picture 3">
            <a:extLst>
              <a:ext uri="{FF2B5EF4-FFF2-40B4-BE49-F238E27FC236}">
                <a16:creationId xmlns:a16="http://schemas.microsoft.com/office/drawing/2014/main" id="{5D78CAC8-AE5C-00E2-A83F-BA3B0B2FA3BA}"/>
              </a:ext>
            </a:extLst>
          </p:cNvPr>
          <p:cNvPicPr>
            <a:picLocks noChangeAspect="1"/>
          </p:cNvPicPr>
          <p:nvPr/>
        </p:nvPicPr>
        <p:blipFill>
          <a:blip r:embed="rId2"/>
          <a:srcRect r="58145" b="7527"/>
          <a:stretch>
            <a:fillRect/>
          </a:stretch>
        </p:blipFill>
        <p:spPr>
          <a:xfrm>
            <a:off x="7245368" y="722670"/>
            <a:ext cx="4936800" cy="6135329"/>
          </a:xfrm>
          <a:prstGeom prst="rect">
            <a:avLst/>
          </a:prstGeom>
        </p:spPr>
      </p:pic>
    </p:spTree>
    <p:extLst>
      <p:ext uri="{BB962C8B-B14F-4D97-AF65-F5344CB8AC3E}">
        <p14:creationId xmlns:p14="http://schemas.microsoft.com/office/powerpoint/2010/main" val="474207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6C4FE-A406-88D8-E34A-F5D69AF76EA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2B97E80C-305A-C09B-0626-E6348D50AC7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EA3E9F70-2998-B197-8B1E-1024B8BB44EE}"/>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1012B29A-B40F-BB7D-B115-736CD175B8E3}"/>
              </a:ext>
            </a:extLst>
          </p:cNvPr>
          <p:cNvSpPr>
            <a:spLocks noChangeArrowheads="1"/>
          </p:cNvSpPr>
          <p:nvPr/>
        </p:nvSpPr>
        <p:spPr bwMode="auto">
          <a:xfrm>
            <a:off x="0" y="1490808"/>
            <a:ext cx="6268065" cy="2608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Make a package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 </a:t>
            </a:r>
            <a:r>
              <a:rPr kumimoji="0" lang="en-US" sz="2800" b="0" i="1" u="none" strike="noStrike" kern="1200" cap="none" spc="0" normalizeH="0" baseline="0" noProof="0" dirty="0">
                <a:ln>
                  <a:noFill/>
                </a:ln>
                <a:solidFill>
                  <a:prstClr val="black"/>
                </a:solidFill>
                <a:effectLst/>
                <a:uLnTx/>
                <a:uFillTx/>
                <a:latin typeface="Calibir"/>
                <a:ea typeface="+mn-ea"/>
                <a:cs typeface="+mn-cs"/>
              </a:rPr>
              <a:t>Package Explorer</a:t>
            </a:r>
            <a:r>
              <a:rPr kumimoji="0" lang="en-US" sz="2800" b="0" i="0" u="none" strike="noStrike" kern="1200" cap="none" spc="0" normalizeH="0" baseline="0" noProof="0" dirty="0">
                <a:ln>
                  <a:noFill/>
                </a:ln>
                <a:solidFill>
                  <a:prstClr val="black"/>
                </a:solidFill>
                <a:effectLst/>
                <a:uLnTx/>
                <a:uFillTx/>
                <a:latin typeface="Calibir"/>
                <a:ea typeface="+mn-ea"/>
                <a:cs typeface="+mn-cs"/>
              </a:rPr>
              <a:t>, right-click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src</a:t>
            </a:r>
            <a:r>
              <a:rPr kumimoji="0" lang="en-US" sz="2800" b="0" i="0" u="none" strike="noStrike" kern="1200" cap="none" spc="0" normalizeH="0" baseline="0" noProof="0" dirty="0">
                <a:ln>
                  <a:noFill/>
                </a:ln>
                <a:solidFill>
                  <a:prstClr val="black"/>
                </a:solidFill>
                <a:effectLst/>
                <a:uLnTx/>
                <a:uFillTx/>
                <a:latin typeface="Calibir"/>
                <a:ea typeface="+mn-ea"/>
                <a:cs typeface="+mn-cs"/>
              </a:rPr>
              <a:t> ▸ New ▸ Package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au.sydney.demo</a:t>
            </a:r>
            <a:r>
              <a:rPr kumimoji="0" 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6" name="Picture 5">
            <a:extLst>
              <a:ext uri="{FF2B5EF4-FFF2-40B4-BE49-F238E27FC236}">
                <a16:creationId xmlns:a16="http://schemas.microsoft.com/office/drawing/2014/main" id="{1CD51D4B-767E-11E8-B3E9-DDDF850DFCD3}"/>
              </a:ext>
            </a:extLst>
          </p:cNvPr>
          <p:cNvPicPr>
            <a:picLocks noChangeAspect="1"/>
          </p:cNvPicPr>
          <p:nvPr/>
        </p:nvPicPr>
        <p:blipFill>
          <a:blip r:embed="rId2"/>
          <a:srcRect l="30000" t="17420" r="29959" b="37634"/>
          <a:stretch>
            <a:fillRect/>
          </a:stretch>
        </p:blipFill>
        <p:spPr>
          <a:xfrm>
            <a:off x="6268065" y="1558754"/>
            <a:ext cx="5923935" cy="3740491"/>
          </a:xfrm>
          <a:prstGeom prst="rect">
            <a:avLst/>
          </a:prstGeom>
        </p:spPr>
      </p:pic>
    </p:spTree>
    <p:extLst>
      <p:ext uri="{BB962C8B-B14F-4D97-AF65-F5344CB8AC3E}">
        <p14:creationId xmlns:p14="http://schemas.microsoft.com/office/powerpoint/2010/main" val="2782172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F9D3B-6517-AC09-63C3-F7CA17C9ECBE}"/>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C61FC4C-D458-0E46-8BE1-B935A383CDB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4E7E41CB-A9BB-F6AD-3708-CC430935CE00}"/>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8D8460B5-01C3-6C98-4B35-9A50D5F6FEB0}"/>
              </a:ext>
            </a:extLst>
          </p:cNvPr>
          <p:cNvSpPr>
            <a:spLocks noChangeArrowheads="1"/>
          </p:cNvSpPr>
          <p:nvPr/>
        </p:nvSpPr>
        <p:spPr bwMode="auto">
          <a:xfrm>
            <a:off x="0" y="844478"/>
            <a:ext cx="6268065" cy="3900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Add a class with main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Right-click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au.sydney.demo</a:t>
            </a:r>
            <a:r>
              <a:rPr kumimoji="0" lang="en-US" sz="2800" b="0" i="0" u="none" strike="noStrike" kern="1200" cap="none" spc="0" normalizeH="0" baseline="0" noProof="0" dirty="0">
                <a:ln>
                  <a:noFill/>
                </a:ln>
                <a:solidFill>
                  <a:prstClr val="black"/>
                </a:solidFill>
                <a:effectLst/>
                <a:uLnTx/>
                <a:uFillTx/>
                <a:latin typeface="Calibir"/>
                <a:ea typeface="+mn-ea"/>
                <a:cs typeface="+mn-cs"/>
              </a:rPr>
              <a:t> ▸ New ▸ Class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StationsApp</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Tick public static void main(String[]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4" name="Picture 3">
            <a:extLst>
              <a:ext uri="{FF2B5EF4-FFF2-40B4-BE49-F238E27FC236}">
                <a16:creationId xmlns:a16="http://schemas.microsoft.com/office/drawing/2014/main" id="{EA4BD91A-8C9B-3425-6745-592C1E959ACC}"/>
              </a:ext>
            </a:extLst>
          </p:cNvPr>
          <p:cNvPicPr>
            <a:picLocks noChangeAspect="1"/>
          </p:cNvPicPr>
          <p:nvPr/>
        </p:nvPicPr>
        <p:blipFill>
          <a:blip r:embed="rId2"/>
          <a:srcRect r="53790" b="23441"/>
          <a:stretch>
            <a:fillRect/>
          </a:stretch>
        </p:blipFill>
        <p:spPr>
          <a:xfrm>
            <a:off x="6400800" y="1047135"/>
            <a:ext cx="5633884" cy="5250426"/>
          </a:xfrm>
          <a:prstGeom prst="rect">
            <a:avLst/>
          </a:prstGeom>
        </p:spPr>
      </p:pic>
    </p:spTree>
    <p:extLst>
      <p:ext uri="{BB962C8B-B14F-4D97-AF65-F5344CB8AC3E}">
        <p14:creationId xmlns:p14="http://schemas.microsoft.com/office/powerpoint/2010/main" val="140451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5AC6-C392-E2CB-4E2F-8B295183264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8A237AFF-7D62-6881-A463-31D8264B1EB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BD95F215-9308-E3FA-9EFA-988C90BD5CCB}"/>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1E728986-9814-0622-D39F-A74ECA58F606}"/>
              </a:ext>
            </a:extLst>
          </p:cNvPr>
          <p:cNvSpPr>
            <a:spLocks noChangeArrowheads="1"/>
          </p:cNvSpPr>
          <p:nvPr/>
        </p:nvSpPr>
        <p:spPr bwMode="auto">
          <a:xfrm>
            <a:off x="1" y="844478"/>
            <a:ext cx="3274142" cy="601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Add a class with main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Right-click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au.sydney.demo</a:t>
            </a:r>
            <a:r>
              <a:rPr kumimoji="0" lang="en-US" sz="2800" b="0" i="0" u="none" strike="noStrike" kern="1200" cap="none" spc="0" normalizeH="0" baseline="0" noProof="0" dirty="0">
                <a:ln>
                  <a:noFill/>
                </a:ln>
                <a:solidFill>
                  <a:prstClr val="black"/>
                </a:solidFill>
                <a:effectLst/>
                <a:uLnTx/>
                <a:uFillTx/>
                <a:latin typeface="Calibir"/>
                <a:ea typeface="+mn-ea"/>
                <a:cs typeface="+mn-cs"/>
              </a:rPr>
              <a:t> ▸ New ▸ Class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StationsApp</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Tick public static void main(String[]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6" name="Picture 5">
            <a:extLst>
              <a:ext uri="{FF2B5EF4-FFF2-40B4-BE49-F238E27FC236}">
                <a16:creationId xmlns:a16="http://schemas.microsoft.com/office/drawing/2014/main" id="{D037AB3B-089A-B32C-A7D9-AB1AEFAE9951}"/>
              </a:ext>
            </a:extLst>
          </p:cNvPr>
          <p:cNvPicPr>
            <a:picLocks noChangeAspect="1"/>
          </p:cNvPicPr>
          <p:nvPr/>
        </p:nvPicPr>
        <p:blipFill>
          <a:blip r:embed="rId2"/>
          <a:srcRect b="6666"/>
          <a:stretch>
            <a:fillRect/>
          </a:stretch>
        </p:blipFill>
        <p:spPr>
          <a:xfrm>
            <a:off x="3274143" y="1331647"/>
            <a:ext cx="8917858" cy="4681875"/>
          </a:xfrm>
          <a:prstGeom prst="rect">
            <a:avLst/>
          </a:prstGeom>
        </p:spPr>
      </p:pic>
    </p:spTree>
    <p:extLst>
      <p:ext uri="{BB962C8B-B14F-4D97-AF65-F5344CB8AC3E}">
        <p14:creationId xmlns:p14="http://schemas.microsoft.com/office/powerpoint/2010/main" val="2616326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A9F75-6827-84DA-A7C9-F971BA058DF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7379F8C-8D49-BFD0-6C29-172E137AD11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AB19890E-F34F-D67F-DC65-92586B10EC06}"/>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3CC20DB9-E1DD-EA66-5C7B-9F21F0930369}"/>
              </a:ext>
            </a:extLst>
          </p:cNvPr>
          <p:cNvSpPr>
            <a:spLocks noChangeArrowheads="1"/>
          </p:cNvSpPr>
          <p:nvPr/>
        </p:nvSpPr>
        <p:spPr bwMode="auto">
          <a:xfrm>
            <a:off x="1" y="844478"/>
            <a:ext cx="3274142" cy="601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Add a class with main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Right-click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au.sydney.demo</a:t>
            </a:r>
            <a:r>
              <a:rPr kumimoji="0" lang="en-US" sz="2800" b="0" i="0" u="none" strike="noStrike" kern="1200" cap="none" spc="0" normalizeH="0" baseline="0" noProof="0" dirty="0">
                <a:ln>
                  <a:noFill/>
                </a:ln>
                <a:solidFill>
                  <a:prstClr val="black"/>
                </a:solidFill>
                <a:effectLst/>
                <a:uLnTx/>
                <a:uFillTx/>
                <a:latin typeface="Calibir"/>
                <a:ea typeface="+mn-ea"/>
                <a:cs typeface="+mn-cs"/>
              </a:rPr>
              <a:t> ▸ New ▸ Class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Name: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StationsApp</a:t>
            </a:r>
            <a:endParaRPr kumimoji="0" lang="en-US" sz="28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Tick public static void main(String[] </a:t>
            </a:r>
            <a:r>
              <a:rPr kumimoji="0" 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4" name="Picture 3">
            <a:extLst>
              <a:ext uri="{FF2B5EF4-FFF2-40B4-BE49-F238E27FC236}">
                <a16:creationId xmlns:a16="http://schemas.microsoft.com/office/drawing/2014/main" id="{4CB4391F-A7E2-C535-C3DA-E9EA5D856193}"/>
              </a:ext>
            </a:extLst>
          </p:cNvPr>
          <p:cNvPicPr>
            <a:picLocks noChangeAspect="1"/>
          </p:cNvPicPr>
          <p:nvPr/>
        </p:nvPicPr>
        <p:blipFill>
          <a:blip r:embed="rId2"/>
          <a:srcRect l="16890" t="5807" r="28865" b="64516"/>
          <a:stretch>
            <a:fillRect/>
          </a:stretch>
        </p:blipFill>
        <p:spPr>
          <a:xfrm>
            <a:off x="3047423" y="1076631"/>
            <a:ext cx="9144576" cy="2814235"/>
          </a:xfrm>
          <a:prstGeom prst="rect">
            <a:avLst/>
          </a:prstGeom>
        </p:spPr>
      </p:pic>
    </p:spTree>
    <p:extLst>
      <p:ext uri="{BB962C8B-B14F-4D97-AF65-F5344CB8AC3E}">
        <p14:creationId xmlns:p14="http://schemas.microsoft.com/office/powerpoint/2010/main" val="128588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45EC-8265-BE48-6800-A596ADBAD1C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7E63319A-1B97-CC3C-3185-E81EBC49DC0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7C5895A2-5288-E3B9-DB78-10C783C390B0}"/>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9F3AD086-9F7A-B77C-0FD6-3AD7D4201AFF}"/>
              </a:ext>
            </a:extLst>
          </p:cNvPr>
          <p:cNvSpPr>
            <a:spLocks noChangeArrowheads="1"/>
          </p:cNvSpPr>
          <p:nvPr/>
        </p:nvSpPr>
        <p:spPr bwMode="auto">
          <a:xfrm>
            <a:off x="0" y="907338"/>
            <a:ext cx="3274142"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Run it</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1" i="0" u="none" strike="noStrike" kern="1200" cap="none" spc="0" normalizeH="0" baseline="0" noProof="0" dirty="0" err="1">
                <a:ln>
                  <a:noFill/>
                </a:ln>
                <a:solidFill>
                  <a:prstClr val="black"/>
                </a:solidFill>
                <a:effectLst/>
                <a:uLnTx/>
                <a:uFillTx/>
                <a:latin typeface="Calibir"/>
                <a:ea typeface="+mn-ea"/>
                <a:cs typeface="+mn-cs"/>
              </a:rPr>
              <a:t>Ctrl+S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to save → click the </a:t>
            </a: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green Run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button (or </a:t>
            </a: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Run ▸ Run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Expected output: Central</a:t>
            </a:r>
          </a:p>
        </p:txBody>
      </p:sp>
      <p:pic>
        <p:nvPicPr>
          <p:cNvPr id="8" name="Picture 7">
            <a:extLst>
              <a:ext uri="{FF2B5EF4-FFF2-40B4-BE49-F238E27FC236}">
                <a16:creationId xmlns:a16="http://schemas.microsoft.com/office/drawing/2014/main" id="{95433CA5-1E1B-6B10-C0AC-0E1CFFD0F17F}"/>
              </a:ext>
            </a:extLst>
          </p:cNvPr>
          <p:cNvPicPr>
            <a:picLocks noChangeAspect="1"/>
          </p:cNvPicPr>
          <p:nvPr/>
        </p:nvPicPr>
        <p:blipFill>
          <a:blip r:embed="rId2"/>
          <a:srcRect r="28266" b="59355"/>
          <a:stretch>
            <a:fillRect/>
          </a:stretch>
        </p:blipFill>
        <p:spPr>
          <a:xfrm>
            <a:off x="3274142" y="1788532"/>
            <a:ext cx="8745794" cy="2787445"/>
          </a:xfrm>
          <a:prstGeom prst="rect">
            <a:avLst/>
          </a:prstGeom>
        </p:spPr>
      </p:pic>
    </p:spTree>
    <p:extLst>
      <p:ext uri="{BB962C8B-B14F-4D97-AF65-F5344CB8AC3E}">
        <p14:creationId xmlns:p14="http://schemas.microsoft.com/office/powerpoint/2010/main" val="86166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9A78E-3AAE-8A44-B37F-D28D79B59C52}"/>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3ADA6F5-86E9-7394-2B37-A6C3D36C16D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B677C592-43A8-F1EB-E656-773D0A21CFC9}"/>
              </a:ext>
            </a:extLst>
          </p:cNvPr>
          <p:cNvSpPr>
            <a:spLocks noGrp="1"/>
          </p:cNvSpPr>
          <p:nvPr>
            <p:ph type="title"/>
          </p:nvPr>
        </p:nvSpPr>
        <p:spPr>
          <a:xfrm>
            <a:off x="0" y="1"/>
            <a:ext cx="12192000" cy="722670"/>
          </a:xfrm>
        </p:spPr>
        <p:txBody>
          <a:bodyPr anchor="b">
            <a:normAutofit/>
          </a:bodyPr>
          <a:lstStyle/>
          <a:p>
            <a:r>
              <a:rPr lang="en-US" sz="4000" dirty="0">
                <a:latin typeface="Calibir"/>
              </a:rPr>
              <a:t>Java Arrays in Eclipse — </a:t>
            </a:r>
            <a:r>
              <a:rPr lang="en-US" sz="4000" dirty="0" err="1">
                <a:latin typeface="Calibir"/>
              </a:rPr>
              <a:t>StationsApp</a:t>
            </a:r>
            <a:r>
              <a:rPr lang="en-US" sz="4000" dirty="0">
                <a:latin typeface="Calibir"/>
              </a:rPr>
              <a:t> Demo</a:t>
            </a:r>
            <a:endParaRPr lang="en-AU" sz="4000" b="1" dirty="0">
              <a:latin typeface="Calibir"/>
            </a:endParaRPr>
          </a:p>
        </p:txBody>
      </p:sp>
      <p:sp>
        <p:nvSpPr>
          <p:cNvPr id="2" name="Rectangle 1">
            <a:extLst>
              <a:ext uri="{FF2B5EF4-FFF2-40B4-BE49-F238E27FC236}">
                <a16:creationId xmlns:a16="http://schemas.microsoft.com/office/drawing/2014/main" id="{EF3F714C-B4DF-2BCB-6C47-4321B3A444A9}"/>
              </a:ext>
            </a:extLst>
          </p:cNvPr>
          <p:cNvSpPr>
            <a:spLocks noChangeArrowheads="1"/>
          </p:cNvSpPr>
          <p:nvPr/>
        </p:nvSpPr>
        <p:spPr bwMode="auto">
          <a:xfrm>
            <a:off x="0" y="907338"/>
            <a:ext cx="3274142"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Run it</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1" i="0" u="none" strike="noStrike" kern="1200" cap="none" spc="0" normalizeH="0" baseline="0" noProof="0" dirty="0" err="1">
                <a:ln>
                  <a:noFill/>
                </a:ln>
                <a:solidFill>
                  <a:prstClr val="black"/>
                </a:solidFill>
                <a:effectLst/>
                <a:uLnTx/>
                <a:uFillTx/>
                <a:latin typeface="Calibir"/>
                <a:ea typeface="+mn-ea"/>
                <a:cs typeface="+mn-cs"/>
              </a:rPr>
              <a:t>Ctrl+S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to save → click the </a:t>
            </a: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green Run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button (or </a:t>
            </a:r>
            <a:r>
              <a:rPr kumimoji="0" lang="en-US" altLang="en-US" sz="2800" b="1" i="0" u="none" strike="noStrike" kern="1200" cap="none" spc="0" normalizeH="0" baseline="0" noProof="0" dirty="0">
                <a:ln>
                  <a:noFill/>
                </a:ln>
                <a:solidFill>
                  <a:prstClr val="black"/>
                </a:solidFill>
                <a:effectLst/>
                <a:uLnTx/>
                <a:uFillTx/>
                <a:latin typeface="Calibir"/>
                <a:ea typeface="+mn-ea"/>
                <a:cs typeface="+mn-cs"/>
              </a:rPr>
              <a:t>Run ▸ Run</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Expected output: Central</a:t>
            </a:r>
          </a:p>
        </p:txBody>
      </p:sp>
      <p:pic>
        <p:nvPicPr>
          <p:cNvPr id="4" name="Picture 3">
            <a:extLst>
              <a:ext uri="{FF2B5EF4-FFF2-40B4-BE49-F238E27FC236}">
                <a16:creationId xmlns:a16="http://schemas.microsoft.com/office/drawing/2014/main" id="{7BAA1A76-7F88-ACC2-7FDB-A445E94CA667}"/>
              </a:ext>
            </a:extLst>
          </p:cNvPr>
          <p:cNvPicPr>
            <a:picLocks noChangeAspect="1"/>
          </p:cNvPicPr>
          <p:nvPr/>
        </p:nvPicPr>
        <p:blipFill>
          <a:blip r:embed="rId2"/>
          <a:srcRect l="18145" t="6561" r="22459" b="27096"/>
          <a:stretch>
            <a:fillRect/>
          </a:stretch>
        </p:blipFill>
        <p:spPr>
          <a:xfrm>
            <a:off x="4159045" y="1438012"/>
            <a:ext cx="7241458" cy="4549834"/>
          </a:xfrm>
          <a:prstGeom prst="rect">
            <a:avLst/>
          </a:prstGeom>
        </p:spPr>
      </p:pic>
    </p:spTree>
    <p:extLst>
      <p:ext uri="{BB962C8B-B14F-4D97-AF65-F5344CB8AC3E}">
        <p14:creationId xmlns:p14="http://schemas.microsoft.com/office/powerpoint/2010/main" val="34011562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81B9-2FF7-0783-0FA6-85540D005B2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C6BBF3BB-BD04-A6E8-45EA-03BF9A8561D3}"/>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6833E540-B514-2E7C-755B-0AC685A37454}"/>
              </a:ext>
            </a:extLst>
          </p:cNvPr>
          <p:cNvSpPr>
            <a:spLocks noGrp="1"/>
          </p:cNvSpPr>
          <p:nvPr>
            <p:ph type="title"/>
          </p:nvPr>
        </p:nvSpPr>
        <p:spPr>
          <a:xfrm>
            <a:off x="0" y="0"/>
            <a:ext cx="12192000" cy="1061884"/>
          </a:xfrm>
        </p:spPr>
        <p:txBody>
          <a:bodyPr anchor="b">
            <a:normAutofit fontScale="90000"/>
          </a:bodyPr>
          <a:lstStyle/>
          <a:p>
            <a:r>
              <a:rPr lang="en-US" sz="4000" dirty="0">
                <a:latin typeface="Calibir"/>
              </a:rPr>
              <a:t>Array Example in Java (Visual Studio Code)- Necessary Package in Visual Studio Code</a:t>
            </a:r>
            <a:endParaRPr lang="en-AU" sz="4000" b="1" dirty="0">
              <a:latin typeface="Calibir"/>
            </a:endParaRPr>
          </a:p>
        </p:txBody>
      </p:sp>
      <p:pic>
        <p:nvPicPr>
          <p:cNvPr id="3" name="Picture 2">
            <a:extLst>
              <a:ext uri="{FF2B5EF4-FFF2-40B4-BE49-F238E27FC236}">
                <a16:creationId xmlns:a16="http://schemas.microsoft.com/office/drawing/2014/main" id="{CA9C2E2E-57E0-1154-F8A4-39378BB88E71}"/>
              </a:ext>
            </a:extLst>
          </p:cNvPr>
          <p:cNvPicPr>
            <a:picLocks noChangeAspect="1"/>
          </p:cNvPicPr>
          <p:nvPr/>
        </p:nvPicPr>
        <p:blipFill>
          <a:blip r:embed="rId2"/>
          <a:srcRect r="44665" b="47154"/>
          <a:stretch>
            <a:fillRect/>
          </a:stretch>
        </p:blipFill>
        <p:spPr>
          <a:xfrm>
            <a:off x="92365" y="1124235"/>
            <a:ext cx="6746488" cy="3624146"/>
          </a:xfrm>
          <a:prstGeom prst="rect">
            <a:avLst/>
          </a:prstGeom>
        </p:spPr>
      </p:pic>
      <p:sp>
        <p:nvSpPr>
          <p:cNvPr id="4" name="Rectangle 1">
            <a:extLst>
              <a:ext uri="{FF2B5EF4-FFF2-40B4-BE49-F238E27FC236}">
                <a16:creationId xmlns:a16="http://schemas.microsoft.com/office/drawing/2014/main" id="{1760D58E-54AC-7057-8A2A-1290FB998DA6}"/>
              </a:ext>
            </a:extLst>
          </p:cNvPr>
          <p:cNvSpPr>
            <a:spLocks noChangeArrowheads="1"/>
          </p:cNvSpPr>
          <p:nvPr/>
        </p:nvSpPr>
        <p:spPr bwMode="auto">
          <a:xfrm>
            <a:off x="7167716" y="722671"/>
            <a:ext cx="5024284"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How to run in Visual Studio Code: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Install the Java Extension Pack from the Extensions Marketplace.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Create a file called Main.java.</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Paste the full code above.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Save → click Run Java (or use terminal: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javac</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Main.java then java Main</a:t>
            </a:r>
          </a:p>
        </p:txBody>
      </p:sp>
      <p:sp>
        <p:nvSpPr>
          <p:cNvPr id="6" name="Rectangle: Rounded Corners 5">
            <a:extLst>
              <a:ext uri="{FF2B5EF4-FFF2-40B4-BE49-F238E27FC236}">
                <a16:creationId xmlns:a16="http://schemas.microsoft.com/office/drawing/2014/main" id="{7C4DB2C3-BE4F-AEB5-2705-F89095DED722}"/>
              </a:ext>
            </a:extLst>
          </p:cNvPr>
          <p:cNvSpPr/>
          <p:nvPr/>
        </p:nvSpPr>
        <p:spPr>
          <a:xfrm>
            <a:off x="884904" y="2654710"/>
            <a:ext cx="5924453" cy="112087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D32B9D65-C9E2-198B-4A19-48FE82BEAC86}"/>
              </a:ext>
            </a:extLst>
          </p:cNvPr>
          <p:cNvSpPr txBox="1"/>
          <p:nvPr/>
        </p:nvSpPr>
        <p:spPr>
          <a:xfrm>
            <a:off x="92364" y="4863610"/>
            <a:ext cx="7208087"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The first one — Extension Pack for Java by Microsoft.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It’s the official and most complete Java setup for VS Code, and it includes: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Language support (syntax highlighting, IntelliSense)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Debugger for Java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Java Test Runner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Maven and Gradle integration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ir"/>
                <a:ea typeface="+mn-ea"/>
                <a:cs typeface="+mn-cs"/>
              </a:rPr>
              <a:t>Project Manager for Java</a:t>
            </a:r>
          </a:p>
        </p:txBody>
      </p:sp>
    </p:spTree>
    <p:extLst>
      <p:ext uri="{BB962C8B-B14F-4D97-AF65-F5344CB8AC3E}">
        <p14:creationId xmlns:p14="http://schemas.microsoft.com/office/powerpoint/2010/main" val="3583498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418A-2B19-D61D-8A14-0A43B1F311DF}"/>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0084C3F6-9016-AABE-1EB8-9BCE20737D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642D99C1-5CAE-2E35-D005-BE59596E4FFD}"/>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a:t>
            </a:r>
            <a:endParaRPr lang="en-AU" sz="4000" b="1" dirty="0">
              <a:latin typeface="Calibir"/>
            </a:endParaRPr>
          </a:p>
        </p:txBody>
      </p:sp>
      <p:sp>
        <p:nvSpPr>
          <p:cNvPr id="4" name="Rectangle 1">
            <a:extLst>
              <a:ext uri="{FF2B5EF4-FFF2-40B4-BE49-F238E27FC236}">
                <a16:creationId xmlns:a16="http://schemas.microsoft.com/office/drawing/2014/main" id="{828900E6-155F-D7ED-7E61-CB3AE1A97139}"/>
              </a:ext>
            </a:extLst>
          </p:cNvPr>
          <p:cNvSpPr>
            <a:spLocks noChangeArrowheads="1"/>
          </p:cNvSpPr>
          <p:nvPr/>
        </p:nvSpPr>
        <p:spPr bwMode="auto">
          <a:xfrm>
            <a:off x="0" y="1946083"/>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Input = data coming in (keyboard, file)</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Output = data going out (screen, file)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Australian Example:</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Input: Enter your Opal card balance</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Output: Display remaining trips</a:t>
            </a:r>
          </a:p>
        </p:txBody>
      </p:sp>
    </p:spTree>
    <p:extLst>
      <p:ext uri="{BB962C8B-B14F-4D97-AF65-F5344CB8AC3E}">
        <p14:creationId xmlns:p14="http://schemas.microsoft.com/office/powerpoint/2010/main" val="4336313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83415-61B6-1FB5-89F4-20BBA92DB7D2}"/>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DC4CE7D8-4F9F-0A9C-C775-AE62C407EF6A}"/>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CD3DEAA9-3D70-9922-09D0-A38E22F7F647}"/>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a:t>
            </a:r>
            <a:endParaRPr lang="en-AU" sz="4000" b="1" dirty="0">
              <a:latin typeface="Calibir"/>
            </a:endParaRPr>
          </a:p>
        </p:txBody>
      </p:sp>
      <p:sp>
        <p:nvSpPr>
          <p:cNvPr id="4" name="Rectangle 1">
            <a:extLst>
              <a:ext uri="{FF2B5EF4-FFF2-40B4-BE49-F238E27FC236}">
                <a16:creationId xmlns:a16="http://schemas.microsoft.com/office/drawing/2014/main" id="{B2C6E6E3-A549-EB0D-A09C-D7CC982AF8A2}"/>
              </a:ext>
            </a:extLst>
          </p:cNvPr>
          <p:cNvSpPr>
            <a:spLocks noChangeArrowheads="1"/>
          </p:cNvSpPr>
          <p:nvPr/>
        </p:nvSpPr>
        <p:spPr bwMode="auto">
          <a:xfrm>
            <a:off x="0" y="907337"/>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Python Example:</a:t>
            </a:r>
          </a:p>
        </p:txBody>
      </p:sp>
      <p:sp>
        <p:nvSpPr>
          <p:cNvPr id="3" name="TextBox 2">
            <a:extLst>
              <a:ext uri="{FF2B5EF4-FFF2-40B4-BE49-F238E27FC236}">
                <a16:creationId xmlns:a16="http://schemas.microsoft.com/office/drawing/2014/main" id="{230ED000-07EB-210A-E4F8-6C36FED193CC}"/>
              </a:ext>
            </a:extLst>
          </p:cNvPr>
          <p:cNvSpPr txBox="1"/>
          <p:nvPr/>
        </p:nvSpPr>
        <p:spPr>
          <a:xfrm>
            <a:off x="184731" y="1961535"/>
            <a:ext cx="8907649" cy="1315745"/>
          </a:xfrm>
          <a:prstGeom prst="rect">
            <a:avLst/>
          </a:prstGeom>
          <a:solidFill>
            <a:schemeClr val="tx1"/>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input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"Enter your name: "</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f</a:t>
            </a:r>
            <a:r>
              <a:rPr kumimoji="0" lang="en-US" sz="2800" b="0"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"Hello</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en-US" sz="2800" b="0"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890010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12A0D-88E5-62C5-2D0B-FC7D6EA44B8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FC18E377-7590-B4E8-A35E-E0DAA1F06DB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36D626DE-7936-89E1-3DFA-1FFA3857189B}"/>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a:t>
            </a:r>
            <a:endParaRPr lang="en-AU" sz="4000" b="1" dirty="0">
              <a:latin typeface="Calibir"/>
            </a:endParaRPr>
          </a:p>
        </p:txBody>
      </p:sp>
      <p:sp>
        <p:nvSpPr>
          <p:cNvPr id="4" name="Rectangle 1">
            <a:extLst>
              <a:ext uri="{FF2B5EF4-FFF2-40B4-BE49-F238E27FC236}">
                <a16:creationId xmlns:a16="http://schemas.microsoft.com/office/drawing/2014/main" id="{C850AFC9-9368-C078-0E99-41034F0066B1}"/>
              </a:ext>
            </a:extLst>
          </p:cNvPr>
          <p:cNvSpPr>
            <a:spLocks noChangeArrowheads="1"/>
          </p:cNvSpPr>
          <p:nvPr/>
        </p:nvSpPr>
        <p:spPr bwMode="auto">
          <a:xfrm>
            <a:off x="0" y="907337"/>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ir"/>
                <a:ea typeface="+mn-ea"/>
                <a:cs typeface="+mn-cs"/>
              </a:rPr>
              <a:t>Java Example:</a:t>
            </a:r>
          </a:p>
        </p:txBody>
      </p:sp>
      <p:sp>
        <p:nvSpPr>
          <p:cNvPr id="6" name="TextBox 5">
            <a:extLst>
              <a:ext uri="{FF2B5EF4-FFF2-40B4-BE49-F238E27FC236}">
                <a16:creationId xmlns:a16="http://schemas.microsoft.com/office/drawing/2014/main" id="{3F46D597-F262-A5D3-A558-C8FC718DF32B}"/>
              </a:ext>
            </a:extLst>
          </p:cNvPr>
          <p:cNvSpPr txBox="1"/>
          <p:nvPr/>
        </p:nvSpPr>
        <p:spPr>
          <a:xfrm>
            <a:off x="184731" y="1767444"/>
            <a:ext cx="9092380" cy="2246769"/>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import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java</a:t>
            </a: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.util.Scanner</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Scanner </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sc</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new Scanner(System.</a:t>
            </a:r>
            <a:r>
              <a:rPr kumimoji="0" lang="en-US" sz="2800" b="0"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in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F44747"/>
                </a:solidFill>
                <a:effectLst/>
                <a:uLnTx/>
                <a:uFillTx/>
                <a:latin typeface="Consolas" panose="020B0609020204030204" pitchFamily="49" charset="0"/>
                <a:ea typeface="+mn-ea"/>
                <a:cs typeface="+mn-cs"/>
              </a:rPr>
              <a:t>;</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System.out.print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"Enter your name: "</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F44747"/>
                </a:solidFill>
                <a:effectLst/>
                <a:uLnTx/>
                <a:uFillTx/>
                <a:latin typeface="Consolas" panose="020B0609020204030204" pitchFamily="49" charset="0"/>
                <a:ea typeface="+mn-ea"/>
                <a:cs typeface="+mn-cs"/>
              </a:rPr>
              <a:t>;</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String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sc</a:t>
            </a: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.nextLine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F44747"/>
                </a:solidFill>
                <a:effectLst/>
                <a:uLnTx/>
                <a:uFillTx/>
                <a:latin typeface="Consolas" panose="020B0609020204030204" pitchFamily="49" charset="0"/>
                <a:ea typeface="+mn-ea"/>
                <a:cs typeface="+mn-cs"/>
              </a:rPr>
              <a:t>;</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System.out.println</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"Hello, "</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en-US" sz="2800" b="0" i="0" u="none" strike="noStrike" kern="1200" cap="none" spc="0" normalizeH="0" baseline="0" noProof="0" dirty="0">
                <a:ln>
                  <a:noFill/>
                </a:ln>
                <a:solidFill>
                  <a:srgbClr val="F44747"/>
                </a:solidFill>
                <a:effectLst/>
                <a:uLnTx/>
                <a:uFillTx/>
                <a:latin typeface="Consolas" panose="020B0609020204030204" pitchFamily="49" charset="0"/>
                <a:ea typeface="+mn-ea"/>
                <a:cs typeface="+mn-cs"/>
              </a:rPr>
              <a:t>;</a:t>
            </a:r>
            <a:endParaRPr kumimoji="0" lang="en-US" sz="28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p:txBody>
      </p:sp>
      <p:sp>
        <p:nvSpPr>
          <p:cNvPr id="8" name="Rectangle 1">
            <a:extLst>
              <a:ext uri="{FF2B5EF4-FFF2-40B4-BE49-F238E27FC236}">
                <a16:creationId xmlns:a16="http://schemas.microsoft.com/office/drawing/2014/main" id="{C31E727B-1B34-0E84-6853-2DCE9A08E5C3}"/>
              </a:ext>
            </a:extLst>
          </p:cNvPr>
          <p:cNvSpPr>
            <a:spLocks noChangeArrowheads="1"/>
          </p:cNvSpPr>
          <p:nvPr/>
        </p:nvSpPr>
        <p:spPr bwMode="auto">
          <a:xfrm>
            <a:off x="92365" y="4294432"/>
            <a:ext cx="11986564"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We need to place this code inside a class with a public static void main(String[]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method to run it in Java.</a:t>
            </a:r>
          </a:p>
        </p:txBody>
      </p:sp>
    </p:spTree>
    <p:extLst>
      <p:ext uri="{BB962C8B-B14F-4D97-AF65-F5344CB8AC3E}">
        <p14:creationId xmlns:p14="http://schemas.microsoft.com/office/powerpoint/2010/main" val="1244208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630BA-DD17-3D27-1EC9-07DD0F9F6B87}"/>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D84709C4-877F-11FB-430A-48D997C27A5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B95061A9-1A98-9F7A-2E4D-97BF7EBACD1A}"/>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74CBC530-94B5-C16E-4A04-C4BFD33D45C7}"/>
              </a:ext>
            </a:extLst>
          </p:cNvPr>
          <p:cNvSpPr>
            <a:spLocks noChangeArrowheads="1"/>
          </p:cNvSpPr>
          <p:nvPr/>
        </p:nvSpPr>
        <p:spPr bwMode="auto">
          <a:xfrm>
            <a:off x="0" y="1369001"/>
            <a:ext cx="770901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1) Create a project and class</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Open Eclipse → File ▸ New ▸ Java Project → name it (e.g.,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IntroProgramming</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Finish.</a:t>
            </a:r>
            <a:br>
              <a:rPr kumimoji="0" lang="en-US" altLang="en-US" sz="2800" b="0" i="0" u="none" strike="noStrike" kern="1200" cap="none" spc="0" normalizeH="0" baseline="0" noProof="0" dirty="0">
                <a:ln>
                  <a:noFill/>
                </a:ln>
                <a:solidFill>
                  <a:prstClr val="black"/>
                </a:solidFill>
                <a:effectLst/>
                <a:uLnTx/>
                <a:uFillTx/>
                <a:latin typeface="Calibir"/>
                <a:ea typeface="+mn-ea"/>
                <a:cs typeface="+mn-cs"/>
              </a:rPr>
            </a:br>
            <a:r>
              <a:rPr kumimoji="0" lang="en-US" altLang="en-US" sz="2800" b="0" i="1" u="none" strike="noStrike" kern="1200" cap="none" spc="0" normalizeH="0" baseline="0" noProof="0" dirty="0">
                <a:ln>
                  <a:noFill/>
                </a:ln>
                <a:solidFill>
                  <a:prstClr val="black"/>
                </a:solidFill>
                <a:effectLst/>
                <a:uLnTx/>
                <a:uFillTx/>
                <a:latin typeface="Calibir"/>
                <a:ea typeface="+mn-ea"/>
                <a:cs typeface="+mn-cs"/>
              </a:rPr>
              <a:t>(If asked about module-info.java, choose Don’t Create.)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9" name="Picture 8">
            <a:extLst>
              <a:ext uri="{FF2B5EF4-FFF2-40B4-BE49-F238E27FC236}">
                <a16:creationId xmlns:a16="http://schemas.microsoft.com/office/drawing/2014/main" id="{0304E093-C1CA-586A-05C0-FCCBE070170B}"/>
              </a:ext>
            </a:extLst>
          </p:cNvPr>
          <p:cNvPicPr>
            <a:picLocks noChangeAspect="1"/>
          </p:cNvPicPr>
          <p:nvPr/>
        </p:nvPicPr>
        <p:blipFill>
          <a:blip r:embed="rId2"/>
          <a:srcRect r="64072" b="36344"/>
          <a:stretch>
            <a:fillRect/>
          </a:stretch>
        </p:blipFill>
        <p:spPr>
          <a:xfrm>
            <a:off x="7811729" y="906983"/>
            <a:ext cx="4380271" cy="4365523"/>
          </a:xfrm>
          <a:prstGeom prst="rect">
            <a:avLst/>
          </a:prstGeom>
        </p:spPr>
      </p:pic>
    </p:spTree>
    <p:extLst>
      <p:ext uri="{BB962C8B-B14F-4D97-AF65-F5344CB8AC3E}">
        <p14:creationId xmlns:p14="http://schemas.microsoft.com/office/powerpoint/2010/main" val="8705437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6FC6-6667-78E1-E978-F9C69548726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D717DAE1-DEE1-AE49-4383-AEFC341E159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5594D5B3-7E66-F38E-4278-25C8FCF186B6}"/>
              </a:ext>
            </a:extLst>
          </p:cNvPr>
          <p:cNvSpPr>
            <a:spLocks noGrp="1"/>
          </p:cNvSpPr>
          <p:nvPr>
            <p:ph type="title"/>
          </p:nvPr>
        </p:nvSpPr>
        <p:spPr>
          <a:xfrm>
            <a:off x="0" y="0"/>
            <a:ext cx="12192000" cy="722671"/>
          </a:xfrm>
        </p:spPr>
        <p:txBody>
          <a:bodyPr anchor="b">
            <a:normAutofit fontScale="90000"/>
          </a:bodyPr>
          <a:lstStyle/>
          <a:p>
            <a:r>
              <a:rPr lang="en-US" sz="4000" dirty="0">
                <a:latin typeface="Calibir"/>
              </a:rPr>
              <a:t>Input/Output (I/O) 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3C7EEB58-5310-F39D-E226-9973AEC823E7}"/>
              </a:ext>
            </a:extLst>
          </p:cNvPr>
          <p:cNvSpPr>
            <a:spLocks noChangeArrowheads="1"/>
          </p:cNvSpPr>
          <p:nvPr/>
        </p:nvSpPr>
        <p:spPr bwMode="auto">
          <a:xfrm>
            <a:off x="1" y="1657916"/>
            <a:ext cx="5555226"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1) Create a project and class</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Open Eclipse → File ▸ New ▸ Java Project → name it (e.g.,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IntroProgramming</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Finish.</a:t>
            </a:r>
            <a:br>
              <a:rPr kumimoji="0" lang="en-US" altLang="en-US" sz="2800" b="0" i="0" u="none" strike="noStrike" kern="1200" cap="none" spc="0" normalizeH="0" baseline="0" noProof="0" dirty="0">
                <a:ln>
                  <a:noFill/>
                </a:ln>
                <a:solidFill>
                  <a:prstClr val="black"/>
                </a:solidFill>
                <a:effectLst/>
                <a:uLnTx/>
                <a:uFillTx/>
                <a:latin typeface="Calibir"/>
                <a:ea typeface="+mn-ea"/>
                <a:cs typeface="+mn-cs"/>
              </a:rPr>
            </a:br>
            <a:r>
              <a:rPr kumimoji="0" lang="en-US" altLang="en-US" sz="2800" b="0" i="1" u="none" strike="noStrike" kern="1200" cap="none" spc="0" normalizeH="0" baseline="0" noProof="0" dirty="0">
                <a:ln>
                  <a:noFill/>
                </a:ln>
                <a:solidFill>
                  <a:prstClr val="black"/>
                </a:solidFill>
                <a:effectLst/>
                <a:uLnTx/>
                <a:uFillTx/>
                <a:latin typeface="Calibir"/>
                <a:ea typeface="+mn-ea"/>
                <a:cs typeface="+mn-cs"/>
              </a:rPr>
              <a:t>(If asked about module-info.java, choose Don’t Create.)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3" name="Picture 2">
            <a:extLst>
              <a:ext uri="{FF2B5EF4-FFF2-40B4-BE49-F238E27FC236}">
                <a16:creationId xmlns:a16="http://schemas.microsoft.com/office/drawing/2014/main" id="{216849A2-AB73-0B90-CD6F-B2E69659716D}"/>
              </a:ext>
            </a:extLst>
          </p:cNvPr>
          <p:cNvPicPr>
            <a:picLocks noChangeAspect="1"/>
          </p:cNvPicPr>
          <p:nvPr/>
        </p:nvPicPr>
        <p:blipFill>
          <a:blip r:embed="rId2"/>
          <a:srcRect l="22500" r="23065" b="6666"/>
          <a:stretch>
            <a:fillRect/>
          </a:stretch>
        </p:blipFill>
        <p:spPr>
          <a:xfrm>
            <a:off x="5830485" y="722670"/>
            <a:ext cx="6361516" cy="6135329"/>
          </a:xfrm>
          <a:prstGeom prst="rect">
            <a:avLst/>
          </a:prstGeom>
        </p:spPr>
      </p:pic>
    </p:spTree>
    <p:extLst>
      <p:ext uri="{BB962C8B-B14F-4D97-AF65-F5344CB8AC3E}">
        <p14:creationId xmlns:p14="http://schemas.microsoft.com/office/powerpoint/2010/main" val="248149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120D-4125-A4DD-2640-BECEA7396993}"/>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B219CB0A-95B0-EC46-0770-18C379B027F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E3AC34F6-A569-9DB9-112A-FDF2C99E74EA}"/>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CC038D32-2454-5603-47E3-61A3668B6975}"/>
              </a:ext>
            </a:extLst>
          </p:cNvPr>
          <p:cNvSpPr>
            <a:spLocks noChangeArrowheads="1"/>
          </p:cNvSpPr>
          <p:nvPr/>
        </p:nvSpPr>
        <p:spPr bwMode="auto">
          <a:xfrm>
            <a:off x="1" y="1657916"/>
            <a:ext cx="5555226"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1) Create a project and class</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Open Eclipse → File ▸ New ▸ Java Project → name it (e.g.,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IntroProgramming</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Finish.</a:t>
            </a:r>
            <a:br>
              <a:rPr kumimoji="0" lang="en-US" altLang="en-US" sz="2800" b="0" i="0" u="none" strike="noStrike" kern="1200" cap="none" spc="0" normalizeH="0" baseline="0" noProof="0" dirty="0">
                <a:ln>
                  <a:noFill/>
                </a:ln>
                <a:solidFill>
                  <a:prstClr val="black"/>
                </a:solidFill>
                <a:effectLst/>
                <a:uLnTx/>
                <a:uFillTx/>
                <a:latin typeface="Calibir"/>
                <a:ea typeface="+mn-ea"/>
                <a:cs typeface="+mn-cs"/>
              </a:rPr>
            </a:br>
            <a:r>
              <a:rPr kumimoji="0" lang="en-US" altLang="en-US" sz="2800" b="0" i="1" u="none" strike="noStrike" kern="1200" cap="none" spc="0" normalizeH="0" baseline="0" noProof="0" dirty="0">
                <a:ln>
                  <a:noFill/>
                </a:ln>
                <a:solidFill>
                  <a:prstClr val="black"/>
                </a:solidFill>
                <a:effectLst/>
                <a:uLnTx/>
                <a:uFillTx/>
                <a:latin typeface="Calibir"/>
                <a:ea typeface="+mn-ea"/>
                <a:cs typeface="+mn-cs"/>
              </a:rPr>
              <a:t>(If asked about module-info.java, choose Don’t Create.)</a:t>
            </a:r>
            <a:endParaRPr kumimoji="0" lang="en-US" altLang="en-US" sz="2800" b="0" i="0" u="none" strike="noStrike" kern="1200" cap="none" spc="0" normalizeH="0" baseline="0" noProof="0" dirty="0">
              <a:ln>
                <a:noFill/>
              </a:ln>
              <a:solidFill>
                <a:prstClr val="black"/>
              </a:solidFill>
              <a:effectLst/>
              <a:uLnTx/>
              <a:uFillTx/>
              <a:latin typeface="Calibir"/>
              <a:ea typeface="+mn-ea"/>
              <a:cs typeface="+mn-cs"/>
            </a:endParaRPr>
          </a:p>
        </p:txBody>
      </p:sp>
      <p:pic>
        <p:nvPicPr>
          <p:cNvPr id="4" name="Picture 3">
            <a:extLst>
              <a:ext uri="{FF2B5EF4-FFF2-40B4-BE49-F238E27FC236}">
                <a16:creationId xmlns:a16="http://schemas.microsoft.com/office/drawing/2014/main" id="{123B1354-424A-4D54-FD20-842A83DE9A65}"/>
              </a:ext>
            </a:extLst>
          </p:cNvPr>
          <p:cNvPicPr>
            <a:picLocks noChangeAspect="1"/>
          </p:cNvPicPr>
          <p:nvPr/>
        </p:nvPicPr>
        <p:blipFill>
          <a:blip r:embed="rId2"/>
          <a:srcRect r="58266" b="36344"/>
          <a:stretch>
            <a:fillRect/>
          </a:stretch>
        </p:blipFill>
        <p:spPr>
          <a:xfrm>
            <a:off x="6095999" y="907337"/>
            <a:ext cx="5715261" cy="4903528"/>
          </a:xfrm>
          <a:prstGeom prst="rect">
            <a:avLst/>
          </a:prstGeom>
        </p:spPr>
      </p:pic>
    </p:spTree>
    <p:extLst>
      <p:ext uri="{BB962C8B-B14F-4D97-AF65-F5344CB8AC3E}">
        <p14:creationId xmlns:p14="http://schemas.microsoft.com/office/powerpoint/2010/main" val="23034712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F138-BB05-75C8-D1D6-C1A6DB85BF99}"/>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21CF1A51-EC16-C1F3-7BDC-5867B54EE94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C4570FA4-F20C-1D19-16D5-63DB9032FA90}"/>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CF7F768B-4171-7C14-2AA9-693AF26A45D6}"/>
              </a:ext>
            </a:extLst>
          </p:cNvPr>
          <p:cNvSpPr>
            <a:spLocks noChangeArrowheads="1"/>
          </p:cNvSpPr>
          <p:nvPr/>
        </p:nvSpPr>
        <p:spPr bwMode="auto">
          <a:xfrm>
            <a:off x="1" y="733731"/>
            <a:ext cx="1219199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2"/>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Right-click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src</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New ▸ Class → Name: Main → tick public static void main(String[]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9" name="Picture 8">
            <a:extLst>
              <a:ext uri="{FF2B5EF4-FFF2-40B4-BE49-F238E27FC236}">
                <a16:creationId xmlns:a16="http://schemas.microsoft.com/office/drawing/2014/main" id="{D58849F7-C246-4C3C-18CB-C2D2A66B1970}"/>
              </a:ext>
            </a:extLst>
          </p:cNvPr>
          <p:cNvPicPr>
            <a:picLocks noChangeAspect="1"/>
          </p:cNvPicPr>
          <p:nvPr/>
        </p:nvPicPr>
        <p:blipFill>
          <a:blip r:embed="rId2"/>
          <a:srcRect b="6452"/>
          <a:stretch>
            <a:fillRect/>
          </a:stretch>
        </p:blipFill>
        <p:spPr>
          <a:xfrm>
            <a:off x="3097161" y="2042799"/>
            <a:ext cx="9094838" cy="4785792"/>
          </a:xfrm>
          <a:prstGeom prst="rect">
            <a:avLst/>
          </a:prstGeom>
        </p:spPr>
      </p:pic>
    </p:spTree>
    <p:extLst>
      <p:ext uri="{BB962C8B-B14F-4D97-AF65-F5344CB8AC3E}">
        <p14:creationId xmlns:p14="http://schemas.microsoft.com/office/powerpoint/2010/main" val="8733000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A510A-E70B-9AB2-41F7-CCA6EA36A1F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8568679A-422F-C693-3E19-AB3777E539A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94AF9C37-C900-0D77-55C9-C8B0111D8D60}"/>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877A2AE2-92F7-2223-3276-2430E90A22ED}"/>
              </a:ext>
            </a:extLst>
          </p:cNvPr>
          <p:cNvSpPr>
            <a:spLocks noChangeArrowheads="1"/>
          </p:cNvSpPr>
          <p:nvPr/>
        </p:nvSpPr>
        <p:spPr bwMode="auto">
          <a:xfrm>
            <a:off x="1" y="733731"/>
            <a:ext cx="1219199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2"/>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Right-click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src</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New ▸ Class → Name: Main → tick public static void main(String[] </a:t>
            </a:r>
            <a:r>
              <a:rPr kumimoji="0" lang="en-US" altLang="en-US" sz="2800" b="0" i="0" u="none" strike="noStrike" kern="1200" cap="none" spc="0" normalizeH="0" baseline="0" noProof="0" dirty="0" err="1">
                <a:ln>
                  <a:noFill/>
                </a:ln>
                <a:solidFill>
                  <a:prstClr val="black"/>
                </a:solidFill>
                <a:effectLst/>
                <a:uLnTx/>
                <a:uFillTx/>
                <a:latin typeface="Calibir"/>
                <a:ea typeface="+mn-ea"/>
                <a:cs typeface="+mn-cs"/>
              </a:rPr>
              <a:t>args</a:t>
            </a: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 → Finish.</a:t>
            </a:r>
          </a:p>
        </p:txBody>
      </p:sp>
      <p:pic>
        <p:nvPicPr>
          <p:cNvPr id="3" name="Picture 2">
            <a:extLst>
              <a:ext uri="{FF2B5EF4-FFF2-40B4-BE49-F238E27FC236}">
                <a16:creationId xmlns:a16="http://schemas.microsoft.com/office/drawing/2014/main" id="{17AEAAF2-9336-93E9-6C3B-79A6085B14F6}"/>
              </a:ext>
            </a:extLst>
          </p:cNvPr>
          <p:cNvPicPr>
            <a:picLocks noChangeAspect="1"/>
          </p:cNvPicPr>
          <p:nvPr/>
        </p:nvPicPr>
        <p:blipFill>
          <a:blip r:embed="rId2"/>
          <a:srcRect t="1" r="29355" b="60860"/>
          <a:stretch>
            <a:fillRect/>
          </a:stretch>
        </p:blipFill>
        <p:spPr>
          <a:xfrm>
            <a:off x="-1" y="2048223"/>
            <a:ext cx="12191999" cy="3799561"/>
          </a:xfrm>
          <a:prstGeom prst="rect">
            <a:avLst/>
          </a:prstGeom>
        </p:spPr>
      </p:pic>
    </p:spTree>
    <p:extLst>
      <p:ext uri="{BB962C8B-B14F-4D97-AF65-F5344CB8AC3E}">
        <p14:creationId xmlns:p14="http://schemas.microsoft.com/office/powerpoint/2010/main" val="41633610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F89EC-AAB6-A757-477B-27BBB39D637B}"/>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B78E0B70-32A2-A822-DA18-D56EC0D827A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7588A84D-E0C6-B2E2-1B5E-E563BACA280F}"/>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69866AB2-C98C-C0AB-56CF-6BE696EBE35C}"/>
              </a:ext>
            </a:extLst>
          </p:cNvPr>
          <p:cNvSpPr>
            <a:spLocks noChangeArrowheads="1"/>
          </p:cNvSpPr>
          <p:nvPr/>
        </p:nvSpPr>
        <p:spPr bwMode="auto">
          <a:xfrm>
            <a:off x="1" y="1056896"/>
            <a:ext cx="1219199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3.    Run it</a:t>
            </a:r>
          </a:p>
        </p:txBody>
      </p:sp>
      <p:pic>
        <p:nvPicPr>
          <p:cNvPr id="4" name="Picture 3">
            <a:extLst>
              <a:ext uri="{FF2B5EF4-FFF2-40B4-BE49-F238E27FC236}">
                <a16:creationId xmlns:a16="http://schemas.microsoft.com/office/drawing/2014/main" id="{8524B684-B72C-E4F0-FE6F-6566B441AE4C}"/>
              </a:ext>
            </a:extLst>
          </p:cNvPr>
          <p:cNvPicPr>
            <a:picLocks noChangeAspect="1"/>
          </p:cNvPicPr>
          <p:nvPr/>
        </p:nvPicPr>
        <p:blipFill>
          <a:blip r:embed="rId2"/>
          <a:srcRect b="6237"/>
          <a:stretch>
            <a:fillRect/>
          </a:stretch>
        </p:blipFill>
        <p:spPr>
          <a:xfrm>
            <a:off x="1902541" y="2066391"/>
            <a:ext cx="9085007" cy="4791609"/>
          </a:xfrm>
          <a:prstGeom prst="rect">
            <a:avLst/>
          </a:prstGeom>
        </p:spPr>
      </p:pic>
    </p:spTree>
    <p:extLst>
      <p:ext uri="{BB962C8B-B14F-4D97-AF65-F5344CB8AC3E}">
        <p14:creationId xmlns:p14="http://schemas.microsoft.com/office/powerpoint/2010/main" val="1301251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DDE29-DAC0-8A16-B16E-209ABFC00E1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E2E8183-7AF1-D3A9-1BC3-87592D4913D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Title 1">
            <a:extLst>
              <a:ext uri="{FF2B5EF4-FFF2-40B4-BE49-F238E27FC236}">
                <a16:creationId xmlns:a16="http://schemas.microsoft.com/office/drawing/2014/main" id="{003EF124-B41B-A819-9261-A7B709D93B41}"/>
              </a:ext>
            </a:extLst>
          </p:cNvPr>
          <p:cNvSpPr>
            <a:spLocks noGrp="1"/>
          </p:cNvSpPr>
          <p:nvPr>
            <p:ph type="title"/>
          </p:nvPr>
        </p:nvSpPr>
        <p:spPr>
          <a:xfrm>
            <a:off x="0" y="0"/>
            <a:ext cx="12192000" cy="722671"/>
          </a:xfrm>
        </p:spPr>
        <p:txBody>
          <a:bodyPr anchor="b">
            <a:normAutofit/>
          </a:bodyPr>
          <a:lstStyle/>
          <a:p>
            <a:r>
              <a:rPr lang="en-US" sz="4000" dirty="0">
                <a:latin typeface="Calibir"/>
              </a:rPr>
              <a:t>Input/Output (I/O) – Java Example in Eclipse</a:t>
            </a:r>
            <a:endParaRPr lang="en-AU" sz="4000" b="1" dirty="0">
              <a:latin typeface="Calibir"/>
            </a:endParaRPr>
          </a:p>
        </p:txBody>
      </p:sp>
      <p:sp>
        <p:nvSpPr>
          <p:cNvPr id="8" name="Rectangle 1">
            <a:extLst>
              <a:ext uri="{FF2B5EF4-FFF2-40B4-BE49-F238E27FC236}">
                <a16:creationId xmlns:a16="http://schemas.microsoft.com/office/drawing/2014/main" id="{FE5EE9F4-AA63-39E9-113F-DAE9D42E18EF}"/>
              </a:ext>
            </a:extLst>
          </p:cNvPr>
          <p:cNvSpPr>
            <a:spLocks noChangeArrowheads="1"/>
          </p:cNvSpPr>
          <p:nvPr/>
        </p:nvSpPr>
        <p:spPr bwMode="auto">
          <a:xfrm>
            <a:off x="1" y="1056896"/>
            <a:ext cx="12191999"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ir"/>
                <a:ea typeface="+mn-ea"/>
                <a:cs typeface="+mn-cs"/>
              </a:rPr>
              <a:t>3.    See the Results</a:t>
            </a:r>
          </a:p>
        </p:txBody>
      </p:sp>
      <p:pic>
        <p:nvPicPr>
          <p:cNvPr id="3" name="Picture 2">
            <a:extLst>
              <a:ext uri="{FF2B5EF4-FFF2-40B4-BE49-F238E27FC236}">
                <a16:creationId xmlns:a16="http://schemas.microsoft.com/office/drawing/2014/main" id="{5FF191CE-29AE-DAE8-2284-64E1FC8563A0}"/>
              </a:ext>
            </a:extLst>
          </p:cNvPr>
          <p:cNvPicPr>
            <a:picLocks noChangeAspect="1"/>
          </p:cNvPicPr>
          <p:nvPr/>
        </p:nvPicPr>
        <p:blipFill>
          <a:blip r:embed="rId2"/>
          <a:srcRect b="35699"/>
          <a:stretch>
            <a:fillRect/>
          </a:stretch>
        </p:blipFill>
        <p:spPr>
          <a:xfrm>
            <a:off x="0" y="1902542"/>
            <a:ext cx="12192000" cy="4409768"/>
          </a:xfrm>
          <a:prstGeom prst="rect">
            <a:avLst/>
          </a:prstGeom>
        </p:spPr>
      </p:pic>
    </p:spTree>
    <p:extLst>
      <p:ext uri="{BB962C8B-B14F-4D97-AF65-F5344CB8AC3E}">
        <p14:creationId xmlns:p14="http://schemas.microsoft.com/office/powerpoint/2010/main" val="1619510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24042"/>
            <a:ext cx="9144000" cy="577517"/>
          </a:xfrm>
        </p:spPr>
        <p:txBody>
          <a:bodyPr>
            <a:normAutofit fontScale="90000"/>
          </a:bodyPr>
          <a:lstStyle/>
          <a:p>
            <a:r>
              <a:rPr lang="en-US" dirty="0">
                <a:solidFill>
                  <a:schemeClr val="tx1"/>
                </a:solidFill>
                <a:latin typeface="Calibir"/>
                <a:cs typeface="Arial" panose="020B0604020202020204" pitchFamily="34" charset="0"/>
              </a:rPr>
              <a:t>Let’s Answer Your Questions</a:t>
            </a:r>
            <a:endParaRPr lang="en-AU" dirty="0">
              <a:solidFill>
                <a:schemeClr val="tx1"/>
              </a:solidFill>
              <a:latin typeface="Calibir"/>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041882"/>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49443" y="3572103"/>
            <a:ext cx="12093114" cy="3261855"/>
          </a:xfrm>
          <a:prstGeom prst="rect">
            <a:avLst/>
          </a:prstGeom>
          <a:noFill/>
        </p:spPr>
        <p:txBody>
          <a:bodyPr wrap="square" rtlCol="0">
            <a:spAutoFit/>
          </a:bodyPr>
          <a:lstStyle/>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Inbox</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Email</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formal communication and attachments.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Discussion</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discussions and general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Reminder</a:t>
            </a:r>
            <a:r>
              <a:rPr kumimoji="0" lang="en-US" sz="2800" b="0" i="0" u="none" strike="noStrike" kern="1200" cap="none" spc="0" normalizeH="0" baseline="0" noProof="0" dirty="0">
                <a:ln>
                  <a:noFill/>
                </a:ln>
                <a:solidFill>
                  <a:prstClr val="black"/>
                </a:solidFill>
                <a:effectLst/>
                <a:uLnTx/>
                <a:uFillTx/>
                <a:latin typeface="Calibir"/>
                <a:ea typeface="+mn-ea"/>
                <a:cs typeface="+mn-cs"/>
              </a:rPr>
              <a:t> – Please follow up if you do not receive a response within 3 business days.</a:t>
            </a:r>
          </a:p>
        </p:txBody>
      </p:sp>
    </p:spTree>
    <p:extLst>
      <p:ext uri="{BB962C8B-B14F-4D97-AF65-F5344CB8AC3E}">
        <p14:creationId xmlns:p14="http://schemas.microsoft.com/office/powerpoint/2010/main" val="2191223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a:t>
            </a:r>
            <a:r>
              <a:rPr kumimoji="0" lang="en-US" sz="2800" b="0" i="0" u="none" strike="noStrike" kern="1200" cap="none" spc="0" normalizeH="0" baseline="0" noProof="0" dirty="0" err="1">
                <a:ln>
                  <a:noFill/>
                </a:ln>
                <a:solidFill>
                  <a:prstClr val="black">
                    <a:alpha val="80000"/>
                  </a:prstClr>
                </a:solidFill>
                <a:effectLst/>
                <a:uLnTx/>
                <a:uFillTx/>
                <a:latin typeface="Calibri" panose="020F0502020204030204"/>
                <a:ea typeface="+mn-ea"/>
                <a:cs typeface="+mn-cs"/>
                <a:hlinkClick r:id="rId4"/>
              </a:rPr>
              <a:t>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710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2829</Words>
  <Application>Microsoft Office PowerPoint</Application>
  <PresentationFormat>Widescreen</PresentationFormat>
  <Paragraphs>289</Paragraphs>
  <Slides>59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59</vt:i4>
      </vt:variant>
    </vt:vector>
  </HeadingPairs>
  <TitlesOfParts>
    <vt:vector size="68" baseType="lpstr">
      <vt:lpstr>Aptos</vt:lpstr>
      <vt:lpstr>Aptos Display</vt:lpstr>
      <vt:lpstr>Arial</vt:lpstr>
      <vt:lpstr>Calibir</vt:lpstr>
      <vt:lpstr>Calibri</vt:lpstr>
      <vt:lpstr>Calibri Light</vt:lpstr>
      <vt:lpstr>Consolas</vt:lpstr>
      <vt:lpstr>Office Theme</vt:lpstr>
      <vt:lpstr>1_Office Theme</vt:lpstr>
      <vt:lpstr>Object-Oriented Programming (OOP)</vt:lpstr>
      <vt:lpstr>Object-Oriented Programming (OOP)</vt:lpstr>
      <vt:lpstr>Object-Oriented Programming (OOP)</vt:lpstr>
      <vt:lpstr>Object-Oriented Programming (OOP)</vt:lpstr>
      <vt:lpstr>Object-Oriented Programming (OOP)</vt:lpstr>
      <vt:lpstr>Object-Oriented Programming (OOP)</vt:lpstr>
      <vt:lpstr>Object-Oriented Programming (OOP)</vt:lpstr>
      <vt:lpstr>Hands-On Activity 1 (CBA_BankAccount_Deposit in Python)</vt:lpstr>
      <vt:lpstr>Hands-On Activity 1 (CBA_BankAccount_Deposit in Python)</vt:lpstr>
      <vt:lpstr>Hands-On Activity 1 (CBA_BankAccount_Deposit in Java)</vt:lpstr>
      <vt:lpstr>Hands-On Activity 2 (Create Multiple Bank Accounts and Call Their Methods) – Python</vt:lpstr>
      <vt:lpstr>PowerPoint Presentation</vt:lpstr>
      <vt:lpstr>PowerPoint Presentation</vt:lpstr>
      <vt:lpstr>PowerPoint Presentation</vt:lpstr>
      <vt:lpstr>PowerPoint Presentation</vt:lpstr>
      <vt:lpstr>Hands-On Activity 3 (OOP Example – Train Class) in Python</vt:lpstr>
      <vt:lpstr>Hands-On Activity 3 (OOP Example – Train Class) in Python</vt:lpstr>
      <vt:lpstr>Hands-On Activity 3 (OOP Example – Train Class) in Python</vt:lpstr>
      <vt:lpstr>Hands-On Activity 4 (Create Your Favourite Aussie Sport Class) in Python</vt:lpstr>
      <vt:lpstr>Data Types, Variables, and Operators</vt:lpstr>
      <vt:lpstr>Data Types, Variables, and Operators</vt:lpstr>
      <vt:lpstr>Data Types, Variables, and Operators</vt:lpstr>
      <vt:lpstr>Data Types, Variables, and Operators</vt:lpstr>
      <vt:lpstr>Data Types, Variables, and Operators</vt:lpstr>
      <vt:lpstr>Hands-On Activity 5: Data Types, Variables, and Operators</vt:lpstr>
      <vt:lpstr>Hands-On Activity 5: Data Types, Variables, and Operators</vt:lpstr>
      <vt:lpstr>Hands-On Activity 5: Data Types, Variables, and Operators</vt:lpstr>
      <vt:lpstr>Hands-On Activity 5: Data Types, Variables, and Operators</vt:lpstr>
      <vt:lpstr>Strings &amp; String Formatting</vt:lpstr>
      <vt:lpstr>Strings &amp; String Formatting</vt:lpstr>
      <vt:lpstr>Strings &amp; String Formatting</vt:lpstr>
      <vt:lpstr>Strings &amp; String Formatting</vt:lpstr>
      <vt:lpstr>PowerPoint Presentation</vt:lpstr>
      <vt:lpstr>PowerPoint Presentation</vt:lpstr>
      <vt:lpstr>Strings &amp; String Formatting</vt:lpstr>
      <vt:lpstr>Arrays</vt:lpstr>
      <vt:lpstr>Arrays</vt:lpstr>
      <vt:lpstr>Java Arrays in Eclipse — StationsApp Demo</vt:lpstr>
      <vt:lpstr>Java Arrays in Eclipse — StationsApp Demo</vt:lpstr>
      <vt:lpstr>Java Arrays in Eclipse — StationsApp Demo</vt:lpstr>
      <vt:lpstr>Java Arrays in Eclipse — StationsApp Demo</vt:lpstr>
      <vt:lpstr>Java Arrays in Eclipse — StationsApp Demo</vt:lpstr>
      <vt:lpstr>Java Arrays in Eclipse — StationsApp Demo</vt:lpstr>
      <vt:lpstr>Java Arrays in Eclipse — StationsApp Demo</vt:lpstr>
      <vt:lpstr>Java Arrays in Eclipse — StationsApp Demo</vt:lpstr>
      <vt:lpstr>Java Arrays in Eclipse — StationsApp Demo</vt:lpstr>
      <vt:lpstr>Array Example in Java (Visual Studio Code)- Necessary Package in Visual Studio Code</vt:lpstr>
      <vt:lpstr>Input/Output (I/O)</vt:lpstr>
      <vt:lpstr>Input/Output (I/O)</vt:lpstr>
      <vt:lpstr>Input/Output (I/O)</vt:lpstr>
      <vt:lpstr>Input/Output (I/O) – Java Example in Eclipse</vt:lpstr>
      <vt:lpstr>Input/Output (I/O) Input/Output (I/O) – Java Example in Eclipse</vt:lpstr>
      <vt:lpstr>Input/Output (I/O) – Java Example in Eclipse</vt:lpstr>
      <vt:lpstr>Input/Output (I/O) – Java Example in Eclipse</vt:lpstr>
      <vt:lpstr>Input/Output (I/O) – Java Example in Eclipse</vt:lpstr>
      <vt:lpstr>Input/Output (I/O) – Java Example in Eclipse</vt:lpstr>
      <vt:lpstr>Input/Output (I/O) – Java Example in Eclipse</vt:lpstr>
      <vt:lpstr>Let’s Answer Your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cp:revision>
  <dcterms:created xsi:type="dcterms:W3CDTF">2026-08-11T11:48:32Z</dcterms:created>
  <dcterms:modified xsi:type="dcterms:W3CDTF">2026-08-11T11:49:06Z</dcterms:modified>
</cp:coreProperties>
</file>